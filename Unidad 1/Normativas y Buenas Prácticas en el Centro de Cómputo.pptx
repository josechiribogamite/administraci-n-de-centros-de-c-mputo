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74" r:id="rId7"/>
    <p:sldId id="275" r:id="rId8"/>
    <p:sldId id="276" r:id="rId9"/>
    <p:sldId id="277" r:id="rId10"/>
    <p:sldId id="261" r:id="rId11"/>
    <p:sldId id="262" r:id="rId12"/>
    <p:sldId id="278" r:id="rId13"/>
    <p:sldId id="263" r:id="rId14"/>
    <p:sldId id="264" r:id="rId15"/>
    <p:sldId id="265" r:id="rId16"/>
    <p:sldId id="279" r:id="rId17"/>
    <p:sldId id="280" r:id="rId18"/>
    <p:sldId id="266" r:id="rId19"/>
    <p:sldId id="281" r:id="rId20"/>
    <p:sldId id="267" r:id="rId21"/>
    <p:sldId id="268" r:id="rId22"/>
    <p:sldId id="269" r:id="rId23"/>
    <p:sldId id="270" r:id="rId24"/>
    <p:sldId id="271" r:id="rId25"/>
    <p:sldId id="272" r:id="rId26"/>
    <p:sldId id="282" r:id="rId27"/>
    <p:sldId id="273" r:id="rId28"/>
  </p:sldIdLst>
  <p:sldSz cx="12192000" cy="6858000"/>
  <p:notesSz cx="6858000" cy="9144000"/>
  <p:embeddedFontLst>
    <p:embeddedFont>
      <p:font typeface="Poppins" panose="00000500000000000000" pitchFamily="2" charset="0"/>
      <p:regular r:id="rId29"/>
      <p:bold r:id="rId30"/>
      <p:italic r:id="rId31"/>
      <p:boldItalic r:id="rId32"/>
    </p:embeddedFont>
    <p:embeddedFont>
      <p:font typeface="poppins-bold" panose="020B0604020202020204" charset="0"/>
      <p:regular r:id="rId33"/>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84" d="100"/>
          <a:sy n="84"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
                <a:ea typeface="Poppins"/>
                <a:cs typeface="Poppins"/>
              </a:rPr>
              <a:t>Normativas y Buenas Prácticas en el Centro de Cómputo</a:t>
            </a: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2" name="Imagen 1">
            <a:extLst>
              <a:ext uri="{FF2B5EF4-FFF2-40B4-BE49-F238E27FC236}">
                <a16:creationId xmlns:a16="http://schemas.microsoft.com/office/drawing/2014/main" id="{943AF735-DC9E-6F19-C0B3-14331FB15F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274725" y="781142"/>
            <a:ext cx="8324450" cy="1448282"/>
          </a:xfrm>
          <a:prstGeom prst="rect">
            <a:avLst/>
          </a:prstGeom>
          <a:noFill/>
          <a:ln>
            <a:noFill/>
          </a:ln>
        </p:spPr>
        <p:txBody>
          <a:bodyPr vert="horz" wrap="square" lIns="0" tIns="0" rIns="0" bIns="0" rtlCol="0" anchor="t"/>
          <a:lstStyle/>
          <a:p>
            <a:pPr algn="l"/>
            <a:r>
              <a:rPr kumimoji="1" lang="en-US" altLang="zh-CN" sz="2400" dirty="0">
                <a:ln w="12700">
                  <a:solidFill>
                    <a:srgbClr val="000000">
                      <a:alpha val="100000"/>
                    </a:srgbClr>
                  </a:solidFill>
                </a:ln>
                <a:noFill/>
                <a:latin typeface="Arial" panose="020B0604020202020204" pitchFamily="34" charset="0"/>
                <a:ea typeface="poppins-bold"/>
                <a:cs typeface="Arial" panose="020B0604020202020204" pitchFamily="34" charset="0"/>
              </a:rPr>
              <a:t>CONTENIDO</a:t>
            </a:r>
            <a:endParaRPr kumimoji="1" lang="zh-CN" altLang="en-US" sz="2400" dirty="0">
              <a:latin typeface="Arial" panose="020B0604020202020204" pitchFamily="34" charset="0"/>
              <a:cs typeface="Arial" panose="020B0604020202020204" pitchFamily="34" charset="0"/>
            </a:endParaRPr>
          </a:p>
        </p:txBody>
      </p:sp>
      <p:sp>
        <p:nvSpPr>
          <p:cNvPr id="4" name="标题 1"/>
          <p:cNvSpPr txBox="1"/>
          <p:nvPr/>
        </p:nvSpPr>
        <p:spPr>
          <a:xfrm>
            <a:off x="1685696" y="1661406"/>
            <a:ext cx="7481163" cy="792000"/>
          </a:xfrm>
          <a:prstGeom prst="rect">
            <a:avLst/>
          </a:prstGeom>
          <a:noFill/>
          <a:ln>
            <a:noFill/>
          </a:ln>
        </p:spPr>
        <p:txBody>
          <a:bodyPr vert="horz" wrap="square" lIns="0" tIns="0" rIns="0" bIns="0" rtlCol="0" anchor="t"/>
          <a:lstStyle/>
          <a:p>
            <a:pPr algn="l"/>
            <a:r>
              <a:rPr kumimoji="1" lang="en-US" altLang="zh-CN" sz="2400" dirty="0">
                <a:ln w="12700">
                  <a:noFill/>
                </a:ln>
                <a:solidFill>
                  <a:srgbClr val="000000">
                    <a:alpha val="100000"/>
                  </a:srgbClr>
                </a:solidFill>
                <a:latin typeface="Poppins"/>
                <a:ea typeface="Poppins"/>
                <a:cs typeface="Poppins"/>
              </a:rPr>
              <a:t>Introducción a </a:t>
            </a:r>
            <a:r>
              <a:rPr kumimoji="1" lang="en-US" altLang="zh-CN" sz="2400" dirty="0" err="1">
                <a:ln w="12700">
                  <a:noFill/>
                </a:ln>
                <a:solidFill>
                  <a:srgbClr val="000000">
                    <a:alpha val="100000"/>
                  </a:srgbClr>
                </a:solidFill>
                <a:latin typeface="Poppins"/>
                <a:ea typeface="Poppins"/>
                <a:cs typeface="Poppins"/>
              </a:rPr>
              <a:t>Normativas</a:t>
            </a:r>
            <a:r>
              <a:rPr kumimoji="1" lang="en-US" altLang="zh-CN" sz="2400" dirty="0">
                <a:ln w="12700">
                  <a:noFill/>
                </a:ln>
                <a:solidFill>
                  <a:srgbClr val="000000">
                    <a:alpha val="100000"/>
                  </a:srgbClr>
                </a:solidFill>
                <a:latin typeface="Poppins"/>
                <a:ea typeface="Poppins"/>
                <a:cs typeface="Poppins"/>
              </a:rPr>
              <a:t> y </a:t>
            </a:r>
            <a:r>
              <a:rPr kumimoji="1" lang="en-US" altLang="zh-CN" sz="2400" dirty="0" err="1">
                <a:ln w="12700">
                  <a:noFill/>
                </a:ln>
                <a:solidFill>
                  <a:srgbClr val="000000">
                    <a:alpha val="100000"/>
                  </a:srgbClr>
                </a:solidFill>
                <a:latin typeface="Poppins"/>
                <a:ea typeface="Poppins"/>
                <a:cs typeface="Poppins"/>
              </a:rPr>
              <a:t>Buenas</a:t>
            </a:r>
            <a:r>
              <a:rPr kumimoji="1" lang="en-US" altLang="zh-CN" sz="2400" dirty="0">
                <a:ln w="12700">
                  <a:noFill/>
                </a:ln>
                <a:solidFill>
                  <a:srgbClr val="000000">
                    <a:alpha val="100000"/>
                  </a:srgbClr>
                </a:solidFill>
                <a:latin typeface="Poppins"/>
                <a:ea typeface="Poppins"/>
                <a:cs typeface="Poppins"/>
              </a:rPr>
              <a:t> </a:t>
            </a:r>
            <a:r>
              <a:rPr kumimoji="1" lang="en-US" altLang="zh-CN" sz="2400" dirty="0" err="1">
                <a:ln w="12700">
                  <a:noFill/>
                </a:ln>
                <a:solidFill>
                  <a:srgbClr val="000000">
                    <a:alpha val="100000"/>
                  </a:srgbClr>
                </a:solidFill>
                <a:latin typeface="Poppins"/>
                <a:ea typeface="Poppins"/>
                <a:cs typeface="Poppins"/>
              </a:rPr>
              <a:t>Prácticas</a:t>
            </a:r>
            <a:endParaRPr kumimoji="1" lang="zh-CN" altLang="en-US" dirty="0"/>
          </a:p>
        </p:txBody>
      </p:sp>
      <p:sp>
        <p:nvSpPr>
          <p:cNvPr id="6" name="标题 1"/>
          <p:cNvSpPr txBox="1"/>
          <p:nvPr/>
        </p:nvSpPr>
        <p:spPr>
          <a:xfrm>
            <a:off x="1655428" y="2637000"/>
            <a:ext cx="4320000" cy="792000"/>
          </a:xfrm>
          <a:prstGeom prst="rect">
            <a:avLst/>
          </a:prstGeom>
          <a:noFill/>
          <a:ln>
            <a:noFill/>
          </a:ln>
        </p:spPr>
        <p:txBody>
          <a:bodyPr vert="horz" wrap="square" lIns="0" tIns="0" rIns="0" bIns="0" rtlCol="0" anchor="t"/>
          <a:lstStyle/>
          <a:p>
            <a:pPr algn="l"/>
            <a:r>
              <a:rPr kumimoji="1" lang="en-US" altLang="zh-CN" sz="2400" dirty="0">
                <a:ln w="12700">
                  <a:noFill/>
                </a:ln>
                <a:solidFill>
                  <a:srgbClr val="000000">
                    <a:alpha val="100000"/>
                  </a:srgbClr>
                </a:solidFill>
                <a:latin typeface="Poppins"/>
                <a:ea typeface="Poppins"/>
                <a:cs typeface="Poppins"/>
              </a:rPr>
              <a:t>ITIL y </a:t>
            </a:r>
            <a:r>
              <a:rPr kumimoji="1" lang="en-US" altLang="zh-CN" sz="2400" dirty="0" err="1">
                <a:ln w="12700">
                  <a:noFill/>
                </a:ln>
                <a:solidFill>
                  <a:srgbClr val="000000">
                    <a:alpha val="100000"/>
                  </a:srgbClr>
                </a:solidFill>
                <a:latin typeface="Poppins"/>
                <a:ea typeface="Poppins"/>
                <a:cs typeface="Poppins"/>
              </a:rPr>
              <a:t>su</a:t>
            </a:r>
            <a:r>
              <a:rPr kumimoji="1" lang="en-US" altLang="zh-CN" sz="2400" dirty="0">
                <a:ln w="12700">
                  <a:noFill/>
                </a:ln>
                <a:solidFill>
                  <a:srgbClr val="000000">
                    <a:alpha val="100000"/>
                  </a:srgbClr>
                </a:solidFill>
                <a:latin typeface="Poppins"/>
                <a:ea typeface="Poppins"/>
                <a:cs typeface="Poppins"/>
              </a:rPr>
              <a:t> </a:t>
            </a:r>
            <a:r>
              <a:rPr kumimoji="1" lang="en-US" altLang="zh-CN" sz="2400" dirty="0" err="1">
                <a:ln w="12700">
                  <a:noFill/>
                </a:ln>
                <a:solidFill>
                  <a:srgbClr val="000000">
                    <a:alpha val="100000"/>
                  </a:srgbClr>
                </a:solidFill>
                <a:latin typeface="Poppins"/>
                <a:ea typeface="Poppins"/>
                <a:cs typeface="Poppins"/>
              </a:rPr>
              <a:t>Importancia</a:t>
            </a:r>
            <a:endParaRPr kumimoji="1" lang="zh-CN" altLang="en-US" dirty="0"/>
          </a:p>
        </p:txBody>
      </p:sp>
      <p:sp>
        <p:nvSpPr>
          <p:cNvPr id="8" name="标题 1"/>
          <p:cNvSpPr txBox="1"/>
          <p:nvPr/>
        </p:nvSpPr>
        <p:spPr>
          <a:xfrm>
            <a:off x="1655428" y="3230095"/>
            <a:ext cx="8071502" cy="792000"/>
          </a:xfrm>
          <a:prstGeom prst="rect">
            <a:avLst/>
          </a:prstGeom>
          <a:noFill/>
          <a:ln>
            <a:noFill/>
          </a:ln>
        </p:spPr>
        <p:txBody>
          <a:bodyPr vert="horz" wrap="square" lIns="0" tIns="0" rIns="0" bIns="0" rtlCol="0" anchor="t"/>
          <a:lstStyle/>
          <a:p>
            <a:pPr algn="l"/>
            <a:r>
              <a:rPr kumimoji="1" lang="en-US" altLang="zh-CN" sz="2400" dirty="0">
                <a:ln w="12700">
                  <a:noFill/>
                </a:ln>
                <a:solidFill>
                  <a:srgbClr val="000000">
                    <a:alpha val="100000"/>
                  </a:srgbClr>
                </a:solidFill>
                <a:latin typeface="Poppins"/>
                <a:ea typeface="Poppins"/>
                <a:cs typeface="Poppins"/>
              </a:rPr>
              <a:t>Normas ISO/IEC 20000 y 27001</a:t>
            </a:r>
            <a:endParaRPr kumimoji="1" lang="zh-CN" altLang="en-US" dirty="0"/>
          </a:p>
        </p:txBody>
      </p:sp>
      <p:sp>
        <p:nvSpPr>
          <p:cNvPr id="10" name="标题 1"/>
          <p:cNvSpPr txBox="1"/>
          <p:nvPr/>
        </p:nvSpPr>
        <p:spPr>
          <a:xfrm>
            <a:off x="1655428" y="4219190"/>
            <a:ext cx="7945772" cy="792000"/>
          </a:xfrm>
          <a:prstGeom prst="rect">
            <a:avLst/>
          </a:prstGeom>
          <a:noFill/>
          <a:ln>
            <a:noFill/>
          </a:ln>
        </p:spPr>
        <p:txBody>
          <a:bodyPr vert="horz" wrap="square" lIns="0" tIns="0" rIns="0" bIns="0" rtlCol="0" anchor="t"/>
          <a:lstStyle/>
          <a:p>
            <a:pPr algn="l"/>
            <a:r>
              <a:rPr kumimoji="1" lang="en-US" altLang="zh-CN" sz="2400" dirty="0" err="1">
                <a:ln w="12700">
                  <a:noFill/>
                </a:ln>
                <a:solidFill>
                  <a:srgbClr val="000000">
                    <a:alpha val="100000"/>
                  </a:srgbClr>
                </a:solidFill>
                <a:latin typeface="Poppins"/>
                <a:ea typeface="Poppins"/>
                <a:cs typeface="Poppins"/>
              </a:rPr>
              <a:t>Políticas</a:t>
            </a:r>
            <a:r>
              <a:rPr kumimoji="1" lang="en-US" altLang="zh-CN" sz="2400" dirty="0">
                <a:ln w="12700">
                  <a:noFill/>
                </a:ln>
                <a:solidFill>
                  <a:srgbClr val="000000">
                    <a:alpha val="100000"/>
                  </a:srgbClr>
                </a:solidFill>
                <a:latin typeface="Poppins"/>
                <a:ea typeface="Poppins"/>
                <a:cs typeface="Poppins"/>
              </a:rPr>
              <a:t> </a:t>
            </a:r>
            <a:r>
              <a:rPr kumimoji="1" lang="en-US" altLang="zh-CN" sz="2400" dirty="0" err="1">
                <a:ln w="12700">
                  <a:noFill/>
                </a:ln>
                <a:solidFill>
                  <a:srgbClr val="000000">
                    <a:alpha val="100000"/>
                  </a:srgbClr>
                </a:solidFill>
                <a:latin typeface="Poppins"/>
                <a:ea typeface="Poppins"/>
                <a:cs typeface="Poppins"/>
              </a:rPr>
              <a:t>Internas</a:t>
            </a:r>
            <a:r>
              <a:rPr kumimoji="1" lang="en-US" altLang="zh-CN" sz="2400" dirty="0">
                <a:ln w="12700">
                  <a:noFill/>
                </a:ln>
                <a:solidFill>
                  <a:srgbClr val="000000">
                    <a:alpha val="100000"/>
                  </a:srgbClr>
                </a:solidFill>
                <a:latin typeface="Poppins"/>
                <a:ea typeface="Poppins"/>
                <a:cs typeface="Poppins"/>
              </a:rPr>
              <a:t> de </a:t>
            </a:r>
            <a:r>
              <a:rPr kumimoji="1" lang="en-US" altLang="zh-CN" sz="2400" dirty="0" err="1">
                <a:ln w="12700">
                  <a:noFill/>
                </a:ln>
                <a:solidFill>
                  <a:srgbClr val="000000">
                    <a:alpha val="100000"/>
                  </a:srgbClr>
                </a:solidFill>
                <a:latin typeface="Poppins"/>
                <a:ea typeface="Poppins"/>
                <a:cs typeface="Poppins"/>
              </a:rPr>
              <a:t>Gestión</a:t>
            </a:r>
            <a:r>
              <a:rPr kumimoji="1" lang="en-US" altLang="zh-CN" sz="2400" dirty="0">
                <a:ln w="12700">
                  <a:noFill/>
                </a:ln>
                <a:solidFill>
                  <a:srgbClr val="000000">
                    <a:alpha val="100000"/>
                  </a:srgbClr>
                </a:solidFill>
                <a:latin typeface="Poppins"/>
                <a:ea typeface="Poppins"/>
                <a:cs typeface="Poppins"/>
              </a:rPr>
              <a:t> de TI</a:t>
            </a:r>
            <a:endParaRPr kumimoji="1" lang="zh-CN" altLang="en-US" dirty="0"/>
          </a:p>
        </p:txBody>
      </p:sp>
      <p:sp>
        <p:nvSpPr>
          <p:cNvPr id="11" name="标题 1"/>
          <p:cNvSpPr txBox="1"/>
          <p:nvPr/>
        </p:nvSpPr>
        <p:spPr>
          <a:xfrm>
            <a:off x="1337128" y="653491"/>
            <a:ext cx="697139" cy="697139"/>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1655427" y="5407191"/>
            <a:ext cx="7785753" cy="792000"/>
          </a:xfrm>
          <a:prstGeom prst="rect">
            <a:avLst/>
          </a:prstGeom>
          <a:noFill/>
          <a:ln>
            <a:noFill/>
          </a:ln>
        </p:spPr>
        <p:txBody>
          <a:bodyPr vert="horz" wrap="square" lIns="0" tIns="0" rIns="0" bIns="0" rtlCol="0" anchor="t"/>
          <a:lstStyle/>
          <a:p>
            <a:r>
              <a:rPr kumimoji="1" lang="en-US" altLang="zh-CN" sz="2400" dirty="0">
                <a:ln w="12700">
                  <a:noFill/>
                </a:ln>
                <a:solidFill>
                  <a:srgbClr val="000000">
                    <a:alpha val="100000"/>
                  </a:srgbClr>
                </a:solidFill>
                <a:latin typeface="Poppins"/>
                <a:cs typeface="Poppins"/>
              </a:rPr>
              <a:t>Ejemplos de </a:t>
            </a:r>
            <a:r>
              <a:rPr kumimoji="1" lang="en-US" altLang="zh-CN" sz="2400" dirty="0" err="1">
                <a:ln w="12700">
                  <a:noFill/>
                </a:ln>
                <a:solidFill>
                  <a:srgbClr val="000000">
                    <a:alpha val="100000"/>
                  </a:srgbClr>
                </a:solidFill>
                <a:latin typeface="Poppins"/>
                <a:cs typeface="Poppins"/>
              </a:rPr>
              <a:t>Implementación</a:t>
            </a:r>
            <a:r>
              <a:rPr kumimoji="1" lang="en-US" altLang="zh-CN" sz="2400" dirty="0">
                <a:ln w="12700">
                  <a:noFill/>
                </a:ln>
                <a:solidFill>
                  <a:srgbClr val="000000">
                    <a:alpha val="100000"/>
                  </a:srgbClr>
                </a:solidFill>
                <a:latin typeface="Poppins"/>
                <a:cs typeface="Poppins"/>
              </a:rPr>
              <a:t> </a:t>
            </a:r>
            <a:r>
              <a:rPr kumimoji="1" lang="en-US" altLang="zh-CN" sz="2400" dirty="0" err="1">
                <a:ln w="12700">
                  <a:noFill/>
                </a:ln>
                <a:solidFill>
                  <a:srgbClr val="000000">
                    <a:alpha val="100000"/>
                  </a:srgbClr>
                </a:solidFill>
                <a:latin typeface="Poppins"/>
                <a:cs typeface="Poppins"/>
              </a:rPr>
              <a:t>en</a:t>
            </a:r>
            <a:r>
              <a:rPr kumimoji="1" lang="en-US" altLang="zh-CN" sz="2400" dirty="0">
                <a:ln w="12700">
                  <a:noFill/>
                </a:ln>
                <a:solidFill>
                  <a:srgbClr val="000000">
                    <a:alpha val="100000"/>
                  </a:srgbClr>
                </a:solidFill>
                <a:latin typeface="Poppins"/>
                <a:cs typeface="Poppins"/>
              </a:rPr>
              <a:t> </a:t>
            </a:r>
            <a:r>
              <a:rPr kumimoji="1" lang="en-US" altLang="zh-CN" sz="2400" dirty="0" err="1">
                <a:ln w="12700">
                  <a:noFill/>
                </a:ln>
                <a:solidFill>
                  <a:srgbClr val="000000">
                    <a:alpha val="100000"/>
                  </a:srgbClr>
                </a:solidFill>
                <a:latin typeface="Poppins"/>
                <a:cs typeface="Poppins"/>
              </a:rPr>
              <a:t>Empresas</a:t>
            </a:r>
            <a:r>
              <a:rPr kumimoji="1" lang="en-US" altLang="zh-CN" sz="2400" dirty="0">
                <a:ln w="12700">
                  <a:noFill/>
                </a:ln>
                <a:solidFill>
                  <a:srgbClr val="000000">
                    <a:alpha val="100000"/>
                  </a:srgbClr>
                </a:solidFill>
                <a:latin typeface="Poppins"/>
                <a:cs typeface="Poppins"/>
              </a:rPr>
              <a:t> Reales</a:t>
            </a:r>
            <a:endParaRPr kumimoji="1" lang="zh-CN" altLang="en-US" sz="2400" dirty="0">
              <a:ln w="12700">
                <a:noFill/>
              </a:ln>
              <a:solidFill>
                <a:srgbClr val="000000">
                  <a:alpha val="100000"/>
                </a:srgbClr>
              </a:solidFill>
              <a:latin typeface="Poppins"/>
              <a:cs typeface="Poppins"/>
            </a:endParaRPr>
          </a:p>
        </p:txBody>
      </p:sp>
      <p:pic>
        <p:nvPicPr>
          <p:cNvPr id="5" name="Imagen 4">
            <a:extLst>
              <a:ext uri="{FF2B5EF4-FFF2-40B4-BE49-F238E27FC236}">
                <a16:creationId xmlns:a16="http://schemas.microsoft.com/office/drawing/2014/main" id="{01F19107-5325-CB01-2599-5DF8E29DA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01</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dirty="0">
                <a:ln w="12700">
                  <a:noFill/>
                </a:ln>
                <a:solidFill>
                  <a:srgbClr val="262626">
                    <a:alpha val="100000"/>
                  </a:srgbClr>
                </a:solidFill>
                <a:latin typeface="poppins-bold"/>
                <a:ea typeface="poppins-bold"/>
                <a:cs typeface="poppins-bold"/>
              </a:rPr>
              <a:t>Introducción a </a:t>
            </a:r>
            <a:r>
              <a:rPr kumimoji="1" lang="en-US" altLang="zh-CN" sz="2400" dirty="0" err="1">
                <a:ln w="12700">
                  <a:noFill/>
                </a:ln>
                <a:solidFill>
                  <a:srgbClr val="262626">
                    <a:alpha val="100000"/>
                  </a:srgbClr>
                </a:solidFill>
                <a:latin typeface="poppins-bold"/>
                <a:ea typeface="poppins-bold"/>
                <a:cs typeface="poppins-bold"/>
              </a:rPr>
              <a:t>Normativas</a:t>
            </a:r>
            <a:r>
              <a:rPr kumimoji="1" lang="en-US" altLang="zh-CN" sz="2400" dirty="0">
                <a:ln w="12700">
                  <a:noFill/>
                </a:ln>
                <a:solidFill>
                  <a:srgbClr val="262626">
                    <a:alpha val="100000"/>
                  </a:srgbClr>
                </a:solidFill>
                <a:latin typeface="poppins-bold"/>
                <a:ea typeface="poppins-bold"/>
                <a:cs typeface="poppins-bold"/>
              </a:rPr>
              <a:t> y </a:t>
            </a:r>
            <a:r>
              <a:rPr kumimoji="1" lang="en-US" altLang="zh-CN" sz="2400" dirty="0" err="1">
                <a:ln w="12700">
                  <a:noFill/>
                </a:ln>
                <a:solidFill>
                  <a:srgbClr val="262626">
                    <a:alpha val="100000"/>
                  </a:srgbClr>
                </a:solidFill>
                <a:latin typeface="poppins-bold"/>
                <a:ea typeface="poppins-bold"/>
                <a:cs typeface="poppins-bold"/>
              </a:rPr>
              <a:t>Buenas</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Prácticas</a:t>
            </a:r>
            <a:endParaRPr kumimoji="1" lang="zh-CN" altLang="en-US" dirty="0"/>
          </a:p>
        </p:txBody>
      </p:sp>
      <p:pic>
        <p:nvPicPr>
          <p:cNvPr id="10" name="Imagen 9">
            <a:extLst>
              <a:ext uri="{FF2B5EF4-FFF2-40B4-BE49-F238E27FC236}">
                <a16:creationId xmlns:a16="http://schemas.microsoft.com/office/drawing/2014/main" id="{99C42DBF-6949-2B45-694B-FDE8EFDFBE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2700000">
            <a:off x="1453104" y="1493122"/>
            <a:ext cx="1724617" cy="1724617"/>
          </a:xfrm>
          <a:prstGeom prst="roundRect">
            <a:avLst>
              <a:gd name="adj" fmla="val 8491"/>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3" name="Imagen 2"/>
          <p:cNvPicPr>
            <a:picLocks noChangeAspect="1"/>
          </p:cNvPicPr>
          <p:nvPr/>
        </p:nvPicPr>
        <p:blipFill>
          <a:blip r:embed="rId2">
            <a:alphaModFix/>
          </a:blip>
          <a:srcRect l="16273" t="2484" r="20381" b="2602"/>
          <a:stretch>
            <a:fillRect/>
          </a:stretch>
        </p:blipFill>
        <p:spPr>
          <a:xfrm>
            <a:off x="1507012" y="1242686"/>
            <a:ext cx="2225491" cy="2225490"/>
          </a:xfrm>
          <a:custGeom>
            <a:avLst/>
            <a:gdLst/>
            <a:ahLst/>
            <a:cxnLst/>
            <a:rect l="l" t="t" r="r" b="b"/>
            <a:pathLst>
              <a:path w="2225491" h="2225490">
                <a:moveTo>
                  <a:pt x="1112746" y="0"/>
                </a:moveTo>
                <a:cubicBezTo>
                  <a:pt x="1148733" y="0"/>
                  <a:pt x="1184719" y="13728"/>
                  <a:pt x="1212175" y="41185"/>
                </a:cubicBezTo>
                <a:lnTo>
                  <a:pt x="2184306" y="1013316"/>
                </a:lnTo>
                <a:cubicBezTo>
                  <a:pt x="2239220" y="1068230"/>
                  <a:pt x="2239220" y="1157260"/>
                  <a:pt x="2184306" y="1212174"/>
                </a:cubicBezTo>
                <a:lnTo>
                  <a:pt x="1212175" y="2184305"/>
                </a:lnTo>
                <a:cubicBezTo>
                  <a:pt x="1157262" y="2239219"/>
                  <a:pt x="1068231" y="2239219"/>
                  <a:pt x="1013317" y="2184305"/>
                </a:cubicBezTo>
                <a:lnTo>
                  <a:pt x="41185" y="1212174"/>
                </a:lnTo>
                <a:cubicBezTo>
                  <a:pt x="-13728" y="1157260"/>
                  <a:pt x="-13728" y="1068230"/>
                  <a:pt x="41185" y="1013316"/>
                </a:cubicBezTo>
                <a:lnTo>
                  <a:pt x="1013317" y="41185"/>
                </a:lnTo>
                <a:cubicBezTo>
                  <a:pt x="1040774" y="13728"/>
                  <a:pt x="1076760" y="0"/>
                  <a:pt x="1112746" y="0"/>
                </a:cubicBezTo>
                <a:close/>
              </a:path>
            </a:pathLst>
          </a:custGeom>
          <a:noFill/>
          <a:ln>
            <a:noFill/>
          </a:ln>
        </p:spPr>
      </p:pic>
      <p:sp>
        <p:nvSpPr>
          <p:cNvPr id="4" name="标题 1"/>
          <p:cNvSpPr txBox="1"/>
          <p:nvPr/>
        </p:nvSpPr>
        <p:spPr>
          <a:xfrm>
            <a:off x="4011969" y="2447313"/>
            <a:ext cx="6748037" cy="1020863"/>
          </a:xfrm>
          <a:prstGeom prst="rect">
            <a:avLst/>
          </a:prstGeom>
          <a:noFill/>
          <a:ln cap="sq">
            <a:noFill/>
          </a:ln>
        </p:spPr>
        <p:txBody>
          <a:bodyPr vert="horz" wrap="square" lIns="0" tIns="0" rIns="0" bIns="0" rtlCol="0" anchor="t"/>
          <a:lstStyle/>
          <a:p>
            <a:pPr algn="l"/>
            <a:r>
              <a:rPr kumimoji="1" lang="en-US" altLang="zh-CN" sz="1098">
                <a:ln w="12700">
                  <a:noFill/>
                </a:ln>
                <a:solidFill>
                  <a:srgbClr val="262626">
                    <a:alpha val="100000"/>
                  </a:srgbClr>
                </a:solidFill>
                <a:latin typeface="Poppins"/>
                <a:ea typeface="Poppins"/>
                <a:cs typeface="Poppins"/>
              </a:rPr>
              <a:t>Las normativas en tecnología de la información son cruciales para asegurar la conformidad legal, la seguridad de los datos y la calidad de los servicios. Establecen estándares que orientan a las organizaciones hacia mejores prácticas.</a:t>
            </a:r>
            <a:endParaRPr kumimoji="1" lang="zh-CN" altLang="en-US"/>
          </a:p>
        </p:txBody>
      </p:sp>
      <p:sp>
        <p:nvSpPr>
          <p:cNvPr id="5" name="标题 1"/>
          <p:cNvSpPr txBox="1"/>
          <p:nvPr/>
        </p:nvSpPr>
        <p:spPr>
          <a:xfrm>
            <a:off x="4872352" y="1501206"/>
            <a:ext cx="5812635" cy="601854"/>
          </a:xfrm>
          <a:prstGeom prst="rect">
            <a:avLst/>
          </a:prstGeom>
          <a:noFill/>
          <a:ln cap="sq">
            <a:noFill/>
          </a:ln>
        </p:spPr>
        <p:txBody>
          <a:bodyPr vert="horz" wrap="square" lIns="0" tIns="0" rIns="0" bIns="0" rtlCol="0" anchor="ctr"/>
          <a:lstStyle/>
          <a:p>
            <a:pPr algn="l"/>
            <a:r>
              <a:rPr kumimoji="1" lang="en-US" altLang="zh-CN" sz="1600">
                <a:ln w="12700">
                  <a:noFill/>
                </a:ln>
                <a:solidFill>
                  <a:srgbClr val="C53645">
                    <a:alpha val="100000"/>
                  </a:srgbClr>
                </a:solidFill>
                <a:latin typeface="poppins-bold"/>
                <a:ea typeface="poppins-bold"/>
                <a:cs typeface="poppins-bold"/>
              </a:rPr>
              <a:t>Importancia de las normativas</a:t>
            </a:r>
            <a:endParaRPr kumimoji="1" lang="zh-CN" altLang="en-US"/>
          </a:p>
        </p:txBody>
      </p:sp>
      <p:cxnSp>
        <p:nvCxnSpPr>
          <p:cNvPr id="6" name="标题 1"/>
          <p:cNvCxnSpPr/>
          <p:nvPr/>
        </p:nvCxnSpPr>
        <p:spPr>
          <a:xfrm>
            <a:off x="4011970" y="2263549"/>
            <a:ext cx="6673017" cy="0"/>
          </a:xfrm>
          <a:prstGeom prst="line">
            <a:avLst/>
          </a:prstGeom>
          <a:noFill/>
          <a:ln w="12700" cap="sq">
            <a:solidFill>
              <a:schemeClr val="bg1">
                <a:lumMod val="85000"/>
              </a:schemeClr>
            </a:solidFill>
            <a:miter/>
          </a:ln>
        </p:spPr>
      </p:cxnSp>
      <p:sp>
        <p:nvSpPr>
          <p:cNvPr id="7" name="标题 1"/>
          <p:cNvSpPr txBox="1"/>
          <p:nvPr/>
        </p:nvSpPr>
        <p:spPr>
          <a:xfrm rot="2700000">
            <a:off x="4117767" y="1546715"/>
            <a:ext cx="510834" cy="510834"/>
          </a:xfrm>
          <a:prstGeom prst="roundRect">
            <a:avLst>
              <a:gd name="adj" fmla="val 8491"/>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4207167" y="1656789"/>
            <a:ext cx="332034" cy="29068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w="1553"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rot="2700000">
            <a:off x="1453104" y="4092588"/>
            <a:ext cx="1724617" cy="1724617"/>
          </a:xfrm>
          <a:prstGeom prst="roundRect">
            <a:avLst>
              <a:gd name="adj" fmla="val 8491"/>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0" name="Imagen 9"/>
          <p:cNvPicPr>
            <a:picLocks noChangeAspect="1"/>
          </p:cNvPicPr>
          <p:nvPr/>
        </p:nvPicPr>
        <p:blipFill>
          <a:blip r:embed="rId3">
            <a:alphaModFix/>
          </a:blip>
          <a:srcRect l="19135" r="19135"/>
          <a:stretch>
            <a:fillRect/>
          </a:stretch>
        </p:blipFill>
        <p:spPr>
          <a:xfrm>
            <a:off x="1507012" y="3842152"/>
            <a:ext cx="2225491" cy="2225490"/>
          </a:xfrm>
          <a:custGeom>
            <a:avLst/>
            <a:gdLst/>
            <a:ahLst/>
            <a:cxnLst/>
            <a:rect l="l" t="t" r="r" b="b"/>
            <a:pathLst>
              <a:path w="2225491" h="2225490">
                <a:moveTo>
                  <a:pt x="1112746" y="0"/>
                </a:moveTo>
                <a:cubicBezTo>
                  <a:pt x="1148733" y="0"/>
                  <a:pt x="1184719" y="13728"/>
                  <a:pt x="1212175" y="41185"/>
                </a:cubicBezTo>
                <a:lnTo>
                  <a:pt x="2184306" y="1013316"/>
                </a:lnTo>
                <a:cubicBezTo>
                  <a:pt x="2239220" y="1068230"/>
                  <a:pt x="2239220" y="1157260"/>
                  <a:pt x="2184306" y="1212174"/>
                </a:cubicBezTo>
                <a:lnTo>
                  <a:pt x="1212175" y="2184305"/>
                </a:lnTo>
                <a:cubicBezTo>
                  <a:pt x="1157262" y="2239219"/>
                  <a:pt x="1068231" y="2239219"/>
                  <a:pt x="1013317" y="2184305"/>
                </a:cubicBezTo>
                <a:lnTo>
                  <a:pt x="41185" y="1212174"/>
                </a:lnTo>
                <a:cubicBezTo>
                  <a:pt x="-13728" y="1157260"/>
                  <a:pt x="-13728" y="1068230"/>
                  <a:pt x="41185" y="1013316"/>
                </a:cubicBezTo>
                <a:lnTo>
                  <a:pt x="1013317" y="41185"/>
                </a:lnTo>
                <a:cubicBezTo>
                  <a:pt x="1040774" y="13728"/>
                  <a:pt x="1076760" y="0"/>
                  <a:pt x="1112746" y="0"/>
                </a:cubicBezTo>
                <a:close/>
              </a:path>
            </a:pathLst>
          </a:custGeom>
          <a:noFill/>
          <a:ln>
            <a:noFill/>
          </a:ln>
        </p:spPr>
      </p:pic>
      <p:sp>
        <p:nvSpPr>
          <p:cNvPr id="11" name="标题 1"/>
          <p:cNvSpPr txBox="1"/>
          <p:nvPr/>
        </p:nvSpPr>
        <p:spPr>
          <a:xfrm>
            <a:off x="4011969" y="5046779"/>
            <a:ext cx="6748037" cy="1020863"/>
          </a:xfrm>
          <a:prstGeom prst="rect">
            <a:avLst/>
          </a:prstGeom>
          <a:noFill/>
          <a:ln cap="sq">
            <a:noFill/>
          </a:ln>
        </p:spPr>
        <p:txBody>
          <a:bodyPr vert="horz" wrap="square" lIns="0" tIns="0" rIns="0" bIns="0" rtlCol="0" anchor="t"/>
          <a:lstStyle/>
          <a:p>
            <a:pPr algn="l"/>
            <a:r>
              <a:rPr kumimoji="1" lang="en-US" altLang="zh-CN" sz="1098">
                <a:ln w="12700">
                  <a:noFill/>
                </a:ln>
                <a:solidFill>
                  <a:srgbClr val="262626">
                    <a:alpha val="100000"/>
                  </a:srgbClr>
                </a:solidFill>
                <a:latin typeface="Poppins"/>
                <a:ea typeface="Poppins"/>
                <a:cs typeface="Poppins"/>
              </a:rPr>
              <a:t>El contexto global de las normativas en TI abarca regulaciones internacionales, políticas de privacidad y estándares de seguridad. Esto incluye la influencia de organismos internacionales en la formulación de leyes que afectan a empresas en todo el mundo.</a:t>
            </a:r>
            <a:endParaRPr kumimoji="1" lang="zh-CN" altLang="en-US"/>
          </a:p>
        </p:txBody>
      </p:sp>
      <p:sp>
        <p:nvSpPr>
          <p:cNvPr id="12" name="标题 1"/>
          <p:cNvSpPr txBox="1"/>
          <p:nvPr/>
        </p:nvSpPr>
        <p:spPr>
          <a:xfrm>
            <a:off x="4872352" y="4100672"/>
            <a:ext cx="5812635" cy="601854"/>
          </a:xfrm>
          <a:prstGeom prst="rect">
            <a:avLst/>
          </a:prstGeom>
          <a:noFill/>
          <a:ln cap="sq">
            <a:noFill/>
          </a:ln>
        </p:spPr>
        <p:txBody>
          <a:bodyPr vert="horz" wrap="square" lIns="0" tIns="0" rIns="0" bIns="0" rtlCol="0" anchor="ctr"/>
          <a:lstStyle/>
          <a:p>
            <a:pPr algn="l"/>
            <a:r>
              <a:rPr kumimoji="1" lang="en-US" altLang="zh-CN" sz="1600">
                <a:ln w="12700">
                  <a:noFill/>
                </a:ln>
                <a:solidFill>
                  <a:srgbClr val="C53645">
                    <a:alpha val="100000"/>
                  </a:srgbClr>
                </a:solidFill>
                <a:latin typeface="poppins-bold"/>
                <a:ea typeface="poppins-bold"/>
                <a:cs typeface="poppins-bold"/>
              </a:rPr>
              <a:t>Contexto global de las normativas</a:t>
            </a:r>
            <a:endParaRPr kumimoji="1" lang="zh-CN" altLang="en-US"/>
          </a:p>
        </p:txBody>
      </p:sp>
      <p:cxnSp>
        <p:nvCxnSpPr>
          <p:cNvPr id="13" name="标题 1"/>
          <p:cNvCxnSpPr/>
          <p:nvPr/>
        </p:nvCxnSpPr>
        <p:spPr>
          <a:xfrm>
            <a:off x="4011970" y="4863015"/>
            <a:ext cx="6673017" cy="0"/>
          </a:xfrm>
          <a:prstGeom prst="line">
            <a:avLst/>
          </a:prstGeom>
          <a:noFill/>
          <a:ln w="12700" cap="sq">
            <a:solidFill>
              <a:schemeClr val="bg1">
                <a:lumMod val="85000"/>
              </a:schemeClr>
            </a:solidFill>
            <a:miter/>
          </a:ln>
        </p:spPr>
      </p:cxnSp>
      <p:sp>
        <p:nvSpPr>
          <p:cNvPr id="14" name="标题 1"/>
          <p:cNvSpPr txBox="1"/>
          <p:nvPr/>
        </p:nvSpPr>
        <p:spPr>
          <a:xfrm rot="2700000">
            <a:off x="4117767" y="4146181"/>
            <a:ext cx="510834" cy="510834"/>
          </a:xfrm>
          <a:prstGeom prst="roundRect">
            <a:avLst>
              <a:gd name="adj" fmla="val 8491"/>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4207167" y="4235581"/>
            <a:ext cx="332034" cy="332034"/>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accent1"/>
          </a:solidFill>
          <a:ln w="1553"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Definición de Normativas en TI</a:t>
            </a:r>
            <a:endParaRPr kumimoji="1" lang="zh-CN" altLang="en-US"/>
          </a:p>
        </p:txBody>
      </p:sp>
      <p:sp>
        <p:nvSpPr>
          <p:cNvPr id="17"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9" name="Imagen 18">
            <a:extLst>
              <a:ext uri="{FF2B5EF4-FFF2-40B4-BE49-F238E27FC236}">
                <a16:creationId xmlns:a16="http://schemas.microsoft.com/office/drawing/2014/main" id="{69ABEAC0-2E19-CB7D-4236-C2691E6BD8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425651" y="1825991"/>
            <a:ext cx="7353672" cy="82296"/>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1201540" y="2750042"/>
            <a:ext cx="470021" cy="536780"/>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4" name="标题 1"/>
          <p:cNvSpPr txBox="1"/>
          <p:nvPr/>
        </p:nvSpPr>
        <p:spPr>
          <a:xfrm>
            <a:off x="6868108" y="2737502"/>
            <a:ext cx="536780" cy="53678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5" name="标题 1"/>
          <p:cNvSpPr txBox="1"/>
          <p:nvPr/>
        </p:nvSpPr>
        <p:spPr>
          <a:xfrm>
            <a:off x="1848133" y="3364024"/>
            <a:ext cx="3549367" cy="1910662"/>
          </a:xfrm>
          <a:prstGeom prst="rect">
            <a:avLst/>
          </a:prstGeom>
          <a:noFill/>
          <a:ln cap="sq">
            <a:noFill/>
          </a:ln>
        </p:spPr>
        <p:txBody>
          <a:bodyPr vert="horz" wrap="square" lIns="91440" tIns="45720" rIns="91440" bIns="45720" rtlCol="0" anchor="t"/>
          <a:lstStyle/>
          <a:p>
            <a:pPr algn="l"/>
            <a:r>
              <a:rPr kumimoji="1" lang="en-US" altLang="zh-CN" sz="1208">
                <a:ln w="12700">
                  <a:noFill/>
                </a:ln>
                <a:solidFill>
                  <a:srgbClr val="000000">
                    <a:alpha val="100000"/>
                  </a:srgbClr>
                </a:solidFill>
                <a:latin typeface="Poppins"/>
                <a:ea typeface="Poppins"/>
                <a:cs typeface="Poppins"/>
              </a:rPr>
              <a:t>Los principios de buenas prácticas en gestión de TI incluyen la alineación de TI con los objetivos del negocio, la mejora continua, y la gestión eficaz de recursos, garantizando así un enfoque sistemático y eficiente.</a:t>
            </a:r>
            <a:endParaRPr kumimoji="1" lang="zh-CN" altLang="en-US"/>
          </a:p>
        </p:txBody>
      </p:sp>
      <p:sp>
        <p:nvSpPr>
          <p:cNvPr id="6" name="标题 1"/>
          <p:cNvSpPr txBox="1"/>
          <p:nvPr/>
        </p:nvSpPr>
        <p:spPr>
          <a:xfrm>
            <a:off x="1848133" y="2759927"/>
            <a:ext cx="3543300" cy="506764"/>
          </a:xfrm>
          <a:prstGeom prst="rect">
            <a:avLst/>
          </a:prstGeom>
          <a:noFill/>
          <a:ln cap="sq">
            <a:noFill/>
          </a:ln>
        </p:spPr>
        <p:txBody>
          <a:bodyPr vert="horz" wrap="square" lIns="0" tIns="0" rIns="0" bIns="0" rtlCol="0" anchor="b"/>
          <a:lstStyle/>
          <a:p>
            <a:pPr algn="l"/>
            <a:r>
              <a:rPr kumimoji="1" lang="en-US" altLang="zh-CN" sz="1600">
                <a:ln w="12700">
                  <a:noFill/>
                </a:ln>
                <a:solidFill>
                  <a:srgbClr val="C53645">
                    <a:alpha val="100000"/>
                  </a:srgbClr>
                </a:solidFill>
                <a:latin typeface="poppins-bold"/>
                <a:ea typeface="poppins-bold"/>
                <a:cs typeface="poppins-bold"/>
              </a:rPr>
              <a:t>Principios de buenas prácticas</a:t>
            </a:r>
            <a:endParaRPr kumimoji="1" lang="zh-CN" altLang="en-US"/>
          </a:p>
        </p:txBody>
      </p:sp>
      <p:sp>
        <p:nvSpPr>
          <p:cNvPr id="7" name="标题 1"/>
          <p:cNvSpPr txBox="1"/>
          <p:nvPr/>
        </p:nvSpPr>
        <p:spPr>
          <a:xfrm>
            <a:off x="7552689" y="3351324"/>
            <a:ext cx="3429000" cy="1916078"/>
          </a:xfrm>
          <a:prstGeom prst="rect">
            <a:avLst/>
          </a:prstGeom>
          <a:noFill/>
          <a:ln cap="sq">
            <a:noFill/>
          </a:ln>
        </p:spPr>
        <p:txBody>
          <a:bodyPr vert="horz" wrap="square" lIns="91440" tIns="45720" rIns="91440" bIns="45720" rtlCol="0" anchor="t"/>
          <a:lstStyle/>
          <a:p>
            <a:pPr algn="l"/>
            <a:r>
              <a:rPr kumimoji="1" lang="en-US" altLang="zh-CN" sz="1209">
                <a:ln w="12700">
                  <a:noFill/>
                </a:ln>
                <a:solidFill>
                  <a:srgbClr val="000000">
                    <a:alpha val="100000"/>
                  </a:srgbClr>
                </a:solidFill>
                <a:latin typeface="Poppins"/>
                <a:ea typeface="Poppins"/>
                <a:cs typeface="Poppins"/>
              </a:rPr>
              <a:t>Implementar buenas prácticas en gestión de TI puede resultar en una mayor eficiencia operativa, reducción de riesgos y costos, y una mejor satisfacción del cliente, contribuyendo a la competitividad y sostenibilidad de la organización.</a:t>
            </a:r>
            <a:endParaRPr kumimoji="1" lang="zh-CN" altLang="en-US"/>
          </a:p>
        </p:txBody>
      </p:sp>
      <p:sp>
        <p:nvSpPr>
          <p:cNvPr id="8" name="标题 1"/>
          <p:cNvSpPr txBox="1"/>
          <p:nvPr/>
        </p:nvSpPr>
        <p:spPr>
          <a:xfrm>
            <a:off x="7552689" y="2747227"/>
            <a:ext cx="3429000" cy="506764"/>
          </a:xfrm>
          <a:prstGeom prst="rect">
            <a:avLst/>
          </a:prstGeom>
          <a:noFill/>
          <a:ln cap="sq">
            <a:noFill/>
          </a:ln>
        </p:spPr>
        <p:txBody>
          <a:bodyPr vert="horz" wrap="square" lIns="0" tIns="0" rIns="0" bIns="0" rtlCol="0" anchor="b"/>
          <a:lstStyle/>
          <a:p>
            <a:pPr algn="l"/>
            <a:r>
              <a:rPr kumimoji="1" lang="en-US" altLang="zh-CN" sz="1600">
                <a:ln w="12700">
                  <a:noFill/>
                </a:ln>
                <a:solidFill>
                  <a:srgbClr val="C53645">
                    <a:alpha val="100000"/>
                  </a:srgbClr>
                </a:solidFill>
                <a:latin typeface="poppins-bold"/>
                <a:ea typeface="poppins-bold"/>
                <a:cs typeface="poppins-bold"/>
              </a:rPr>
              <a:t>Beneficios de implementar buenas prácticas</a:t>
            </a:r>
            <a:endParaRPr kumimoji="1" lang="zh-CN" altLang="en-US"/>
          </a:p>
        </p:txBody>
      </p:sp>
      <p:sp>
        <p:nvSpPr>
          <p:cNvPr id="9"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Buenas prácticas en gestión de TI</a:t>
            </a:r>
            <a:endParaRPr kumimoji="1" lang="zh-CN" altLang="en-US"/>
          </a:p>
        </p:txBody>
      </p:sp>
      <p:sp>
        <p:nvSpPr>
          <p:cNvPr id="10"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2" name="Imagen 11">
            <a:extLst>
              <a:ext uri="{FF2B5EF4-FFF2-40B4-BE49-F238E27FC236}">
                <a16:creationId xmlns:a16="http://schemas.microsoft.com/office/drawing/2014/main" id="{01199E5C-D003-A935-623C-BA1C73148B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848C-CAFD-570D-E350-31766F107DA8}"/>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3E790DD2-EBA3-604E-3ED3-9CE4ABE5B036}"/>
              </a:ext>
            </a:extLst>
          </p:cNvPr>
          <p:cNvSpPr txBox="1"/>
          <p:nvPr/>
        </p:nvSpPr>
        <p:spPr>
          <a:xfrm>
            <a:off x="718286" y="1122492"/>
            <a:ext cx="5137552" cy="863846"/>
          </a:xfrm>
          <a:prstGeom prst="rect">
            <a:avLst/>
          </a:prstGeom>
          <a:noFill/>
          <a:ln cap="sq">
            <a:noFill/>
          </a:ln>
        </p:spPr>
        <p:txBody>
          <a:bodyPr vert="horz" wrap="square" lIns="91440" tIns="45720" rIns="91440" bIns="45720" rtlCol="0" anchor="t"/>
          <a:lstStyle/>
          <a:p>
            <a:r>
              <a:rPr lang="es-ES" sz="1400" dirty="0"/>
              <a:t>Existen varias organizaciones internacionales que establecen los estándares que rigen el diseño, la construcción y la operación de los centros de cómputo. Las más reconocidas son:</a:t>
            </a:r>
          </a:p>
          <a:p>
            <a:endParaRPr lang="es-ES" sz="1400" dirty="0"/>
          </a:p>
        </p:txBody>
      </p:sp>
      <p:sp>
        <p:nvSpPr>
          <p:cNvPr id="6" name="标题 1">
            <a:extLst>
              <a:ext uri="{FF2B5EF4-FFF2-40B4-BE49-F238E27FC236}">
                <a16:creationId xmlns:a16="http://schemas.microsoft.com/office/drawing/2014/main" id="{88892EB2-58DB-61A2-A904-324AF49E334E}"/>
              </a:ext>
            </a:extLst>
          </p:cNvPr>
          <p:cNvSpPr txBox="1"/>
          <p:nvPr/>
        </p:nvSpPr>
        <p:spPr>
          <a:xfrm>
            <a:off x="4663602" y="834882"/>
            <a:ext cx="3543300" cy="506764"/>
          </a:xfrm>
          <a:prstGeom prst="rect">
            <a:avLst/>
          </a:prstGeom>
          <a:noFill/>
          <a:ln cap="sq">
            <a:noFill/>
          </a:ln>
        </p:spPr>
        <p:txBody>
          <a:bodyPr vert="horz" wrap="square" lIns="0" tIns="0" rIns="0" bIns="0" rtlCol="0" anchor="b"/>
          <a:lstStyle/>
          <a:p>
            <a:endParaRPr lang="es-ES" sz="1600" b="1" dirty="0"/>
          </a:p>
        </p:txBody>
      </p:sp>
      <p:sp>
        <p:nvSpPr>
          <p:cNvPr id="7" name="标题 1">
            <a:extLst>
              <a:ext uri="{FF2B5EF4-FFF2-40B4-BE49-F238E27FC236}">
                <a16:creationId xmlns:a16="http://schemas.microsoft.com/office/drawing/2014/main" id="{B8576B20-4787-B28B-2BA4-B19198F334CA}"/>
              </a:ext>
            </a:extLst>
          </p:cNvPr>
          <p:cNvSpPr txBox="1"/>
          <p:nvPr/>
        </p:nvSpPr>
        <p:spPr>
          <a:xfrm>
            <a:off x="6286623" y="3819584"/>
            <a:ext cx="5171767" cy="2675850"/>
          </a:xfrm>
          <a:prstGeom prst="rect">
            <a:avLst/>
          </a:prstGeom>
          <a:noFill/>
          <a:ln cap="sq">
            <a:noFill/>
          </a:ln>
        </p:spPr>
        <p:txBody>
          <a:bodyPr vert="horz" wrap="square" lIns="91440" tIns="45720" rIns="91440" bIns="45720" rtlCol="0" anchor="t"/>
          <a:lstStyle/>
          <a:p>
            <a:r>
              <a:rPr lang="es-ES" sz="1400" b="1" dirty="0">
                <a:latin typeface="Arial" panose="020B0604020202020204" pitchFamily="34" charset="0"/>
                <a:cs typeface="Arial" panose="020B0604020202020204" pitchFamily="34" charset="0"/>
              </a:rPr>
              <a:t>Tier III: Mantenimiento Concurrente.</a:t>
            </a:r>
            <a:r>
              <a:rPr lang="es-ES" sz="1400" dirty="0">
                <a:latin typeface="Arial" panose="020B0604020202020204" pitchFamily="34" charset="0"/>
                <a:cs typeface="Arial" panose="020B0604020202020204" pitchFamily="34" charset="0"/>
              </a:rPr>
              <a:t> Permite realizar mantenimiento y reemplazo de equipos sin interrumpir el servicio. Todos los componentes de TI están protegidos contra una falla de cualquier componente. Disponibilidad del </a:t>
            </a:r>
            <a:r>
              <a:rPr lang="es-ES" sz="1400" b="1" dirty="0">
                <a:latin typeface="Arial" panose="020B0604020202020204" pitchFamily="34" charset="0"/>
                <a:cs typeface="Arial" panose="020B0604020202020204" pitchFamily="34" charset="0"/>
              </a:rPr>
              <a:t>99.982%</a:t>
            </a:r>
            <a:r>
              <a:rPr lang="es-ES" sz="1400" dirty="0">
                <a:latin typeface="Arial" panose="020B0604020202020204" pitchFamily="34" charset="0"/>
                <a:cs typeface="Arial" panose="020B0604020202020204" pitchFamily="34" charset="0"/>
              </a:rPr>
              <a:t>.</a:t>
            </a:r>
          </a:p>
          <a:p>
            <a:endParaRPr lang="es-ES" sz="1400" dirty="0">
              <a:latin typeface="Arial" panose="020B0604020202020204" pitchFamily="34" charset="0"/>
              <a:cs typeface="Arial" panose="020B0604020202020204" pitchFamily="34" charset="0"/>
            </a:endParaRPr>
          </a:p>
          <a:p>
            <a:r>
              <a:rPr lang="es-ES" sz="1400" b="1" dirty="0">
                <a:latin typeface="Arial" panose="020B0604020202020204" pitchFamily="34" charset="0"/>
                <a:cs typeface="Arial" panose="020B0604020202020204" pitchFamily="34" charset="0"/>
              </a:rPr>
              <a:t>Tier IV: Tolerante a Fallos.</a:t>
            </a:r>
            <a:r>
              <a:rPr lang="es-ES" sz="1400" dirty="0">
                <a:latin typeface="Arial" panose="020B0604020202020204" pitchFamily="34" charset="0"/>
                <a:cs typeface="Arial" panose="020B0604020202020204" pitchFamily="34" charset="0"/>
              </a:rPr>
              <a:t> Ofrece redundancia en todos los componentes y múltiples rutas de distribución. Puede soportar un evento de falla grave sin afectar la operación. Disponibilidad del </a:t>
            </a:r>
            <a:r>
              <a:rPr lang="es-ES" sz="1400" b="1" dirty="0">
                <a:latin typeface="Arial" panose="020B0604020202020204" pitchFamily="34" charset="0"/>
                <a:cs typeface="Arial" panose="020B0604020202020204" pitchFamily="34" charset="0"/>
              </a:rPr>
              <a:t>99.995%</a:t>
            </a:r>
            <a:r>
              <a:rPr lang="es-ES" sz="1400" dirty="0">
                <a:latin typeface="Arial" panose="020B0604020202020204" pitchFamily="34" charset="0"/>
                <a:cs typeface="Arial" panose="020B0604020202020204" pitchFamily="34" charset="0"/>
              </a:rPr>
              <a:t>.</a:t>
            </a:r>
          </a:p>
        </p:txBody>
      </p:sp>
      <p:sp>
        <p:nvSpPr>
          <p:cNvPr id="9" name="标题 1">
            <a:extLst>
              <a:ext uri="{FF2B5EF4-FFF2-40B4-BE49-F238E27FC236}">
                <a16:creationId xmlns:a16="http://schemas.microsoft.com/office/drawing/2014/main" id="{E4EA9BC5-FB29-25D1-A355-67DD270F0C2B}"/>
              </a:ext>
            </a:extLst>
          </p:cNvPr>
          <p:cNvSpPr txBox="1"/>
          <p:nvPr/>
        </p:nvSpPr>
        <p:spPr>
          <a:xfrm>
            <a:off x="787215" y="385281"/>
            <a:ext cx="10671175" cy="468000"/>
          </a:xfrm>
          <a:prstGeom prst="rect">
            <a:avLst/>
          </a:prstGeom>
          <a:noFill/>
          <a:ln>
            <a:noFill/>
          </a:ln>
        </p:spPr>
        <p:txBody>
          <a:bodyPr vert="horz" wrap="square" lIns="0" tIns="0" rIns="0" bIns="0" rtlCol="0" anchor="ctr"/>
          <a:lstStyle/>
          <a:p>
            <a:r>
              <a:rPr lang="es-ES" sz="2800" b="1" dirty="0"/>
              <a:t>Normativas y Estándares Clave</a:t>
            </a:r>
          </a:p>
        </p:txBody>
      </p:sp>
      <p:sp>
        <p:nvSpPr>
          <p:cNvPr id="11" name="标题 1">
            <a:extLst>
              <a:ext uri="{FF2B5EF4-FFF2-40B4-BE49-F238E27FC236}">
                <a16:creationId xmlns:a16="http://schemas.microsoft.com/office/drawing/2014/main" id="{74EAD2AF-591A-85F1-8A71-8B11548BFE04}"/>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a:extLst>
              <a:ext uri="{FF2B5EF4-FFF2-40B4-BE49-F238E27FC236}">
                <a16:creationId xmlns:a16="http://schemas.microsoft.com/office/drawing/2014/main" id="{090757B0-775A-B50E-03FD-D71CF7B89D5B}"/>
              </a:ext>
            </a:extLst>
          </p:cNvPr>
          <p:cNvSpPr txBox="1"/>
          <p:nvPr/>
        </p:nvSpPr>
        <p:spPr>
          <a:xfrm>
            <a:off x="923692" y="4071534"/>
            <a:ext cx="4258523" cy="2171950"/>
          </a:xfrm>
          <a:prstGeom prst="rect">
            <a:avLst/>
          </a:prstGeom>
          <a:noFill/>
          <a:ln cap="sq">
            <a:noFill/>
          </a:ln>
        </p:spPr>
        <p:txBody>
          <a:bodyPr vert="horz" wrap="square" lIns="91440" tIns="45720" rIns="91440" bIns="45720" rtlCol="0" anchor="t"/>
          <a:lstStyle/>
          <a:p>
            <a:r>
              <a:rPr lang="es-ES" sz="1400" b="1" dirty="0">
                <a:latin typeface="Arial" panose="020B0604020202020204" pitchFamily="34" charset="0"/>
                <a:cs typeface="Arial" panose="020B0604020202020204" pitchFamily="34" charset="0"/>
              </a:rPr>
              <a:t>Tier I: Básico.</a:t>
            </a:r>
            <a:r>
              <a:rPr lang="es-ES" sz="1400" dirty="0">
                <a:latin typeface="Arial" panose="020B0604020202020204" pitchFamily="34" charset="0"/>
                <a:cs typeface="Arial" panose="020B0604020202020204" pitchFamily="34" charset="0"/>
              </a:rPr>
              <a:t> No tiene componentes redundantes. Ofrece una disponibilidad del </a:t>
            </a:r>
            <a:r>
              <a:rPr lang="es-ES" sz="1400" b="1" dirty="0">
                <a:latin typeface="Arial" panose="020B0604020202020204" pitchFamily="34" charset="0"/>
                <a:cs typeface="Arial" panose="020B0604020202020204" pitchFamily="34" charset="0"/>
              </a:rPr>
              <a:t>99.671%</a:t>
            </a:r>
            <a:r>
              <a:rPr lang="es-ES" sz="1400" dirty="0">
                <a:latin typeface="Arial" panose="020B0604020202020204" pitchFamily="34" charset="0"/>
                <a:cs typeface="Arial" panose="020B0604020202020204" pitchFamily="34" charset="0"/>
              </a:rPr>
              <a:t>. Es susceptible a interrupciones, tanto planeadas como no planeadas.</a:t>
            </a:r>
          </a:p>
          <a:p>
            <a:endParaRPr lang="es-ES" sz="1400" dirty="0">
              <a:latin typeface="Arial" panose="020B0604020202020204" pitchFamily="34" charset="0"/>
              <a:cs typeface="Arial" panose="020B0604020202020204" pitchFamily="34" charset="0"/>
            </a:endParaRPr>
          </a:p>
          <a:p>
            <a:r>
              <a:rPr lang="es-ES" sz="1400" b="1" dirty="0">
                <a:latin typeface="Arial" panose="020B0604020202020204" pitchFamily="34" charset="0"/>
                <a:cs typeface="Arial" panose="020B0604020202020204" pitchFamily="34" charset="0"/>
              </a:rPr>
              <a:t>Tier II: Componentes Redundantes.</a:t>
            </a:r>
            <a:r>
              <a:rPr lang="es-ES" sz="1400" dirty="0">
                <a:latin typeface="Arial" panose="020B0604020202020204" pitchFamily="34" charset="0"/>
                <a:cs typeface="Arial" panose="020B0604020202020204" pitchFamily="34" charset="0"/>
              </a:rPr>
              <a:t> Añade redundancia en algunos componentes de infraestructura crítica (energía y enfriamiento). Disponibilidad del </a:t>
            </a:r>
            <a:r>
              <a:rPr lang="es-ES" sz="1400" b="1" dirty="0">
                <a:latin typeface="Arial" panose="020B0604020202020204" pitchFamily="34" charset="0"/>
                <a:cs typeface="Arial" panose="020B0604020202020204" pitchFamily="34" charset="0"/>
              </a:rPr>
              <a:t>99.741%</a:t>
            </a:r>
            <a:r>
              <a:rPr lang="es-ES" sz="1400" dirty="0">
                <a:latin typeface="Arial" panose="020B0604020202020204" pitchFamily="34" charset="0"/>
                <a:cs typeface="Arial" panose="020B0604020202020204" pitchFamily="34" charset="0"/>
              </a:rPr>
              <a:t>.</a:t>
            </a:r>
          </a:p>
        </p:txBody>
      </p:sp>
      <p:sp>
        <p:nvSpPr>
          <p:cNvPr id="13" name="标题 1">
            <a:extLst>
              <a:ext uri="{FF2B5EF4-FFF2-40B4-BE49-F238E27FC236}">
                <a16:creationId xmlns:a16="http://schemas.microsoft.com/office/drawing/2014/main" id="{771ADB66-5CD4-3FE5-62DA-52FB1BE95823}"/>
              </a:ext>
            </a:extLst>
          </p:cNvPr>
          <p:cNvSpPr txBox="1"/>
          <p:nvPr/>
        </p:nvSpPr>
        <p:spPr>
          <a:xfrm>
            <a:off x="923693" y="2821620"/>
            <a:ext cx="4258523" cy="1112486"/>
          </a:xfrm>
          <a:prstGeom prst="rect">
            <a:avLst/>
          </a:prstGeom>
          <a:noFill/>
          <a:ln cap="sq">
            <a:noFill/>
          </a:ln>
        </p:spPr>
        <p:txBody>
          <a:bodyPr vert="horz" wrap="square" lIns="91440" tIns="45720" rIns="91440" bIns="45720" rtlCol="0" anchor="t"/>
          <a:lstStyle/>
          <a:p>
            <a:r>
              <a:rPr lang="es-ES" sz="1400" dirty="0"/>
              <a:t>Es el estándar más famoso a nivel mundial para la certificación de la </a:t>
            </a:r>
            <a:r>
              <a:rPr lang="es-ES" sz="1400" b="1" dirty="0"/>
              <a:t>confiabilidad y disponibilidad</a:t>
            </a:r>
            <a:r>
              <a:rPr lang="es-ES" sz="1400" dirty="0"/>
              <a:t> de un centro de datos. Se clasifica en cuatro niveles (</a:t>
            </a:r>
            <a:r>
              <a:rPr lang="es-ES" sz="1400" dirty="0" err="1"/>
              <a:t>Tiers</a:t>
            </a:r>
            <a:r>
              <a:rPr lang="es-ES" sz="1400" dirty="0"/>
              <a:t>):</a:t>
            </a:r>
          </a:p>
        </p:txBody>
      </p:sp>
      <p:sp>
        <p:nvSpPr>
          <p:cNvPr id="14" name="标题 1">
            <a:extLst>
              <a:ext uri="{FF2B5EF4-FFF2-40B4-BE49-F238E27FC236}">
                <a16:creationId xmlns:a16="http://schemas.microsoft.com/office/drawing/2014/main" id="{50F9D4D9-6C3E-4146-4531-4227768A7298}"/>
              </a:ext>
            </a:extLst>
          </p:cNvPr>
          <p:cNvSpPr txBox="1"/>
          <p:nvPr/>
        </p:nvSpPr>
        <p:spPr>
          <a:xfrm>
            <a:off x="1001735" y="2069953"/>
            <a:ext cx="3543300" cy="506764"/>
          </a:xfrm>
          <a:prstGeom prst="rect">
            <a:avLst/>
          </a:prstGeom>
          <a:noFill/>
          <a:ln cap="sq">
            <a:noFill/>
          </a:ln>
        </p:spPr>
        <p:txBody>
          <a:bodyPr vert="horz" wrap="square" lIns="0" tIns="0" rIns="0" bIns="0" rtlCol="0" anchor="b"/>
          <a:lstStyle/>
          <a:p>
            <a:r>
              <a:rPr lang="es-ES" sz="1600" b="1" dirty="0"/>
              <a:t>1. </a:t>
            </a:r>
            <a:r>
              <a:rPr lang="es-ES" sz="1600" b="1" dirty="0" err="1"/>
              <a:t>Uptime</a:t>
            </a:r>
            <a:r>
              <a:rPr lang="es-ES" sz="1600" b="1" dirty="0"/>
              <a:t> </a:t>
            </a:r>
            <a:r>
              <a:rPr lang="es-ES" sz="1600" b="1" dirty="0" err="1"/>
              <a:t>Institute</a:t>
            </a:r>
            <a:r>
              <a:rPr lang="es-ES" sz="1600" b="1" dirty="0"/>
              <a:t>: Tier Standard</a:t>
            </a:r>
          </a:p>
        </p:txBody>
      </p:sp>
      <p:pic>
        <p:nvPicPr>
          <p:cNvPr id="2" name="Imagen 1">
            <a:extLst>
              <a:ext uri="{FF2B5EF4-FFF2-40B4-BE49-F238E27FC236}">
                <a16:creationId xmlns:a16="http://schemas.microsoft.com/office/drawing/2014/main" id="{7741C269-6000-C686-2A87-1A9C65420D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3708758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BE246-8EFD-7BA8-7AC5-69C1C4B11F44}"/>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ED8C1841-6994-46E8-0195-EE0EB83E93D7}"/>
              </a:ext>
            </a:extLst>
          </p:cNvPr>
          <p:cNvSpPr txBox="1"/>
          <p:nvPr/>
        </p:nvSpPr>
        <p:spPr>
          <a:xfrm>
            <a:off x="5673213" y="1937834"/>
            <a:ext cx="5869858" cy="3991017"/>
          </a:xfrm>
          <a:prstGeom prst="rect">
            <a:avLst/>
          </a:prstGeom>
          <a:noFill/>
          <a:ln cap="sq">
            <a:noFill/>
          </a:ln>
        </p:spPr>
        <p:txBody>
          <a:bodyPr vert="horz" wrap="square" lIns="91440" tIns="45720" rIns="91440" bIns="45720" rtlCol="0" anchor="t"/>
          <a:lstStyle/>
          <a:p>
            <a:r>
              <a:rPr lang="es-ES" sz="1400" dirty="0"/>
              <a:t>Varias normas ISO son fundamentales para la gestión de un centro de datos:</a:t>
            </a:r>
          </a:p>
          <a:p>
            <a:endParaRPr lang="es-ES" sz="1400" dirty="0"/>
          </a:p>
          <a:p>
            <a:r>
              <a:rPr lang="es-ES" sz="1400" b="1" dirty="0"/>
              <a:t>ISO/IEC 27001:</a:t>
            </a:r>
            <a:r>
              <a:rPr lang="es-ES" sz="1400" dirty="0"/>
              <a:t> Es el estándar de referencia para la </a:t>
            </a:r>
            <a:r>
              <a:rPr lang="es-ES" sz="1400" b="1" dirty="0"/>
              <a:t>gestión de la seguridad de la información</a:t>
            </a:r>
            <a:r>
              <a:rPr lang="es-ES" sz="1400" dirty="0"/>
              <a:t>. Establece los requisitos para un Sistema de Gestión de Seguridad de la Información (SGSI), garantizando la confidencialidad, integridad y disponibilidad de los datos.</a:t>
            </a:r>
          </a:p>
          <a:p>
            <a:endParaRPr lang="es-ES" sz="1400" dirty="0"/>
          </a:p>
          <a:p>
            <a:r>
              <a:rPr lang="es-ES" sz="1400" b="1" dirty="0"/>
              <a:t>ISO/IEC 20000:</a:t>
            </a:r>
            <a:r>
              <a:rPr lang="es-ES" sz="1400" dirty="0"/>
              <a:t> Se enfoca en la </a:t>
            </a:r>
            <a:r>
              <a:rPr lang="es-ES" sz="1400" b="1" dirty="0"/>
              <a:t>gestión de servicios de TI</a:t>
            </a:r>
            <a:r>
              <a:rPr lang="es-ES" sz="1400" dirty="0"/>
              <a:t>, asegurando que los servicios ofrecidos sean eficientes, de alta calidad y alineados con las necesidades del negocio.</a:t>
            </a:r>
          </a:p>
          <a:p>
            <a:endParaRPr lang="es-ES" sz="1400" dirty="0"/>
          </a:p>
          <a:p>
            <a:r>
              <a:rPr lang="es-ES" sz="1400" b="1" dirty="0"/>
              <a:t>ISO 9001:</a:t>
            </a:r>
            <a:r>
              <a:rPr lang="es-ES" sz="1400" dirty="0"/>
              <a:t> Se centra en la </a:t>
            </a:r>
            <a:r>
              <a:rPr lang="es-ES" sz="1400" b="1" dirty="0"/>
              <a:t>gestión de la calidad</a:t>
            </a:r>
            <a:r>
              <a:rPr lang="es-ES" sz="1400" dirty="0"/>
              <a:t> de los procesos y servicios del centro de datos.</a:t>
            </a:r>
          </a:p>
          <a:p>
            <a:endParaRPr lang="es-ES" sz="1400" dirty="0"/>
          </a:p>
          <a:p>
            <a:r>
              <a:rPr lang="es-ES" sz="1400" b="1" dirty="0"/>
              <a:t>ISO 50001:</a:t>
            </a:r>
            <a:r>
              <a:rPr lang="es-ES" sz="1400" dirty="0"/>
              <a:t> Especifica los requisitos para establecer un sistema de </a:t>
            </a:r>
            <a:r>
              <a:rPr lang="es-ES" sz="1400" b="1" dirty="0"/>
              <a:t>gestión de la energía</a:t>
            </a:r>
            <a:r>
              <a:rPr lang="es-ES" sz="1400" dirty="0"/>
              <a:t>, clave para mejorar la eficiencia y reducir costos operativos.</a:t>
            </a:r>
          </a:p>
        </p:txBody>
      </p:sp>
      <p:sp>
        <p:nvSpPr>
          <p:cNvPr id="9" name="标题 1">
            <a:extLst>
              <a:ext uri="{FF2B5EF4-FFF2-40B4-BE49-F238E27FC236}">
                <a16:creationId xmlns:a16="http://schemas.microsoft.com/office/drawing/2014/main" id="{541E1A02-DFB8-C8A9-1636-C8FA50CC83AD}"/>
              </a:ext>
            </a:extLst>
          </p:cNvPr>
          <p:cNvSpPr txBox="1"/>
          <p:nvPr/>
        </p:nvSpPr>
        <p:spPr>
          <a:xfrm>
            <a:off x="787215" y="385281"/>
            <a:ext cx="10671175" cy="468000"/>
          </a:xfrm>
          <a:prstGeom prst="rect">
            <a:avLst/>
          </a:prstGeom>
          <a:noFill/>
          <a:ln>
            <a:noFill/>
          </a:ln>
        </p:spPr>
        <p:txBody>
          <a:bodyPr vert="horz" wrap="square" lIns="0" tIns="0" rIns="0" bIns="0" rtlCol="0" anchor="ctr"/>
          <a:lstStyle/>
          <a:p>
            <a:r>
              <a:rPr lang="es-ES" sz="2800" b="1" dirty="0"/>
              <a:t>Normativas y Estándares Clave</a:t>
            </a:r>
          </a:p>
        </p:txBody>
      </p:sp>
      <p:sp>
        <p:nvSpPr>
          <p:cNvPr id="11" name="标题 1">
            <a:extLst>
              <a:ext uri="{FF2B5EF4-FFF2-40B4-BE49-F238E27FC236}">
                <a16:creationId xmlns:a16="http://schemas.microsoft.com/office/drawing/2014/main" id="{7BBE1E22-A79B-7263-0D27-07BB324E06EE}"/>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a:extLst>
              <a:ext uri="{FF2B5EF4-FFF2-40B4-BE49-F238E27FC236}">
                <a16:creationId xmlns:a16="http://schemas.microsoft.com/office/drawing/2014/main" id="{9444F09B-D753-0E33-CD87-5A26610B15A1}"/>
              </a:ext>
            </a:extLst>
          </p:cNvPr>
          <p:cNvSpPr txBox="1"/>
          <p:nvPr/>
        </p:nvSpPr>
        <p:spPr>
          <a:xfrm>
            <a:off x="972237" y="1937835"/>
            <a:ext cx="4258523" cy="3361751"/>
          </a:xfrm>
          <a:prstGeom prst="rect">
            <a:avLst/>
          </a:prstGeom>
          <a:noFill/>
          <a:ln cap="sq">
            <a:noFill/>
          </a:ln>
        </p:spPr>
        <p:txBody>
          <a:bodyPr vert="horz" wrap="square" lIns="91440" tIns="45720" rIns="91440" bIns="45720" rtlCol="0" anchor="t"/>
          <a:lstStyle/>
          <a:p>
            <a:r>
              <a:rPr lang="es-ES" sz="1400" dirty="0"/>
              <a:t>Desarrollado por la Asociación de la Industria de las Telecomunicaciones (TIA), este estándar cubre el </a:t>
            </a:r>
            <a:r>
              <a:rPr lang="es-ES" sz="1400" b="1" dirty="0"/>
              <a:t>diseño de la infraestructura de telecomunicaciones y las instalaciones</a:t>
            </a:r>
            <a:r>
              <a:rPr lang="es-ES" sz="1400" dirty="0"/>
              <a:t> del centro de datos. Abarca aspectos como:</a:t>
            </a:r>
          </a:p>
          <a:p>
            <a:r>
              <a:rPr lang="es-ES" sz="1400" b="1" dirty="0"/>
              <a:t>Arquitectura y diseño del sitio.</a:t>
            </a:r>
            <a:endParaRPr lang="es-ES" sz="1400" dirty="0"/>
          </a:p>
          <a:p>
            <a:r>
              <a:rPr lang="es-ES" sz="1400" b="1" dirty="0"/>
              <a:t>Sistemas de cableado estructurado.</a:t>
            </a:r>
            <a:endParaRPr lang="es-ES" sz="1400" dirty="0"/>
          </a:p>
          <a:p>
            <a:r>
              <a:rPr lang="es-ES" sz="1400" b="1" dirty="0"/>
              <a:t>Distribución de energía y enfriamiento.</a:t>
            </a:r>
            <a:endParaRPr lang="es-ES" sz="1400" dirty="0"/>
          </a:p>
          <a:p>
            <a:r>
              <a:rPr lang="es-ES" sz="1400" b="1" dirty="0"/>
              <a:t>Seguridad física.</a:t>
            </a:r>
          </a:p>
          <a:p>
            <a:endParaRPr lang="es-ES" sz="1400" dirty="0"/>
          </a:p>
          <a:p>
            <a:r>
              <a:rPr lang="es-ES" sz="1400" dirty="0"/>
              <a:t>Al igual que el </a:t>
            </a:r>
            <a:r>
              <a:rPr lang="es-ES" sz="1400" dirty="0" err="1"/>
              <a:t>Uptime</a:t>
            </a:r>
            <a:r>
              <a:rPr lang="es-ES" sz="1400" dirty="0"/>
              <a:t> </a:t>
            </a:r>
            <a:r>
              <a:rPr lang="es-ES" sz="1400" dirty="0" err="1"/>
              <a:t>Institute</a:t>
            </a:r>
            <a:r>
              <a:rPr lang="es-ES" sz="1400" dirty="0"/>
              <a:t>, clasifica los centros de datos en cuatro niveles de "Rating" (Rated-1 a Rated-4), que son conceptualmente similares a los </a:t>
            </a:r>
            <a:r>
              <a:rPr lang="es-ES" sz="1400" dirty="0" err="1"/>
              <a:t>Tiers</a:t>
            </a:r>
            <a:r>
              <a:rPr lang="es-ES" sz="1400" dirty="0"/>
              <a:t>.</a:t>
            </a:r>
          </a:p>
        </p:txBody>
      </p:sp>
      <p:sp>
        <p:nvSpPr>
          <p:cNvPr id="14" name="标题 1">
            <a:extLst>
              <a:ext uri="{FF2B5EF4-FFF2-40B4-BE49-F238E27FC236}">
                <a16:creationId xmlns:a16="http://schemas.microsoft.com/office/drawing/2014/main" id="{D09AE26F-BF5A-2E2F-965E-F0B74A4BA229}"/>
              </a:ext>
            </a:extLst>
          </p:cNvPr>
          <p:cNvSpPr txBox="1"/>
          <p:nvPr/>
        </p:nvSpPr>
        <p:spPr>
          <a:xfrm>
            <a:off x="1208213" y="1128657"/>
            <a:ext cx="3543300" cy="506764"/>
          </a:xfrm>
          <a:prstGeom prst="rect">
            <a:avLst/>
          </a:prstGeom>
          <a:noFill/>
          <a:ln cap="sq">
            <a:noFill/>
          </a:ln>
        </p:spPr>
        <p:txBody>
          <a:bodyPr vert="horz" wrap="square" lIns="0" tIns="0" rIns="0" bIns="0" rtlCol="0" anchor="b"/>
          <a:lstStyle/>
          <a:p>
            <a:r>
              <a:rPr lang="es-ES" sz="1600" b="1" dirty="0"/>
              <a:t>2. ANSI/TIA-942</a:t>
            </a:r>
          </a:p>
        </p:txBody>
      </p:sp>
      <p:sp>
        <p:nvSpPr>
          <p:cNvPr id="3" name="CuadroTexto 2">
            <a:extLst>
              <a:ext uri="{FF2B5EF4-FFF2-40B4-BE49-F238E27FC236}">
                <a16:creationId xmlns:a16="http://schemas.microsoft.com/office/drawing/2014/main" id="{809F6989-2729-29A2-6D06-4F729598D3F6}"/>
              </a:ext>
            </a:extLst>
          </p:cNvPr>
          <p:cNvSpPr txBox="1"/>
          <p:nvPr/>
        </p:nvSpPr>
        <p:spPr>
          <a:xfrm>
            <a:off x="6882200" y="1212872"/>
            <a:ext cx="4101587" cy="646331"/>
          </a:xfrm>
          <a:prstGeom prst="rect">
            <a:avLst/>
          </a:prstGeom>
          <a:noFill/>
        </p:spPr>
        <p:txBody>
          <a:bodyPr wrap="square">
            <a:spAutoFit/>
          </a:bodyPr>
          <a:lstStyle/>
          <a:p>
            <a:r>
              <a:rPr lang="es-ES" sz="1800" b="1" dirty="0"/>
              <a:t>3. Normas ISO (Organización Internacional de Normalización)</a:t>
            </a:r>
          </a:p>
        </p:txBody>
      </p:sp>
      <p:pic>
        <p:nvPicPr>
          <p:cNvPr id="2" name="Imagen 1">
            <a:extLst>
              <a:ext uri="{FF2B5EF4-FFF2-40B4-BE49-F238E27FC236}">
                <a16:creationId xmlns:a16="http://schemas.microsoft.com/office/drawing/2014/main" id="{8EDC9A0C-E02F-AC3B-4D73-BD3B36C2C2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93753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B52C5-FD65-9597-7818-CC2C7E35C731}"/>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AF2C101F-E43F-F9E7-62D1-64D406781CAC}"/>
              </a:ext>
            </a:extLst>
          </p:cNvPr>
          <p:cNvSpPr txBox="1"/>
          <p:nvPr/>
        </p:nvSpPr>
        <p:spPr>
          <a:xfrm>
            <a:off x="5653548" y="2793242"/>
            <a:ext cx="6302477" cy="3519068"/>
          </a:xfrm>
          <a:prstGeom prst="rect">
            <a:avLst/>
          </a:prstGeom>
          <a:noFill/>
          <a:ln cap="sq">
            <a:noFill/>
          </a:ln>
        </p:spPr>
        <p:txBody>
          <a:bodyPr vert="horz" wrap="square" lIns="91440" tIns="45720" rIns="91440" bIns="45720" rtlCol="0" anchor="t"/>
          <a:lstStyle/>
          <a:p>
            <a:r>
              <a:rPr lang="es-ES" sz="1400" dirty="0"/>
              <a:t>Mantener una temperatura y humedad estables es crítico para el funcionamiento de los servidores.</a:t>
            </a:r>
          </a:p>
          <a:p>
            <a:endParaRPr lang="es-ES" sz="1400" dirty="0"/>
          </a:p>
          <a:p>
            <a:r>
              <a:rPr lang="es-ES" sz="1400" b="1" dirty="0"/>
              <a:t>Pasillos Fríos y Calientes:</a:t>
            </a:r>
            <a:r>
              <a:rPr lang="es-ES" sz="1400" dirty="0"/>
              <a:t> Es la práctica más común para optimizar el flujo de aire. Los racks se alinean de manera que las entradas de aire frío (pasillo frío) queden enfrentadas, y las salidas de aire caliente (pasillo caliente) también, evitando que se mezclen.</a:t>
            </a:r>
          </a:p>
          <a:p>
            <a:endParaRPr lang="es-ES" sz="1400" dirty="0"/>
          </a:p>
          <a:p>
            <a:r>
              <a:rPr lang="es-ES" sz="1400" b="1" dirty="0"/>
              <a:t>Monitoreo Ambiental:</a:t>
            </a:r>
            <a:r>
              <a:rPr lang="es-ES" sz="1400" dirty="0"/>
              <a:t> Sensores de temperatura y humedad distribuidos por toda la sala para garantizar condiciones óptimas (generalmente entre 18°C y 27°C).</a:t>
            </a:r>
          </a:p>
          <a:p>
            <a:r>
              <a:rPr lang="es-ES" sz="1400" b="1" dirty="0"/>
              <a:t>Sistemas de Enfriamiento de Precisión:</a:t>
            </a:r>
            <a:r>
              <a:rPr lang="es-ES" sz="1400" dirty="0"/>
              <a:t> A diferencia del aire acondicionado convencional, estos sistemas controlan tanto la temperatura como la humedad con gran exactitud.</a:t>
            </a:r>
          </a:p>
        </p:txBody>
      </p:sp>
      <p:sp>
        <p:nvSpPr>
          <p:cNvPr id="9" name="标题 1">
            <a:extLst>
              <a:ext uri="{FF2B5EF4-FFF2-40B4-BE49-F238E27FC236}">
                <a16:creationId xmlns:a16="http://schemas.microsoft.com/office/drawing/2014/main" id="{84B123B9-06F8-ED4C-E0DF-4A2AB7E95B1D}"/>
              </a:ext>
            </a:extLst>
          </p:cNvPr>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Buenas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prácticas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en</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gestión</a:t>
            </a:r>
            <a:r>
              <a:rPr kumimoji="1" lang="en-US" altLang="zh-CN" sz="2800" dirty="0">
                <a:ln w="12700">
                  <a:noFill/>
                </a:ln>
                <a:solidFill>
                  <a:srgbClr val="262626">
                    <a:alpha val="100000"/>
                  </a:srgbClr>
                </a:solidFill>
                <a:latin typeface="poppins-bold"/>
                <a:ea typeface="poppins-bold"/>
                <a:cs typeface="poppins-bold"/>
              </a:rPr>
              <a:t> de TI</a:t>
            </a:r>
            <a:endParaRPr kumimoji="1" lang="zh-CN" altLang="en-US" dirty="0"/>
          </a:p>
        </p:txBody>
      </p:sp>
      <p:sp>
        <p:nvSpPr>
          <p:cNvPr id="11" name="标题 1">
            <a:extLst>
              <a:ext uri="{FF2B5EF4-FFF2-40B4-BE49-F238E27FC236}">
                <a16:creationId xmlns:a16="http://schemas.microsoft.com/office/drawing/2014/main" id="{36BDEBF5-412D-0750-2AD5-C3F0AA2AFE78}"/>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a:extLst>
              <a:ext uri="{FF2B5EF4-FFF2-40B4-BE49-F238E27FC236}">
                <a16:creationId xmlns:a16="http://schemas.microsoft.com/office/drawing/2014/main" id="{2470B55B-AF3D-B15A-87F0-2F73241CA553}"/>
              </a:ext>
            </a:extLst>
          </p:cNvPr>
          <p:cNvSpPr txBox="1"/>
          <p:nvPr/>
        </p:nvSpPr>
        <p:spPr>
          <a:xfrm>
            <a:off x="491613" y="2567100"/>
            <a:ext cx="4748979" cy="4207326"/>
          </a:xfrm>
          <a:prstGeom prst="rect">
            <a:avLst/>
          </a:prstGeom>
          <a:noFill/>
          <a:ln cap="sq">
            <a:noFill/>
          </a:ln>
        </p:spPr>
        <p:txBody>
          <a:bodyPr vert="horz" wrap="square" lIns="91440" tIns="45720" rIns="91440" bIns="45720" rtlCol="0" anchor="t"/>
          <a:lstStyle/>
          <a:p>
            <a:r>
              <a:rPr lang="es-ES" sz="1400" dirty="0"/>
              <a:t>La protección del acceso físico a las instalaciones es vital. Esto incluye:</a:t>
            </a:r>
          </a:p>
          <a:p>
            <a:endParaRPr lang="es-ES" sz="1400" dirty="0"/>
          </a:p>
          <a:p>
            <a:r>
              <a:rPr lang="es-ES" sz="1400" b="1" dirty="0"/>
              <a:t>Control de Acceso Multinivel:</a:t>
            </a:r>
            <a:r>
              <a:rPr lang="es-ES" sz="1400" dirty="0"/>
              <a:t> Uso de tarjetas de proximidad, datos biométricos (huellas dactilares, reconocimiento facial) y jaulas de seguridad para los racks.</a:t>
            </a:r>
          </a:p>
          <a:p>
            <a:endParaRPr lang="es-ES" sz="1400" dirty="0"/>
          </a:p>
          <a:p>
            <a:r>
              <a:rPr lang="es-ES" sz="1400" b="1" dirty="0"/>
              <a:t>Vigilancia 24/7:</a:t>
            </a:r>
            <a:r>
              <a:rPr lang="es-ES" sz="1400" dirty="0"/>
              <a:t> Sistemas de circuito cerrado de televisión (CCTV) con monitoreo constante.</a:t>
            </a:r>
          </a:p>
          <a:p>
            <a:endParaRPr lang="es-ES" sz="1400" dirty="0"/>
          </a:p>
          <a:p>
            <a:r>
              <a:rPr lang="es-ES" sz="1400" b="1" dirty="0"/>
              <a:t>Detección y Supresión de Incendios:</a:t>
            </a:r>
            <a:r>
              <a:rPr lang="es-ES" sz="1400" dirty="0"/>
              <a:t> Utilización de sistemas de detección temprana (VESDA) y agentes limpios (como </a:t>
            </a:r>
            <a:r>
              <a:rPr lang="es-ES" sz="1400" dirty="0" err="1"/>
              <a:t>Novec</a:t>
            </a:r>
            <a:r>
              <a:rPr lang="es-ES" sz="1400" dirty="0"/>
              <a:t> 1230 o FM-200) que no dañan los equipos electrónicos.</a:t>
            </a:r>
          </a:p>
          <a:p>
            <a:endParaRPr lang="es-ES" sz="1400" dirty="0"/>
          </a:p>
          <a:p>
            <a:r>
              <a:rPr lang="es-ES" sz="1400" b="1" dirty="0"/>
              <a:t>Seguridad Perimetral:</a:t>
            </a:r>
            <a:r>
              <a:rPr lang="es-ES" sz="1400" dirty="0"/>
              <a:t> Barreras físicas, personal de seguridad y políticas estrictas de entrada para visitantes.</a:t>
            </a:r>
          </a:p>
        </p:txBody>
      </p:sp>
      <p:sp>
        <p:nvSpPr>
          <p:cNvPr id="14" name="标题 1">
            <a:extLst>
              <a:ext uri="{FF2B5EF4-FFF2-40B4-BE49-F238E27FC236}">
                <a16:creationId xmlns:a16="http://schemas.microsoft.com/office/drawing/2014/main" id="{B6E09D5C-FD91-900B-6D5A-780A41E7943D}"/>
              </a:ext>
            </a:extLst>
          </p:cNvPr>
          <p:cNvSpPr txBox="1"/>
          <p:nvPr/>
        </p:nvSpPr>
        <p:spPr>
          <a:xfrm>
            <a:off x="1011568" y="1806022"/>
            <a:ext cx="3543300" cy="506764"/>
          </a:xfrm>
          <a:prstGeom prst="rect">
            <a:avLst/>
          </a:prstGeom>
          <a:noFill/>
          <a:ln cap="sq">
            <a:noFill/>
          </a:ln>
        </p:spPr>
        <p:txBody>
          <a:bodyPr vert="horz" wrap="square" lIns="0" tIns="0" rIns="0" bIns="0" rtlCol="0" anchor="b"/>
          <a:lstStyle/>
          <a:p>
            <a:r>
              <a:rPr lang="es-EC" sz="1600" b="1" dirty="0"/>
              <a:t>Seguridad Física</a:t>
            </a:r>
            <a:endParaRPr lang="es-ES" sz="1600" b="1" dirty="0"/>
          </a:p>
        </p:txBody>
      </p:sp>
      <p:sp>
        <p:nvSpPr>
          <p:cNvPr id="3" name="CuadroTexto 2">
            <a:extLst>
              <a:ext uri="{FF2B5EF4-FFF2-40B4-BE49-F238E27FC236}">
                <a16:creationId xmlns:a16="http://schemas.microsoft.com/office/drawing/2014/main" id="{27E01922-E1E5-193D-08FF-A0F8BB5AF39F}"/>
              </a:ext>
            </a:extLst>
          </p:cNvPr>
          <p:cNvSpPr txBox="1"/>
          <p:nvPr/>
        </p:nvSpPr>
        <p:spPr>
          <a:xfrm>
            <a:off x="6488910" y="2128120"/>
            <a:ext cx="4101587" cy="369332"/>
          </a:xfrm>
          <a:prstGeom prst="rect">
            <a:avLst/>
          </a:prstGeom>
          <a:noFill/>
        </p:spPr>
        <p:txBody>
          <a:bodyPr wrap="square">
            <a:spAutoFit/>
          </a:bodyPr>
          <a:lstStyle/>
          <a:p>
            <a:r>
              <a:rPr lang="es-EC" b="1" dirty="0"/>
              <a:t>Climatización y Enfriamiento (HVAC)</a:t>
            </a:r>
            <a:endParaRPr lang="es-ES" sz="1800" b="1" dirty="0"/>
          </a:p>
        </p:txBody>
      </p:sp>
      <p:sp>
        <p:nvSpPr>
          <p:cNvPr id="2" name="标题 1">
            <a:extLst>
              <a:ext uri="{FF2B5EF4-FFF2-40B4-BE49-F238E27FC236}">
                <a16:creationId xmlns:a16="http://schemas.microsoft.com/office/drawing/2014/main" id="{EE254BBF-A426-ABD0-BACF-E855F9F7B002}"/>
              </a:ext>
            </a:extLst>
          </p:cNvPr>
          <p:cNvSpPr txBox="1"/>
          <p:nvPr/>
        </p:nvSpPr>
        <p:spPr>
          <a:xfrm>
            <a:off x="3287735" y="1367042"/>
            <a:ext cx="5364651" cy="506764"/>
          </a:xfrm>
          <a:prstGeom prst="rect">
            <a:avLst/>
          </a:prstGeom>
          <a:noFill/>
          <a:ln cap="sq">
            <a:noFill/>
          </a:ln>
        </p:spPr>
        <p:txBody>
          <a:bodyPr vert="horz" wrap="square" lIns="0" tIns="0" rIns="0" bIns="0" rtlCol="0" anchor="b"/>
          <a:lstStyle/>
          <a:p>
            <a:r>
              <a:rPr lang="es-ES" sz="1600" dirty="0"/>
              <a:t>Más allá de las normativas, existen prácticas operativas que son cruciales para el buen funcionamiento de un centro de cómputo.</a:t>
            </a:r>
            <a:endParaRPr lang="es-ES" sz="1600" b="1" dirty="0"/>
          </a:p>
        </p:txBody>
      </p:sp>
      <p:pic>
        <p:nvPicPr>
          <p:cNvPr id="4" name="Imagen 3">
            <a:extLst>
              <a:ext uri="{FF2B5EF4-FFF2-40B4-BE49-F238E27FC236}">
                <a16:creationId xmlns:a16="http://schemas.microsoft.com/office/drawing/2014/main" id="{894773FD-74E2-AB54-FF86-19982C49DE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69989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AB8B-0926-DDEA-29B3-107B6D2A93B9}"/>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40DF092F-7A9A-79B5-5EEA-84E163584AAE}"/>
              </a:ext>
            </a:extLst>
          </p:cNvPr>
          <p:cNvSpPr txBox="1"/>
          <p:nvPr/>
        </p:nvSpPr>
        <p:spPr>
          <a:xfrm>
            <a:off x="5653548" y="2055823"/>
            <a:ext cx="6302477" cy="3519068"/>
          </a:xfrm>
          <a:prstGeom prst="rect">
            <a:avLst/>
          </a:prstGeom>
          <a:noFill/>
          <a:ln cap="sq">
            <a:noFill/>
          </a:ln>
        </p:spPr>
        <p:txBody>
          <a:bodyPr vert="horz" wrap="square" lIns="91440" tIns="45720" rIns="91440" bIns="45720" rtlCol="0" anchor="t"/>
          <a:lstStyle/>
          <a:p>
            <a:r>
              <a:rPr lang="es-ES" sz="1400" dirty="0"/>
              <a:t>La visibilidad completa de la infraestructura es clave para la proactividad.</a:t>
            </a:r>
          </a:p>
          <a:p>
            <a:endParaRPr lang="es-ES" sz="1400" dirty="0"/>
          </a:p>
          <a:p>
            <a:r>
              <a:rPr lang="es-ES" sz="1400" b="1" dirty="0"/>
              <a:t>DCIM (Data Center </a:t>
            </a:r>
            <a:r>
              <a:rPr lang="es-ES" sz="1400" b="1" dirty="0" err="1"/>
              <a:t>Infrastructure</a:t>
            </a:r>
            <a:r>
              <a:rPr lang="es-ES" sz="1400" b="1" dirty="0"/>
              <a:t> Management):</a:t>
            </a:r>
            <a:r>
              <a:rPr lang="es-ES" sz="1400" dirty="0"/>
              <a:t> Software que centraliza el monitoreo de todos los sistemas: energía, enfriamiento, espacio en racks, y rendimiento de los equipos de TI. Permite optimizar el uso de recursos y prevenir fallos.</a:t>
            </a:r>
          </a:p>
          <a:p>
            <a:endParaRPr lang="es-ES" sz="1400" dirty="0"/>
          </a:p>
          <a:p>
            <a:r>
              <a:rPr lang="es-ES" sz="1400" b="1" dirty="0"/>
              <a:t>Planes de Mantenimiento Preventivo:</a:t>
            </a:r>
            <a:r>
              <a:rPr lang="es-ES" sz="1400" dirty="0"/>
              <a:t> Programación regular de revisiones y pruebas de todos los sistemas críticos (UPS, generadores, sistemas de enfriamiento) para asegurar su correcto funcionamiento cuando se necesiten.</a:t>
            </a:r>
          </a:p>
          <a:p>
            <a:endParaRPr lang="es-ES" sz="1400" dirty="0"/>
          </a:p>
          <a:p>
            <a:r>
              <a:rPr lang="es-ES" sz="1400" b="1" dirty="0"/>
              <a:t>Documentación y Etiquetado:</a:t>
            </a:r>
            <a:r>
              <a:rPr lang="es-ES" sz="1400" dirty="0"/>
              <a:t> Todo el cableado, los equipos y los racks deben estar claramente etiquetados y documentados para facilitar la gestión, el mantenimiento y la resolución de problemas.</a:t>
            </a:r>
          </a:p>
        </p:txBody>
      </p:sp>
      <p:sp>
        <p:nvSpPr>
          <p:cNvPr id="9" name="标题 1">
            <a:extLst>
              <a:ext uri="{FF2B5EF4-FFF2-40B4-BE49-F238E27FC236}">
                <a16:creationId xmlns:a16="http://schemas.microsoft.com/office/drawing/2014/main" id="{C44C2AA5-DF5B-8632-F1A2-A7916C61760C}"/>
              </a:ext>
            </a:extLst>
          </p:cNvPr>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Buenas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prácticas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en</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gestión</a:t>
            </a:r>
            <a:r>
              <a:rPr kumimoji="1" lang="en-US" altLang="zh-CN" sz="2800" dirty="0">
                <a:ln w="12700">
                  <a:noFill/>
                </a:ln>
                <a:solidFill>
                  <a:srgbClr val="262626">
                    <a:alpha val="100000"/>
                  </a:srgbClr>
                </a:solidFill>
                <a:latin typeface="poppins-bold"/>
                <a:ea typeface="poppins-bold"/>
                <a:cs typeface="poppins-bold"/>
              </a:rPr>
              <a:t> de TI</a:t>
            </a:r>
            <a:endParaRPr kumimoji="1" lang="zh-CN" altLang="en-US" dirty="0"/>
          </a:p>
        </p:txBody>
      </p:sp>
      <p:sp>
        <p:nvSpPr>
          <p:cNvPr id="11" name="标题 1">
            <a:extLst>
              <a:ext uri="{FF2B5EF4-FFF2-40B4-BE49-F238E27FC236}">
                <a16:creationId xmlns:a16="http://schemas.microsoft.com/office/drawing/2014/main" id="{807C778E-3153-D543-EBBC-3059EBEC8E63}"/>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a:extLst>
              <a:ext uri="{FF2B5EF4-FFF2-40B4-BE49-F238E27FC236}">
                <a16:creationId xmlns:a16="http://schemas.microsoft.com/office/drawing/2014/main" id="{1AB0A3EE-F7E2-E9EB-759F-09EF07416C35}"/>
              </a:ext>
            </a:extLst>
          </p:cNvPr>
          <p:cNvSpPr txBox="1"/>
          <p:nvPr/>
        </p:nvSpPr>
        <p:spPr>
          <a:xfrm>
            <a:off x="521110" y="2055823"/>
            <a:ext cx="4748979" cy="3745210"/>
          </a:xfrm>
          <a:prstGeom prst="rect">
            <a:avLst/>
          </a:prstGeom>
          <a:noFill/>
          <a:ln cap="sq">
            <a:noFill/>
          </a:ln>
        </p:spPr>
        <p:txBody>
          <a:bodyPr vert="horz" wrap="square" lIns="91440" tIns="45720" rIns="91440" bIns="45720" rtlCol="0" anchor="t"/>
          <a:lstStyle/>
          <a:p>
            <a:r>
              <a:rPr lang="es-ES" sz="1400" dirty="0"/>
              <a:t>La continuidad del suministro eléctrico es la base de la disponibilidad.</a:t>
            </a:r>
          </a:p>
          <a:p>
            <a:endParaRPr lang="es-ES" sz="1400" dirty="0"/>
          </a:p>
          <a:p>
            <a:r>
              <a:rPr lang="es-ES" sz="1400" b="1" dirty="0"/>
              <a:t>Sistemas de Alimentación Ininterrumpida (UPS):</a:t>
            </a:r>
            <a:r>
              <a:rPr lang="es-ES" sz="1400" dirty="0"/>
              <a:t> Proporcionan energía instantánea a través de baterías en caso de un corte eléctrico, dando tiempo para que los generadores arranquen.</a:t>
            </a:r>
          </a:p>
          <a:p>
            <a:endParaRPr lang="es-ES" sz="1400" dirty="0"/>
          </a:p>
          <a:p>
            <a:r>
              <a:rPr lang="es-ES" sz="1400" b="1" dirty="0"/>
              <a:t>Generadores de Respaldo:</a:t>
            </a:r>
            <a:r>
              <a:rPr lang="es-ES" sz="1400" dirty="0"/>
              <a:t> Generalmente diésel, se activan automáticamente tras unos segundos de interrupción del suministro principal.</a:t>
            </a:r>
          </a:p>
          <a:p>
            <a:endParaRPr lang="es-ES" sz="1400" dirty="0"/>
          </a:p>
          <a:p>
            <a:r>
              <a:rPr lang="es-ES" sz="1400" b="1" dirty="0"/>
              <a:t>Redundancia de Energía (A/B):</a:t>
            </a:r>
            <a:r>
              <a:rPr lang="es-ES" sz="1400" dirty="0"/>
              <a:t> Los equipos críticos se conectan a dos fuentes de alimentación independientes (A y B) que provienen de diferentes UPS y PDU (Unidades de Distribución de Energía). Si una fuente falla, la otra sigue funcionando.</a:t>
            </a:r>
          </a:p>
        </p:txBody>
      </p:sp>
      <p:sp>
        <p:nvSpPr>
          <p:cNvPr id="14" name="标题 1">
            <a:extLst>
              <a:ext uri="{FF2B5EF4-FFF2-40B4-BE49-F238E27FC236}">
                <a16:creationId xmlns:a16="http://schemas.microsoft.com/office/drawing/2014/main" id="{930629A6-7513-85DE-9486-68548FCFFCE4}"/>
              </a:ext>
            </a:extLst>
          </p:cNvPr>
          <p:cNvSpPr txBox="1"/>
          <p:nvPr/>
        </p:nvSpPr>
        <p:spPr>
          <a:xfrm>
            <a:off x="657606" y="1144985"/>
            <a:ext cx="3543300" cy="506764"/>
          </a:xfrm>
          <a:prstGeom prst="rect">
            <a:avLst/>
          </a:prstGeom>
          <a:noFill/>
          <a:ln cap="sq">
            <a:noFill/>
          </a:ln>
        </p:spPr>
        <p:txBody>
          <a:bodyPr vert="horz" wrap="square" lIns="0" tIns="0" rIns="0" bIns="0" rtlCol="0" anchor="b"/>
          <a:lstStyle/>
          <a:p>
            <a:r>
              <a:rPr lang="es-EC" sz="1600" b="1" dirty="0" err="1"/>
              <a:t>Gestion</a:t>
            </a:r>
            <a:r>
              <a:rPr lang="es-EC" sz="1600" b="1" dirty="0"/>
              <a:t> de </a:t>
            </a:r>
            <a:r>
              <a:rPr lang="es-EC" sz="1600" b="1" dirty="0" err="1"/>
              <a:t>Energia</a:t>
            </a:r>
            <a:endParaRPr lang="es-ES" sz="1600" b="1" dirty="0"/>
          </a:p>
        </p:txBody>
      </p:sp>
      <p:sp>
        <p:nvSpPr>
          <p:cNvPr id="3" name="CuadroTexto 2">
            <a:extLst>
              <a:ext uri="{FF2B5EF4-FFF2-40B4-BE49-F238E27FC236}">
                <a16:creationId xmlns:a16="http://schemas.microsoft.com/office/drawing/2014/main" id="{FA9AF8A3-2FFE-9AA4-8410-74BFF63F9BEF}"/>
              </a:ext>
            </a:extLst>
          </p:cNvPr>
          <p:cNvSpPr txBox="1"/>
          <p:nvPr/>
        </p:nvSpPr>
        <p:spPr>
          <a:xfrm>
            <a:off x="6243103" y="1379584"/>
            <a:ext cx="2802573" cy="369332"/>
          </a:xfrm>
          <a:prstGeom prst="rect">
            <a:avLst/>
          </a:prstGeom>
          <a:noFill/>
        </p:spPr>
        <p:txBody>
          <a:bodyPr wrap="square">
            <a:spAutoFit/>
          </a:bodyPr>
          <a:lstStyle/>
          <a:p>
            <a:r>
              <a:rPr lang="es-EC" b="1" dirty="0"/>
              <a:t>Gestión y Monitoreo</a:t>
            </a:r>
            <a:endParaRPr lang="es-ES" sz="1800" b="1" dirty="0"/>
          </a:p>
        </p:txBody>
      </p:sp>
      <p:pic>
        <p:nvPicPr>
          <p:cNvPr id="2" name="Imagen 1">
            <a:extLst>
              <a:ext uri="{FF2B5EF4-FFF2-40B4-BE49-F238E27FC236}">
                <a16:creationId xmlns:a16="http://schemas.microsoft.com/office/drawing/2014/main" id="{40E04D2A-FF19-6094-D4F6-97ED79AF2C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323631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02</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ITIL y su Importancia</a:t>
            </a:r>
            <a:endParaRPr kumimoji="1" lang="zh-CN" altLang="en-US"/>
          </a:p>
        </p:txBody>
      </p:sp>
      <p:pic>
        <p:nvPicPr>
          <p:cNvPr id="11" name="Imagen 10">
            <a:extLst>
              <a:ext uri="{FF2B5EF4-FFF2-40B4-BE49-F238E27FC236}">
                <a16:creationId xmlns:a16="http://schemas.microsoft.com/office/drawing/2014/main" id="{6AD92EBA-14F0-2521-1733-A628685D6C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8354838" y="2216546"/>
            <a:ext cx="427399" cy="427399"/>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sq">
            <a:solidFill>
              <a:schemeClr val="bg1"/>
            </a:solidFill>
          </a:ln>
        </p:spPr>
        <p:txBody>
          <a:bodyPr vert="horz" wrap="square" lIns="91440" tIns="45720" rIns="91440" bIns="45720" rtlCol="0" anchor="t"/>
          <a:lstStyle/>
          <a:p>
            <a:pPr algn="l"/>
            <a:endParaRPr kumimoji="1" lang="zh-CN" altLang="en-US"/>
          </a:p>
        </p:txBody>
      </p:sp>
      <p:sp>
        <p:nvSpPr>
          <p:cNvPr id="8" name="标题 1"/>
          <p:cNvSpPr txBox="1"/>
          <p:nvPr/>
        </p:nvSpPr>
        <p:spPr>
          <a:xfrm>
            <a:off x="1345626" y="1160039"/>
            <a:ext cx="3960000" cy="733280"/>
          </a:xfrm>
          <a:prstGeom prst="rect">
            <a:avLst/>
          </a:prstGeom>
          <a:noFill/>
          <a:ln>
            <a:noFill/>
          </a:ln>
        </p:spPr>
        <p:txBody>
          <a:bodyPr vert="horz" wrap="square" lIns="0" tIns="0" rIns="0" bIns="0" rtlCol="0" anchor="ctr"/>
          <a:lstStyle/>
          <a:p>
            <a:pPr algn="ctr"/>
            <a:r>
              <a:rPr kumimoji="1" lang="en-US" altLang="zh-CN" sz="1600" dirty="0">
                <a:ln w="12700">
                  <a:noFill/>
                </a:ln>
                <a:solidFill>
                  <a:srgbClr val="404040">
                    <a:alpha val="100000"/>
                  </a:srgbClr>
                </a:solidFill>
                <a:latin typeface="poppins-bold"/>
                <a:ea typeface="poppins-bold"/>
                <a:cs typeface="poppins-bold"/>
              </a:rPr>
              <a:t>Historia y </a:t>
            </a:r>
            <a:r>
              <a:rPr kumimoji="1" lang="en-US" altLang="zh-CN" sz="1600" dirty="0" err="1">
                <a:ln w="12700">
                  <a:noFill/>
                </a:ln>
                <a:solidFill>
                  <a:srgbClr val="404040">
                    <a:alpha val="100000"/>
                  </a:srgbClr>
                </a:solidFill>
                <a:latin typeface="poppins-bold"/>
                <a:ea typeface="poppins-bold"/>
                <a:cs typeface="poppins-bold"/>
              </a:rPr>
              <a:t>evolución</a:t>
            </a:r>
            <a:r>
              <a:rPr kumimoji="1" lang="en-US" altLang="zh-CN" sz="1600" dirty="0">
                <a:ln w="12700">
                  <a:noFill/>
                </a:ln>
                <a:solidFill>
                  <a:srgbClr val="404040">
                    <a:alpha val="100000"/>
                  </a:srgbClr>
                </a:solidFill>
                <a:latin typeface="poppins-bold"/>
                <a:ea typeface="poppins-bold"/>
                <a:cs typeface="poppins-bold"/>
              </a:rPr>
              <a:t> de ITIL</a:t>
            </a:r>
            <a:endParaRPr kumimoji="1" lang="zh-CN" altLang="en-US" dirty="0"/>
          </a:p>
        </p:txBody>
      </p:sp>
      <p:sp>
        <p:nvSpPr>
          <p:cNvPr id="9" name="标题 1"/>
          <p:cNvSpPr txBox="1"/>
          <p:nvPr/>
        </p:nvSpPr>
        <p:spPr>
          <a:xfrm>
            <a:off x="1345626" y="2144373"/>
            <a:ext cx="3960000" cy="1437924"/>
          </a:xfrm>
          <a:prstGeom prst="rect">
            <a:avLst/>
          </a:prstGeom>
          <a:noFill/>
          <a:ln>
            <a:noFill/>
          </a:ln>
        </p:spPr>
        <p:txBody>
          <a:bodyPr vert="horz" wrap="square" lIns="0" tIns="0" rIns="0" bIns="0" rtlCol="0" anchor="t"/>
          <a:lstStyle/>
          <a:p>
            <a:pPr algn="ctr"/>
            <a:r>
              <a:rPr kumimoji="1" lang="en-US" altLang="zh-CN" sz="1400" dirty="0">
                <a:ln w="12700">
                  <a:noFill/>
                </a:ln>
                <a:solidFill>
                  <a:srgbClr val="000000">
                    <a:alpha val="100000"/>
                  </a:srgbClr>
                </a:solidFill>
                <a:latin typeface="Poppins"/>
                <a:ea typeface="Poppins"/>
                <a:cs typeface="Poppins"/>
              </a:rPr>
              <a:t>ITIL, o </a:t>
            </a:r>
            <a:r>
              <a:rPr kumimoji="1" lang="en-US" altLang="zh-CN" sz="1400" dirty="0" err="1">
                <a:ln w="12700">
                  <a:noFill/>
                </a:ln>
                <a:solidFill>
                  <a:srgbClr val="000000">
                    <a:alpha val="100000"/>
                  </a:srgbClr>
                </a:solidFill>
                <a:latin typeface="Poppins"/>
                <a:ea typeface="Poppins"/>
                <a:cs typeface="Poppins"/>
              </a:rPr>
              <a:t>Biblioteca</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Infraestructura</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Tecnologías</a:t>
            </a:r>
            <a:r>
              <a:rPr kumimoji="1" lang="en-US" altLang="zh-CN" sz="1400" dirty="0">
                <a:ln w="12700">
                  <a:noFill/>
                </a:ln>
                <a:solidFill>
                  <a:srgbClr val="000000">
                    <a:alpha val="100000"/>
                  </a:srgbClr>
                </a:solidFill>
                <a:latin typeface="Poppins"/>
                <a:ea typeface="Poppins"/>
                <a:cs typeface="Poppins"/>
              </a:rPr>
              <a:t> de la </a:t>
            </a:r>
            <a:r>
              <a:rPr kumimoji="1" lang="en-US" altLang="zh-CN" sz="1400" dirty="0" err="1">
                <a:ln w="12700">
                  <a:noFill/>
                </a:ln>
                <a:solidFill>
                  <a:srgbClr val="000000">
                    <a:alpha val="100000"/>
                  </a:srgbClr>
                </a:solidFill>
                <a:latin typeface="Poppins"/>
                <a:ea typeface="Poppins"/>
                <a:cs typeface="Poppins"/>
              </a:rPr>
              <a:t>Información</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surgió</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en</a:t>
            </a:r>
            <a:r>
              <a:rPr kumimoji="1" lang="en-US" altLang="zh-CN" sz="1400" dirty="0">
                <a:ln w="12700">
                  <a:noFill/>
                </a:ln>
                <a:solidFill>
                  <a:srgbClr val="000000">
                    <a:alpha val="100000"/>
                  </a:srgbClr>
                </a:solidFill>
                <a:latin typeface="Poppins"/>
                <a:ea typeface="Poppins"/>
                <a:cs typeface="Poppins"/>
              </a:rPr>
              <a:t> la </a:t>
            </a:r>
            <a:r>
              <a:rPr kumimoji="1" lang="en-US" altLang="zh-CN" sz="1400" dirty="0" err="1">
                <a:ln w="12700">
                  <a:noFill/>
                </a:ln>
                <a:solidFill>
                  <a:srgbClr val="000000">
                    <a:alpha val="100000"/>
                  </a:srgbClr>
                </a:solidFill>
                <a:latin typeface="Poppins"/>
                <a:ea typeface="Poppins"/>
                <a:cs typeface="Poppins"/>
              </a:rPr>
              <a:t>década</a:t>
            </a:r>
            <a:r>
              <a:rPr kumimoji="1" lang="en-US" altLang="zh-CN" sz="1400" dirty="0">
                <a:ln w="12700">
                  <a:noFill/>
                </a:ln>
                <a:solidFill>
                  <a:srgbClr val="000000">
                    <a:alpha val="100000"/>
                  </a:srgbClr>
                </a:solidFill>
                <a:latin typeface="Poppins"/>
                <a:ea typeface="Poppins"/>
                <a:cs typeface="Poppins"/>
              </a:rPr>
              <a:t> de 1980 </a:t>
            </a:r>
            <a:r>
              <a:rPr kumimoji="1" lang="en-US" altLang="zh-CN" sz="1400" dirty="0" err="1">
                <a:ln w="12700">
                  <a:noFill/>
                </a:ln>
                <a:solidFill>
                  <a:srgbClr val="000000">
                    <a:alpha val="100000"/>
                  </a:srgbClr>
                </a:solidFill>
                <a:latin typeface="Poppins"/>
                <a:ea typeface="Poppins"/>
                <a:cs typeface="Poppins"/>
              </a:rPr>
              <a:t>como</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respuesta</a:t>
            </a:r>
            <a:r>
              <a:rPr kumimoji="1" lang="en-US" altLang="zh-CN" sz="1400" dirty="0">
                <a:ln w="12700">
                  <a:noFill/>
                </a:ln>
                <a:solidFill>
                  <a:srgbClr val="000000">
                    <a:alpha val="100000"/>
                  </a:srgbClr>
                </a:solidFill>
                <a:latin typeface="Poppins"/>
                <a:ea typeface="Poppins"/>
                <a:cs typeface="Poppins"/>
              </a:rPr>
              <a:t> a la </a:t>
            </a:r>
            <a:r>
              <a:rPr kumimoji="1" lang="en-US" altLang="zh-CN" sz="1400" dirty="0" err="1">
                <a:ln w="12700">
                  <a:noFill/>
                </a:ln>
                <a:solidFill>
                  <a:srgbClr val="000000">
                    <a:alpha val="100000"/>
                  </a:srgbClr>
                </a:solidFill>
                <a:latin typeface="Poppins"/>
                <a:ea typeface="Poppins"/>
                <a:cs typeface="Poppins"/>
              </a:rPr>
              <a:t>necesidad</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gestionar</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servicios</a:t>
            </a:r>
            <a:r>
              <a:rPr kumimoji="1" lang="en-US" altLang="zh-CN" sz="1400" dirty="0">
                <a:ln w="12700">
                  <a:noFill/>
                </a:ln>
                <a:solidFill>
                  <a:srgbClr val="000000">
                    <a:alpha val="100000"/>
                  </a:srgbClr>
                </a:solidFill>
                <a:latin typeface="Poppins"/>
                <a:ea typeface="Poppins"/>
                <a:cs typeface="Poppins"/>
              </a:rPr>
              <a:t> de TI de </a:t>
            </a:r>
            <a:r>
              <a:rPr kumimoji="1" lang="en-US" altLang="zh-CN" sz="1400" dirty="0" err="1">
                <a:ln w="12700">
                  <a:noFill/>
                </a:ln>
                <a:solidFill>
                  <a:srgbClr val="000000">
                    <a:alpha val="100000"/>
                  </a:srgbClr>
                </a:solidFill>
                <a:latin typeface="Poppins"/>
                <a:ea typeface="Poppins"/>
                <a:cs typeface="Poppins"/>
              </a:rPr>
              <a:t>manera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más</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efectiva</a:t>
            </a:r>
            <a:r>
              <a:rPr kumimoji="1" lang="en-US" altLang="zh-CN" sz="1400" dirty="0">
                <a:ln w="12700">
                  <a:noFill/>
                </a:ln>
                <a:solidFill>
                  <a:srgbClr val="000000">
                    <a:alpha val="100000"/>
                  </a:srgbClr>
                </a:solidFill>
                <a:latin typeface="Poppins"/>
                <a:ea typeface="Poppins"/>
                <a:cs typeface="Poppins"/>
              </a:rPr>
              <a:t>.</a:t>
            </a:r>
            <a:endParaRPr kumimoji="1" lang="zh-CN" altLang="en-US" dirty="0"/>
          </a:p>
        </p:txBody>
      </p:sp>
      <p:sp>
        <p:nvSpPr>
          <p:cNvPr id="10" name="标题 1"/>
          <p:cNvSpPr txBox="1"/>
          <p:nvPr/>
        </p:nvSpPr>
        <p:spPr>
          <a:xfrm>
            <a:off x="3453446" y="3769173"/>
            <a:ext cx="3960000" cy="733280"/>
          </a:xfrm>
          <a:prstGeom prst="rect">
            <a:avLst/>
          </a:prstGeom>
          <a:noFill/>
          <a:ln>
            <a:noFill/>
          </a:ln>
        </p:spPr>
        <p:txBody>
          <a:bodyPr vert="horz" wrap="square" lIns="0" tIns="0" rIns="0" bIns="0" rtlCol="0" anchor="ctr"/>
          <a:lstStyle/>
          <a:p>
            <a:pPr algn="ctr"/>
            <a:r>
              <a:rPr kumimoji="1" lang="en-US" altLang="zh-CN" sz="1600" dirty="0" err="1">
                <a:ln w="12700">
                  <a:noFill/>
                </a:ln>
                <a:solidFill>
                  <a:srgbClr val="404040">
                    <a:alpha val="100000"/>
                  </a:srgbClr>
                </a:solidFill>
                <a:latin typeface="poppins-bold"/>
                <a:ea typeface="poppins-bold"/>
                <a:cs typeface="poppins-bold"/>
              </a:rPr>
              <a:t>Estructura</a:t>
            </a:r>
            <a:r>
              <a:rPr kumimoji="1" lang="en-US" altLang="zh-CN" sz="1600" dirty="0">
                <a:ln w="12700">
                  <a:noFill/>
                </a:ln>
                <a:solidFill>
                  <a:srgbClr val="404040">
                    <a:alpha val="100000"/>
                  </a:srgbClr>
                </a:solidFill>
                <a:latin typeface="poppins-bold"/>
                <a:ea typeface="poppins-bold"/>
                <a:cs typeface="poppins-bold"/>
              </a:rPr>
              <a:t> del </a:t>
            </a:r>
            <a:r>
              <a:rPr kumimoji="1" lang="en-US" altLang="zh-CN" sz="1600" dirty="0" err="1">
                <a:ln w="12700">
                  <a:noFill/>
                </a:ln>
                <a:solidFill>
                  <a:srgbClr val="404040">
                    <a:alpha val="100000"/>
                  </a:srgbClr>
                </a:solidFill>
                <a:latin typeface="poppins-bold"/>
                <a:ea typeface="poppins-bold"/>
                <a:cs typeface="poppins-bold"/>
              </a:rPr>
              <a:t>marco</a:t>
            </a:r>
            <a:r>
              <a:rPr kumimoji="1" lang="en-US" altLang="zh-CN" sz="1600" dirty="0">
                <a:ln w="12700">
                  <a:noFill/>
                </a:ln>
                <a:solidFill>
                  <a:srgbClr val="404040">
                    <a:alpha val="100000"/>
                  </a:srgbClr>
                </a:solidFill>
                <a:latin typeface="poppins-bold"/>
                <a:ea typeface="poppins-bold"/>
                <a:cs typeface="poppins-bold"/>
              </a:rPr>
              <a:t> ITIL</a:t>
            </a:r>
            <a:endParaRPr kumimoji="1" lang="zh-CN" altLang="en-US" dirty="0"/>
          </a:p>
        </p:txBody>
      </p:sp>
      <p:sp>
        <p:nvSpPr>
          <p:cNvPr id="11" name="标题 1"/>
          <p:cNvSpPr txBox="1"/>
          <p:nvPr/>
        </p:nvSpPr>
        <p:spPr>
          <a:xfrm>
            <a:off x="3648693" y="4596966"/>
            <a:ext cx="3960000" cy="1437924"/>
          </a:xfrm>
          <a:prstGeom prst="rect">
            <a:avLst/>
          </a:prstGeom>
          <a:noFill/>
          <a:ln>
            <a:noFill/>
          </a:ln>
        </p:spPr>
        <p:txBody>
          <a:bodyPr vert="horz" wrap="square" lIns="0" tIns="0" rIns="0" bIns="0" rtlCol="0" anchor="t"/>
          <a:lstStyle/>
          <a:p>
            <a:pPr algn="ctr"/>
            <a:r>
              <a:rPr kumimoji="1" lang="en-US" altLang="zh-CN" sz="1400" dirty="0">
                <a:ln w="12700">
                  <a:noFill/>
                </a:ln>
                <a:solidFill>
                  <a:srgbClr val="000000">
                    <a:alpha val="100000"/>
                  </a:srgbClr>
                </a:solidFill>
                <a:latin typeface="Poppins"/>
                <a:ea typeface="Poppins"/>
                <a:cs typeface="Poppins"/>
              </a:rPr>
              <a:t>El </a:t>
            </a:r>
            <a:r>
              <a:rPr kumimoji="1" lang="en-US" altLang="zh-CN" sz="1400" dirty="0" err="1">
                <a:ln w="12700">
                  <a:noFill/>
                </a:ln>
                <a:solidFill>
                  <a:srgbClr val="000000">
                    <a:alpha val="100000"/>
                  </a:srgbClr>
                </a:solidFill>
                <a:latin typeface="Poppins"/>
                <a:ea typeface="Poppins"/>
                <a:cs typeface="Poppins"/>
              </a:rPr>
              <a:t>marco</a:t>
            </a:r>
            <a:r>
              <a:rPr kumimoji="1" lang="en-US" altLang="zh-CN" sz="1400" dirty="0">
                <a:ln w="12700">
                  <a:noFill/>
                </a:ln>
                <a:solidFill>
                  <a:srgbClr val="000000">
                    <a:alpha val="100000"/>
                  </a:srgbClr>
                </a:solidFill>
                <a:latin typeface="Poppins"/>
                <a:ea typeface="Poppins"/>
                <a:cs typeface="Poppins"/>
              </a:rPr>
              <a:t> ITIL se </a:t>
            </a:r>
            <a:r>
              <a:rPr kumimoji="1" lang="en-US" altLang="zh-CN" sz="1400" dirty="0" err="1">
                <a:ln w="12700">
                  <a:noFill/>
                </a:ln>
                <a:solidFill>
                  <a:srgbClr val="000000">
                    <a:alpha val="100000"/>
                  </a:srgbClr>
                </a:solidFill>
                <a:latin typeface="Poppins"/>
                <a:ea typeface="Poppins"/>
                <a:cs typeface="Poppins"/>
              </a:rPr>
              <a:t>compone</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cinco</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etapas</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en</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el</a:t>
            </a:r>
            <a:r>
              <a:rPr kumimoji="1" lang="en-US" altLang="zh-CN" sz="1400" dirty="0">
                <a:ln w="12700">
                  <a:noFill/>
                </a:ln>
                <a:solidFill>
                  <a:srgbClr val="000000">
                    <a:alpha val="100000"/>
                  </a:srgbClr>
                </a:solidFill>
                <a:latin typeface="Poppins"/>
                <a:ea typeface="Poppins"/>
                <a:cs typeface="Poppins"/>
              </a:rPr>
              <a:t> </a:t>
            </a:r>
            <a:r>
              <a:rPr kumimoji="1" lang="en-US" altLang="zh-CN" sz="1400" dirty="0" err="1">
                <a:ln w="12700">
                  <a:noFill/>
                </a:ln>
                <a:solidFill>
                  <a:srgbClr val="000000">
                    <a:alpha val="100000"/>
                  </a:srgbClr>
                </a:solidFill>
                <a:latin typeface="Poppins"/>
                <a:ea typeface="Poppins"/>
                <a:cs typeface="Poppins"/>
              </a:rPr>
              <a:t>ciclo</a:t>
            </a:r>
            <a:r>
              <a:rPr kumimoji="1" lang="en-US" altLang="zh-CN" sz="1400" dirty="0">
                <a:ln w="12700">
                  <a:noFill/>
                </a:ln>
                <a:solidFill>
                  <a:srgbClr val="000000">
                    <a:alpha val="100000"/>
                  </a:srgbClr>
                </a:solidFill>
                <a:latin typeface="Poppins"/>
                <a:ea typeface="Poppins"/>
                <a:cs typeface="Poppins"/>
              </a:rPr>
              <a:t> de </a:t>
            </a:r>
            <a:r>
              <a:rPr kumimoji="1" lang="en-US" altLang="zh-CN" sz="1400" dirty="0" err="1">
                <a:ln w="12700">
                  <a:noFill/>
                </a:ln>
                <a:solidFill>
                  <a:srgbClr val="000000">
                    <a:alpha val="100000"/>
                  </a:srgbClr>
                </a:solidFill>
                <a:latin typeface="Poppins"/>
                <a:ea typeface="Poppins"/>
                <a:cs typeface="Poppins"/>
              </a:rPr>
              <a:t>vida</a:t>
            </a:r>
            <a:r>
              <a:rPr kumimoji="1" lang="en-US" altLang="zh-CN" sz="1400" dirty="0">
                <a:ln w="12700">
                  <a:noFill/>
                </a:ln>
                <a:solidFill>
                  <a:srgbClr val="000000">
                    <a:alpha val="100000"/>
                  </a:srgbClr>
                </a:solidFill>
                <a:latin typeface="Poppins"/>
                <a:ea typeface="Poppins"/>
                <a:cs typeface="Poppins"/>
              </a:rPr>
              <a:t> </a:t>
            </a:r>
            <a:r>
              <a:rPr kumimoji="1" lang="en-US" altLang="zh-CN" sz="1400" dirty="0">
                <a:ln w="12700">
                  <a:noFill/>
                </a:ln>
                <a:solidFill>
                  <a:srgbClr val="000000">
                    <a:alpha val="100000"/>
                  </a:srgbClr>
                </a:solidFill>
                <a:latin typeface="Poppins"/>
                <a:cs typeface="Poppins"/>
              </a:rPr>
              <a:t>del </a:t>
            </a:r>
            <a:r>
              <a:rPr kumimoji="1" lang="en-US" altLang="zh-CN" sz="1400" dirty="0" err="1">
                <a:ln w="12700">
                  <a:noFill/>
                </a:ln>
                <a:solidFill>
                  <a:srgbClr val="000000">
                    <a:alpha val="100000"/>
                  </a:srgbClr>
                </a:solidFill>
                <a:latin typeface="Poppins"/>
                <a:cs typeface="Poppins"/>
              </a:rPr>
              <a:t>servicio</a:t>
            </a:r>
            <a:r>
              <a:rPr kumimoji="1" lang="en-US" altLang="zh-CN" sz="1400" dirty="0">
                <a:ln w="12700">
                  <a:noFill/>
                </a:ln>
                <a:solidFill>
                  <a:srgbClr val="000000">
                    <a:alpha val="100000"/>
                  </a:srgbClr>
                </a:solidFill>
                <a:latin typeface="Poppins"/>
                <a:cs typeface="Poppins"/>
              </a:rPr>
              <a:t>, que </a:t>
            </a:r>
            <a:r>
              <a:rPr kumimoji="1" lang="en-US" altLang="zh-CN" sz="1400" dirty="0" err="1">
                <a:ln w="12700">
                  <a:noFill/>
                </a:ln>
                <a:solidFill>
                  <a:srgbClr val="000000">
                    <a:alpha val="100000"/>
                  </a:srgbClr>
                </a:solidFill>
                <a:latin typeface="Poppins"/>
                <a:cs typeface="Poppins"/>
              </a:rPr>
              <a:t>incluyen</a:t>
            </a:r>
            <a:r>
              <a:rPr kumimoji="1" lang="en-US" altLang="zh-CN" sz="1400" dirty="0">
                <a:ln w="12700">
                  <a:noFill/>
                </a:ln>
                <a:solidFill>
                  <a:srgbClr val="000000">
                    <a:alpha val="100000"/>
                  </a:srgbClr>
                </a:solidFill>
                <a:latin typeface="Poppins"/>
                <a:cs typeface="Poppins"/>
              </a:rPr>
              <a:t> la </a:t>
            </a:r>
            <a:r>
              <a:rPr kumimoji="1" lang="en-US" altLang="zh-CN" sz="1400" dirty="0" err="1">
                <a:ln w="12700">
                  <a:noFill/>
                </a:ln>
                <a:solidFill>
                  <a:srgbClr val="000000">
                    <a:alpha val="100000"/>
                  </a:srgbClr>
                </a:solidFill>
                <a:latin typeface="Poppins"/>
                <a:cs typeface="Poppins"/>
              </a:rPr>
              <a:t>estrategia</a:t>
            </a:r>
            <a:r>
              <a:rPr kumimoji="1" lang="en-US" altLang="zh-CN" sz="1400" dirty="0">
                <a:ln w="12700">
                  <a:noFill/>
                </a:ln>
                <a:solidFill>
                  <a:srgbClr val="000000">
                    <a:alpha val="100000"/>
                  </a:srgbClr>
                </a:solidFill>
                <a:latin typeface="Poppins"/>
                <a:cs typeface="Poppins"/>
              </a:rPr>
              <a:t>, </a:t>
            </a:r>
            <a:r>
              <a:rPr kumimoji="1" lang="en-US" altLang="zh-CN" sz="1400" dirty="0" err="1">
                <a:ln w="12700">
                  <a:noFill/>
                </a:ln>
                <a:solidFill>
                  <a:srgbClr val="000000">
                    <a:alpha val="100000"/>
                  </a:srgbClr>
                </a:solidFill>
                <a:latin typeface="Poppins"/>
                <a:cs typeface="Poppins"/>
              </a:rPr>
              <a:t>diseño</a:t>
            </a:r>
            <a:r>
              <a:rPr kumimoji="1" lang="en-US" altLang="zh-CN" sz="1400" dirty="0">
                <a:ln w="12700">
                  <a:noFill/>
                </a:ln>
                <a:solidFill>
                  <a:srgbClr val="000000">
                    <a:alpha val="100000"/>
                  </a:srgbClr>
                </a:solidFill>
                <a:latin typeface="Poppins"/>
                <a:cs typeface="Poppins"/>
              </a:rPr>
              <a:t>, </a:t>
            </a:r>
            <a:r>
              <a:rPr kumimoji="1" lang="en-US" altLang="zh-CN" sz="1400" dirty="0" err="1">
                <a:ln w="12700">
                  <a:noFill/>
                </a:ln>
                <a:solidFill>
                  <a:srgbClr val="000000">
                    <a:alpha val="100000"/>
                  </a:srgbClr>
                </a:solidFill>
                <a:latin typeface="Poppins"/>
                <a:cs typeface="Poppins"/>
              </a:rPr>
              <a:t>transición</a:t>
            </a:r>
            <a:r>
              <a:rPr kumimoji="1" lang="en-US" altLang="zh-CN" sz="1400" dirty="0">
                <a:ln w="12700">
                  <a:noFill/>
                </a:ln>
                <a:solidFill>
                  <a:srgbClr val="000000">
                    <a:alpha val="100000"/>
                  </a:srgbClr>
                </a:solidFill>
                <a:latin typeface="Poppins"/>
                <a:cs typeface="Poppins"/>
              </a:rPr>
              <a:t>, </a:t>
            </a:r>
            <a:r>
              <a:rPr kumimoji="1" lang="en-US" altLang="zh-CN" sz="1400" dirty="0" err="1">
                <a:ln w="12700">
                  <a:noFill/>
                </a:ln>
                <a:solidFill>
                  <a:srgbClr val="000000">
                    <a:alpha val="100000"/>
                  </a:srgbClr>
                </a:solidFill>
                <a:latin typeface="Poppins"/>
                <a:cs typeface="Poppins"/>
              </a:rPr>
              <a:t>operación</a:t>
            </a:r>
            <a:r>
              <a:rPr kumimoji="1" lang="en-US" altLang="zh-CN" sz="1400" dirty="0">
                <a:ln w="12700">
                  <a:noFill/>
                </a:ln>
                <a:solidFill>
                  <a:srgbClr val="000000">
                    <a:alpha val="100000"/>
                  </a:srgbClr>
                </a:solidFill>
                <a:latin typeface="Poppins"/>
                <a:cs typeface="Poppins"/>
              </a:rPr>
              <a:t> y </a:t>
            </a:r>
            <a:r>
              <a:rPr kumimoji="1" lang="en-US" altLang="zh-CN" sz="1400" dirty="0" err="1">
                <a:ln w="12700">
                  <a:noFill/>
                </a:ln>
                <a:solidFill>
                  <a:srgbClr val="000000">
                    <a:alpha val="100000"/>
                  </a:srgbClr>
                </a:solidFill>
                <a:latin typeface="Poppins"/>
                <a:cs typeface="Poppins"/>
              </a:rPr>
              <a:t>mejora</a:t>
            </a:r>
            <a:r>
              <a:rPr kumimoji="1" lang="en-US" altLang="zh-CN" sz="1400" dirty="0">
                <a:ln w="12700">
                  <a:noFill/>
                </a:ln>
                <a:solidFill>
                  <a:srgbClr val="000000">
                    <a:alpha val="100000"/>
                  </a:srgbClr>
                </a:solidFill>
                <a:latin typeface="Poppins"/>
                <a:cs typeface="Poppins"/>
              </a:rPr>
              <a:t> continua, </a:t>
            </a:r>
            <a:r>
              <a:rPr kumimoji="1" lang="en-US" altLang="zh-CN" sz="1400" dirty="0" err="1">
                <a:ln w="12700">
                  <a:noFill/>
                </a:ln>
                <a:solidFill>
                  <a:srgbClr val="000000">
                    <a:alpha val="100000"/>
                  </a:srgbClr>
                </a:solidFill>
                <a:latin typeface="Poppins"/>
                <a:cs typeface="Poppins"/>
              </a:rPr>
              <a:t>cada</a:t>
            </a:r>
            <a:r>
              <a:rPr kumimoji="1" lang="en-US" altLang="zh-CN" sz="1400" dirty="0">
                <a:ln w="12700">
                  <a:noFill/>
                </a:ln>
                <a:solidFill>
                  <a:srgbClr val="000000">
                    <a:alpha val="100000"/>
                  </a:srgbClr>
                </a:solidFill>
                <a:latin typeface="Poppins"/>
                <a:cs typeface="Poppins"/>
              </a:rPr>
              <a:t> </a:t>
            </a:r>
            <a:r>
              <a:rPr kumimoji="1" lang="en-US" altLang="zh-CN" sz="1400" dirty="0" err="1">
                <a:ln w="12700">
                  <a:noFill/>
                </a:ln>
                <a:solidFill>
                  <a:srgbClr val="000000">
                    <a:alpha val="100000"/>
                  </a:srgbClr>
                </a:solidFill>
                <a:latin typeface="Poppins"/>
                <a:cs typeface="Poppins"/>
              </a:rPr>
              <a:t>una</a:t>
            </a:r>
            <a:r>
              <a:rPr kumimoji="1" lang="en-US" altLang="zh-CN" sz="1400" dirty="0">
                <a:ln w="12700">
                  <a:noFill/>
                </a:ln>
                <a:solidFill>
                  <a:srgbClr val="000000">
                    <a:alpha val="100000"/>
                  </a:srgbClr>
                </a:solidFill>
                <a:latin typeface="Poppins"/>
                <a:cs typeface="Poppins"/>
              </a:rPr>
              <a:t> con </a:t>
            </a:r>
            <a:r>
              <a:rPr kumimoji="1" lang="en-US" altLang="zh-CN" sz="1400" dirty="0" err="1">
                <a:ln w="12700">
                  <a:noFill/>
                </a:ln>
                <a:solidFill>
                  <a:srgbClr val="000000">
                    <a:alpha val="100000"/>
                  </a:srgbClr>
                </a:solidFill>
                <a:latin typeface="Poppins"/>
                <a:cs typeface="Poppins"/>
              </a:rPr>
              <a:t>procesos</a:t>
            </a:r>
            <a:r>
              <a:rPr kumimoji="1" lang="en-US" altLang="zh-CN" sz="1400" dirty="0">
                <a:ln w="12700">
                  <a:noFill/>
                </a:ln>
                <a:solidFill>
                  <a:srgbClr val="000000">
                    <a:alpha val="100000"/>
                  </a:srgbClr>
                </a:solidFill>
                <a:latin typeface="Poppins"/>
                <a:cs typeface="Poppins"/>
              </a:rPr>
              <a:t> </a:t>
            </a:r>
            <a:r>
              <a:rPr kumimoji="1" lang="en-US" altLang="zh-CN" sz="1400" dirty="0" err="1">
                <a:ln w="12700">
                  <a:noFill/>
                </a:ln>
                <a:solidFill>
                  <a:srgbClr val="000000">
                    <a:alpha val="100000"/>
                  </a:srgbClr>
                </a:solidFill>
                <a:latin typeface="Poppins"/>
                <a:cs typeface="Poppins"/>
              </a:rPr>
              <a:t>específicos</a:t>
            </a:r>
            <a:r>
              <a:rPr kumimoji="1" lang="en-US" altLang="zh-CN" sz="1400" dirty="0">
                <a:ln w="12700">
                  <a:noFill/>
                </a:ln>
                <a:solidFill>
                  <a:srgbClr val="000000">
                    <a:alpha val="100000"/>
                  </a:srgbClr>
                </a:solidFill>
                <a:latin typeface="Poppins"/>
                <a:cs typeface="Poppins"/>
              </a:rPr>
              <a:t>.</a:t>
            </a:r>
          </a:p>
          <a:p>
            <a:pPr algn="ctr"/>
            <a:endParaRPr kumimoji="1" lang="en-US" altLang="zh-CN" sz="1400" dirty="0">
              <a:ln w="12700">
                <a:noFill/>
              </a:ln>
              <a:solidFill>
                <a:srgbClr val="000000">
                  <a:alpha val="100000"/>
                </a:srgbClr>
              </a:solidFill>
              <a:latin typeface="Poppins"/>
              <a:cs typeface="Poppins"/>
            </a:endParaRPr>
          </a:p>
        </p:txBody>
      </p:sp>
      <p:sp>
        <p:nvSpPr>
          <p:cNvPr id="13"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Qué es ITIL</a:t>
            </a:r>
            <a:endParaRPr kumimoji="1" lang="zh-CN" altLang="en-US"/>
          </a:p>
        </p:txBody>
      </p:sp>
      <p:sp>
        <p:nvSpPr>
          <p:cNvPr id="14"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6" name="标题 1">
            <a:extLst>
              <a:ext uri="{FF2B5EF4-FFF2-40B4-BE49-F238E27FC236}">
                <a16:creationId xmlns:a16="http://schemas.microsoft.com/office/drawing/2014/main" id="{53E5B259-F9E4-EDEA-D7B2-4FE345E10788}"/>
              </a:ext>
            </a:extLst>
          </p:cNvPr>
          <p:cNvSpPr txBox="1"/>
          <p:nvPr/>
        </p:nvSpPr>
        <p:spPr>
          <a:xfrm>
            <a:off x="6588537" y="2089957"/>
            <a:ext cx="4699836" cy="1546755"/>
          </a:xfrm>
          <a:prstGeom prst="rect">
            <a:avLst/>
          </a:prstGeom>
          <a:noFill/>
          <a:ln>
            <a:noFill/>
          </a:ln>
        </p:spPr>
        <p:txBody>
          <a:bodyPr vert="horz" wrap="square" lIns="0" tIns="0" rIns="0" bIns="0" rtlCol="0" anchor="t"/>
          <a:lstStyle/>
          <a:p>
            <a:pPr algn="ctr"/>
            <a:r>
              <a:rPr kumimoji="1" lang="es-ES" sz="1400" dirty="0">
                <a:ln w="12700">
                  <a:noFill/>
                </a:ln>
                <a:solidFill>
                  <a:srgbClr val="000000">
                    <a:alpha val="100000"/>
                  </a:srgbClr>
                </a:solidFill>
                <a:latin typeface="Poppins"/>
                <a:cs typeface="Poppins"/>
              </a:rPr>
              <a:t>ITIL no es una norma, sino un marco de trabajo (</a:t>
            </a:r>
            <a:r>
              <a:rPr kumimoji="1" lang="es-ES" sz="1400" dirty="0" err="1">
                <a:ln w="12700">
                  <a:noFill/>
                </a:ln>
                <a:solidFill>
                  <a:srgbClr val="000000">
                    <a:alpha val="100000"/>
                  </a:srgbClr>
                </a:solidFill>
                <a:latin typeface="Poppins"/>
                <a:cs typeface="Poppins"/>
              </a:rPr>
              <a:t>framework</a:t>
            </a:r>
            <a:r>
              <a:rPr kumimoji="1" lang="es-ES" sz="1400" dirty="0">
                <a:ln w="12700">
                  <a:noFill/>
                </a:ln>
                <a:solidFill>
                  <a:srgbClr val="000000">
                    <a:alpha val="100000"/>
                  </a:srgbClr>
                </a:solidFill>
                <a:latin typeface="Poppins"/>
                <a:cs typeface="Poppins"/>
              </a:rPr>
              <a:t>) de buenas prácticas para la Gestión de Servicios de TI (ITSM). En esencia, es una colección de "libros" o guías que describen la mejor manera de planificar, entregar, gestionar y mejorar los servicios de tecnología que una organización ofrece.</a:t>
            </a:r>
            <a:endParaRPr kumimoji="1" lang="zh-CN" altLang="en-US" sz="1400" dirty="0">
              <a:ln w="12700">
                <a:noFill/>
              </a:ln>
              <a:solidFill>
                <a:srgbClr val="000000">
                  <a:alpha val="100000"/>
                </a:srgbClr>
              </a:solidFill>
              <a:latin typeface="Poppins"/>
              <a:cs typeface="Poppins"/>
            </a:endParaRPr>
          </a:p>
          <a:p>
            <a:pPr algn="ctr"/>
            <a:r>
              <a:rPr kumimoji="1" lang="en-US" altLang="zh-CN" sz="1400" dirty="0">
                <a:ln w="12700">
                  <a:noFill/>
                </a:ln>
                <a:solidFill>
                  <a:srgbClr val="000000">
                    <a:alpha val="100000"/>
                  </a:srgbClr>
                </a:solidFill>
                <a:latin typeface="Poppins"/>
                <a:ea typeface="Poppins"/>
                <a:cs typeface="Poppins"/>
              </a:rPr>
              <a:t>.</a:t>
            </a:r>
            <a:endParaRPr kumimoji="1" lang="zh-CN" altLang="en-US" dirty="0"/>
          </a:p>
        </p:txBody>
      </p:sp>
      <p:sp>
        <p:nvSpPr>
          <p:cNvPr id="17" name="标题 1">
            <a:extLst>
              <a:ext uri="{FF2B5EF4-FFF2-40B4-BE49-F238E27FC236}">
                <a16:creationId xmlns:a16="http://schemas.microsoft.com/office/drawing/2014/main" id="{2596B984-150E-F6A0-9354-9A05D3468290}"/>
              </a:ext>
            </a:extLst>
          </p:cNvPr>
          <p:cNvSpPr txBox="1"/>
          <p:nvPr/>
        </p:nvSpPr>
        <p:spPr>
          <a:xfrm>
            <a:off x="6588537" y="1346915"/>
            <a:ext cx="3960000" cy="733280"/>
          </a:xfrm>
          <a:prstGeom prst="rect">
            <a:avLst/>
          </a:prstGeom>
          <a:noFill/>
          <a:ln>
            <a:noFill/>
          </a:ln>
        </p:spPr>
        <p:txBody>
          <a:bodyPr vert="horz" wrap="square" lIns="0" tIns="0" rIns="0" bIns="0" rtlCol="0" anchor="ctr"/>
          <a:lstStyle/>
          <a:p>
            <a:pPr algn="ctr"/>
            <a:r>
              <a:rPr kumimoji="1" lang="en-US" altLang="zh-CN" sz="1600" dirty="0" err="1">
                <a:ln w="12700">
                  <a:noFill/>
                </a:ln>
                <a:solidFill>
                  <a:srgbClr val="404040">
                    <a:alpha val="100000"/>
                  </a:srgbClr>
                </a:solidFill>
                <a:latin typeface="poppins-bold"/>
                <a:cs typeface="poppins-bold"/>
              </a:rPr>
              <a:t>Concepto</a:t>
            </a:r>
            <a:endParaRPr kumimoji="1" lang="zh-CN" altLang="en-US" dirty="0"/>
          </a:p>
        </p:txBody>
      </p:sp>
      <p:pic>
        <p:nvPicPr>
          <p:cNvPr id="2" name="Imagen 1">
            <a:extLst>
              <a:ext uri="{FF2B5EF4-FFF2-40B4-BE49-F238E27FC236}">
                <a16:creationId xmlns:a16="http://schemas.microsoft.com/office/drawing/2014/main" id="{C56E228B-090A-8794-B566-1FAF08A69A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3FE61-DC59-0DC8-9C68-24374C4D7824}"/>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2DFEB266-7DB6-C8CE-D096-C2F82EA7AA41}"/>
              </a:ext>
            </a:extLst>
          </p:cNvPr>
          <p:cNvSpPr txBox="1"/>
          <p:nvPr/>
        </p:nvSpPr>
        <p:spPr>
          <a:xfrm>
            <a:off x="8354838" y="2216546"/>
            <a:ext cx="427399" cy="427399"/>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sq">
            <a:solidFill>
              <a:schemeClr val="bg1"/>
            </a:solidFill>
          </a:ln>
        </p:spPr>
        <p:txBody>
          <a:bodyPr vert="horz" wrap="square" lIns="91440" tIns="45720" rIns="91440" bIns="45720" rtlCol="0" anchor="t"/>
          <a:lstStyle/>
          <a:p>
            <a:pPr algn="l"/>
            <a:endParaRPr kumimoji="1" lang="zh-CN" altLang="en-US"/>
          </a:p>
        </p:txBody>
      </p:sp>
      <p:sp>
        <p:nvSpPr>
          <p:cNvPr id="8" name="标题 1">
            <a:extLst>
              <a:ext uri="{FF2B5EF4-FFF2-40B4-BE49-F238E27FC236}">
                <a16:creationId xmlns:a16="http://schemas.microsoft.com/office/drawing/2014/main" id="{C4627760-2966-8ACA-E92B-18F984C4B1CE}"/>
              </a:ext>
            </a:extLst>
          </p:cNvPr>
          <p:cNvSpPr txBox="1"/>
          <p:nvPr/>
        </p:nvSpPr>
        <p:spPr>
          <a:xfrm>
            <a:off x="1148981" y="1429921"/>
            <a:ext cx="3960000" cy="733280"/>
          </a:xfrm>
          <a:prstGeom prst="rect">
            <a:avLst/>
          </a:prstGeom>
          <a:noFill/>
          <a:ln>
            <a:noFill/>
          </a:ln>
        </p:spPr>
        <p:txBody>
          <a:bodyPr vert="horz" wrap="square" lIns="0" tIns="0" rIns="0" bIns="0" rtlCol="0" anchor="ctr"/>
          <a:lstStyle/>
          <a:p>
            <a:pPr algn="ctr"/>
            <a:r>
              <a:rPr kumimoji="1" lang="en-US" altLang="zh-CN" sz="1600" dirty="0">
                <a:ln w="12700">
                  <a:noFill/>
                </a:ln>
                <a:solidFill>
                  <a:srgbClr val="404040">
                    <a:alpha val="100000"/>
                  </a:srgbClr>
                </a:solidFill>
                <a:latin typeface="poppins-bold"/>
                <a:ea typeface="poppins-bold"/>
                <a:cs typeface="poppins-bold"/>
              </a:rPr>
              <a:t>Analogia</a:t>
            </a:r>
            <a:endParaRPr kumimoji="1" lang="zh-CN" altLang="en-US" dirty="0"/>
          </a:p>
        </p:txBody>
      </p:sp>
      <p:sp>
        <p:nvSpPr>
          <p:cNvPr id="9" name="标题 1">
            <a:extLst>
              <a:ext uri="{FF2B5EF4-FFF2-40B4-BE49-F238E27FC236}">
                <a16:creationId xmlns:a16="http://schemas.microsoft.com/office/drawing/2014/main" id="{1D057D59-5B1D-8750-9C2F-C41A5A42B408}"/>
              </a:ext>
            </a:extLst>
          </p:cNvPr>
          <p:cNvSpPr txBox="1"/>
          <p:nvPr/>
        </p:nvSpPr>
        <p:spPr>
          <a:xfrm>
            <a:off x="1473446" y="2307215"/>
            <a:ext cx="3960000" cy="1437924"/>
          </a:xfrm>
          <a:prstGeom prst="rect">
            <a:avLst/>
          </a:prstGeom>
          <a:noFill/>
          <a:ln>
            <a:noFill/>
          </a:ln>
        </p:spPr>
        <p:txBody>
          <a:bodyPr vert="horz" wrap="square" lIns="0" tIns="0" rIns="0" bIns="0" rtlCol="0" anchor="t"/>
          <a:lstStyle/>
          <a:p>
            <a:pPr algn="ctr"/>
            <a:r>
              <a:rPr lang="es-ES" sz="1400" dirty="0"/>
              <a:t>Piensa en ITIL como un </a:t>
            </a:r>
            <a:r>
              <a:rPr lang="es-ES" sz="1400" b="1" dirty="0"/>
              <a:t>libro de recetas de cocina de un chef de fama mundial</a:t>
            </a:r>
            <a:r>
              <a:rPr lang="es-ES" sz="1400" dirty="0"/>
              <a:t>. No es una ley que te obligue a cocinar, pero si sigues sus recetas y técnicas (procesos de ITIL), es muy probable que tus platos (servicios de TI) sean excelentes y dejen a tus comensales (clientes) satisfechos.</a:t>
            </a:r>
            <a:r>
              <a:rPr kumimoji="1" lang="en-US" altLang="zh-CN" sz="1400" dirty="0">
                <a:ln w="12700">
                  <a:noFill/>
                </a:ln>
                <a:solidFill>
                  <a:srgbClr val="000000">
                    <a:alpha val="100000"/>
                  </a:srgbClr>
                </a:solidFill>
                <a:latin typeface="Poppins"/>
                <a:ea typeface="Poppins"/>
                <a:cs typeface="Poppins"/>
              </a:rPr>
              <a:t>.</a:t>
            </a:r>
            <a:endParaRPr kumimoji="1" lang="zh-CN" altLang="en-US" dirty="0"/>
          </a:p>
        </p:txBody>
      </p:sp>
      <p:sp>
        <p:nvSpPr>
          <p:cNvPr id="10" name="标题 1">
            <a:extLst>
              <a:ext uri="{FF2B5EF4-FFF2-40B4-BE49-F238E27FC236}">
                <a16:creationId xmlns:a16="http://schemas.microsoft.com/office/drawing/2014/main" id="{83DB9EC6-0A06-D9A9-46C0-5799762D1138}"/>
              </a:ext>
            </a:extLst>
          </p:cNvPr>
          <p:cNvSpPr txBox="1"/>
          <p:nvPr/>
        </p:nvSpPr>
        <p:spPr>
          <a:xfrm>
            <a:off x="6588538" y="1402116"/>
            <a:ext cx="3960000" cy="733280"/>
          </a:xfrm>
          <a:prstGeom prst="rect">
            <a:avLst/>
          </a:prstGeom>
          <a:noFill/>
          <a:ln>
            <a:noFill/>
          </a:ln>
        </p:spPr>
        <p:txBody>
          <a:bodyPr vert="horz" wrap="square" lIns="0" tIns="0" rIns="0" bIns="0" rtlCol="0" anchor="ctr"/>
          <a:lstStyle/>
          <a:p>
            <a:pPr algn="ctr"/>
            <a:r>
              <a:rPr lang="es-EC" sz="1600" b="1" dirty="0"/>
              <a:t>Características Clave:</a:t>
            </a:r>
            <a:endParaRPr kumimoji="1" lang="zh-CN" altLang="en-US" b="1" dirty="0"/>
          </a:p>
        </p:txBody>
      </p:sp>
      <p:sp>
        <p:nvSpPr>
          <p:cNvPr id="11" name="标题 1">
            <a:extLst>
              <a:ext uri="{FF2B5EF4-FFF2-40B4-BE49-F238E27FC236}">
                <a16:creationId xmlns:a16="http://schemas.microsoft.com/office/drawing/2014/main" id="{FA416E26-7E49-B7C7-0F19-3F054D7529D4}"/>
              </a:ext>
            </a:extLst>
          </p:cNvPr>
          <p:cNvSpPr txBox="1"/>
          <p:nvPr/>
        </p:nvSpPr>
        <p:spPr>
          <a:xfrm>
            <a:off x="6588537" y="2428556"/>
            <a:ext cx="5379049" cy="2890696"/>
          </a:xfrm>
          <a:prstGeom prst="rect">
            <a:avLst/>
          </a:prstGeom>
          <a:noFill/>
          <a:ln>
            <a:noFill/>
          </a:ln>
        </p:spPr>
        <p:txBody>
          <a:bodyPr vert="horz" wrap="square" lIns="0" tIns="0" rIns="0" bIns="0" rtlCol="0" anchor="t"/>
          <a:lstStyle/>
          <a:p>
            <a:pPr algn="ctr"/>
            <a:endParaRPr kumimoji="1" lang="en-US" altLang="zh-CN" sz="1200" dirty="0">
              <a:ln w="12700">
                <a:noFill/>
              </a:ln>
              <a:solidFill>
                <a:srgbClr val="000000">
                  <a:alpha val="100000"/>
                </a:srgbClr>
              </a:solidFill>
              <a:latin typeface="Arial" panose="020B0604020202020204" pitchFamily="34" charset="0"/>
              <a:cs typeface="Arial" panose="020B0604020202020204" pitchFamily="34" charset="0"/>
            </a:endParaRPr>
          </a:p>
        </p:txBody>
      </p:sp>
      <p:sp>
        <p:nvSpPr>
          <p:cNvPr id="13" name="标题 1">
            <a:extLst>
              <a:ext uri="{FF2B5EF4-FFF2-40B4-BE49-F238E27FC236}">
                <a16:creationId xmlns:a16="http://schemas.microsoft.com/office/drawing/2014/main" id="{F0A7E79E-51F2-F558-CF84-6463754863D6}"/>
              </a:ext>
            </a:extLst>
          </p:cNvPr>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Qué es ITIL</a:t>
            </a:r>
            <a:endParaRPr kumimoji="1" lang="zh-CN" altLang="en-US"/>
          </a:p>
        </p:txBody>
      </p:sp>
      <p:sp>
        <p:nvSpPr>
          <p:cNvPr id="14" name="标题 1">
            <a:extLst>
              <a:ext uri="{FF2B5EF4-FFF2-40B4-BE49-F238E27FC236}">
                <a16:creationId xmlns:a16="http://schemas.microsoft.com/office/drawing/2014/main" id="{AEA253BB-A451-198D-F1CD-1B27DF712915}"/>
              </a:ext>
            </a:extLst>
          </p:cNvPr>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708E7C83-3E9D-1C7C-DD24-6DC23F636F08}"/>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Rectangle 2">
            <a:extLst>
              <a:ext uri="{FF2B5EF4-FFF2-40B4-BE49-F238E27FC236}">
                <a16:creationId xmlns:a16="http://schemas.microsoft.com/office/drawing/2014/main" id="{A9B45556-766B-C536-84C4-B714B5C3DCF5}"/>
              </a:ext>
            </a:extLst>
          </p:cNvPr>
          <p:cNvSpPr>
            <a:spLocks noChangeArrowheads="1"/>
          </p:cNvSpPr>
          <p:nvPr/>
        </p:nvSpPr>
        <p:spPr bwMode="auto">
          <a:xfrm>
            <a:off x="6758556" y="2498644"/>
            <a:ext cx="4699834"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C" altLang="es-EC"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Es una guía, no una regla:</a:t>
            </a:r>
            <a:r>
              <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ITIL te da el "cómo" (las mejores prácticas y procesos), pero no te obliga a implementarlo de una manera específica. Las organizaciones lo adaptan a su cultura y necesidades.</a:t>
            </a:r>
          </a:p>
          <a:p>
            <a:pPr marL="0" marR="0" lvl="0" indent="0" algn="l" defTabSz="914400" rtl="0" eaLnBrk="0" fontAlgn="base" latinLnBrk="0" hangingPunct="0">
              <a:lnSpc>
                <a:spcPct val="100000"/>
              </a:lnSpc>
              <a:spcBef>
                <a:spcPct val="0"/>
              </a:spcBef>
              <a:spcAft>
                <a:spcPct val="0"/>
              </a:spcAft>
              <a:buClrTx/>
              <a:buSzTx/>
              <a:tabLst/>
            </a:pPr>
            <a:endPar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C" altLang="es-EC"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Enfocado en el ciclo de vida del servicio:</a:t>
            </a:r>
            <a:r>
              <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Las versiones más conocidas de ITIL (como ITIL v3) organizaban los procesos en fases: Estrategia, Diseño, Transición, Operación y Mejora Continua.</a:t>
            </a:r>
          </a:p>
          <a:p>
            <a:pPr marL="0" marR="0" lvl="0" indent="0" algn="l" defTabSz="914400" rtl="0" eaLnBrk="0" fontAlgn="base" latinLnBrk="0" hangingPunct="0">
              <a:lnSpc>
                <a:spcPct val="100000"/>
              </a:lnSpc>
              <a:spcBef>
                <a:spcPct val="0"/>
              </a:spcBef>
              <a:spcAft>
                <a:spcPct val="0"/>
              </a:spcAft>
              <a:buClrTx/>
              <a:buSzTx/>
              <a:tabLst/>
            </a:pPr>
            <a:endPar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C" altLang="es-EC"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ITIL 4 (la versión más reciente):</a:t>
            </a:r>
            <a:r>
              <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Evoluciona el concepto hacia un </a:t>
            </a:r>
            <a:r>
              <a:rPr kumimoji="0" lang="es-EC" altLang="es-EC"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Sistema de Valor del Servicio (SVS)</a:t>
            </a:r>
            <a:r>
              <a:rPr kumimoji="0" lang="es-EC" altLang="es-EC"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que es más flexible y se adapta mejor a metodologías ágiles como DevOps.</a:t>
            </a:r>
          </a:p>
        </p:txBody>
      </p:sp>
      <p:pic>
        <p:nvPicPr>
          <p:cNvPr id="2" name="Imagen 1">
            <a:extLst>
              <a:ext uri="{FF2B5EF4-FFF2-40B4-BE49-F238E27FC236}">
                <a16:creationId xmlns:a16="http://schemas.microsoft.com/office/drawing/2014/main" id="{19BB1C54-F370-45EB-C02E-B467D79877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547089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标题 1"/>
          <p:cNvCxnSpPr/>
          <p:nvPr/>
        </p:nvCxnSpPr>
        <p:spPr>
          <a:xfrm flipH="1" flipV="1">
            <a:off x="8473296" y="1339661"/>
            <a:ext cx="1013401" cy="681656"/>
          </a:xfrm>
          <a:prstGeom prst="line">
            <a:avLst/>
          </a:prstGeom>
          <a:noFill/>
          <a:ln w="6350" cap="sq">
            <a:solidFill>
              <a:schemeClr val="accent2">
                <a:alpha val="100000"/>
              </a:schemeClr>
            </a:solidFill>
            <a:miter/>
          </a:ln>
        </p:spPr>
      </p:cxnSp>
      <p:cxnSp>
        <p:nvCxnSpPr>
          <p:cNvPr id="3" name="标题 1"/>
          <p:cNvCxnSpPr/>
          <p:nvPr/>
        </p:nvCxnSpPr>
        <p:spPr>
          <a:xfrm flipH="1" flipV="1">
            <a:off x="3770689" y="1335216"/>
            <a:ext cx="1013402" cy="681656"/>
          </a:xfrm>
          <a:prstGeom prst="line">
            <a:avLst/>
          </a:prstGeom>
          <a:noFill/>
          <a:ln w="6350" cap="flat">
            <a:solidFill>
              <a:schemeClr val="accent1">
                <a:alpha val="100000"/>
              </a:schemeClr>
            </a:solidFill>
            <a:miter/>
          </a:ln>
        </p:spPr>
      </p:cxnSp>
      <p:cxnSp>
        <p:nvCxnSpPr>
          <p:cNvPr id="4" name="标题 1"/>
          <p:cNvCxnSpPr/>
          <p:nvPr/>
        </p:nvCxnSpPr>
        <p:spPr>
          <a:xfrm flipV="1">
            <a:off x="7457296" y="1326961"/>
            <a:ext cx="1013401" cy="681656"/>
          </a:xfrm>
          <a:prstGeom prst="line">
            <a:avLst/>
          </a:prstGeom>
          <a:noFill/>
          <a:ln w="6350" cap="sq">
            <a:solidFill>
              <a:schemeClr val="accent2">
                <a:alpha val="100000"/>
              </a:schemeClr>
            </a:solidFill>
            <a:miter/>
          </a:ln>
        </p:spPr>
      </p:cxnSp>
      <p:cxnSp>
        <p:nvCxnSpPr>
          <p:cNvPr id="5" name="标题 1"/>
          <p:cNvCxnSpPr/>
          <p:nvPr/>
        </p:nvCxnSpPr>
        <p:spPr>
          <a:xfrm flipV="1">
            <a:off x="2754689" y="1335216"/>
            <a:ext cx="1013402" cy="681656"/>
          </a:xfrm>
          <a:prstGeom prst="line">
            <a:avLst/>
          </a:prstGeom>
          <a:noFill/>
          <a:ln w="6350" cap="flat">
            <a:solidFill>
              <a:schemeClr val="accent1">
                <a:alpha val="100000"/>
              </a:schemeClr>
            </a:solidFill>
            <a:miter/>
          </a:ln>
        </p:spPr>
      </p:cxnSp>
      <p:sp>
        <p:nvSpPr>
          <p:cNvPr id="6" name="标题 1"/>
          <p:cNvSpPr txBox="1"/>
          <p:nvPr/>
        </p:nvSpPr>
        <p:spPr>
          <a:xfrm>
            <a:off x="6597172" y="1919717"/>
            <a:ext cx="3724250" cy="4239782"/>
          </a:xfrm>
          <a:prstGeom prst="roundRect">
            <a:avLst>
              <a:gd name="adj" fmla="val 8165"/>
            </a:avLst>
          </a:prstGeom>
          <a:solidFill>
            <a:schemeClr val="bg1"/>
          </a:solidFill>
          <a:ln w="63500" cap="sq">
            <a:solidFill>
              <a:schemeClr val="accent2"/>
            </a:solidFill>
            <a:miter/>
          </a:ln>
          <a:effectLst>
            <a:outerShdw blurRad="127000" dist="63500" dir="5400000" algn="t" rotWithShape="0">
              <a:srgbClr val="000000">
                <a:alpha val="20000"/>
              </a:srgb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3619478" y="1181099"/>
            <a:ext cx="299823" cy="293817"/>
          </a:xfrm>
          <a:prstGeom prst="ellipse">
            <a:avLst/>
          </a:prstGeom>
          <a:solidFill>
            <a:schemeClr val="bg1"/>
          </a:solidFill>
          <a:ln w="38100" cap="sq">
            <a:solidFill>
              <a:schemeClr val="accent1"/>
            </a:solidFill>
            <a:miter/>
          </a:ln>
          <a:effectLst>
            <a:outerShdw dist="38100" dir="2700000" algn="tl" rotWithShape="0">
              <a:srgbClr val="000000">
                <a:alpha val="40000"/>
              </a:srgbClr>
            </a:outerShdw>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1958064" y="1927972"/>
            <a:ext cx="3597251" cy="4239784"/>
          </a:xfrm>
          <a:prstGeom prst="roundRect">
            <a:avLst>
              <a:gd name="adj" fmla="val 8165"/>
            </a:avLst>
          </a:prstGeom>
          <a:solidFill>
            <a:schemeClr val="bg1"/>
          </a:solidFill>
          <a:ln w="63500" cap="sq">
            <a:solidFill>
              <a:schemeClr val="accent1"/>
            </a:solidFill>
            <a:miter/>
          </a:ln>
          <a:effectLst>
            <a:outerShdw blurRad="127000" dist="63500" dir="5400000" algn="t" rotWithShape="0">
              <a:srgbClr val="000000">
                <a:alpha val="20000"/>
              </a:srgb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2124578" y="2111957"/>
            <a:ext cx="1498600" cy="815340"/>
          </a:xfrm>
          <a:prstGeom prst="rect">
            <a:avLst/>
          </a:prstGeom>
          <a:noFill/>
          <a:ln cap="sq">
            <a:noFill/>
          </a:ln>
        </p:spPr>
        <p:txBody>
          <a:bodyPr vert="horz" wrap="square" lIns="91440" tIns="45720" rIns="91440" bIns="45720" rtlCol="0" anchor="ctr"/>
          <a:lstStyle/>
          <a:p>
            <a:pPr algn="l"/>
            <a:r>
              <a:rPr kumimoji="1" lang="en-US" altLang="zh-CN" sz="4400">
                <a:ln w="12700">
                  <a:noFill/>
                </a:ln>
                <a:solidFill>
                  <a:srgbClr val="F2F2F2">
                    <a:alpha val="100000"/>
                  </a:srgbClr>
                </a:solidFill>
                <a:latin typeface="poppins-bold"/>
                <a:ea typeface="poppins-bold"/>
                <a:cs typeface="poppins-bold"/>
              </a:rPr>
              <a:t>01</a:t>
            </a:r>
            <a:endParaRPr kumimoji="1" lang="zh-CN" altLang="en-US"/>
          </a:p>
        </p:txBody>
      </p:sp>
      <p:sp>
        <p:nvSpPr>
          <p:cNvPr id="10" name="标题 1"/>
          <p:cNvSpPr txBox="1"/>
          <p:nvPr/>
        </p:nvSpPr>
        <p:spPr>
          <a:xfrm>
            <a:off x="2137440" y="2928257"/>
            <a:ext cx="3238500" cy="621389"/>
          </a:xfrm>
          <a:prstGeom prst="rect">
            <a:avLst/>
          </a:prstGeom>
          <a:noFill/>
          <a:ln cap="sq">
            <a:noFill/>
          </a:ln>
        </p:spPr>
        <p:txBody>
          <a:bodyPr vert="horz" wrap="square" lIns="91440" tIns="45720" rIns="91440" bIns="45720" rtlCol="0" anchor="ctr"/>
          <a:lstStyle/>
          <a:p>
            <a:pPr algn="l"/>
            <a:r>
              <a:rPr kumimoji="1" lang="en-US" altLang="zh-CN" sz="1600">
                <a:ln w="12700">
                  <a:noFill/>
                </a:ln>
                <a:solidFill>
                  <a:srgbClr val="000000">
                    <a:alpha val="100000"/>
                  </a:srgbClr>
                </a:solidFill>
                <a:latin typeface="poppins-bold"/>
                <a:ea typeface="poppins-bold"/>
                <a:cs typeface="poppins-bold"/>
              </a:rPr>
              <a:t>Mejora en la eficiencia operativa</a:t>
            </a:r>
            <a:endParaRPr kumimoji="1" lang="zh-CN" altLang="en-US"/>
          </a:p>
        </p:txBody>
      </p:sp>
      <p:sp>
        <p:nvSpPr>
          <p:cNvPr id="11" name="标题 1"/>
          <p:cNvSpPr txBox="1"/>
          <p:nvPr/>
        </p:nvSpPr>
        <p:spPr>
          <a:xfrm>
            <a:off x="2134887" y="3733240"/>
            <a:ext cx="3243606" cy="2286559"/>
          </a:xfrm>
          <a:prstGeom prst="rect">
            <a:avLst/>
          </a:prstGeom>
          <a:noFill/>
          <a:ln cap="sq">
            <a:noFill/>
          </a:ln>
        </p:spPr>
        <p:txBody>
          <a:bodyPr vert="horz" wrap="square" lIns="91440" tIns="45720" rIns="91440" bIns="45720" rtlCol="0" anchor="t"/>
          <a:lstStyle/>
          <a:p>
            <a:pPr algn="l"/>
            <a:r>
              <a:rPr kumimoji="1" lang="en-US" altLang="zh-CN" sz="1400">
                <a:ln w="12700">
                  <a:noFill/>
                </a:ln>
                <a:solidFill>
                  <a:srgbClr val="000000">
                    <a:alpha val="100000"/>
                  </a:srgbClr>
                </a:solidFill>
                <a:latin typeface="Poppins"/>
                <a:ea typeface="Poppins"/>
                <a:cs typeface="Poppins"/>
              </a:rPr>
              <a:t>La implementación de ITIL permite a las organizaciones optimizar sus procesos, reduciendo costos y mejorando la productividad general de los equipos de trabajo.</a:t>
            </a:r>
            <a:endParaRPr kumimoji="1" lang="zh-CN" altLang="en-US"/>
          </a:p>
        </p:txBody>
      </p:sp>
      <p:sp>
        <p:nvSpPr>
          <p:cNvPr id="12" name="标题 1"/>
          <p:cNvSpPr txBox="1"/>
          <p:nvPr/>
        </p:nvSpPr>
        <p:spPr>
          <a:xfrm>
            <a:off x="6775679" y="2103702"/>
            <a:ext cx="1498600" cy="815340"/>
          </a:xfrm>
          <a:prstGeom prst="rect">
            <a:avLst/>
          </a:prstGeom>
          <a:noFill/>
          <a:ln cap="sq">
            <a:noFill/>
          </a:ln>
        </p:spPr>
        <p:txBody>
          <a:bodyPr vert="horz" wrap="square" lIns="91440" tIns="45720" rIns="91440" bIns="45720" rtlCol="0" anchor="ctr"/>
          <a:lstStyle/>
          <a:p>
            <a:pPr algn="l"/>
            <a:r>
              <a:rPr kumimoji="1" lang="en-US" altLang="zh-CN" sz="4400">
                <a:ln w="12700">
                  <a:noFill/>
                </a:ln>
                <a:solidFill>
                  <a:srgbClr val="F2F2F2">
                    <a:alpha val="100000"/>
                  </a:srgbClr>
                </a:solidFill>
                <a:latin typeface="poppins-bold"/>
                <a:ea typeface="poppins-bold"/>
                <a:cs typeface="poppins-bold"/>
              </a:rPr>
              <a:t>02</a:t>
            </a:r>
            <a:endParaRPr kumimoji="1" lang="zh-CN" altLang="en-US"/>
          </a:p>
        </p:txBody>
      </p:sp>
      <p:sp>
        <p:nvSpPr>
          <p:cNvPr id="13" name="标题 1"/>
          <p:cNvSpPr txBox="1"/>
          <p:nvPr/>
        </p:nvSpPr>
        <p:spPr>
          <a:xfrm>
            <a:off x="6801947" y="2928257"/>
            <a:ext cx="3314700" cy="621389"/>
          </a:xfrm>
          <a:prstGeom prst="rect">
            <a:avLst/>
          </a:prstGeom>
          <a:noFill/>
          <a:ln cap="sq">
            <a:noFill/>
          </a:ln>
        </p:spPr>
        <p:txBody>
          <a:bodyPr vert="horz" wrap="square" lIns="91440" tIns="45720" rIns="91440" bIns="45720" rtlCol="0" anchor="ctr"/>
          <a:lstStyle/>
          <a:p>
            <a:pPr algn="l"/>
            <a:r>
              <a:rPr kumimoji="1" lang="en-US" altLang="zh-CN" sz="1600">
                <a:ln w="12700">
                  <a:noFill/>
                </a:ln>
                <a:solidFill>
                  <a:srgbClr val="000000">
                    <a:alpha val="100000"/>
                  </a:srgbClr>
                </a:solidFill>
                <a:latin typeface="poppins-bold"/>
                <a:ea typeface="poppins-bold"/>
                <a:cs typeface="poppins-bold"/>
              </a:rPr>
              <a:t>Alineación con las necesidades del negocio</a:t>
            </a:r>
            <a:endParaRPr kumimoji="1" lang="zh-CN" altLang="en-US"/>
          </a:p>
        </p:txBody>
      </p:sp>
      <p:sp>
        <p:nvSpPr>
          <p:cNvPr id="14" name="标题 1"/>
          <p:cNvSpPr txBox="1"/>
          <p:nvPr/>
        </p:nvSpPr>
        <p:spPr>
          <a:xfrm>
            <a:off x="6801197" y="3733240"/>
            <a:ext cx="3316199" cy="2286559"/>
          </a:xfrm>
          <a:prstGeom prst="rect">
            <a:avLst/>
          </a:prstGeom>
          <a:noFill/>
          <a:ln cap="sq">
            <a:noFill/>
          </a:ln>
        </p:spPr>
        <p:txBody>
          <a:bodyPr vert="horz" wrap="square" lIns="91440" tIns="45720" rIns="91440" bIns="45720" rtlCol="0" anchor="t"/>
          <a:lstStyle/>
          <a:p>
            <a:pPr algn="l"/>
            <a:r>
              <a:rPr kumimoji="1" lang="en-US" altLang="zh-CN" sz="1400">
                <a:ln w="12700">
                  <a:noFill/>
                </a:ln>
                <a:solidFill>
                  <a:srgbClr val="000000">
                    <a:alpha val="100000"/>
                  </a:srgbClr>
                </a:solidFill>
                <a:latin typeface="Poppins"/>
                <a:ea typeface="Poppins"/>
                <a:cs typeface="Poppins"/>
              </a:rPr>
              <a:t>ITIL facilita una mejor comunicación entre TI y otras áreas de la empresa, asegurando que los servicios de TI se adapten a los objetivos y estrategias del negocio.</a:t>
            </a:r>
            <a:endParaRPr kumimoji="1" lang="zh-CN" altLang="en-US"/>
          </a:p>
        </p:txBody>
      </p:sp>
      <p:sp>
        <p:nvSpPr>
          <p:cNvPr id="15" name="标题 1"/>
          <p:cNvSpPr txBox="1"/>
          <p:nvPr/>
        </p:nvSpPr>
        <p:spPr>
          <a:xfrm>
            <a:off x="8322086" y="1172844"/>
            <a:ext cx="299823" cy="293817"/>
          </a:xfrm>
          <a:prstGeom prst="ellipse">
            <a:avLst/>
          </a:prstGeom>
          <a:solidFill>
            <a:schemeClr val="bg1"/>
          </a:solidFill>
          <a:ln w="38100" cap="sq">
            <a:solidFill>
              <a:schemeClr val="accent2"/>
            </a:solidFill>
            <a:miter/>
          </a:ln>
          <a:effectLst>
            <a:outerShdw dist="38100" dir="2700000" algn="tl" rotWithShape="0">
              <a:srgbClr val="000000">
                <a:alpha val="40000"/>
              </a:srgbClr>
            </a:outerShdw>
          </a:effectLst>
        </p:spPr>
        <p:txBody>
          <a:bodyPr vert="horz" wrap="square" lIns="91440" tIns="45720" rIns="91440" bIns="45720" rtlCol="0" anchor="ctr"/>
          <a:lstStyle/>
          <a:p>
            <a:pPr algn="ctr"/>
            <a:endParaRPr kumimoji="1" lang="zh-CN" altLang="en-US"/>
          </a:p>
        </p:txBody>
      </p:sp>
      <p:sp>
        <p:nvSpPr>
          <p:cNvPr id="16"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Beneficios de ITIL</a:t>
            </a:r>
            <a:endParaRPr kumimoji="1" lang="zh-CN" altLang="en-US"/>
          </a:p>
        </p:txBody>
      </p:sp>
      <p:sp>
        <p:nvSpPr>
          <p:cNvPr id="17"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9" name="Imagen 18">
            <a:extLst>
              <a:ext uri="{FF2B5EF4-FFF2-40B4-BE49-F238E27FC236}">
                <a16:creationId xmlns:a16="http://schemas.microsoft.com/office/drawing/2014/main" id="{C1D5CDBF-C286-6C60-8732-4D41FAD2AD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919" t="919" r="919" b="919"/>
          <a:stretch>
            <a:fillRect/>
          </a:stretch>
        </p:blipFill>
        <p:spPr>
          <a:xfrm>
            <a:off x="-2690564" y="-202988"/>
            <a:ext cx="7532074" cy="7532072"/>
          </a:xfrm>
          <a:custGeom>
            <a:avLst/>
            <a:gdLst/>
            <a:ahLst/>
            <a:cxnLst/>
            <a:rect l="l" t="t" r="r" b="b"/>
            <a:pathLst>
              <a:path w="7532074" h="7532072">
                <a:moveTo>
                  <a:pt x="3766037" y="0"/>
                </a:moveTo>
                <a:cubicBezTo>
                  <a:pt x="5845962" y="0"/>
                  <a:pt x="7532074" y="1686112"/>
                  <a:pt x="7532074" y="3766036"/>
                </a:cubicBezTo>
                <a:cubicBezTo>
                  <a:pt x="7532074" y="5845960"/>
                  <a:pt x="5845962" y="7532072"/>
                  <a:pt x="3766037" y="7532072"/>
                </a:cubicBezTo>
                <a:cubicBezTo>
                  <a:pt x="1686112" y="7532072"/>
                  <a:pt x="0" y="5845960"/>
                  <a:pt x="0" y="3766036"/>
                </a:cubicBezTo>
                <a:cubicBezTo>
                  <a:pt x="0" y="1686112"/>
                  <a:pt x="1686112" y="0"/>
                  <a:pt x="3766037" y="0"/>
                </a:cubicBezTo>
                <a:close/>
              </a:path>
            </a:pathLst>
          </a:custGeom>
          <a:noFill/>
          <a:ln>
            <a:noFill/>
          </a:ln>
        </p:spPr>
      </p:pic>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5537200" y="2584037"/>
            <a:ext cx="5203029" cy="531018"/>
          </a:xfrm>
          <a:custGeom>
            <a:avLst/>
            <a:gdLst>
              <a:gd name="connsiteX0" fmla="*/ 3412998 w 3429190"/>
              <a:gd name="connsiteY0" fmla="*/ 0 h 531018"/>
              <a:gd name="connsiteX1" fmla="*/ 3062859 w 3429190"/>
              <a:gd name="connsiteY1" fmla="*/ 331280 h 531018"/>
              <a:gd name="connsiteX2" fmla="*/ 2359533 w 3429190"/>
              <a:gd name="connsiteY2" fmla="*/ 512064 h 531018"/>
              <a:gd name="connsiteX3" fmla="*/ 0 w 3429190"/>
              <a:gd name="connsiteY3" fmla="*/ 512064 h 531018"/>
              <a:gd name="connsiteX4" fmla="*/ 381 w 3429190"/>
              <a:gd name="connsiteY4" fmla="*/ 519112 h 531018"/>
              <a:gd name="connsiteX5" fmla="*/ 1238 w 3429190"/>
              <a:gd name="connsiteY5" fmla="*/ 531019 h 531018"/>
              <a:gd name="connsiteX6" fmla="*/ 2359438 w 3429190"/>
              <a:gd name="connsiteY6" fmla="*/ 531019 h 531018"/>
              <a:gd name="connsiteX7" fmla="*/ 3072194 w 3429190"/>
              <a:gd name="connsiteY7" fmla="*/ 347758 h 531018"/>
              <a:gd name="connsiteX8" fmla="*/ 3429191 w 3429190"/>
              <a:gd name="connsiteY8" fmla="*/ 9811 h 531018"/>
              <a:gd name="connsiteX9" fmla="*/ 3412998 w 3429190"/>
              <a:gd name="connsiteY9" fmla="*/ 0 h 531018"/>
            </a:gdLst>
            <a:ahLst/>
            <a:cxnLst/>
            <a:rect l="l" t="t" r="r" b="b"/>
            <a:pathLst>
              <a:path w="3429190" h="531018">
                <a:moveTo>
                  <a:pt x="3412998" y="0"/>
                </a:moveTo>
                <a:cubicBezTo>
                  <a:pt x="3335179" y="129730"/>
                  <a:pt x="3217355" y="241173"/>
                  <a:pt x="3062859" y="331280"/>
                </a:cubicBezTo>
                <a:cubicBezTo>
                  <a:pt x="2859881" y="449580"/>
                  <a:pt x="2616708" y="512064"/>
                  <a:pt x="2359533" y="512064"/>
                </a:cubicBezTo>
                <a:lnTo>
                  <a:pt x="0" y="512064"/>
                </a:lnTo>
                <a:cubicBezTo>
                  <a:pt x="191" y="514445"/>
                  <a:pt x="381" y="516731"/>
                  <a:pt x="381" y="519112"/>
                </a:cubicBezTo>
                <a:cubicBezTo>
                  <a:pt x="953" y="523113"/>
                  <a:pt x="1238" y="527018"/>
                  <a:pt x="1238" y="531019"/>
                </a:cubicBezTo>
                <a:lnTo>
                  <a:pt x="2359438" y="531019"/>
                </a:lnTo>
                <a:cubicBezTo>
                  <a:pt x="2619851" y="531019"/>
                  <a:pt x="2866454" y="467582"/>
                  <a:pt x="3072194" y="347758"/>
                </a:cubicBezTo>
                <a:cubicBezTo>
                  <a:pt x="3229547" y="256032"/>
                  <a:pt x="3349657" y="142303"/>
                  <a:pt x="3429191" y="9811"/>
                </a:cubicBezTo>
                <a:lnTo>
                  <a:pt x="3412998" y="0"/>
                </a:lnTo>
                <a:close/>
              </a:path>
            </a:pathLst>
          </a:custGeom>
          <a:solidFill>
            <a:schemeClr val="accent1"/>
          </a:solidFill>
          <a:ln w="28575"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707753" y="2164061"/>
            <a:ext cx="305938" cy="378832"/>
          </a:xfrm>
          <a:custGeom>
            <a:avLst/>
            <a:gdLst>
              <a:gd name="connsiteX0" fmla="*/ 303938 w 305938"/>
              <a:gd name="connsiteY0" fmla="*/ 316058 h 378832"/>
              <a:gd name="connsiteX1" fmla="*/ 305939 w 305938"/>
              <a:gd name="connsiteY1" fmla="*/ 4876 h 378832"/>
              <a:gd name="connsiteX2" fmla="*/ 299462 w 305938"/>
              <a:gd name="connsiteY2" fmla="*/ 780 h 378832"/>
              <a:gd name="connsiteX3" fmla="*/ 4663 w 305938"/>
              <a:gd name="connsiteY3" fmla="*/ 222618 h 378832"/>
              <a:gd name="connsiteX4" fmla="*/ 8378 w 305938"/>
              <a:gd name="connsiteY4" fmla="*/ 244620 h 378832"/>
              <a:gd name="connsiteX5" fmla="*/ 93055 w 305938"/>
              <a:gd name="connsiteY5" fmla="*/ 269385 h 378832"/>
              <a:gd name="connsiteX6" fmla="*/ 264314 w 305938"/>
              <a:gd name="connsiteY6" fmla="*/ 76123 h 378832"/>
              <a:gd name="connsiteX7" fmla="*/ 127154 w 305938"/>
              <a:gd name="connsiteY7" fmla="*/ 285578 h 378832"/>
              <a:gd name="connsiteX8" fmla="*/ 134679 w 305938"/>
              <a:gd name="connsiteY8" fmla="*/ 367588 h 378832"/>
              <a:gd name="connsiteX9" fmla="*/ 155063 w 305938"/>
              <a:gd name="connsiteY9" fmla="*/ 372160 h 378832"/>
              <a:gd name="connsiteX10" fmla="*/ 186781 w 305938"/>
              <a:gd name="connsiteY10" fmla="*/ 298056 h 378832"/>
              <a:gd name="connsiteX11" fmla="*/ 290984 w 305938"/>
              <a:gd name="connsiteY11" fmla="*/ 327393 h 378832"/>
              <a:gd name="connsiteX12" fmla="*/ 303938 w 305938"/>
              <a:gd name="connsiteY12" fmla="*/ 316058 h 378832"/>
            </a:gdLst>
            <a:ahLst/>
            <a:cxnLst/>
            <a:rect l="l" t="t" r="r" b="b"/>
            <a:pathLst>
              <a:path w="305938" h="378832">
                <a:moveTo>
                  <a:pt x="303938" y="316058"/>
                </a:moveTo>
                <a:lnTo>
                  <a:pt x="305939" y="4876"/>
                </a:lnTo>
                <a:cubicBezTo>
                  <a:pt x="305939" y="1066"/>
                  <a:pt x="302224" y="-1315"/>
                  <a:pt x="299462" y="780"/>
                </a:cubicBezTo>
                <a:lnTo>
                  <a:pt x="4663" y="222618"/>
                </a:lnTo>
                <a:cubicBezTo>
                  <a:pt x="-3052" y="228428"/>
                  <a:pt x="-766" y="241953"/>
                  <a:pt x="8378" y="244620"/>
                </a:cubicBezTo>
                <a:lnTo>
                  <a:pt x="93055" y="269385"/>
                </a:lnTo>
                <a:lnTo>
                  <a:pt x="264314" y="76123"/>
                </a:lnTo>
                <a:lnTo>
                  <a:pt x="127154" y="285578"/>
                </a:lnTo>
                <a:lnTo>
                  <a:pt x="134679" y="367588"/>
                </a:lnTo>
                <a:cubicBezTo>
                  <a:pt x="135822" y="379875"/>
                  <a:pt x="150395" y="383114"/>
                  <a:pt x="155063" y="372160"/>
                </a:cubicBezTo>
                <a:lnTo>
                  <a:pt x="186781" y="298056"/>
                </a:lnTo>
                <a:lnTo>
                  <a:pt x="290984" y="327393"/>
                </a:lnTo>
                <a:cubicBezTo>
                  <a:pt x="297557" y="329393"/>
                  <a:pt x="303843" y="323868"/>
                  <a:pt x="303938" y="31605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03</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Normas ISO/IEC 20000 y 27001</a:t>
            </a:r>
            <a:endParaRPr kumimoji="1" lang="zh-CN" altLang="en-US"/>
          </a:p>
        </p:txBody>
      </p:sp>
      <p:sp>
        <p:nvSpPr>
          <p:cNvPr id="9" name="标题 1"/>
          <p:cNvSpPr txBox="1"/>
          <p:nvPr/>
        </p:nvSpPr>
        <p:spPr>
          <a:xfrm>
            <a:off x="10980186" y="638212"/>
            <a:ext cx="537267" cy="390488"/>
          </a:xfrm>
          <a:custGeom>
            <a:avLst/>
            <a:gdLst/>
            <a:ahLst/>
            <a:cxnLst/>
            <a:rect l="l" t="t" r="r" b="b"/>
            <a:pathLst>
              <a:path w="537267" h="390488">
                <a:moveTo>
                  <a:pt x="474259" y="272460"/>
                </a:moveTo>
                <a:cubicBezTo>
                  <a:pt x="461854" y="272289"/>
                  <a:pt x="453511" y="275831"/>
                  <a:pt x="449231" y="283086"/>
                </a:cubicBezTo>
                <a:cubicBezTo>
                  <a:pt x="444952" y="290341"/>
                  <a:pt x="442960" y="302334"/>
                  <a:pt x="443255" y="319065"/>
                </a:cubicBezTo>
                <a:cubicBezTo>
                  <a:pt x="442960" y="335947"/>
                  <a:pt x="444952" y="347890"/>
                  <a:pt x="449231" y="354895"/>
                </a:cubicBezTo>
                <a:cubicBezTo>
                  <a:pt x="453511" y="361900"/>
                  <a:pt x="461854" y="365292"/>
                  <a:pt x="474259" y="365071"/>
                </a:cubicBezTo>
                <a:cubicBezTo>
                  <a:pt x="486761" y="365292"/>
                  <a:pt x="495162" y="361900"/>
                  <a:pt x="499462" y="354895"/>
                </a:cubicBezTo>
                <a:cubicBezTo>
                  <a:pt x="503763" y="347890"/>
                  <a:pt x="505763" y="335947"/>
                  <a:pt x="505463" y="319065"/>
                </a:cubicBezTo>
                <a:cubicBezTo>
                  <a:pt x="505763" y="302334"/>
                  <a:pt x="503763" y="290341"/>
                  <a:pt x="499462" y="283086"/>
                </a:cubicBezTo>
                <a:cubicBezTo>
                  <a:pt x="495162" y="275831"/>
                  <a:pt x="486761" y="272289"/>
                  <a:pt x="474259" y="272460"/>
                </a:cubicBezTo>
                <a:close/>
                <a:moveTo>
                  <a:pt x="178984" y="272460"/>
                </a:moveTo>
                <a:cubicBezTo>
                  <a:pt x="166579" y="272289"/>
                  <a:pt x="158236" y="275831"/>
                  <a:pt x="153956" y="283086"/>
                </a:cubicBezTo>
                <a:cubicBezTo>
                  <a:pt x="149677" y="290341"/>
                  <a:pt x="147685" y="302334"/>
                  <a:pt x="147980" y="319065"/>
                </a:cubicBezTo>
                <a:cubicBezTo>
                  <a:pt x="147685" y="335947"/>
                  <a:pt x="149677" y="347890"/>
                  <a:pt x="153956" y="354895"/>
                </a:cubicBezTo>
                <a:cubicBezTo>
                  <a:pt x="158236" y="361900"/>
                  <a:pt x="166579" y="365292"/>
                  <a:pt x="178984" y="365071"/>
                </a:cubicBezTo>
                <a:cubicBezTo>
                  <a:pt x="191486" y="365292"/>
                  <a:pt x="199887" y="361900"/>
                  <a:pt x="204188" y="354895"/>
                </a:cubicBezTo>
                <a:cubicBezTo>
                  <a:pt x="208488" y="347890"/>
                  <a:pt x="210488" y="335947"/>
                  <a:pt x="210188" y="319065"/>
                </a:cubicBezTo>
                <a:cubicBezTo>
                  <a:pt x="210488" y="302334"/>
                  <a:pt x="208488" y="290341"/>
                  <a:pt x="204188" y="283086"/>
                </a:cubicBezTo>
                <a:cubicBezTo>
                  <a:pt x="199887" y="275831"/>
                  <a:pt x="191486" y="272289"/>
                  <a:pt x="178984" y="272460"/>
                </a:cubicBezTo>
                <a:close/>
                <a:moveTo>
                  <a:pt x="15002" y="249657"/>
                </a:moveTo>
                <a:lnTo>
                  <a:pt x="45406" y="249657"/>
                </a:lnTo>
                <a:lnTo>
                  <a:pt x="45406" y="362071"/>
                </a:lnTo>
                <a:lnTo>
                  <a:pt x="100613" y="362071"/>
                </a:lnTo>
                <a:lnTo>
                  <a:pt x="100613" y="388474"/>
                </a:lnTo>
                <a:lnTo>
                  <a:pt x="15002" y="388474"/>
                </a:lnTo>
                <a:close/>
                <a:moveTo>
                  <a:pt x="474259" y="247656"/>
                </a:moveTo>
                <a:cubicBezTo>
                  <a:pt x="487883" y="247490"/>
                  <a:pt x="499374" y="249468"/>
                  <a:pt x="508730" y="253591"/>
                </a:cubicBezTo>
                <a:cubicBezTo>
                  <a:pt x="518087" y="257713"/>
                  <a:pt x="525177" y="264981"/>
                  <a:pt x="530000" y="275393"/>
                </a:cubicBezTo>
                <a:cubicBezTo>
                  <a:pt x="534822" y="285806"/>
                  <a:pt x="537245" y="300363"/>
                  <a:pt x="537267" y="319065"/>
                </a:cubicBezTo>
                <a:cubicBezTo>
                  <a:pt x="537245" y="337768"/>
                  <a:pt x="534822" y="352325"/>
                  <a:pt x="530000" y="362737"/>
                </a:cubicBezTo>
                <a:cubicBezTo>
                  <a:pt x="525177" y="373150"/>
                  <a:pt x="518087" y="380417"/>
                  <a:pt x="508730" y="384540"/>
                </a:cubicBezTo>
                <a:cubicBezTo>
                  <a:pt x="499374" y="388663"/>
                  <a:pt x="487883" y="390641"/>
                  <a:pt x="474259" y="390474"/>
                </a:cubicBezTo>
                <a:cubicBezTo>
                  <a:pt x="460824" y="390641"/>
                  <a:pt x="449423" y="388663"/>
                  <a:pt x="440055" y="384540"/>
                </a:cubicBezTo>
                <a:cubicBezTo>
                  <a:pt x="430687" y="380417"/>
                  <a:pt x="423553" y="373150"/>
                  <a:pt x="418652" y="362737"/>
                </a:cubicBezTo>
                <a:cubicBezTo>
                  <a:pt x="413752" y="352325"/>
                  <a:pt x="411285" y="337768"/>
                  <a:pt x="411251" y="319065"/>
                </a:cubicBezTo>
                <a:cubicBezTo>
                  <a:pt x="411285" y="300363"/>
                  <a:pt x="413752" y="285806"/>
                  <a:pt x="418652" y="275393"/>
                </a:cubicBezTo>
                <a:cubicBezTo>
                  <a:pt x="423553" y="264981"/>
                  <a:pt x="430687" y="257713"/>
                  <a:pt x="440055" y="253591"/>
                </a:cubicBezTo>
                <a:cubicBezTo>
                  <a:pt x="449423" y="249468"/>
                  <a:pt x="460824" y="247490"/>
                  <a:pt x="474259" y="247656"/>
                </a:cubicBezTo>
                <a:close/>
                <a:moveTo>
                  <a:pt x="337785" y="247656"/>
                </a:moveTo>
                <a:cubicBezTo>
                  <a:pt x="344682" y="247665"/>
                  <a:pt x="351541" y="248098"/>
                  <a:pt x="358363" y="248957"/>
                </a:cubicBezTo>
                <a:cubicBezTo>
                  <a:pt x="365184" y="249815"/>
                  <a:pt x="370793" y="251049"/>
                  <a:pt x="375190" y="252657"/>
                </a:cubicBezTo>
                <a:lnTo>
                  <a:pt x="375190" y="279260"/>
                </a:lnTo>
                <a:cubicBezTo>
                  <a:pt x="369931" y="277364"/>
                  <a:pt x="364297" y="275956"/>
                  <a:pt x="358288" y="275035"/>
                </a:cubicBezTo>
                <a:cubicBezTo>
                  <a:pt x="352279" y="274114"/>
                  <a:pt x="346245" y="273656"/>
                  <a:pt x="340185" y="273660"/>
                </a:cubicBezTo>
                <a:cubicBezTo>
                  <a:pt x="326938" y="273351"/>
                  <a:pt x="317178" y="276518"/>
                  <a:pt x="310907" y="283161"/>
                </a:cubicBezTo>
                <a:cubicBezTo>
                  <a:pt x="304635" y="289803"/>
                  <a:pt x="301526" y="301772"/>
                  <a:pt x="301581" y="319065"/>
                </a:cubicBezTo>
                <a:cubicBezTo>
                  <a:pt x="301536" y="331218"/>
                  <a:pt x="302736" y="340629"/>
                  <a:pt x="305181" y="347299"/>
                </a:cubicBezTo>
                <a:cubicBezTo>
                  <a:pt x="307626" y="353969"/>
                  <a:pt x="311582" y="358594"/>
                  <a:pt x="317049" y="361174"/>
                </a:cubicBezTo>
                <a:cubicBezTo>
                  <a:pt x="322517" y="363755"/>
                  <a:pt x="329762" y="364987"/>
                  <a:pt x="338785" y="364871"/>
                </a:cubicBezTo>
                <a:cubicBezTo>
                  <a:pt x="341565" y="364884"/>
                  <a:pt x="344157" y="364809"/>
                  <a:pt x="346561" y="364646"/>
                </a:cubicBezTo>
                <a:cubicBezTo>
                  <a:pt x="348966" y="364484"/>
                  <a:pt x="351308" y="364159"/>
                  <a:pt x="353587" y="363671"/>
                </a:cubicBezTo>
                <a:lnTo>
                  <a:pt x="353587" y="333667"/>
                </a:lnTo>
                <a:lnTo>
                  <a:pt x="329984" y="333667"/>
                </a:lnTo>
                <a:lnTo>
                  <a:pt x="329984" y="308264"/>
                </a:lnTo>
                <a:lnTo>
                  <a:pt x="381791" y="308264"/>
                </a:lnTo>
                <a:lnTo>
                  <a:pt x="381791" y="384274"/>
                </a:lnTo>
                <a:cubicBezTo>
                  <a:pt x="376452" y="386020"/>
                  <a:pt x="369827" y="387478"/>
                  <a:pt x="361913" y="388649"/>
                </a:cubicBezTo>
                <a:cubicBezTo>
                  <a:pt x="354000" y="389820"/>
                  <a:pt x="345624" y="390428"/>
                  <a:pt x="336785" y="390474"/>
                </a:cubicBezTo>
                <a:cubicBezTo>
                  <a:pt x="322528" y="390671"/>
                  <a:pt x="310304" y="388811"/>
                  <a:pt x="300114" y="384896"/>
                </a:cubicBezTo>
                <a:cubicBezTo>
                  <a:pt x="289924" y="380981"/>
                  <a:pt x="282100" y="373831"/>
                  <a:pt x="276644" y="363449"/>
                </a:cubicBezTo>
                <a:cubicBezTo>
                  <a:pt x="271188" y="353066"/>
                  <a:pt x="268432" y="338271"/>
                  <a:pt x="268376" y="319065"/>
                </a:cubicBezTo>
                <a:cubicBezTo>
                  <a:pt x="268437" y="301308"/>
                  <a:pt x="271250" y="287195"/>
                  <a:pt x="276815" y="276727"/>
                </a:cubicBezTo>
                <a:cubicBezTo>
                  <a:pt x="282379" y="266259"/>
                  <a:pt x="290334" y="258769"/>
                  <a:pt x="300677" y="254257"/>
                </a:cubicBezTo>
                <a:cubicBezTo>
                  <a:pt x="311020" y="249746"/>
                  <a:pt x="323390" y="247545"/>
                  <a:pt x="337785" y="247656"/>
                </a:cubicBezTo>
                <a:close/>
                <a:moveTo>
                  <a:pt x="178984" y="247656"/>
                </a:moveTo>
                <a:cubicBezTo>
                  <a:pt x="192608" y="247490"/>
                  <a:pt x="204099" y="249468"/>
                  <a:pt x="213455" y="253591"/>
                </a:cubicBezTo>
                <a:cubicBezTo>
                  <a:pt x="222812" y="257713"/>
                  <a:pt x="229902" y="264981"/>
                  <a:pt x="234725" y="275393"/>
                </a:cubicBezTo>
                <a:cubicBezTo>
                  <a:pt x="239547" y="285806"/>
                  <a:pt x="241970" y="300363"/>
                  <a:pt x="241992" y="319065"/>
                </a:cubicBezTo>
                <a:cubicBezTo>
                  <a:pt x="241970" y="337768"/>
                  <a:pt x="239547" y="352325"/>
                  <a:pt x="234725" y="362737"/>
                </a:cubicBezTo>
                <a:cubicBezTo>
                  <a:pt x="229902" y="373150"/>
                  <a:pt x="222812" y="380417"/>
                  <a:pt x="213455" y="384540"/>
                </a:cubicBezTo>
                <a:cubicBezTo>
                  <a:pt x="204099" y="388663"/>
                  <a:pt x="192608" y="390641"/>
                  <a:pt x="178984" y="390474"/>
                </a:cubicBezTo>
                <a:cubicBezTo>
                  <a:pt x="165549" y="390641"/>
                  <a:pt x="154148" y="388663"/>
                  <a:pt x="144780" y="384540"/>
                </a:cubicBezTo>
                <a:cubicBezTo>
                  <a:pt x="135412" y="380417"/>
                  <a:pt x="128278" y="373150"/>
                  <a:pt x="123377" y="362737"/>
                </a:cubicBezTo>
                <a:cubicBezTo>
                  <a:pt x="118477" y="352325"/>
                  <a:pt x="116010" y="337768"/>
                  <a:pt x="115976" y="319065"/>
                </a:cubicBezTo>
                <a:cubicBezTo>
                  <a:pt x="116010" y="300363"/>
                  <a:pt x="118477" y="285806"/>
                  <a:pt x="123377" y="275393"/>
                </a:cubicBezTo>
                <a:cubicBezTo>
                  <a:pt x="128278" y="264981"/>
                  <a:pt x="135412" y="257713"/>
                  <a:pt x="144780" y="253591"/>
                </a:cubicBezTo>
                <a:cubicBezTo>
                  <a:pt x="154148" y="249468"/>
                  <a:pt x="165549" y="247490"/>
                  <a:pt x="178984" y="247656"/>
                </a:cubicBezTo>
                <a:close/>
                <a:moveTo>
                  <a:pt x="421729" y="13608"/>
                </a:moveTo>
                <a:lnTo>
                  <a:pt x="421729" y="71215"/>
                </a:lnTo>
                <a:lnTo>
                  <a:pt x="438931" y="71215"/>
                </a:lnTo>
                <a:cubicBezTo>
                  <a:pt x="449042" y="71205"/>
                  <a:pt x="456957" y="70514"/>
                  <a:pt x="462675" y="69141"/>
                </a:cubicBezTo>
                <a:cubicBezTo>
                  <a:pt x="468393" y="67768"/>
                  <a:pt x="472455" y="64973"/>
                  <a:pt x="474862" y="60755"/>
                </a:cubicBezTo>
                <a:cubicBezTo>
                  <a:pt x="477268" y="56537"/>
                  <a:pt x="478560" y="50156"/>
                  <a:pt x="478736" y="41612"/>
                </a:cubicBezTo>
                <a:cubicBezTo>
                  <a:pt x="478678" y="30406"/>
                  <a:pt x="475694" y="22913"/>
                  <a:pt x="469785" y="19134"/>
                </a:cubicBezTo>
                <a:cubicBezTo>
                  <a:pt x="463876" y="15354"/>
                  <a:pt x="453591" y="13512"/>
                  <a:pt x="438931" y="13608"/>
                </a:cubicBezTo>
                <a:close/>
                <a:moveTo>
                  <a:pt x="186909" y="11608"/>
                </a:moveTo>
                <a:cubicBezTo>
                  <a:pt x="175218" y="11787"/>
                  <a:pt x="166130" y="13829"/>
                  <a:pt x="159646" y="17735"/>
                </a:cubicBezTo>
                <a:cubicBezTo>
                  <a:pt x="153163" y="21640"/>
                  <a:pt x="148624" y="27935"/>
                  <a:pt x="146030" y="36618"/>
                </a:cubicBezTo>
                <a:cubicBezTo>
                  <a:pt x="143436" y="45302"/>
                  <a:pt x="142127" y="56901"/>
                  <a:pt x="142104" y="71415"/>
                </a:cubicBezTo>
                <a:cubicBezTo>
                  <a:pt x="141770" y="93160"/>
                  <a:pt x="144837" y="108628"/>
                  <a:pt x="151305" y="117821"/>
                </a:cubicBezTo>
                <a:cubicBezTo>
                  <a:pt x="157772" y="127014"/>
                  <a:pt x="169640" y="131481"/>
                  <a:pt x="186909" y="131223"/>
                </a:cubicBezTo>
                <a:cubicBezTo>
                  <a:pt x="198601" y="131059"/>
                  <a:pt x="207688" y="129076"/>
                  <a:pt x="214172" y="125274"/>
                </a:cubicBezTo>
                <a:cubicBezTo>
                  <a:pt x="220655" y="121472"/>
                  <a:pt x="225194" y="115237"/>
                  <a:pt x="227788" y="106568"/>
                </a:cubicBezTo>
                <a:cubicBezTo>
                  <a:pt x="230382" y="97899"/>
                  <a:pt x="231691" y="86181"/>
                  <a:pt x="231715" y="71415"/>
                </a:cubicBezTo>
                <a:cubicBezTo>
                  <a:pt x="231691" y="56835"/>
                  <a:pt x="230382" y="45191"/>
                  <a:pt x="227788" y="36485"/>
                </a:cubicBezTo>
                <a:cubicBezTo>
                  <a:pt x="225194" y="27779"/>
                  <a:pt x="220655" y="21484"/>
                  <a:pt x="214172" y="17601"/>
                </a:cubicBezTo>
                <a:cubicBezTo>
                  <a:pt x="207688" y="13718"/>
                  <a:pt x="198601" y="11720"/>
                  <a:pt x="186909" y="11608"/>
                </a:cubicBezTo>
                <a:close/>
                <a:moveTo>
                  <a:pt x="408527" y="2007"/>
                </a:moveTo>
                <a:lnTo>
                  <a:pt x="439131" y="2007"/>
                </a:lnTo>
                <a:cubicBezTo>
                  <a:pt x="452492" y="2051"/>
                  <a:pt x="462997" y="3251"/>
                  <a:pt x="470646" y="5607"/>
                </a:cubicBezTo>
                <a:cubicBezTo>
                  <a:pt x="478295" y="7963"/>
                  <a:pt x="483733" y="12008"/>
                  <a:pt x="486959" y="17742"/>
                </a:cubicBezTo>
                <a:cubicBezTo>
                  <a:pt x="490186" y="23476"/>
                  <a:pt x="491845" y="31433"/>
                  <a:pt x="491938" y="41612"/>
                </a:cubicBezTo>
                <a:cubicBezTo>
                  <a:pt x="492009" y="53596"/>
                  <a:pt x="489717" y="62681"/>
                  <a:pt x="485062" y="68865"/>
                </a:cubicBezTo>
                <a:cubicBezTo>
                  <a:pt x="480407" y="75049"/>
                  <a:pt x="472964" y="79033"/>
                  <a:pt x="462734" y="80817"/>
                </a:cubicBezTo>
                <a:lnTo>
                  <a:pt x="505139" y="140824"/>
                </a:lnTo>
                <a:lnTo>
                  <a:pt x="489337" y="140824"/>
                </a:lnTo>
                <a:lnTo>
                  <a:pt x="449132" y="82417"/>
                </a:lnTo>
                <a:cubicBezTo>
                  <a:pt x="448224" y="82513"/>
                  <a:pt x="446990" y="82571"/>
                  <a:pt x="445432" y="82592"/>
                </a:cubicBezTo>
                <a:cubicBezTo>
                  <a:pt x="443873" y="82613"/>
                  <a:pt x="442040" y="82621"/>
                  <a:pt x="439931" y="82617"/>
                </a:cubicBezTo>
                <a:lnTo>
                  <a:pt x="421729" y="82617"/>
                </a:lnTo>
                <a:lnTo>
                  <a:pt x="421729" y="140824"/>
                </a:lnTo>
                <a:lnTo>
                  <a:pt x="408527" y="140824"/>
                </a:lnTo>
                <a:close/>
                <a:moveTo>
                  <a:pt x="274377" y="2007"/>
                </a:moveTo>
                <a:lnTo>
                  <a:pt x="287579" y="2007"/>
                </a:lnTo>
                <a:lnTo>
                  <a:pt x="287579" y="92218"/>
                </a:lnTo>
                <a:cubicBezTo>
                  <a:pt x="287408" y="106961"/>
                  <a:pt x="290150" y="117179"/>
                  <a:pt x="295805" y="122872"/>
                </a:cubicBezTo>
                <a:cubicBezTo>
                  <a:pt x="301460" y="128564"/>
                  <a:pt x="311053" y="131281"/>
                  <a:pt x="324583" y="131023"/>
                </a:cubicBezTo>
                <a:cubicBezTo>
                  <a:pt x="338752" y="131281"/>
                  <a:pt x="348620" y="128564"/>
                  <a:pt x="354187" y="122872"/>
                </a:cubicBezTo>
                <a:cubicBezTo>
                  <a:pt x="359755" y="117179"/>
                  <a:pt x="362422" y="106961"/>
                  <a:pt x="362188" y="92218"/>
                </a:cubicBezTo>
                <a:lnTo>
                  <a:pt x="362188" y="2007"/>
                </a:lnTo>
                <a:lnTo>
                  <a:pt x="375190" y="2007"/>
                </a:lnTo>
                <a:lnTo>
                  <a:pt x="375190" y="96218"/>
                </a:lnTo>
                <a:cubicBezTo>
                  <a:pt x="375223" y="112512"/>
                  <a:pt x="371056" y="124380"/>
                  <a:pt x="362688" y="131823"/>
                </a:cubicBezTo>
                <a:cubicBezTo>
                  <a:pt x="354321" y="139266"/>
                  <a:pt x="341552" y="142933"/>
                  <a:pt x="324383" y="142824"/>
                </a:cubicBezTo>
                <a:cubicBezTo>
                  <a:pt x="307248" y="142970"/>
                  <a:pt x="294613" y="139378"/>
                  <a:pt x="286479" y="132048"/>
                </a:cubicBezTo>
                <a:cubicBezTo>
                  <a:pt x="278344" y="124718"/>
                  <a:pt x="274311" y="112775"/>
                  <a:pt x="274377" y="96218"/>
                </a:cubicBezTo>
                <a:close/>
                <a:moveTo>
                  <a:pt x="0" y="2007"/>
                </a:moveTo>
                <a:lnTo>
                  <a:pt x="15202" y="2007"/>
                </a:lnTo>
                <a:lnTo>
                  <a:pt x="55207" y="67215"/>
                </a:lnTo>
                <a:lnTo>
                  <a:pt x="56407" y="67215"/>
                </a:lnTo>
                <a:lnTo>
                  <a:pt x="95812" y="2007"/>
                </a:lnTo>
                <a:lnTo>
                  <a:pt x="110614" y="2007"/>
                </a:lnTo>
                <a:lnTo>
                  <a:pt x="61808" y="79416"/>
                </a:lnTo>
                <a:lnTo>
                  <a:pt x="61808" y="140824"/>
                </a:lnTo>
                <a:lnTo>
                  <a:pt x="48406" y="140824"/>
                </a:lnTo>
                <a:lnTo>
                  <a:pt x="48406" y="79616"/>
                </a:lnTo>
                <a:close/>
                <a:moveTo>
                  <a:pt x="186909" y="6"/>
                </a:moveTo>
                <a:cubicBezTo>
                  <a:pt x="200290" y="-123"/>
                  <a:pt x="211311" y="2003"/>
                  <a:pt x="219972" y="6385"/>
                </a:cubicBezTo>
                <a:cubicBezTo>
                  <a:pt x="228634" y="10767"/>
                  <a:pt x="235062" y="18183"/>
                  <a:pt x="239256" y="28632"/>
                </a:cubicBezTo>
                <a:cubicBezTo>
                  <a:pt x="243451" y="39082"/>
                  <a:pt x="245537" y="53343"/>
                  <a:pt x="245516" y="71415"/>
                </a:cubicBezTo>
                <a:cubicBezTo>
                  <a:pt x="245537" y="89488"/>
                  <a:pt x="243451" y="103749"/>
                  <a:pt x="239256" y="114198"/>
                </a:cubicBezTo>
                <a:cubicBezTo>
                  <a:pt x="235062" y="124648"/>
                  <a:pt x="228634" y="132064"/>
                  <a:pt x="219972" y="136446"/>
                </a:cubicBezTo>
                <a:cubicBezTo>
                  <a:pt x="211311" y="140828"/>
                  <a:pt x="200290" y="142954"/>
                  <a:pt x="186909" y="142824"/>
                </a:cubicBezTo>
                <a:cubicBezTo>
                  <a:pt x="173284" y="142776"/>
                  <a:pt x="162174" y="140605"/>
                  <a:pt x="153579" y="136312"/>
                </a:cubicBezTo>
                <a:cubicBezTo>
                  <a:pt x="144984" y="132019"/>
                  <a:pt x="138645" y="124692"/>
                  <a:pt x="134562" y="114332"/>
                </a:cubicBezTo>
                <a:cubicBezTo>
                  <a:pt x="130479" y="103971"/>
                  <a:pt x="128392" y="89666"/>
                  <a:pt x="128302" y="71415"/>
                </a:cubicBezTo>
                <a:cubicBezTo>
                  <a:pt x="128273" y="53343"/>
                  <a:pt x="130330" y="39082"/>
                  <a:pt x="134473" y="28632"/>
                </a:cubicBezTo>
                <a:cubicBezTo>
                  <a:pt x="138615" y="18183"/>
                  <a:pt x="145014" y="10767"/>
                  <a:pt x="153668" y="6385"/>
                </a:cubicBezTo>
                <a:cubicBezTo>
                  <a:pt x="162322" y="2003"/>
                  <a:pt x="173402" y="-123"/>
                  <a:pt x="186909" y="6"/>
                </a:cubicBezTo>
                <a:close/>
              </a:path>
            </a:pathLst>
          </a:custGeom>
          <a:solidFill>
            <a:schemeClr val="tx1">
              <a:lumMod val="85000"/>
              <a:lumOff val="15000"/>
            </a:schemeClr>
          </a:solidFill>
          <a:ln cap="sq">
            <a:noFill/>
          </a:ln>
          <a:effectLst/>
        </p:spPr>
        <p:txBody>
          <a:bodyPr vert="horz" wrap="square" lIns="91440" tIns="45720" rIns="91440" bIns="45720" rtlCol="0" anchor="t"/>
          <a:lstStyle/>
          <a:p>
            <a:pPr algn="l"/>
            <a:endParaRPr kumimoji="1" lang="zh-CN" altLang="en-US"/>
          </a:p>
        </p:txBody>
      </p:sp>
      <p:pic>
        <p:nvPicPr>
          <p:cNvPr id="10" name="Imagen 9">
            <a:extLst>
              <a:ext uri="{FF2B5EF4-FFF2-40B4-BE49-F238E27FC236}">
                <a16:creationId xmlns:a16="http://schemas.microsoft.com/office/drawing/2014/main" id="{EFD84C2C-2623-C40D-81DD-6DB4E252DF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1244663" y="1469067"/>
            <a:ext cx="9689974" cy="4326268"/>
          </a:xfrm>
          <a:prstGeom prst="roundRect">
            <a:avLst>
              <a:gd name="adj" fmla="val 790"/>
            </a:avLst>
          </a:prstGeom>
          <a:solidFill>
            <a:schemeClr val="bg1"/>
          </a:solidFill>
          <a:ln w="12700" cap="sq">
            <a:noFill/>
            <a:miter/>
          </a:ln>
          <a:effectLst>
            <a:outerShdw blurRad="596900" dist="215900" dir="5400000" sx="95000" sy="95000" algn="t" rotWithShape="0">
              <a:srgbClr val="000000">
                <a:alpha val="40000"/>
              </a:srgbClr>
            </a:outerShdw>
          </a:effectLst>
        </p:spPr>
        <p:txBody>
          <a:bodyPr vert="horz" wrap="square" lIns="91440" tIns="45720" rIns="91440" bIns="45720" rtlCol="0" anchor="ctr"/>
          <a:lstStyle/>
          <a:p>
            <a:pPr algn="ctr"/>
            <a:endParaRPr kumimoji="1" lang="zh-CN" altLang="en-US" dirty="0"/>
          </a:p>
        </p:txBody>
      </p:sp>
      <p:sp>
        <p:nvSpPr>
          <p:cNvPr id="6" name="标题 1"/>
          <p:cNvSpPr txBox="1"/>
          <p:nvPr/>
        </p:nvSpPr>
        <p:spPr>
          <a:xfrm>
            <a:off x="6194760" y="2391218"/>
            <a:ext cx="4320000" cy="307777"/>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Principios de gestión de servicios</a:t>
            </a:r>
            <a:endParaRPr kumimoji="1" lang="zh-CN" altLang="en-US"/>
          </a:p>
        </p:txBody>
      </p:sp>
      <p:sp>
        <p:nvSpPr>
          <p:cNvPr id="7" name="标题 1"/>
          <p:cNvSpPr txBox="1"/>
          <p:nvPr/>
        </p:nvSpPr>
        <p:spPr>
          <a:xfrm>
            <a:off x="6194760" y="2769858"/>
            <a:ext cx="4320000" cy="855549"/>
          </a:xfrm>
          <a:prstGeom prst="rect">
            <a:avLst/>
          </a:prstGeom>
          <a:noFill/>
          <a:ln>
            <a:noFill/>
          </a:ln>
        </p:spPr>
        <p:txBody>
          <a:bodyPr vert="horz" wrap="square" lIns="0" tIns="0" rIns="0" bIns="0" rtlCol="0" anchor="t"/>
          <a:lstStyle/>
          <a:p>
            <a:pPr algn="l"/>
            <a:r>
              <a:rPr kumimoji="1" lang="en-US" altLang="zh-CN" sz="1055">
                <a:ln w="12700">
                  <a:noFill/>
                </a:ln>
                <a:solidFill>
                  <a:srgbClr val="000000">
                    <a:alpha val="100000"/>
                  </a:srgbClr>
                </a:solidFill>
                <a:latin typeface="Poppins"/>
                <a:ea typeface="Poppins"/>
                <a:cs typeface="Poppins"/>
              </a:rPr>
              <a:t>Los principios de gestión de servicios de ISO/IEC 20000 son fundamentales para la prestación efectiva de servicios de TI, garantizando calidad, eficiencia y alineación con las necesidades del cliente.</a:t>
            </a:r>
            <a:endParaRPr kumimoji="1" lang="zh-CN" altLang="en-US"/>
          </a:p>
        </p:txBody>
      </p:sp>
      <p:sp>
        <p:nvSpPr>
          <p:cNvPr id="8" name="标题 1"/>
          <p:cNvSpPr txBox="1"/>
          <p:nvPr/>
        </p:nvSpPr>
        <p:spPr>
          <a:xfrm>
            <a:off x="6194760" y="4223159"/>
            <a:ext cx="4320000" cy="307777"/>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Certificación y su importancia</a:t>
            </a:r>
            <a:endParaRPr kumimoji="1" lang="zh-CN" altLang="en-US"/>
          </a:p>
        </p:txBody>
      </p:sp>
      <p:sp>
        <p:nvSpPr>
          <p:cNvPr id="9" name="标题 1"/>
          <p:cNvSpPr txBox="1"/>
          <p:nvPr/>
        </p:nvSpPr>
        <p:spPr>
          <a:xfrm>
            <a:off x="6194760" y="4601798"/>
            <a:ext cx="4320000" cy="855549"/>
          </a:xfrm>
          <a:prstGeom prst="rect">
            <a:avLst/>
          </a:prstGeom>
          <a:noFill/>
          <a:ln>
            <a:noFill/>
          </a:ln>
        </p:spPr>
        <p:txBody>
          <a:bodyPr vert="horz" wrap="square" lIns="0" tIns="0" rIns="0" bIns="0" rtlCol="0" anchor="t"/>
          <a:lstStyle/>
          <a:p>
            <a:pPr algn="l"/>
            <a:r>
              <a:rPr kumimoji="1" lang="en-US" altLang="zh-CN" sz="1055">
                <a:ln w="12700">
                  <a:noFill/>
                </a:ln>
                <a:solidFill>
                  <a:srgbClr val="000000">
                    <a:alpha val="100000"/>
                  </a:srgbClr>
                </a:solidFill>
                <a:latin typeface="Poppins"/>
                <a:ea typeface="Poppins"/>
                <a:cs typeface="Poppins"/>
              </a:rPr>
              <a:t>La certificación ISO/IEC 20000 demuestra el compromiso de una organización con la mejora continua y la calidad en la gestión de servicios, aumentando la confianza de los clientes y la competitividad en el mercado.</a:t>
            </a:r>
            <a:endParaRPr kumimoji="1" lang="zh-CN" altLang="en-US"/>
          </a:p>
        </p:txBody>
      </p:sp>
      <p:sp>
        <p:nvSpPr>
          <p:cNvPr id="10" name="标题 1"/>
          <p:cNvSpPr txBox="1"/>
          <p:nvPr/>
        </p:nvSpPr>
        <p:spPr>
          <a:xfrm>
            <a:off x="6191425" y="1801096"/>
            <a:ext cx="2021300" cy="478500"/>
          </a:xfrm>
          <a:prstGeom prst="rect">
            <a:avLst/>
          </a:prstGeom>
          <a:noFill/>
          <a:ln>
            <a:noFill/>
          </a:ln>
        </p:spPr>
        <p:txBody>
          <a:bodyPr vert="horz" wrap="square" lIns="0" tIns="0" rIns="0" bIns="0" rtlCol="0" anchor="ctr"/>
          <a:lstStyle/>
          <a:p>
            <a:pPr algn="l"/>
            <a:r>
              <a:rPr kumimoji="1" lang="en-US" altLang="zh-CN" sz="3200">
                <a:ln w="12700">
                  <a:noFill/>
                </a:ln>
                <a:solidFill>
                  <a:srgbClr val="C53645">
                    <a:alpha val="100000"/>
                  </a:srgbClr>
                </a:solidFill>
                <a:latin typeface="poppins-bold"/>
                <a:ea typeface="poppins-bold"/>
                <a:cs typeface="poppins-bold"/>
              </a:rPr>
              <a:t>01.</a:t>
            </a:r>
            <a:endParaRPr kumimoji="1" lang="zh-CN" altLang="en-US"/>
          </a:p>
        </p:txBody>
      </p:sp>
      <p:sp>
        <p:nvSpPr>
          <p:cNvPr id="11" name="标题 1"/>
          <p:cNvSpPr txBox="1"/>
          <p:nvPr/>
        </p:nvSpPr>
        <p:spPr>
          <a:xfrm>
            <a:off x="6191425" y="3693396"/>
            <a:ext cx="2021300" cy="478500"/>
          </a:xfrm>
          <a:prstGeom prst="rect">
            <a:avLst/>
          </a:prstGeom>
          <a:noFill/>
          <a:ln>
            <a:noFill/>
          </a:ln>
        </p:spPr>
        <p:txBody>
          <a:bodyPr vert="horz" wrap="square" lIns="0" tIns="0" rIns="0" bIns="0" rtlCol="0" anchor="ctr"/>
          <a:lstStyle/>
          <a:p>
            <a:pPr algn="l"/>
            <a:r>
              <a:rPr kumimoji="1" lang="en-US" altLang="zh-CN" sz="3200">
                <a:ln w="12700">
                  <a:noFill/>
                </a:ln>
                <a:solidFill>
                  <a:srgbClr val="C53645">
                    <a:alpha val="100000"/>
                  </a:srgbClr>
                </a:solidFill>
                <a:latin typeface="poppins-bold"/>
                <a:ea typeface="poppins-bold"/>
                <a:cs typeface="poppins-bold"/>
              </a:rPr>
              <a:t>02.</a:t>
            </a:r>
            <a:endParaRPr kumimoji="1" lang="zh-CN" altLang="en-US"/>
          </a:p>
        </p:txBody>
      </p:sp>
      <p:sp>
        <p:nvSpPr>
          <p:cNvPr id="12"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ea typeface="poppins-bold"/>
                <a:cs typeface="poppins-bold"/>
              </a:rPr>
              <a:t>Introducción a ISO/IEC 20000</a:t>
            </a:r>
            <a:endParaRPr kumimoji="1" lang="zh-CN" altLang="en-US" dirty="0"/>
          </a:p>
        </p:txBody>
      </p:sp>
      <p:sp>
        <p:nvSpPr>
          <p:cNvPr id="13"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48490254-E62C-AE15-0B2E-A37576F105C9}"/>
              </a:ext>
            </a:extLst>
          </p:cNvPr>
          <p:cNvSpPr txBox="1"/>
          <p:nvPr/>
        </p:nvSpPr>
        <p:spPr>
          <a:xfrm>
            <a:off x="1489513" y="2809516"/>
            <a:ext cx="3960000" cy="2579417"/>
          </a:xfrm>
          <a:prstGeom prst="rect">
            <a:avLst/>
          </a:prstGeom>
          <a:noFill/>
          <a:ln>
            <a:noFill/>
          </a:ln>
        </p:spPr>
        <p:txBody>
          <a:bodyPr vert="horz" wrap="square" lIns="0" tIns="0" rIns="0" bIns="0" rtlCol="0" anchor="t"/>
          <a:lstStyle/>
          <a:p>
            <a:pPr algn="ctr"/>
            <a:r>
              <a:rPr lang="es-ES" sz="1400" dirty="0"/>
              <a:t>Es una </a:t>
            </a:r>
            <a:r>
              <a:rPr lang="es-ES" sz="1400" b="1" dirty="0"/>
              <a:t>norma internacional (un estándar)</a:t>
            </a:r>
            <a:r>
              <a:rPr lang="es-ES" sz="1400" dirty="0"/>
              <a:t> que especifica los requisitos para un </a:t>
            </a:r>
            <a:r>
              <a:rPr lang="es-ES" sz="1400" b="1" dirty="0"/>
              <a:t>Sistema de Gestión de Servicios (SGS)</a:t>
            </a:r>
            <a:r>
              <a:rPr lang="es-ES" sz="1400" dirty="0"/>
              <a:t>. Es el "qué" se debe cumplir. Si ITIL es la guía de buenas prácticas, ISO 20000 es el estándar auditable que certifica que una organización sigue esas buenas prácticas de manera consistente y medible.</a:t>
            </a:r>
            <a:endParaRPr kumimoji="1" lang="zh-CN" altLang="en-US" sz="1400" dirty="0"/>
          </a:p>
        </p:txBody>
      </p:sp>
      <p:pic>
        <p:nvPicPr>
          <p:cNvPr id="16" name="Imagen 15">
            <a:extLst>
              <a:ext uri="{FF2B5EF4-FFF2-40B4-BE49-F238E27FC236}">
                <a16:creationId xmlns:a16="http://schemas.microsoft.com/office/drawing/2014/main" id="{57F87838-FA56-4A0A-9398-3469673C3B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5A94B-947A-E47F-F9AA-C108921E5BBC}"/>
            </a:ext>
          </a:extLst>
        </p:cNvPr>
        <p:cNvGrpSpPr/>
        <p:nvPr/>
      </p:nvGrpSpPr>
      <p:grpSpPr>
        <a:xfrm>
          <a:off x="0" y="0"/>
          <a:ext cx="0" cy="0"/>
          <a:chOff x="0" y="0"/>
          <a:chExt cx="0" cy="0"/>
        </a:xfrm>
      </p:grpSpPr>
      <p:cxnSp>
        <p:nvCxnSpPr>
          <p:cNvPr id="2" name="标题 1">
            <a:extLst>
              <a:ext uri="{FF2B5EF4-FFF2-40B4-BE49-F238E27FC236}">
                <a16:creationId xmlns:a16="http://schemas.microsoft.com/office/drawing/2014/main" id="{F3646BFF-EDB4-354D-DA88-636F79603E09}"/>
              </a:ext>
            </a:extLst>
          </p:cNvPr>
          <p:cNvCxnSpPr/>
          <p:nvPr/>
        </p:nvCxnSpPr>
        <p:spPr>
          <a:xfrm flipH="1" flipV="1">
            <a:off x="8473296" y="1339661"/>
            <a:ext cx="1013401" cy="681656"/>
          </a:xfrm>
          <a:prstGeom prst="line">
            <a:avLst/>
          </a:prstGeom>
          <a:noFill/>
          <a:ln w="6350" cap="sq">
            <a:solidFill>
              <a:schemeClr val="accent2">
                <a:alpha val="100000"/>
              </a:schemeClr>
            </a:solidFill>
            <a:miter/>
          </a:ln>
        </p:spPr>
      </p:cxnSp>
      <p:cxnSp>
        <p:nvCxnSpPr>
          <p:cNvPr id="3" name="标题 1">
            <a:extLst>
              <a:ext uri="{FF2B5EF4-FFF2-40B4-BE49-F238E27FC236}">
                <a16:creationId xmlns:a16="http://schemas.microsoft.com/office/drawing/2014/main" id="{50E47E50-8628-61A2-ECC8-5DCF4831AEFB}"/>
              </a:ext>
            </a:extLst>
          </p:cNvPr>
          <p:cNvCxnSpPr/>
          <p:nvPr/>
        </p:nvCxnSpPr>
        <p:spPr>
          <a:xfrm flipH="1" flipV="1">
            <a:off x="3770689" y="1335216"/>
            <a:ext cx="1013402" cy="681656"/>
          </a:xfrm>
          <a:prstGeom prst="line">
            <a:avLst/>
          </a:prstGeom>
          <a:noFill/>
          <a:ln w="6350" cap="flat">
            <a:solidFill>
              <a:schemeClr val="accent1">
                <a:alpha val="100000"/>
              </a:schemeClr>
            </a:solidFill>
            <a:miter/>
          </a:ln>
        </p:spPr>
      </p:cxnSp>
      <p:cxnSp>
        <p:nvCxnSpPr>
          <p:cNvPr id="4" name="标题 1">
            <a:extLst>
              <a:ext uri="{FF2B5EF4-FFF2-40B4-BE49-F238E27FC236}">
                <a16:creationId xmlns:a16="http://schemas.microsoft.com/office/drawing/2014/main" id="{FC99BEEA-B0DA-89F4-0538-8E15FAEE7CD7}"/>
              </a:ext>
            </a:extLst>
          </p:cNvPr>
          <p:cNvCxnSpPr/>
          <p:nvPr/>
        </p:nvCxnSpPr>
        <p:spPr>
          <a:xfrm flipV="1">
            <a:off x="7457296" y="1326961"/>
            <a:ext cx="1013401" cy="681656"/>
          </a:xfrm>
          <a:prstGeom prst="line">
            <a:avLst/>
          </a:prstGeom>
          <a:noFill/>
          <a:ln w="6350" cap="sq">
            <a:solidFill>
              <a:schemeClr val="accent2">
                <a:alpha val="100000"/>
              </a:schemeClr>
            </a:solidFill>
            <a:miter/>
          </a:ln>
        </p:spPr>
      </p:cxnSp>
      <p:cxnSp>
        <p:nvCxnSpPr>
          <p:cNvPr id="5" name="标题 1">
            <a:extLst>
              <a:ext uri="{FF2B5EF4-FFF2-40B4-BE49-F238E27FC236}">
                <a16:creationId xmlns:a16="http://schemas.microsoft.com/office/drawing/2014/main" id="{66781FBE-280C-FBA1-5354-B88C6A4C6F35}"/>
              </a:ext>
            </a:extLst>
          </p:cNvPr>
          <p:cNvCxnSpPr/>
          <p:nvPr/>
        </p:nvCxnSpPr>
        <p:spPr>
          <a:xfrm flipV="1">
            <a:off x="2754689" y="1335216"/>
            <a:ext cx="1013402" cy="681656"/>
          </a:xfrm>
          <a:prstGeom prst="line">
            <a:avLst/>
          </a:prstGeom>
          <a:noFill/>
          <a:ln w="6350" cap="flat">
            <a:solidFill>
              <a:schemeClr val="accent1">
                <a:alpha val="100000"/>
              </a:schemeClr>
            </a:solidFill>
            <a:miter/>
          </a:ln>
        </p:spPr>
      </p:cxnSp>
      <p:sp>
        <p:nvSpPr>
          <p:cNvPr id="6" name="标题 1">
            <a:extLst>
              <a:ext uri="{FF2B5EF4-FFF2-40B4-BE49-F238E27FC236}">
                <a16:creationId xmlns:a16="http://schemas.microsoft.com/office/drawing/2014/main" id="{B4234C5B-84B8-A698-82C9-B3AF4B6440D8}"/>
              </a:ext>
            </a:extLst>
          </p:cNvPr>
          <p:cNvSpPr txBox="1"/>
          <p:nvPr/>
        </p:nvSpPr>
        <p:spPr>
          <a:xfrm>
            <a:off x="6597172" y="1919717"/>
            <a:ext cx="3724250" cy="4239782"/>
          </a:xfrm>
          <a:prstGeom prst="roundRect">
            <a:avLst>
              <a:gd name="adj" fmla="val 8165"/>
            </a:avLst>
          </a:prstGeom>
          <a:solidFill>
            <a:schemeClr val="bg1"/>
          </a:solidFill>
          <a:ln w="63500" cap="sq">
            <a:solidFill>
              <a:schemeClr val="accent2"/>
            </a:solidFill>
            <a:miter/>
          </a:ln>
          <a:effectLst>
            <a:outerShdw blurRad="127000" dist="63500" dir="5400000" algn="t" rotWithShape="0">
              <a:srgbClr val="000000">
                <a:alpha val="20000"/>
              </a:srgbClr>
            </a:outerShdw>
          </a:effectLst>
        </p:spPr>
        <p:txBody>
          <a:bodyPr vert="horz" wrap="square" lIns="91440" tIns="45720" rIns="91440" bIns="45720" rtlCol="0" anchor="ctr"/>
          <a:lstStyle/>
          <a:p>
            <a:pPr algn="ctr"/>
            <a:endParaRPr kumimoji="1" lang="zh-CN" altLang="en-US"/>
          </a:p>
        </p:txBody>
      </p:sp>
      <p:sp>
        <p:nvSpPr>
          <p:cNvPr id="7" name="标题 1">
            <a:extLst>
              <a:ext uri="{FF2B5EF4-FFF2-40B4-BE49-F238E27FC236}">
                <a16:creationId xmlns:a16="http://schemas.microsoft.com/office/drawing/2014/main" id="{08D18B0A-D89D-72AB-F13D-F0E56ABA3D7C}"/>
              </a:ext>
            </a:extLst>
          </p:cNvPr>
          <p:cNvSpPr txBox="1"/>
          <p:nvPr/>
        </p:nvSpPr>
        <p:spPr>
          <a:xfrm>
            <a:off x="3619478" y="1181099"/>
            <a:ext cx="299823" cy="293817"/>
          </a:xfrm>
          <a:prstGeom prst="ellipse">
            <a:avLst/>
          </a:prstGeom>
          <a:solidFill>
            <a:schemeClr val="bg1"/>
          </a:solidFill>
          <a:ln w="38100" cap="sq">
            <a:solidFill>
              <a:schemeClr val="accent1"/>
            </a:solidFill>
            <a:miter/>
          </a:ln>
          <a:effectLst>
            <a:outerShdw dist="38100" dir="2700000" algn="tl" rotWithShape="0">
              <a:srgbClr val="000000">
                <a:alpha val="40000"/>
              </a:srgbClr>
            </a:outerShdw>
          </a:effectLst>
        </p:spPr>
        <p:txBody>
          <a:bodyPr vert="horz" wrap="square" lIns="91440" tIns="45720" rIns="91440" bIns="45720" rtlCol="0" anchor="ctr"/>
          <a:lstStyle/>
          <a:p>
            <a:pPr algn="ctr"/>
            <a:endParaRPr kumimoji="1" lang="zh-CN" altLang="en-US"/>
          </a:p>
        </p:txBody>
      </p:sp>
      <p:sp>
        <p:nvSpPr>
          <p:cNvPr id="8" name="标题 1">
            <a:extLst>
              <a:ext uri="{FF2B5EF4-FFF2-40B4-BE49-F238E27FC236}">
                <a16:creationId xmlns:a16="http://schemas.microsoft.com/office/drawing/2014/main" id="{D267B996-CC33-0B23-545C-BC49E67730F5}"/>
              </a:ext>
            </a:extLst>
          </p:cNvPr>
          <p:cNvSpPr txBox="1"/>
          <p:nvPr/>
        </p:nvSpPr>
        <p:spPr>
          <a:xfrm>
            <a:off x="1958064" y="1927972"/>
            <a:ext cx="3597251" cy="4239784"/>
          </a:xfrm>
          <a:prstGeom prst="roundRect">
            <a:avLst>
              <a:gd name="adj" fmla="val 8165"/>
            </a:avLst>
          </a:prstGeom>
          <a:solidFill>
            <a:schemeClr val="bg1"/>
          </a:solidFill>
          <a:ln w="63500" cap="sq">
            <a:solidFill>
              <a:schemeClr val="accent1"/>
            </a:solidFill>
            <a:miter/>
          </a:ln>
          <a:effectLst>
            <a:outerShdw blurRad="127000" dist="63500" dir="5400000" algn="t" rotWithShape="0">
              <a:srgbClr val="000000">
                <a:alpha val="20000"/>
              </a:srgbClr>
            </a:outerShdw>
          </a:effectLst>
        </p:spPr>
        <p:txBody>
          <a:bodyPr vert="horz" wrap="square" lIns="91440" tIns="45720" rIns="91440" bIns="45720" rtlCol="0" anchor="ctr"/>
          <a:lstStyle/>
          <a:p>
            <a:pPr algn="ctr"/>
            <a:endParaRPr kumimoji="1" lang="zh-CN" altLang="en-US"/>
          </a:p>
        </p:txBody>
      </p:sp>
      <p:sp>
        <p:nvSpPr>
          <p:cNvPr id="9" name="标题 1">
            <a:extLst>
              <a:ext uri="{FF2B5EF4-FFF2-40B4-BE49-F238E27FC236}">
                <a16:creationId xmlns:a16="http://schemas.microsoft.com/office/drawing/2014/main" id="{C392FCB0-9A1F-6C35-3663-DE06CD73CBB0}"/>
              </a:ext>
            </a:extLst>
          </p:cNvPr>
          <p:cNvSpPr txBox="1"/>
          <p:nvPr/>
        </p:nvSpPr>
        <p:spPr>
          <a:xfrm>
            <a:off x="2124578" y="2111957"/>
            <a:ext cx="1498600" cy="815340"/>
          </a:xfrm>
          <a:prstGeom prst="rect">
            <a:avLst/>
          </a:prstGeom>
          <a:noFill/>
          <a:ln cap="sq">
            <a:noFill/>
          </a:ln>
        </p:spPr>
        <p:txBody>
          <a:bodyPr vert="horz" wrap="square" lIns="91440" tIns="45720" rIns="91440" bIns="45720" rtlCol="0" anchor="ctr"/>
          <a:lstStyle/>
          <a:p>
            <a:pPr algn="l"/>
            <a:r>
              <a:rPr kumimoji="1" lang="en-US" altLang="zh-CN" sz="4400">
                <a:ln w="12700">
                  <a:noFill/>
                </a:ln>
                <a:solidFill>
                  <a:srgbClr val="F2F2F2">
                    <a:alpha val="100000"/>
                  </a:srgbClr>
                </a:solidFill>
                <a:latin typeface="poppins-bold"/>
                <a:ea typeface="poppins-bold"/>
                <a:cs typeface="poppins-bold"/>
              </a:rPr>
              <a:t>01</a:t>
            </a:r>
            <a:endParaRPr kumimoji="1" lang="zh-CN" altLang="en-US"/>
          </a:p>
        </p:txBody>
      </p:sp>
      <p:sp>
        <p:nvSpPr>
          <p:cNvPr id="10" name="标题 1">
            <a:extLst>
              <a:ext uri="{FF2B5EF4-FFF2-40B4-BE49-F238E27FC236}">
                <a16:creationId xmlns:a16="http://schemas.microsoft.com/office/drawing/2014/main" id="{25948481-6EA1-0BC5-69F7-1B927D12D067}"/>
              </a:ext>
            </a:extLst>
          </p:cNvPr>
          <p:cNvSpPr txBox="1"/>
          <p:nvPr/>
        </p:nvSpPr>
        <p:spPr>
          <a:xfrm>
            <a:off x="2124578" y="2159233"/>
            <a:ext cx="3238500" cy="621389"/>
          </a:xfrm>
          <a:prstGeom prst="rect">
            <a:avLst/>
          </a:prstGeom>
          <a:noFill/>
          <a:ln cap="sq">
            <a:noFill/>
          </a:ln>
        </p:spPr>
        <p:txBody>
          <a:bodyPr vert="horz" wrap="square" lIns="91440" tIns="45720" rIns="91440" bIns="45720" rtlCol="0" anchor="ctr"/>
          <a:lstStyle/>
          <a:p>
            <a:r>
              <a:rPr lang="es-ES" sz="1600" b="1" dirty="0"/>
              <a:t>Características Clave:</a:t>
            </a:r>
            <a:endParaRPr lang="es-ES" sz="1600" dirty="0"/>
          </a:p>
        </p:txBody>
      </p:sp>
      <p:sp>
        <p:nvSpPr>
          <p:cNvPr id="11" name="标题 1">
            <a:extLst>
              <a:ext uri="{FF2B5EF4-FFF2-40B4-BE49-F238E27FC236}">
                <a16:creationId xmlns:a16="http://schemas.microsoft.com/office/drawing/2014/main" id="{9D634CEC-4A4B-3619-67F5-C2AE83DFE152}"/>
              </a:ext>
            </a:extLst>
          </p:cNvPr>
          <p:cNvSpPr txBox="1"/>
          <p:nvPr/>
        </p:nvSpPr>
        <p:spPr>
          <a:xfrm>
            <a:off x="2134886" y="2827898"/>
            <a:ext cx="3243606" cy="2973134"/>
          </a:xfrm>
          <a:prstGeom prst="rect">
            <a:avLst/>
          </a:prstGeom>
          <a:noFill/>
          <a:ln cap="sq">
            <a:noFill/>
          </a:ln>
        </p:spPr>
        <p:txBody>
          <a:bodyPr vert="horz" wrap="square" lIns="91440" tIns="45720" rIns="91440" bIns="45720" rtlCol="0" anchor="t"/>
          <a:lstStyle/>
          <a:p>
            <a:r>
              <a:rPr lang="es-ES" sz="1400" b="1" dirty="0"/>
              <a:t>Es un estándar certificable:</a:t>
            </a:r>
            <a:r>
              <a:rPr lang="es-ES" sz="1400" dirty="0"/>
              <a:t> A diferencia de ITIL, una organización completa puede obtener la certificación ISO 20000 tras una auditoría externa.</a:t>
            </a:r>
          </a:p>
          <a:p>
            <a:r>
              <a:rPr lang="es-ES" sz="1400" b="1" dirty="0"/>
              <a:t>Está basado en ITIL:</a:t>
            </a:r>
            <a:r>
              <a:rPr lang="es-ES" sz="1400" dirty="0"/>
              <a:t> Muchos de los procesos y requisitos de la ISO 20000 están inspirados y alineados con las buenas prácticas de ITIL.</a:t>
            </a:r>
          </a:p>
          <a:p>
            <a:r>
              <a:rPr lang="es-ES" sz="1400" b="1" dirty="0"/>
              <a:t>Enfoque en el "Plan-Do-</a:t>
            </a:r>
            <a:r>
              <a:rPr lang="es-ES" sz="1400" b="1" dirty="0" err="1"/>
              <a:t>Check</a:t>
            </a:r>
            <a:r>
              <a:rPr lang="es-ES" sz="1400" b="1" dirty="0"/>
              <a:t>-</a:t>
            </a:r>
            <a:r>
              <a:rPr lang="es-ES" sz="1400" b="1" dirty="0" err="1"/>
              <a:t>Act</a:t>
            </a:r>
            <a:r>
              <a:rPr lang="es-ES" sz="1400" b="1" dirty="0"/>
              <a:t>" (PDCA):</a:t>
            </a:r>
            <a:r>
              <a:rPr lang="es-ES" sz="1400" dirty="0"/>
              <a:t> Exige un ciclo de mejora continua para todos los procesos del Sistema de Gestión de Servicios.</a:t>
            </a:r>
          </a:p>
        </p:txBody>
      </p:sp>
      <p:sp>
        <p:nvSpPr>
          <p:cNvPr id="12" name="标题 1">
            <a:extLst>
              <a:ext uri="{FF2B5EF4-FFF2-40B4-BE49-F238E27FC236}">
                <a16:creationId xmlns:a16="http://schemas.microsoft.com/office/drawing/2014/main" id="{B6B2B062-C49B-4172-D216-7DC4C4C2A96B}"/>
              </a:ext>
            </a:extLst>
          </p:cNvPr>
          <p:cNvSpPr txBox="1"/>
          <p:nvPr/>
        </p:nvSpPr>
        <p:spPr>
          <a:xfrm>
            <a:off x="6775679" y="2103702"/>
            <a:ext cx="1498600" cy="815340"/>
          </a:xfrm>
          <a:prstGeom prst="rect">
            <a:avLst/>
          </a:prstGeom>
          <a:noFill/>
          <a:ln cap="sq">
            <a:noFill/>
          </a:ln>
        </p:spPr>
        <p:txBody>
          <a:bodyPr vert="horz" wrap="square" lIns="91440" tIns="45720" rIns="91440" bIns="45720" rtlCol="0" anchor="ctr"/>
          <a:lstStyle/>
          <a:p>
            <a:pPr algn="l"/>
            <a:r>
              <a:rPr kumimoji="1" lang="en-US" altLang="zh-CN" sz="4400">
                <a:ln w="12700">
                  <a:noFill/>
                </a:ln>
                <a:solidFill>
                  <a:srgbClr val="F2F2F2">
                    <a:alpha val="100000"/>
                  </a:srgbClr>
                </a:solidFill>
                <a:latin typeface="poppins-bold"/>
                <a:ea typeface="poppins-bold"/>
                <a:cs typeface="poppins-bold"/>
              </a:rPr>
              <a:t>02</a:t>
            </a:r>
            <a:endParaRPr kumimoji="1" lang="zh-CN" altLang="en-US"/>
          </a:p>
        </p:txBody>
      </p:sp>
      <p:sp>
        <p:nvSpPr>
          <p:cNvPr id="13" name="标题 1">
            <a:extLst>
              <a:ext uri="{FF2B5EF4-FFF2-40B4-BE49-F238E27FC236}">
                <a16:creationId xmlns:a16="http://schemas.microsoft.com/office/drawing/2014/main" id="{288513E7-61DC-0FDF-A672-71BA4B62557B}"/>
              </a:ext>
            </a:extLst>
          </p:cNvPr>
          <p:cNvSpPr txBox="1"/>
          <p:nvPr/>
        </p:nvSpPr>
        <p:spPr>
          <a:xfrm>
            <a:off x="6801946" y="2177759"/>
            <a:ext cx="3314700" cy="621389"/>
          </a:xfrm>
          <a:prstGeom prst="rect">
            <a:avLst/>
          </a:prstGeom>
          <a:noFill/>
          <a:ln cap="sq">
            <a:noFill/>
          </a:ln>
        </p:spPr>
        <p:txBody>
          <a:bodyPr vert="horz" wrap="square" lIns="91440" tIns="45720" rIns="91440" bIns="45720" rtlCol="0" anchor="ctr"/>
          <a:lstStyle/>
          <a:p>
            <a:pPr algn="l"/>
            <a:r>
              <a:rPr kumimoji="1" lang="es-EC" altLang="zh-CN" b="1" dirty="0"/>
              <a:t>Analogía</a:t>
            </a:r>
            <a:endParaRPr kumimoji="1" lang="zh-CN" altLang="en-US" b="1" dirty="0"/>
          </a:p>
        </p:txBody>
      </p:sp>
      <p:sp>
        <p:nvSpPr>
          <p:cNvPr id="14" name="标题 1">
            <a:extLst>
              <a:ext uri="{FF2B5EF4-FFF2-40B4-BE49-F238E27FC236}">
                <a16:creationId xmlns:a16="http://schemas.microsoft.com/office/drawing/2014/main" id="{F4997267-81E5-628B-1793-9962B3C7E59A}"/>
              </a:ext>
            </a:extLst>
          </p:cNvPr>
          <p:cNvSpPr txBox="1"/>
          <p:nvPr/>
        </p:nvSpPr>
        <p:spPr>
          <a:xfrm>
            <a:off x="6775679" y="2827898"/>
            <a:ext cx="3316199" cy="2973134"/>
          </a:xfrm>
          <a:prstGeom prst="rect">
            <a:avLst/>
          </a:prstGeom>
          <a:noFill/>
          <a:ln cap="sq">
            <a:noFill/>
          </a:ln>
        </p:spPr>
        <p:txBody>
          <a:bodyPr vert="horz" wrap="square" lIns="91440" tIns="45720" rIns="91440" bIns="45720" rtlCol="0" anchor="t"/>
          <a:lstStyle/>
          <a:p>
            <a:r>
              <a:rPr lang="es-ES" sz="1400" dirty="0"/>
              <a:t>Siguiendo el ejemplo anterior, la ISO 20000 sería como la </a:t>
            </a:r>
            <a:r>
              <a:rPr lang="es-ES" sz="1400" b="1" dirty="0"/>
              <a:t>inspección de sanidad o la obtención de una Estrella Michelin para tu restaurante</a:t>
            </a:r>
            <a:r>
              <a:rPr lang="es-ES" sz="1400" dirty="0"/>
              <a:t>. El inspector (auditor) no te dice cómo cocinar (eso es ITIL), pero verifica que cumples con una serie de requisitos obligatorios (higiene, calidad de ingredientes, procesos definidos) para darte un sello de calidad que garantiza a tus clientes que tu restaurante es de primera.</a:t>
            </a:r>
            <a:endParaRPr kumimoji="1" lang="zh-CN" altLang="en-US" dirty="0"/>
          </a:p>
        </p:txBody>
      </p:sp>
      <p:sp>
        <p:nvSpPr>
          <p:cNvPr id="15" name="标题 1">
            <a:extLst>
              <a:ext uri="{FF2B5EF4-FFF2-40B4-BE49-F238E27FC236}">
                <a16:creationId xmlns:a16="http://schemas.microsoft.com/office/drawing/2014/main" id="{EC9E5291-A0A7-C04E-E67E-261223D62371}"/>
              </a:ext>
            </a:extLst>
          </p:cNvPr>
          <p:cNvSpPr txBox="1"/>
          <p:nvPr/>
        </p:nvSpPr>
        <p:spPr>
          <a:xfrm>
            <a:off x="8322086" y="1172844"/>
            <a:ext cx="299823" cy="293817"/>
          </a:xfrm>
          <a:prstGeom prst="ellipse">
            <a:avLst/>
          </a:prstGeom>
          <a:solidFill>
            <a:schemeClr val="bg1"/>
          </a:solidFill>
          <a:ln w="38100" cap="sq">
            <a:solidFill>
              <a:schemeClr val="accent2"/>
            </a:solidFill>
            <a:miter/>
          </a:ln>
          <a:effectLst>
            <a:outerShdw dist="38100" dir="2700000" algn="tl" rotWithShape="0">
              <a:srgbClr val="000000">
                <a:alpha val="40000"/>
              </a:srgbClr>
            </a:outerShdw>
          </a:effectLst>
        </p:spPr>
        <p:txBody>
          <a:bodyPr vert="horz" wrap="square" lIns="91440" tIns="45720" rIns="91440" bIns="45720" rtlCol="0" anchor="ctr"/>
          <a:lstStyle/>
          <a:p>
            <a:pPr algn="ctr"/>
            <a:endParaRPr kumimoji="1" lang="zh-CN" altLang="en-US"/>
          </a:p>
        </p:txBody>
      </p:sp>
      <p:sp>
        <p:nvSpPr>
          <p:cNvPr id="16" name="标题 1">
            <a:extLst>
              <a:ext uri="{FF2B5EF4-FFF2-40B4-BE49-F238E27FC236}">
                <a16:creationId xmlns:a16="http://schemas.microsoft.com/office/drawing/2014/main" id="{C966E0B5-35A3-DF9C-A082-B221899E2674}"/>
              </a:ext>
            </a:extLst>
          </p:cNvPr>
          <p:cNvSpPr txBox="1"/>
          <p:nvPr/>
        </p:nvSpPr>
        <p:spPr>
          <a:xfrm>
            <a:off x="787215" y="385281"/>
            <a:ext cx="10671175" cy="468000"/>
          </a:xfrm>
          <a:prstGeom prst="rect">
            <a:avLst/>
          </a:prstGeom>
          <a:noFill/>
          <a:ln>
            <a:noFill/>
          </a:ln>
        </p:spPr>
        <p:txBody>
          <a:bodyPr vert="horz" wrap="square" lIns="0" tIns="0" rIns="0" bIns="0" rtlCol="0" anchor="ctr"/>
          <a:lstStyle/>
          <a:p>
            <a:r>
              <a:rPr kumimoji="1" lang="en-US" altLang="zh-CN" sz="2800" dirty="0">
                <a:ln w="12700">
                  <a:noFill/>
                </a:ln>
                <a:solidFill>
                  <a:srgbClr val="262626">
                    <a:alpha val="100000"/>
                  </a:srgbClr>
                </a:solidFill>
                <a:latin typeface="poppins-bold"/>
                <a:ea typeface="poppins-bold"/>
                <a:cs typeface="poppins-bold"/>
              </a:rPr>
              <a:t>Introducción a ISO/IEC 20000</a:t>
            </a:r>
            <a:endParaRPr kumimoji="1" lang="zh-CN" altLang="en-US" sz="2800" dirty="0"/>
          </a:p>
        </p:txBody>
      </p:sp>
      <p:sp>
        <p:nvSpPr>
          <p:cNvPr id="17" name="标题 1">
            <a:extLst>
              <a:ext uri="{FF2B5EF4-FFF2-40B4-BE49-F238E27FC236}">
                <a16:creationId xmlns:a16="http://schemas.microsoft.com/office/drawing/2014/main" id="{217772DF-0995-1423-1DAB-0176E09DC0C0}"/>
              </a:ext>
            </a:extLst>
          </p:cNvPr>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8" name="标题 1">
            <a:extLst>
              <a:ext uri="{FF2B5EF4-FFF2-40B4-BE49-F238E27FC236}">
                <a16:creationId xmlns:a16="http://schemas.microsoft.com/office/drawing/2014/main" id="{3D528E8C-E571-122C-0661-D41883943480}"/>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9" name="Imagen 18">
            <a:extLst>
              <a:ext uri="{FF2B5EF4-FFF2-40B4-BE49-F238E27FC236}">
                <a16:creationId xmlns:a16="http://schemas.microsoft.com/office/drawing/2014/main" id="{003673B6-3122-D8A8-71E6-59FF823102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808000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220B-E6F9-28FA-0EE0-02956261A16C}"/>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C22D1FFB-6213-E2B9-3EAF-EE97E15ADA6C}"/>
              </a:ext>
            </a:extLst>
          </p:cNvPr>
          <p:cNvSpPr txBox="1"/>
          <p:nvPr/>
        </p:nvSpPr>
        <p:spPr>
          <a:xfrm>
            <a:off x="7561444" y="1249707"/>
            <a:ext cx="4320000" cy="307777"/>
          </a:xfrm>
          <a:prstGeom prst="rect">
            <a:avLst/>
          </a:prstGeom>
          <a:noFill/>
          <a:ln cap="sq">
            <a:noFill/>
          </a:ln>
          <a:effectLst/>
        </p:spPr>
        <p:txBody>
          <a:bodyPr vert="horz" wrap="square" lIns="0" tIns="0" rIns="0" bIns="0" rtlCol="0" anchor="ctr"/>
          <a:lstStyle/>
          <a:p>
            <a:r>
              <a:rPr lang="es-EC" sz="1600" b="1" dirty="0"/>
              <a:t>Características Clave</a:t>
            </a:r>
            <a:r>
              <a:rPr lang="es-EC" sz="1600" dirty="0"/>
              <a:t>:</a:t>
            </a:r>
            <a:endParaRPr kumimoji="1" lang="zh-CN" altLang="en-US" dirty="0"/>
          </a:p>
        </p:txBody>
      </p:sp>
      <p:sp>
        <p:nvSpPr>
          <p:cNvPr id="7" name="标题 1">
            <a:extLst>
              <a:ext uri="{FF2B5EF4-FFF2-40B4-BE49-F238E27FC236}">
                <a16:creationId xmlns:a16="http://schemas.microsoft.com/office/drawing/2014/main" id="{5CA97DB0-DA6B-C114-2A19-4BCF03B6FCC9}"/>
              </a:ext>
            </a:extLst>
          </p:cNvPr>
          <p:cNvSpPr txBox="1"/>
          <p:nvPr/>
        </p:nvSpPr>
        <p:spPr>
          <a:xfrm>
            <a:off x="6600343" y="1732903"/>
            <a:ext cx="4559269" cy="3163562"/>
          </a:xfrm>
          <a:prstGeom prst="rect">
            <a:avLst/>
          </a:prstGeom>
          <a:noFill/>
          <a:ln>
            <a:noFill/>
          </a:ln>
        </p:spPr>
        <p:txBody>
          <a:bodyPr vert="horz" wrap="square" lIns="0" tIns="0" rIns="0" bIns="0" rtlCol="0" anchor="t"/>
          <a:lstStyle/>
          <a:p>
            <a:pPr lvl="0" eaLnBrk="0" fontAlgn="base" hangingPunct="0">
              <a:spcBef>
                <a:spcPct val="0"/>
              </a:spcBef>
              <a:spcAft>
                <a:spcPct val="0"/>
              </a:spcAft>
              <a:buFontTx/>
              <a:buChar char="•"/>
            </a:pPr>
            <a:r>
              <a:rPr kumimoji="0" lang="es-EC" altLang="es-EC" sz="1400" b="1" i="0" u="none" strike="noStrike" cap="none" normalizeH="0" baseline="0" dirty="0">
                <a:ln>
                  <a:noFill/>
                </a:ln>
                <a:solidFill>
                  <a:schemeClr val="tx1"/>
                </a:solidFill>
                <a:effectLst/>
                <a:latin typeface="Arial" panose="020B0604020202020204" pitchFamily="34" charset="0"/>
              </a:rPr>
              <a:t>Basada en la gestión de riesgos:</a:t>
            </a:r>
            <a:r>
              <a:rPr kumimoji="0" lang="es-EC" altLang="es-EC" sz="1400" b="0" i="0" u="none" strike="noStrike" cap="none" normalizeH="0" baseline="0" dirty="0">
                <a:ln>
                  <a:noFill/>
                </a:ln>
                <a:solidFill>
                  <a:schemeClr val="tx1"/>
                </a:solidFill>
                <a:effectLst/>
                <a:latin typeface="Arial" panose="020B0604020202020204" pitchFamily="34" charset="0"/>
              </a:rPr>
              <a:t> El núcleo de la norma es identificar, analizar y tratar los riesgos de seguridad de la información.</a:t>
            </a:r>
          </a:p>
          <a:p>
            <a:pPr lvl="0" eaLnBrk="0" fontAlgn="base" hangingPunct="0">
              <a:spcBef>
                <a:spcPct val="0"/>
              </a:spcBef>
              <a:spcAft>
                <a:spcPct val="0"/>
              </a:spcAft>
              <a:buFontTx/>
              <a:buChar char="•"/>
            </a:pPr>
            <a:endParaRPr kumimoji="0" lang="es-EC" altLang="es-EC" sz="1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es-EC" altLang="es-EC" sz="1400" b="1" i="0" u="none" strike="noStrike" cap="none" normalizeH="0" baseline="0" dirty="0">
                <a:ln>
                  <a:noFill/>
                </a:ln>
                <a:solidFill>
                  <a:schemeClr val="tx1"/>
                </a:solidFill>
                <a:effectLst/>
                <a:latin typeface="Arial" panose="020B0604020202020204" pitchFamily="34" charset="0"/>
              </a:rPr>
              <a:t>Triada de la Seguridad (CID):</a:t>
            </a:r>
            <a:r>
              <a:rPr kumimoji="0" lang="es-EC" altLang="es-EC" sz="1400" b="0" i="0" u="none" strike="noStrike" cap="none" normalizeH="0" baseline="0" dirty="0">
                <a:ln>
                  <a:noFill/>
                </a:ln>
                <a:solidFill>
                  <a:schemeClr val="tx1"/>
                </a:solidFill>
                <a:effectLst/>
                <a:latin typeface="Arial" panose="020B0604020202020204" pitchFamily="34" charset="0"/>
              </a:rPr>
              <a:t> Su fin último es proteger:</a:t>
            </a:r>
          </a:p>
          <a:p>
            <a:pPr lvl="0" eaLnBrk="0" fontAlgn="base" hangingPunct="0">
              <a:spcBef>
                <a:spcPct val="0"/>
              </a:spcBef>
              <a:spcAft>
                <a:spcPct val="0"/>
              </a:spcAft>
              <a:buFontTx/>
              <a:buChar char="•"/>
            </a:pPr>
            <a:endParaRPr kumimoji="0" lang="es-EC" altLang="es-EC" sz="1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es-EC" altLang="es-EC" sz="1400" b="1" i="0" u="none" strike="noStrike" cap="none" normalizeH="0" baseline="0" dirty="0">
                <a:ln>
                  <a:noFill/>
                </a:ln>
                <a:solidFill>
                  <a:schemeClr val="tx1"/>
                </a:solidFill>
                <a:effectLst/>
                <a:latin typeface="Arial" panose="020B0604020202020204" pitchFamily="34" charset="0"/>
              </a:rPr>
              <a:t>Confidencialidad:</a:t>
            </a:r>
            <a:r>
              <a:rPr kumimoji="0" lang="es-EC" altLang="es-EC" sz="1400" b="0" i="0" u="none" strike="noStrike" cap="none" normalizeH="0" baseline="0" dirty="0">
                <a:ln>
                  <a:noFill/>
                </a:ln>
                <a:solidFill>
                  <a:schemeClr val="tx1"/>
                </a:solidFill>
                <a:effectLst/>
                <a:latin typeface="Arial" panose="020B0604020202020204" pitchFamily="34" charset="0"/>
              </a:rPr>
              <a:t> Que la información solo sea accesible por personal autorizado.</a:t>
            </a:r>
          </a:p>
          <a:p>
            <a:pPr lvl="0" eaLnBrk="0" fontAlgn="base" hangingPunct="0">
              <a:spcBef>
                <a:spcPct val="0"/>
              </a:spcBef>
              <a:spcAft>
                <a:spcPct val="0"/>
              </a:spcAft>
              <a:buFontTx/>
              <a:buChar char="•"/>
            </a:pPr>
            <a:endParaRPr kumimoji="0" lang="es-EC" altLang="es-EC" sz="1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es-EC" altLang="es-EC" sz="1400" b="1" i="0" u="none" strike="noStrike" cap="none" normalizeH="0" baseline="0" dirty="0">
                <a:ln>
                  <a:noFill/>
                </a:ln>
                <a:solidFill>
                  <a:schemeClr val="tx1"/>
                </a:solidFill>
                <a:effectLst/>
                <a:latin typeface="Arial" panose="020B0604020202020204" pitchFamily="34" charset="0"/>
              </a:rPr>
              <a:t>Integridad:</a:t>
            </a:r>
            <a:r>
              <a:rPr kumimoji="0" lang="es-EC" altLang="es-EC" sz="1400" b="0" i="0" u="none" strike="noStrike" cap="none" normalizeH="0" baseline="0" dirty="0">
                <a:ln>
                  <a:noFill/>
                </a:ln>
                <a:solidFill>
                  <a:schemeClr val="tx1"/>
                </a:solidFill>
                <a:effectLst/>
                <a:latin typeface="Arial" panose="020B0604020202020204" pitchFamily="34" charset="0"/>
              </a:rPr>
              <a:t> Que la información sea precisa y completa, y no pueda ser modificada sin autorización.</a:t>
            </a:r>
          </a:p>
          <a:p>
            <a:pPr lvl="0" eaLnBrk="0" fontAlgn="base" hangingPunct="0">
              <a:spcBef>
                <a:spcPct val="0"/>
              </a:spcBef>
              <a:spcAft>
                <a:spcPct val="0"/>
              </a:spcAft>
              <a:buFontTx/>
              <a:buChar char="•"/>
            </a:pPr>
            <a:endParaRPr kumimoji="0" lang="es-EC" altLang="es-EC" sz="1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es-EC" altLang="es-EC" sz="1400" b="1" i="0" u="none" strike="noStrike" cap="none" normalizeH="0" baseline="0" dirty="0">
                <a:ln>
                  <a:noFill/>
                </a:ln>
                <a:solidFill>
                  <a:schemeClr val="tx1"/>
                </a:solidFill>
                <a:effectLst/>
                <a:latin typeface="Arial" panose="020B0604020202020204" pitchFamily="34" charset="0"/>
              </a:rPr>
              <a:t>Disponibilidad:</a:t>
            </a:r>
            <a:r>
              <a:rPr kumimoji="0" lang="es-EC" altLang="es-EC" sz="1400" b="0" i="0" u="none" strike="noStrike" cap="none" normalizeH="0" baseline="0" dirty="0">
                <a:ln>
                  <a:noFill/>
                </a:ln>
                <a:solidFill>
                  <a:schemeClr val="tx1"/>
                </a:solidFill>
                <a:effectLst/>
                <a:latin typeface="Arial" panose="020B0604020202020204" pitchFamily="34" charset="0"/>
              </a:rPr>
              <a:t> Que la información esté accesible para el personal autorizado cuando la necesite.</a:t>
            </a:r>
          </a:p>
        </p:txBody>
      </p:sp>
      <p:sp>
        <p:nvSpPr>
          <p:cNvPr id="8" name="标题 1">
            <a:extLst>
              <a:ext uri="{FF2B5EF4-FFF2-40B4-BE49-F238E27FC236}">
                <a16:creationId xmlns:a16="http://schemas.microsoft.com/office/drawing/2014/main" id="{CC578C57-230D-AC65-A69D-163E2E1EB33F}"/>
              </a:ext>
            </a:extLst>
          </p:cNvPr>
          <p:cNvSpPr txBox="1"/>
          <p:nvPr/>
        </p:nvSpPr>
        <p:spPr>
          <a:xfrm>
            <a:off x="2730167" y="3593709"/>
            <a:ext cx="2719346" cy="276265"/>
          </a:xfrm>
          <a:prstGeom prst="rect">
            <a:avLst/>
          </a:prstGeom>
          <a:noFill/>
          <a:ln cap="sq">
            <a:noFill/>
          </a:ln>
          <a:effectLst/>
        </p:spPr>
        <p:txBody>
          <a:bodyPr vert="horz" wrap="square" lIns="0" tIns="0" rIns="0" bIns="0" rtlCol="0" anchor="ctr"/>
          <a:lstStyle/>
          <a:p>
            <a:pPr algn="l"/>
            <a:r>
              <a:rPr kumimoji="1" lang="en-US" altLang="zh-CN" sz="1600" dirty="0">
                <a:ln w="12700">
                  <a:noFill/>
                </a:ln>
                <a:solidFill>
                  <a:srgbClr val="000000">
                    <a:alpha val="100000"/>
                  </a:srgbClr>
                </a:solidFill>
                <a:latin typeface="poppins-bold"/>
                <a:ea typeface="poppins-bold"/>
                <a:cs typeface="poppins-bold"/>
              </a:rPr>
              <a:t>Analogia</a:t>
            </a:r>
            <a:endParaRPr kumimoji="1" lang="zh-CN" altLang="en-US" dirty="0"/>
          </a:p>
        </p:txBody>
      </p:sp>
      <p:sp>
        <p:nvSpPr>
          <p:cNvPr id="9" name="标题 1">
            <a:extLst>
              <a:ext uri="{FF2B5EF4-FFF2-40B4-BE49-F238E27FC236}">
                <a16:creationId xmlns:a16="http://schemas.microsoft.com/office/drawing/2014/main" id="{9D1C8DCD-C0B4-8A53-4E8E-A664DCE54FEF}"/>
              </a:ext>
            </a:extLst>
          </p:cNvPr>
          <p:cNvSpPr txBox="1"/>
          <p:nvPr/>
        </p:nvSpPr>
        <p:spPr>
          <a:xfrm>
            <a:off x="1467724" y="3969840"/>
            <a:ext cx="4320000" cy="1958520"/>
          </a:xfrm>
          <a:prstGeom prst="rect">
            <a:avLst/>
          </a:prstGeom>
          <a:noFill/>
          <a:ln>
            <a:noFill/>
          </a:ln>
        </p:spPr>
        <p:txBody>
          <a:bodyPr vert="horz" wrap="square" lIns="0" tIns="0" rIns="0" bIns="0" rtlCol="0" anchor="t"/>
          <a:lstStyle/>
          <a:p>
            <a:r>
              <a:rPr lang="es-ES" sz="1400" dirty="0">
                <a:latin typeface="Arial" panose="020B0604020202020204" pitchFamily="34" charset="0"/>
                <a:cs typeface="Arial" panose="020B0604020202020204" pitchFamily="34" charset="0"/>
              </a:rPr>
              <a:t>Piensa en la ISO 27001 como el </a:t>
            </a:r>
            <a:r>
              <a:rPr lang="es-ES" sz="1400" b="1" dirty="0">
                <a:latin typeface="Arial" panose="020B0604020202020204" pitchFamily="34" charset="0"/>
                <a:cs typeface="Arial" panose="020B0604020202020204" pitchFamily="34" charset="0"/>
              </a:rPr>
              <a:t>sistema de seguridad completo de un banco</a:t>
            </a:r>
            <a:r>
              <a:rPr lang="es-ES" sz="1400" dirty="0">
                <a:latin typeface="Arial" panose="020B0604020202020204" pitchFamily="34" charset="0"/>
                <a:cs typeface="Arial" panose="020B0604020202020204" pitchFamily="34" charset="0"/>
              </a:rPr>
              <a:t>. No se trata solo de tener una caja fuerte (un firewall). Implica definir quién tiene las llaves (control de acceso), tener cámaras de vigilancia (monitoreo), guardias de seguridad (políticas), un plan en caso de robo (respuesta a incidentes) y verificar que todo funcione. Es un sistema integral para proteger el activo más valioso: el dinero (la información).</a:t>
            </a:r>
            <a:endParaRPr kumimoji="1" lang="zh-CN" altLang="en-US" sz="1400" dirty="0">
              <a:latin typeface="Arial" panose="020B0604020202020204" pitchFamily="34" charset="0"/>
              <a:cs typeface="Arial" panose="020B0604020202020204" pitchFamily="34" charset="0"/>
            </a:endParaRPr>
          </a:p>
        </p:txBody>
      </p:sp>
      <p:sp>
        <p:nvSpPr>
          <p:cNvPr id="12" name="标题 1">
            <a:extLst>
              <a:ext uri="{FF2B5EF4-FFF2-40B4-BE49-F238E27FC236}">
                <a16:creationId xmlns:a16="http://schemas.microsoft.com/office/drawing/2014/main" id="{C86CAE2A-AC3D-4C2F-C323-3E5FFEE7AEB4}"/>
              </a:ext>
            </a:extLst>
          </p:cNvPr>
          <p:cNvSpPr txBox="1"/>
          <p:nvPr/>
        </p:nvSpPr>
        <p:spPr>
          <a:xfrm>
            <a:off x="787215" y="385281"/>
            <a:ext cx="10671175" cy="468000"/>
          </a:xfrm>
          <a:prstGeom prst="rect">
            <a:avLst/>
          </a:prstGeom>
          <a:noFill/>
          <a:ln>
            <a:noFill/>
          </a:ln>
        </p:spPr>
        <p:txBody>
          <a:bodyPr vert="horz" wrap="square" lIns="0" tIns="0" rIns="0" bIns="0" rtlCol="0" anchor="ctr"/>
          <a:lstStyle/>
          <a:p>
            <a:r>
              <a:rPr kumimoji="1" lang="en-US" altLang="zh-CN" sz="2800" dirty="0">
                <a:ln w="12700">
                  <a:noFill/>
                </a:ln>
                <a:solidFill>
                  <a:srgbClr val="262626">
                    <a:alpha val="100000"/>
                  </a:srgbClr>
                </a:solidFill>
                <a:latin typeface="poppins-bold"/>
                <a:ea typeface="poppins-bold"/>
                <a:cs typeface="poppins-bold"/>
              </a:rPr>
              <a:t>Introducción a ISO/IEC 27001</a:t>
            </a:r>
            <a:endParaRPr kumimoji="1" lang="zh-CN" altLang="en-US" sz="2800" dirty="0"/>
          </a:p>
        </p:txBody>
      </p:sp>
      <p:sp>
        <p:nvSpPr>
          <p:cNvPr id="13" name="标题 1">
            <a:extLst>
              <a:ext uri="{FF2B5EF4-FFF2-40B4-BE49-F238E27FC236}">
                <a16:creationId xmlns:a16="http://schemas.microsoft.com/office/drawing/2014/main" id="{CF02DDF1-D132-BB5D-01BE-89C0630DB518}"/>
              </a:ext>
            </a:extLst>
          </p:cNvPr>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a:extLst>
              <a:ext uri="{FF2B5EF4-FFF2-40B4-BE49-F238E27FC236}">
                <a16:creationId xmlns:a16="http://schemas.microsoft.com/office/drawing/2014/main" id="{2FF559AA-AE2F-DC21-F823-7E3DDD961BE5}"/>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3EEB46B9-2D47-63B6-B9DA-D64B6A2EC820}"/>
              </a:ext>
            </a:extLst>
          </p:cNvPr>
          <p:cNvSpPr txBox="1"/>
          <p:nvPr/>
        </p:nvSpPr>
        <p:spPr>
          <a:xfrm>
            <a:off x="1467724" y="2107665"/>
            <a:ext cx="3960000" cy="1445158"/>
          </a:xfrm>
          <a:prstGeom prst="rect">
            <a:avLst/>
          </a:prstGeom>
          <a:noFill/>
          <a:ln>
            <a:noFill/>
          </a:ln>
        </p:spPr>
        <p:txBody>
          <a:bodyPr vert="horz" wrap="square" lIns="0" tIns="0" rIns="0" bIns="0" rtlCol="0" anchor="t"/>
          <a:lstStyle/>
          <a:p>
            <a:pPr algn="ctr"/>
            <a:r>
              <a:rPr lang="es-ES" sz="1400" dirty="0">
                <a:latin typeface="Arial" panose="020B0604020202020204" pitchFamily="34" charset="0"/>
                <a:cs typeface="Arial" panose="020B0604020202020204" pitchFamily="34" charset="0"/>
              </a:rPr>
              <a:t>Es la </a:t>
            </a:r>
            <a:r>
              <a:rPr lang="es-ES" sz="1400" b="1" dirty="0">
                <a:latin typeface="Arial" panose="020B0604020202020204" pitchFamily="34" charset="0"/>
                <a:cs typeface="Arial" panose="020B0604020202020204" pitchFamily="34" charset="0"/>
              </a:rPr>
              <a:t>norma internacional</a:t>
            </a:r>
            <a:r>
              <a:rPr lang="es-ES" sz="1400" dirty="0">
                <a:latin typeface="Arial" panose="020B0604020202020204" pitchFamily="34" charset="0"/>
                <a:cs typeface="Arial" panose="020B0604020202020204" pitchFamily="34" charset="0"/>
              </a:rPr>
              <a:t> para la </a:t>
            </a:r>
            <a:r>
              <a:rPr lang="es-ES" sz="1400" b="1" dirty="0">
                <a:latin typeface="Arial" panose="020B0604020202020204" pitchFamily="34" charset="0"/>
                <a:cs typeface="Arial" panose="020B0604020202020204" pitchFamily="34" charset="0"/>
              </a:rPr>
              <a:t>Gestión de la Seguridad de la Información</a:t>
            </a:r>
            <a:r>
              <a:rPr lang="es-ES" sz="1400" dirty="0">
                <a:latin typeface="Arial" panose="020B0604020202020204" pitchFamily="34" charset="0"/>
                <a:cs typeface="Arial" panose="020B0604020202020204" pitchFamily="34" charset="0"/>
              </a:rPr>
              <a:t>. Establece los requisitos para crear, implementar, mantener y mejorar un </a:t>
            </a:r>
            <a:r>
              <a:rPr lang="es-ES" sz="1400" b="1" dirty="0">
                <a:latin typeface="Arial" panose="020B0604020202020204" pitchFamily="34" charset="0"/>
                <a:cs typeface="Arial" panose="020B0604020202020204" pitchFamily="34" charset="0"/>
              </a:rPr>
              <a:t>Sistema de Gestión de Seguridad de la Información (SGSI)</a:t>
            </a:r>
            <a:r>
              <a:rPr lang="es-ES" sz="1400" dirty="0">
                <a:latin typeface="Arial" panose="020B0604020202020204" pitchFamily="34" charset="0"/>
                <a:cs typeface="Arial" panose="020B0604020202020204" pitchFamily="34" charset="0"/>
              </a:rPr>
              <a:t>.</a:t>
            </a:r>
            <a:endParaRPr kumimoji="1" lang="zh-CN" altLang="en-US" sz="1400" dirty="0">
              <a:latin typeface="Arial" panose="020B0604020202020204" pitchFamily="34" charset="0"/>
              <a:cs typeface="Arial" panose="020B0604020202020204" pitchFamily="34" charset="0"/>
            </a:endParaRPr>
          </a:p>
        </p:txBody>
      </p:sp>
      <p:sp>
        <p:nvSpPr>
          <p:cNvPr id="16" name="标题 1">
            <a:extLst>
              <a:ext uri="{FF2B5EF4-FFF2-40B4-BE49-F238E27FC236}">
                <a16:creationId xmlns:a16="http://schemas.microsoft.com/office/drawing/2014/main" id="{3C17F46C-6CC2-4D38-1510-E65C20B32CEF}"/>
              </a:ext>
            </a:extLst>
          </p:cNvPr>
          <p:cNvSpPr txBox="1"/>
          <p:nvPr/>
        </p:nvSpPr>
        <p:spPr>
          <a:xfrm>
            <a:off x="2817018" y="1308969"/>
            <a:ext cx="4320000" cy="307777"/>
          </a:xfrm>
          <a:prstGeom prst="rect">
            <a:avLst/>
          </a:prstGeom>
          <a:noFill/>
          <a:ln cap="sq">
            <a:noFill/>
          </a:ln>
          <a:effectLst/>
        </p:spPr>
        <p:txBody>
          <a:bodyPr vert="horz" wrap="square" lIns="0" tIns="0" rIns="0" bIns="0" rtlCol="0" anchor="ctr"/>
          <a:lstStyle/>
          <a:p>
            <a:r>
              <a:rPr lang="es-EC" sz="1600" b="1" dirty="0"/>
              <a:t>Concepto</a:t>
            </a:r>
            <a:r>
              <a:rPr lang="es-EC" sz="1600" dirty="0"/>
              <a:t>:</a:t>
            </a:r>
            <a:endParaRPr kumimoji="1" lang="zh-CN" altLang="en-US" dirty="0"/>
          </a:p>
        </p:txBody>
      </p:sp>
      <p:pic>
        <p:nvPicPr>
          <p:cNvPr id="2" name="Imagen 1">
            <a:extLst>
              <a:ext uri="{FF2B5EF4-FFF2-40B4-BE49-F238E27FC236}">
                <a16:creationId xmlns:a16="http://schemas.microsoft.com/office/drawing/2014/main" id="{ABF3FED7-A60C-F178-A914-06660DCE88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11640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664489" y="1788498"/>
            <a:ext cx="4036141" cy="4116584"/>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1662819" y="5689604"/>
            <a:ext cx="4039481" cy="215478"/>
          </a:xfrm>
          <a:prstGeom prst="rect">
            <a:avLst/>
          </a:prstGeom>
          <a:solidFill>
            <a:schemeClr val="accent1"/>
          </a:solidFill>
          <a:ln w="12700" cap="sq">
            <a:noFill/>
            <a:miter/>
          </a:ln>
          <a:effectLst/>
        </p:spPr>
        <p:txBody>
          <a:bodyPr vert="horz" wrap="square" lIns="45720" tIns="22860" rIns="45720" bIns="22860" rtlCol="0" anchor="ctr"/>
          <a:lstStyle/>
          <a:p>
            <a:pPr algn="ctr"/>
            <a:endParaRPr kumimoji="1" lang="zh-CN" altLang="en-US"/>
          </a:p>
        </p:txBody>
      </p:sp>
      <p:sp>
        <p:nvSpPr>
          <p:cNvPr id="4" name="标题 1"/>
          <p:cNvSpPr txBox="1"/>
          <p:nvPr/>
        </p:nvSpPr>
        <p:spPr>
          <a:xfrm>
            <a:off x="6529470" y="1790700"/>
            <a:ext cx="4036141" cy="4114382"/>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6529912" y="5689604"/>
            <a:ext cx="4035259" cy="215478"/>
          </a:xfrm>
          <a:prstGeom prst="rect">
            <a:avLst/>
          </a:prstGeom>
          <a:solidFill>
            <a:schemeClr val="accent2"/>
          </a:solidFill>
          <a:ln w="12700" cap="sq">
            <a:noFill/>
            <a:miter/>
          </a:ln>
          <a:effectLst/>
        </p:spPr>
        <p:txBody>
          <a:bodyPr vert="horz" wrap="square" lIns="45720" tIns="22860" rIns="45720" bIns="22860" rtlCol="0" anchor="ctr"/>
          <a:lstStyle/>
          <a:p>
            <a:pPr algn="ctr"/>
            <a:endParaRPr kumimoji="1" lang="zh-CN" altLang="en-US"/>
          </a:p>
        </p:txBody>
      </p:sp>
      <p:sp>
        <p:nvSpPr>
          <p:cNvPr id="6" name="标题 1"/>
          <p:cNvSpPr txBox="1"/>
          <p:nvPr/>
        </p:nvSpPr>
        <p:spPr>
          <a:xfrm>
            <a:off x="1866460" y="2251384"/>
            <a:ext cx="3632200" cy="774258"/>
          </a:xfrm>
          <a:prstGeom prst="rect">
            <a:avLst/>
          </a:prstGeom>
          <a:noFill/>
          <a:ln>
            <a:noFill/>
          </a:ln>
        </p:spPr>
        <p:txBody>
          <a:bodyPr vert="horz" wrap="square" lIns="91440" tIns="45720" rIns="91440" bIns="45720" rtlCol="0" anchor="ctr"/>
          <a:lstStyle/>
          <a:p>
            <a:pPr algn="ctr"/>
            <a:r>
              <a:rPr kumimoji="1" lang="en-US" altLang="zh-CN" sz="1600">
                <a:ln w="12700">
                  <a:noFill/>
                </a:ln>
                <a:solidFill>
                  <a:srgbClr val="404040">
                    <a:alpha val="100000"/>
                  </a:srgbClr>
                </a:solidFill>
                <a:latin typeface="poppins-bold"/>
                <a:ea typeface="poppins-bold"/>
                <a:cs typeface="poppins-bold"/>
              </a:rPr>
              <a:t>Gestión de la seguridad de la información</a:t>
            </a:r>
            <a:endParaRPr kumimoji="1" lang="zh-CN" altLang="en-US"/>
          </a:p>
        </p:txBody>
      </p:sp>
      <p:sp>
        <p:nvSpPr>
          <p:cNvPr id="7" name="标题 1"/>
          <p:cNvSpPr txBox="1"/>
          <p:nvPr/>
        </p:nvSpPr>
        <p:spPr>
          <a:xfrm>
            <a:off x="1866460" y="3099215"/>
            <a:ext cx="3632200" cy="2301860"/>
          </a:xfrm>
          <a:prstGeom prst="rect">
            <a:avLst/>
          </a:prstGeom>
          <a:noFill/>
          <a:ln>
            <a:noFill/>
          </a:ln>
        </p:spPr>
        <p:txBody>
          <a:bodyPr vert="horz" wrap="square" lIns="91440" tIns="45720" rIns="91440" bIns="45720" rtlCol="0" anchor="t"/>
          <a:lstStyle/>
          <a:p>
            <a:pPr algn="ctr"/>
            <a:r>
              <a:rPr kumimoji="1" lang="en-US" altLang="zh-CN" sz="1400">
                <a:ln w="12700">
                  <a:noFill/>
                </a:ln>
                <a:solidFill>
                  <a:srgbClr val="404040">
                    <a:alpha val="100000"/>
                  </a:srgbClr>
                </a:solidFill>
                <a:latin typeface="Poppins"/>
                <a:ea typeface="Poppins"/>
                <a:cs typeface="Poppins"/>
              </a:rPr>
              <a:t>ISO/IEC 27001 establece un marco para gestionar la seguridad de la información, protegiendo activos valiosos y garantizando la confidencialidad, integridad y disponibilidad de los datos.</a:t>
            </a:r>
            <a:endParaRPr kumimoji="1" lang="zh-CN" altLang="en-US"/>
          </a:p>
        </p:txBody>
      </p:sp>
      <p:sp>
        <p:nvSpPr>
          <p:cNvPr id="8" name="标题 1"/>
          <p:cNvSpPr txBox="1"/>
          <p:nvPr/>
        </p:nvSpPr>
        <p:spPr>
          <a:xfrm>
            <a:off x="6731441" y="2251384"/>
            <a:ext cx="3632200" cy="774258"/>
          </a:xfrm>
          <a:prstGeom prst="rect">
            <a:avLst/>
          </a:prstGeom>
          <a:noFill/>
          <a:ln>
            <a:noFill/>
          </a:ln>
        </p:spPr>
        <p:txBody>
          <a:bodyPr vert="horz" wrap="square" lIns="91440" tIns="45720" rIns="91440" bIns="45720" rtlCol="0" anchor="ctr"/>
          <a:lstStyle/>
          <a:p>
            <a:pPr algn="ctr"/>
            <a:r>
              <a:rPr kumimoji="1" lang="en-US" altLang="zh-CN" sz="1600">
                <a:ln w="12700">
                  <a:noFill/>
                </a:ln>
                <a:solidFill>
                  <a:srgbClr val="404040">
                    <a:alpha val="100000"/>
                  </a:srgbClr>
                </a:solidFill>
                <a:latin typeface="poppins-bold"/>
                <a:ea typeface="poppins-bold"/>
                <a:cs typeface="poppins-bold"/>
              </a:rPr>
              <a:t>Proceso de certificación</a:t>
            </a:r>
            <a:endParaRPr kumimoji="1" lang="zh-CN" altLang="en-US"/>
          </a:p>
        </p:txBody>
      </p:sp>
      <p:sp>
        <p:nvSpPr>
          <p:cNvPr id="9" name="标题 1"/>
          <p:cNvSpPr txBox="1"/>
          <p:nvPr/>
        </p:nvSpPr>
        <p:spPr>
          <a:xfrm>
            <a:off x="6731441" y="3099215"/>
            <a:ext cx="3632200" cy="2301860"/>
          </a:xfrm>
          <a:prstGeom prst="rect">
            <a:avLst/>
          </a:prstGeom>
          <a:noFill/>
          <a:ln>
            <a:noFill/>
          </a:ln>
        </p:spPr>
        <p:txBody>
          <a:bodyPr vert="horz" wrap="square" lIns="91440" tIns="45720" rIns="91440" bIns="45720" rtlCol="0" anchor="t"/>
          <a:lstStyle/>
          <a:p>
            <a:pPr algn="ctr"/>
            <a:r>
              <a:rPr kumimoji="1" lang="en-US" altLang="zh-CN" sz="1400">
                <a:ln w="12700">
                  <a:noFill/>
                </a:ln>
                <a:solidFill>
                  <a:srgbClr val="404040">
                    <a:alpha val="100000"/>
                  </a:srgbClr>
                </a:solidFill>
                <a:latin typeface="Poppins"/>
                <a:ea typeface="Poppins"/>
                <a:cs typeface="Poppins"/>
              </a:rPr>
              <a:t>El proceso de certificación de ISO/IEC 27001 incluye una evaluación exhaustiva del sistema de gestión de seguridad de la información, lo que facilita la identificación de áreas de mejora y garantiza el cumplimiento de los estándares internacionales.</a:t>
            </a:r>
            <a:endParaRPr kumimoji="1" lang="zh-CN" altLang="en-US"/>
          </a:p>
        </p:txBody>
      </p:sp>
      <p:sp>
        <p:nvSpPr>
          <p:cNvPr id="10" name="标题 1"/>
          <p:cNvSpPr txBox="1"/>
          <p:nvPr/>
        </p:nvSpPr>
        <p:spPr>
          <a:xfrm>
            <a:off x="2969527" y="1467877"/>
            <a:ext cx="1590956" cy="644812"/>
          </a:xfrm>
          <a:prstGeom prst="rect">
            <a:avLst/>
          </a:prstGeom>
          <a:noFill/>
          <a:ln>
            <a:noFill/>
          </a:ln>
        </p:spPr>
        <p:txBody>
          <a:bodyPr vert="horz" wrap="square" lIns="0" tIns="0" rIns="0" bIns="0" rtlCol="0" anchor="ctr"/>
          <a:lstStyle/>
          <a:p>
            <a:pPr algn="ctr"/>
            <a:r>
              <a:rPr kumimoji="1" lang="en-US" altLang="zh-CN" sz="4000">
                <a:ln w="12700">
                  <a:noFill/>
                </a:ln>
                <a:solidFill>
                  <a:srgbClr val="C53645">
                    <a:alpha val="100000"/>
                  </a:srgbClr>
                </a:solidFill>
                <a:latin typeface="poppins-bold"/>
                <a:ea typeface="poppins-bold"/>
                <a:cs typeface="poppins-bold"/>
              </a:rPr>
              <a:t>01</a:t>
            </a:r>
            <a:endParaRPr kumimoji="1" lang="zh-CN" altLang="en-US"/>
          </a:p>
        </p:txBody>
      </p:sp>
      <p:sp>
        <p:nvSpPr>
          <p:cNvPr id="11" name="标题 1"/>
          <p:cNvSpPr txBox="1"/>
          <p:nvPr/>
        </p:nvSpPr>
        <p:spPr>
          <a:xfrm>
            <a:off x="7757427" y="1467877"/>
            <a:ext cx="1590956" cy="644812"/>
          </a:xfrm>
          <a:prstGeom prst="rect">
            <a:avLst/>
          </a:prstGeom>
          <a:noFill/>
          <a:ln>
            <a:noFill/>
          </a:ln>
        </p:spPr>
        <p:txBody>
          <a:bodyPr vert="horz" wrap="square" lIns="0" tIns="0" rIns="0" bIns="0" rtlCol="0" anchor="ctr"/>
          <a:lstStyle/>
          <a:p>
            <a:pPr algn="ctr"/>
            <a:r>
              <a:rPr kumimoji="1" lang="en-US" altLang="zh-CN" sz="4000">
                <a:ln w="12700">
                  <a:noFill/>
                </a:ln>
                <a:solidFill>
                  <a:srgbClr val="30556B">
                    <a:alpha val="100000"/>
                  </a:srgbClr>
                </a:solidFill>
                <a:latin typeface="poppins-bold"/>
                <a:ea typeface="poppins-bold"/>
                <a:cs typeface="poppins-bold"/>
              </a:rPr>
              <a:t>02</a:t>
            </a:r>
            <a:endParaRPr kumimoji="1" lang="zh-CN" altLang="en-US"/>
          </a:p>
        </p:txBody>
      </p:sp>
      <p:sp>
        <p:nvSpPr>
          <p:cNvPr id="12"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ea typeface="poppins-bold"/>
                <a:cs typeface="poppins-bold"/>
              </a:rPr>
              <a:t>Introducción a ISO/IEC 27001</a:t>
            </a:r>
            <a:endParaRPr kumimoji="1" lang="zh-CN" altLang="en-US" dirty="0"/>
          </a:p>
        </p:txBody>
      </p:sp>
      <p:sp>
        <p:nvSpPr>
          <p:cNvPr id="13"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5" name="Imagen 14">
            <a:extLst>
              <a:ext uri="{FF2B5EF4-FFF2-40B4-BE49-F238E27FC236}">
                <a16:creationId xmlns:a16="http://schemas.microsoft.com/office/drawing/2014/main" id="{27C156F1-2C1B-7793-3BEC-E6266CF0F4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D4EDB-007F-5E9A-2189-DE38AA06E666}"/>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75D12734-686F-EB56-2B7E-8610F420728E}"/>
              </a:ext>
            </a:extLst>
          </p:cNvPr>
          <p:cNvSpPr txBox="1"/>
          <p:nvPr/>
        </p:nvSpPr>
        <p:spPr>
          <a:xfrm>
            <a:off x="8354838" y="2216546"/>
            <a:ext cx="427399" cy="427399"/>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sq">
            <a:solidFill>
              <a:schemeClr val="bg1"/>
            </a:solidFill>
          </a:ln>
        </p:spPr>
        <p:txBody>
          <a:bodyPr vert="horz" wrap="square" lIns="91440" tIns="45720" rIns="91440" bIns="45720" rtlCol="0" anchor="t"/>
          <a:lstStyle/>
          <a:p>
            <a:pPr algn="l"/>
            <a:endParaRPr kumimoji="1" lang="zh-CN" altLang="en-US"/>
          </a:p>
        </p:txBody>
      </p:sp>
      <p:sp>
        <p:nvSpPr>
          <p:cNvPr id="9" name="标题 1">
            <a:extLst>
              <a:ext uri="{FF2B5EF4-FFF2-40B4-BE49-F238E27FC236}">
                <a16:creationId xmlns:a16="http://schemas.microsoft.com/office/drawing/2014/main" id="{F15C56A7-330D-41F7-0479-C5E3BF54C2D3}"/>
              </a:ext>
            </a:extLst>
          </p:cNvPr>
          <p:cNvSpPr txBox="1"/>
          <p:nvPr/>
        </p:nvSpPr>
        <p:spPr>
          <a:xfrm>
            <a:off x="660400" y="3954131"/>
            <a:ext cx="10145252" cy="2591884"/>
          </a:xfrm>
          <a:prstGeom prst="rect">
            <a:avLst/>
          </a:prstGeom>
          <a:noFill/>
          <a:ln>
            <a:noFill/>
          </a:ln>
        </p:spPr>
        <p:txBody>
          <a:bodyPr vert="horz" wrap="square" lIns="0" tIns="0" rIns="0" bIns="0" rtlCol="0" anchor="t"/>
          <a:lstStyle/>
          <a:p>
            <a:r>
              <a:rPr lang="es-ES" sz="1400" b="1" dirty="0"/>
              <a:t>ITIL</a:t>
            </a:r>
            <a:r>
              <a:rPr lang="es-ES" sz="1400" dirty="0"/>
              <a:t> es la biblioteca de conocimiento que te enseña </a:t>
            </a:r>
            <a:r>
              <a:rPr lang="es-ES" sz="1400" b="1" dirty="0"/>
              <a:t>CÓMO</a:t>
            </a:r>
            <a:r>
              <a:rPr lang="es-ES" sz="1400" dirty="0"/>
              <a:t> gestionar servicios de TI de forma excelente.</a:t>
            </a:r>
          </a:p>
          <a:p>
            <a:endParaRPr lang="es-ES" sz="1400" dirty="0"/>
          </a:p>
          <a:p>
            <a:r>
              <a:rPr lang="es-ES" sz="1400" b="1" dirty="0"/>
              <a:t>ISO 20000</a:t>
            </a:r>
            <a:r>
              <a:rPr lang="es-ES" sz="1400" dirty="0"/>
              <a:t> es la norma que te permite </a:t>
            </a:r>
            <a:r>
              <a:rPr lang="es-ES" sz="1400" b="1" dirty="0"/>
              <a:t>DEMOSTRAR</a:t>
            </a:r>
            <a:r>
              <a:rPr lang="es-ES" sz="1400" dirty="0"/>
              <a:t> que tu gestión de servicios es excelente y de calidad certificada.</a:t>
            </a:r>
          </a:p>
          <a:p>
            <a:endParaRPr lang="es-ES" sz="1400" dirty="0"/>
          </a:p>
          <a:p>
            <a:r>
              <a:rPr lang="es-ES" sz="1400" b="1" dirty="0"/>
              <a:t>ISO 27001</a:t>
            </a:r>
            <a:r>
              <a:rPr lang="es-ES" sz="1400" dirty="0"/>
              <a:t> es la norma que te permite </a:t>
            </a:r>
            <a:r>
              <a:rPr lang="es-ES" sz="1400" b="1" dirty="0"/>
              <a:t>DEMOSTRAR</a:t>
            </a:r>
            <a:r>
              <a:rPr lang="es-ES" sz="1400" dirty="0"/>
              <a:t> que tu gestión de la seguridad de la información es robusta y protege tus activos más críticos.</a:t>
            </a:r>
          </a:p>
          <a:p>
            <a:endParaRPr lang="es-ES" sz="1400" dirty="0"/>
          </a:p>
          <a:p>
            <a:r>
              <a:rPr lang="es-ES" sz="1400" dirty="0"/>
              <a:t>Una organización madura a menudo utiliza </a:t>
            </a:r>
            <a:r>
              <a:rPr lang="es-ES" sz="1400" b="1" dirty="0"/>
              <a:t>ITIL</a:t>
            </a:r>
            <a:r>
              <a:rPr lang="es-ES" sz="1400" dirty="0"/>
              <a:t> como guía para sus procesos, busca la certificación </a:t>
            </a:r>
            <a:r>
              <a:rPr lang="es-ES" sz="1400" b="1" dirty="0"/>
              <a:t>ISO 20000</a:t>
            </a:r>
            <a:r>
              <a:rPr lang="es-ES" sz="1400" dirty="0"/>
              <a:t> para validar la calidad de sus servicios, e implementa </a:t>
            </a:r>
            <a:r>
              <a:rPr lang="es-ES" sz="1400" b="1" dirty="0"/>
              <a:t>ISO 27001</a:t>
            </a:r>
            <a:r>
              <a:rPr lang="es-ES" sz="1400" dirty="0"/>
              <a:t> para asegurar que tanto sus servicios como toda su información están protegidos.</a:t>
            </a:r>
          </a:p>
        </p:txBody>
      </p:sp>
      <p:sp>
        <p:nvSpPr>
          <p:cNvPr id="13" name="标题 1">
            <a:extLst>
              <a:ext uri="{FF2B5EF4-FFF2-40B4-BE49-F238E27FC236}">
                <a16:creationId xmlns:a16="http://schemas.microsoft.com/office/drawing/2014/main" id="{E0619C41-0C59-14B0-9B55-7B4CA421348B}"/>
              </a:ext>
            </a:extLst>
          </p:cNvPr>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cs typeface="poppins-bold"/>
              </a:rPr>
              <a:t>En </a:t>
            </a:r>
            <a:r>
              <a:rPr kumimoji="1" lang="en-US" altLang="zh-CN" sz="2800" dirty="0" err="1">
                <a:ln w="12700">
                  <a:noFill/>
                </a:ln>
                <a:solidFill>
                  <a:srgbClr val="262626">
                    <a:alpha val="100000"/>
                  </a:srgbClr>
                </a:solidFill>
                <a:latin typeface="poppins-bold"/>
                <a:cs typeface="poppins-bold"/>
              </a:rPr>
              <a:t>resumen</a:t>
            </a:r>
            <a:endParaRPr kumimoji="1" lang="zh-CN" altLang="en-US" dirty="0"/>
          </a:p>
        </p:txBody>
      </p:sp>
      <p:sp>
        <p:nvSpPr>
          <p:cNvPr id="15" name="标题 1">
            <a:extLst>
              <a:ext uri="{FF2B5EF4-FFF2-40B4-BE49-F238E27FC236}">
                <a16:creationId xmlns:a16="http://schemas.microsoft.com/office/drawing/2014/main" id="{246D23CC-105A-9B90-0CFF-4C14CB842BBD}"/>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graphicFrame>
        <p:nvGraphicFramePr>
          <p:cNvPr id="2" name="Tabla 1">
            <a:extLst>
              <a:ext uri="{FF2B5EF4-FFF2-40B4-BE49-F238E27FC236}">
                <a16:creationId xmlns:a16="http://schemas.microsoft.com/office/drawing/2014/main" id="{8ED30D32-6D05-7342-4446-E659AE713AAE}"/>
              </a:ext>
            </a:extLst>
          </p:cNvPr>
          <p:cNvGraphicFramePr>
            <a:graphicFrameLocks noGrp="1"/>
          </p:cNvGraphicFramePr>
          <p:nvPr>
            <p:extLst>
              <p:ext uri="{D42A27DB-BD31-4B8C-83A1-F6EECF244321}">
                <p14:modId xmlns:p14="http://schemas.microsoft.com/office/powerpoint/2010/main" val="459870892"/>
              </p:ext>
            </p:extLst>
          </p:nvPr>
        </p:nvGraphicFramePr>
        <p:xfrm>
          <a:off x="660400" y="1078335"/>
          <a:ext cx="10515600" cy="2650741"/>
        </p:xfrm>
        <a:graphic>
          <a:graphicData uri="http://schemas.openxmlformats.org/drawingml/2006/table">
            <a:tbl>
              <a:tblPr/>
              <a:tblGrid>
                <a:gridCol w="2589572">
                  <a:extLst>
                    <a:ext uri="{9D8B030D-6E8A-4147-A177-3AD203B41FA5}">
                      <a16:colId xmlns:a16="http://schemas.microsoft.com/office/drawing/2014/main" val="4209019222"/>
                    </a:ext>
                  </a:extLst>
                </a:gridCol>
                <a:gridCol w="2952597">
                  <a:extLst>
                    <a:ext uri="{9D8B030D-6E8A-4147-A177-3AD203B41FA5}">
                      <a16:colId xmlns:a16="http://schemas.microsoft.com/office/drawing/2014/main" val="161944438"/>
                    </a:ext>
                  </a:extLst>
                </a:gridCol>
                <a:gridCol w="3218814">
                  <a:extLst>
                    <a:ext uri="{9D8B030D-6E8A-4147-A177-3AD203B41FA5}">
                      <a16:colId xmlns:a16="http://schemas.microsoft.com/office/drawing/2014/main" val="4115065056"/>
                    </a:ext>
                  </a:extLst>
                </a:gridCol>
                <a:gridCol w="1754617">
                  <a:extLst>
                    <a:ext uri="{9D8B030D-6E8A-4147-A177-3AD203B41FA5}">
                      <a16:colId xmlns:a16="http://schemas.microsoft.com/office/drawing/2014/main" val="2425276408"/>
                    </a:ext>
                  </a:extLst>
                </a:gridCol>
              </a:tblGrid>
              <a:tr h="190588">
                <a:tc>
                  <a:txBody>
                    <a:bodyPr/>
                    <a:lstStyle/>
                    <a:p>
                      <a:pPr algn="l" fontAlgn="b">
                        <a:buNone/>
                      </a:pPr>
                      <a:r>
                        <a:rPr lang="es-EC" sz="1400" b="1" i="0" u="none" strike="noStrike" dirty="0">
                          <a:solidFill>
                            <a:srgbClr val="000000"/>
                          </a:solidFill>
                          <a:effectLst/>
                          <a:latin typeface="Arial" panose="020B0604020202020204" pitchFamily="34" charset="0"/>
                        </a:rPr>
                        <a:t>Característica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1" i="0" u="none" strike="noStrike" dirty="0">
                          <a:solidFill>
                            <a:srgbClr val="000000"/>
                          </a:solidFill>
                          <a:effectLst/>
                          <a:latin typeface="Arial" panose="020B0604020202020204" pitchFamily="34" charset="0"/>
                        </a:rPr>
                        <a:t>ITIL</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1" i="0" u="none" strike="noStrike" dirty="0">
                          <a:solidFill>
                            <a:srgbClr val="000000"/>
                          </a:solidFill>
                          <a:effectLst/>
                          <a:latin typeface="Arial" panose="020B0604020202020204" pitchFamily="34" charset="0"/>
                        </a:rPr>
                        <a:t>ISO/IEC 20000</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1" i="0" u="none" strike="noStrike" dirty="0">
                          <a:solidFill>
                            <a:srgbClr val="000000"/>
                          </a:solidFill>
                          <a:effectLst/>
                          <a:latin typeface="Arial" panose="020B0604020202020204" pitchFamily="34" charset="0"/>
                        </a:rPr>
                        <a:t>ISO/IEC 27001</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6269350"/>
                  </a:ext>
                </a:extLst>
              </a:tr>
              <a:tr h="486452">
                <a:tc>
                  <a:txBody>
                    <a:bodyPr/>
                    <a:lstStyle/>
                    <a:p>
                      <a:pPr algn="l" fontAlgn="b">
                        <a:buNone/>
                      </a:pPr>
                      <a:r>
                        <a:rPr lang="es-EC" sz="1400" b="0" i="0" u="none" strike="noStrike" dirty="0">
                          <a:solidFill>
                            <a:srgbClr val="000000"/>
                          </a:solidFill>
                          <a:effectLst/>
                          <a:latin typeface="Arial" panose="020B0604020202020204" pitchFamily="34" charset="0"/>
                        </a:rPr>
                        <a:t>Naturaleza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dirty="0">
                          <a:solidFill>
                            <a:srgbClr val="000000"/>
                          </a:solidFill>
                          <a:effectLst/>
                          <a:latin typeface="Arial" panose="020B0604020202020204" pitchFamily="34" charset="0"/>
                        </a:rPr>
                        <a:t>Marco de buenas prácticas (Framework)</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0" i="0" u="none" strike="noStrike">
                          <a:solidFill>
                            <a:srgbClr val="000000"/>
                          </a:solidFill>
                          <a:effectLst/>
                          <a:latin typeface="Arial" panose="020B0604020202020204" pitchFamily="34" charset="0"/>
                        </a:rPr>
                        <a:t>Estándar / Norma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0" i="0" u="none" strike="noStrike">
                          <a:solidFill>
                            <a:srgbClr val="000000"/>
                          </a:solidFill>
                          <a:effectLst/>
                          <a:latin typeface="Arial" panose="020B0604020202020204" pitchFamily="34" charset="0"/>
                        </a:rPr>
                        <a:t>Estándar / Norma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1526859"/>
                  </a:ext>
                </a:extLst>
              </a:tr>
              <a:tr h="602620">
                <a:tc>
                  <a:txBody>
                    <a:bodyPr/>
                    <a:lstStyle/>
                    <a:p>
                      <a:pPr algn="l" fontAlgn="b">
                        <a:buNone/>
                      </a:pPr>
                      <a:r>
                        <a:rPr lang="es-EC" sz="1400" b="0" i="0" u="none" strike="noStrike" dirty="0">
                          <a:solidFill>
                            <a:srgbClr val="000000"/>
                          </a:solidFill>
                          <a:effectLst/>
                          <a:latin typeface="Arial" panose="020B0604020202020204" pitchFamily="34" charset="0"/>
                        </a:rPr>
                        <a:t>Enfoque Principal</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0" i="0" u="none" strike="noStrike" dirty="0">
                          <a:solidFill>
                            <a:srgbClr val="000000"/>
                          </a:solidFill>
                          <a:effectLst/>
                          <a:latin typeface="Arial" panose="020B0604020202020204" pitchFamily="34" charset="0"/>
                        </a:rPr>
                        <a:t>Cómo gestionar servicios de TI para dar valor.</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a:solidFill>
                            <a:srgbClr val="000000"/>
                          </a:solidFill>
                          <a:effectLst/>
                          <a:latin typeface="Arial" panose="020B0604020202020204" pitchFamily="34" charset="0"/>
                        </a:rPr>
                        <a:t>Qué requisitos cumplir para un sistema de gestión de servicios.</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a:solidFill>
                            <a:srgbClr val="000000"/>
                          </a:solidFill>
                          <a:effectLst/>
                          <a:latin typeface="Arial" panose="020B0604020202020204" pitchFamily="34" charset="0"/>
                        </a:rPr>
                        <a:t>Qué requisitos cumplir para un sistema de gestión de seguridad.</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2933369"/>
                  </a:ext>
                </a:extLst>
              </a:tr>
              <a:tr h="479192">
                <a:tc>
                  <a:txBody>
                    <a:bodyPr/>
                    <a:lstStyle/>
                    <a:p>
                      <a:pPr algn="l" fontAlgn="b">
                        <a:buNone/>
                      </a:pPr>
                      <a:r>
                        <a:rPr lang="es-EC" sz="1400" b="0" i="0" u="none" strike="noStrike">
                          <a:solidFill>
                            <a:srgbClr val="000000"/>
                          </a:solidFill>
                          <a:effectLst/>
                          <a:latin typeface="Arial" panose="020B0604020202020204" pitchFamily="34" charset="0"/>
                        </a:rPr>
                        <a:t>Certificación</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0" i="0" u="none" strike="noStrike">
                          <a:solidFill>
                            <a:srgbClr val="000000"/>
                          </a:solidFill>
                          <a:effectLst/>
                          <a:latin typeface="Arial" panose="020B0604020202020204" pitchFamily="34" charset="0"/>
                        </a:rPr>
                        <a:t>Para personas (Ej: "Certificado en Fundamentos de ITIL 4").</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dirty="0">
                          <a:solidFill>
                            <a:srgbClr val="000000"/>
                          </a:solidFill>
                          <a:effectLst/>
                          <a:latin typeface="Arial" panose="020B0604020202020204" pitchFamily="34" charset="0"/>
                        </a:rPr>
                        <a:t>Para organizaciones (La empresa se certifica).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a:solidFill>
                            <a:srgbClr val="000000"/>
                          </a:solidFill>
                          <a:effectLst/>
                          <a:latin typeface="Arial" panose="020B0604020202020204" pitchFamily="34" charset="0"/>
                        </a:rPr>
                        <a:t>Para organizaciones (La empresa se certifica).</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3753413"/>
                  </a:ext>
                </a:extLst>
              </a:tr>
              <a:tr h="435629">
                <a:tc>
                  <a:txBody>
                    <a:bodyPr/>
                    <a:lstStyle/>
                    <a:p>
                      <a:pPr algn="l" fontAlgn="b">
                        <a:buNone/>
                      </a:pPr>
                      <a:r>
                        <a:rPr lang="es-EC" sz="1400" b="0" i="0" u="none" strike="noStrike">
                          <a:solidFill>
                            <a:srgbClr val="000000"/>
                          </a:solidFill>
                          <a:effectLst/>
                          <a:latin typeface="Arial" panose="020B0604020202020204" pitchFamily="34" charset="0"/>
                        </a:rPr>
                        <a:t>Objetivo</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a:solidFill>
                            <a:srgbClr val="000000"/>
                          </a:solidFill>
                          <a:effectLst/>
                          <a:latin typeface="Arial" panose="020B0604020202020204" pitchFamily="34" charset="0"/>
                        </a:rPr>
                        <a:t>Eficiencia y calidad del servicio.</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S" sz="1400" b="0" i="0" u="none" strike="noStrike" dirty="0">
                          <a:solidFill>
                            <a:srgbClr val="000000"/>
                          </a:solidFill>
                          <a:effectLst/>
                          <a:latin typeface="Arial" panose="020B0604020202020204" pitchFamily="34" charset="0"/>
                        </a:rPr>
                        <a:t>Demostrar la calidad del servicio.</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EC" sz="1400" b="0" i="0" u="none" strike="noStrike" dirty="0">
                          <a:solidFill>
                            <a:srgbClr val="000000"/>
                          </a:solidFill>
                          <a:effectLst/>
                          <a:latin typeface="Arial" panose="020B0604020202020204" pitchFamily="34" charset="0"/>
                        </a:rPr>
                        <a:t>Proteger la información.</a:t>
                      </a:r>
                    </a:p>
                  </a:txBody>
                  <a:tcPr marL="7260" marR="7260" marT="726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4297993"/>
                  </a:ext>
                </a:extLst>
              </a:tr>
            </a:tbl>
          </a:graphicData>
        </a:graphic>
      </p:graphicFrame>
      <p:pic>
        <p:nvPicPr>
          <p:cNvPr id="3" name="Imagen 2">
            <a:extLst>
              <a:ext uri="{FF2B5EF4-FFF2-40B4-BE49-F238E27FC236}">
                <a16:creationId xmlns:a16="http://schemas.microsoft.com/office/drawing/2014/main" id="{DBB00357-30D5-F5E9-5A75-2730CEB13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542598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919" t="919" r="919" b="919"/>
          <a:stretch>
            <a:fillRect/>
          </a:stretch>
        </p:blipFill>
        <p:spPr>
          <a:xfrm>
            <a:off x="-2690564" y="-202988"/>
            <a:ext cx="7532074" cy="7532072"/>
          </a:xfrm>
          <a:custGeom>
            <a:avLst/>
            <a:gdLst/>
            <a:ahLst/>
            <a:cxnLst/>
            <a:rect l="l" t="t" r="r" b="b"/>
            <a:pathLst>
              <a:path w="7532074" h="7532072">
                <a:moveTo>
                  <a:pt x="3766037" y="0"/>
                </a:moveTo>
                <a:cubicBezTo>
                  <a:pt x="5845962" y="0"/>
                  <a:pt x="7532074" y="1686112"/>
                  <a:pt x="7532074" y="3766036"/>
                </a:cubicBezTo>
                <a:cubicBezTo>
                  <a:pt x="7532074" y="5845960"/>
                  <a:pt x="5845962" y="7532072"/>
                  <a:pt x="3766037" y="7532072"/>
                </a:cubicBezTo>
                <a:cubicBezTo>
                  <a:pt x="1686112" y="7532072"/>
                  <a:pt x="0" y="5845960"/>
                  <a:pt x="0" y="3766036"/>
                </a:cubicBezTo>
                <a:cubicBezTo>
                  <a:pt x="0" y="1686112"/>
                  <a:pt x="1686112" y="0"/>
                  <a:pt x="3766037" y="0"/>
                </a:cubicBezTo>
                <a:close/>
              </a:path>
            </a:pathLst>
          </a:custGeom>
          <a:noFill/>
          <a:ln>
            <a:noFill/>
          </a:ln>
        </p:spPr>
      </p:pic>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04</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Políticas Internas de Gestión de TI</a:t>
            </a:r>
            <a:endParaRPr kumimoji="1" lang="zh-CN" altLang="en-US"/>
          </a:p>
        </p:txBody>
      </p:sp>
      <p:sp>
        <p:nvSpPr>
          <p:cNvPr id="8" name="标题 1"/>
          <p:cNvSpPr txBox="1"/>
          <p:nvPr/>
        </p:nvSpPr>
        <p:spPr>
          <a:xfrm>
            <a:off x="-2585720" y="7620"/>
            <a:ext cx="7477760" cy="7477760"/>
          </a:xfrm>
          <a:prstGeom prst="ellipse">
            <a:avLst/>
          </a:prstGeom>
          <a:noFill/>
          <a:ln w="19050" cap="sq">
            <a:solidFill>
              <a:schemeClr val="accent1"/>
            </a:solidFill>
            <a:miter/>
          </a:ln>
        </p:spPr>
        <p:txBody>
          <a:bodyPr vert="horz" wrap="square" lIns="91440" tIns="45720" rIns="91440" bIns="45720" rtlCol="0" anchor="ctr"/>
          <a:lstStyle/>
          <a:p>
            <a:pPr algn="ctr"/>
            <a:endParaRPr kumimoji="1" lang="zh-CN" altLang="en-US"/>
          </a:p>
        </p:txBody>
      </p:sp>
      <p:pic>
        <p:nvPicPr>
          <p:cNvPr id="10" name="Imagen 9">
            <a:extLst>
              <a:ext uri="{FF2B5EF4-FFF2-40B4-BE49-F238E27FC236}">
                <a16:creationId xmlns:a16="http://schemas.microsoft.com/office/drawing/2014/main" id="{8C30DC9D-5016-657F-DBDB-CD1EB3757A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816717" y="1949532"/>
            <a:ext cx="6558566" cy="1475051"/>
          </a:xfrm>
          <a:prstGeom prst="triangle">
            <a:avLst/>
          </a:prstGeom>
          <a:gradFill>
            <a:gsLst>
              <a:gs pos="13000">
                <a:schemeClr val="accent1">
                  <a:lumMod val="60000"/>
                  <a:lumOff val="40000"/>
                  <a:alpha val="40000"/>
                </a:schemeClr>
              </a:gs>
              <a:gs pos="71000">
                <a:schemeClr val="accent1">
                  <a:lumMod val="20000"/>
                  <a:lumOff val="80000"/>
                  <a:alpha val="0"/>
                </a:schemeClr>
              </a:gs>
            </a:gsLst>
            <a:lin ang="5400000" scaled="0"/>
          </a:gradFill>
          <a:ln w="12700" cap="sq">
            <a:noFill/>
            <a:miter/>
          </a:ln>
          <a:effectLst/>
        </p:spPr>
        <p:txBody>
          <a:bodyPr vert="horz" wrap="square" lIns="274320" tIns="0" rIns="274320" bIns="1280160" rtlCol="0" anchor="b"/>
          <a:lstStyle/>
          <a:p>
            <a:pPr algn="ctr"/>
            <a:endParaRPr kumimoji="1" lang="zh-CN" altLang="en-US"/>
          </a:p>
        </p:txBody>
      </p:sp>
      <p:sp>
        <p:nvSpPr>
          <p:cNvPr id="3" name="标题 1"/>
          <p:cNvSpPr txBox="1"/>
          <p:nvPr/>
        </p:nvSpPr>
        <p:spPr>
          <a:xfrm>
            <a:off x="5476875" y="1548087"/>
            <a:ext cx="1238250" cy="1238250"/>
          </a:xfrm>
          <a:prstGeom prst="ellipse">
            <a:avLst/>
          </a:prstGeom>
          <a:solidFill>
            <a:schemeClr val="accent1"/>
          </a:solidFill>
          <a:ln w="12700" cap="sq">
            <a:noFill/>
            <a:miter/>
          </a:ln>
          <a:effectLst>
            <a:outerShdw blurRad="762000" dist="254000" dir="5400000" algn="ctr" rotWithShape="0">
              <a:srgbClr val="000000">
                <a:alpha val="30000"/>
              </a:srgbClr>
            </a:outerShdw>
          </a:effectLst>
        </p:spPr>
        <p:txBody>
          <a:bodyPr vert="horz" wrap="square" lIns="0" tIns="0" rIns="0" bIns="0" rtlCol="0" anchor="ctr"/>
          <a:lstStyle/>
          <a:p>
            <a:pPr algn="ctr"/>
            <a:endParaRPr kumimoji="1" lang="zh-CN" altLang="en-US"/>
          </a:p>
        </p:txBody>
      </p:sp>
      <p:sp>
        <p:nvSpPr>
          <p:cNvPr id="4" name="标题 1"/>
          <p:cNvSpPr txBox="1"/>
          <p:nvPr/>
        </p:nvSpPr>
        <p:spPr>
          <a:xfrm>
            <a:off x="1727200" y="3091694"/>
            <a:ext cx="4114800" cy="679763"/>
          </a:xfrm>
          <a:prstGeom prst="rect">
            <a:avLst/>
          </a:prstGeom>
          <a:solidFill>
            <a:schemeClr val="bg1"/>
          </a:solidFill>
          <a:ln w="12700" cap="sq">
            <a:noFill/>
            <a:miter/>
          </a:ln>
          <a:effectLst>
            <a:outerShdw blurRad="762000" dist="254000" dir="5400000" algn="ctr" rotWithShape="0">
              <a:srgbClr val="000000">
                <a:alpha val="10000"/>
              </a:srgbClr>
            </a:outerShdw>
          </a:effectLst>
        </p:spPr>
        <p:txBody>
          <a:bodyPr vert="horz" wrap="square" lIns="0" tIns="0" rIns="0" bIns="0" rtlCol="0" anchor="ctr"/>
          <a:lstStyle/>
          <a:p>
            <a:pPr algn="ctr"/>
            <a:endParaRPr kumimoji="1" lang="zh-CN" altLang="en-US"/>
          </a:p>
        </p:txBody>
      </p:sp>
      <p:sp>
        <p:nvSpPr>
          <p:cNvPr id="5" name="标题 1"/>
          <p:cNvSpPr txBox="1"/>
          <p:nvPr/>
        </p:nvSpPr>
        <p:spPr>
          <a:xfrm>
            <a:off x="6308932" y="3091694"/>
            <a:ext cx="4152900" cy="679763"/>
          </a:xfrm>
          <a:prstGeom prst="rect">
            <a:avLst/>
          </a:prstGeom>
          <a:solidFill>
            <a:schemeClr val="bg1"/>
          </a:solidFill>
          <a:ln w="12700" cap="sq">
            <a:noFill/>
            <a:miter/>
          </a:ln>
          <a:effectLst>
            <a:outerShdw blurRad="762000" dist="254000" dir="5400000" algn="ctr" rotWithShape="0">
              <a:srgbClr val="000000">
                <a:alpha val="10000"/>
              </a:srgbClr>
            </a:outerShdw>
          </a:effectLst>
        </p:spPr>
        <p:txBody>
          <a:bodyPr vert="horz" wrap="square" lIns="0" tIns="0" rIns="0" bIns="0" rtlCol="0" anchor="ctr"/>
          <a:lstStyle/>
          <a:p>
            <a:pPr algn="ctr"/>
            <a:endParaRPr kumimoji="1" lang="zh-CN" altLang="en-US"/>
          </a:p>
        </p:txBody>
      </p:sp>
      <p:sp>
        <p:nvSpPr>
          <p:cNvPr id="6" name="标题 1"/>
          <p:cNvSpPr txBox="1"/>
          <p:nvPr/>
        </p:nvSpPr>
        <p:spPr>
          <a:xfrm>
            <a:off x="1727200" y="3941533"/>
            <a:ext cx="4114800" cy="2108637"/>
          </a:xfrm>
          <a:prstGeom prst="rect">
            <a:avLst/>
          </a:prstGeom>
          <a:noFill/>
          <a:ln>
            <a:noFill/>
          </a:ln>
        </p:spPr>
        <p:txBody>
          <a:bodyPr vert="horz" wrap="square" lIns="0" tIns="36000" rIns="0" bIns="36000" rtlCol="0" anchor="t"/>
          <a:lstStyle/>
          <a:p>
            <a:pPr algn="ctr"/>
            <a:r>
              <a:rPr kumimoji="1" lang="en-US" altLang="zh-CN" sz="1400">
                <a:ln w="12700">
                  <a:noFill/>
                </a:ln>
                <a:solidFill>
                  <a:srgbClr val="404040">
                    <a:alpha val="100000"/>
                  </a:srgbClr>
                </a:solidFill>
                <a:latin typeface="Poppins"/>
                <a:ea typeface="Poppins"/>
                <a:cs typeface="Poppins"/>
              </a:rPr>
              <a:t>Una política de TI debe incluir su propósito, alcance, definiciones clave y responsabilidades. Estos elementos son fundamentales para garantizar claridad y cumplimiento por parte de todos los usuarios.</a:t>
            </a:r>
            <a:endParaRPr kumimoji="1" lang="zh-CN" altLang="en-US"/>
          </a:p>
        </p:txBody>
      </p:sp>
      <p:sp>
        <p:nvSpPr>
          <p:cNvPr id="7" name="标题 1"/>
          <p:cNvSpPr txBox="1"/>
          <p:nvPr/>
        </p:nvSpPr>
        <p:spPr>
          <a:xfrm>
            <a:off x="6306445" y="3943464"/>
            <a:ext cx="4157873" cy="2106706"/>
          </a:xfrm>
          <a:prstGeom prst="rect">
            <a:avLst/>
          </a:prstGeom>
          <a:noFill/>
          <a:ln>
            <a:noFill/>
          </a:ln>
        </p:spPr>
        <p:txBody>
          <a:bodyPr vert="horz" wrap="square" lIns="0" tIns="36000" rIns="0" bIns="36000" rtlCol="0" anchor="t"/>
          <a:lstStyle/>
          <a:p>
            <a:pPr algn="ctr"/>
            <a:r>
              <a:rPr kumimoji="1" lang="en-US" altLang="zh-CN" sz="1400">
                <a:ln w="12700">
                  <a:noFill/>
                </a:ln>
                <a:solidFill>
                  <a:srgbClr val="404040">
                    <a:alpha val="100000"/>
                  </a:srgbClr>
                </a:solidFill>
                <a:latin typeface="Poppins"/>
                <a:ea typeface="Poppins"/>
                <a:cs typeface="Poppins"/>
              </a:rPr>
              <a:t>El desarrollo de políticas implica la identificación de necesidades, la consulta con partes interesadas, la redacción de documentos y la revisión. Este proceso asegura que las políticas sean relevantes y efectivas.</a:t>
            </a:r>
            <a:endParaRPr kumimoji="1" lang="zh-CN" altLang="en-US"/>
          </a:p>
        </p:txBody>
      </p:sp>
      <p:sp>
        <p:nvSpPr>
          <p:cNvPr id="8" name="标题 1"/>
          <p:cNvSpPr txBox="1"/>
          <p:nvPr/>
        </p:nvSpPr>
        <p:spPr>
          <a:xfrm>
            <a:off x="5768420" y="1848313"/>
            <a:ext cx="660334" cy="651496"/>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1862138" y="3151094"/>
            <a:ext cx="3844925" cy="559237"/>
          </a:xfrm>
          <a:prstGeom prst="rect">
            <a:avLst/>
          </a:prstGeom>
          <a:noFill/>
          <a:ln>
            <a:noFill/>
          </a:ln>
        </p:spPr>
        <p:txBody>
          <a:bodyPr vert="horz" wrap="square" lIns="0" tIns="36000" rIns="0" bIns="36000" rtlCol="0" anchor="ctr"/>
          <a:lstStyle/>
          <a:p>
            <a:pPr algn="ctr"/>
            <a:r>
              <a:rPr kumimoji="1" lang="en-US" altLang="zh-CN" sz="1514">
                <a:ln w="12700">
                  <a:noFill/>
                </a:ln>
                <a:solidFill>
                  <a:srgbClr val="C53645">
                    <a:alpha val="100000"/>
                  </a:srgbClr>
                </a:solidFill>
                <a:latin typeface="poppins-bold"/>
                <a:ea typeface="poppins-bold"/>
                <a:cs typeface="poppins-bold"/>
              </a:rPr>
              <a:t>Elementos esenciales de una política</a:t>
            </a:r>
            <a:endParaRPr kumimoji="1" lang="zh-CN" altLang="en-US"/>
          </a:p>
        </p:txBody>
      </p:sp>
      <p:sp>
        <p:nvSpPr>
          <p:cNvPr id="10" name="标题 1"/>
          <p:cNvSpPr txBox="1"/>
          <p:nvPr/>
        </p:nvSpPr>
        <p:spPr>
          <a:xfrm>
            <a:off x="6462919" y="3151094"/>
            <a:ext cx="3844925" cy="559237"/>
          </a:xfrm>
          <a:prstGeom prst="rect">
            <a:avLst/>
          </a:prstGeom>
          <a:noFill/>
          <a:ln>
            <a:noFill/>
          </a:ln>
        </p:spPr>
        <p:txBody>
          <a:bodyPr vert="horz" wrap="square" lIns="0" tIns="36000" rIns="0" bIns="36000" rtlCol="0" anchor="ctr"/>
          <a:lstStyle/>
          <a:p>
            <a:pPr algn="ctr"/>
            <a:r>
              <a:rPr kumimoji="1" lang="en-US" altLang="zh-CN" sz="1600">
                <a:ln w="12700">
                  <a:noFill/>
                </a:ln>
                <a:solidFill>
                  <a:srgbClr val="C53645">
                    <a:alpha val="100000"/>
                  </a:srgbClr>
                </a:solidFill>
                <a:latin typeface="poppins-bold"/>
                <a:ea typeface="poppins-bold"/>
                <a:cs typeface="poppins-bold"/>
              </a:rPr>
              <a:t>Proceso de desarrollo de políticas</a:t>
            </a:r>
            <a:endParaRPr kumimoji="1" lang="zh-CN" altLang="en-US"/>
          </a:p>
        </p:txBody>
      </p:sp>
      <p:sp>
        <p:nvSpPr>
          <p:cNvPr id="11"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Creación de Políticas de TI</a:t>
            </a:r>
            <a:endParaRPr kumimoji="1" lang="zh-CN" altLang="en-US"/>
          </a:p>
        </p:txBody>
      </p:sp>
      <p:sp>
        <p:nvSpPr>
          <p:cNvPr id="12"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4" name="Imagen 13">
            <a:extLst>
              <a:ext uri="{FF2B5EF4-FFF2-40B4-BE49-F238E27FC236}">
                <a16:creationId xmlns:a16="http://schemas.microsoft.com/office/drawing/2014/main" id="{1449B1A8-5FF3-FC27-9D91-FB1056121A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24797" y="2076151"/>
            <a:ext cx="4754082" cy="3731524"/>
          </a:xfrm>
          <a:custGeom>
            <a:avLst/>
            <a:gdLst>
              <a:gd name="connsiteX0" fmla="*/ 1976659 w 2642041"/>
              <a:gd name="connsiteY0" fmla="*/ 2197272 h 2197271"/>
              <a:gd name="connsiteX1" fmla="*/ 170997 w 2642041"/>
              <a:gd name="connsiteY1" fmla="*/ 1200525 h 2197271"/>
              <a:gd name="connsiteX2" fmla="*/ 0 w 2642041"/>
              <a:gd name="connsiteY2" fmla="*/ 90372 h 2197271"/>
              <a:gd name="connsiteX3" fmla="*/ 2642042 w 2642041"/>
              <a:gd name="connsiteY3" fmla="*/ 0 h 2197271"/>
              <a:gd name="connsiteX4" fmla="*/ 1976659 w 2642041"/>
              <a:gd name="connsiteY4" fmla="*/ 2197272 h 2197271"/>
            </a:gdLst>
            <a:ahLst/>
            <a:cxnLst/>
            <a:rect l="l" t="t" r="r" b="b"/>
            <a:pathLst>
              <a:path w="2642041" h="2197271">
                <a:moveTo>
                  <a:pt x="1976659" y="2197272"/>
                </a:moveTo>
                <a:lnTo>
                  <a:pt x="170997" y="1200525"/>
                </a:lnTo>
                <a:lnTo>
                  <a:pt x="0" y="90372"/>
                </a:lnTo>
                <a:lnTo>
                  <a:pt x="2642042" y="0"/>
                </a:lnTo>
                <a:lnTo>
                  <a:pt x="1976659" y="2197272"/>
                </a:lnTo>
                <a:close/>
              </a:path>
            </a:pathLst>
          </a:custGeom>
          <a:noFill/>
          <a:ln w="8856" cap="flat">
            <a:solidFill>
              <a:schemeClr val="accent1"/>
            </a:solidFill>
            <a:miter/>
          </a:ln>
        </p:spPr>
        <p:txBody>
          <a:bodyPr vert="horz" wrap="square" lIns="91440" tIns="45720" rIns="91440" bIns="45720" rtlCol="0" anchor="ctr"/>
          <a:lstStyle/>
          <a:p>
            <a:pPr algn="l"/>
            <a:endParaRPr kumimoji="1" lang="zh-CN" altLang="en-US"/>
          </a:p>
        </p:txBody>
      </p:sp>
      <p:sp>
        <p:nvSpPr>
          <p:cNvPr id="3" name="标题 1"/>
          <p:cNvSpPr txBox="1"/>
          <p:nvPr/>
        </p:nvSpPr>
        <p:spPr>
          <a:xfrm>
            <a:off x="979441" y="2698509"/>
            <a:ext cx="4444794" cy="2651595"/>
          </a:xfrm>
          <a:custGeom>
            <a:avLst/>
            <a:gdLst>
              <a:gd name="connsiteX0" fmla="*/ 0 w 2470158"/>
              <a:gd name="connsiteY0" fmla="*/ 0 h 1476070"/>
              <a:gd name="connsiteX1" fmla="*/ 2470159 w 2470158"/>
              <a:gd name="connsiteY1" fmla="*/ 0 h 1476070"/>
              <a:gd name="connsiteX2" fmla="*/ 2470159 w 2470158"/>
              <a:gd name="connsiteY2" fmla="*/ 1476070 h 1476070"/>
              <a:gd name="connsiteX3" fmla="*/ 0 w 2470158"/>
              <a:gd name="connsiteY3" fmla="*/ 1476070 h 1476070"/>
            </a:gdLst>
            <a:ahLst/>
            <a:cxnLst/>
            <a:rect l="l" t="t" r="r" b="b"/>
            <a:pathLst>
              <a:path w="2470158" h="1476070">
                <a:moveTo>
                  <a:pt x="0" y="0"/>
                </a:moveTo>
                <a:lnTo>
                  <a:pt x="2470159" y="0"/>
                </a:lnTo>
                <a:lnTo>
                  <a:pt x="2470159" y="1476070"/>
                </a:lnTo>
                <a:lnTo>
                  <a:pt x="0" y="1476070"/>
                </a:lnTo>
                <a:close/>
              </a:path>
            </a:pathLst>
          </a:custGeom>
          <a:solidFill>
            <a:schemeClr val="accent1"/>
          </a:solidFill>
          <a:ln w="88557"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a:off x="6600421" y="2076151"/>
            <a:ext cx="4754082" cy="3731524"/>
          </a:xfrm>
          <a:custGeom>
            <a:avLst/>
            <a:gdLst>
              <a:gd name="connsiteX0" fmla="*/ 0 w 2642042"/>
              <a:gd name="connsiteY0" fmla="*/ 0 h 2197271"/>
              <a:gd name="connsiteX1" fmla="*/ 2642042 w 2642042"/>
              <a:gd name="connsiteY1" fmla="*/ 90372 h 2197271"/>
              <a:gd name="connsiteX2" fmla="*/ 2470159 w 2642042"/>
              <a:gd name="connsiteY2" fmla="*/ 1201411 h 2197271"/>
              <a:gd name="connsiteX3" fmla="*/ 665384 w 2642042"/>
              <a:gd name="connsiteY3" fmla="*/ 2197272 h 2197271"/>
              <a:gd name="connsiteX4" fmla="*/ 0 w 2642042"/>
              <a:gd name="connsiteY4" fmla="*/ 0 h 2197271"/>
            </a:gdLst>
            <a:ahLst/>
            <a:cxnLst/>
            <a:rect l="l" t="t" r="r" b="b"/>
            <a:pathLst>
              <a:path w="2642042" h="2197271">
                <a:moveTo>
                  <a:pt x="0" y="0"/>
                </a:moveTo>
                <a:lnTo>
                  <a:pt x="2642042" y="90372"/>
                </a:lnTo>
                <a:lnTo>
                  <a:pt x="2470159" y="1201411"/>
                </a:lnTo>
                <a:lnTo>
                  <a:pt x="665384" y="2197272"/>
                </a:lnTo>
                <a:lnTo>
                  <a:pt x="0" y="0"/>
                </a:lnTo>
                <a:close/>
              </a:path>
            </a:pathLst>
          </a:custGeom>
          <a:noFill/>
          <a:ln w="8856" cap="flat">
            <a:solidFill>
              <a:schemeClr val="accent3">
                <a:lumMod val="75000"/>
              </a:schemeClr>
            </a:solid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6755065" y="2698509"/>
            <a:ext cx="4444794" cy="2651595"/>
          </a:xfrm>
          <a:custGeom>
            <a:avLst/>
            <a:gdLst>
              <a:gd name="connsiteX0" fmla="*/ 0 w 2470158"/>
              <a:gd name="connsiteY0" fmla="*/ 0 h 1476070"/>
              <a:gd name="connsiteX1" fmla="*/ 2470158 w 2470158"/>
              <a:gd name="connsiteY1" fmla="*/ 0 h 1476070"/>
              <a:gd name="connsiteX2" fmla="*/ 2470158 w 2470158"/>
              <a:gd name="connsiteY2" fmla="*/ 1476070 h 1476070"/>
              <a:gd name="connsiteX3" fmla="*/ 0 w 2470158"/>
              <a:gd name="connsiteY3" fmla="*/ 1476070 h 1476070"/>
            </a:gdLst>
            <a:ahLst/>
            <a:cxnLst/>
            <a:rect l="l" t="t" r="r" b="b"/>
            <a:pathLst>
              <a:path w="2470158" h="1476070">
                <a:moveTo>
                  <a:pt x="0" y="0"/>
                </a:moveTo>
                <a:lnTo>
                  <a:pt x="2470158" y="0"/>
                </a:lnTo>
                <a:lnTo>
                  <a:pt x="2470158" y="1476070"/>
                </a:lnTo>
                <a:lnTo>
                  <a:pt x="0" y="1476070"/>
                </a:lnTo>
                <a:close/>
              </a:path>
            </a:pathLst>
          </a:custGeom>
          <a:solidFill>
            <a:schemeClr val="accent3">
              <a:lumMod val="75000"/>
            </a:schemeClr>
          </a:solidFill>
          <a:ln w="88557"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2681437" y="1456724"/>
            <a:ext cx="1040803" cy="1040803"/>
          </a:xfrm>
          <a:custGeom>
            <a:avLst/>
            <a:gdLst>
              <a:gd name="connsiteX0" fmla="*/ 769045 w 769045"/>
              <a:gd name="connsiteY0" fmla="*/ 384523 h 769045"/>
              <a:gd name="connsiteX1" fmla="*/ 384523 w 769045"/>
              <a:gd name="connsiteY1" fmla="*/ 769045 h 769045"/>
              <a:gd name="connsiteX2" fmla="*/ 0 w 769045"/>
              <a:gd name="connsiteY2" fmla="*/ 384523 h 769045"/>
              <a:gd name="connsiteX3" fmla="*/ 384523 w 769045"/>
              <a:gd name="connsiteY3" fmla="*/ 0 h 769045"/>
              <a:gd name="connsiteX4" fmla="*/ 769045 w 769045"/>
              <a:gd name="connsiteY4" fmla="*/ 384523 h 769045"/>
            </a:gdLst>
            <a:ahLst/>
            <a:cxnLst/>
            <a:rect l="l" t="t" r="r" b="b"/>
            <a:pathLst>
              <a:path w="769045" h="769045">
                <a:moveTo>
                  <a:pt x="769045" y="384523"/>
                </a:moveTo>
                <a:cubicBezTo>
                  <a:pt x="769045" y="596888"/>
                  <a:pt x="596889" y="769045"/>
                  <a:pt x="384523" y="769045"/>
                </a:cubicBezTo>
                <a:cubicBezTo>
                  <a:pt x="172157" y="769045"/>
                  <a:pt x="0" y="596888"/>
                  <a:pt x="0" y="384523"/>
                </a:cubicBezTo>
                <a:cubicBezTo>
                  <a:pt x="0" y="172157"/>
                  <a:pt x="172157" y="0"/>
                  <a:pt x="384523" y="0"/>
                </a:cubicBezTo>
                <a:cubicBezTo>
                  <a:pt x="596889" y="0"/>
                  <a:pt x="769045" y="172157"/>
                  <a:pt x="769045" y="384523"/>
                </a:cubicBezTo>
                <a:close/>
              </a:path>
            </a:pathLst>
          </a:custGeom>
          <a:solidFill>
            <a:schemeClr val="accent1"/>
          </a:solidFill>
          <a:ln w="88557"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8457061" y="1456724"/>
            <a:ext cx="1040803" cy="1040803"/>
          </a:xfrm>
          <a:custGeom>
            <a:avLst/>
            <a:gdLst>
              <a:gd name="connsiteX0" fmla="*/ 769045 w 769045"/>
              <a:gd name="connsiteY0" fmla="*/ 384523 h 769045"/>
              <a:gd name="connsiteX1" fmla="*/ 384523 w 769045"/>
              <a:gd name="connsiteY1" fmla="*/ 769045 h 769045"/>
              <a:gd name="connsiteX2" fmla="*/ 1 w 769045"/>
              <a:gd name="connsiteY2" fmla="*/ 384523 h 769045"/>
              <a:gd name="connsiteX3" fmla="*/ 384523 w 769045"/>
              <a:gd name="connsiteY3" fmla="*/ 0 h 769045"/>
              <a:gd name="connsiteX4" fmla="*/ 769045 w 769045"/>
              <a:gd name="connsiteY4" fmla="*/ 384523 h 769045"/>
            </a:gdLst>
            <a:ahLst/>
            <a:cxnLst/>
            <a:rect l="l" t="t" r="r" b="b"/>
            <a:pathLst>
              <a:path w="769045" h="769045">
                <a:moveTo>
                  <a:pt x="769045" y="384523"/>
                </a:moveTo>
                <a:cubicBezTo>
                  <a:pt x="769045" y="596888"/>
                  <a:pt x="596888" y="769045"/>
                  <a:pt x="384523" y="769045"/>
                </a:cubicBezTo>
                <a:cubicBezTo>
                  <a:pt x="172157" y="769045"/>
                  <a:pt x="1" y="596888"/>
                  <a:pt x="1" y="384523"/>
                </a:cubicBezTo>
                <a:cubicBezTo>
                  <a:pt x="1" y="172157"/>
                  <a:pt x="172157" y="0"/>
                  <a:pt x="384523" y="0"/>
                </a:cubicBezTo>
                <a:cubicBezTo>
                  <a:pt x="596889" y="0"/>
                  <a:pt x="769045" y="172157"/>
                  <a:pt x="769045" y="384523"/>
                </a:cubicBezTo>
                <a:close/>
              </a:path>
            </a:pathLst>
          </a:custGeom>
          <a:solidFill>
            <a:schemeClr val="accent3">
              <a:lumMod val="75000"/>
            </a:schemeClr>
          </a:solidFill>
          <a:ln w="88557"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1258490" y="2806631"/>
            <a:ext cx="3886696" cy="738735"/>
          </a:xfrm>
          <a:prstGeom prst="rect">
            <a:avLst/>
          </a:prstGeom>
          <a:noFill/>
          <a:ln>
            <a:noFill/>
          </a:ln>
        </p:spPr>
        <p:txBody>
          <a:bodyPr vert="horz" wrap="square" lIns="0" tIns="0" rIns="0" bIns="0" rtlCol="0" anchor="b"/>
          <a:lstStyle/>
          <a:p>
            <a:pPr algn="ctr"/>
            <a:r>
              <a:rPr kumimoji="1" lang="en-US" altLang="zh-CN" sz="1600">
                <a:ln w="12700">
                  <a:noFill/>
                </a:ln>
                <a:solidFill>
                  <a:srgbClr val="FFFFFF">
                    <a:alpha val="100000"/>
                  </a:srgbClr>
                </a:solidFill>
                <a:latin typeface="poppins-bold"/>
                <a:ea typeface="poppins-bold"/>
                <a:cs typeface="poppins-bold"/>
              </a:rPr>
              <a:t>Herramientas para el monitoreo</a:t>
            </a:r>
            <a:endParaRPr kumimoji="1" lang="zh-CN" altLang="en-US"/>
          </a:p>
        </p:txBody>
      </p:sp>
      <p:sp>
        <p:nvSpPr>
          <p:cNvPr id="9" name="标题 1"/>
          <p:cNvSpPr txBox="1"/>
          <p:nvPr/>
        </p:nvSpPr>
        <p:spPr>
          <a:xfrm>
            <a:off x="1258490" y="3583466"/>
            <a:ext cx="3886696" cy="1662622"/>
          </a:xfrm>
          <a:prstGeom prst="rect">
            <a:avLst/>
          </a:prstGeom>
          <a:noFill/>
          <a:ln>
            <a:noFill/>
          </a:ln>
        </p:spPr>
        <p:txBody>
          <a:bodyPr vert="horz" wrap="square" lIns="0" tIns="0" rIns="0" bIns="0" rtlCol="0" anchor="t"/>
          <a:lstStyle/>
          <a:p>
            <a:pPr algn="ctr"/>
            <a:r>
              <a:rPr kumimoji="1" lang="en-US" altLang="zh-CN" sz="1400">
                <a:ln w="12700">
                  <a:noFill/>
                </a:ln>
                <a:solidFill>
                  <a:srgbClr val="FFFFFF">
                    <a:alpha val="100000"/>
                  </a:srgbClr>
                </a:solidFill>
                <a:latin typeface="Poppins"/>
                <a:ea typeface="Poppins"/>
                <a:cs typeface="Poppins"/>
              </a:rPr>
              <a:t>Existen diversas herramientas que permiten rastrear el cumplimiento de políticas, como software de gestión y auditorías. Estas herramientas ayudan a identificar desviaciones y asegurar la efectividad de las políticas.</a:t>
            </a:r>
            <a:endParaRPr kumimoji="1" lang="zh-CN" altLang="en-US"/>
          </a:p>
        </p:txBody>
      </p:sp>
      <p:sp>
        <p:nvSpPr>
          <p:cNvPr id="10" name="标题 1"/>
          <p:cNvSpPr txBox="1"/>
          <p:nvPr/>
        </p:nvSpPr>
        <p:spPr>
          <a:xfrm>
            <a:off x="7034114" y="2809556"/>
            <a:ext cx="3886696" cy="738735"/>
          </a:xfrm>
          <a:prstGeom prst="rect">
            <a:avLst/>
          </a:prstGeom>
          <a:noFill/>
          <a:ln>
            <a:noFill/>
          </a:ln>
        </p:spPr>
        <p:txBody>
          <a:bodyPr vert="horz" wrap="square" lIns="0" tIns="0" rIns="0" bIns="0" rtlCol="0" anchor="b"/>
          <a:lstStyle/>
          <a:p>
            <a:pPr algn="ctr"/>
            <a:r>
              <a:rPr kumimoji="1" lang="en-US" altLang="zh-CN" sz="1600">
                <a:ln w="12700">
                  <a:noFill/>
                </a:ln>
                <a:solidFill>
                  <a:srgbClr val="FFFFFF">
                    <a:alpha val="100000"/>
                  </a:srgbClr>
                </a:solidFill>
                <a:latin typeface="poppins-bold"/>
                <a:ea typeface="poppins-bold"/>
                <a:cs typeface="poppins-bold"/>
              </a:rPr>
              <a:t>Mejora continua en políticas de TI</a:t>
            </a:r>
            <a:endParaRPr kumimoji="1" lang="zh-CN" altLang="en-US"/>
          </a:p>
        </p:txBody>
      </p:sp>
      <p:sp>
        <p:nvSpPr>
          <p:cNvPr id="11" name="标题 1"/>
          <p:cNvSpPr txBox="1"/>
          <p:nvPr/>
        </p:nvSpPr>
        <p:spPr>
          <a:xfrm>
            <a:off x="7034114" y="3586391"/>
            <a:ext cx="3886696" cy="1662622"/>
          </a:xfrm>
          <a:prstGeom prst="rect">
            <a:avLst/>
          </a:prstGeom>
          <a:noFill/>
          <a:ln>
            <a:noFill/>
          </a:ln>
        </p:spPr>
        <p:txBody>
          <a:bodyPr vert="horz" wrap="square" lIns="0" tIns="0" rIns="0" bIns="0" rtlCol="0" anchor="t"/>
          <a:lstStyle/>
          <a:p>
            <a:pPr algn="ctr"/>
            <a:r>
              <a:rPr kumimoji="1" lang="en-US" altLang="zh-CN" sz="1195">
                <a:ln w="12700">
                  <a:noFill/>
                </a:ln>
                <a:solidFill>
                  <a:srgbClr val="FFFFFF">
                    <a:alpha val="100000"/>
                  </a:srgbClr>
                </a:solidFill>
                <a:latin typeface="Poppins"/>
                <a:ea typeface="Poppins"/>
                <a:cs typeface="Poppins"/>
              </a:rPr>
              <a:t>La mejora continua requiere evaluar regularmente las políticas existentes, recoger feedback y realizar ajustes según sea necesario. Esto garantiza que las políticas se mantengan actualizadas y alineadas con los objetivos organizacionales.</a:t>
            </a:r>
            <a:endParaRPr kumimoji="1" lang="zh-CN" altLang="en-US"/>
          </a:p>
        </p:txBody>
      </p:sp>
      <p:sp>
        <p:nvSpPr>
          <p:cNvPr id="12" name="标题 1"/>
          <p:cNvSpPr txBox="1"/>
          <p:nvPr/>
        </p:nvSpPr>
        <p:spPr>
          <a:xfrm>
            <a:off x="2992713" y="1767999"/>
            <a:ext cx="418251" cy="418251"/>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8761365" y="1767999"/>
            <a:ext cx="432195" cy="418251"/>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Ejecución y Monitoreo de Políticas</a:t>
            </a:r>
            <a:endParaRPr kumimoji="1" lang="zh-CN" altLang="en-US"/>
          </a:p>
        </p:txBody>
      </p:sp>
      <p:sp>
        <p:nvSpPr>
          <p:cNvPr id="15"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7" name="Imagen 16">
            <a:extLst>
              <a:ext uri="{FF2B5EF4-FFF2-40B4-BE49-F238E27FC236}">
                <a16:creationId xmlns:a16="http://schemas.microsoft.com/office/drawing/2014/main" id="{98957886-2A3C-23E0-D728-354C880DB4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05</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dirty="0">
                <a:ln w="12700">
                  <a:noFill/>
                </a:ln>
                <a:solidFill>
                  <a:srgbClr val="262626">
                    <a:alpha val="100000"/>
                  </a:srgbClr>
                </a:solidFill>
                <a:latin typeface="poppins-bold"/>
                <a:ea typeface="poppins-bold"/>
                <a:cs typeface="poppins-bold"/>
              </a:rPr>
              <a:t>Ejemplos de </a:t>
            </a:r>
            <a:r>
              <a:rPr kumimoji="1" lang="en-US" altLang="zh-CN" sz="2400" dirty="0" err="1">
                <a:ln w="12700">
                  <a:noFill/>
                </a:ln>
                <a:solidFill>
                  <a:srgbClr val="262626">
                    <a:alpha val="100000"/>
                  </a:srgbClr>
                </a:solidFill>
                <a:latin typeface="poppins-bold"/>
                <a:ea typeface="poppins-bold"/>
                <a:cs typeface="poppins-bold"/>
              </a:rPr>
              <a:t>Implementación</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en</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Empresas</a:t>
            </a:r>
            <a:r>
              <a:rPr kumimoji="1" lang="en-US" altLang="zh-CN" sz="2400" dirty="0">
                <a:ln w="12700">
                  <a:noFill/>
                </a:ln>
                <a:solidFill>
                  <a:srgbClr val="262626">
                    <a:alpha val="100000"/>
                  </a:srgbClr>
                </a:solidFill>
                <a:latin typeface="poppins-bold"/>
                <a:ea typeface="poppins-bold"/>
                <a:cs typeface="poppins-bold"/>
              </a:rPr>
              <a:t> Reales</a:t>
            </a:r>
            <a:endParaRPr kumimoji="1" lang="zh-CN" altLang="en-US" dirty="0"/>
          </a:p>
        </p:txBody>
      </p:sp>
      <p:pic>
        <p:nvPicPr>
          <p:cNvPr id="10" name="Imagen 9">
            <a:extLst>
              <a:ext uri="{FF2B5EF4-FFF2-40B4-BE49-F238E27FC236}">
                <a16:creationId xmlns:a16="http://schemas.microsoft.com/office/drawing/2014/main" id="{EA5C7C41-344B-EFE7-A795-41725B346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4205924" y="1630676"/>
            <a:ext cx="6831292" cy="1800000"/>
          </a:xfrm>
          <a:prstGeom prst="rect">
            <a:avLst/>
          </a:prstGeom>
          <a:solidFill>
            <a:schemeClr val="bg1">
              <a:lumMod val="95000"/>
            </a:schemeClr>
          </a:solidFill>
          <a:ln w="12700" cap="sq">
            <a:noFill/>
            <a:miter/>
          </a:ln>
          <a:effectLst/>
        </p:spPr>
        <p:txBody>
          <a:bodyPr vert="horz" wrap="square" lIns="0" tIns="0" rIns="0" bIns="0" rtlCol="0" anchor="t"/>
          <a:lstStyle/>
          <a:p>
            <a:pPr algn="just"/>
            <a:endParaRPr kumimoji="1" lang="zh-CN" altLang="en-US"/>
          </a:p>
        </p:txBody>
      </p:sp>
      <p:sp>
        <p:nvSpPr>
          <p:cNvPr id="3" name="标题 1"/>
          <p:cNvSpPr txBox="1"/>
          <p:nvPr/>
        </p:nvSpPr>
        <p:spPr>
          <a:xfrm>
            <a:off x="4205924" y="1630676"/>
            <a:ext cx="6831292" cy="36000"/>
          </a:xfrm>
          <a:prstGeom prst="rect">
            <a:avLst/>
          </a:prstGeom>
          <a:solidFill>
            <a:schemeClr val="bg1">
              <a:lumMod val="85000"/>
            </a:schemeClr>
          </a:solidFill>
          <a:ln w="12700" cap="sq">
            <a:noFill/>
            <a:miter/>
          </a:ln>
          <a:effectLst/>
        </p:spPr>
        <p:txBody>
          <a:bodyPr vert="horz" wrap="square" lIns="0" tIns="0" rIns="0" bIns="0" rtlCol="0" anchor="t"/>
          <a:lstStyle/>
          <a:p>
            <a:pPr algn="just"/>
            <a:endParaRPr kumimoji="1" lang="zh-CN" altLang="en-US"/>
          </a:p>
        </p:txBody>
      </p:sp>
      <p:pic>
        <p:nvPicPr>
          <p:cNvPr id="4" name="Imagen 3"/>
          <p:cNvPicPr>
            <a:picLocks noChangeAspect="1"/>
          </p:cNvPicPr>
          <p:nvPr/>
        </p:nvPicPr>
        <p:blipFill>
          <a:blip r:embed="rId2">
            <a:alphaModFix/>
          </a:blip>
          <a:srcRect l="720" t="2967" r="17686" b="50408"/>
          <a:stretch>
            <a:fillRect/>
          </a:stretch>
        </p:blipFill>
        <p:spPr>
          <a:xfrm>
            <a:off x="1685925" y="1630676"/>
            <a:ext cx="2520000" cy="1800000"/>
          </a:xfrm>
          <a:custGeom>
            <a:avLst/>
            <a:gdLst/>
            <a:ahLst/>
            <a:cxnLst/>
            <a:rect l="l" t="t" r="r" b="b"/>
            <a:pathLst>
              <a:path w="2520000" h="1800000">
                <a:moveTo>
                  <a:pt x="0" y="0"/>
                </a:moveTo>
                <a:lnTo>
                  <a:pt x="2520000" y="0"/>
                </a:lnTo>
                <a:lnTo>
                  <a:pt x="2520000" y="1800000"/>
                </a:lnTo>
                <a:lnTo>
                  <a:pt x="0" y="1800000"/>
                </a:lnTo>
                <a:lnTo>
                  <a:pt x="0" y="0"/>
                </a:lnTo>
                <a:close/>
              </a:path>
            </a:pathLst>
          </a:custGeom>
          <a:noFill/>
          <a:ln>
            <a:noFill/>
          </a:ln>
        </p:spPr>
      </p:pic>
      <p:sp>
        <p:nvSpPr>
          <p:cNvPr id="5" name="标题 1"/>
          <p:cNvSpPr txBox="1"/>
          <p:nvPr/>
        </p:nvSpPr>
        <p:spPr>
          <a:xfrm>
            <a:off x="1142084" y="3833724"/>
            <a:ext cx="6840001" cy="1800000"/>
          </a:xfrm>
          <a:prstGeom prst="rect">
            <a:avLst/>
          </a:prstGeom>
          <a:solidFill>
            <a:schemeClr val="bg1"/>
          </a:solidFill>
          <a:ln w="12700" cap="sq">
            <a:noFill/>
            <a:miter/>
          </a:ln>
          <a:effectLst>
            <a:outerShdw blurRad="381000" dist="127000" dir="5400000" algn="t" rotWithShape="0">
              <a:schemeClr val="accent1">
                <a:lumMod val="40000"/>
                <a:lumOff val="60000"/>
                <a:alpha val="15000"/>
              </a:schemeClr>
            </a:outerShdw>
          </a:effectLst>
        </p:spPr>
        <p:txBody>
          <a:bodyPr vert="horz" wrap="square" lIns="0" tIns="0" rIns="0" bIns="0" rtlCol="0" anchor="t"/>
          <a:lstStyle/>
          <a:p>
            <a:pPr algn="just"/>
            <a:endParaRPr kumimoji="1" lang="zh-CN" altLang="en-US"/>
          </a:p>
        </p:txBody>
      </p:sp>
      <p:sp>
        <p:nvSpPr>
          <p:cNvPr id="6" name="标题 1"/>
          <p:cNvSpPr txBox="1"/>
          <p:nvPr/>
        </p:nvSpPr>
        <p:spPr>
          <a:xfrm>
            <a:off x="1142084" y="3833724"/>
            <a:ext cx="6840001" cy="36000"/>
          </a:xfrm>
          <a:prstGeom prst="rect">
            <a:avLst/>
          </a:prstGeom>
          <a:solidFill>
            <a:schemeClr val="accent1"/>
          </a:solidFill>
          <a:ln w="12700" cap="sq">
            <a:noFill/>
            <a:miter/>
          </a:ln>
          <a:effectLst/>
        </p:spPr>
        <p:txBody>
          <a:bodyPr vert="horz" wrap="square" lIns="0" tIns="0" rIns="0" bIns="0" rtlCol="0" anchor="t"/>
          <a:lstStyle/>
          <a:p>
            <a:pPr algn="just"/>
            <a:endParaRPr kumimoji="1" lang="zh-CN" altLang="en-US"/>
          </a:p>
        </p:txBody>
      </p:sp>
      <p:pic>
        <p:nvPicPr>
          <p:cNvPr id="7" name="Imagen 6"/>
          <p:cNvPicPr>
            <a:picLocks noChangeAspect="1"/>
          </p:cNvPicPr>
          <p:nvPr/>
        </p:nvPicPr>
        <p:blipFill>
          <a:blip r:embed="rId3">
            <a:alphaModFix/>
          </a:blip>
          <a:srcRect l="4529" t="8573" r="10276" b="18505"/>
          <a:stretch>
            <a:fillRect/>
          </a:stretch>
        </p:blipFill>
        <p:spPr>
          <a:xfrm>
            <a:off x="7982085" y="3833724"/>
            <a:ext cx="2520000" cy="1800000"/>
          </a:xfrm>
          <a:custGeom>
            <a:avLst/>
            <a:gdLst/>
            <a:ahLst/>
            <a:cxnLst/>
            <a:rect l="l" t="t" r="r" b="b"/>
            <a:pathLst>
              <a:path w="2520000" h="1800000">
                <a:moveTo>
                  <a:pt x="0" y="0"/>
                </a:moveTo>
                <a:lnTo>
                  <a:pt x="2520000" y="0"/>
                </a:lnTo>
                <a:lnTo>
                  <a:pt x="2520000" y="1800000"/>
                </a:lnTo>
                <a:lnTo>
                  <a:pt x="0" y="1800000"/>
                </a:lnTo>
                <a:lnTo>
                  <a:pt x="0" y="0"/>
                </a:lnTo>
                <a:close/>
              </a:path>
            </a:pathLst>
          </a:custGeom>
          <a:noFill/>
          <a:ln>
            <a:noFill/>
          </a:ln>
        </p:spPr>
      </p:pic>
      <p:sp>
        <p:nvSpPr>
          <p:cNvPr id="8" name="标题 1"/>
          <p:cNvSpPr txBox="1"/>
          <p:nvPr/>
        </p:nvSpPr>
        <p:spPr>
          <a:xfrm>
            <a:off x="4562084" y="2288995"/>
            <a:ext cx="6118971" cy="955135"/>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La Empresa A adoptó ITIL para mejorar la gestión de servicios de TI, estructurando procesos y alineando los servicios con las necesidades del negocio. Esta implementación buscaba optimizar la eficiencia operativa.</a:t>
            </a:r>
            <a:endParaRPr kumimoji="1" lang="zh-CN" altLang="en-US"/>
          </a:p>
        </p:txBody>
      </p:sp>
      <p:sp>
        <p:nvSpPr>
          <p:cNvPr id="9" name="标题 1"/>
          <p:cNvSpPr txBox="1"/>
          <p:nvPr/>
        </p:nvSpPr>
        <p:spPr>
          <a:xfrm>
            <a:off x="4562085" y="1861000"/>
            <a:ext cx="6118971" cy="360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Implementación de ITIL</a:t>
            </a:r>
            <a:endParaRPr kumimoji="1" lang="zh-CN" altLang="en-US"/>
          </a:p>
        </p:txBody>
      </p:sp>
      <p:sp>
        <p:nvSpPr>
          <p:cNvPr id="10" name="标题 1"/>
          <p:cNvSpPr txBox="1"/>
          <p:nvPr/>
        </p:nvSpPr>
        <p:spPr>
          <a:xfrm>
            <a:off x="1502598" y="4486791"/>
            <a:ext cx="6118971" cy="955135"/>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Los resultados mostraron una notable mejora en la satisfacción del cliente, reducciones en los tiempos de respuesta y un aumento en la eficacia de la gestión de incidentes y problemas.</a:t>
            </a:r>
            <a:endParaRPr kumimoji="1" lang="zh-CN" altLang="en-US"/>
          </a:p>
        </p:txBody>
      </p:sp>
      <p:sp>
        <p:nvSpPr>
          <p:cNvPr id="11" name="标题 1"/>
          <p:cNvSpPr txBox="1"/>
          <p:nvPr/>
        </p:nvSpPr>
        <p:spPr>
          <a:xfrm>
            <a:off x="1502599" y="4058795"/>
            <a:ext cx="6118971" cy="360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Resultados obtenidos</a:t>
            </a:r>
            <a:endParaRPr kumimoji="1" lang="zh-CN" altLang="en-US"/>
          </a:p>
        </p:txBody>
      </p:sp>
      <p:sp>
        <p:nvSpPr>
          <p:cNvPr id="12"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Caso de Estudio: Empresa A</a:t>
            </a:r>
            <a:endParaRPr kumimoji="1" lang="zh-CN" altLang="en-US"/>
          </a:p>
        </p:txBody>
      </p:sp>
      <p:sp>
        <p:nvSpPr>
          <p:cNvPr id="13"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5" name="Imagen 14">
            <a:extLst>
              <a:ext uri="{FF2B5EF4-FFF2-40B4-BE49-F238E27FC236}">
                <a16:creationId xmlns:a16="http://schemas.microsoft.com/office/drawing/2014/main" id="{59DF355A-C600-BFD5-9040-6F63073D0E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504214" y="1659591"/>
            <a:ext cx="3766350" cy="4034118"/>
          </a:xfrm>
          <a:prstGeom prst="rect">
            <a:avLst/>
          </a:prstGeom>
          <a:gradFill>
            <a:gsLst>
              <a:gs pos="0">
                <a:schemeClr val="bg1">
                  <a:lumMod val="95000"/>
                </a:schemeClr>
              </a:gs>
              <a:gs pos="100000">
                <a:schemeClr val="bg1"/>
              </a:gs>
            </a:gsLst>
            <a:lin ang="6600000" scaled="0"/>
          </a:gradFill>
          <a:ln w="12700" cap="sq">
            <a:noFill/>
            <a:miter/>
          </a:ln>
          <a:effectLst/>
        </p:spPr>
        <p:txBody>
          <a:bodyPr vert="horz" wrap="square" lIns="91440" tIns="45720" rIns="91440" bIns="45720" rtlCol="0" anchor="ctr"/>
          <a:lstStyle/>
          <a:p>
            <a:pPr algn="ctr"/>
            <a:endParaRPr kumimoji="1" lang="zh-CN" altLang="en-US"/>
          </a:p>
        </p:txBody>
      </p:sp>
      <p:sp>
        <p:nvSpPr>
          <p:cNvPr id="3" name="标题 1"/>
          <p:cNvSpPr txBox="1"/>
          <p:nvPr/>
        </p:nvSpPr>
        <p:spPr>
          <a:xfrm>
            <a:off x="1921436" y="1659591"/>
            <a:ext cx="3766350" cy="4034118"/>
          </a:xfrm>
          <a:prstGeom prst="rect">
            <a:avLst/>
          </a:prstGeom>
          <a:gradFill>
            <a:gsLst>
              <a:gs pos="0">
                <a:schemeClr val="bg1">
                  <a:lumMod val="95000"/>
                </a:schemeClr>
              </a:gs>
              <a:gs pos="100000">
                <a:schemeClr val="bg1"/>
              </a:gs>
            </a:gsLst>
            <a:lin ang="6600000" scaled="0"/>
          </a:gradFill>
          <a:ln w="12700" cap="sq">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2609743" y="1659591"/>
            <a:ext cx="2389735" cy="61471"/>
          </a:xfrm>
          <a:prstGeom prst="rect">
            <a:avLst/>
          </a:prstGeom>
          <a:solidFill>
            <a:schemeClr val="accent1"/>
          </a:solidFill>
          <a:ln w="12700" cap="sq">
            <a:noFill/>
            <a:miter/>
          </a:ln>
          <a:effectLst/>
        </p:spPr>
        <p:txBody>
          <a:bodyPr vert="horz" wrap="square" lIns="91440" tIns="45720" rIns="91440" bIns="45720" rtlCol="0" anchor="ctr"/>
          <a:lstStyle/>
          <a:p>
            <a:pPr algn="ctr"/>
            <a:endParaRPr kumimoji="1" lang="zh-CN" altLang="en-US"/>
          </a:p>
        </p:txBody>
      </p:sp>
      <p:sp>
        <p:nvSpPr>
          <p:cNvPr id="5" name="标题 1"/>
          <p:cNvSpPr txBox="1"/>
          <p:nvPr/>
        </p:nvSpPr>
        <p:spPr>
          <a:xfrm rot="10800000">
            <a:off x="7192522" y="5632237"/>
            <a:ext cx="2389735" cy="61471"/>
          </a:xfrm>
          <a:prstGeom prst="rect">
            <a:avLst/>
          </a:prstGeom>
          <a:solidFill>
            <a:schemeClr val="accent2"/>
          </a:solidFill>
          <a:ln w="12700" cap="sq">
            <a:noFill/>
            <a:miter/>
          </a:ln>
          <a:effectLst/>
        </p:spPr>
        <p:txBody>
          <a:bodyPr vert="horz" wrap="square" lIns="91440" tIns="45720" rIns="91440" bIns="45720" rtlCol="0" anchor="ctr"/>
          <a:lstStyle/>
          <a:p>
            <a:pPr algn="ctr"/>
            <a:endParaRPr kumimoji="1" lang="zh-CN" altLang="en-US"/>
          </a:p>
        </p:txBody>
      </p:sp>
      <p:cxnSp>
        <p:nvCxnSpPr>
          <p:cNvPr id="6" name="标题 1"/>
          <p:cNvCxnSpPr/>
          <p:nvPr/>
        </p:nvCxnSpPr>
        <p:spPr>
          <a:xfrm>
            <a:off x="318527" y="0"/>
            <a:ext cx="0" cy="0"/>
          </a:xfrm>
          <a:prstGeom prst="line">
            <a:avLst/>
          </a:prstGeom>
          <a:noFill/>
          <a:ln w="12700" cap="sq">
            <a:solidFill>
              <a:schemeClr val="bg1">
                <a:lumMod val="75000"/>
              </a:schemeClr>
            </a:solidFill>
            <a:miter/>
          </a:ln>
        </p:spPr>
      </p:cxnSp>
      <p:sp>
        <p:nvSpPr>
          <p:cNvPr id="7" name="标题 1"/>
          <p:cNvSpPr txBox="1"/>
          <p:nvPr/>
        </p:nvSpPr>
        <p:spPr>
          <a:xfrm>
            <a:off x="3758173" y="3630213"/>
            <a:ext cx="92875" cy="92875"/>
          </a:xfrm>
          <a:prstGeom prst="ellipse">
            <a:avLst/>
          </a:prstGeom>
          <a:solidFill>
            <a:schemeClr val="bg1"/>
          </a:solidFill>
          <a:ln w="25400" cap="sq">
            <a:solidFill>
              <a:schemeClr val="accent1"/>
            </a:solidFill>
            <a:miter/>
          </a:ln>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8340952" y="3630213"/>
            <a:ext cx="92875" cy="92875"/>
          </a:xfrm>
          <a:prstGeom prst="ellipse">
            <a:avLst/>
          </a:prstGeom>
          <a:solidFill>
            <a:schemeClr val="bg1"/>
          </a:solidFill>
          <a:ln w="25400" cap="sq">
            <a:solidFill>
              <a:schemeClr val="accent2"/>
            </a:solidFill>
            <a:miter/>
          </a:ln>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2220386" y="1743171"/>
            <a:ext cx="3168449" cy="518299"/>
          </a:xfrm>
          <a:prstGeom prst="rect">
            <a:avLst/>
          </a:prstGeom>
          <a:noFill/>
          <a:ln>
            <a:noFill/>
          </a:ln>
        </p:spPr>
        <p:txBody>
          <a:bodyPr vert="horz" wrap="square" lIns="0" tIns="0" rIns="0" bIns="0" rtlCol="0" anchor="b"/>
          <a:lstStyle/>
          <a:p>
            <a:pPr algn="ctr"/>
            <a:r>
              <a:rPr kumimoji="1" lang="en-US" altLang="zh-CN" sz="1600">
                <a:ln w="12700">
                  <a:noFill/>
                </a:ln>
                <a:solidFill>
                  <a:srgbClr val="C53645">
                    <a:alpha val="100000"/>
                  </a:srgbClr>
                </a:solidFill>
                <a:latin typeface="poppins-bold"/>
                <a:ea typeface="poppins-bold"/>
                <a:cs typeface="poppins-bold"/>
              </a:rPr>
              <a:t>Certificación ISO/IEC 20000</a:t>
            </a:r>
            <a:endParaRPr kumimoji="1" lang="zh-CN" altLang="en-US"/>
          </a:p>
        </p:txBody>
      </p:sp>
      <p:sp>
        <p:nvSpPr>
          <p:cNvPr id="10" name="标题 1"/>
          <p:cNvSpPr txBox="1"/>
          <p:nvPr/>
        </p:nvSpPr>
        <p:spPr>
          <a:xfrm>
            <a:off x="2228850" y="2267622"/>
            <a:ext cx="3151521" cy="1102353"/>
          </a:xfrm>
          <a:prstGeom prst="rect">
            <a:avLst/>
          </a:prstGeom>
          <a:noFill/>
          <a:ln>
            <a:noFill/>
          </a:ln>
        </p:spPr>
        <p:txBody>
          <a:bodyPr vert="horz" wrap="square" lIns="0" tIns="0" rIns="0" bIns="0" rtlCol="0" anchor="t"/>
          <a:lstStyle/>
          <a:p>
            <a:pPr algn="ctr"/>
            <a:r>
              <a:rPr kumimoji="1" lang="en-US" altLang="zh-CN" sz="984">
                <a:ln w="12700">
                  <a:noFill/>
                </a:ln>
                <a:solidFill>
                  <a:srgbClr val="000000">
                    <a:alpha val="100000"/>
                  </a:srgbClr>
                </a:solidFill>
                <a:latin typeface="Poppins"/>
                <a:ea typeface="Poppins"/>
                <a:cs typeface="Poppins"/>
              </a:rPr>
              <a:t>La Empresa B buscó obtener la certificación ISO/IEC 20000 para estandarizar sus procesos de gestión de servicios y asegurar la calidad en la entrega de servicios informáticos.</a:t>
            </a:r>
            <a:endParaRPr kumimoji="1" lang="zh-CN" altLang="en-US"/>
          </a:p>
        </p:txBody>
      </p:sp>
      <p:sp>
        <p:nvSpPr>
          <p:cNvPr id="11" name="标题 1"/>
          <p:cNvSpPr txBox="1"/>
          <p:nvPr/>
        </p:nvSpPr>
        <p:spPr>
          <a:xfrm>
            <a:off x="2901161" y="3781521"/>
            <a:ext cx="1806900" cy="1769715"/>
          </a:xfrm>
          <a:prstGeom prst="rect">
            <a:avLst/>
          </a:prstGeom>
          <a:noFill/>
          <a:ln>
            <a:noFill/>
          </a:ln>
        </p:spPr>
        <p:txBody>
          <a:bodyPr vert="horz" wrap="square" lIns="0" tIns="0" rIns="0" bIns="0" rtlCol="0" anchor="t"/>
          <a:lstStyle/>
          <a:p>
            <a:pPr algn="ctr"/>
            <a:r>
              <a:rPr kumimoji="1" lang="en-US" altLang="zh-CN" sz="11500">
                <a:ln w="12700">
                  <a:noFill/>
                </a:ln>
                <a:gradFill>
                  <a:gsLst>
                    <a:gs pos="0">
                      <a:schemeClr val="accent1">
                        <a:lumMod val="75000"/>
                      </a:schemeClr>
                    </a:gs>
                    <a:gs pos="100000">
                      <a:schemeClr val="accent1">
                        <a:lumMod val="60000"/>
                        <a:lumOff val="40000"/>
                      </a:schemeClr>
                    </a:gs>
                  </a:gsLst>
                  <a:lin ang="6600000" scaled="0"/>
                </a:gradFill>
                <a:latin typeface="poppins-bold"/>
                <a:ea typeface="poppins-bold"/>
                <a:cs typeface="poppins-bold"/>
              </a:rPr>
              <a:t>01</a:t>
            </a:r>
            <a:endParaRPr kumimoji="1" lang="zh-CN" altLang="en-US"/>
          </a:p>
        </p:txBody>
      </p:sp>
      <p:sp>
        <p:nvSpPr>
          <p:cNvPr id="12" name="标题 1"/>
          <p:cNvSpPr txBox="1"/>
          <p:nvPr/>
        </p:nvSpPr>
        <p:spPr>
          <a:xfrm>
            <a:off x="7339758" y="1781271"/>
            <a:ext cx="2095262" cy="1769715"/>
          </a:xfrm>
          <a:prstGeom prst="rect">
            <a:avLst/>
          </a:prstGeom>
          <a:noFill/>
          <a:ln>
            <a:noFill/>
          </a:ln>
        </p:spPr>
        <p:txBody>
          <a:bodyPr vert="horz" wrap="square" lIns="0" tIns="0" rIns="0" bIns="0" rtlCol="0" anchor="t"/>
          <a:lstStyle/>
          <a:p>
            <a:pPr algn="ctr"/>
            <a:r>
              <a:rPr kumimoji="1" lang="en-US" altLang="zh-CN" sz="11500">
                <a:ln w="12700">
                  <a:noFill/>
                </a:ln>
                <a:gradFill>
                  <a:gsLst>
                    <a:gs pos="0">
                      <a:schemeClr val="accent2">
                        <a:lumMod val="60000"/>
                        <a:lumOff val="40000"/>
                      </a:schemeClr>
                    </a:gs>
                    <a:gs pos="100000">
                      <a:schemeClr val="accent2"/>
                    </a:gs>
                  </a:gsLst>
                  <a:lin ang="6600000" scaled="0"/>
                </a:gradFill>
                <a:latin typeface="poppins-bold"/>
                <a:ea typeface="poppins-bold"/>
                <a:cs typeface="poppins-bold"/>
              </a:rPr>
              <a:t>02</a:t>
            </a:r>
            <a:endParaRPr kumimoji="1" lang="zh-CN" altLang="en-US"/>
          </a:p>
        </p:txBody>
      </p:sp>
      <p:sp>
        <p:nvSpPr>
          <p:cNvPr id="13" name="标题 1"/>
          <p:cNvSpPr txBox="1"/>
          <p:nvPr/>
        </p:nvSpPr>
        <p:spPr>
          <a:xfrm>
            <a:off x="6803165" y="3787871"/>
            <a:ext cx="3168449" cy="518299"/>
          </a:xfrm>
          <a:prstGeom prst="rect">
            <a:avLst/>
          </a:prstGeom>
          <a:noFill/>
          <a:ln>
            <a:noFill/>
          </a:ln>
        </p:spPr>
        <p:txBody>
          <a:bodyPr vert="horz" wrap="square" lIns="0" tIns="0" rIns="0" bIns="0" rtlCol="0" anchor="b"/>
          <a:lstStyle/>
          <a:p>
            <a:pPr algn="ctr"/>
            <a:r>
              <a:rPr kumimoji="1" lang="en-US" altLang="zh-CN" sz="1600">
                <a:ln w="12700">
                  <a:noFill/>
                </a:ln>
                <a:solidFill>
                  <a:srgbClr val="30556B">
                    <a:alpha val="100000"/>
                  </a:srgbClr>
                </a:solidFill>
                <a:latin typeface="poppins-bold"/>
                <a:ea typeface="poppins-bold"/>
                <a:cs typeface="poppins-bold"/>
              </a:rPr>
              <a:t>Impacto en la organización</a:t>
            </a:r>
            <a:endParaRPr kumimoji="1" lang="zh-CN" altLang="en-US"/>
          </a:p>
        </p:txBody>
      </p:sp>
      <p:sp>
        <p:nvSpPr>
          <p:cNvPr id="14" name="标题 1"/>
          <p:cNvSpPr txBox="1"/>
          <p:nvPr/>
        </p:nvSpPr>
        <p:spPr>
          <a:xfrm>
            <a:off x="6811629" y="4312322"/>
            <a:ext cx="3151521" cy="1102353"/>
          </a:xfrm>
          <a:prstGeom prst="rect">
            <a:avLst/>
          </a:prstGeom>
          <a:noFill/>
          <a:ln>
            <a:noFill/>
          </a:ln>
        </p:spPr>
        <p:txBody>
          <a:bodyPr vert="horz" wrap="square" lIns="0" tIns="0" rIns="0" bIns="0" rtlCol="0" anchor="t"/>
          <a:lstStyle/>
          <a:p>
            <a:pPr algn="ctr"/>
            <a:r>
              <a:rPr kumimoji="1" lang="en-US" altLang="zh-CN" sz="984">
                <a:ln w="12700">
                  <a:noFill/>
                </a:ln>
                <a:solidFill>
                  <a:srgbClr val="000000">
                    <a:alpha val="100000"/>
                  </a:srgbClr>
                </a:solidFill>
                <a:latin typeface="Poppins"/>
                <a:ea typeface="Poppins"/>
                <a:cs typeface="Poppins"/>
              </a:rPr>
              <a:t>La certificación impulsó una mayor confianza de los clientes y stakeholders, mejoró la reputación de la empresa y promovió una cultura de mejora continua en la gestión de servicios.</a:t>
            </a:r>
            <a:endParaRPr kumimoji="1" lang="zh-CN" altLang="en-US"/>
          </a:p>
        </p:txBody>
      </p:sp>
      <p:sp>
        <p:nvSpPr>
          <p:cNvPr id="15" name="标题 1"/>
          <p:cNvSpPr txBox="1"/>
          <p:nvPr/>
        </p:nvSpPr>
        <p:spPr>
          <a:xfrm>
            <a:off x="787215" y="385281"/>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Caso de Estudio: Empresa B</a:t>
            </a:r>
            <a:endParaRPr kumimoji="1" lang="zh-CN" altLang="en-US"/>
          </a:p>
        </p:txBody>
      </p:sp>
      <p:sp>
        <p:nvSpPr>
          <p:cNvPr id="16" name="标题 1"/>
          <p:cNvSpPr txBox="1"/>
          <p:nvPr/>
        </p:nvSpPr>
        <p:spPr>
          <a:xfrm rot="5400000">
            <a:off x="4927488" y="-3337448"/>
            <a:ext cx="99060" cy="8633236"/>
          </a:xfrm>
          <a:prstGeom prst="roundRect">
            <a:avLst>
              <a:gd name="adj" fmla="val 50000"/>
            </a:avLst>
          </a:prstGeom>
          <a:gradFill>
            <a:gsLst>
              <a:gs pos="0">
                <a:schemeClr val="accent1"/>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8" name="Imagen 17">
            <a:extLst>
              <a:ext uri="{FF2B5EF4-FFF2-40B4-BE49-F238E27FC236}">
                <a16:creationId xmlns:a16="http://schemas.microsoft.com/office/drawing/2014/main" id="{6B3A7208-A4AA-DA7F-3F0F-E8A26AC830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C0E2E9-A601-A55E-DE34-4EFF64C0AA57}"/>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C9CEC828-1300-0536-4C7D-85D0BC1E4FA6}"/>
              </a:ext>
            </a:extLst>
          </p:cNvPr>
          <p:cNvSpPr txBox="1"/>
          <p:nvPr/>
        </p:nvSpPr>
        <p:spPr>
          <a:xfrm>
            <a:off x="660400" y="1137266"/>
            <a:ext cx="7177017" cy="1477987"/>
          </a:xfrm>
          <a:prstGeom prst="rect">
            <a:avLst/>
          </a:prstGeom>
          <a:noFill/>
          <a:ln>
            <a:noFill/>
          </a:ln>
        </p:spPr>
        <p:txBody>
          <a:bodyPr vert="horz" wrap="square" lIns="0" tIns="0" rIns="0" bIns="0" rtlCol="0" anchor="t"/>
          <a:lstStyle/>
          <a:p>
            <a:pPr algn="just"/>
            <a:r>
              <a:rPr lang="es-ES" sz="1200" b="1" dirty="0">
                <a:latin typeface="Arial" panose="020B0604020202020204" pitchFamily="34" charset="0"/>
                <a:cs typeface="Arial" panose="020B0604020202020204" pitchFamily="34" charset="0"/>
              </a:rPr>
              <a:t>"</a:t>
            </a:r>
            <a:r>
              <a:rPr lang="es-ES" sz="1200" b="1" dirty="0" err="1">
                <a:latin typeface="Arial" panose="020B0604020202020204" pitchFamily="34" charset="0"/>
                <a:cs typeface="Arial" panose="020B0604020202020204" pitchFamily="34" charset="0"/>
              </a:rPr>
              <a:t>DataCenter</a:t>
            </a:r>
            <a:r>
              <a:rPr lang="es-ES" sz="1200" b="1" dirty="0">
                <a:latin typeface="Arial" panose="020B0604020202020204" pitchFamily="34" charset="0"/>
                <a:cs typeface="Arial" panose="020B0604020202020204" pitchFamily="34" charset="0"/>
              </a:rPr>
              <a:t> Andino - Apagones y Caos“</a:t>
            </a:r>
          </a:p>
          <a:p>
            <a:pPr algn="just"/>
            <a:endParaRPr lang="es-ES" sz="1200" dirty="0">
              <a:latin typeface="Arial" panose="020B0604020202020204" pitchFamily="34" charset="0"/>
              <a:cs typeface="Arial" panose="020B0604020202020204" pitchFamily="34" charset="0"/>
            </a:endParaRPr>
          </a:p>
          <a:p>
            <a:pPr algn="just"/>
            <a:r>
              <a:rPr lang="es-ES" sz="1200" b="1" dirty="0">
                <a:latin typeface="Arial" panose="020B0604020202020204" pitchFamily="34" charset="0"/>
                <a:cs typeface="Arial" panose="020B0604020202020204" pitchFamily="34" charset="0"/>
              </a:rPr>
              <a:t>Centro de Cómputo:</a:t>
            </a:r>
            <a:r>
              <a:rPr lang="es-ES" sz="1200" dirty="0">
                <a:latin typeface="Arial" panose="020B0604020202020204" pitchFamily="34" charset="0"/>
                <a:cs typeface="Arial" panose="020B0604020202020204" pitchFamily="34" charset="0"/>
              </a:rPr>
              <a:t> Un data center local que aloja los servidores de varias empresas de e-</a:t>
            </a:r>
            <a:r>
              <a:rPr lang="es-ES" sz="1200" dirty="0" err="1">
                <a:latin typeface="Arial" panose="020B0604020202020204" pitchFamily="34" charset="0"/>
                <a:cs typeface="Arial" panose="020B0604020202020204" pitchFamily="34" charset="0"/>
              </a:rPr>
              <a:t>commerce</a:t>
            </a:r>
            <a:r>
              <a:rPr lang="es-ES" sz="1200" dirty="0">
                <a:latin typeface="Arial" panose="020B0604020202020204" pitchFamily="34" charset="0"/>
                <a:cs typeface="Arial" panose="020B0604020202020204" pitchFamily="34" charset="0"/>
              </a:rPr>
              <a:t>.</a:t>
            </a:r>
          </a:p>
          <a:p>
            <a:pPr algn="just"/>
            <a:r>
              <a:rPr lang="es-ES" sz="1200" b="1" dirty="0">
                <a:latin typeface="Arial" panose="020B0604020202020204" pitchFamily="34" charset="0"/>
                <a:cs typeface="Arial" panose="020B0604020202020204" pitchFamily="34" charset="0"/>
              </a:rPr>
              <a:t>Problema:</a:t>
            </a:r>
            <a:r>
              <a:rPr lang="es-ES" sz="1200" dirty="0">
                <a:latin typeface="Arial" panose="020B0604020202020204" pitchFamily="34" charset="0"/>
                <a:cs typeface="Arial" panose="020B0604020202020204" pitchFamily="34" charset="0"/>
              </a:rPr>
              <a:t> En el último mes, han tenido dos caídas de servicio no planificadas. En la primera, un técnico, al hacer un cambio en un switch de red, desconectó el equipo equivocado. En la segunda, un aire acondicionado de precisión falló, provocando el sobrecalentamiento de varios servidores. El equipo reacciona a los problemas, pero no hay un proceso formal para nada.</a:t>
            </a:r>
          </a:p>
          <a:p>
            <a:pPr algn="just"/>
            <a:r>
              <a:rPr lang="es-ES" sz="1200" b="1" dirty="0">
                <a:latin typeface="Arial" panose="020B0604020202020204" pitchFamily="34" charset="0"/>
                <a:cs typeface="Arial" panose="020B0604020202020204" pitchFamily="34" charset="0"/>
              </a:rPr>
              <a:t>Normativa Clave a Enfocar:</a:t>
            </a:r>
            <a:r>
              <a:rPr lang="es-ES" sz="1200" dirty="0">
                <a:latin typeface="Arial" panose="020B0604020202020204" pitchFamily="34" charset="0"/>
                <a:cs typeface="Arial" panose="020B0604020202020204" pitchFamily="34" charset="0"/>
              </a:rPr>
              <a:t> </a:t>
            </a:r>
            <a:r>
              <a:rPr lang="es-ES" sz="1200" b="1" dirty="0">
                <a:latin typeface="Arial" panose="020B0604020202020204" pitchFamily="34" charset="0"/>
                <a:cs typeface="Arial" panose="020B0604020202020204" pitchFamily="34" charset="0"/>
              </a:rPr>
              <a:t>ITIL (Gestión de Operaciones)</a:t>
            </a:r>
            <a:r>
              <a:rPr lang="es-ES" sz="1200" dirty="0">
                <a:latin typeface="Arial" panose="020B0604020202020204" pitchFamily="34" charset="0"/>
                <a:cs typeface="Arial" panose="020B0604020202020204" pitchFamily="34" charset="0"/>
              </a:rPr>
              <a:t>.</a:t>
            </a:r>
          </a:p>
        </p:txBody>
      </p:sp>
      <p:sp>
        <p:nvSpPr>
          <p:cNvPr id="10" name="标题 1">
            <a:extLst>
              <a:ext uri="{FF2B5EF4-FFF2-40B4-BE49-F238E27FC236}">
                <a16:creationId xmlns:a16="http://schemas.microsoft.com/office/drawing/2014/main" id="{FA7EF5FB-1515-9E06-8E90-37A949080C42}"/>
              </a:ext>
            </a:extLst>
          </p:cNvPr>
          <p:cNvSpPr txBox="1"/>
          <p:nvPr/>
        </p:nvSpPr>
        <p:spPr>
          <a:xfrm>
            <a:off x="660400" y="2764761"/>
            <a:ext cx="7313561" cy="1477987"/>
          </a:xfrm>
          <a:prstGeom prst="rect">
            <a:avLst/>
          </a:prstGeom>
          <a:noFill/>
          <a:ln>
            <a:noFill/>
          </a:ln>
        </p:spPr>
        <p:txBody>
          <a:bodyPr vert="horz" wrap="square" lIns="0" tIns="0" rIns="0" bIns="0" rtlCol="0" anchor="t"/>
          <a:lstStyle/>
          <a:p>
            <a:r>
              <a:rPr lang="es-ES" sz="1200" b="1" dirty="0">
                <a:latin typeface="Arial" panose="020B0604020202020204" pitchFamily="34" charset="0"/>
                <a:cs typeface="Arial" panose="020B0604020202020204" pitchFamily="34" charset="0"/>
              </a:rPr>
              <a:t>Caso 2: "</a:t>
            </a:r>
            <a:r>
              <a:rPr lang="es-ES" sz="1200" b="1" dirty="0" err="1">
                <a:latin typeface="Arial" panose="020B0604020202020204" pitchFamily="34" charset="0"/>
                <a:cs typeface="Arial" panose="020B0604020202020204" pitchFamily="34" charset="0"/>
              </a:rPr>
              <a:t>HostSeguro</a:t>
            </a:r>
            <a:r>
              <a:rPr lang="es-ES" sz="1200" b="1" dirty="0">
                <a:latin typeface="Arial" panose="020B0604020202020204" pitchFamily="34" charset="0"/>
                <a:cs typeface="Arial" panose="020B0604020202020204" pitchFamily="34" charset="0"/>
              </a:rPr>
              <a:t> Ecuador - La Puerta Abierta“</a:t>
            </a:r>
          </a:p>
          <a:p>
            <a:endParaRPr lang="es-ES" sz="1200" dirty="0">
              <a:latin typeface="Arial" panose="020B0604020202020204" pitchFamily="34" charset="0"/>
              <a:cs typeface="Arial" panose="020B0604020202020204" pitchFamily="34" charset="0"/>
            </a:endParaRPr>
          </a:p>
          <a:p>
            <a:pPr algn="just"/>
            <a:r>
              <a:rPr lang="es-ES" sz="1200" b="1" dirty="0">
                <a:latin typeface="Arial" panose="020B0604020202020204" pitchFamily="34" charset="0"/>
                <a:cs typeface="Arial" panose="020B0604020202020204" pitchFamily="34" charset="0"/>
              </a:rPr>
              <a:t>Centro de Cómputo:</a:t>
            </a:r>
            <a:r>
              <a:rPr lang="es-ES" sz="1200" dirty="0">
                <a:latin typeface="Arial" panose="020B0604020202020204" pitchFamily="34" charset="0"/>
                <a:cs typeface="Arial" panose="020B0604020202020204" pitchFamily="34" charset="0"/>
              </a:rPr>
              <a:t> Un proveedor de </a:t>
            </a:r>
            <a:r>
              <a:rPr lang="es-ES" sz="1200" dirty="0" err="1">
                <a:latin typeface="Arial" panose="020B0604020202020204" pitchFamily="34" charset="0"/>
                <a:cs typeface="Arial" panose="020B0604020202020204" pitchFamily="34" charset="0"/>
              </a:rPr>
              <a:t>colocation</a:t>
            </a:r>
            <a:r>
              <a:rPr lang="es-ES" sz="1200" dirty="0">
                <a:latin typeface="Arial" panose="020B0604020202020204" pitchFamily="34" charset="0"/>
                <a:cs typeface="Arial" panose="020B0604020202020204" pitchFamily="34" charset="0"/>
              </a:rPr>
              <a:t> que quiere atraer clientes del sector bancario y gobierno.</a:t>
            </a:r>
          </a:p>
          <a:p>
            <a:r>
              <a:rPr lang="es-ES" sz="1200" b="1" dirty="0">
                <a:latin typeface="Arial" panose="020B0604020202020204" pitchFamily="34" charset="0"/>
                <a:cs typeface="Arial" panose="020B0604020202020204" pitchFamily="34" charset="0"/>
              </a:rPr>
              <a:t>Problema:</a:t>
            </a:r>
            <a:r>
              <a:rPr lang="es-ES" sz="1200" dirty="0">
                <a:latin typeface="Arial" panose="020B0604020202020204" pitchFamily="34" charset="0"/>
                <a:cs typeface="Arial" panose="020B0604020202020204" pitchFamily="34" charset="0"/>
              </a:rPr>
              <a:t> Un cliente potencial realizó una visita y notó fallas graves: la bitácora de acceso era un cuaderno manual con firmas ilegibles, no había cámaras apuntando a los gabinetes específicos y vieron a un técnico de otro cliente caminando solo por el "piso blanco" (la sala de servidores). El cliente potencial ha puesto el contrato en pausa por "dudas sobre la seguridad".</a:t>
            </a:r>
          </a:p>
          <a:p>
            <a:r>
              <a:rPr lang="es-ES" sz="1200" b="1" dirty="0">
                <a:latin typeface="Arial" panose="020B0604020202020204" pitchFamily="34" charset="0"/>
                <a:cs typeface="Arial" panose="020B0604020202020204" pitchFamily="34" charset="0"/>
              </a:rPr>
              <a:t>Normativa Clave a Enfocar:</a:t>
            </a:r>
            <a:r>
              <a:rPr lang="es-ES" sz="1200" dirty="0">
                <a:latin typeface="Arial" panose="020B0604020202020204" pitchFamily="34" charset="0"/>
                <a:cs typeface="Arial" panose="020B0604020202020204" pitchFamily="34" charset="0"/>
              </a:rPr>
              <a:t> </a:t>
            </a:r>
            <a:r>
              <a:rPr lang="es-ES" sz="1200" b="1" dirty="0">
                <a:latin typeface="Arial" panose="020B0604020202020204" pitchFamily="34" charset="0"/>
                <a:cs typeface="Arial" panose="020B0604020202020204" pitchFamily="34" charset="0"/>
              </a:rPr>
              <a:t>ISO/IEC 27001 (Seguridad Física y Lógica)</a:t>
            </a:r>
            <a:r>
              <a:rPr lang="es-ES" sz="1200" dirty="0">
                <a:latin typeface="Arial" panose="020B0604020202020204" pitchFamily="34" charset="0"/>
                <a:cs typeface="Arial" panose="020B0604020202020204" pitchFamily="34" charset="0"/>
              </a:rPr>
              <a:t>.</a:t>
            </a:r>
          </a:p>
        </p:txBody>
      </p:sp>
      <p:sp>
        <p:nvSpPr>
          <p:cNvPr id="12" name="标题 1">
            <a:extLst>
              <a:ext uri="{FF2B5EF4-FFF2-40B4-BE49-F238E27FC236}">
                <a16:creationId xmlns:a16="http://schemas.microsoft.com/office/drawing/2014/main" id="{34001665-E9C4-94A4-0682-B2595B2CC606}"/>
              </a:ext>
            </a:extLst>
          </p:cNvPr>
          <p:cNvSpPr txBox="1"/>
          <p:nvPr/>
        </p:nvSpPr>
        <p:spPr>
          <a:xfrm>
            <a:off x="1151916" y="386813"/>
            <a:ext cx="10671175"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Actividad</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en</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clase</a:t>
            </a:r>
            <a:endParaRPr kumimoji="1" lang="zh-CN" altLang="en-US" dirty="0"/>
          </a:p>
        </p:txBody>
      </p:sp>
      <p:sp>
        <p:nvSpPr>
          <p:cNvPr id="14" name="标题 1">
            <a:extLst>
              <a:ext uri="{FF2B5EF4-FFF2-40B4-BE49-F238E27FC236}">
                <a16:creationId xmlns:a16="http://schemas.microsoft.com/office/drawing/2014/main" id="{BC0FA32F-EBC1-BE73-10F6-FD0C2FAD86E4}"/>
              </a:ext>
            </a:extLst>
          </p:cNvPr>
          <p:cNvSpPr txBox="1"/>
          <p:nvPr/>
        </p:nvSpPr>
        <p:spPr>
          <a:xfrm rot="19381400" flipH="1">
            <a:off x="78135" y="46464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767F67DB-BAED-0451-3F55-B9068A4131F9}"/>
              </a:ext>
            </a:extLst>
          </p:cNvPr>
          <p:cNvSpPr txBox="1"/>
          <p:nvPr/>
        </p:nvSpPr>
        <p:spPr>
          <a:xfrm>
            <a:off x="660399" y="4392256"/>
            <a:ext cx="7177017" cy="1689532"/>
          </a:xfrm>
          <a:prstGeom prst="rect">
            <a:avLst/>
          </a:prstGeom>
          <a:noFill/>
          <a:ln>
            <a:noFill/>
          </a:ln>
        </p:spPr>
        <p:txBody>
          <a:bodyPr vert="horz" wrap="square" lIns="0" tIns="0" rIns="0" bIns="0" rtlCol="0" anchor="t"/>
          <a:lstStyle/>
          <a:p>
            <a:pPr algn="just"/>
            <a:r>
              <a:rPr lang="es-ES" sz="1200" b="1" dirty="0">
                <a:latin typeface="Arial" panose="020B0604020202020204" pitchFamily="34" charset="0"/>
                <a:cs typeface="Arial" panose="020B0604020202020204" pitchFamily="34" charset="0"/>
              </a:rPr>
              <a:t>Caso 3: "Nube-</a:t>
            </a:r>
            <a:r>
              <a:rPr lang="es-ES" sz="1200" b="1" dirty="0" err="1">
                <a:latin typeface="Arial" panose="020B0604020202020204" pitchFamily="34" charset="0"/>
                <a:cs typeface="Arial" panose="020B0604020202020204" pitchFamily="34" charset="0"/>
              </a:rPr>
              <a:t>Latam</a:t>
            </a:r>
            <a:r>
              <a:rPr lang="es-ES" sz="1200" b="1" dirty="0">
                <a:latin typeface="Arial" panose="020B0604020202020204" pitchFamily="34" charset="0"/>
                <a:cs typeface="Arial" panose="020B0604020202020204" pitchFamily="34" charset="0"/>
              </a:rPr>
              <a:t> </a:t>
            </a:r>
            <a:r>
              <a:rPr lang="es-ES" sz="1200" b="1" dirty="0" err="1">
                <a:latin typeface="Arial" panose="020B0604020202020204" pitchFamily="34" charset="0"/>
                <a:cs typeface="Arial" panose="020B0604020202020204" pitchFamily="34" charset="0"/>
              </a:rPr>
              <a:t>Services</a:t>
            </a:r>
            <a:r>
              <a:rPr lang="es-ES" sz="1200" b="1" dirty="0">
                <a:latin typeface="Arial" panose="020B0604020202020204" pitchFamily="34" charset="0"/>
                <a:cs typeface="Arial" panose="020B0604020202020204" pitchFamily="34" charset="0"/>
              </a:rPr>
              <a:t> - Promesas Rotas“</a:t>
            </a:r>
          </a:p>
          <a:p>
            <a:pPr algn="just"/>
            <a:endParaRPr lang="es-ES" sz="1200" dirty="0">
              <a:latin typeface="Arial" panose="020B0604020202020204" pitchFamily="34" charset="0"/>
              <a:cs typeface="Arial" panose="020B0604020202020204" pitchFamily="34" charset="0"/>
            </a:endParaRPr>
          </a:p>
          <a:p>
            <a:pPr algn="just"/>
            <a:r>
              <a:rPr lang="es-ES" sz="1200" b="1" dirty="0">
                <a:latin typeface="Arial" panose="020B0604020202020204" pitchFamily="34" charset="0"/>
                <a:cs typeface="Arial" panose="020B0604020202020204" pitchFamily="34" charset="0"/>
              </a:rPr>
              <a:t>Centro de Cómputo:</a:t>
            </a:r>
            <a:r>
              <a:rPr lang="es-ES" sz="1200" dirty="0">
                <a:latin typeface="Arial" panose="020B0604020202020204" pitchFamily="34" charset="0"/>
                <a:cs typeface="Arial" panose="020B0604020202020204" pitchFamily="34" charset="0"/>
              </a:rPr>
              <a:t> Una empresa que vende servicios de nube privada y que garantiza en su publicidad un "99.9% de disponibilidad".</a:t>
            </a:r>
          </a:p>
          <a:p>
            <a:pPr algn="just"/>
            <a:r>
              <a:rPr lang="es-ES" sz="1200" b="1" dirty="0">
                <a:latin typeface="Arial" panose="020B0604020202020204" pitchFamily="34" charset="0"/>
                <a:cs typeface="Arial" panose="020B0604020202020204" pitchFamily="34" charset="0"/>
              </a:rPr>
              <a:t>Problema:</a:t>
            </a:r>
            <a:r>
              <a:rPr lang="es-ES" sz="1200" dirty="0">
                <a:latin typeface="Arial" panose="020B0604020202020204" pitchFamily="34" charset="0"/>
                <a:cs typeface="Arial" panose="020B0604020202020204" pitchFamily="34" charset="0"/>
              </a:rPr>
              <a:t> Un cliente importante se ha quejado formalmente. Alega que su servicio ha sufrido varias "</a:t>
            </a:r>
            <a:r>
              <a:rPr lang="es-ES" sz="1200" dirty="0" err="1">
                <a:latin typeface="Arial" panose="020B0604020202020204" pitchFamily="34" charset="0"/>
                <a:cs typeface="Arial" panose="020B0604020202020204" pitchFamily="34" charset="0"/>
              </a:rPr>
              <a:t>micro-cortes</a:t>
            </a:r>
            <a:r>
              <a:rPr lang="es-ES" sz="1200" dirty="0">
                <a:latin typeface="Arial" panose="020B0604020202020204" pitchFamily="34" charset="0"/>
                <a:cs typeface="Arial" panose="020B0604020202020204" pitchFamily="34" charset="0"/>
              </a:rPr>
              <a:t>" que la empresa no ha registrado. No existe un informe mensual de disponibilidad, no hay un documento formal que defina qué significa "99.9% de disponibilidad" (SLA) y el cliente no sabe a quién llamar para escalar el problema.</a:t>
            </a:r>
          </a:p>
          <a:p>
            <a:pPr algn="just"/>
            <a:r>
              <a:rPr lang="es-ES" sz="1200" b="1" dirty="0">
                <a:latin typeface="Arial" panose="020B0604020202020204" pitchFamily="34" charset="0"/>
                <a:cs typeface="Arial" panose="020B0604020202020204" pitchFamily="34" charset="0"/>
              </a:rPr>
              <a:t>Normativa Clave a Enfocar:</a:t>
            </a:r>
            <a:r>
              <a:rPr lang="es-ES" sz="1200" dirty="0">
                <a:latin typeface="Arial" panose="020B0604020202020204" pitchFamily="34" charset="0"/>
                <a:cs typeface="Arial" panose="020B0604020202020204" pitchFamily="34" charset="0"/>
              </a:rPr>
              <a:t> </a:t>
            </a:r>
            <a:r>
              <a:rPr lang="es-ES" sz="1200" b="1" dirty="0">
                <a:latin typeface="Arial" panose="020B0604020202020204" pitchFamily="34" charset="0"/>
                <a:cs typeface="Arial" panose="020B0604020202020204" pitchFamily="34" charset="0"/>
              </a:rPr>
              <a:t>ISO/IEC 20000 (Gestión de Servicios)</a:t>
            </a:r>
            <a:r>
              <a:rPr lang="es-ES" sz="1200" dirty="0">
                <a:latin typeface="Arial" panose="020B0604020202020204" pitchFamily="34" charset="0"/>
                <a:cs typeface="Arial" panose="020B0604020202020204" pitchFamily="34" charset="0"/>
              </a:rPr>
              <a:t>.</a:t>
            </a:r>
          </a:p>
        </p:txBody>
      </p:sp>
      <p:pic>
        <p:nvPicPr>
          <p:cNvPr id="2" name="Imagen 1">
            <a:extLst>
              <a:ext uri="{FF2B5EF4-FFF2-40B4-BE49-F238E27FC236}">
                <a16:creationId xmlns:a16="http://schemas.microsoft.com/office/drawing/2014/main" id="{D0DBB20A-4488-DAB7-CC18-6B027CDE67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805796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bold"/>
                <a:ea typeface="poppins-bold"/>
                <a:cs typeface="poppins-bold"/>
              </a:rPr>
              <a:t>Thanks</a:t>
            </a:r>
            <a:endParaRPr kumimoji="1" lang="zh-CN" altLang="en-US"/>
          </a:p>
        </p:txBody>
      </p:sp>
      <p:sp>
        <p:nvSpPr>
          <p:cNvPr id="7" name="标题 1"/>
          <p:cNvSpPr txBox="1"/>
          <p:nvPr/>
        </p:nvSpPr>
        <p:spPr>
          <a:xfrm>
            <a:off x="914401" y="4646065"/>
            <a:ext cx="6972300" cy="276999"/>
          </a:xfrm>
          <a:prstGeom prst="rect">
            <a:avLst/>
          </a:prstGeom>
          <a:noFill/>
          <a:ln>
            <a:noFill/>
          </a:ln>
        </p:spPr>
        <p:txBody>
          <a:bodyPr vert="horz" wrap="square" lIns="0" tIns="0" rIns="0" bIns="0" rtlCol="0" anchor="t">
            <a:spAutoFit/>
          </a:bodyPr>
          <a:lstStyle/>
          <a:p>
            <a:pPr algn="l"/>
            <a:r>
              <a:rPr kumimoji="1" lang="en-US" altLang="zh-CN" sz="1800" dirty="0">
                <a:ln w="12700">
                  <a:noFill/>
                </a:ln>
                <a:solidFill>
                  <a:srgbClr val="262626">
                    <a:alpha val="100000"/>
                  </a:srgbClr>
                </a:solidFill>
                <a:latin typeface="Poppins"/>
                <a:ea typeface="Poppins"/>
                <a:cs typeface="Poppins"/>
              </a:rPr>
              <a:t>MGS. JOSE FRANCO LAMILLA</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16" name="Imagen 15">
            <a:extLst>
              <a:ext uri="{FF2B5EF4-FFF2-40B4-BE49-F238E27FC236}">
                <a16:creationId xmlns:a16="http://schemas.microsoft.com/office/drawing/2014/main" id="{74976B66-0F2A-34B0-8498-3DAC8FA0C0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C53645"/>
      </a:accent1>
      <a:accent2>
        <a:srgbClr val="30556B"/>
      </a:accent2>
      <a:accent3>
        <a:srgbClr val="095CB6"/>
      </a:accent3>
      <a:accent4>
        <a:srgbClr val="487ED7"/>
      </a:accent4>
      <a:accent5>
        <a:srgbClr val="909090"/>
      </a:accent5>
      <a:accent6>
        <a:srgbClr val="BEBEBE"/>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3115</Words>
  <Application>Microsoft Office PowerPoint</Application>
  <PresentationFormat>Panorámica</PresentationFormat>
  <Paragraphs>223</Paragraphs>
  <Slides>27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Arial</vt:lpstr>
      <vt:lpstr>Poppins</vt:lpstr>
      <vt:lpstr>poppins-bold</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11</cp:revision>
  <dcterms:modified xsi:type="dcterms:W3CDTF">2025-09-30T17:50:11Z</dcterms:modified>
</cp:coreProperties>
</file>
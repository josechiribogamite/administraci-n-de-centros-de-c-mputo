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4" r:id="rId8"/>
    <p:sldId id="263" r:id="rId9"/>
    <p:sldId id="262" r:id="rId10"/>
    <p:sldId id="265" r:id="rId11"/>
  </p:sldIdLst>
  <p:sldSz cx="12192000" cy="6858000"/>
  <p:notesSz cx="6858000" cy="9144000"/>
  <p:embeddedFontLst>
    <p:embeddedFont>
      <p:font typeface="Barlow Condensed Medium" panose="00000606000000000000" pitchFamily="2" charset="0"/>
      <p:regular r:id="rId12"/>
      <p:italic r:id="rId13"/>
    </p:embeddedFont>
    <p:embeddedFont>
      <p:font typeface="Poppins" panose="00000500000000000000" pitchFamily="2" charset="0"/>
      <p:regular r:id="rId14"/>
      <p:bold r:id="rId15"/>
      <p:boldItalic r:id="rId16"/>
    </p:embeddedFont>
    <p:embeddedFont>
      <p:font typeface="poppins-bold" panose="020B0604020202020204" charset="0"/>
      <p:regular r:id="rId17"/>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a:off x="5355771" y="1016001"/>
            <a:ext cx="6662058" cy="4586514"/>
          </a:xfrm>
          <a:prstGeom prst="rect">
            <a:avLst/>
          </a:prstGeom>
          <a:noFill/>
          <a:ln>
            <a:noFill/>
          </a:ln>
        </p:spPr>
      </p:pic>
      <p:sp>
        <p:nvSpPr>
          <p:cNvPr id="4" name="标题 1"/>
          <p:cNvSpPr txBox="1"/>
          <p:nvPr/>
        </p:nvSpPr>
        <p:spPr>
          <a:xfrm>
            <a:off x="518144" y="2073584"/>
            <a:ext cx="4823112" cy="2086725"/>
          </a:xfrm>
          <a:prstGeom prst="rect">
            <a:avLst/>
          </a:prstGeom>
          <a:noFill/>
          <a:ln>
            <a:noFill/>
          </a:ln>
        </p:spPr>
        <p:txBody>
          <a:bodyPr vert="horz" wrap="square" lIns="91440" tIns="45720" rIns="91440" bIns="45720" rtlCol="0" anchor="ctr"/>
          <a:lstStyle/>
          <a:p>
            <a:pPr algn="l"/>
            <a:r>
              <a:rPr kumimoji="1" lang="en-US" altLang="zh-CN" sz="2700">
                <a:ln w="12700">
                  <a:noFill/>
                </a:ln>
                <a:solidFill>
                  <a:srgbClr val="000000">
                    <a:alpha val="100000"/>
                  </a:srgbClr>
                </a:solidFill>
                <a:latin typeface="Barlow Condensed Medium"/>
                <a:ea typeface="Barlow Condensed Medium"/>
                <a:cs typeface="Barlow Condensed Medium"/>
              </a:rPr>
              <a:t>Relación con el Desarrollo de Software y Bases de Datos</a:t>
            </a:r>
            <a:endParaRPr kumimoji="1"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567690" y="2778947"/>
            <a:ext cx="3172388" cy="430887"/>
          </a:xfrm>
          <a:prstGeom prst="rect">
            <a:avLst/>
          </a:prstGeom>
          <a:noFill/>
          <a:ln w="12700" cap="sq">
            <a:noFill/>
            <a:miter/>
          </a:ln>
        </p:spPr>
        <p:txBody>
          <a:bodyPr vert="horz" wrap="square" lIns="0" tIns="0" rIns="0" bIns="0" rtlCol="0" anchor="ctr"/>
          <a:lstStyle/>
          <a:p>
            <a:pPr algn="r"/>
            <a:r>
              <a:rPr kumimoji="1" lang="en-US" altLang="zh-CN" sz="4000" dirty="0" err="1">
                <a:ln w="12700">
                  <a:noFill/>
                </a:ln>
                <a:latin typeface="poppins-bold"/>
                <a:ea typeface="poppins-bold"/>
                <a:cs typeface="poppins-bold"/>
              </a:rPr>
              <a:t>C</a:t>
            </a:r>
            <a:r>
              <a:rPr kumimoji="1" lang="en-US" altLang="zh-CN" sz="4000" dirty="0" err="1">
                <a:ln w="12700">
                  <a:noFill/>
                </a:ln>
                <a:solidFill>
                  <a:srgbClr val="000000">
                    <a:alpha val="100000"/>
                  </a:srgbClr>
                </a:solidFill>
                <a:latin typeface="poppins-bold"/>
                <a:ea typeface="poppins-bold"/>
                <a:cs typeface="poppins-bold"/>
              </a:rPr>
              <a:t>ontenido</a:t>
            </a:r>
            <a:endParaRPr kumimoji="1" lang="zh-CN" altLang="en-US" dirty="0"/>
          </a:p>
        </p:txBody>
      </p:sp>
      <p:sp>
        <p:nvSpPr>
          <p:cNvPr id="5" name="标题 1"/>
          <p:cNvSpPr txBox="1"/>
          <p:nvPr/>
        </p:nvSpPr>
        <p:spPr>
          <a:xfrm>
            <a:off x="0" y="6724650"/>
            <a:ext cx="12191741" cy="133510"/>
          </a:xfrm>
          <a:custGeom>
            <a:avLst/>
            <a:gdLst>
              <a:gd name="connsiteX0" fmla="*/ 0 w 12191741"/>
              <a:gd name="connsiteY0" fmla="*/ 0 h 341410"/>
              <a:gd name="connsiteX1" fmla="*/ 12191742 w 12191741"/>
              <a:gd name="connsiteY1" fmla="*/ 0 h 341410"/>
              <a:gd name="connsiteX2" fmla="*/ 12191742 w 12191741"/>
              <a:gd name="connsiteY2" fmla="*/ 341410 h 341410"/>
              <a:gd name="connsiteX3" fmla="*/ 0 w 12191741"/>
              <a:gd name="connsiteY3" fmla="*/ 341410 h 341410"/>
            </a:gdLst>
            <a:ahLst/>
            <a:cxnLst/>
            <a:rect l="l" t="t" r="r" b="b"/>
            <a:pathLst>
              <a:path w="12191741" h="341410">
                <a:moveTo>
                  <a:pt x="0" y="0"/>
                </a:moveTo>
                <a:lnTo>
                  <a:pt x="12191742" y="0"/>
                </a:lnTo>
                <a:lnTo>
                  <a:pt x="12191742" y="341410"/>
                </a:lnTo>
                <a:lnTo>
                  <a:pt x="0" y="341410"/>
                </a:lnTo>
                <a:close/>
              </a:path>
            </a:pathLst>
          </a:custGeom>
          <a:solidFill>
            <a:schemeClr val="accent1">
              <a:lumMod val="75000"/>
            </a:schemeClr>
          </a:solidFill>
          <a:ln w="8604"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rot="5400000">
            <a:off x="2919603" y="2941969"/>
            <a:ext cx="2880000" cy="36000"/>
          </a:xfrm>
          <a:prstGeom prst="rect">
            <a:avLst/>
          </a:prstGeom>
          <a:solidFill>
            <a:schemeClr val="bg1">
              <a:lumMod val="85000"/>
            </a:schemeClr>
          </a:solidFill>
          <a:ln w="9525"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4817160" y="1588813"/>
            <a:ext cx="6807150" cy="2811156"/>
          </a:xfrm>
          <a:prstGeom prst="rect">
            <a:avLst/>
          </a:prstGeom>
          <a:noFill/>
          <a:ln>
            <a:noFill/>
          </a:ln>
        </p:spPr>
        <p:txBody>
          <a:bodyPr vert="horz" wrap="square" lIns="0" tIns="0" rIns="0" bIns="0" rtlCol="0" anchor="t"/>
          <a:lstStyle/>
          <a:p>
            <a:pPr algn="l"/>
            <a:r>
              <a:rPr kumimoji="1" lang="en-US" altLang="zh-CN" sz="2000" dirty="0">
                <a:ln w="12700">
                  <a:noFill/>
                </a:ln>
                <a:solidFill>
                  <a:srgbClr val="000000">
                    <a:alpha val="100000"/>
                  </a:srgbClr>
                </a:solidFill>
                <a:latin typeface="Poppins"/>
                <a:ea typeface="Poppins"/>
                <a:cs typeface="Poppins"/>
              </a:rPr>
              <a:t>Relación con </a:t>
            </a:r>
            <a:r>
              <a:rPr kumimoji="1" lang="en-US" altLang="zh-CN" sz="2000" dirty="0" err="1">
                <a:ln w="12700">
                  <a:noFill/>
                </a:ln>
                <a:solidFill>
                  <a:srgbClr val="000000">
                    <a:alpha val="100000"/>
                  </a:srgbClr>
                </a:solidFill>
                <a:latin typeface="Poppins"/>
                <a:ea typeface="Poppins"/>
                <a:cs typeface="Poppins"/>
              </a:rPr>
              <a:t>el</a:t>
            </a:r>
            <a:r>
              <a:rPr kumimoji="1" lang="en-US" altLang="zh-CN" sz="2000" dirty="0">
                <a:ln w="12700">
                  <a:noFill/>
                </a:ln>
                <a:solidFill>
                  <a:srgbClr val="000000">
                    <a:alpha val="100000"/>
                  </a:srgbClr>
                </a:solidFill>
                <a:latin typeface="Poppins"/>
                <a:ea typeface="Poppins"/>
                <a:cs typeface="Poppins"/>
              </a:rPr>
              <a:t> Desarrollo de Software y Bases de Datos</a:t>
            </a:r>
          </a:p>
          <a:p>
            <a:endParaRPr kumimoji="1" lang="en-US" altLang="zh-CN" sz="2000" dirty="0">
              <a:ln w="12700">
                <a:noFill/>
              </a:ln>
              <a:solidFill>
                <a:srgbClr val="000000">
                  <a:alpha val="100000"/>
                </a:srgbClr>
              </a:solidFill>
              <a:latin typeface="Poppins"/>
              <a:cs typeface="Poppins"/>
            </a:endParaRPr>
          </a:p>
          <a:p>
            <a:pPr lvl="0"/>
            <a:r>
              <a:rPr kumimoji="1" lang="es-EC" sz="2000" dirty="0">
                <a:ln w="12700">
                  <a:noFill/>
                </a:ln>
                <a:solidFill>
                  <a:srgbClr val="000000">
                    <a:alpha val="100000"/>
                  </a:srgbClr>
                </a:solidFill>
                <a:latin typeface="Poppins"/>
                <a:cs typeface="Poppins"/>
              </a:rPr>
              <a:t>Infraestructura y ciclo de vida del software.</a:t>
            </a:r>
          </a:p>
          <a:p>
            <a:pPr lvl="0"/>
            <a:endParaRPr kumimoji="1" lang="es-EC" sz="2000" dirty="0">
              <a:ln w="12700">
                <a:noFill/>
              </a:ln>
              <a:solidFill>
                <a:srgbClr val="000000">
                  <a:alpha val="100000"/>
                </a:srgbClr>
              </a:solidFill>
              <a:latin typeface="Poppins"/>
              <a:cs typeface="Poppins"/>
            </a:endParaRPr>
          </a:p>
          <a:p>
            <a:pPr lvl="0"/>
            <a:r>
              <a:rPr kumimoji="1" lang="es-EC" sz="2000" dirty="0">
                <a:ln w="12700">
                  <a:noFill/>
                </a:ln>
                <a:solidFill>
                  <a:srgbClr val="000000">
                    <a:alpha val="100000"/>
                  </a:srgbClr>
                </a:solidFill>
                <a:latin typeface="Poppins"/>
                <a:cs typeface="Poppins"/>
              </a:rPr>
              <a:t>Administración eficiente de bases de datos.</a:t>
            </a:r>
          </a:p>
          <a:p>
            <a:pPr lvl="0"/>
            <a:endParaRPr kumimoji="1" lang="es-EC" sz="2000" dirty="0">
              <a:ln w="12700">
                <a:noFill/>
              </a:ln>
              <a:solidFill>
                <a:srgbClr val="000000">
                  <a:alpha val="100000"/>
                </a:srgbClr>
              </a:solidFill>
              <a:latin typeface="Poppins"/>
              <a:cs typeface="Poppins"/>
            </a:endParaRPr>
          </a:p>
          <a:p>
            <a:pPr lvl="0"/>
            <a:r>
              <a:rPr kumimoji="1" lang="es-EC" sz="2000" dirty="0">
                <a:ln w="12700">
                  <a:noFill/>
                </a:ln>
                <a:solidFill>
                  <a:srgbClr val="000000">
                    <a:alpha val="100000"/>
                  </a:srgbClr>
                </a:solidFill>
                <a:latin typeface="Poppins"/>
                <a:cs typeface="Poppins"/>
              </a:rPr>
              <a:t>Integración de servicios y plataformas.</a:t>
            </a:r>
          </a:p>
          <a:p>
            <a:pPr algn="l"/>
            <a:endParaRPr kumimoji="1" lang="zh-CN" altLang="en-US" dirty="0"/>
          </a:p>
        </p:txBody>
      </p:sp>
      <p:pic>
        <p:nvPicPr>
          <p:cNvPr id="10" name="Imagen 9">
            <a:extLst>
              <a:ext uri="{FF2B5EF4-FFF2-40B4-BE49-F238E27FC236}">
                <a16:creationId xmlns:a16="http://schemas.microsoft.com/office/drawing/2014/main" id="{F2368281-FD18-9AE2-3BA0-555969F41D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039">
                <a:ln w="12700">
                  <a:noFill/>
                </a:ln>
                <a:solidFill>
                  <a:srgbClr val="000000">
                    <a:alpha val="100000"/>
                  </a:srgbClr>
                </a:solidFill>
                <a:latin typeface="poppins-bold"/>
                <a:ea typeface="poppins-bold"/>
                <a:cs typeface="poppins-bold"/>
              </a:rPr>
              <a:t>Relación con el Desarrollo de Software y Bases de Datos</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01</a:t>
            </a:r>
            <a:endParaRPr kumimoji="1" lang="zh-CN" altLang="en-US"/>
          </a:p>
        </p:txBody>
      </p:sp>
      <p:pic>
        <p:nvPicPr>
          <p:cNvPr id="8" name="Imagen 7">
            <a:extLst>
              <a:ext uri="{FF2B5EF4-FFF2-40B4-BE49-F238E27FC236}">
                <a16:creationId xmlns:a16="http://schemas.microsoft.com/office/drawing/2014/main" id="{2C5F47B4-DC51-D004-A0F0-E22AE709DD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383305" y="1473628"/>
            <a:ext cx="4427095"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914401" y="1473628"/>
            <a:ext cx="576000"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1016050" y="2148213"/>
            <a:ext cx="4680000" cy="864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En esta fase se definen los requisitos del software.
El equipo del centro de cómputo debe participar en la planificación de capacidad (capacity planning).</a:t>
            </a:r>
            <a:endParaRPr kumimoji="1" lang="zh-CN" altLang="en-US"/>
          </a:p>
        </p:txBody>
      </p:sp>
      <p:sp>
        <p:nvSpPr>
          <p:cNvPr id="6" name="标题 1"/>
          <p:cNvSpPr txBox="1"/>
          <p:nvPr/>
        </p:nvSpPr>
        <p:spPr>
          <a:xfrm>
            <a:off x="7104505" y="1473628"/>
            <a:ext cx="4427095"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6635601" y="1473628"/>
            <a:ext cx="576000"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6774800" y="1617627"/>
            <a:ext cx="297603" cy="288000"/>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6737250" y="2148213"/>
            <a:ext cx="4680000" cy="864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Provisión de ambientes de desarrollo.
Servidores físicos o virtuales, máquinas virtuales (VMs) o contenedores (como Docker).</a:t>
            </a:r>
            <a:endParaRPr kumimoji="1" lang="zh-CN" altLang="en-US"/>
          </a:p>
        </p:txBody>
      </p:sp>
      <p:sp>
        <p:nvSpPr>
          <p:cNvPr id="10" name="标题 1"/>
          <p:cNvSpPr txBox="1"/>
          <p:nvPr/>
        </p:nvSpPr>
        <p:spPr>
          <a:xfrm>
            <a:off x="1383305" y="3186971"/>
            <a:ext cx="4427095"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a:effectLst/>
        </p:spPr>
        <p:txBody>
          <a:bodyPr vert="horz" wrap="square" lIns="91440" tIns="45720" rIns="91440" bIns="45720" rtlCol="0" anchor="ctr"/>
          <a:lstStyle/>
          <a:p>
            <a:pPr algn="ctr"/>
            <a:endParaRPr kumimoji="1" lang="zh-CN" altLang="en-US"/>
          </a:p>
        </p:txBody>
      </p:sp>
      <p:sp>
        <p:nvSpPr>
          <p:cNvPr id="11" name="标题 1"/>
          <p:cNvSpPr txBox="1"/>
          <p:nvPr/>
        </p:nvSpPr>
        <p:spPr>
          <a:xfrm>
            <a:off x="914401" y="3186971"/>
            <a:ext cx="576000"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1016050" y="3861557"/>
            <a:ext cx="4680000" cy="864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Creación de ambientes de prueba (testing/staging) que sean una réplica del ambiente de producción.
Recursos de hardware, red y sistemas operativos idénticos.</a:t>
            </a:r>
            <a:endParaRPr kumimoji="1" lang="zh-CN" altLang="en-US"/>
          </a:p>
        </p:txBody>
      </p:sp>
      <p:sp>
        <p:nvSpPr>
          <p:cNvPr id="13" name="标题 1"/>
          <p:cNvSpPr txBox="1"/>
          <p:nvPr/>
        </p:nvSpPr>
        <p:spPr>
          <a:xfrm>
            <a:off x="7104505" y="3186971"/>
            <a:ext cx="4427095"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a:effectLst/>
        </p:spPr>
        <p:txBody>
          <a:bodyPr vert="horz" wrap="square" lIns="91440" tIns="45720" rIns="91440" bIns="45720" rtlCol="0" anchor="ctr"/>
          <a:lstStyle/>
          <a:p>
            <a:pPr algn="ctr"/>
            <a:endParaRPr kumimoji="1" lang="zh-CN" altLang="en-US"/>
          </a:p>
        </p:txBody>
      </p:sp>
      <p:sp>
        <p:nvSpPr>
          <p:cNvPr id="14" name="标题 1"/>
          <p:cNvSpPr txBox="1"/>
          <p:nvPr/>
        </p:nvSpPr>
        <p:spPr>
          <a:xfrm>
            <a:off x="6635601" y="3186971"/>
            <a:ext cx="576000"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6737250" y="3861557"/>
            <a:ext cx="4680000" cy="864000"/>
          </a:xfrm>
          <a:prstGeom prst="rect">
            <a:avLst/>
          </a:prstGeom>
          <a:noFill/>
          <a:ln>
            <a:noFill/>
          </a:ln>
        </p:spPr>
        <p:txBody>
          <a:bodyPr vert="horz" wrap="square" lIns="0" tIns="0" rIns="0" bIns="0" rtlCol="0" anchor="t"/>
          <a:lstStyle/>
          <a:p>
            <a:pPr algn="l"/>
            <a:r>
              <a:rPr kumimoji="1" lang="en-US" altLang="zh-CN" sz="939">
                <a:ln w="12700">
                  <a:noFill/>
                </a:ln>
                <a:solidFill>
                  <a:srgbClr val="262626">
                    <a:alpha val="100000"/>
                  </a:srgbClr>
                </a:solidFill>
                <a:latin typeface="Poppins"/>
                <a:ea typeface="Poppins"/>
                <a:cs typeface="Poppins"/>
              </a:rPr>
              <a:t>Alta DisponibilidadClústeres, balanceadores de carga y redundancia de hardware.
Rendimiento Óptimo: Recursos de CPU, RAM y almacenamiento necesarios.
Monitoreo: Herramientas para vigilar el estado del servidor y el rendimiento de la aplicación.</a:t>
            </a:r>
            <a:endParaRPr kumimoji="1" lang="zh-CN" altLang="en-US"/>
          </a:p>
        </p:txBody>
      </p:sp>
      <p:sp>
        <p:nvSpPr>
          <p:cNvPr id="16" name="标题 1"/>
          <p:cNvSpPr txBox="1"/>
          <p:nvPr/>
        </p:nvSpPr>
        <p:spPr>
          <a:xfrm>
            <a:off x="1040401" y="3328101"/>
            <a:ext cx="324000" cy="293743"/>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1040401" y="1599628"/>
            <a:ext cx="324000" cy="324000"/>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a:off x="6774050" y="3312971"/>
            <a:ext cx="299102" cy="324000"/>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9" name="标题 1"/>
          <p:cNvSpPr txBox="1"/>
          <p:nvPr/>
        </p:nvSpPr>
        <p:spPr>
          <a:xfrm>
            <a:off x="1653770" y="1557912"/>
            <a:ext cx="3818500" cy="407432"/>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Planificación y Análisis</a:t>
            </a:r>
            <a:endParaRPr kumimoji="1" lang="zh-CN" altLang="en-US"/>
          </a:p>
        </p:txBody>
      </p:sp>
      <p:sp>
        <p:nvSpPr>
          <p:cNvPr id="20" name="标题 1"/>
          <p:cNvSpPr txBox="1"/>
          <p:nvPr/>
        </p:nvSpPr>
        <p:spPr>
          <a:xfrm>
            <a:off x="1653770" y="3271255"/>
            <a:ext cx="3818500" cy="407432"/>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Pruebas (QA - Quality Assurance)</a:t>
            </a:r>
            <a:endParaRPr kumimoji="1" lang="zh-CN" altLang="en-US"/>
          </a:p>
        </p:txBody>
      </p:sp>
      <p:sp>
        <p:nvSpPr>
          <p:cNvPr id="21" name="标题 1"/>
          <p:cNvSpPr txBox="1"/>
          <p:nvPr/>
        </p:nvSpPr>
        <p:spPr>
          <a:xfrm>
            <a:off x="7406870" y="1557912"/>
            <a:ext cx="3818500" cy="407432"/>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Desarrollo</a:t>
            </a:r>
            <a:endParaRPr kumimoji="1" lang="zh-CN" altLang="en-US"/>
          </a:p>
        </p:txBody>
      </p:sp>
      <p:sp>
        <p:nvSpPr>
          <p:cNvPr id="22" name="标题 1"/>
          <p:cNvSpPr txBox="1"/>
          <p:nvPr/>
        </p:nvSpPr>
        <p:spPr>
          <a:xfrm>
            <a:off x="7406870" y="3271255"/>
            <a:ext cx="3818500" cy="407432"/>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Despliegue (Producción)</a:t>
            </a:r>
            <a:endParaRPr kumimoji="1" lang="zh-CN" altLang="en-US"/>
          </a:p>
        </p:txBody>
      </p:sp>
      <p:sp>
        <p:nvSpPr>
          <p:cNvPr id="23" name="标题 1"/>
          <p:cNvSpPr txBox="1"/>
          <p:nvPr/>
        </p:nvSpPr>
        <p:spPr>
          <a:xfrm>
            <a:off x="4116905" y="4900316"/>
            <a:ext cx="4427095"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a:effectLst/>
        </p:spPr>
        <p:txBody>
          <a:bodyPr vert="horz" wrap="square" lIns="91440" tIns="45720" rIns="91440" bIns="45720" rtlCol="0" anchor="ctr"/>
          <a:lstStyle/>
          <a:p>
            <a:pPr algn="ctr"/>
            <a:endParaRPr kumimoji="1" lang="zh-CN" altLang="en-US"/>
          </a:p>
        </p:txBody>
      </p:sp>
      <p:sp>
        <p:nvSpPr>
          <p:cNvPr id="24" name="标题 1"/>
          <p:cNvSpPr txBox="1"/>
          <p:nvPr/>
        </p:nvSpPr>
        <p:spPr>
          <a:xfrm>
            <a:off x="3648001" y="4900316"/>
            <a:ext cx="576000"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p:spPr>
        <p:txBody>
          <a:bodyPr vert="horz" wrap="square" lIns="91440" tIns="45720" rIns="91440" bIns="45720" rtlCol="0" anchor="ctr"/>
          <a:lstStyle/>
          <a:p>
            <a:pPr algn="ctr"/>
            <a:endParaRPr kumimoji="1" lang="zh-CN" altLang="en-US"/>
          </a:p>
        </p:txBody>
      </p:sp>
      <p:sp>
        <p:nvSpPr>
          <p:cNvPr id="25" name="标题 1"/>
          <p:cNvSpPr txBox="1"/>
          <p:nvPr/>
        </p:nvSpPr>
        <p:spPr>
          <a:xfrm>
            <a:off x="3749650" y="5574900"/>
            <a:ext cx="4680000" cy="864000"/>
          </a:xfrm>
          <a:prstGeom prst="rect">
            <a:avLst/>
          </a:prstGeom>
          <a:noFill/>
          <a:ln>
            <a:noFill/>
          </a:ln>
        </p:spPr>
        <p:txBody>
          <a:bodyPr vert="horz" wrap="square" lIns="0" tIns="0" rIns="0" bIns="0" rtlCol="0" anchor="t"/>
          <a:lstStyle/>
          <a:p>
            <a:pPr algn="l"/>
            <a:r>
              <a:rPr kumimoji="1" lang="en-US" altLang="zh-CN" sz="1200">
                <a:ln w="12700">
                  <a:noFill/>
                </a:ln>
                <a:solidFill>
                  <a:srgbClr val="262626">
                    <a:alpha val="100000"/>
                  </a:srgbClr>
                </a:solidFill>
                <a:latin typeface="Poppins"/>
                <a:ea typeface="Poppins"/>
                <a:cs typeface="Poppins"/>
              </a:rPr>
              <a:t>Actualizaciones de sistema operativo, parches de seguridad, backups de la aplicación.
Gestión continua de los recursos que el software consume.</a:t>
            </a:r>
            <a:endParaRPr kumimoji="1" lang="zh-CN" altLang="en-US"/>
          </a:p>
        </p:txBody>
      </p:sp>
      <p:sp>
        <p:nvSpPr>
          <p:cNvPr id="26" name="标题 1"/>
          <p:cNvSpPr txBox="1"/>
          <p:nvPr/>
        </p:nvSpPr>
        <p:spPr>
          <a:xfrm>
            <a:off x="3774025" y="5026315"/>
            <a:ext cx="323952" cy="324000"/>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27" name="标题 1"/>
          <p:cNvSpPr txBox="1"/>
          <p:nvPr/>
        </p:nvSpPr>
        <p:spPr>
          <a:xfrm>
            <a:off x="4387370" y="4984600"/>
            <a:ext cx="3818500" cy="407432"/>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Mantenimiento</a:t>
            </a:r>
            <a:endParaRPr kumimoji="1" lang="zh-CN" altLang="en-US"/>
          </a:p>
        </p:txBody>
      </p:sp>
      <p:sp>
        <p:nvSpPr>
          <p:cNvPr id="28" name="标题 1"/>
          <p:cNvSpPr txBox="1"/>
          <p:nvPr/>
        </p:nvSpPr>
        <p:spPr>
          <a:xfrm>
            <a:off x="2046062" y="616955"/>
            <a:ext cx="5726338" cy="576000"/>
          </a:xfrm>
          <a:prstGeom prst="rect">
            <a:avLst/>
          </a:prstGeom>
          <a:noFill/>
          <a:ln>
            <a:noFill/>
            <a:prstDash val="solid"/>
          </a:ln>
        </p:spPr>
        <p:txBody>
          <a:bodyPr vert="horz" wrap="square" lIns="0" tIns="0" rIns="0" bIns="0" rtlCol="0" anchor="ctr"/>
          <a:lstStyle/>
          <a:p>
            <a:pPr algn="just"/>
            <a:r>
              <a:rPr kumimoji="1" lang="en-US" altLang="zh-CN" sz="3004" dirty="0">
                <a:ln w="12700">
                  <a:noFill/>
                </a:ln>
                <a:solidFill>
                  <a:srgbClr val="262626">
                    <a:alpha val="100000"/>
                  </a:srgbClr>
                </a:solidFill>
                <a:latin typeface="poppins-bold"/>
                <a:ea typeface="poppins-bold"/>
                <a:cs typeface="poppins-bold"/>
              </a:rPr>
              <a:t>Infraestructura y </a:t>
            </a:r>
            <a:r>
              <a:rPr kumimoji="1" lang="en-US" altLang="zh-CN" sz="3004" dirty="0" err="1">
                <a:ln w="12700">
                  <a:noFill/>
                </a:ln>
                <a:solidFill>
                  <a:srgbClr val="262626">
                    <a:alpha val="100000"/>
                  </a:srgbClr>
                </a:solidFill>
                <a:latin typeface="poppins-bold"/>
                <a:ea typeface="poppins-bold"/>
                <a:cs typeface="poppins-bold"/>
              </a:rPr>
              <a:t>Ciclo</a:t>
            </a:r>
            <a:r>
              <a:rPr kumimoji="1" lang="en-US" altLang="zh-CN" sz="3004" dirty="0">
                <a:ln w="12700">
                  <a:noFill/>
                </a:ln>
                <a:solidFill>
                  <a:srgbClr val="262626">
                    <a:alpha val="100000"/>
                  </a:srgbClr>
                </a:solidFill>
                <a:latin typeface="poppins-bold"/>
                <a:ea typeface="poppins-bold"/>
                <a:cs typeface="poppins-bold"/>
              </a:rPr>
              <a:t> de Vida del Software (SDLC)</a:t>
            </a:r>
            <a:endParaRPr kumimoji="1" lang="zh-CN" altLang="en-US" dirty="0"/>
          </a:p>
        </p:txBody>
      </p:sp>
      <p:sp>
        <p:nvSpPr>
          <p:cNvPr id="29" name="标题 1"/>
          <p:cNvSpPr txBox="1"/>
          <p:nvPr/>
        </p:nvSpPr>
        <p:spPr>
          <a:xfrm>
            <a:off x="431800" y="457200"/>
            <a:ext cx="444500" cy="431800"/>
          </a:xfrm>
          <a:prstGeom prst="ellipse">
            <a:avLst/>
          </a:prstGeom>
          <a:solidFill>
            <a:schemeClr val="accent1"/>
          </a:solidFill>
        </p:spPr>
        <p:txBody>
          <a:bodyPr vert="horz" wrap="square" lIns="0" tIns="0" rIns="0" bIns="0" rtlCol="0" anchor="ctr"/>
          <a:lstStyle/>
          <a:p>
            <a:pPr algn="ctr"/>
            <a:endParaRPr kumimoji="1" lang="zh-CN" altLang="en-US"/>
          </a:p>
        </p:txBody>
      </p:sp>
      <p:sp>
        <p:nvSpPr>
          <p:cNvPr id="30" name="标题 1"/>
          <p:cNvSpPr txBox="1"/>
          <p:nvPr/>
        </p:nvSpPr>
        <p:spPr>
          <a:xfrm>
            <a:off x="551497" y="576441"/>
            <a:ext cx="205107" cy="193318"/>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pic>
        <p:nvPicPr>
          <p:cNvPr id="33" name="Imagen 32">
            <a:extLst>
              <a:ext uri="{FF2B5EF4-FFF2-40B4-BE49-F238E27FC236}">
                <a16:creationId xmlns:a16="http://schemas.microsoft.com/office/drawing/2014/main" id="{1E723D91-2B63-E2BC-5C21-949134F022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425651" y="1444991"/>
            <a:ext cx="7353672" cy="82296"/>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rot="16200000">
            <a:off x="4558810" y="2361529"/>
            <a:ext cx="3074378" cy="3480166"/>
          </a:xfrm>
          <a:prstGeom prst="rect">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4663479" y="4024424"/>
            <a:ext cx="2865041" cy="1558320"/>
          </a:xfrm>
          <a:prstGeom prst="rect">
            <a:avLst/>
          </a:prstGeom>
          <a:noFill/>
          <a:ln cap="sq">
            <a:noFill/>
          </a:ln>
        </p:spPr>
        <p:txBody>
          <a:bodyPr vert="horz" wrap="square" lIns="91440" tIns="45720" rIns="91440" bIns="45720" rtlCol="0" anchor="t"/>
          <a:lstStyle/>
          <a:p>
            <a:pPr algn="ctr"/>
            <a:r>
              <a:rPr kumimoji="1" lang="en-US" altLang="zh-CN" sz="1017">
                <a:ln w="12700">
                  <a:noFill/>
                </a:ln>
                <a:solidFill>
                  <a:srgbClr val="000000">
                    <a:alpha val="100000"/>
                  </a:srgbClr>
                </a:solidFill>
                <a:latin typeface="Poppins"/>
                <a:ea typeface="Poppins"/>
                <a:cs typeface="Poppins"/>
              </a:rPr>
              <a:t>Alta DisponibilidadClústeres de bases de datos (Failover Clustering).
Planes de Respaldo (Backups): Políticas de respaldo rigurosas.
Plan de Recuperación ante Desastres (DRP).</a:t>
            </a:r>
            <a:endParaRPr kumimoji="1" lang="zh-CN" altLang="en-US"/>
          </a:p>
        </p:txBody>
      </p:sp>
      <p:sp>
        <p:nvSpPr>
          <p:cNvPr id="6" name="标题 1"/>
          <p:cNvSpPr txBox="1"/>
          <p:nvPr/>
        </p:nvSpPr>
        <p:spPr>
          <a:xfrm>
            <a:off x="4663479" y="3429000"/>
            <a:ext cx="2857500" cy="498091"/>
          </a:xfrm>
          <a:prstGeom prst="rect">
            <a:avLst/>
          </a:prstGeom>
          <a:noFill/>
          <a:ln cap="sq">
            <a:noFill/>
          </a:ln>
        </p:spPr>
        <p:txBody>
          <a:bodyPr vert="horz" wrap="square" lIns="0" tIns="0" rIns="0" bIns="0" rtlCol="0" anchor="ctr"/>
          <a:lstStyle/>
          <a:p>
            <a:pPr algn="ctr"/>
            <a:r>
              <a:rPr kumimoji="1" lang="en-US" altLang="zh-CN" sz="1600">
                <a:ln w="12700">
                  <a:noFill/>
                </a:ln>
                <a:solidFill>
                  <a:srgbClr val="4472C4">
                    <a:alpha val="100000"/>
                  </a:srgbClr>
                </a:solidFill>
                <a:latin typeface="poppins-bold"/>
                <a:ea typeface="poppins-bold"/>
                <a:cs typeface="poppins-bold"/>
              </a:rPr>
              <a:t>Disponibilidad, Respaldo y Recuperación</a:t>
            </a:r>
            <a:endParaRPr kumimoji="1" lang="zh-CN" altLang="en-US"/>
          </a:p>
        </p:txBody>
      </p:sp>
      <p:sp>
        <p:nvSpPr>
          <p:cNvPr id="7" name="标题 1"/>
          <p:cNvSpPr txBox="1"/>
          <p:nvPr/>
        </p:nvSpPr>
        <p:spPr>
          <a:xfrm>
            <a:off x="5900157" y="2801939"/>
            <a:ext cx="391685" cy="447317"/>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tx1"/>
          </a:solidFill>
          <a:ln w="12700" cap="sq">
            <a:noFill/>
            <a:miter/>
          </a:ln>
        </p:spPr>
        <p:txBody>
          <a:bodyPr vert="horz" wrap="square" lIns="38090" tIns="38090" rIns="38090" bIns="38090" rtlCol="0" anchor="ctr"/>
          <a:lstStyle/>
          <a:p>
            <a:pPr algn="l"/>
            <a:endParaRPr kumimoji="1" lang="zh-CN" altLang="en-US"/>
          </a:p>
        </p:txBody>
      </p:sp>
      <p:sp>
        <p:nvSpPr>
          <p:cNvPr id="8" name="标题 1"/>
          <p:cNvSpPr txBox="1"/>
          <p:nvPr/>
        </p:nvSpPr>
        <p:spPr>
          <a:xfrm>
            <a:off x="890553" y="4024424"/>
            <a:ext cx="3018508" cy="1519566"/>
          </a:xfrm>
          <a:prstGeom prst="rect">
            <a:avLst/>
          </a:prstGeom>
          <a:noFill/>
          <a:ln cap="sq">
            <a:noFill/>
          </a:ln>
        </p:spPr>
        <p:txBody>
          <a:bodyPr vert="horz" wrap="square" lIns="91440" tIns="45720" rIns="91440" bIns="45720" rtlCol="0" anchor="t"/>
          <a:lstStyle/>
          <a:p>
            <a:pPr algn="ctr"/>
            <a:r>
              <a:rPr kumimoji="1" lang="en-US" altLang="zh-CN" sz="1168">
                <a:ln w="12700">
                  <a:noFill/>
                </a:ln>
                <a:solidFill>
                  <a:srgbClr val="000000">
                    <a:alpha val="100000"/>
                  </a:srgbClr>
                </a:solidFill>
                <a:latin typeface="Poppins"/>
                <a:ea typeface="Poppins"/>
                <a:cs typeface="Poppins"/>
              </a:rPr>
              <a:t>AlmacenamientoDiscos de estado sólido (SSD) o redes de área de almacenamiento (SAN).
Recursos de Cómputo: RAM y CPU potente.
Red: Minimizar la latencia de red.</a:t>
            </a:r>
            <a:endParaRPr kumimoji="1" lang="zh-CN" altLang="en-US"/>
          </a:p>
        </p:txBody>
      </p:sp>
      <p:sp>
        <p:nvSpPr>
          <p:cNvPr id="9" name="标题 1"/>
          <p:cNvSpPr txBox="1"/>
          <p:nvPr/>
        </p:nvSpPr>
        <p:spPr>
          <a:xfrm>
            <a:off x="890553" y="3429000"/>
            <a:ext cx="3022600" cy="498091"/>
          </a:xfrm>
          <a:prstGeom prst="rect">
            <a:avLst/>
          </a:prstGeom>
          <a:noFill/>
          <a:ln cap="sq">
            <a:noFill/>
          </a:ln>
        </p:spPr>
        <p:txBody>
          <a:bodyPr vert="horz" wrap="square" lIns="0" tIns="0" rIns="0" bIns="0" rtlCol="0" anchor="ctr"/>
          <a:lstStyle/>
          <a:p>
            <a:pPr algn="ctr"/>
            <a:r>
              <a:rPr kumimoji="1" lang="en-US" altLang="zh-CN" sz="1103" dirty="0" err="1">
                <a:ln w="12700">
                  <a:noFill/>
                </a:ln>
                <a:solidFill>
                  <a:srgbClr val="4472C4">
                    <a:alpha val="100000"/>
                  </a:srgbClr>
                </a:solidFill>
                <a:latin typeface="poppins-bold"/>
                <a:ea typeface="poppins-bold"/>
                <a:cs typeface="poppins-bold"/>
              </a:rPr>
              <a:t>Rendimiento</a:t>
            </a:r>
            <a:r>
              <a:rPr kumimoji="1" lang="en-US" altLang="zh-CN" sz="1103" dirty="0">
                <a:ln w="12700">
                  <a:noFill/>
                </a:ln>
                <a:solidFill>
                  <a:srgbClr val="4472C4">
                    <a:alpha val="100000"/>
                  </a:srgbClr>
                </a:solidFill>
                <a:latin typeface="poppins-bold"/>
                <a:ea typeface="poppins-bold"/>
                <a:cs typeface="poppins-bold"/>
              </a:rPr>
              <a:t> y </a:t>
            </a:r>
            <a:r>
              <a:rPr kumimoji="1" lang="en-US" altLang="zh-CN" sz="1103" dirty="0" err="1">
                <a:ln w="12700">
                  <a:noFill/>
                </a:ln>
                <a:solidFill>
                  <a:srgbClr val="4472C4">
                    <a:alpha val="100000"/>
                  </a:srgbClr>
                </a:solidFill>
                <a:latin typeface="poppins-bold"/>
                <a:ea typeface="poppins-bold"/>
                <a:cs typeface="poppins-bold"/>
              </a:rPr>
              <a:t>Optimización</a:t>
            </a:r>
            <a:r>
              <a:rPr kumimoji="1" lang="en-US" altLang="zh-CN" sz="1103" dirty="0">
                <a:ln w="12700">
                  <a:noFill/>
                </a:ln>
                <a:solidFill>
                  <a:srgbClr val="4472C4">
                    <a:alpha val="100000"/>
                  </a:srgbClr>
                </a:solidFill>
                <a:latin typeface="poppins-bold"/>
                <a:ea typeface="poppins-bold"/>
                <a:cs typeface="poppins-bold"/>
              </a:rPr>
              <a:t> de la Infraestructura</a:t>
            </a:r>
            <a:endParaRPr kumimoji="1" lang="zh-CN" altLang="en-US" dirty="0"/>
          </a:p>
        </p:txBody>
      </p:sp>
      <p:sp>
        <p:nvSpPr>
          <p:cNvPr id="10" name="标题 1"/>
          <p:cNvSpPr txBox="1"/>
          <p:nvPr/>
        </p:nvSpPr>
        <p:spPr>
          <a:xfrm>
            <a:off x="8359673" y="4024424"/>
            <a:ext cx="2865041" cy="1553416"/>
          </a:xfrm>
          <a:prstGeom prst="rect">
            <a:avLst/>
          </a:prstGeom>
          <a:noFill/>
          <a:ln cap="sq">
            <a:noFill/>
          </a:ln>
        </p:spPr>
        <p:txBody>
          <a:bodyPr vert="horz" wrap="square" lIns="91440" tIns="45720" rIns="91440" bIns="45720" rtlCol="0" anchor="t"/>
          <a:lstStyle/>
          <a:p>
            <a:pPr algn="ctr"/>
            <a:r>
              <a:rPr kumimoji="1" lang="en-US" altLang="zh-CN" sz="1172">
                <a:ln w="12700">
                  <a:noFill/>
                </a:ln>
                <a:solidFill>
                  <a:srgbClr val="000000">
                    <a:alpha val="100000"/>
                  </a:srgbClr>
                </a:solidFill>
                <a:latin typeface="Poppins"/>
                <a:ea typeface="Poppins"/>
                <a:cs typeface="Poppins"/>
              </a:rPr>
              <a:t>Seguridad FísicaControl estricto del acceso a los servidores de bases de datos.
Seguridad de Red: Configuración de firewalls y redes segmentadas (VLANs).</a:t>
            </a:r>
            <a:endParaRPr kumimoji="1" lang="zh-CN" altLang="en-US"/>
          </a:p>
        </p:txBody>
      </p:sp>
      <p:sp>
        <p:nvSpPr>
          <p:cNvPr id="11" name="标题 1"/>
          <p:cNvSpPr txBox="1"/>
          <p:nvPr/>
        </p:nvSpPr>
        <p:spPr>
          <a:xfrm>
            <a:off x="8359673" y="3429000"/>
            <a:ext cx="2870200" cy="498091"/>
          </a:xfrm>
          <a:prstGeom prst="rect">
            <a:avLst/>
          </a:prstGeom>
          <a:noFill/>
          <a:ln cap="sq">
            <a:noFill/>
          </a:ln>
        </p:spPr>
        <p:txBody>
          <a:bodyPr vert="horz" wrap="square" lIns="0" tIns="0" rIns="0" bIns="0" rtlCol="0" anchor="ctr"/>
          <a:lstStyle/>
          <a:p>
            <a:pPr algn="ctr"/>
            <a:r>
              <a:rPr kumimoji="1" lang="en-US" altLang="zh-CN" sz="1600">
                <a:ln w="12700">
                  <a:noFill/>
                </a:ln>
                <a:solidFill>
                  <a:srgbClr val="4472C4">
                    <a:alpha val="100000"/>
                  </a:srgbClr>
                </a:solidFill>
                <a:latin typeface="poppins-bold"/>
                <a:ea typeface="poppins-bold"/>
                <a:cs typeface="poppins-bold"/>
              </a:rPr>
              <a:t>Seguridad</a:t>
            </a:r>
            <a:endParaRPr kumimoji="1" lang="zh-CN" altLang="en-US"/>
          </a:p>
        </p:txBody>
      </p:sp>
      <p:sp>
        <p:nvSpPr>
          <p:cNvPr id="12" name="标题 1"/>
          <p:cNvSpPr txBox="1"/>
          <p:nvPr/>
        </p:nvSpPr>
        <p:spPr>
          <a:xfrm>
            <a:off x="2117802" y="2801939"/>
            <a:ext cx="430180" cy="447317"/>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tx1"/>
          </a:solidFill>
          <a:ln w="12700" cap="sq">
            <a:noFill/>
            <a:miter/>
          </a:ln>
        </p:spPr>
        <p:txBody>
          <a:bodyPr vert="horz" wrap="square" lIns="38090" tIns="38090" rIns="38090" bIns="38090" rtlCol="0" anchor="ctr"/>
          <a:lstStyle/>
          <a:p>
            <a:pPr algn="l"/>
            <a:endParaRPr kumimoji="1" lang="zh-CN" altLang="en-US"/>
          </a:p>
        </p:txBody>
      </p:sp>
      <p:sp>
        <p:nvSpPr>
          <p:cNvPr id="13" name="标题 1"/>
          <p:cNvSpPr txBox="1"/>
          <p:nvPr/>
        </p:nvSpPr>
        <p:spPr>
          <a:xfrm>
            <a:off x="9568535" y="2840600"/>
            <a:ext cx="447317" cy="369994"/>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tx1"/>
          </a:solidFill>
          <a:ln w="12700" cap="sq">
            <a:noFill/>
            <a:miter/>
          </a:ln>
        </p:spPr>
        <p:txBody>
          <a:bodyPr vert="horz" wrap="square" lIns="38090" tIns="38090" rIns="38090" bIns="38090" rtlCol="0" anchor="ctr"/>
          <a:lstStyle/>
          <a:p>
            <a:pPr algn="l"/>
            <a:endParaRPr kumimoji="1" lang="zh-CN" altLang="en-US"/>
          </a:p>
        </p:txBody>
      </p:sp>
      <p:sp>
        <p:nvSpPr>
          <p:cNvPr id="14" name="标题 1"/>
          <p:cNvSpPr txBox="1"/>
          <p:nvPr/>
        </p:nvSpPr>
        <p:spPr>
          <a:xfrm>
            <a:off x="2547982" y="710424"/>
            <a:ext cx="6137818" cy="432000"/>
          </a:xfrm>
          <a:prstGeom prst="rect">
            <a:avLst/>
          </a:prstGeom>
          <a:noFill/>
          <a:ln>
            <a:noFill/>
            <a:prstDash val="solid"/>
          </a:ln>
        </p:spPr>
        <p:txBody>
          <a:bodyPr vert="horz" wrap="square" lIns="0" tIns="0" rIns="0" bIns="0" rtlCol="0" anchor="ctr"/>
          <a:lstStyle/>
          <a:p>
            <a:pPr algn="ctr"/>
            <a:r>
              <a:rPr kumimoji="1" lang="en-US" altLang="zh-CN" sz="3200" dirty="0">
                <a:ln w="12700">
                  <a:noFill/>
                </a:ln>
                <a:solidFill>
                  <a:srgbClr val="262626">
                    <a:alpha val="100000"/>
                  </a:srgbClr>
                </a:solidFill>
                <a:latin typeface="poppins-bold"/>
                <a:ea typeface="poppins-bold"/>
                <a:cs typeface="poppins-bold"/>
              </a:rPr>
              <a:t>Administración </a:t>
            </a:r>
            <a:r>
              <a:rPr kumimoji="1" lang="en-US" altLang="zh-CN" sz="3200" dirty="0" err="1">
                <a:ln w="12700">
                  <a:noFill/>
                </a:ln>
                <a:solidFill>
                  <a:srgbClr val="262626">
                    <a:alpha val="100000"/>
                  </a:srgbClr>
                </a:solidFill>
                <a:latin typeface="poppins-bold"/>
                <a:ea typeface="poppins-bold"/>
                <a:cs typeface="poppins-bold"/>
              </a:rPr>
              <a:t>Eficiente</a:t>
            </a:r>
            <a:r>
              <a:rPr kumimoji="1" lang="en-US" altLang="zh-CN" sz="3200" dirty="0">
                <a:ln w="12700">
                  <a:noFill/>
                </a:ln>
                <a:solidFill>
                  <a:srgbClr val="262626">
                    <a:alpha val="100000"/>
                  </a:srgbClr>
                </a:solidFill>
                <a:latin typeface="poppins-bold"/>
                <a:ea typeface="poppins-bold"/>
                <a:cs typeface="poppins-bold"/>
              </a:rPr>
              <a:t> de Bases de Datos</a:t>
            </a:r>
            <a:endParaRPr kumimoji="1" lang="zh-CN" altLang="en-US" dirty="0"/>
          </a:p>
        </p:txBody>
      </p:sp>
      <p:sp>
        <p:nvSpPr>
          <p:cNvPr id="15" name="标题 1"/>
          <p:cNvSpPr txBox="1"/>
          <p:nvPr/>
        </p:nvSpPr>
        <p:spPr>
          <a:xfrm>
            <a:off x="431800" y="457200"/>
            <a:ext cx="444500" cy="431800"/>
          </a:xfrm>
          <a:prstGeom prst="ellipse">
            <a:avLst/>
          </a:prstGeom>
          <a:solidFill>
            <a:schemeClr val="accent1"/>
          </a:solidFill>
        </p:spPr>
        <p:txBody>
          <a:bodyPr vert="horz" wrap="square" lIns="0" tIns="0" rIns="0" bIns="0" rtlCol="0" anchor="ctr"/>
          <a:lstStyle/>
          <a:p>
            <a:pPr algn="ctr"/>
            <a:endParaRPr kumimoji="1" lang="zh-CN" altLang="en-US"/>
          </a:p>
        </p:txBody>
      </p:sp>
      <p:sp>
        <p:nvSpPr>
          <p:cNvPr id="16" name="标题 1"/>
          <p:cNvSpPr txBox="1"/>
          <p:nvPr/>
        </p:nvSpPr>
        <p:spPr>
          <a:xfrm>
            <a:off x="551497" y="576441"/>
            <a:ext cx="205107" cy="193318"/>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pic>
        <p:nvPicPr>
          <p:cNvPr id="18" name="Imagen 17">
            <a:extLst>
              <a:ext uri="{FF2B5EF4-FFF2-40B4-BE49-F238E27FC236}">
                <a16:creationId xmlns:a16="http://schemas.microsoft.com/office/drawing/2014/main" id="{21D9F7BE-C8C8-340F-0B42-6461F60FAD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430530" y="4149000"/>
            <a:ext cx="4598670" cy="2058296"/>
          </a:xfrm>
          <a:prstGeom prst="rect">
            <a:avLst/>
          </a:prstGeom>
          <a:noFill/>
          <a:ln>
            <a:noFill/>
          </a:ln>
        </p:spPr>
        <p:txBody>
          <a:bodyPr vert="horz" wrap="square" lIns="0" tIns="0" rIns="0" bIns="0" rtlCol="0" anchor="t"/>
          <a:lstStyle/>
          <a:p>
            <a:pPr lvl="1" algn="just"/>
            <a:r>
              <a:rPr lang="es-EC" sz="1400" dirty="0">
                <a:latin typeface="Arial" panose="020B0604020202020204" pitchFamily="34" charset="0"/>
                <a:cs typeface="Arial" panose="020B0604020202020204" pitchFamily="34" charset="0"/>
              </a:rPr>
              <a:t>Las </a:t>
            </a:r>
            <a:r>
              <a:rPr lang="es-EC" sz="1400" b="1" dirty="0" err="1">
                <a:latin typeface="Arial" panose="020B0604020202020204" pitchFamily="34" charset="0"/>
                <a:cs typeface="Arial" panose="020B0604020202020204" pitchFamily="34" charset="0"/>
              </a:rPr>
              <a:t>APIs</a:t>
            </a:r>
            <a:r>
              <a:rPr lang="es-EC" sz="1400" b="1" dirty="0">
                <a:latin typeface="Arial" panose="020B0604020202020204" pitchFamily="34" charset="0"/>
                <a:cs typeface="Arial" panose="020B0604020202020204" pitchFamily="34" charset="0"/>
              </a:rPr>
              <a:t> (Interfaces de Programación de Aplicaciones)</a:t>
            </a:r>
            <a:r>
              <a:rPr lang="es-EC" sz="1400" dirty="0">
                <a:latin typeface="Arial" panose="020B0604020202020204" pitchFamily="34" charset="0"/>
                <a:cs typeface="Arial" panose="020B0604020202020204" pitchFamily="34" charset="0"/>
              </a:rPr>
              <a:t> son el pegamento que une los servicios. El centro de cómputo debe garantizar que la infraestructura de red (switches, balanceadores de carga) pueda gestionar el alto volumen de tráfico de API de manera eficiente</a:t>
            </a:r>
            <a:r>
              <a:rPr lang="es-EC" dirty="0"/>
              <a:t>.</a:t>
            </a:r>
          </a:p>
        </p:txBody>
      </p:sp>
      <p:sp>
        <p:nvSpPr>
          <p:cNvPr id="7" name="标题 1"/>
          <p:cNvSpPr txBox="1"/>
          <p:nvPr/>
        </p:nvSpPr>
        <p:spPr>
          <a:xfrm>
            <a:off x="2130277" y="3426163"/>
            <a:ext cx="1264433" cy="389960"/>
          </a:xfrm>
          <a:prstGeom prst="rect">
            <a:avLst/>
          </a:prstGeom>
          <a:noFill/>
          <a:ln>
            <a:noFill/>
          </a:ln>
        </p:spPr>
        <p:txBody>
          <a:bodyPr vert="horz" wrap="square" lIns="0" tIns="0" rIns="0" bIns="0" rtlCol="0" anchor="b"/>
          <a:lstStyle/>
          <a:p>
            <a:pPr algn="l"/>
            <a:r>
              <a:rPr kumimoji="1" lang="es-EC" altLang="zh-CN" b="1" dirty="0" err="1"/>
              <a:t>APIs</a:t>
            </a:r>
            <a:endParaRPr kumimoji="1" lang="zh-CN" altLang="en-US" b="1" dirty="0"/>
          </a:p>
        </p:txBody>
      </p:sp>
      <p:sp>
        <p:nvSpPr>
          <p:cNvPr id="11" name="标题 1"/>
          <p:cNvSpPr txBox="1"/>
          <p:nvPr/>
        </p:nvSpPr>
        <p:spPr>
          <a:xfrm>
            <a:off x="6610586" y="4191702"/>
            <a:ext cx="5150884" cy="2204976"/>
          </a:xfrm>
          <a:prstGeom prst="rect">
            <a:avLst/>
          </a:prstGeom>
          <a:noFill/>
          <a:ln>
            <a:noFill/>
          </a:ln>
        </p:spPr>
        <p:txBody>
          <a:bodyPr vert="horz" wrap="square" lIns="0" tIns="0" rIns="0" bIns="0" rtlCol="0" anchor="t"/>
          <a:lstStyle/>
          <a:p>
            <a:r>
              <a:rPr lang="es-EC" sz="1400" dirty="0">
                <a:latin typeface="Arial" panose="020B0604020202020204" pitchFamily="34" charset="0"/>
                <a:cs typeface="Arial" panose="020B0604020202020204" pitchFamily="34" charset="0"/>
              </a:rPr>
              <a:t>El </a:t>
            </a:r>
            <a:r>
              <a:rPr lang="es-EC" sz="1400" b="1" dirty="0">
                <a:latin typeface="Arial" panose="020B0604020202020204" pitchFamily="34" charset="0"/>
                <a:cs typeface="Arial" panose="020B0604020202020204" pitchFamily="34" charset="0"/>
              </a:rPr>
              <a:t>Middleware</a:t>
            </a:r>
            <a:r>
              <a:rPr lang="es-EC" sz="1400" dirty="0">
                <a:latin typeface="Arial" panose="020B0604020202020204" pitchFamily="34" charset="0"/>
                <a:cs typeface="Arial" panose="020B0604020202020204" pitchFamily="34" charset="0"/>
              </a:rPr>
              <a:t> (ej. servidores de aplicaciones, colas de mensajes como </a:t>
            </a:r>
            <a:r>
              <a:rPr lang="es-EC" sz="1400" dirty="0" err="1">
                <a:latin typeface="Arial" panose="020B0604020202020204" pitchFamily="34" charset="0"/>
                <a:cs typeface="Arial" panose="020B0604020202020204" pitchFamily="34" charset="0"/>
              </a:rPr>
              <a:t>RabbitMQ</a:t>
            </a:r>
            <a:r>
              <a:rPr lang="es-EC" sz="1400" dirty="0">
                <a:latin typeface="Arial" panose="020B0604020202020204" pitchFamily="34" charset="0"/>
                <a:cs typeface="Arial" panose="020B0604020202020204" pitchFamily="34" charset="0"/>
              </a:rPr>
              <a:t> o Kafka) a menudo se ejecuta en sus propios servidores. La administración del centro de cómputo es responsable de la instalación, mantenimiento y monitoreo de esta capa intermedia</a:t>
            </a:r>
            <a:endParaRPr kumimoji="1" lang="zh-CN" altLang="en-US" sz="1400" dirty="0">
              <a:latin typeface="Arial" panose="020B0604020202020204" pitchFamily="34" charset="0"/>
              <a:cs typeface="Arial" panose="020B0604020202020204" pitchFamily="34" charset="0"/>
            </a:endParaRPr>
          </a:p>
        </p:txBody>
      </p:sp>
      <p:sp>
        <p:nvSpPr>
          <p:cNvPr id="12" name="标题 1"/>
          <p:cNvSpPr txBox="1"/>
          <p:nvPr/>
        </p:nvSpPr>
        <p:spPr>
          <a:xfrm>
            <a:off x="3822132" y="2306298"/>
            <a:ext cx="5363896" cy="720000"/>
          </a:xfrm>
          <a:prstGeom prst="rect">
            <a:avLst/>
          </a:prstGeom>
          <a:noFill/>
          <a:ln>
            <a:noFill/>
          </a:ln>
        </p:spPr>
        <p:txBody>
          <a:bodyPr vert="horz" wrap="square" lIns="0" tIns="0" rIns="0" bIns="0" rtlCol="0" anchor="b"/>
          <a:lstStyle/>
          <a:p>
            <a:r>
              <a:rPr lang="es-EC" b="1" dirty="0">
                <a:latin typeface="Arial" panose="020B0604020202020204" pitchFamily="34" charset="0"/>
                <a:cs typeface="Arial" panose="020B0604020202020204" pitchFamily="34" charset="0"/>
              </a:rPr>
              <a:t>Infraestructura para </a:t>
            </a:r>
            <a:r>
              <a:rPr lang="es-EC" b="1" dirty="0" err="1">
                <a:latin typeface="Arial" panose="020B0604020202020204" pitchFamily="34" charset="0"/>
                <a:cs typeface="Arial" panose="020B0604020202020204" pitchFamily="34" charset="0"/>
              </a:rPr>
              <a:t>APIs</a:t>
            </a:r>
            <a:r>
              <a:rPr lang="es-EC" b="1" dirty="0">
                <a:latin typeface="Arial" panose="020B0604020202020204" pitchFamily="34" charset="0"/>
                <a:cs typeface="Arial" panose="020B0604020202020204" pitchFamily="34" charset="0"/>
              </a:rPr>
              <a:t> y Middleware</a:t>
            </a:r>
            <a:endParaRPr kumimoji="1" lang="zh-CN" altLang="en-US" dirty="0">
              <a:latin typeface="Arial" panose="020B0604020202020204" pitchFamily="34" charset="0"/>
              <a:cs typeface="Arial" panose="020B0604020202020204" pitchFamily="34" charset="0"/>
            </a:endParaRPr>
          </a:p>
        </p:txBody>
      </p:sp>
      <p:sp>
        <p:nvSpPr>
          <p:cNvPr id="13" name="标题 1"/>
          <p:cNvSpPr txBox="1"/>
          <p:nvPr/>
        </p:nvSpPr>
        <p:spPr>
          <a:xfrm>
            <a:off x="2130277" y="682651"/>
            <a:ext cx="6629400" cy="432000"/>
          </a:xfrm>
          <a:prstGeom prst="rect">
            <a:avLst/>
          </a:prstGeom>
          <a:noFill/>
          <a:ln>
            <a:noFill/>
            <a:prstDash val="solid"/>
          </a:ln>
        </p:spPr>
        <p:txBody>
          <a:bodyPr vert="horz" wrap="square" lIns="0" tIns="0" rIns="0" bIns="0" rtlCol="0" anchor="ctr"/>
          <a:lstStyle/>
          <a:p>
            <a:pPr algn="ctr"/>
            <a:r>
              <a:rPr kumimoji="1" lang="en-US" altLang="zh-CN" sz="3200" dirty="0" err="1">
                <a:ln w="12700">
                  <a:noFill/>
                </a:ln>
                <a:solidFill>
                  <a:srgbClr val="262626">
                    <a:alpha val="100000"/>
                  </a:srgbClr>
                </a:solidFill>
                <a:latin typeface="poppins-bold"/>
                <a:ea typeface="poppins-bold"/>
                <a:cs typeface="poppins-bold"/>
              </a:rPr>
              <a:t>Integración</a:t>
            </a:r>
            <a:r>
              <a:rPr kumimoji="1" lang="en-US" altLang="zh-CN" sz="3200" dirty="0">
                <a:ln w="12700">
                  <a:noFill/>
                </a:ln>
                <a:solidFill>
                  <a:srgbClr val="262626">
                    <a:alpha val="100000"/>
                  </a:srgbClr>
                </a:solidFill>
                <a:latin typeface="poppins-bold"/>
                <a:ea typeface="poppins-bold"/>
                <a:cs typeface="poppins-bold"/>
              </a:rPr>
              <a:t> de </a:t>
            </a:r>
            <a:r>
              <a:rPr kumimoji="1" lang="en-US" altLang="zh-CN" sz="3200" dirty="0" err="1">
                <a:ln w="12700">
                  <a:noFill/>
                </a:ln>
                <a:solidFill>
                  <a:srgbClr val="262626">
                    <a:alpha val="100000"/>
                  </a:srgbClr>
                </a:solidFill>
                <a:latin typeface="poppins-bold"/>
                <a:ea typeface="poppins-bold"/>
                <a:cs typeface="poppins-bold"/>
              </a:rPr>
              <a:t>Servicios</a:t>
            </a:r>
            <a:r>
              <a:rPr kumimoji="1" lang="en-US" altLang="zh-CN" sz="3200" dirty="0">
                <a:ln w="12700">
                  <a:noFill/>
                </a:ln>
                <a:solidFill>
                  <a:srgbClr val="262626">
                    <a:alpha val="100000"/>
                  </a:srgbClr>
                </a:solidFill>
                <a:latin typeface="poppins-bold"/>
                <a:ea typeface="poppins-bold"/>
                <a:cs typeface="poppins-bold"/>
              </a:rPr>
              <a:t> y </a:t>
            </a:r>
            <a:r>
              <a:rPr kumimoji="1" lang="en-US" altLang="zh-CN" sz="3200" dirty="0" err="1">
                <a:ln w="12700">
                  <a:noFill/>
                </a:ln>
                <a:solidFill>
                  <a:srgbClr val="262626">
                    <a:alpha val="100000"/>
                  </a:srgbClr>
                </a:solidFill>
                <a:latin typeface="poppins-bold"/>
                <a:ea typeface="poppins-bold"/>
                <a:cs typeface="poppins-bold"/>
              </a:rPr>
              <a:t>Plataformas</a:t>
            </a:r>
            <a:endParaRPr kumimoji="1" lang="zh-CN" altLang="en-US" dirty="0"/>
          </a:p>
        </p:txBody>
      </p:sp>
      <p:sp>
        <p:nvSpPr>
          <p:cNvPr id="15" name="标题 1"/>
          <p:cNvSpPr txBox="1"/>
          <p:nvPr/>
        </p:nvSpPr>
        <p:spPr>
          <a:xfrm>
            <a:off x="551497" y="576441"/>
            <a:ext cx="205107" cy="193318"/>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9" name="CuadroTexto 18">
            <a:extLst>
              <a:ext uri="{FF2B5EF4-FFF2-40B4-BE49-F238E27FC236}">
                <a16:creationId xmlns:a16="http://schemas.microsoft.com/office/drawing/2014/main" id="{7DF8CA9D-E410-068A-2DC3-F6FFCCE54DE3}"/>
              </a:ext>
            </a:extLst>
          </p:cNvPr>
          <p:cNvSpPr txBox="1"/>
          <p:nvPr/>
        </p:nvSpPr>
        <p:spPr>
          <a:xfrm>
            <a:off x="1063082" y="1311008"/>
            <a:ext cx="3314700" cy="1310039"/>
          </a:xfrm>
          <a:prstGeom prst="rect">
            <a:avLst/>
          </a:prstGeom>
          <a:noFill/>
        </p:spPr>
        <p:txBody>
          <a:bodyPr wrap="square">
            <a:spAutoFit/>
          </a:bodyPr>
          <a:lstStyle/>
          <a:p>
            <a:pPr algn="just">
              <a:lnSpc>
                <a:spcPct val="115000"/>
              </a:lnSpc>
              <a:spcAft>
                <a:spcPts val="800"/>
              </a:spcAft>
              <a:buNone/>
            </a:pPr>
            <a:r>
              <a:rPr lang="es-EC" sz="1400" kern="100" dirty="0">
                <a:effectLst/>
                <a:latin typeface="Arial" panose="020B0604020202020204" pitchFamily="34" charset="0"/>
                <a:ea typeface="Calibri" panose="020F0502020204030204" pitchFamily="34" charset="0"/>
                <a:cs typeface="Arial" panose="020B0604020202020204" pitchFamily="34" charset="0"/>
              </a:rPr>
              <a:t>Las aplicaciones modernas rara vez son monolíticas; suelen estar compuestas por múltiples servicios (microservicios) que se comunican entre sí. </a:t>
            </a:r>
          </a:p>
        </p:txBody>
      </p:sp>
      <p:sp>
        <p:nvSpPr>
          <p:cNvPr id="20" name="标题 1">
            <a:extLst>
              <a:ext uri="{FF2B5EF4-FFF2-40B4-BE49-F238E27FC236}">
                <a16:creationId xmlns:a16="http://schemas.microsoft.com/office/drawing/2014/main" id="{93BC7171-99D9-A28A-D1F1-765A0AC7BDF2}"/>
              </a:ext>
            </a:extLst>
          </p:cNvPr>
          <p:cNvSpPr txBox="1"/>
          <p:nvPr/>
        </p:nvSpPr>
        <p:spPr>
          <a:xfrm>
            <a:off x="7867988" y="3177755"/>
            <a:ext cx="3539244" cy="720000"/>
          </a:xfrm>
          <a:prstGeom prst="rect">
            <a:avLst/>
          </a:prstGeom>
          <a:noFill/>
          <a:ln>
            <a:noFill/>
          </a:ln>
        </p:spPr>
        <p:txBody>
          <a:bodyPr vert="horz" wrap="square" lIns="0" tIns="0" rIns="0" bIns="0" rtlCol="0" anchor="b"/>
          <a:lstStyle/>
          <a:p>
            <a:pPr algn="l"/>
            <a:r>
              <a:rPr kumimoji="1" lang="es-EC" altLang="zh-CN" b="1" dirty="0"/>
              <a:t>Middleware</a:t>
            </a:r>
            <a:endParaRPr kumimoji="1" lang="zh-CN" altLang="en-US" b="1" dirty="0"/>
          </a:p>
        </p:txBody>
      </p:sp>
      <p:sp>
        <p:nvSpPr>
          <p:cNvPr id="21" name="CuadroTexto 20">
            <a:extLst>
              <a:ext uri="{FF2B5EF4-FFF2-40B4-BE49-F238E27FC236}">
                <a16:creationId xmlns:a16="http://schemas.microsoft.com/office/drawing/2014/main" id="{39B30A6C-C6DF-847D-A7BD-21B7B4D4B54C}"/>
              </a:ext>
            </a:extLst>
          </p:cNvPr>
          <p:cNvSpPr txBox="1"/>
          <p:nvPr/>
        </p:nvSpPr>
        <p:spPr>
          <a:xfrm>
            <a:off x="5848350" y="1481353"/>
            <a:ext cx="4514758" cy="814518"/>
          </a:xfrm>
          <a:prstGeom prst="rect">
            <a:avLst/>
          </a:prstGeom>
          <a:noFill/>
        </p:spPr>
        <p:txBody>
          <a:bodyPr wrap="square">
            <a:spAutoFit/>
          </a:bodyPr>
          <a:lstStyle/>
          <a:p>
            <a:pPr algn="just">
              <a:lnSpc>
                <a:spcPct val="115000"/>
              </a:lnSpc>
              <a:spcAft>
                <a:spcPts val="800"/>
              </a:spcAft>
              <a:buNone/>
            </a:pPr>
            <a:r>
              <a:rPr lang="es-EC" sz="1400" kern="100" dirty="0">
                <a:effectLst/>
                <a:latin typeface="Arial" panose="020B0604020202020204" pitchFamily="34" charset="0"/>
                <a:ea typeface="Calibri" panose="020F0502020204030204" pitchFamily="34" charset="0"/>
                <a:cs typeface="Arial" panose="020B0604020202020204" pitchFamily="34" charset="0"/>
              </a:rPr>
              <a:t>El centro de cómputo debe proporcionar una infraestructura que facilite esta integración de forma segura y eficiente.</a:t>
            </a:r>
          </a:p>
        </p:txBody>
      </p:sp>
      <p:pic>
        <p:nvPicPr>
          <p:cNvPr id="2" name="Imagen 1">
            <a:extLst>
              <a:ext uri="{FF2B5EF4-FFF2-40B4-BE49-F238E27FC236}">
                <a16:creationId xmlns:a16="http://schemas.microsoft.com/office/drawing/2014/main" id="{4426D53D-46A9-D47A-10FC-8D5FAB6385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F3F3EB-CE9D-454D-BD8C-60EA781B17E0}"/>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BBD8DCFC-8126-6890-C125-C31766401901}"/>
              </a:ext>
            </a:extLst>
          </p:cNvPr>
          <p:cNvSpPr txBox="1"/>
          <p:nvPr/>
        </p:nvSpPr>
        <p:spPr>
          <a:xfrm>
            <a:off x="350520" y="2399852"/>
            <a:ext cx="5150884" cy="1553168"/>
          </a:xfrm>
          <a:prstGeom prst="rect">
            <a:avLst/>
          </a:prstGeom>
          <a:noFill/>
          <a:ln>
            <a:noFill/>
          </a:ln>
        </p:spPr>
        <p:txBody>
          <a:bodyPr vert="horz" wrap="square" lIns="0" tIns="0" rIns="0" bIns="0" rtlCol="0" anchor="t"/>
          <a:lstStyle/>
          <a:p>
            <a:pPr lvl="0"/>
            <a:endParaRPr lang="es-EC" dirty="0"/>
          </a:p>
          <a:p>
            <a:pPr lvl="1" algn="just"/>
            <a:r>
              <a:rPr lang="es-EC" dirty="0"/>
              <a:t>Tecnologías como </a:t>
            </a:r>
            <a:r>
              <a:rPr lang="es-EC" b="1" dirty="0"/>
              <a:t>Docker</a:t>
            </a:r>
            <a:r>
              <a:rPr lang="es-EC" dirty="0"/>
              <a:t> (contenedores) y </a:t>
            </a:r>
            <a:r>
              <a:rPr lang="es-EC" b="1" dirty="0" err="1"/>
              <a:t>Kubernetes</a:t>
            </a:r>
            <a:r>
              <a:rPr lang="es-EC" dirty="0"/>
              <a:t> (orquestación) son fundamentales para la integración moderna.</a:t>
            </a:r>
          </a:p>
        </p:txBody>
      </p:sp>
      <p:sp>
        <p:nvSpPr>
          <p:cNvPr id="7" name="标题 1">
            <a:extLst>
              <a:ext uri="{FF2B5EF4-FFF2-40B4-BE49-F238E27FC236}">
                <a16:creationId xmlns:a16="http://schemas.microsoft.com/office/drawing/2014/main" id="{7DA52A82-9409-5788-811F-139971486132}"/>
              </a:ext>
            </a:extLst>
          </p:cNvPr>
          <p:cNvSpPr txBox="1"/>
          <p:nvPr/>
        </p:nvSpPr>
        <p:spPr>
          <a:xfrm>
            <a:off x="3311255" y="972994"/>
            <a:ext cx="5063582" cy="810791"/>
          </a:xfrm>
          <a:prstGeom prst="rect">
            <a:avLst/>
          </a:prstGeom>
          <a:noFill/>
          <a:ln>
            <a:noFill/>
          </a:ln>
        </p:spPr>
        <p:txBody>
          <a:bodyPr vert="horz" wrap="square" lIns="0" tIns="0" rIns="0" bIns="0" rtlCol="0" anchor="b"/>
          <a:lstStyle/>
          <a:p>
            <a:r>
              <a:rPr lang="es-EC" b="1" dirty="0"/>
              <a:t>Plataformas de Contenedores y Orquestación</a:t>
            </a:r>
            <a:endParaRPr kumimoji="1" lang="zh-CN" altLang="en-US" b="1" dirty="0"/>
          </a:p>
        </p:txBody>
      </p:sp>
      <p:sp>
        <p:nvSpPr>
          <p:cNvPr id="11" name="标题 1">
            <a:extLst>
              <a:ext uri="{FF2B5EF4-FFF2-40B4-BE49-F238E27FC236}">
                <a16:creationId xmlns:a16="http://schemas.microsoft.com/office/drawing/2014/main" id="{17072D22-10EC-587B-1243-89D24CC55C3E}"/>
              </a:ext>
            </a:extLst>
          </p:cNvPr>
          <p:cNvSpPr txBox="1"/>
          <p:nvPr/>
        </p:nvSpPr>
        <p:spPr>
          <a:xfrm>
            <a:off x="350520" y="4076583"/>
            <a:ext cx="5150884" cy="2204976"/>
          </a:xfrm>
          <a:prstGeom prst="rect">
            <a:avLst/>
          </a:prstGeom>
          <a:noFill/>
          <a:ln>
            <a:noFill/>
          </a:ln>
        </p:spPr>
        <p:txBody>
          <a:bodyPr vert="horz" wrap="square" lIns="0" tIns="0" rIns="0" bIns="0" rtlCol="0" anchor="t"/>
          <a:lstStyle/>
          <a:p>
            <a:pPr lvl="1" algn="just"/>
            <a:r>
              <a:rPr lang="es-EC" b="1" dirty="0"/>
              <a:t>Rol del Centro de Cómputo:</a:t>
            </a:r>
            <a:r>
              <a:rPr lang="es-EC" dirty="0"/>
              <a:t> En lugar de gestionar docenas de </a:t>
            </a:r>
            <a:r>
              <a:rPr lang="es-EC" dirty="0" err="1"/>
              <a:t>VMs</a:t>
            </a:r>
            <a:r>
              <a:rPr lang="es-EC" dirty="0"/>
              <a:t>, el equipo administra un </a:t>
            </a:r>
            <a:r>
              <a:rPr lang="es-EC" b="1" dirty="0"/>
              <a:t>clúster de </a:t>
            </a:r>
            <a:r>
              <a:rPr lang="es-EC" b="1" dirty="0" err="1"/>
              <a:t>Kubernetes</a:t>
            </a:r>
            <a:r>
              <a:rPr lang="es-EC" dirty="0"/>
              <a:t>. Esto implica asegurar que los nodos (servidores) del clúster tengan suficientes recursos, configurar el almacenamiento persistente para los contenedores y gestionar la red virtual que permite la comunicación entre ellos.</a:t>
            </a:r>
          </a:p>
        </p:txBody>
      </p:sp>
      <p:sp>
        <p:nvSpPr>
          <p:cNvPr id="13" name="标题 1">
            <a:extLst>
              <a:ext uri="{FF2B5EF4-FFF2-40B4-BE49-F238E27FC236}">
                <a16:creationId xmlns:a16="http://schemas.microsoft.com/office/drawing/2014/main" id="{3B832FCC-376B-E592-3836-9E1203BFFEDB}"/>
              </a:ext>
            </a:extLst>
          </p:cNvPr>
          <p:cNvSpPr txBox="1"/>
          <p:nvPr/>
        </p:nvSpPr>
        <p:spPr>
          <a:xfrm>
            <a:off x="2925962" y="730390"/>
            <a:ext cx="6537961" cy="432000"/>
          </a:xfrm>
          <a:prstGeom prst="rect">
            <a:avLst/>
          </a:prstGeom>
          <a:noFill/>
          <a:ln>
            <a:noFill/>
            <a:prstDash val="solid"/>
          </a:ln>
        </p:spPr>
        <p:txBody>
          <a:bodyPr vert="horz" wrap="square" lIns="0" tIns="0" rIns="0" bIns="0" rtlCol="0" anchor="ctr"/>
          <a:lstStyle/>
          <a:p>
            <a:pPr algn="ctr"/>
            <a:r>
              <a:rPr kumimoji="1" lang="en-US" altLang="zh-CN" sz="3200" dirty="0" err="1">
                <a:ln w="12700">
                  <a:noFill/>
                </a:ln>
                <a:solidFill>
                  <a:srgbClr val="262626">
                    <a:alpha val="100000"/>
                  </a:srgbClr>
                </a:solidFill>
                <a:latin typeface="poppins-bold"/>
                <a:ea typeface="poppins-bold"/>
                <a:cs typeface="poppins-bold"/>
              </a:rPr>
              <a:t>Integración</a:t>
            </a:r>
            <a:r>
              <a:rPr kumimoji="1" lang="en-US" altLang="zh-CN" sz="3200" dirty="0">
                <a:ln w="12700">
                  <a:noFill/>
                </a:ln>
                <a:solidFill>
                  <a:srgbClr val="262626">
                    <a:alpha val="100000"/>
                  </a:srgbClr>
                </a:solidFill>
                <a:latin typeface="poppins-bold"/>
                <a:ea typeface="poppins-bold"/>
                <a:cs typeface="poppins-bold"/>
              </a:rPr>
              <a:t> de </a:t>
            </a:r>
            <a:r>
              <a:rPr kumimoji="1" lang="en-US" altLang="zh-CN" sz="3200" dirty="0" err="1">
                <a:ln w="12700">
                  <a:noFill/>
                </a:ln>
                <a:solidFill>
                  <a:srgbClr val="262626">
                    <a:alpha val="100000"/>
                  </a:srgbClr>
                </a:solidFill>
                <a:latin typeface="poppins-bold"/>
                <a:ea typeface="poppins-bold"/>
                <a:cs typeface="poppins-bold"/>
              </a:rPr>
              <a:t>Servicios</a:t>
            </a:r>
            <a:r>
              <a:rPr kumimoji="1" lang="en-US" altLang="zh-CN" sz="3200" dirty="0">
                <a:ln w="12700">
                  <a:noFill/>
                </a:ln>
                <a:solidFill>
                  <a:srgbClr val="262626">
                    <a:alpha val="100000"/>
                  </a:srgbClr>
                </a:solidFill>
                <a:latin typeface="poppins-bold"/>
                <a:ea typeface="poppins-bold"/>
                <a:cs typeface="poppins-bold"/>
              </a:rPr>
              <a:t> y </a:t>
            </a:r>
            <a:r>
              <a:rPr kumimoji="1" lang="en-US" altLang="zh-CN" sz="3200" dirty="0" err="1">
                <a:ln w="12700">
                  <a:noFill/>
                </a:ln>
                <a:solidFill>
                  <a:srgbClr val="262626">
                    <a:alpha val="100000"/>
                  </a:srgbClr>
                </a:solidFill>
                <a:latin typeface="poppins-bold"/>
                <a:ea typeface="poppins-bold"/>
                <a:cs typeface="poppins-bold"/>
              </a:rPr>
              <a:t>Plataformas</a:t>
            </a:r>
            <a:endParaRPr kumimoji="1" lang="zh-CN" altLang="en-US" dirty="0"/>
          </a:p>
        </p:txBody>
      </p:sp>
      <p:sp>
        <p:nvSpPr>
          <p:cNvPr id="15" name="标题 1">
            <a:extLst>
              <a:ext uri="{FF2B5EF4-FFF2-40B4-BE49-F238E27FC236}">
                <a16:creationId xmlns:a16="http://schemas.microsoft.com/office/drawing/2014/main" id="{6E88BA97-FBD1-58EB-308F-C5BDB2F78F59}"/>
              </a:ext>
            </a:extLst>
          </p:cNvPr>
          <p:cNvSpPr txBox="1"/>
          <p:nvPr/>
        </p:nvSpPr>
        <p:spPr>
          <a:xfrm>
            <a:off x="551497" y="576441"/>
            <a:ext cx="205107" cy="193318"/>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pic>
        <p:nvPicPr>
          <p:cNvPr id="3" name="Imagen 2">
            <a:extLst>
              <a:ext uri="{FF2B5EF4-FFF2-40B4-BE49-F238E27FC236}">
                <a16:creationId xmlns:a16="http://schemas.microsoft.com/office/drawing/2014/main" id="{23A8804B-2AA2-57C0-4EBF-16F306FC945C}"/>
              </a:ext>
            </a:extLst>
          </p:cNvPr>
          <p:cNvPicPr>
            <a:picLocks noChangeAspect="1"/>
          </p:cNvPicPr>
          <p:nvPr/>
        </p:nvPicPr>
        <p:blipFill>
          <a:blip r:embed="rId2"/>
          <a:stretch>
            <a:fillRect/>
          </a:stretch>
        </p:blipFill>
        <p:spPr>
          <a:xfrm>
            <a:off x="6096000" y="2193436"/>
            <a:ext cx="5239239" cy="3972479"/>
          </a:xfrm>
          <a:prstGeom prst="rect">
            <a:avLst/>
          </a:prstGeom>
        </p:spPr>
      </p:pic>
      <p:pic>
        <p:nvPicPr>
          <p:cNvPr id="2" name="Imagen 1">
            <a:extLst>
              <a:ext uri="{FF2B5EF4-FFF2-40B4-BE49-F238E27FC236}">
                <a16:creationId xmlns:a16="http://schemas.microsoft.com/office/drawing/2014/main" id="{74030BE8-F7B7-FD27-8E8E-E5AAB43B32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3432538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502179" y="4005696"/>
            <a:ext cx="4823112" cy="2086725"/>
          </a:xfrm>
          <a:prstGeom prst="rect">
            <a:avLst/>
          </a:prstGeom>
          <a:noFill/>
          <a:ln>
            <a:noFill/>
          </a:ln>
        </p:spPr>
        <p:txBody>
          <a:bodyPr vert="horz" wrap="square" lIns="91440" tIns="45720" rIns="91440" bIns="45720" rtlCol="0" anchor="ctr"/>
          <a:lstStyle/>
          <a:p>
            <a:pPr lvl="1" algn="just"/>
            <a:r>
              <a:rPr lang="es-EC" sz="1400" dirty="0">
                <a:latin typeface="Arial" panose="020B0604020202020204" pitchFamily="34" charset="0"/>
                <a:cs typeface="Arial" panose="020B0604020202020204" pitchFamily="34" charset="0"/>
              </a:rPr>
              <a:t>Hoy en día, el "centro de cómputo" se extiende más allá de las paredes físicas. Muchas organizaciones usan una </a:t>
            </a:r>
            <a:r>
              <a:rPr lang="es-EC" sz="1400" b="1" dirty="0">
                <a:latin typeface="Arial" panose="020B0604020202020204" pitchFamily="34" charset="0"/>
                <a:cs typeface="Arial" panose="020B0604020202020204" pitchFamily="34" charset="0"/>
              </a:rPr>
              <a:t>nube híbrida</a:t>
            </a:r>
            <a:r>
              <a:rPr lang="es-EC" sz="1400" dirty="0">
                <a:latin typeface="Arial" panose="020B0604020202020204" pitchFamily="34" charset="0"/>
                <a:cs typeface="Arial" panose="020B0604020202020204" pitchFamily="34" charset="0"/>
              </a:rPr>
              <a:t> (infraestructura local + nube pública como AWS, Azure o GCP).</a:t>
            </a:r>
          </a:p>
        </p:txBody>
      </p:sp>
      <p:sp>
        <p:nvSpPr>
          <p:cNvPr id="7" name="标题 1">
            <a:extLst>
              <a:ext uri="{FF2B5EF4-FFF2-40B4-BE49-F238E27FC236}">
                <a16:creationId xmlns:a16="http://schemas.microsoft.com/office/drawing/2014/main" id="{69F60B75-5A8D-9CE8-1B92-4E16DC1BBC59}"/>
              </a:ext>
            </a:extLst>
          </p:cNvPr>
          <p:cNvSpPr txBox="1"/>
          <p:nvPr/>
        </p:nvSpPr>
        <p:spPr>
          <a:xfrm>
            <a:off x="502179" y="1701570"/>
            <a:ext cx="4823112" cy="2086725"/>
          </a:xfrm>
          <a:prstGeom prst="rect">
            <a:avLst/>
          </a:prstGeom>
          <a:noFill/>
          <a:ln>
            <a:noFill/>
          </a:ln>
        </p:spPr>
        <p:txBody>
          <a:bodyPr vert="horz" wrap="square" lIns="91440" tIns="45720" rIns="91440" bIns="45720" rtlCol="0" anchor="ctr"/>
          <a:lstStyle/>
          <a:p>
            <a:pPr lvl="1" algn="just"/>
            <a:r>
              <a:rPr lang="es-EC" sz="1400" dirty="0">
                <a:latin typeface="Arial" panose="020B0604020202020204" pitchFamily="34" charset="0"/>
                <a:cs typeface="Arial" panose="020B0604020202020204" pitchFamily="34" charset="0"/>
              </a:rPr>
              <a:t>El administrador debe gestionar la </a:t>
            </a:r>
            <a:r>
              <a:rPr lang="es-EC" sz="1400" b="1" dirty="0">
                <a:latin typeface="Arial" panose="020B0604020202020204" pitchFamily="34" charset="0"/>
                <a:cs typeface="Arial" panose="020B0604020202020204" pitchFamily="34" charset="0"/>
              </a:rPr>
              <a:t>conectividad segura y de baja latencia</a:t>
            </a:r>
            <a:r>
              <a:rPr lang="es-EC" sz="1400" dirty="0">
                <a:latin typeface="Arial" panose="020B0604020202020204" pitchFamily="34" charset="0"/>
                <a:cs typeface="Arial" panose="020B0604020202020204" pitchFamily="34" charset="0"/>
              </a:rPr>
              <a:t> entre el centro de datos local y los servicios en la nube. Esto incluye la configuración de </a:t>
            </a:r>
            <a:r>
              <a:rPr lang="es-EC" sz="1400" dirty="0" err="1">
                <a:latin typeface="Arial" panose="020B0604020202020204" pitchFamily="34" charset="0"/>
                <a:cs typeface="Arial" panose="020B0604020202020204" pitchFamily="34" charset="0"/>
              </a:rPr>
              <a:t>VPNs</a:t>
            </a:r>
            <a:r>
              <a:rPr lang="es-EC" sz="1400" dirty="0">
                <a:latin typeface="Arial" panose="020B0604020202020204" pitchFamily="34" charset="0"/>
                <a:cs typeface="Arial" panose="020B0604020202020204" pitchFamily="34" charset="0"/>
              </a:rPr>
              <a:t>, conexiones directas (como AWS Direct </a:t>
            </a:r>
            <a:r>
              <a:rPr lang="es-EC" sz="1400" dirty="0" err="1">
                <a:latin typeface="Arial" panose="020B0604020202020204" pitchFamily="34" charset="0"/>
                <a:cs typeface="Arial" panose="020B0604020202020204" pitchFamily="34" charset="0"/>
              </a:rPr>
              <a:t>Connect</a:t>
            </a:r>
            <a:r>
              <a:rPr lang="es-EC" sz="1400" dirty="0">
                <a:latin typeface="Arial" panose="020B0604020202020204" pitchFamily="34" charset="0"/>
                <a:cs typeface="Arial" panose="020B0604020202020204" pitchFamily="34" charset="0"/>
              </a:rPr>
              <a:t>) y garantizar que las políticas de seguridad y gobernanza se apliquen de manera consistente en ambos entornos.</a:t>
            </a:r>
          </a:p>
        </p:txBody>
      </p:sp>
      <p:pic>
        <p:nvPicPr>
          <p:cNvPr id="9" name="Imagen 8">
            <a:extLst>
              <a:ext uri="{FF2B5EF4-FFF2-40B4-BE49-F238E27FC236}">
                <a16:creationId xmlns:a16="http://schemas.microsoft.com/office/drawing/2014/main" id="{0BA9537A-0E08-4D75-65D4-2932CC885C78}"/>
              </a:ext>
            </a:extLst>
          </p:cNvPr>
          <p:cNvPicPr>
            <a:picLocks noChangeAspect="1"/>
          </p:cNvPicPr>
          <p:nvPr/>
        </p:nvPicPr>
        <p:blipFill>
          <a:blip r:embed="rId2"/>
          <a:stretch>
            <a:fillRect/>
          </a:stretch>
        </p:blipFill>
        <p:spPr>
          <a:xfrm>
            <a:off x="6583680" y="1408867"/>
            <a:ext cx="5106141" cy="4214694"/>
          </a:xfrm>
          <a:prstGeom prst="rect">
            <a:avLst/>
          </a:prstGeom>
        </p:spPr>
      </p:pic>
      <p:sp>
        <p:nvSpPr>
          <p:cNvPr id="10" name="标题 1">
            <a:extLst>
              <a:ext uri="{FF2B5EF4-FFF2-40B4-BE49-F238E27FC236}">
                <a16:creationId xmlns:a16="http://schemas.microsoft.com/office/drawing/2014/main" id="{914E74E6-2800-321A-2C2F-E38D8DA05FEB}"/>
              </a:ext>
            </a:extLst>
          </p:cNvPr>
          <p:cNvSpPr txBox="1"/>
          <p:nvPr/>
        </p:nvSpPr>
        <p:spPr>
          <a:xfrm>
            <a:off x="3312794" y="584001"/>
            <a:ext cx="5566411" cy="432000"/>
          </a:xfrm>
          <a:prstGeom prst="rect">
            <a:avLst/>
          </a:prstGeom>
          <a:noFill/>
          <a:ln>
            <a:noFill/>
            <a:prstDash val="solid"/>
          </a:ln>
        </p:spPr>
        <p:txBody>
          <a:bodyPr vert="horz" wrap="square" lIns="0" tIns="0" rIns="0" bIns="0" rtlCol="0" anchor="ctr"/>
          <a:lstStyle/>
          <a:p>
            <a:pPr algn="ctr"/>
            <a:r>
              <a:rPr kumimoji="1" lang="en-US" altLang="zh-CN" sz="3200" dirty="0" err="1">
                <a:ln w="12700">
                  <a:noFill/>
                </a:ln>
                <a:solidFill>
                  <a:srgbClr val="262626">
                    <a:alpha val="100000"/>
                  </a:srgbClr>
                </a:solidFill>
                <a:latin typeface="poppins-bold"/>
                <a:ea typeface="poppins-bold"/>
                <a:cs typeface="poppins-bold"/>
              </a:rPr>
              <a:t>Gestión</a:t>
            </a:r>
            <a:r>
              <a:rPr kumimoji="1" lang="en-US" altLang="zh-CN" sz="3200" dirty="0">
                <a:ln w="12700">
                  <a:noFill/>
                </a:ln>
                <a:solidFill>
                  <a:srgbClr val="262626">
                    <a:alpha val="100000"/>
                  </a:srgbClr>
                </a:solidFill>
                <a:latin typeface="poppins-bold"/>
                <a:ea typeface="poppins-bold"/>
                <a:cs typeface="poppins-bold"/>
              </a:rPr>
              <a:t> de Ambientes </a:t>
            </a:r>
            <a:r>
              <a:rPr kumimoji="1" lang="en-US" altLang="zh-CN" sz="3200" dirty="0" err="1">
                <a:ln w="12700">
                  <a:noFill/>
                </a:ln>
                <a:solidFill>
                  <a:srgbClr val="262626">
                    <a:alpha val="100000"/>
                  </a:srgbClr>
                </a:solidFill>
                <a:latin typeface="poppins-bold"/>
                <a:ea typeface="poppins-bold"/>
                <a:cs typeface="poppins-bold"/>
              </a:rPr>
              <a:t>Híbridos</a:t>
            </a:r>
            <a:r>
              <a:rPr kumimoji="1" lang="en-US" altLang="zh-CN" sz="3200" dirty="0">
                <a:ln w="12700">
                  <a:noFill/>
                </a:ln>
                <a:solidFill>
                  <a:srgbClr val="262626">
                    <a:alpha val="100000"/>
                  </a:srgbClr>
                </a:solidFill>
                <a:latin typeface="poppins-bold"/>
                <a:ea typeface="poppins-bold"/>
                <a:cs typeface="poppins-bold"/>
              </a:rPr>
              <a:t> y </a:t>
            </a:r>
            <a:r>
              <a:rPr kumimoji="1" lang="en-US" altLang="zh-CN" sz="3200" dirty="0" err="1">
                <a:ln w="12700">
                  <a:noFill/>
                </a:ln>
                <a:solidFill>
                  <a:srgbClr val="262626">
                    <a:alpha val="100000"/>
                  </a:srgbClr>
                </a:solidFill>
                <a:latin typeface="poppins-bold"/>
                <a:ea typeface="poppins-bold"/>
                <a:cs typeface="poppins-bold"/>
              </a:rPr>
              <a:t>Multinube</a:t>
            </a:r>
            <a:endParaRPr kumimoji="1"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610610" y="1861458"/>
            <a:ext cx="7879714" cy="756000"/>
          </a:xfrm>
          <a:prstGeom prst="rect">
            <a:avLst/>
          </a:prstGeom>
          <a:solidFill>
            <a:schemeClr val="bg1">
              <a:lumMod val="95000"/>
            </a:schemeClr>
          </a:solidFill>
          <a:ln w="12700" cap="sq">
            <a:solidFill>
              <a:schemeClr val="bg1">
                <a:lumMod val="85000"/>
              </a:schemeClr>
            </a:solidFill>
            <a:miter/>
          </a:ln>
        </p:spPr>
        <p:txBody>
          <a:bodyPr vert="horz" wrap="square" lIns="216000" tIns="45720" rIns="216000" bIns="45720" rtlCol="0" anchor="ctr"/>
          <a:lstStyle/>
          <a:p>
            <a:pPr algn="l"/>
            <a:endParaRPr kumimoji="1" lang="zh-CN" altLang="en-US"/>
          </a:p>
        </p:txBody>
      </p:sp>
      <p:sp>
        <p:nvSpPr>
          <p:cNvPr id="4" name="标题 1"/>
          <p:cNvSpPr txBox="1"/>
          <p:nvPr/>
        </p:nvSpPr>
        <p:spPr>
          <a:xfrm>
            <a:off x="688975" y="1465457"/>
            <a:ext cx="2921635" cy="1152000"/>
          </a:xfrm>
          <a:prstGeom prst="round1Rect">
            <a:avLst>
              <a:gd name="adj" fmla="val 40491"/>
            </a:avLst>
          </a:prstGeom>
          <a:gradFill>
            <a:gsLst>
              <a:gs pos="1000">
                <a:schemeClr val="accent1"/>
              </a:gs>
              <a:gs pos="100000">
                <a:schemeClr val="accent1">
                  <a:lumMod val="60000"/>
                  <a:lumOff val="4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5" name="标题 1"/>
          <p:cNvSpPr txBox="1"/>
          <p:nvPr/>
        </p:nvSpPr>
        <p:spPr>
          <a:xfrm>
            <a:off x="3246045" y="1446408"/>
            <a:ext cx="383615" cy="383615"/>
          </a:xfrm>
          <a:custGeom>
            <a:avLst/>
            <a:gdLst>
              <a:gd name="connsiteX0" fmla="*/ 0 w 510591"/>
              <a:gd name="connsiteY0" fmla="*/ 0 h 510591"/>
              <a:gd name="connsiteX1" fmla="*/ 187095 w 510591"/>
              <a:gd name="connsiteY1" fmla="*/ 0 h 510591"/>
              <a:gd name="connsiteX2" fmla="*/ 510591 w 510591"/>
              <a:gd name="connsiteY2" fmla="*/ 323496 h 510591"/>
              <a:gd name="connsiteX3" fmla="*/ 510591 w 510591"/>
              <a:gd name="connsiteY3" fmla="*/ 510591 h 510591"/>
              <a:gd name="connsiteX4" fmla="*/ 0 w 510591"/>
              <a:gd name="connsiteY4" fmla="*/ 0 h 510591"/>
            </a:gdLst>
            <a:ahLst/>
            <a:cxnLst/>
            <a:rect l="l" t="t" r="r" b="b"/>
            <a:pathLst>
              <a:path w="510591" h="510591">
                <a:moveTo>
                  <a:pt x="0" y="0"/>
                </a:moveTo>
                <a:lnTo>
                  <a:pt x="187095" y="0"/>
                </a:lnTo>
                <a:cubicBezTo>
                  <a:pt x="365757" y="0"/>
                  <a:pt x="510591" y="144834"/>
                  <a:pt x="510591" y="323496"/>
                </a:cubicBezTo>
                <a:lnTo>
                  <a:pt x="510591" y="510591"/>
                </a:lnTo>
                <a:cubicBezTo>
                  <a:pt x="510591" y="228599"/>
                  <a:pt x="281992" y="0"/>
                  <a:pt x="0" y="0"/>
                </a:cubicBezTo>
                <a:close/>
              </a:path>
            </a:pathLst>
          </a:custGeom>
          <a:gradFill>
            <a:gsLst>
              <a:gs pos="1000">
                <a:schemeClr val="accent1"/>
              </a:gs>
              <a:gs pos="100000">
                <a:schemeClr val="accent1">
                  <a:lumMod val="60000"/>
                  <a:lumOff val="4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6" name="标题 1"/>
          <p:cNvSpPr txBox="1"/>
          <p:nvPr/>
        </p:nvSpPr>
        <p:spPr>
          <a:xfrm>
            <a:off x="822295" y="1677796"/>
            <a:ext cx="2674044" cy="720000"/>
          </a:xfrm>
          <a:prstGeom prst="rect">
            <a:avLst/>
          </a:prstGeom>
          <a:noFill/>
          <a:ln>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01</a:t>
            </a:r>
            <a:endParaRPr kumimoji="1" lang="zh-CN" altLang="en-US"/>
          </a:p>
        </p:txBody>
      </p:sp>
      <p:sp>
        <p:nvSpPr>
          <p:cNvPr id="7" name="标题 1"/>
          <p:cNvSpPr txBox="1"/>
          <p:nvPr/>
        </p:nvSpPr>
        <p:spPr>
          <a:xfrm>
            <a:off x="3858330" y="1900276"/>
            <a:ext cx="7384274" cy="663187"/>
          </a:xfrm>
          <a:prstGeom prst="rect">
            <a:avLst/>
          </a:prstGeom>
          <a:noFill/>
          <a:ln>
            <a:noFill/>
          </a:ln>
        </p:spPr>
        <p:txBody>
          <a:bodyPr vert="horz" wrap="square" lIns="0" tIns="0" rIns="0" bIns="0" rtlCol="0" anchor="ctr"/>
          <a:lstStyle/>
          <a:p>
            <a:pPr algn="l"/>
            <a:r>
              <a:rPr kumimoji="1" lang="en-US" altLang="zh-CN" sz="1400">
                <a:ln w="12700">
                  <a:noFill/>
                </a:ln>
                <a:solidFill>
                  <a:srgbClr val="000000">
                    <a:alpha val="100000"/>
                  </a:srgbClr>
                </a:solidFill>
                <a:latin typeface="Poppins"/>
                <a:ea typeface="Poppins"/>
                <a:cs typeface="Poppins"/>
              </a:rPr>
              <a:t>Gestión de la conectividad segura y de baja latencia entre el centro de datos local y la nube.</a:t>
            </a:r>
            <a:endParaRPr kumimoji="1" lang="zh-CN" altLang="en-US"/>
          </a:p>
        </p:txBody>
      </p:sp>
      <p:sp>
        <p:nvSpPr>
          <p:cNvPr id="8" name="标题 1"/>
          <p:cNvSpPr txBox="1"/>
          <p:nvPr/>
        </p:nvSpPr>
        <p:spPr>
          <a:xfrm>
            <a:off x="3610610" y="3461724"/>
            <a:ext cx="7879714" cy="756000"/>
          </a:xfrm>
          <a:prstGeom prst="rect">
            <a:avLst/>
          </a:prstGeom>
          <a:solidFill>
            <a:schemeClr val="bg1">
              <a:lumMod val="95000"/>
            </a:schemeClr>
          </a:solidFill>
          <a:ln w="12700" cap="sq">
            <a:solidFill>
              <a:schemeClr val="bg1">
                <a:lumMod val="85000"/>
              </a:schemeClr>
            </a:solidFill>
            <a:miter/>
          </a:ln>
        </p:spPr>
        <p:txBody>
          <a:bodyPr vert="horz" wrap="square" lIns="216000" tIns="45720" rIns="216000" bIns="45720" rtlCol="0" anchor="ctr"/>
          <a:lstStyle/>
          <a:p>
            <a:pPr algn="l"/>
            <a:endParaRPr kumimoji="1" lang="zh-CN" altLang="en-US"/>
          </a:p>
        </p:txBody>
      </p:sp>
      <p:sp>
        <p:nvSpPr>
          <p:cNvPr id="9" name="标题 1"/>
          <p:cNvSpPr txBox="1"/>
          <p:nvPr/>
        </p:nvSpPr>
        <p:spPr>
          <a:xfrm>
            <a:off x="688975" y="3065724"/>
            <a:ext cx="2921635" cy="1152000"/>
          </a:xfrm>
          <a:prstGeom prst="round1Rect">
            <a:avLst>
              <a:gd name="adj" fmla="val 40491"/>
            </a:avLst>
          </a:prstGeom>
          <a:gradFill>
            <a:gsLst>
              <a:gs pos="1000">
                <a:schemeClr val="accent1"/>
              </a:gs>
              <a:gs pos="100000">
                <a:schemeClr val="accent1">
                  <a:lumMod val="60000"/>
                  <a:lumOff val="4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10" name="标题 1"/>
          <p:cNvSpPr txBox="1"/>
          <p:nvPr/>
        </p:nvSpPr>
        <p:spPr>
          <a:xfrm>
            <a:off x="3246045" y="3046675"/>
            <a:ext cx="383615" cy="383615"/>
          </a:xfrm>
          <a:custGeom>
            <a:avLst/>
            <a:gdLst>
              <a:gd name="connsiteX0" fmla="*/ 0 w 510591"/>
              <a:gd name="connsiteY0" fmla="*/ 0 h 510591"/>
              <a:gd name="connsiteX1" fmla="*/ 187095 w 510591"/>
              <a:gd name="connsiteY1" fmla="*/ 0 h 510591"/>
              <a:gd name="connsiteX2" fmla="*/ 510591 w 510591"/>
              <a:gd name="connsiteY2" fmla="*/ 323496 h 510591"/>
              <a:gd name="connsiteX3" fmla="*/ 510591 w 510591"/>
              <a:gd name="connsiteY3" fmla="*/ 510591 h 510591"/>
              <a:gd name="connsiteX4" fmla="*/ 0 w 510591"/>
              <a:gd name="connsiteY4" fmla="*/ 0 h 510591"/>
            </a:gdLst>
            <a:ahLst/>
            <a:cxnLst/>
            <a:rect l="l" t="t" r="r" b="b"/>
            <a:pathLst>
              <a:path w="510591" h="510591">
                <a:moveTo>
                  <a:pt x="0" y="0"/>
                </a:moveTo>
                <a:lnTo>
                  <a:pt x="187095" y="0"/>
                </a:lnTo>
                <a:cubicBezTo>
                  <a:pt x="365757" y="0"/>
                  <a:pt x="510591" y="144834"/>
                  <a:pt x="510591" y="323496"/>
                </a:cubicBezTo>
                <a:lnTo>
                  <a:pt x="510591" y="510591"/>
                </a:lnTo>
                <a:cubicBezTo>
                  <a:pt x="510591" y="228599"/>
                  <a:pt x="281992" y="0"/>
                  <a:pt x="0" y="0"/>
                </a:cubicBezTo>
                <a:close/>
              </a:path>
            </a:pathLst>
          </a:custGeom>
          <a:gradFill>
            <a:gsLst>
              <a:gs pos="1000">
                <a:schemeClr val="accent1"/>
              </a:gs>
              <a:gs pos="100000">
                <a:schemeClr val="accent1">
                  <a:lumMod val="60000"/>
                  <a:lumOff val="4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11" name="标题 1"/>
          <p:cNvSpPr txBox="1"/>
          <p:nvPr/>
        </p:nvSpPr>
        <p:spPr>
          <a:xfrm>
            <a:off x="822295" y="3278063"/>
            <a:ext cx="2674044" cy="720000"/>
          </a:xfrm>
          <a:prstGeom prst="rect">
            <a:avLst/>
          </a:prstGeom>
          <a:noFill/>
          <a:ln>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02</a:t>
            </a:r>
            <a:endParaRPr kumimoji="1" lang="zh-CN" altLang="en-US"/>
          </a:p>
        </p:txBody>
      </p:sp>
      <p:sp>
        <p:nvSpPr>
          <p:cNvPr id="12" name="标题 1"/>
          <p:cNvSpPr txBox="1"/>
          <p:nvPr/>
        </p:nvSpPr>
        <p:spPr>
          <a:xfrm>
            <a:off x="3858330" y="3511146"/>
            <a:ext cx="7384274" cy="654490"/>
          </a:xfrm>
          <a:prstGeom prst="rect">
            <a:avLst/>
          </a:prstGeom>
          <a:noFill/>
          <a:ln>
            <a:noFill/>
          </a:ln>
        </p:spPr>
        <p:txBody>
          <a:bodyPr vert="horz" wrap="square" lIns="0" tIns="0" rIns="0" bIns="0" rtlCol="0" anchor="ctr"/>
          <a:lstStyle/>
          <a:p>
            <a:pPr algn="l"/>
            <a:r>
              <a:rPr kumimoji="1" lang="en-US" altLang="zh-CN" sz="1400">
                <a:ln w="12700">
                  <a:noFill/>
                </a:ln>
                <a:solidFill>
                  <a:srgbClr val="000000">
                    <a:alpha val="100000"/>
                  </a:srgbClr>
                </a:solidFill>
                <a:latin typeface="Poppins"/>
                <a:ea typeface="Poppins"/>
                <a:cs typeface="Poppins"/>
              </a:rPr>
              <a:t>Configuración de VPNs, conexiones directas (AWS Direct Connect).</a:t>
            </a:r>
            <a:endParaRPr kumimoji="1" lang="zh-CN" altLang="en-US"/>
          </a:p>
        </p:txBody>
      </p:sp>
      <p:sp>
        <p:nvSpPr>
          <p:cNvPr id="13" name="标题 1"/>
          <p:cNvSpPr txBox="1"/>
          <p:nvPr/>
        </p:nvSpPr>
        <p:spPr>
          <a:xfrm>
            <a:off x="3610610" y="5061991"/>
            <a:ext cx="7879714" cy="756000"/>
          </a:xfrm>
          <a:prstGeom prst="rect">
            <a:avLst/>
          </a:prstGeom>
          <a:solidFill>
            <a:schemeClr val="bg1">
              <a:lumMod val="95000"/>
            </a:schemeClr>
          </a:solidFill>
          <a:ln w="12700" cap="sq">
            <a:solidFill>
              <a:schemeClr val="bg1">
                <a:lumMod val="85000"/>
              </a:schemeClr>
            </a:solidFill>
            <a:miter/>
          </a:ln>
        </p:spPr>
        <p:txBody>
          <a:bodyPr vert="horz" wrap="square" lIns="216000" tIns="45720" rIns="216000" bIns="45720" rtlCol="0" anchor="ctr"/>
          <a:lstStyle/>
          <a:p>
            <a:pPr algn="l"/>
            <a:endParaRPr kumimoji="1" lang="zh-CN" altLang="en-US"/>
          </a:p>
        </p:txBody>
      </p:sp>
      <p:sp>
        <p:nvSpPr>
          <p:cNvPr id="14" name="标题 1"/>
          <p:cNvSpPr txBox="1"/>
          <p:nvPr/>
        </p:nvSpPr>
        <p:spPr>
          <a:xfrm>
            <a:off x="688975" y="4665991"/>
            <a:ext cx="2921635" cy="1152000"/>
          </a:xfrm>
          <a:prstGeom prst="round1Rect">
            <a:avLst>
              <a:gd name="adj" fmla="val 40491"/>
            </a:avLst>
          </a:prstGeom>
          <a:gradFill>
            <a:gsLst>
              <a:gs pos="1000">
                <a:schemeClr val="accent1"/>
              </a:gs>
              <a:gs pos="100000">
                <a:schemeClr val="accent1">
                  <a:lumMod val="60000"/>
                  <a:lumOff val="4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15" name="标题 1"/>
          <p:cNvSpPr txBox="1"/>
          <p:nvPr/>
        </p:nvSpPr>
        <p:spPr>
          <a:xfrm>
            <a:off x="3246045" y="4646942"/>
            <a:ext cx="383615" cy="383615"/>
          </a:xfrm>
          <a:custGeom>
            <a:avLst/>
            <a:gdLst>
              <a:gd name="connsiteX0" fmla="*/ 0 w 510591"/>
              <a:gd name="connsiteY0" fmla="*/ 0 h 510591"/>
              <a:gd name="connsiteX1" fmla="*/ 187095 w 510591"/>
              <a:gd name="connsiteY1" fmla="*/ 0 h 510591"/>
              <a:gd name="connsiteX2" fmla="*/ 510591 w 510591"/>
              <a:gd name="connsiteY2" fmla="*/ 323496 h 510591"/>
              <a:gd name="connsiteX3" fmla="*/ 510591 w 510591"/>
              <a:gd name="connsiteY3" fmla="*/ 510591 h 510591"/>
              <a:gd name="connsiteX4" fmla="*/ 0 w 510591"/>
              <a:gd name="connsiteY4" fmla="*/ 0 h 510591"/>
            </a:gdLst>
            <a:ahLst/>
            <a:cxnLst/>
            <a:rect l="l" t="t" r="r" b="b"/>
            <a:pathLst>
              <a:path w="510591" h="510591">
                <a:moveTo>
                  <a:pt x="0" y="0"/>
                </a:moveTo>
                <a:lnTo>
                  <a:pt x="187095" y="0"/>
                </a:lnTo>
                <a:cubicBezTo>
                  <a:pt x="365757" y="0"/>
                  <a:pt x="510591" y="144834"/>
                  <a:pt x="510591" y="323496"/>
                </a:cubicBezTo>
                <a:lnTo>
                  <a:pt x="510591" y="510591"/>
                </a:lnTo>
                <a:cubicBezTo>
                  <a:pt x="510591" y="228599"/>
                  <a:pt x="281992" y="0"/>
                  <a:pt x="0" y="0"/>
                </a:cubicBezTo>
                <a:close/>
              </a:path>
            </a:pathLst>
          </a:custGeom>
          <a:gradFill>
            <a:gsLst>
              <a:gs pos="1000">
                <a:schemeClr val="accent1"/>
              </a:gs>
              <a:gs pos="100000">
                <a:schemeClr val="accent1">
                  <a:lumMod val="60000"/>
                  <a:lumOff val="40000"/>
                </a:schemeClr>
              </a:gs>
            </a:gsLst>
            <a:lin ang="2700000" scaled="0"/>
          </a:gradFill>
          <a:ln w="12700" cap="sq">
            <a:noFill/>
            <a:miter/>
          </a:ln>
          <a:effectLst>
            <a:outerShdw blurRad="330200" dist="1905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16" name="标题 1"/>
          <p:cNvSpPr txBox="1"/>
          <p:nvPr/>
        </p:nvSpPr>
        <p:spPr>
          <a:xfrm>
            <a:off x="822295" y="4878330"/>
            <a:ext cx="2674044" cy="720000"/>
          </a:xfrm>
          <a:prstGeom prst="rect">
            <a:avLst/>
          </a:prstGeom>
          <a:noFill/>
          <a:ln>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03</a:t>
            </a:r>
            <a:endParaRPr kumimoji="1" lang="zh-CN" altLang="en-US"/>
          </a:p>
        </p:txBody>
      </p:sp>
      <p:sp>
        <p:nvSpPr>
          <p:cNvPr id="17" name="标题 1"/>
          <p:cNvSpPr txBox="1"/>
          <p:nvPr/>
        </p:nvSpPr>
        <p:spPr>
          <a:xfrm>
            <a:off x="3858330" y="5111413"/>
            <a:ext cx="7384274" cy="654490"/>
          </a:xfrm>
          <a:prstGeom prst="rect">
            <a:avLst/>
          </a:prstGeom>
          <a:noFill/>
          <a:ln>
            <a:noFill/>
          </a:ln>
        </p:spPr>
        <p:txBody>
          <a:bodyPr vert="horz" wrap="square" lIns="0" tIns="0" rIns="0" bIns="0" rtlCol="0" anchor="ctr"/>
          <a:lstStyle/>
          <a:p>
            <a:pPr algn="l"/>
            <a:r>
              <a:rPr kumimoji="1" lang="en-US" altLang="zh-CN" sz="1400">
                <a:ln w="12700">
                  <a:noFill/>
                </a:ln>
                <a:solidFill>
                  <a:srgbClr val="000000">
                    <a:alpha val="100000"/>
                  </a:srgbClr>
                </a:solidFill>
                <a:latin typeface="Poppins"/>
                <a:ea typeface="Poppins"/>
                <a:cs typeface="Poppins"/>
              </a:rPr>
              <a:t>Aplicación de políticas de seguridad y gobernanza en ambos entornos.</a:t>
            </a:r>
            <a:endParaRPr kumimoji="1" lang="zh-CN" altLang="en-US"/>
          </a:p>
        </p:txBody>
      </p:sp>
      <p:sp>
        <p:nvSpPr>
          <p:cNvPr id="18" name="标题 1"/>
          <p:cNvSpPr txBox="1"/>
          <p:nvPr/>
        </p:nvSpPr>
        <p:spPr>
          <a:xfrm>
            <a:off x="3674110" y="876097"/>
            <a:ext cx="5314858" cy="432000"/>
          </a:xfrm>
          <a:prstGeom prst="rect">
            <a:avLst/>
          </a:prstGeom>
          <a:noFill/>
          <a:ln>
            <a:noFill/>
            <a:prstDash val="solid"/>
          </a:ln>
        </p:spPr>
        <p:txBody>
          <a:bodyPr vert="horz" wrap="square" lIns="0" tIns="0" rIns="0" bIns="0" rtlCol="0" anchor="ctr"/>
          <a:lstStyle/>
          <a:p>
            <a:pPr algn="ctr"/>
            <a:r>
              <a:rPr kumimoji="1" lang="en-US" altLang="zh-CN" sz="3200" dirty="0" err="1">
                <a:ln w="12700">
                  <a:noFill/>
                </a:ln>
                <a:solidFill>
                  <a:srgbClr val="262626">
                    <a:alpha val="100000"/>
                  </a:srgbClr>
                </a:solidFill>
                <a:latin typeface="poppins-bold"/>
                <a:ea typeface="poppins-bold"/>
                <a:cs typeface="poppins-bold"/>
              </a:rPr>
              <a:t>Gestión</a:t>
            </a:r>
            <a:r>
              <a:rPr kumimoji="1" lang="en-US" altLang="zh-CN" sz="3200" dirty="0">
                <a:ln w="12700">
                  <a:noFill/>
                </a:ln>
                <a:solidFill>
                  <a:srgbClr val="262626">
                    <a:alpha val="100000"/>
                  </a:srgbClr>
                </a:solidFill>
                <a:latin typeface="poppins-bold"/>
                <a:ea typeface="poppins-bold"/>
                <a:cs typeface="poppins-bold"/>
              </a:rPr>
              <a:t> de Ambientes </a:t>
            </a:r>
            <a:r>
              <a:rPr kumimoji="1" lang="en-US" altLang="zh-CN" sz="3200" dirty="0" err="1">
                <a:ln w="12700">
                  <a:noFill/>
                </a:ln>
                <a:solidFill>
                  <a:srgbClr val="262626">
                    <a:alpha val="100000"/>
                  </a:srgbClr>
                </a:solidFill>
                <a:latin typeface="poppins-bold"/>
                <a:ea typeface="poppins-bold"/>
                <a:cs typeface="poppins-bold"/>
              </a:rPr>
              <a:t>Híbridos</a:t>
            </a:r>
            <a:r>
              <a:rPr kumimoji="1" lang="en-US" altLang="zh-CN" sz="3200" dirty="0">
                <a:ln w="12700">
                  <a:noFill/>
                </a:ln>
                <a:solidFill>
                  <a:srgbClr val="262626">
                    <a:alpha val="100000"/>
                  </a:srgbClr>
                </a:solidFill>
                <a:latin typeface="poppins-bold"/>
                <a:ea typeface="poppins-bold"/>
                <a:cs typeface="poppins-bold"/>
              </a:rPr>
              <a:t> y </a:t>
            </a:r>
            <a:r>
              <a:rPr kumimoji="1" lang="en-US" altLang="zh-CN" sz="3200" dirty="0" err="1">
                <a:ln w="12700">
                  <a:noFill/>
                </a:ln>
                <a:solidFill>
                  <a:srgbClr val="262626">
                    <a:alpha val="100000"/>
                  </a:srgbClr>
                </a:solidFill>
                <a:latin typeface="poppins-bold"/>
                <a:ea typeface="poppins-bold"/>
                <a:cs typeface="poppins-bold"/>
              </a:rPr>
              <a:t>Multinube</a:t>
            </a:r>
            <a:endParaRPr kumimoji="1" lang="zh-CN" altLang="en-US" dirty="0"/>
          </a:p>
        </p:txBody>
      </p:sp>
      <p:sp>
        <p:nvSpPr>
          <p:cNvPr id="19" name="标题 1"/>
          <p:cNvSpPr txBox="1"/>
          <p:nvPr/>
        </p:nvSpPr>
        <p:spPr>
          <a:xfrm>
            <a:off x="431800" y="457200"/>
            <a:ext cx="444500" cy="431800"/>
          </a:xfrm>
          <a:prstGeom prst="ellipse">
            <a:avLst/>
          </a:prstGeom>
          <a:solidFill>
            <a:schemeClr val="accent1"/>
          </a:solidFill>
        </p:spPr>
        <p:txBody>
          <a:bodyPr vert="horz" wrap="square" lIns="0" tIns="0" rIns="0" bIns="0" rtlCol="0" anchor="ctr"/>
          <a:lstStyle/>
          <a:p>
            <a:pPr algn="ctr"/>
            <a:endParaRPr kumimoji="1" lang="zh-CN" altLang="en-US"/>
          </a:p>
        </p:txBody>
      </p:sp>
      <p:sp>
        <p:nvSpPr>
          <p:cNvPr id="20" name="标题 1"/>
          <p:cNvSpPr txBox="1"/>
          <p:nvPr/>
        </p:nvSpPr>
        <p:spPr>
          <a:xfrm>
            <a:off x="551497" y="576441"/>
            <a:ext cx="205107" cy="193318"/>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pic>
        <p:nvPicPr>
          <p:cNvPr id="21" name="Imagen 20">
            <a:extLst>
              <a:ext uri="{FF2B5EF4-FFF2-40B4-BE49-F238E27FC236}">
                <a16:creationId xmlns:a16="http://schemas.microsoft.com/office/drawing/2014/main" id="{D54960EA-FDE3-5E88-E280-288AFD654D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A7939D-4B3D-79B6-6F62-D5D360622C76}"/>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CBA43BD0-56D4-0E7E-66F4-A65B0DB96ACA}"/>
              </a:ext>
            </a:extLst>
          </p:cNvPr>
          <p:cNvPicPr>
            <a:picLocks noChangeAspect="1"/>
          </p:cNvPicPr>
          <p:nvPr/>
        </p:nvPicPr>
        <p:blipFill>
          <a:blip r:embed="rId2">
            <a:alphaModFix/>
          </a:blip>
          <a:srcRect l="34798" t="10263" r="6538" b="17674"/>
          <a:stretch>
            <a:fillRect/>
          </a:stretch>
        </p:blipFill>
        <p:spPr>
          <a:xfrm>
            <a:off x="5355771" y="1016001"/>
            <a:ext cx="6662058" cy="4586514"/>
          </a:xfrm>
          <a:prstGeom prst="rect">
            <a:avLst/>
          </a:prstGeom>
          <a:noFill/>
          <a:ln>
            <a:noFill/>
          </a:ln>
        </p:spPr>
      </p:pic>
      <p:sp>
        <p:nvSpPr>
          <p:cNvPr id="4" name="标题 1">
            <a:extLst>
              <a:ext uri="{FF2B5EF4-FFF2-40B4-BE49-F238E27FC236}">
                <a16:creationId xmlns:a16="http://schemas.microsoft.com/office/drawing/2014/main" id="{3817F14F-076F-A871-2F13-2D1F8117073A}"/>
              </a:ext>
            </a:extLst>
          </p:cNvPr>
          <p:cNvSpPr txBox="1"/>
          <p:nvPr/>
        </p:nvSpPr>
        <p:spPr>
          <a:xfrm>
            <a:off x="518144" y="2073584"/>
            <a:ext cx="4823112" cy="2086725"/>
          </a:xfrm>
          <a:prstGeom prst="rect">
            <a:avLst/>
          </a:prstGeom>
          <a:noFill/>
          <a:ln>
            <a:noFill/>
          </a:ln>
        </p:spPr>
        <p:txBody>
          <a:bodyPr vert="horz" wrap="square" lIns="91440" tIns="45720" rIns="91440" bIns="45720" rtlCol="0" anchor="ctr"/>
          <a:lstStyle/>
          <a:p>
            <a:pPr algn="l"/>
            <a:r>
              <a:rPr kumimoji="1" lang="en-US" altLang="zh-CN" sz="7100">
                <a:ln w="12700">
                  <a:noFill/>
                </a:ln>
                <a:solidFill>
                  <a:srgbClr val="000000">
                    <a:alpha val="100000"/>
                  </a:srgbClr>
                </a:solidFill>
                <a:latin typeface="Barlow Condensed Medium"/>
                <a:ea typeface="Barlow Condensed Medium"/>
                <a:cs typeface="Barlow Condensed Medium"/>
              </a:rPr>
              <a:t>Thanks</a:t>
            </a:r>
            <a:endParaRPr kumimoji="1" lang="zh-CN" altLang="en-US"/>
          </a:p>
        </p:txBody>
      </p:sp>
      <p:sp>
        <p:nvSpPr>
          <p:cNvPr id="5" name="标题 1">
            <a:extLst>
              <a:ext uri="{FF2B5EF4-FFF2-40B4-BE49-F238E27FC236}">
                <a16:creationId xmlns:a16="http://schemas.microsoft.com/office/drawing/2014/main" id="{FFA11D98-9159-A220-F6EE-9A82C32226EA}"/>
              </a:ext>
            </a:extLst>
          </p:cNvPr>
          <p:cNvSpPr txBox="1"/>
          <p:nvPr/>
        </p:nvSpPr>
        <p:spPr>
          <a:xfrm>
            <a:off x="648773" y="4259273"/>
            <a:ext cx="4483841" cy="559469"/>
          </a:xfrm>
          <a:prstGeom prst="rect">
            <a:avLst/>
          </a:prstGeom>
          <a:noFill/>
          <a:ln w="12700" cap="sq">
            <a:noFill/>
            <a:miter/>
          </a:ln>
        </p:spPr>
        <p:txBody>
          <a:bodyPr vert="horz" wrap="square" lIns="0" tIns="0" rIns="0" bIns="0" rtlCol="0" anchor="ctr"/>
          <a:lstStyle/>
          <a:p>
            <a:pPr algn="l"/>
            <a:r>
              <a:rPr kumimoji="1" lang="en-US" altLang="zh-CN" sz="1600" dirty="0">
                <a:ln w="12700">
                  <a:noFill/>
                </a:ln>
                <a:solidFill>
                  <a:srgbClr val="000000">
                    <a:alpha val="100000"/>
                  </a:srgbClr>
                </a:solidFill>
                <a:latin typeface="Poppins"/>
                <a:ea typeface="Poppins"/>
                <a:cs typeface="Poppins"/>
              </a:rPr>
              <a:t>MGS. JOSE FRANCO LAMILLA</a:t>
            </a:r>
            <a:endParaRPr kumimoji="1" lang="zh-CN" altLang="en-US" dirty="0"/>
          </a:p>
        </p:txBody>
      </p:sp>
      <p:pic>
        <p:nvPicPr>
          <p:cNvPr id="7" name="Imagen 6">
            <a:extLst>
              <a:ext uri="{FF2B5EF4-FFF2-40B4-BE49-F238E27FC236}">
                <a16:creationId xmlns:a16="http://schemas.microsoft.com/office/drawing/2014/main" id="{F6F20743-5B03-E8D0-E902-47110830D7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679237859"/>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725</Words>
  <Application>Microsoft Office PowerPoint</Application>
  <PresentationFormat>Panorámica</PresentationFormat>
  <Paragraphs>54</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Barlow Condensed Medium</vt:lpstr>
      <vt:lpstr>Poppins</vt:lpstr>
      <vt:lpstr>poppins-bold</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TICS</cp:lastModifiedBy>
  <cp:revision>6</cp:revision>
  <dcterms:modified xsi:type="dcterms:W3CDTF">2025-09-30T18:15:28Z</dcterms:modified>
</cp:coreProperties>
</file>
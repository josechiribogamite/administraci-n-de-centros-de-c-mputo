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93" r:id="rId8"/>
    <p:sldId id="261" r:id="rId9"/>
    <p:sldId id="282" r:id="rId10"/>
    <p:sldId id="283" r:id="rId11"/>
    <p:sldId id="262" r:id="rId12"/>
    <p:sldId id="263" r:id="rId13"/>
    <p:sldId id="288" r:id="rId14"/>
    <p:sldId id="290" r:id="rId15"/>
    <p:sldId id="292" r:id="rId16"/>
    <p:sldId id="264" r:id="rId17"/>
    <p:sldId id="284" r:id="rId18"/>
    <p:sldId id="285" r:id="rId19"/>
    <p:sldId id="265" r:id="rId20"/>
    <p:sldId id="266" r:id="rId21"/>
    <p:sldId id="289" r:id="rId22"/>
    <p:sldId id="267" r:id="rId23"/>
    <p:sldId id="286" r:id="rId24"/>
    <p:sldId id="287" r:id="rId25"/>
    <p:sldId id="268" r:id="rId26"/>
    <p:sldId id="269" r:id="rId27"/>
    <p:sldId id="281" r:id="rId28"/>
    <p:sldId id="270" r:id="rId29"/>
    <p:sldId id="271" r:id="rId30"/>
    <p:sldId id="272" r:id="rId31"/>
    <p:sldId id="273" r:id="rId32"/>
  </p:sldIdLst>
  <p:sldSz cx="12192000" cy="6858000"/>
  <p:notesSz cx="6858000" cy="9144000"/>
  <p:embeddedFontLs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-bold" panose="020B0604020202020204" charset="0"/>
      <p:regular r:id="rId37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Tipos</a:t>
            </a:r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Modelos de Centros de Cómputo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9D4123A-3CFE-75E8-1D99-B2D6185BE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724650"/>
            <a:ext cx="12191741" cy="133510"/>
          </a:xfrm>
          <a:custGeom>
            <a:avLst/>
            <a:gdLst>
              <a:gd name="connsiteX0" fmla="*/ 0 w 12191741"/>
              <a:gd name="connsiteY0" fmla="*/ 0 h 341410"/>
              <a:gd name="connsiteX1" fmla="*/ 12191742 w 12191741"/>
              <a:gd name="connsiteY1" fmla="*/ 0 h 341410"/>
              <a:gd name="connsiteX2" fmla="*/ 12191742 w 12191741"/>
              <a:gd name="connsiteY2" fmla="*/ 341410 h 341410"/>
              <a:gd name="connsiteX3" fmla="*/ 0 w 12191741"/>
              <a:gd name="connsiteY3" fmla="*/ 341410 h 341410"/>
            </a:gdLst>
            <a:ahLst/>
            <a:cxnLst/>
            <a:rect l="l" t="t" r="r" b="b"/>
            <a:pathLst>
              <a:path w="12191741" h="341410">
                <a:moveTo>
                  <a:pt x="0" y="0"/>
                </a:moveTo>
                <a:lnTo>
                  <a:pt x="12191742" y="0"/>
                </a:lnTo>
                <a:lnTo>
                  <a:pt x="12191742" y="341410"/>
                </a:lnTo>
                <a:lnTo>
                  <a:pt x="0" y="34141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860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6200000">
            <a:off x="2032302" y="3505759"/>
            <a:ext cx="468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996975" y="1183759"/>
            <a:ext cx="514025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538700" y="1252603"/>
            <a:ext cx="5904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Introducción: ¿Dónde Vive la Información?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996975" y="2156513"/>
            <a:ext cx="514025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538700" y="2225357"/>
            <a:ext cx="5904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Centro de Cómputo Local (On-Premises): "La Fortaleza Propia"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996975" y="3129267"/>
            <a:ext cx="514025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538700" y="3198111"/>
            <a:ext cx="5904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Centro de Cómputo en la Nube (Cloud): "El Hotel de Lujo Flexible"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996975" y="4102021"/>
            <a:ext cx="514025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538700" y="4170865"/>
            <a:ext cx="5904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Centro de Cómputo Híbrido: "Lo Mejor de Dos Mundos"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996975" y="5074774"/>
            <a:ext cx="514025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538700" y="5143618"/>
            <a:ext cx="5904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Tendencias Actuales y Futuras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77115" y="1189769"/>
            <a:ext cx="3157440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/>
            <a:r>
              <a:rPr kumimoji="1" lang="en-US" altLang="zh-CN" sz="4000" dirty="0" err="1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cs typeface="poppins-bold"/>
              </a:rPr>
              <a:t>Contenido</a:t>
            </a:r>
            <a:endParaRPr kumimoji="1" lang="zh-CN" altLang="en-U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4308889-C68B-DCF3-43E7-05570299D0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483412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Introducción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: ¿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Dónde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Vive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la Información?</a:t>
            </a:r>
            <a:endParaRPr kumimoji="1" lang="zh-CN" alt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E587B2-501A-9072-E789-ADBD131A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5" y="1689798"/>
            <a:ext cx="5332806" cy="38308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A392BB3-5C16-0D75-5830-8AEED75895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 l="36486" r="21876" b="3081"/>
          <a:stretch>
            <a:fillRect/>
          </a:stretch>
        </p:blipFill>
        <p:spPr>
          <a:xfrm>
            <a:off x="5836215" y="2947004"/>
            <a:ext cx="1409496" cy="1406172"/>
          </a:xfrm>
          <a:custGeom>
            <a:avLst/>
            <a:gdLst/>
            <a:ahLst/>
            <a:cxnLst/>
            <a:rect l="l" t="t" r="r" b="b"/>
            <a:pathLst>
              <a:path w="1409496" h="1406172">
                <a:moveTo>
                  <a:pt x="671775" y="0"/>
                </a:moveTo>
                <a:lnTo>
                  <a:pt x="737722" y="0"/>
                </a:lnTo>
                <a:lnTo>
                  <a:pt x="846780" y="10994"/>
                </a:lnTo>
                <a:cubicBezTo>
                  <a:pt x="1167921" y="76709"/>
                  <a:pt x="1409496" y="360855"/>
                  <a:pt x="1409496" y="701424"/>
                </a:cubicBezTo>
                <a:cubicBezTo>
                  <a:pt x="1409496" y="1090646"/>
                  <a:pt x="1093970" y="1406172"/>
                  <a:pt x="704748" y="1406172"/>
                </a:cubicBezTo>
                <a:cubicBezTo>
                  <a:pt x="315527" y="1406172"/>
                  <a:pt x="0" y="1090646"/>
                  <a:pt x="0" y="701424"/>
                </a:cubicBezTo>
                <a:cubicBezTo>
                  <a:pt x="0" y="360855"/>
                  <a:pt x="241575" y="76709"/>
                  <a:pt x="562717" y="10994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/>
          </a:blip>
          <a:srcRect l="5155" t="38957" r="5155" b="1409"/>
          <a:stretch>
            <a:fillRect/>
          </a:stretch>
        </p:blipFill>
        <p:spPr>
          <a:xfrm>
            <a:off x="5836215" y="1133691"/>
            <a:ext cx="1409496" cy="1409496"/>
          </a:xfrm>
          <a:custGeom>
            <a:avLst/>
            <a:gdLst/>
            <a:ahLst/>
            <a:cxnLst/>
            <a:rect l="l" t="t" r="r" b="b"/>
            <a:pathLst>
              <a:path w="1409496" h="1409496">
                <a:moveTo>
                  <a:pt x="704748" y="0"/>
                </a:moveTo>
                <a:cubicBezTo>
                  <a:pt x="1093970" y="0"/>
                  <a:pt x="1409496" y="315527"/>
                  <a:pt x="1409496" y="704748"/>
                </a:cubicBezTo>
                <a:cubicBezTo>
                  <a:pt x="1409496" y="1093970"/>
                  <a:pt x="1093970" y="1409496"/>
                  <a:pt x="704748" y="1409496"/>
                </a:cubicBezTo>
                <a:cubicBezTo>
                  <a:pt x="315527" y="1409496"/>
                  <a:pt x="0" y="1093970"/>
                  <a:pt x="0" y="704748"/>
                </a:cubicBezTo>
                <a:cubicBezTo>
                  <a:pt x="0" y="315527"/>
                  <a:pt x="315527" y="0"/>
                  <a:pt x="704748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660400" y="1183930"/>
            <a:ext cx="4611036" cy="5051770"/>
          </a:xfrm>
          <a:custGeom>
            <a:avLst/>
            <a:gdLst>
              <a:gd name="T0" fmla="*/ 592 w 655"/>
              <a:gd name="T1" fmla="*/ 6 h 719"/>
              <a:gd name="T2" fmla="*/ 46 w 655"/>
              <a:gd name="T3" fmla="*/ 105 h 719"/>
              <a:gd name="T4" fmla="*/ 3 w 655"/>
              <a:gd name="T5" fmla="*/ 162 h 719"/>
              <a:gd name="T6" fmla="*/ 37 w 655"/>
              <a:gd name="T7" fmla="*/ 480 h 719"/>
              <a:gd name="T8" fmla="*/ 78 w 655"/>
              <a:gd name="T9" fmla="*/ 525 h 719"/>
              <a:gd name="T10" fmla="*/ 377 w 655"/>
              <a:gd name="T11" fmla="*/ 589 h 719"/>
              <a:gd name="T12" fmla="*/ 341 w 655"/>
              <a:gd name="T13" fmla="*/ 693 h 719"/>
              <a:gd name="T14" fmla="*/ 365 w 655"/>
              <a:gd name="T15" fmla="*/ 708 h 719"/>
              <a:gd name="T16" fmla="*/ 504 w 655"/>
              <a:gd name="T17" fmla="*/ 568 h 719"/>
              <a:gd name="T18" fmla="*/ 506 w 655"/>
              <a:gd name="T19" fmla="*/ 564 h 719"/>
              <a:gd name="T20" fmla="*/ 622 w 655"/>
              <a:gd name="T21" fmla="*/ 451 h 719"/>
              <a:gd name="T22" fmla="*/ 638 w 655"/>
              <a:gd name="T23" fmla="*/ 417 h 719"/>
              <a:gd name="T24" fmla="*/ 653 w 655"/>
              <a:gd name="T25" fmla="*/ 59 h 719"/>
              <a:gd name="T26" fmla="*/ 592 w 655"/>
              <a:gd name="T27" fmla="*/ 6 h 719"/>
            </a:gdLst>
            <a:ahLst/>
            <a:cxnLst/>
            <a:rect l="0" t="0" r="r" b="b"/>
            <a:pathLst>
              <a:path w="655" h="719">
                <a:moveTo>
                  <a:pt x="592" y="6"/>
                </a:moveTo>
                <a:cubicBezTo>
                  <a:pt x="46" y="105"/>
                  <a:pt x="46" y="105"/>
                  <a:pt x="46" y="105"/>
                </a:cubicBezTo>
                <a:cubicBezTo>
                  <a:pt x="19" y="110"/>
                  <a:pt x="0" y="135"/>
                  <a:pt x="3" y="162"/>
                </a:cubicBezTo>
                <a:cubicBezTo>
                  <a:pt x="37" y="480"/>
                  <a:pt x="37" y="480"/>
                  <a:pt x="37" y="480"/>
                </a:cubicBezTo>
                <a:cubicBezTo>
                  <a:pt x="40" y="502"/>
                  <a:pt x="56" y="521"/>
                  <a:pt x="78" y="525"/>
                </a:cubicBezTo>
                <a:cubicBezTo>
                  <a:pt x="377" y="589"/>
                  <a:pt x="377" y="589"/>
                  <a:pt x="377" y="589"/>
                </a:cubicBezTo>
                <a:cubicBezTo>
                  <a:pt x="366" y="619"/>
                  <a:pt x="352" y="660"/>
                  <a:pt x="341" y="693"/>
                </a:cubicBezTo>
                <a:cubicBezTo>
                  <a:pt x="336" y="708"/>
                  <a:pt x="354" y="719"/>
                  <a:pt x="365" y="708"/>
                </a:cubicBezTo>
                <a:cubicBezTo>
                  <a:pt x="504" y="568"/>
                  <a:pt x="504" y="568"/>
                  <a:pt x="504" y="568"/>
                </a:cubicBezTo>
                <a:cubicBezTo>
                  <a:pt x="505" y="567"/>
                  <a:pt x="506" y="566"/>
                  <a:pt x="506" y="564"/>
                </a:cubicBezTo>
                <a:cubicBezTo>
                  <a:pt x="622" y="451"/>
                  <a:pt x="622" y="451"/>
                  <a:pt x="622" y="451"/>
                </a:cubicBezTo>
                <a:cubicBezTo>
                  <a:pt x="631" y="442"/>
                  <a:pt x="637" y="430"/>
                  <a:pt x="638" y="417"/>
                </a:cubicBezTo>
                <a:cubicBezTo>
                  <a:pt x="653" y="59"/>
                  <a:pt x="653" y="59"/>
                  <a:pt x="653" y="59"/>
                </a:cubicBezTo>
                <a:cubicBezTo>
                  <a:pt x="655" y="26"/>
                  <a:pt x="625" y="0"/>
                  <a:pt x="592" y="6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>
            <a:outerShdw blurRad="2540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 flipV="1">
            <a:off x="4228832" y="1595836"/>
            <a:ext cx="547546" cy="438611"/>
          </a:xfrm>
          <a:custGeom>
            <a:avLst/>
            <a:gdLst>
              <a:gd name="T0" fmla="*/ 41 w 98"/>
              <a:gd name="T1" fmla="*/ 0 h 78"/>
              <a:gd name="T2" fmla="*/ 44 w 98"/>
              <a:gd name="T3" fmla="*/ 4 h 78"/>
              <a:gd name="T4" fmla="*/ 27 w 98"/>
              <a:gd name="T5" fmla="*/ 16 h 78"/>
              <a:gd name="T6" fmla="*/ 21 w 98"/>
              <a:gd name="T7" fmla="*/ 29 h 78"/>
              <a:gd name="T8" fmla="*/ 29 w 98"/>
              <a:gd name="T9" fmla="*/ 37 h 78"/>
              <a:gd name="T10" fmla="*/ 40 w 98"/>
              <a:gd name="T11" fmla="*/ 45 h 78"/>
              <a:gd name="T12" fmla="*/ 43 w 98"/>
              <a:gd name="T13" fmla="*/ 57 h 78"/>
              <a:gd name="T14" fmla="*/ 37 w 98"/>
              <a:gd name="T15" fmla="*/ 72 h 78"/>
              <a:gd name="T16" fmla="*/ 22 w 98"/>
              <a:gd name="T17" fmla="*/ 78 h 78"/>
              <a:gd name="T18" fmla="*/ 6 w 98"/>
              <a:gd name="T19" fmla="*/ 71 h 78"/>
              <a:gd name="T20" fmla="*/ 0 w 98"/>
              <a:gd name="T21" fmla="*/ 50 h 78"/>
              <a:gd name="T22" fmla="*/ 5 w 98"/>
              <a:gd name="T23" fmla="*/ 29 h 78"/>
              <a:gd name="T24" fmla="*/ 19 w 98"/>
              <a:gd name="T25" fmla="*/ 11 h 78"/>
              <a:gd name="T26" fmla="*/ 41 w 98"/>
              <a:gd name="T27" fmla="*/ 0 h 78"/>
              <a:gd name="T28" fmla="*/ 95 w 98"/>
              <a:gd name="T29" fmla="*/ 0 h 78"/>
              <a:gd name="T30" fmla="*/ 98 w 98"/>
              <a:gd name="T31" fmla="*/ 4 h 78"/>
              <a:gd name="T32" fmla="*/ 81 w 98"/>
              <a:gd name="T33" fmla="*/ 16 h 78"/>
              <a:gd name="T34" fmla="*/ 74 w 98"/>
              <a:gd name="T35" fmla="*/ 29 h 78"/>
              <a:gd name="T36" fmla="*/ 82 w 98"/>
              <a:gd name="T37" fmla="*/ 37 h 78"/>
              <a:gd name="T38" fmla="*/ 94 w 98"/>
              <a:gd name="T39" fmla="*/ 45 h 78"/>
              <a:gd name="T40" fmla="*/ 97 w 98"/>
              <a:gd name="T41" fmla="*/ 57 h 78"/>
              <a:gd name="T42" fmla="*/ 91 w 98"/>
              <a:gd name="T43" fmla="*/ 72 h 78"/>
              <a:gd name="T44" fmla="*/ 76 w 98"/>
              <a:gd name="T45" fmla="*/ 78 h 78"/>
              <a:gd name="T46" fmla="*/ 60 w 98"/>
              <a:gd name="T47" fmla="*/ 71 h 78"/>
              <a:gd name="T48" fmla="*/ 54 w 98"/>
              <a:gd name="T49" fmla="*/ 50 h 78"/>
              <a:gd name="T50" fmla="*/ 59 w 98"/>
              <a:gd name="T51" fmla="*/ 29 h 78"/>
              <a:gd name="T52" fmla="*/ 73 w 98"/>
              <a:gd name="T53" fmla="*/ 11 h 78"/>
              <a:gd name="T54" fmla="*/ 95 w 98"/>
              <a:gd name="T55" fmla="*/ 0 h 78"/>
            </a:gdLst>
            <a:ahLst/>
            <a:cxnLst/>
            <a:rect l="0" t="0" r="r" b="b"/>
            <a:pathLst>
              <a:path w="98" h="78">
                <a:moveTo>
                  <a:pt x="41" y="0"/>
                </a:moveTo>
                <a:cubicBezTo>
                  <a:pt x="44" y="4"/>
                  <a:pt x="44" y="4"/>
                  <a:pt x="44" y="4"/>
                </a:cubicBezTo>
                <a:cubicBezTo>
                  <a:pt x="37" y="8"/>
                  <a:pt x="31" y="11"/>
                  <a:pt x="27" y="16"/>
                </a:cubicBezTo>
                <a:cubicBezTo>
                  <a:pt x="23" y="20"/>
                  <a:pt x="21" y="25"/>
                  <a:pt x="21" y="29"/>
                </a:cubicBezTo>
                <a:cubicBezTo>
                  <a:pt x="21" y="31"/>
                  <a:pt x="23" y="34"/>
                  <a:pt x="29" y="37"/>
                </a:cubicBezTo>
                <a:cubicBezTo>
                  <a:pt x="34" y="39"/>
                  <a:pt x="38" y="42"/>
                  <a:pt x="40" y="45"/>
                </a:cubicBezTo>
                <a:cubicBezTo>
                  <a:pt x="42" y="48"/>
                  <a:pt x="43" y="52"/>
                  <a:pt x="43" y="57"/>
                </a:cubicBezTo>
                <a:cubicBezTo>
                  <a:pt x="43" y="63"/>
                  <a:pt x="41" y="68"/>
                  <a:pt x="37" y="72"/>
                </a:cubicBezTo>
                <a:cubicBezTo>
                  <a:pt x="33" y="76"/>
                  <a:pt x="28" y="78"/>
                  <a:pt x="22" y="78"/>
                </a:cubicBezTo>
                <a:cubicBezTo>
                  <a:pt x="16" y="78"/>
                  <a:pt x="10" y="76"/>
                  <a:pt x="6" y="71"/>
                </a:cubicBezTo>
                <a:cubicBezTo>
                  <a:pt x="2" y="65"/>
                  <a:pt x="0" y="59"/>
                  <a:pt x="0" y="50"/>
                </a:cubicBezTo>
                <a:cubicBezTo>
                  <a:pt x="0" y="43"/>
                  <a:pt x="1" y="36"/>
                  <a:pt x="5" y="29"/>
                </a:cubicBezTo>
                <a:cubicBezTo>
                  <a:pt x="8" y="22"/>
                  <a:pt x="13" y="16"/>
                  <a:pt x="19" y="11"/>
                </a:cubicBezTo>
                <a:cubicBezTo>
                  <a:pt x="26" y="6"/>
                  <a:pt x="33" y="2"/>
                  <a:pt x="41" y="0"/>
                </a:cubicBezTo>
                <a:close/>
                <a:moveTo>
                  <a:pt x="95" y="0"/>
                </a:moveTo>
                <a:cubicBezTo>
                  <a:pt x="98" y="4"/>
                  <a:pt x="98" y="4"/>
                  <a:pt x="98" y="4"/>
                </a:cubicBezTo>
                <a:cubicBezTo>
                  <a:pt x="91" y="8"/>
                  <a:pt x="85" y="11"/>
                  <a:pt x="81" y="16"/>
                </a:cubicBezTo>
                <a:cubicBezTo>
                  <a:pt x="77" y="20"/>
                  <a:pt x="74" y="25"/>
                  <a:pt x="74" y="29"/>
                </a:cubicBezTo>
                <a:cubicBezTo>
                  <a:pt x="74" y="31"/>
                  <a:pt x="77" y="34"/>
                  <a:pt x="82" y="37"/>
                </a:cubicBezTo>
                <a:cubicBezTo>
                  <a:pt x="88" y="39"/>
                  <a:pt x="91" y="42"/>
                  <a:pt x="94" y="45"/>
                </a:cubicBezTo>
                <a:cubicBezTo>
                  <a:pt x="96" y="48"/>
                  <a:pt x="97" y="52"/>
                  <a:pt x="97" y="57"/>
                </a:cubicBezTo>
                <a:cubicBezTo>
                  <a:pt x="97" y="63"/>
                  <a:pt x="95" y="68"/>
                  <a:pt x="91" y="72"/>
                </a:cubicBezTo>
                <a:cubicBezTo>
                  <a:pt x="87" y="76"/>
                  <a:pt x="82" y="78"/>
                  <a:pt x="76" y="78"/>
                </a:cubicBezTo>
                <a:cubicBezTo>
                  <a:pt x="69" y="78"/>
                  <a:pt x="64" y="76"/>
                  <a:pt x="60" y="71"/>
                </a:cubicBezTo>
                <a:cubicBezTo>
                  <a:pt x="56" y="65"/>
                  <a:pt x="54" y="59"/>
                  <a:pt x="54" y="50"/>
                </a:cubicBezTo>
                <a:cubicBezTo>
                  <a:pt x="54" y="43"/>
                  <a:pt x="55" y="36"/>
                  <a:pt x="59" y="29"/>
                </a:cubicBezTo>
                <a:cubicBezTo>
                  <a:pt x="62" y="22"/>
                  <a:pt x="67" y="16"/>
                  <a:pt x="73" y="11"/>
                </a:cubicBezTo>
                <a:cubicBezTo>
                  <a:pt x="79" y="6"/>
                  <a:pt x="87" y="2"/>
                  <a:pt x="9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345919" y="2272209"/>
            <a:ext cx="3240000" cy="21430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 centro de cómputo (data center)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1345919" y="4494417"/>
            <a:ext cx="3240000" cy="0"/>
          </a:xfrm>
          <a:prstGeom prst="line">
            <a:avLst/>
          </a:prstGeom>
          <a:noFill/>
          <a:ln w="6350" cap="sq">
            <a:solidFill>
              <a:schemeClr val="bg1"/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7378900" y="1151736"/>
            <a:ext cx="4140000" cy="13264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Lugar físico o virtual donde se almacenan, procesan y distribuyen los datos y las aplicaciones.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378900" y="2947006"/>
            <a:ext cx="4140000" cy="1406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 fundamental decidir dónde construir o alojar el centro de cómputo.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378900" y="4655471"/>
            <a:ext cx="4140000" cy="1406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Define el modelo de centro de cómputoLocal (On- Premises), Nube (Cloud) e Híbrido.</a:t>
            </a:r>
            <a:endParaRPr kumimoji="1" lang="zh-CN" altLang="en-U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alphaModFix/>
          </a:blip>
          <a:srcRect l="5155" t="38957" r="5155" b="1409"/>
          <a:stretch>
            <a:fillRect/>
          </a:stretch>
        </p:blipFill>
        <p:spPr>
          <a:xfrm>
            <a:off x="5785415" y="4765891"/>
            <a:ext cx="1465351" cy="1465351"/>
          </a:xfrm>
          <a:custGeom>
            <a:avLst/>
            <a:gdLst/>
            <a:ahLst/>
            <a:cxnLst/>
            <a:rect l="l" t="t" r="r" b="b"/>
            <a:pathLst>
              <a:path w="1084351" h="1084351">
                <a:moveTo>
                  <a:pt x="542176" y="0"/>
                </a:moveTo>
                <a:cubicBezTo>
                  <a:pt x="841611" y="0"/>
                  <a:pt x="1084351" y="242741"/>
                  <a:pt x="1084351" y="542176"/>
                </a:cubicBezTo>
                <a:cubicBezTo>
                  <a:pt x="1084351" y="841611"/>
                  <a:pt x="841611" y="1084351"/>
                  <a:pt x="542176" y="1084351"/>
                </a:cubicBezTo>
                <a:cubicBezTo>
                  <a:pt x="242741" y="1084351"/>
                  <a:pt x="0" y="841611"/>
                  <a:pt x="0" y="542176"/>
                </a:cubicBezTo>
                <a:cubicBezTo>
                  <a:pt x="0" y="242741"/>
                  <a:pt x="242741" y="0"/>
                  <a:pt x="54217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324204" y="418055"/>
            <a:ext cx="7790299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Dependencia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la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tecnología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para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operar</a:t>
            </a:r>
            <a:endParaRPr kumimoji="1" lang="zh-CN" altLang="en-U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A0D3A9D-6304-601A-B334-E44D5B2D4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096000" y="327498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 de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Local (On-Premises): "La Fortaleza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Propia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"</a:t>
            </a:r>
            <a:endParaRPr kumimoji="1" lang="zh-CN" alt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04A11F-51A4-68CE-7584-19089A26A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30" y="1590872"/>
            <a:ext cx="4906060" cy="38612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48771A6-D2D3-106B-5B54-021DAD0C61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1758306" y="1069796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Definición</a:t>
            </a:r>
            <a:r>
              <a:rPr kumimoji="1" lang="en-US" altLang="zh-CN" sz="16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541501" y="1844054"/>
            <a:ext cx="5338189" cy="4442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r>
              <a:rPr lang="es-ES" sz="1400" dirty="0"/>
              <a:t>Un </a:t>
            </a:r>
            <a:r>
              <a:rPr lang="es-ES" sz="1400" b="1" dirty="0"/>
              <a:t>centro de cómputo local</a:t>
            </a:r>
            <a:r>
              <a:rPr lang="es-ES" sz="1400" dirty="0"/>
              <a:t>, conocido comúnmente como </a:t>
            </a:r>
            <a:r>
              <a:rPr lang="es-ES" sz="1400" i="1" dirty="0" err="1"/>
              <a:t>on</a:t>
            </a:r>
            <a:r>
              <a:rPr lang="es-ES" sz="1400" i="1" dirty="0"/>
              <a:t>-premise</a:t>
            </a:r>
            <a:r>
              <a:rPr lang="es-ES" sz="1400" dirty="0"/>
              <a:t>, es una instalación de infraestructura tecnológica que una organización posee y opera dentro de sus propias instalaciones físicas. </a:t>
            </a:r>
          </a:p>
          <a:p>
            <a:endParaRPr lang="es-ES" sz="1400" dirty="0"/>
          </a:p>
          <a:p>
            <a:r>
              <a:rPr lang="es-ES" sz="1400" dirty="0"/>
              <a:t>En este modelo, la empresa es dueña de todo: los servidores, el hardware de red, el almacenamiento, el software y los sistemas de enfriamiento y energía. </a:t>
            </a:r>
          </a:p>
          <a:p>
            <a:endParaRPr lang="es-ES" sz="1400" dirty="0"/>
          </a:p>
          <a:p>
            <a:r>
              <a:rPr lang="es-ES" sz="1400" dirty="0"/>
              <a:t>En esencia, es el enfoque tradicional de la informática empresarial, donde el control total y la responsabilidad del mantenimiento recaen directamente en la propia organización, en contraste directo con el modelo de la nube, donde los recursos se alquilan a un proveedor externo.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Cómputo Locales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9B7735-EC83-B73E-B73B-586B6C79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796" y="1697926"/>
            <a:ext cx="4690754" cy="431542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1D6AD29-A3B8-118D-1398-B76D7070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8540-66DF-802A-0C28-B7A3B433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07CB1E6-AD33-075E-F8DC-3783E2A8A020}"/>
              </a:ext>
            </a:extLst>
          </p:cNvPr>
          <p:cNvSpPr txBox="1"/>
          <p:nvPr/>
        </p:nvSpPr>
        <p:spPr>
          <a:xfrm>
            <a:off x="1758306" y="1069796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r>
              <a:rPr lang="es-ES" sz="1600" b="1" dirty="0"/>
              <a:t>Características Clave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DEDFBAD4-4234-D441-7864-06AFE2EAD1B7}"/>
              </a:ext>
            </a:extLst>
          </p:cNvPr>
          <p:cNvSpPr txBox="1"/>
          <p:nvPr/>
        </p:nvSpPr>
        <p:spPr>
          <a:xfrm>
            <a:off x="445770" y="1844054"/>
            <a:ext cx="5433920" cy="4270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r>
              <a:rPr lang="es-ES" sz="1400" b="1" dirty="0"/>
              <a:t>Propiedad y Control Total:</a:t>
            </a:r>
            <a:r>
              <a:rPr lang="es-ES" sz="1400" dirty="0"/>
              <a:t> La empresa tiene control absoluto sobre el hardware, el software y los datos. Puede configurar y personalizar el entorno para satisfacer sus necesidades específicas sin depender de las políticas de un tercero.</a:t>
            </a:r>
          </a:p>
          <a:p>
            <a:endParaRPr lang="es-ES" sz="1400" dirty="0"/>
          </a:p>
          <a:p>
            <a:r>
              <a:rPr lang="es-ES" sz="1400" b="1" dirty="0"/>
              <a:t>Ubicación Física:</a:t>
            </a:r>
            <a:r>
              <a:rPr lang="es-ES" sz="1400" dirty="0"/>
              <a:t> Toda la infraestructura se encuentra en las instalaciones de la empresa o en un espacio privado que la organización controla directamente.</a:t>
            </a:r>
          </a:p>
          <a:p>
            <a:endParaRPr lang="es-ES" sz="1400" dirty="0"/>
          </a:p>
          <a:p>
            <a:r>
              <a:rPr lang="es-ES" sz="1400" b="1" dirty="0"/>
              <a:t>Inversión de Capital (</a:t>
            </a:r>
            <a:r>
              <a:rPr lang="es-ES" sz="1400" b="1" dirty="0" err="1"/>
              <a:t>CapEx</a:t>
            </a:r>
            <a:r>
              <a:rPr lang="es-ES" sz="1400" b="1" dirty="0"/>
              <a:t>):</a:t>
            </a:r>
            <a:r>
              <a:rPr lang="es-ES" sz="1400" dirty="0"/>
              <a:t> Requiere una alta inversión inicial para comprar todo el equipo físico y las licencias de software necesarias.</a:t>
            </a:r>
          </a:p>
          <a:p>
            <a:endParaRPr lang="es-ES" sz="1400" dirty="0"/>
          </a:p>
          <a:p>
            <a:r>
              <a:rPr lang="es-ES" sz="1400" b="1" dirty="0"/>
              <a:t>Mantenimiento Interno:</a:t>
            </a:r>
            <a:r>
              <a:rPr lang="es-ES" sz="1400" dirty="0"/>
              <a:t> La organización es completamente responsable de la gestión, el mantenimiento, las actualizaciones y la seguridad de todo el centro de cómputo. Esto exige un equipo de TI especializado.</a:t>
            </a:r>
          </a:p>
          <a:p>
            <a:r>
              <a:rPr lang="es-ES" sz="1400" dirty="0"/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B94F5F4C-2367-B17A-83ED-5BBF40C33939}"/>
              </a:ext>
            </a:extLst>
          </p:cNvPr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Cómputo Locales</a:t>
            </a: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1FFB44A1-3110-8182-8A52-D043AB4D8F29}"/>
              </a:ext>
            </a:extLst>
          </p:cNvPr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51D3834-BA69-A1C2-2C2A-A66995364F67}"/>
              </a:ext>
            </a:extLst>
          </p:cNvPr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D8BB74FC-F0D7-3BDA-A143-C4F78DD7E6F3}"/>
              </a:ext>
            </a:extLst>
          </p:cNvPr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E3B6C1-755D-FA76-17F4-7F36CA191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1760221"/>
            <a:ext cx="5099033" cy="30060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6BE4597-0C98-6382-9BEC-F3CE7ADC19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1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143905" y="3453577"/>
            <a:ext cx="2880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 Total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150075" y="4177476"/>
            <a:ext cx="2867660" cy="16324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03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VentajaLa empresa tiene soberanía absoluta sobre su hardware, software y datos. Ideal para personalización extrema.
Desventaja: Alto Costo Inicial (CAPEX). Requiere una inversión masiva en hardware, software, bienes raíces y personal especializado.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675050" y="3453577"/>
            <a:ext cx="2880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Máxima Seguridad y Privacidad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673600" y="4177476"/>
            <a:ext cx="2882900" cy="16324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03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VentajaLos datos nunca salen de las instalaciones de la empresa, facilitando el control de acceso y la protección física.
Desventaja: Escalabilidad Lenta y Costosa. Comprar e instalar más servidores es un proceso que puede tardar meses.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206195" y="3453577"/>
            <a:ext cx="2880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Cumplimiento Normativo Estricto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204745" y="4177476"/>
            <a:ext cx="2882900" cy="16324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03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VentajaModelo preferido por industrias que deben cumplir con leyes muy estrictas sobre la soberanía y residencia de los datos.
Desventaja: Altos Costos Operativos (OPEX). Gasto constante y elevado en energía, refrigeración, mantenimiento, licencias y personal.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16439" y="193038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noFill/>
          <a:ln w="1905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516445" y="1741530"/>
            <a:ext cx="2134919" cy="1319994"/>
          </a:xfrm>
          <a:custGeom>
            <a:avLst/>
            <a:gdLst>
              <a:gd name="connsiteX0" fmla="*/ 2131289 w 2134919"/>
              <a:gd name="connsiteY0" fmla="*/ 669755 h 1319994"/>
              <a:gd name="connsiteX1" fmla="*/ 2131289 w 2134919"/>
              <a:gd name="connsiteY1" fmla="*/ 655317 h 1319994"/>
              <a:gd name="connsiteX2" fmla="*/ 2131289 w 2134919"/>
              <a:gd name="connsiteY2" fmla="*/ 525904 h 1319994"/>
              <a:gd name="connsiteX3" fmla="*/ 1973520 w 2134919"/>
              <a:gd name="connsiteY3" fmla="*/ 525904 h 1319994"/>
              <a:gd name="connsiteX4" fmla="*/ 1103085 w 2134919"/>
              <a:gd name="connsiteY4" fmla="*/ 17308 h 1319994"/>
              <a:gd name="connsiteX5" fmla="*/ 1025305 w 2134919"/>
              <a:gd name="connsiteY5" fmla="*/ 17308 h 1319994"/>
              <a:gd name="connsiteX6" fmla="*/ 154869 w 2134919"/>
              <a:gd name="connsiteY6" fmla="*/ 525904 h 1319994"/>
              <a:gd name="connsiteX7" fmla="*/ -1772 w 2134919"/>
              <a:gd name="connsiteY7" fmla="*/ 525904 h 1319994"/>
              <a:gd name="connsiteX8" fmla="*/ -1772 w 2134919"/>
              <a:gd name="connsiteY8" fmla="*/ 647298 h 1319994"/>
              <a:gd name="connsiteX9" fmla="*/ 34515 w 2134919"/>
              <a:gd name="connsiteY9" fmla="*/ 728718 h 1319994"/>
              <a:gd name="connsiteX10" fmla="*/ 1024872 w 2134919"/>
              <a:gd name="connsiteY10" fmla="*/ 1316003 h 1319994"/>
              <a:gd name="connsiteX11" fmla="*/ 1103517 w 2134919"/>
              <a:gd name="connsiteY11" fmla="*/ 1316003 h 1319994"/>
              <a:gd name="connsiteX12" fmla="*/ 2093873 w 2134919"/>
              <a:gd name="connsiteY12" fmla="*/ 728718 h 1319994"/>
              <a:gd name="connsiteX13" fmla="*/ 2130552 w 2134919"/>
              <a:gd name="connsiteY13" fmla="*/ 675174 h 1319994"/>
              <a:gd name="connsiteX14" fmla="*/ 2131289 w 2134919"/>
              <a:gd name="connsiteY14" fmla="*/ 675174 h 1319994"/>
            </a:gdLst>
            <a:ahLst/>
            <a:cxnLst/>
            <a:rect l="l" t="t" r="r" b="b"/>
            <a:pathLst>
              <a:path w="2134919" h="1319994">
                <a:moveTo>
                  <a:pt x="2131289" y="669755"/>
                </a:moveTo>
                <a:cubicBezTo>
                  <a:pt x="2131722" y="664943"/>
                  <a:pt x="2131722" y="660131"/>
                  <a:pt x="2131289" y="655317"/>
                </a:cubicBezTo>
                <a:lnTo>
                  <a:pt x="2131289" y="525904"/>
                </a:lnTo>
                <a:lnTo>
                  <a:pt x="1973520" y="525904"/>
                </a:lnTo>
                <a:lnTo>
                  <a:pt x="1103085" y="17308"/>
                </a:lnTo>
                <a:cubicBezTo>
                  <a:pt x="1079066" y="3260"/>
                  <a:pt x="1049324" y="3260"/>
                  <a:pt x="1025305" y="17308"/>
                </a:cubicBezTo>
                <a:lnTo>
                  <a:pt x="154869" y="525904"/>
                </a:lnTo>
                <a:lnTo>
                  <a:pt x="-1772" y="525904"/>
                </a:lnTo>
                <a:lnTo>
                  <a:pt x="-1772" y="647298"/>
                </a:lnTo>
                <a:cubicBezTo>
                  <a:pt x="-8275" y="679380"/>
                  <a:pt x="6291" y="712113"/>
                  <a:pt x="34515" y="728718"/>
                </a:cubicBezTo>
                <a:lnTo>
                  <a:pt x="1024872" y="1316003"/>
                </a:lnTo>
                <a:cubicBezTo>
                  <a:pt x="1049107" y="1330354"/>
                  <a:pt x="1079282" y="1330354"/>
                  <a:pt x="1103517" y="1316003"/>
                </a:cubicBezTo>
                <a:lnTo>
                  <a:pt x="2093873" y="728718"/>
                </a:lnTo>
                <a:cubicBezTo>
                  <a:pt x="2113470" y="717229"/>
                  <a:pt x="2126910" y="697588"/>
                  <a:pt x="2130552" y="675174"/>
                </a:cubicBezTo>
                <a:lnTo>
                  <a:pt x="2131289" y="675174"/>
                </a:lnTo>
                <a:close/>
              </a:path>
            </a:pathLst>
          </a:custGeom>
          <a:solidFill>
            <a:schemeClr val="accent1"/>
          </a:solidFill>
          <a:ln w="431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516439" y="160869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296427" y="1988577"/>
            <a:ext cx="574956" cy="505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047585" y="193038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noFill/>
          <a:ln w="19050" cap="sq">
            <a:solidFill>
              <a:schemeClr val="accent2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047590" y="1741530"/>
            <a:ext cx="2134919" cy="1319994"/>
          </a:xfrm>
          <a:custGeom>
            <a:avLst/>
            <a:gdLst>
              <a:gd name="connsiteX0" fmla="*/ 2131289 w 2134919"/>
              <a:gd name="connsiteY0" fmla="*/ 669755 h 1319994"/>
              <a:gd name="connsiteX1" fmla="*/ 2131289 w 2134919"/>
              <a:gd name="connsiteY1" fmla="*/ 655317 h 1319994"/>
              <a:gd name="connsiteX2" fmla="*/ 2131289 w 2134919"/>
              <a:gd name="connsiteY2" fmla="*/ 525904 h 1319994"/>
              <a:gd name="connsiteX3" fmla="*/ 1973520 w 2134919"/>
              <a:gd name="connsiteY3" fmla="*/ 525904 h 1319994"/>
              <a:gd name="connsiteX4" fmla="*/ 1103085 w 2134919"/>
              <a:gd name="connsiteY4" fmla="*/ 17308 h 1319994"/>
              <a:gd name="connsiteX5" fmla="*/ 1025305 w 2134919"/>
              <a:gd name="connsiteY5" fmla="*/ 17308 h 1319994"/>
              <a:gd name="connsiteX6" fmla="*/ 154869 w 2134919"/>
              <a:gd name="connsiteY6" fmla="*/ 525904 h 1319994"/>
              <a:gd name="connsiteX7" fmla="*/ -1772 w 2134919"/>
              <a:gd name="connsiteY7" fmla="*/ 525904 h 1319994"/>
              <a:gd name="connsiteX8" fmla="*/ -1772 w 2134919"/>
              <a:gd name="connsiteY8" fmla="*/ 647298 h 1319994"/>
              <a:gd name="connsiteX9" fmla="*/ 34515 w 2134919"/>
              <a:gd name="connsiteY9" fmla="*/ 728718 h 1319994"/>
              <a:gd name="connsiteX10" fmla="*/ 1024872 w 2134919"/>
              <a:gd name="connsiteY10" fmla="*/ 1316003 h 1319994"/>
              <a:gd name="connsiteX11" fmla="*/ 1103517 w 2134919"/>
              <a:gd name="connsiteY11" fmla="*/ 1316003 h 1319994"/>
              <a:gd name="connsiteX12" fmla="*/ 2093873 w 2134919"/>
              <a:gd name="connsiteY12" fmla="*/ 728718 h 1319994"/>
              <a:gd name="connsiteX13" fmla="*/ 2130552 w 2134919"/>
              <a:gd name="connsiteY13" fmla="*/ 675174 h 1319994"/>
              <a:gd name="connsiteX14" fmla="*/ 2131289 w 2134919"/>
              <a:gd name="connsiteY14" fmla="*/ 675174 h 1319994"/>
            </a:gdLst>
            <a:ahLst/>
            <a:cxnLst/>
            <a:rect l="l" t="t" r="r" b="b"/>
            <a:pathLst>
              <a:path w="2134919" h="1319994">
                <a:moveTo>
                  <a:pt x="2131289" y="669755"/>
                </a:moveTo>
                <a:cubicBezTo>
                  <a:pt x="2131722" y="664943"/>
                  <a:pt x="2131722" y="660131"/>
                  <a:pt x="2131289" y="655317"/>
                </a:cubicBezTo>
                <a:lnTo>
                  <a:pt x="2131289" y="525904"/>
                </a:lnTo>
                <a:lnTo>
                  <a:pt x="1973520" y="525904"/>
                </a:lnTo>
                <a:lnTo>
                  <a:pt x="1103085" y="17308"/>
                </a:lnTo>
                <a:cubicBezTo>
                  <a:pt x="1079066" y="3260"/>
                  <a:pt x="1049324" y="3260"/>
                  <a:pt x="1025305" y="17308"/>
                </a:cubicBezTo>
                <a:lnTo>
                  <a:pt x="154869" y="525904"/>
                </a:lnTo>
                <a:lnTo>
                  <a:pt x="-1772" y="525904"/>
                </a:lnTo>
                <a:lnTo>
                  <a:pt x="-1772" y="647298"/>
                </a:lnTo>
                <a:cubicBezTo>
                  <a:pt x="-8275" y="679380"/>
                  <a:pt x="6291" y="712113"/>
                  <a:pt x="34515" y="728718"/>
                </a:cubicBezTo>
                <a:lnTo>
                  <a:pt x="1024872" y="1316003"/>
                </a:lnTo>
                <a:cubicBezTo>
                  <a:pt x="1049107" y="1330354"/>
                  <a:pt x="1079282" y="1330354"/>
                  <a:pt x="1103517" y="1316003"/>
                </a:cubicBezTo>
                <a:lnTo>
                  <a:pt x="2093873" y="728718"/>
                </a:lnTo>
                <a:cubicBezTo>
                  <a:pt x="2113470" y="717229"/>
                  <a:pt x="2126910" y="697588"/>
                  <a:pt x="2130552" y="675174"/>
                </a:cubicBezTo>
                <a:lnTo>
                  <a:pt x="2131289" y="675174"/>
                </a:lnTo>
                <a:close/>
              </a:path>
            </a:pathLst>
          </a:custGeom>
          <a:solidFill>
            <a:schemeClr val="accent2"/>
          </a:solidFill>
          <a:ln w="431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047585" y="160869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7000"/>
                </a:schemeClr>
              </a:gs>
              <a:gs pos="100000">
                <a:schemeClr val="accent2">
                  <a:lumMod val="85000"/>
                  <a:lumOff val="15000"/>
                </a:schemeClr>
              </a:gs>
            </a:gsLst>
            <a:lin ang="5400000" scaled="0"/>
          </a:gradFill>
          <a:ln w="25400" cap="sq">
            <a:solidFill>
              <a:schemeClr val="bg1"/>
            </a:solidFill>
            <a:miter/>
          </a:ln>
          <a:effectLst>
            <a:outerShdw blurRad="330200" dist="381000" dir="5400000" sx="90000" sy="90000" algn="t" rotWithShape="0">
              <a:schemeClr val="accent2">
                <a:lumMod val="75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827572" y="1988577"/>
            <a:ext cx="574956" cy="505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578729" y="193038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noFill/>
          <a:ln w="1905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578736" y="1741530"/>
            <a:ext cx="2134919" cy="1319994"/>
          </a:xfrm>
          <a:custGeom>
            <a:avLst/>
            <a:gdLst>
              <a:gd name="connsiteX0" fmla="*/ 2131289 w 2134919"/>
              <a:gd name="connsiteY0" fmla="*/ 669755 h 1319994"/>
              <a:gd name="connsiteX1" fmla="*/ 2131289 w 2134919"/>
              <a:gd name="connsiteY1" fmla="*/ 655317 h 1319994"/>
              <a:gd name="connsiteX2" fmla="*/ 2131289 w 2134919"/>
              <a:gd name="connsiteY2" fmla="*/ 525904 h 1319994"/>
              <a:gd name="connsiteX3" fmla="*/ 1973520 w 2134919"/>
              <a:gd name="connsiteY3" fmla="*/ 525904 h 1319994"/>
              <a:gd name="connsiteX4" fmla="*/ 1103085 w 2134919"/>
              <a:gd name="connsiteY4" fmla="*/ 17308 h 1319994"/>
              <a:gd name="connsiteX5" fmla="*/ 1025305 w 2134919"/>
              <a:gd name="connsiteY5" fmla="*/ 17308 h 1319994"/>
              <a:gd name="connsiteX6" fmla="*/ 154869 w 2134919"/>
              <a:gd name="connsiteY6" fmla="*/ 525904 h 1319994"/>
              <a:gd name="connsiteX7" fmla="*/ -1772 w 2134919"/>
              <a:gd name="connsiteY7" fmla="*/ 525904 h 1319994"/>
              <a:gd name="connsiteX8" fmla="*/ -1772 w 2134919"/>
              <a:gd name="connsiteY8" fmla="*/ 647298 h 1319994"/>
              <a:gd name="connsiteX9" fmla="*/ 34515 w 2134919"/>
              <a:gd name="connsiteY9" fmla="*/ 728718 h 1319994"/>
              <a:gd name="connsiteX10" fmla="*/ 1024872 w 2134919"/>
              <a:gd name="connsiteY10" fmla="*/ 1316003 h 1319994"/>
              <a:gd name="connsiteX11" fmla="*/ 1103517 w 2134919"/>
              <a:gd name="connsiteY11" fmla="*/ 1316003 h 1319994"/>
              <a:gd name="connsiteX12" fmla="*/ 2093873 w 2134919"/>
              <a:gd name="connsiteY12" fmla="*/ 728718 h 1319994"/>
              <a:gd name="connsiteX13" fmla="*/ 2130552 w 2134919"/>
              <a:gd name="connsiteY13" fmla="*/ 675174 h 1319994"/>
              <a:gd name="connsiteX14" fmla="*/ 2131289 w 2134919"/>
              <a:gd name="connsiteY14" fmla="*/ 675174 h 1319994"/>
            </a:gdLst>
            <a:ahLst/>
            <a:cxnLst/>
            <a:rect l="l" t="t" r="r" b="b"/>
            <a:pathLst>
              <a:path w="2134919" h="1319994">
                <a:moveTo>
                  <a:pt x="2131289" y="669755"/>
                </a:moveTo>
                <a:cubicBezTo>
                  <a:pt x="2131722" y="664943"/>
                  <a:pt x="2131722" y="660131"/>
                  <a:pt x="2131289" y="655317"/>
                </a:cubicBezTo>
                <a:lnTo>
                  <a:pt x="2131289" y="525904"/>
                </a:lnTo>
                <a:lnTo>
                  <a:pt x="1973520" y="525904"/>
                </a:lnTo>
                <a:lnTo>
                  <a:pt x="1103085" y="17308"/>
                </a:lnTo>
                <a:cubicBezTo>
                  <a:pt x="1079066" y="3260"/>
                  <a:pt x="1049324" y="3260"/>
                  <a:pt x="1025305" y="17308"/>
                </a:cubicBezTo>
                <a:lnTo>
                  <a:pt x="154869" y="525904"/>
                </a:lnTo>
                <a:lnTo>
                  <a:pt x="-1772" y="525904"/>
                </a:lnTo>
                <a:lnTo>
                  <a:pt x="-1772" y="647298"/>
                </a:lnTo>
                <a:cubicBezTo>
                  <a:pt x="-8275" y="679380"/>
                  <a:pt x="6291" y="712113"/>
                  <a:pt x="34515" y="728718"/>
                </a:cubicBezTo>
                <a:lnTo>
                  <a:pt x="1024872" y="1316003"/>
                </a:lnTo>
                <a:cubicBezTo>
                  <a:pt x="1049107" y="1330354"/>
                  <a:pt x="1079282" y="1330354"/>
                  <a:pt x="1103517" y="1316003"/>
                </a:cubicBezTo>
                <a:lnTo>
                  <a:pt x="2093873" y="728718"/>
                </a:lnTo>
                <a:cubicBezTo>
                  <a:pt x="2113470" y="717229"/>
                  <a:pt x="2126910" y="697588"/>
                  <a:pt x="2130552" y="675174"/>
                </a:cubicBezTo>
                <a:lnTo>
                  <a:pt x="2131289" y="675174"/>
                </a:lnTo>
                <a:close/>
              </a:path>
            </a:pathLst>
          </a:custGeom>
          <a:solidFill>
            <a:schemeClr val="accent1"/>
          </a:solidFill>
          <a:ln w="431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578729" y="1608690"/>
            <a:ext cx="2134931" cy="1320298"/>
          </a:xfrm>
          <a:custGeom>
            <a:avLst/>
            <a:gdLst>
              <a:gd name="connsiteX0" fmla="*/ 1025266 w 2134931"/>
              <a:gd name="connsiteY0" fmla="*/ 17308 h 1320298"/>
              <a:gd name="connsiteX1" fmla="*/ 34911 w 2134931"/>
              <a:gd name="connsiteY1" fmla="*/ 596096 h 1320298"/>
              <a:gd name="connsiteX2" fmla="*/ 7251 w 2134931"/>
              <a:gd name="connsiteY2" fmla="*/ 701621 h 1320298"/>
              <a:gd name="connsiteX3" fmla="*/ 34477 w 2134931"/>
              <a:gd name="connsiteY3" fmla="*/ 729023 h 1320298"/>
              <a:gd name="connsiteX4" fmla="*/ 1024833 w 2134931"/>
              <a:gd name="connsiteY4" fmla="*/ 1316308 h 1320298"/>
              <a:gd name="connsiteX5" fmla="*/ 1103479 w 2134931"/>
              <a:gd name="connsiteY5" fmla="*/ 1316308 h 1320298"/>
              <a:gd name="connsiteX6" fmla="*/ 2093834 w 2134931"/>
              <a:gd name="connsiteY6" fmla="*/ 729023 h 1320298"/>
              <a:gd name="connsiteX7" fmla="*/ 2120802 w 2134931"/>
              <a:gd name="connsiteY7" fmla="*/ 623322 h 1320298"/>
              <a:gd name="connsiteX8" fmla="*/ 2093401 w 2134931"/>
              <a:gd name="connsiteY8" fmla="*/ 596096 h 1320298"/>
              <a:gd name="connsiteX9" fmla="*/ 1103046 w 2134931"/>
              <a:gd name="connsiteY9" fmla="*/ 17308 h 1320298"/>
              <a:gd name="connsiteX10" fmla="*/ 1025266 w 2134931"/>
              <a:gd name="connsiteY10" fmla="*/ 17308 h 1320298"/>
            </a:gdLst>
            <a:ahLst/>
            <a:cxnLst/>
            <a:rect l="l" t="t" r="r" b="b"/>
            <a:pathLst>
              <a:path w="2134931" h="1320298">
                <a:moveTo>
                  <a:pt x="1025266" y="17308"/>
                </a:moveTo>
                <a:lnTo>
                  <a:pt x="34911" y="596096"/>
                </a:lnTo>
                <a:cubicBezTo>
                  <a:pt x="-1854" y="617600"/>
                  <a:pt x="-14254" y="664814"/>
                  <a:pt x="7251" y="701621"/>
                </a:cubicBezTo>
                <a:cubicBezTo>
                  <a:pt x="13840" y="712894"/>
                  <a:pt x="23205" y="722346"/>
                  <a:pt x="34477" y="729023"/>
                </a:cubicBezTo>
                <a:lnTo>
                  <a:pt x="1024833" y="1316308"/>
                </a:lnTo>
                <a:cubicBezTo>
                  <a:pt x="1049068" y="1330659"/>
                  <a:pt x="1079243" y="1330659"/>
                  <a:pt x="1103479" y="1316308"/>
                </a:cubicBezTo>
                <a:lnTo>
                  <a:pt x="2093834" y="729023"/>
                </a:lnTo>
                <a:cubicBezTo>
                  <a:pt x="2130470" y="707301"/>
                  <a:pt x="2142565" y="659957"/>
                  <a:pt x="2120802" y="623322"/>
                </a:cubicBezTo>
                <a:cubicBezTo>
                  <a:pt x="2114125" y="612094"/>
                  <a:pt x="2104717" y="602686"/>
                  <a:pt x="2093401" y="596096"/>
                </a:cubicBezTo>
                <a:lnTo>
                  <a:pt x="1103046" y="17308"/>
                </a:lnTo>
                <a:cubicBezTo>
                  <a:pt x="1079027" y="3260"/>
                  <a:pt x="1049285" y="3260"/>
                  <a:pt x="1025266" y="1730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358717" y="1988577"/>
            <a:ext cx="574956" cy="505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38499" y="295321"/>
            <a:ext cx="11953501" cy="720000"/>
          </a:xfrm>
          <a:custGeom>
            <a:avLst/>
            <a:gdLst>
              <a:gd name="connsiteX0" fmla="*/ 499816 w 11953501"/>
              <a:gd name="connsiteY0" fmla="*/ 0 h 720000"/>
              <a:gd name="connsiteX1" fmla="*/ 11953501 w 11953501"/>
              <a:gd name="connsiteY1" fmla="*/ 0 h 720000"/>
              <a:gd name="connsiteX2" fmla="*/ 11953501 w 11953501"/>
              <a:gd name="connsiteY2" fmla="*/ 720000 h 720000"/>
              <a:gd name="connsiteX3" fmla="*/ 499816 w 11953501"/>
              <a:gd name="connsiteY3" fmla="*/ 720000 h 720000"/>
              <a:gd name="connsiteX4" fmla="*/ 0 w 11953501"/>
              <a:gd name="connsiteY4" fmla="*/ 360000 h 720000"/>
              <a:gd name="connsiteX5" fmla="*/ 499816 w 11953501"/>
              <a:gd name="connsiteY5" fmla="*/ 0 h 720000"/>
            </a:gdLst>
            <a:ahLst/>
            <a:cxnLst/>
            <a:rect l="l" t="t" r="r" b="b"/>
            <a:pathLst>
              <a:path w="11953501" h="720000">
                <a:moveTo>
                  <a:pt x="499816" y="0"/>
                </a:moveTo>
                <a:lnTo>
                  <a:pt x="11953501" y="0"/>
                </a:lnTo>
                <a:lnTo>
                  <a:pt x="11953501" y="720000"/>
                </a:lnTo>
                <a:lnTo>
                  <a:pt x="499816" y="720000"/>
                </a:lnTo>
                <a:cubicBezTo>
                  <a:pt x="223775" y="720000"/>
                  <a:pt x="0" y="558823"/>
                  <a:pt x="0" y="360000"/>
                </a:cubicBezTo>
                <a:cubicBezTo>
                  <a:pt x="0" y="161177"/>
                  <a:pt x="223775" y="0"/>
                  <a:pt x="4998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324204" y="418055"/>
            <a:ext cx="1029629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Analogía: Ser dueño de tu propia casa</a:t>
            </a:r>
            <a:endParaRPr kumimoji="1" lang="zh-CN" altLang="en-U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4D0AEC3-82C9-D2D5-4080-2B4914A02E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64979" y="2420695"/>
            <a:ext cx="4104411" cy="3224683"/>
          </a:xfrm>
          <a:prstGeom prst="roundRect">
            <a:avLst>
              <a:gd name="adj" fmla="val 6682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326380" y="2420695"/>
            <a:ext cx="4104411" cy="3224683"/>
          </a:xfrm>
          <a:prstGeom prst="roundRect">
            <a:avLst>
              <a:gd name="adj" fmla="val 6682"/>
            </a:avLst>
          </a:prstGeom>
          <a:solidFill>
            <a:schemeClr val="accent1"/>
          </a:solidFill>
          <a:ln w="3175" cap="sq">
            <a:solidFill>
              <a:schemeClr val="accent1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494186" y="2664006"/>
            <a:ext cx="445997" cy="44957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626032" y="3981294"/>
            <a:ext cx="182304" cy="4571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153795" y="2676923"/>
            <a:ext cx="449580" cy="42374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293762" y="3981294"/>
            <a:ext cx="169646" cy="45719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55042" y="3187760"/>
            <a:ext cx="3724284" cy="6630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Control total de los recursos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55042" y="4139256"/>
            <a:ext cx="3724284" cy="1334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89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Tener un centro de cómputo local permite a las organizaciones gestionar y asignar recursos de manera óptima según sus necesidades específicas, brindando flexibilidad.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516443" y="3187760"/>
            <a:ext cx="3724284" cy="6630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Seguridad de datos mejorada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516443" y="4139256"/>
            <a:ext cx="3724284" cy="13344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89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Al mantener los datos dentro de la infraestructura de la empresa, se reduce el riesgo de accesos no autorizados, fortaleciendo la protección de la información sensible.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Ventajas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4768350-67FC-C05A-8DCC-1A5C247FE1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alphaModFix/>
          </a:blip>
          <a:srcRect l="14258" r="14258"/>
          <a:stretch>
            <a:fillRect/>
          </a:stretch>
        </p:blipFill>
        <p:spPr>
          <a:xfrm>
            <a:off x="7175502" y="2153265"/>
            <a:ext cx="4180756" cy="32544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标题 1"/>
          <p:cNvSpPr txBox="1"/>
          <p:nvPr/>
        </p:nvSpPr>
        <p:spPr>
          <a:xfrm>
            <a:off x="1094740" y="1888862"/>
            <a:ext cx="936523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94740" y="2492009"/>
            <a:ext cx="3921760" cy="3077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Alto costo de infraestructura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94740" y="2868503"/>
            <a:ext cx="3921760" cy="9537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83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Establecer un centro de cómputo local implica una inversión significativa en hardware, software y espacio físico, lo cual puede ser una barrera para algunas organizaciones.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94740" y="3848501"/>
            <a:ext cx="1170604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094740" y="4486361"/>
            <a:ext cx="3921760" cy="3077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y gestión complejos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94740" y="4860332"/>
            <a:ext cx="3926840" cy="9537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83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operación de un centro de cómputo local requiere personal capacitado y procesos establecidos para su mantenimiento, lo que puede generar complicaciones operativas y costos adicionales.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Desventajas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C45FBA9-8DE4-07BC-DE3F-8364B77F7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753325" y="2876475"/>
            <a:ext cx="2482205" cy="204059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r"/>
            <a:r>
              <a:rPr kumimoji="1" lang="en-US" altLang="zh-CN" sz="11500">
                <a:ln w="12700">
                  <a:noFill/>
                </a:ln>
                <a:solidFill>
                  <a:srgbClr val="000000">
                    <a:alpha val="5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47662" y="2755900"/>
            <a:ext cx="2863930" cy="72944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Banca y Finanzas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47662" y="3522652"/>
            <a:ext cx="2862338" cy="195612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Protección de datos transaccionales y cumplimiento de regulaciones financieras.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47662" y="1841054"/>
            <a:ext cx="812594" cy="81259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41589" y="2034981"/>
            <a:ext cx="424740" cy="42474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429179" y="2876475"/>
            <a:ext cx="2482205" cy="204059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r"/>
            <a:r>
              <a:rPr kumimoji="1" lang="en-US" altLang="zh-CN" sz="11500">
                <a:ln w="12700">
                  <a:noFill/>
                </a:ln>
                <a:solidFill>
                  <a:srgbClr val="000000">
                    <a:alpha val="5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623516" y="2755900"/>
            <a:ext cx="2818684" cy="72944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l"/>
            <a:r>
              <a:rPr kumimoji="1" lang="en-US" altLang="zh-CN" sz="1144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Entidades Gubernamentales y Militares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23516" y="3522652"/>
            <a:ext cx="2823524" cy="195612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Seguridad nacional y confidencialidad de los datos como máxima prioridad.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80057" y="1841054"/>
            <a:ext cx="812594" cy="81259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873984" y="2047188"/>
            <a:ext cx="424740" cy="400326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105033" y="2876475"/>
            <a:ext cx="2482205" cy="204059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r"/>
            <a:r>
              <a:rPr kumimoji="1" lang="en-US" altLang="zh-CN" sz="11500">
                <a:ln w="12700">
                  <a:noFill/>
                </a:ln>
                <a:solidFill>
                  <a:srgbClr val="000000">
                    <a:alpha val="5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299370" y="2755900"/>
            <a:ext cx="2851230" cy="72944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Investigación Científica de Alto Rendimiento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299370" y="3522652"/>
            <a:ext cx="2848924" cy="195612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Uso de supercomputadoras para procesar conjuntos de datos masivos y confidenciales.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12453" y="1841054"/>
            <a:ext cx="812594" cy="81259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606380" y="2041832"/>
            <a:ext cx="424740" cy="411038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38499" y="295321"/>
            <a:ext cx="11953501" cy="720000"/>
          </a:xfrm>
          <a:custGeom>
            <a:avLst/>
            <a:gdLst>
              <a:gd name="connsiteX0" fmla="*/ 499816 w 11953501"/>
              <a:gd name="connsiteY0" fmla="*/ 0 h 720000"/>
              <a:gd name="connsiteX1" fmla="*/ 11953501 w 11953501"/>
              <a:gd name="connsiteY1" fmla="*/ 0 h 720000"/>
              <a:gd name="connsiteX2" fmla="*/ 11953501 w 11953501"/>
              <a:gd name="connsiteY2" fmla="*/ 720000 h 720000"/>
              <a:gd name="connsiteX3" fmla="*/ 499816 w 11953501"/>
              <a:gd name="connsiteY3" fmla="*/ 720000 h 720000"/>
              <a:gd name="connsiteX4" fmla="*/ 0 w 11953501"/>
              <a:gd name="connsiteY4" fmla="*/ 360000 h 720000"/>
              <a:gd name="connsiteX5" fmla="*/ 499816 w 11953501"/>
              <a:gd name="connsiteY5" fmla="*/ 0 h 720000"/>
            </a:gdLst>
            <a:ahLst/>
            <a:cxnLst/>
            <a:rect l="l" t="t" r="r" b="b"/>
            <a:pathLst>
              <a:path w="11953501" h="720000">
                <a:moveTo>
                  <a:pt x="499816" y="0"/>
                </a:moveTo>
                <a:lnTo>
                  <a:pt x="11953501" y="0"/>
                </a:lnTo>
                <a:lnTo>
                  <a:pt x="11953501" y="720000"/>
                </a:lnTo>
                <a:lnTo>
                  <a:pt x="499816" y="720000"/>
                </a:lnTo>
                <a:cubicBezTo>
                  <a:pt x="223775" y="720000"/>
                  <a:pt x="0" y="558823"/>
                  <a:pt x="0" y="360000"/>
                </a:cubicBezTo>
                <a:cubicBezTo>
                  <a:pt x="0" y="161177"/>
                  <a:pt x="223775" y="0"/>
                  <a:pt x="4998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324204" y="418055"/>
            <a:ext cx="1029629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Casos de Uso Ideales</a:t>
            </a:r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5454231-1E26-DA7B-0EA5-2B4B7ECD30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 l="919" t="919" r="919" b="919"/>
          <a:stretch>
            <a:fillRect/>
          </a:stretch>
        </p:blipFill>
        <p:spPr>
          <a:xfrm>
            <a:off x="-2690564" y="-202988"/>
            <a:ext cx="7532074" cy="7532072"/>
          </a:xfrm>
          <a:custGeom>
            <a:avLst/>
            <a:gdLst/>
            <a:ahLst/>
            <a:cxnLst/>
            <a:rect l="l" t="t" r="r" b="b"/>
            <a:pathLst>
              <a:path w="7532074" h="7532072">
                <a:moveTo>
                  <a:pt x="3766037" y="0"/>
                </a:moveTo>
                <a:cubicBezTo>
                  <a:pt x="5845962" y="0"/>
                  <a:pt x="7532074" y="1686112"/>
                  <a:pt x="7532074" y="3766036"/>
                </a:cubicBezTo>
                <a:cubicBezTo>
                  <a:pt x="7532074" y="5845960"/>
                  <a:pt x="5845962" y="7532072"/>
                  <a:pt x="3766037" y="7532072"/>
                </a:cubicBezTo>
                <a:cubicBezTo>
                  <a:pt x="1686112" y="7532072"/>
                  <a:pt x="0" y="5845960"/>
                  <a:pt x="0" y="3766036"/>
                </a:cubicBezTo>
                <a:cubicBezTo>
                  <a:pt x="0" y="1686112"/>
                  <a:pt x="1686112" y="0"/>
                  <a:pt x="376603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 de Cómputo en la Nube (Cloud): "El Hotel de Lujo Flexible"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2585720" y="7620"/>
            <a:ext cx="7477760" cy="7477760"/>
          </a:xfrm>
          <a:prstGeom prst="ellipse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30FEBC-D20B-FB3E-1A8B-344D5D505F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9FBC-945C-77BE-2D1A-3C8E9866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8FC84B7C-CC43-43AE-355E-C37EFC71E8E3}"/>
              </a:ext>
            </a:extLst>
          </p:cNvPr>
          <p:cNvSpPr txBox="1"/>
          <p:nvPr/>
        </p:nvSpPr>
        <p:spPr>
          <a:xfrm>
            <a:off x="1828360" y="1057404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Definición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22EC829-5F70-BC36-C2CB-36287761FC33}"/>
              </a:ext>
            </a:extLst>
          </p:cNvPr>
          <p:cNvSpPr txBox="1"/>
          <p:nvPr/>
        </p:nvSpPr>
        <p:spPr>
          <a:xfrm>
            <a:off x="868681" y="1984257"/>
            <a:ext cx="5512454" cy="36791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centro de cómputo en la nube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(o </a:t>
            </a:r>
            <a:r>
              <a:rPr lang="es-E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es-ES" sz="1400" i="1" dirty="0">
                <a:latin typeface="Arial" panose="020B0604020202020204" pitchFamily="34" charset="0"/>
                <a:cs typeface="Arial" panose="020B0604020202020204" pitchFamily="34" charset="0"/>
              </a:rPr>
              <a:t> data center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) es, en esencia, una red de servidores y recursos de almacenamiento que se encuentran en ubicaciones remotas y a los que se accede a través de internet. 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En lugar de que una empresa posea y mantenga su propia infraestructura física de servidores, almacenamiento y redes en sus instalaciones (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-premise), alquila estos recursos a un proveedor de servicios en la nube como Amazon Web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(AWS), Microsoft Azure o Google Cloud. 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DDC4708-E6E5-60F5-8E64-2D0A7701D465}"/>
              </a:ext>
            </a:extLst>
          </p:cNvPr>
          <p:cNvSpPr txBox="1"/>
          <p:nvPr/>
        </p:nvSpPr>
        <p:spPr>
          <a:xfrm>
            <a:off x="868681" y="4367576"/>
            <a:ext cx="5474353" cy="1197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Estos proveedores son los dueños y operadores de enormes instalaciones físicas, distribuidas por todo el mundo, que albergan el hardware necesario para ofrecer una amplia gama de servicios de computación</a:t>
            </a:r>
            <a:r>
              <a:rPr lang="es-ES" sz="1400" dirty="0"/>
              <a:t>.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1A15A89-B14E-39DC-A8C5-CA878D85F8C7}"/>
              </a:ext>
            </a:extLst>
          </p:cNvPr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la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nube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6F03006-1857-BFFA-1264-9F187D562B1C}"/>
              </a:ext>
            </a:extLst>
          </p:cNvPr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79281F1-675E-AF94-AEA7-0E4BFB7BF397}"/>
              </a:ext>
            </a:extLst>
          </p:cNvPr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F0480363-1994-18D7-774D-038E272E2827}"/>
              </a:ext>
            </a:extLst>
          </p:cNvPr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9663CF-36EA-C5F6-4AB6-000F7D92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26" y="2120133"/>
            <a:ext cx="5239481" cy="28404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9AF551-3047-292E-3E31-390AA14E14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30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3F4A-CAF4-735E-B532-A74945EF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D8197C25-8880-7637-9741-13EF46834D81}"/>
              </a:ext>
            </a:extLst>
          </p:cNvPr>
          <p:cNvSpPr txBox="1"/>
          <p:nvPr/>
        </p:nvSpPr>
        <p:spPr>
          <a:xfrm>
            <a:off x="1828360" y="1057404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Características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Clave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414EB4A-970B-0059-F0BD-7CBD96AD7D57}"/>
              </a:ext>
            </a:extLst>
          </p:cNvPr>
          <p:cNvSpPr txBox="1"/>
          <p:nvPr/>
        </p:nvSpPr>
        <p:spPr>
          <a:xfrm>
            <a:off x="660401" y="1598976"/>
            <a:ext cx="6071041" cy="5110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endParaRPr lang="es-ES" sz="1400" b="1" dirty="0"/>
          </a:p>
          <a:p>
            <a:pPr algn="just"/>
            <a:r>
              <a:rPr lang="es-ES" sz="1400" b="1" dirty="0"/>
              <a:t>Bajo Demanda:</a:t>
            </a:r>
            <a:r>
              <a:rPr lang="es-ES" sz="1400" dirty="0"/>
              <a:t> Los recursos (como capacidad de procesamiento, almacenamiento y bases de datos) están disponibles de inmediato a través de internet. Se pueden aprovisionar o liberar en cuestión de minutos.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Elasticidad y Escalabilidad:</a:t>
            </a:r>
            <a:r>
              <a:rPr lang="es-ES" sz="1400" dirty="0"/>
              <a:t> Los clientes pueden aumentar o disminuir dinámicamente los recursos que utilizan según sus necesidades. Esto evita tener que comprar hardware costoso que podría quedar obsoleto o infrautilizado.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Pago por Uso:</a:t>
            </a:r>
            <a:r>
              <a:rPr lang="es-ES" sz="1400" dirty="0"/>
              <a:t> En lugar de una gran inversión inicial en hardware y software, los usuarios pagan solo por los recursos que consumen, de manera similar a como se paga por la electricidad o el agua.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Acceso desde Cualquier Lugar:</a:t>
            </a:r>
            <a:r>
              <a:rPr lang="es-ES" sz="1400" dirty="0"/>
              <a:t> Al estar basados en internet, los servicios y datos alojados en un centro de cómputo en la nube pueden ser accedidos desde cualquier dispositivo con conexión, lo que facilita el trabajo remoto y la colaboración global. 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Mantenimiento por el Proveedor:</a:t>
            </a:r>
            <a:r>
              <a:rPr lang="es-ES" sz="1400" dirty="0"/>
              <a:t> El proveedor de la nube es responsable del mantenimiento, la seguridad física, la refrigeración y las actualizaciones del hardware, liberando a las empresas de esa carga.</a:t>
            </a:r>
          </a:p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01EA37F-FD5D-DBA1-AF12-E5504AF73F6B}"/>
              </a:ext>
            </a:extLst>
          </p:cNvPr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la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nube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18DC0B0-D993-8BA8-B11F-1F864AD6498B}"/>
              </a:ext>
            </a:extLst>
          </p:cNvPr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40985809-3B37-EC71-44EA-6467A7F33E3B}"/>
              </a:ext>
            </a:extLst>
          </p:cNvPr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2B19A82-E10D-15A8-A4A3-605DC176B538}"/>
              </a:ext>
            </a:extLst>
          </p:cNvPr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3C3AFD-97CC-8AD5-4F26-A1770A4A0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2048832"/>
            <a:ext cx="4316730" cy="37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95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4277-3529-6D0F-7D7E-84347309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1EDEFFC-7599-0AA5-9670-E65FA78B2501}"/>
              </a:ext>
            </a:extLst>
          </p:cNvPr>
          <p:cNvSpPr txBox="1"/>
          <p:nvPr/>
        </p:nvSpPr>
        <p:spPr>
          <a:xfrm>
            <a:off x="1828360" y="1057404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r>
              <a:rPr lang="es-ES" sz="1600" b="1" dirty="0"/>
              <a:t>Tipos de Servicios Principales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03469D5-B02E-5AD1-5333-8A9C1055847D}"/>
              </a:ext>
            </a:extLst>
          </p:cNvPr>
          <p:cNvSpPr txBox="1"/>
          <p:nvPr/>
        </p:nvSpPr>
        <p:spPr>
          <a:xfrm>
            <a:off x="787215" y="1984257"/>
            <a:ext cx="6588054" cy="38163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endParaRPr lang="es-ES" sz="1400" b="1" dirty="0"/>
          </a:p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Los centros de cómputo en la nube ofrecen servicios que se agrupan comúnmente en tres modelos principales: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Infraestructura como Servicio (IaaS):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Es el nivel más básico. El proveedor ofrece los componentes fundamentales de la infraestructura, como servidores virtuales, almacenamiento y redes. El cliente gestiona el sistema operativo y las aplicaciones.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Plataforma como Servicio (PaaS):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Además de la infraestructura, el proveedor ofrece un entorno (plataforma) para que los desarrolladores creen, prueben y desplieguen aplicaciones sin preocuparse por la infraestructura subyacente.</a:t>
            </a:r>
          </a:p>
          <a:p>
            <a:pPr algn="just"/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Software como Servicio (SaaS):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Es el modelo más conocido. El proveedor ofrece aplicaciones de software completas a través de internet, como el correo electrónico (Gmail, Outlook 365) o el almacenamiento de archivos (Dropbox, Google Drive). Los usuarios simplemente se conectan y usan el software.</a:t>
            </a:r>
          </a:p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9B07F75-5E63-41CC-2264-F0FBB5352D54}"/>
              </a:ext>
            </a:extLst>
          </p:cNvPr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la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nube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3C7F5C4-56BB-9EC1-57A3-38EE2005D873}"/>
              </a:ext>
            </a:extLst>
          </p:cNvPr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F8B395A-D59D-82B1-D7BC-4DD1D7A95808}"/>
              </a:ext>
            </a:extLst>
          </p:cNvPr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4C8FBD61-C1DF-0331-4B6A-C1635FB90F75}"/>
              </a:ext>
            </a:extLst>
          </p:cNvPr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DA2234-EA25-BC93-FDBC-8EBB5F5E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10" y="1724278"/>
            <a:ext cx="4194810" cy="391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9968D8D-2B3E-1583-A6B1-83BD9E85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57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428018" y="2373980"/>
            <a:ext cx="2743198" cy="3353734"/>
          </a:xfrm>
          <a:prstGeom prst="round1Rect">
            <a:avLst/>
          </a:prstGeom>
          <a:solidFill>
            <a:schemeClr val="bg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602252" y="3883777"/>
            <a:ext cx="2294961" cy="3163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94293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Bajo Costo Inicial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413939" y="2831795"/>
            <a:ext cx="771354" cy="752901"/>
          </a:xfrm>
          <a:prstGeom prst="round1Rect">
            <a:avLst/>
          </a:prstGeom>
          <a:solidFill>
            <a:schemeClr val="accent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473320" y="2889755"/>
            <a:ext cx="652594" cy="636982"/>
          </a:xfrm>
          <a:prstGeom prst="round1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180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603070" y="3027156"/>
            <a:ext cx="391517" cy="362180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724402" y="2373980"/>
            <a:ext cx="2743198" cy="3353734"/>
          </a:xfrm>
          <a:prstGeom prst="round1Rect">
            <a:avLst/>
          </a:prstGeom>
          <a:solidFill>
            <a:schemeClr val="bg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898637" y="3718677"/>
            <a:ext cx="2294961" cy="4814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074">
                <a:ln w="12700">
                  <a:noFill/>
                </a:ln>
                <a:solidFill>
                  <a:srgbClr val="94293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Escalabilidad Elástica y Rápida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710324" y="2831795"/>
            <a:ext cx="771354" cy="752901"/>
          </a:xfrm>
          <a:prstGeom prst="round1Rect">
            <a:avLst/>
          </a:prstGeom>
          <a:solidFill>
            <a:schemeClr val="accent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769704" y="2889755"/>
            <a:ext cx="652594" cy="636982"/>
          </a:xfrm>
          <a:prstGeom prst="round1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180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899454" y="3036862"/>
            <a:ext cx="391517" cy="342767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031044" y="1607612"/>
            <a:ext cx="2722682" cy="4120102"/>
          </a:xfrm>
          <a:prstGeom prst="round1Rect">
            <a:avLst/>
          </a:prstGeom>
          <a:solidFill>
            <a:schemeClr val="accent1"/>
          </a:solidFill>
          <a:ln w="9525" cap="flat">
            <a:noFill/>
            <a:miter/>
          </a:ln>
          <a:effectLst>
            <a:outerShdw blurRad="381000" dist="190500" dir="5400000" sx="102000" sy="102000" algn="t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020786" y="1607612"/>
            <a:ext cx="2743198" cy="4120102"/>
          </a:xfrm>
          <a:prstGeom prst="round1Rect">
            <a:avLst/>
          </a:prstGeom>
          <a:gradFill>
            <a:gsLst>
              <a:gs pos="0">
                <a:schemeClr val="bg1">
                  <a:alpha val="23000"/>
                </a:schemeClr>
              </a:gs>
              <a:gs pos="39000">
                <a:schemeClr val="bg1">
                  <a:alpha val="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195020" y="3883777"/>
            <a:ext cx="2294961" cy="31630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517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Flexibilidad y Agilidad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006707" y="2831795"/>
            <a:ext cx="771354" cy="752901"/>
          </a:xfrm>
          <a:prstGeom prst="round1Rect">
            <a:avLst/>
          </a:prstGeom>
          <a:solidFill>
            <a:schemeClr val="bg1">
              <a:alpha val="2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066087" y="2889755"/>
            <a:ext cx="652594" cy="636982"/>
          </a:xfrm>
          <a:prstGeom prst="round1Rect">
            <a:avLst/>
          </a:prstGeom>
          <a:solidFill>
            <a:schemeClr val="bg1"/>
          </a:solidFill>
          <a:ln w="9525" cap="flat">
            <a:solidFill>
              <a:schemeClr val="bg1"/>
            </a:solidFill>
            <a:miter/>
          </a:ln>
          <a:effectLst>
            <a:outerShdw blurRad="254000" dist="190500" dir="27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10881" y="3012487"/>
            <a:ext cx="361430" cy="391517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786751" y="4305971"/>
            <a:ext cx="2108200" cy="11423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VentajaSe elimina la gran inversión inicial (CAPEX) y se convierte en un gasto operativo mensual (OPEX), mucho más manejable.
Desventaja: Menor Control. La empresa no tiene control sobre el hardware físico subyacente y está sujeta a las políticas y la arquitectura del proveedor.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093660" y="4305970"/>
            <a:ext cx="2082800" cy="11296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46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VentajaCapacidad de cómputo puede aumentar o disminuir en cuestión de minutos.
Desventaja: Dependencia del Proveedor (Vendor Lock- in). Migrar a otra nube puede ser técnicamente complejo y costoso.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349769" y="4305970"/>
            <a:ext cx="2070100" cy="1167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54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VentajaPermite innovar y lanzar nuevos productos al mercado rápido.
Desventaja: Preocupaciones de Seguridad y Cumplimiento. Datos residen en servidores de terceros.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61295" y="990400"/>
            <a:ext cx="5774686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Analogía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: Vivir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un hotel con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todo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incluido</a:t>
            </a:r>
            <a:endParaRPr kumimoji="1" lang="zh-CN" altLang="en-US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C28F49D-FF23-03A1-416C-1F2FEE6503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3003011" y="1684439"/>
            <a:ext cx="1538883" cy="1616236"/>
          </a:xfrm>
          <a:prstGeom prst="hexagon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988681" y="1984138"/>
            <a:ext cx="1567543" cy="1386167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972452" y="4139418"/>
            <a:ext cx="3600000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escalabilidad permite a las empresas aumentar o disminuir sus recursos según la demanda, mientras que la flexibilidad facilita la adaptación a cambios operativos o tecnológicos.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516173" y="2444875"/>
            <a:ext cx="512558" cy="46469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972452" y="3643512"/>
            <a:ext cx="360000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Escalabilidad y flexibilidad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>
            <a:off x="7637407" y="1684439"/>
            <a:ext cx="1538883" cy="1616236"/>
          </a:xfrm>
          <a:prstGeom prst="hexagon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>
            <a:off x="7623077" y="1984138"/>
            <a:ext cx="1567543" cy="1386167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6848" y="4139418"/>
            <a:ext cx="3600000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centros de cómputo en la nube eliminan la necesidad de infraestructura física costosa, lo que reduce significativamente los gastos en hardware y mantenimiento.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150569" y="2420943"/>
            <a:ext cx="512558" cy="51255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6848" y="3643512"/>
            <a:ext cx="360000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Reducción de costos operativos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Ventajas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F0DBDC2-9CB2-6811-5B78-18064D2877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79474" y="5239167"/>
            <a:ext cx="10495132" cy="16192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141540" y="5219847"/>
            <a:ext cx="208436" cy="208436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49818" y="5641657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D9D9D9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830912" y="5219847"/>
            <a:ext cx="208436" cy="208436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437603" y="5641657"/>
            <a:ext cx="9906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D9D9D9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 flipV="1">
            <a:off x="660400" y="2323589"/>
            <a:ext cx="292100" cy="34789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V="1">
            <a:off x="5539014" y="2323589"/>
            <a:ext cx="292100" cy="34789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90814" y="1828384"/>
            <a:ext cx="4709886" cy="3275911"/>
          </a:xfrm>
          <a:custGeom>
            <a:avLst/>
            <a:gdLst>
              <a:gd name="connsiteX0" fmla="*/ 137545 w 4709886"/>
              <a:gd name="connsiteY0" fmla="*/ 0 h 3275911"/>
              <a:gd name="connsiteX1" fmla="*/ 4572341 w 4709886"/>
              <a:gd name="connsiteY1" fmla="*/ 0 h 3275911"/>
              <a:gd name="connsiteX2" fmla="*/ 4709886 w 4709886"/>
              <a:gd name="connsiteY2" fmla="*/ 137545 h 3275911"/>
              <a:gd name="connsiteX3" fmla="*/ 4709886 w 4709886"/>
              <a:gd name="connsiteY3" fmla="*/ 3022956 h 3275911"/>
              <a:gd name="connsiteX4" fmla="*/ 4572341 w 4709886"/>
              <a:gd name="connsiteY4" fmla="*/ 3160501 h 3275911"/>
              <a:gd name="connsiteX5" fmla="*/ 2591146 w 4709886"/>
              <a:gd name="connsiteY5" fmla="*/ 3160501 h 3275911"/>
              <a:gd name="connsiteX6" fmla="*/ 2354943 w 4709886"/>
              <a:gd name="connsiteY6" fmla="*/ 3275911 h 3275911"/>
              <a:gd name="connsiteX7" fmla="*/ 2118740 w 4709886"/>
              <a:gd name="connsiteY7" fmla="*/ 3160501 h 3275911"/>
              <a:gd name="connsiteX8" fmla="*/ 137545 w 4709886"/>
              <a:gd name="connsiteY8" fmla="*/ 3160501 h 3275911"/>
              <a:gd name="connsiteX9" fmla="*/ 0 w 4709886"/>
              <a:gd name="connsiteY9" fmla="*/ 3022956 h 3275911"/>
              <a:gd name="connsiteX10" fmla="*/ 0 w 4709886"/>
              <a:gd name="connsiteY10" fmla="*/ 137545 h 3275911"/>
              <a:gd name="connsiteX11" fmla="*/ 137545 w 4709886"/>
              <a:gd name="connsiteY11" fmla="*/ 0 h 3275911"/>
            </a:gdLst>
            <a:ahLst/>
            <a:cxnLst/>
            <a:rect l="l" t="t" r="r" b="b"/>
            <a:pathLst>
              <a:path w="4709886" h="3275911">
                <a:moveTo>
                  <a:pt x="137545" y="0"/>
                </a:moveTo>
                <a:lnTo>
                  <a:pt x="4572341" y="0"/>
                </a:lnTo>
                <a:cubicBezTo>
                  <a:pt x="4648305" y="0"/>
                  <a:pt x="4709886" y="61581"/>
                  <a:pt x="4709886" y="137545"/>
                </a:cubicBezTo>
                <a:lnTo>
                  <a:pt x="4709886" y="3022956"/>
                </a:lnTo>
                <a:cubicBezTo>
                  <a:pt x="4709886" y="3098920"/>
                  <a:pt x="4648305" y="3160501"/>
                  <a:pt x="4572341" y="3160501"/>
                </a:cubicBezTo>
                <a:lnTo>
                  <a:pt x="2591146" y="3160501"/>
                </a:lnTo>
                <a:lnTo>
                  <a:pt x="2354943" y="3275911"/>
                </a:lnTo>
                <a:lnTo>
                  <a:pt x="2118740" y="3160501"/>
                </a:lnTo>
                <a:lnTo>
                  <a:pt x="137545" y="3160501"/>
                </a:lnTo>
                <a:cubicBezTo>
                  <a:pt x="61581" y="3160501"/>
                  <a:pt x="0" y="3098920"/>
                  <a:pt x="0" y="3022956"/>
                </a:cubicBezTo>
                <a:lnTo>
                  <a:pt x="0" y="137545"/>
                </a:lnTo>
                <a:cubicBezTo>
                  <a:pt x="0" y="61581"/>
                  <a:pt x="61581" y="0"/>
                  <a:pt x="137545" y="0"/>
                </a:cubicBezTo>
                <a:close/>
              </a:path>
            </a:pathLst>
          </a:custGeom>
          <a:solidFill>
            <a:schemeClr val="bg1"/>
          </a:solidFill>
          <a:ln w="317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400" y="1520260"/>
            <a:ext cx="5170714" cy="816030"/>
          </a:xfrm>
          <a:custGeom>
            <a:avLst/>
            <a:gdLst>
              <a:gd name="connsiteX0" fmla="*/ 375684 w 5170714"/>
              <a:gd name="connsiteY0" fmla="*/ 0 h 816030"/>
              <a:gd name="connsiteX1" fmla="*/ 4795030 w 5170714"/>
              <a:gd name="connsiteY1" fmla="*/ 0 h 816030"/>
              <a:gd name="connsiteX2" fmla="*/ 5170714 w 5170714"/>
              <a:gd name="connsiteY2" fmla="*/ 375684 h 816030"/>
              <a:gd name="connsiteX3" fmla="*/ 5170714 w 5170714"/>
              <a:gd name="connsiteY3" fmla="*/ 816030 h 816030"/>
              <a:gd name="connsiteX4" fmla="*/ 0 w 5170714"/>
              <a:gd name="connsiteY4" fmla="*/ 816030 h 816030"/>
              <a:gd name="connsiteX5" fmla="*/ 0 w 5170714"/>
              <a:gd name="connsiteY5" fmla="*/ 375684 h 816030"/>
              <a:gd name="connsiteX6" fmla="*/ 375684 w 5170714"/>
              <a:gd name="connsiteY6" fmla="*/ 0 h 816030"/>
            </a:gdLst>
            <a:ahLst/>
            <a:cxnLst/>
            <a:rect l="l" t="t" r="r" b="b"/>
            <a:pathLst>
              <a:path w="5170714" h="816030">
                <a:moveTo>
                  <a:pt x="375684" y="0"/>
                </a:moveTo>
                <a:lnTo>
                  <a:pt x="4795030" y="0"/>
                </a:lnTo>
                <a:cubicBezTo>
                  <a:pt x="5002515" y="0"/>
                  <a:pt x="5170714" y="168199"/>
                  <a:pt x="5170714" y="375684"/>
                </a:cubicBezTo>
                <a:lnTo>
                  <a:pt x="5170714" y="816030"/>
                </a:lnTo>
                <a:lnTo>
                  <a:pt x="0" y="816030"/>
                </a:lnTo>
                <a:lnTo>
                  <a:pt x="0" y="375684"/>
                </a:lnTo>
                <a:cubicBezTo>
                  <a:pt x="0" y="168199"/>
                  <a:pt x="168199" y="0"/>
                  <a:pt x="375684" y="0"/>
                </a:cubicBezTo>
                <a:close/>
              </a:path>
            </a:pathLst>
          </a:cu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77833" y="2560062"/>
            <a:ext cx="4135848" cy="22275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acceso a servicios en la nube está condicionado por una conexión a Internet estable, lo que puede afectar la disponibilidad si hay interrupciones en la red.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 flipV="1">
            <a:off x="6348186" y="2323589"/>
            <a:ext cx="292100" cy="34789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V="1">
            <a:off x="11226800" y="2323589"/>
            <a:ext cx="292100" cy="34789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578600" y="1828384"/>
            <a:ext cx="4709886" cy="3275911"/>
          </a:xfrm>
          <a:custGeom>
            <a:avLst/>
            <a:gdLst>
              <a:gd name="connsiteX0" fmla="*/ 137545 w 4709886"/>
              <a:gd name="connsiteY0" fmla="*/ 0 h 3275911"/>
              <a:gd name="connsiteX1" fmla="*/ 4572341 w 4709886"/>
              <a:gd name="connsiteY1" fmla="*/ 0 h 3275911"/>
              <a:gd name="connsiteX2" fmla="*/ 4709886 w 4709886"/>
              <a:gd name="connsiteY2" fmla="*/ 137545 h 3275911"/>
              <a:gd name="connsiteX3" fmla="*/ 4709886 w 4709886"/>
              <a:gd name="connsiteY3" fmla="*/ 3022956 h 3275911"/>
              <a:gd name="connsiteX4" fmla="*/ 4572341 w 4709886"/>
              <a:gd name="connsiteY4" fmla="*/ 3160501 h 3275911"/>
              <a:gd name="connsiteX5" fmla="*/ 2591146 w 4709886"/>
              <a:gd name="connsiteY5" fmla="*/ 3160501 h 3275911"/>
              <a:gd name="connsiteX6" fmla="*/ 2354943 w 4709886"/>
              <a:gd name="connsiteY6" fmla="*/ 3275911 h 3275911"/>
              <a:gd name="connsiteX7" fmla="*/ 2118740 w 4709886"/>
              <a:gd name="connsiteY7" fmla="*/ 3160501 h 3275911"/>
              <a:gd name="connsiteX8" fmla="*/ 137545 w 4709886"/>
              <a:gd name="connsiteY8" fmla="*/ 3160501 h 3275911"/>
              <a:gd name="connsiteX9" fmla="*/ 0 w 4709886"/>
              <a:gd name="connsiteY9" fmla="*/ 3022956 h 3275911"/>
              <a:gd name="connsiteX10" fmla="*/ 0 w 4709886"/>
              <a:gd name="connsiteY10" fmla="*/ 137545 h 3275911"/>
              <a:gd name="connsiteX11" fmla="*/ 137545 w 4709886"/>
              <a:gd name="connsiteY11" fmla="*/ 0 h 3275911"/>
            </a:gdLst>
            <a:ahLst/>
            <a:cxnLst/>
            <a:rect l="l" t="t" r="r" b="b"/>
            <a:pathLst>
              <a:path w="4709886" h="3275911">
                <a:moveTo>
                  <a:pt x="137545" y="0"/>
                </a:moveTo>
                <a:lnTo>
                  <a:pt x="4572341" y="0"/>
                </a:lnTo>
                <a:cubicBezTo>
                  <a:pt x="4648305" y="0"/>
                  <a:pt x="4709886" y="61581"/>
                  <a:pt x="4709886" y="137545"/>
                </a:cubicBezTo>
                <a:lnTo>
                  <a:pt x="4709886" y="3022956"/>
                </a:lnTo>
                <a:cubicBezTo>
                  <a:pt x="4709886" y="3098920"/>
                  <a:pt x="4648305" y="3160501"/>
                  <a:pt x="4572341" y="3160501"/>
                </a:cubicBezTo>
                <a:lnTo>
                  <a:pt x="2591146" y="3160501"/>
                </a:lnTo>
                <a:lnTo>
                  <a:pt x="2354943" y="3275911"/>
                </a:lnTo>
                <a:lnTo>
                  <a:pt x="2118740" y="3160501"/>
                </a:lnTo>
                <a:lnTo>
                  <a:pt x="137545" y="3160501"/>
                </a:lnTo>
                <a:cubicBezTo>
                  <a:pt x="61581" y="3160501"/>
                  <a:pt x="0" y="3098920"/>
                  <a:pt x="0" y="3022956"/>
                </a:cubicBezTo>
                <a:lnTo>
                  <a:pt x="0" y="137545"/>
                </a:lnTo>
                <a:cubicBezTo>
                  <a:pt x="0" y="61581"/>
                  <a:pt x="61581" y="0"/>
                  <a:pt x="137545" y="0"/>
                </a:cubicBezTo>
                <a:close/>
              </a:path>
            </a:pathLst>
          </a:custGeom>
          <a:solidFill>
            <a:schemeClr val="bg1"/>
          </a:solidFill>
          <a:ln w="317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348186" y="1520260"/>
            <a:ext cx="5170714" cy="816030"/>
          </a:xfrm>
          <a:custGeom>
            <a:avLst/>
            <a:gdLst>
              <a:gd name="connsiteX0" fmla="*/ 375684 w 5170714"/>
              <a:gd name="connsiteY0" fmla="*/ 0 h 816030"/>
              <a:gd name="connsiteX1" fmla="*/ 4795030 w 5170714"/>
              <a:gd name="connsiteY1" fmla="*/ 0 h 816030"/>
              <a:gd name="connsiteX2" fmla="*/ 5170714 w 5170714"/>
              <a:gd name="connsiteY2" fmla="*/ 375684 h 816030"/>
              <a:gd name="connsiteX3" fmla="*/ 5170714 w 5170714"/>
              <a:gd name="connsiteY3" fmla="*/ 816030 h 816030"/>
              <a:gd name="connsiteX4" fmla="*/ 0 w 5170714"/>
              <a:gd name="connsiteY4" fmla="*/ 816030 h 816030"/>
              <a:gd name="connsiteX5" fmla="*/ 0 w 5170714"/>
              <a:gd name="connsiteY5" fmla="*/ 375684 h 816030"/>
              <a:gd name="connsiteX6" fmla="*/ 375684 w 5170714"/>
              <a:gd name="connsiteY6" fmla="*/ 0 h 816030"/>
            </a:gdLst>
            <a:ahLst/>
            <a:cxnLst/>
            <a:rect l="l" t="t" r="r" b="b"/>
            <a:pathLst>
              <a:path w="5170714" h="816030">
                <a:moveTo>
                  <a:pt x="375684" y="0"/>
                </a:moveTo>
                <a:lnTo>
                  <a:pt x="4795030" y="0"/>
                </a:lnTo>
                <a:cubicBezTo>
                  <a:pt x="5002515" y="0"/>
                  <a:pt x="5170714" y="168199"/>
                  <a:pt x="5170714" y="375684"/>
                </a:cubicBezTo>
                <a:lnTo>
                  <a:pt x="5170714" y="816030"/>
                </a:lnTo>
                <a:lnTo>
                  <a:pt x="0" y="816030"/>
                </a:lnTo>
                <a:lnTo>
                  <a:pt x="0" y="375684"/>
                </a:lnTo>
                <a:cubicBezTo>
                  <a:pt x="0" y="168199"/>
                  <a:pt x="168199" y="0"/>
                  <a:pt x="375684" y="0"/>
                </a:cubicBezTo>
                <a:close/>
              </a:path>
            </a:pathLst>
          </a:cu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865619" y="2560062"/>
            <a:ext cx="4135848" cy="22275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almacenamiento de datos en servidores externos genera inquietudes sobre la seguridad de la información y la protección de la privacidad frente a posibles ciberataques.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97857" y="1689100"/>
            <a:ext cx="44958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Dependencia de la conexión a Internet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749143" y="1689100"/>
            <a:ext cx="43688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319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Preocupaciones sobre la privacidad y seguridad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Desventajas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812ABC0-7E3D-CCE8-169C-82D8055D9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2516227"/>
            <a:ext cx="3419218" cy="345277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46923" y="1548102"/>
            <a:ext cx="3434266" cy="81410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096290" y="2516227"/>
            <a:ext cx="3435270" cy="345277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096290" y="1548102"/>
            <a:ext cx="3435270" cy="81410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385101" y="2516227"/>
            <a:ext cx="3435270" cy="3452773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385101" y="1549000"/>
            <a:ext cx="3435270" cy="81315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75479" y="2715760"/>
            <a:ext cx="2989060" cy="5481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Startups y Nuevas Empresas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08206" y="2715760"/>
            <a:ext cx="2989060" cy="5481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Comercio Electrónico y Aplicaciones Móviles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319395" y="2715760"/>
            <a:ext cx="2989060" cy="5481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Desarrollo y Pruebas de Software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150757" y="1741824"/>
            <a:ext cx="426598" cy="426661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893216" y="1765200"/>
            <a:ext cx="419041" cy="379909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608768" y="1741824"/>
            <a:ext cx="410315" cy="426661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75479" y="3330254"/>
            <a:ext cx="2989060" cy="2200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Necesitan agilidad y no tienen capital para una gran inversión inicial.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319395" y="3330254"/>
            <a:ext cx="2989060" cy="2200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Crear y destruir entornos de prueba de forma rápida y económica.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608206" y="3330254"/>
            <a:ext cx="2989060" cy="2200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Experimentan picos de tráfico impredecibles y necesitan escalar rápidamente.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674216" y="5613564"/>
            <a:ext cx="857040" cy="207668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bg1">
                <a:alpha val="75000"/>
              </a:schemeClr>
            </a:soli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935286" y="5685516"/>
            <a:ext cx="63764" cy="637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070853" y="5685516"/>
            <a:ext cx="63764" cy="63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206420" y="5685516"/>
            <a:ext cx="63764" cy="637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385405" y="5613564"/>
            <a:ext cx="857040" cy="207668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1">
                <a:lumMod val="20000"/>
                <a:lumOff val="80000"/>
              </a:schemeClr>
            </a:soli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646475" y="5685516"/>
            <a:ext cx="63764" cy="63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782042" y="5685516"/>
            <a:ext cx="63764" cy="637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917609" y="5685516"/>
            <a:ext cx="63764" cy="63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941489" y="5613564"/>
            <a:ext cx="857040" cy="207668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1">
                <a:lumMod val="20000"/>
                <a:lumOff val="80000"/>
              </a:schemeClr>
            </a:solidFill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2202559" y="5685516"/>
            <a:ext cx="63764" cy="63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2338126" y="5685516"/>
            <a:ext cx="63764" cy="637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2473693" y="5685516"/>
            <a:ext cx="63764" cy="63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324204" y="418055"/>
            <a:ext cx="1029629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Casos de Uso Ideales</a:t>
            </a:r>
            <a:endParaRPr kumimoji="1" lang="zh-CN" altLang="en-U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3E1A326-C9CC-F827-2844-5D6916F1E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 l="919" t="919" r="919" b="919"/>
          <a:stretch>
            <a:fillRect/>
          </a:stretch>
        </p:blipFill>
        <p:spPr>
          <a:xfrm>
            <a:off x="-2690564" y="-202988"/>
            <a:ext cx="7532074" cy="7532072"/>
          </a:xfrm>
          <a:custGeom>
            <a:avLst/>
            <a:gdLst/>
            <a:ahLst/>
            <a:cxnLst/>
            <a:rect l="l" t="t" r="r" b="b"/>
            <a:pathLst>
              <a:path w="7532074" h="7532072">
                <a:moveTo>
                  <a:pt x="3766037" y="0"/>
                </a:moveTo>
                <a:cubicBezTo>
                  <a:pt x="5845962" y="0"/>
                  <a:pt x="7532074" y="1686112"/>
                  <a:pt x="7532074" y="3766036"/>
                </a:cubicBezTo>
                <a:cubicBezTo>
                  <a:pt x="7532074" y="5845960"/>
                  <a:pt x="5845962" y="7532072"/>
                  <a:pt x="3766037" y="7532072"/>
                </a:cubicBezTo>
                <a:cubicBezTo>
                  <a:pt x="1686112" y="7532072"/>
                  <a:pt x="0" y="5845960"/>
                  <a:pt x="0" y="3766036"/>
                </a:cubicBezTo>
                <a:cubicBezTo>
                  <a:pt x="0" y="1686112"/>
                  <a:pt x="1686112" y="0"/>
                  <a:pt x="376603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 de Cómputo Híbrido: "Lo Mejor de Dos Mundos"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2585720" y="7620"/>
            <a:ext cx="7477760" cy="7477760"/>
          </a:xfrm>
          <a:prstGeom prst="ellipse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840853D-496B-E352-8DD3-EDC734533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23679-23DD-A1AD-7451-2E5C4837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1D551C1-44DE-DF36-AD29-4D87BE4A1CFC}"/>
              </a:ext>
            </a:extLst>
          </p:cNvPr>
          <p:cNvSpPr txBox="1"/>
          <p:nvPr/>
        </p:nvSpPr>
        <p:spPr>
          <a:xfrm>
            <a:off x="1492834" y="1201990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Definición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52DF790-3971-8777-A098-6821C05AF9A4}"/>
              </a:ext>
            </a:extLst>
          </p:cNvPr>
          <p:cNvSpPr txBox="1"/>
          <p:nvPr/>
        </p:nvSpPr>
        <p:spPr>
          <a:xfrm>
            <a:off x="588594" y="1976248"/>
            <a:ext cx="5412619" cy="18070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lang="es-ES" sz="1400" dirty="0"/>
              <a:t>Un </a:t>
            </a:r>
            <a:r>
              <a:rPr lang="es-ES" sz="1400" b="1" dirty="0"/>
              <a:t>centro de cómputo híbrido</a:t>
            </a:r>
            <a:r>
              <a:rPr lang="es-ES" sz="1400" dirty="0"/>
              <a:t> es un modelo de infraestructura de TI que combina lo mejor de dos mundos: un </a:t>
            </a:r>
            <a:r>
              <a:rPr lang="es-ES" sz="1400" b="1" dirty="0"/>
              <a:t>centro de cómputo local (</a:t>
            </a:r>
            <a:r>
              <a:rPr lang="es-ES" sz="1400" b="1" dirty="0" err="1"/>
              <a:t>on</a:t>
            </a:r>
            <a:r>
              <a:rPr lang="es-ES" sz="1400" b="1" dirty="0"/>
              <a:t>-premise)</a:t>
            </a:r>
            <a:r>
              <a:rPr lang="es-ES" sz="1400" dirty="0"/>
              <a:t> con los servicios de una </a:t>
            </a:r>
            <a:r>
              <a:rPr lang="es-ES" sz="1400" b="1" dirty="0"/>
              <a:t>nube pública</a:t>
            </a:r>
            <a:r>
              <a:rPr lang="es-ES" sz="1400" dirty="0"/>
              <a:t>. En este enfoque, los datos y las aplicaciones pueden moverse entre ambos entornos, permitiendo a las organizaciones aprovechar las ventajas de cada uno. 🤝</a:t>
            </a:r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C3D647C-A357-8DC8-69E2-ED28FA8E9028}"/>
              </a:ext>
            </a:extLst>
          </p:cNvPr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Hibrido</a:t>
            </a:r>
            <a:endParaRPr kumimoji="1"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1F9D12E3-6204-C232-26ED-C6697B452BC8}"/>
              </a:ext>
            </a:extLst>
          </p:cNvPr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C4AAD22-E903-7E92-E935-D6468E993369}"/>
              </a:ext>
            </a:extLst>
          </p:cNvPr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75F40C35-3B60-A05D-BF40-B57A0F5EBE0E}"/>
              </a:ext>
            </a:extLst>
          </p:cNvPr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DEAEA13-FB4E-28B2-3A2C-74E87FD9D131}"/>
              </a:ext>
            </a:extLst>
          </p:cNvPr>
          <p:cNvSpPr txBox="1"/>
          <p:nvPr/>
        </p:nvSpPr>
        <p:spPr>
          <a:xfrm>
            <a:off x="7718035" y="1117170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r>
              <a:rPr lang="es-ES" sz="1600" b="1" dirty="0"/>
              <a:t>Características Clave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B9B4E37-DC15-E1D5-9F9C-55729A76CA49}"/>
              </a:ext>
            </a:extLst>
          </p:cNvPr>
          <p:cNvSpPr txBox="1"/>
          <p:nvPr/>
        </p:nvSpPr>
        <p:spPr>
          <a:xfrm>
            <a:off x="6343947" y="1996794"/>
            <a:ext cx="5114443" cy="37440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just"/>
            <a:r>
              <a:rPr lang="es-ES" sz="1400" b="1" dirty="0"/>
              <a:t>Integración:</a:t>
            </a:r>
            <a:r>
              <a:rPr lang="es-ES" sz="1400" dirty="0"/>
              <a:t> El pilar fundamental es la orquestación y la conectividad que permiten que los recursos </a:t>
            </a:r>
            <a:r>
              <a:rPr lang="es-ES" sz="1400" dirty="0" err="1"/>
              <a:t>on</a:t>
            </a:r>
            <a:r>
              <a:rPr lang="es-ES" sz="1400" dirty="0"/>
              <a:t>-premise y en la nube funcionen como un solo entorno cohesivo.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Flexibilidad:</a:t>
            </a:r>
            <a:r>
              <a:rPr lang="es-ES" sz="1400" dirty="0"/>
              <a:t> Las empresas pueden decidir dónde ejecutar cada carga de trabajo. Por ejemplo, pueden mantener las bases de datos con información sensible y crítica en sus servidores locales por seguridad, mientras utilizan la nube para desarrollar nuevas aplicaciones o para manejar picos de demanda.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Portabilidad de Cargas de Trabajo:</a:t>
            </a:r>
            <a:r>
              <a:rPr lang="es-ES" sz="1400" dirty="0"/>
              <a:t> Facilita el movimiento de aplicaciones, datos y procesos entre la infraestructura privada y la pública según cambien los costos, el rendimiento y las necesidades de seguridad.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Gestión Unificada:</a:t>
            </a:r>
            <a:r>
              <a:rPr lang="es-ES" sz="1400" dirty="0"/>
              <a:t> Aunque se compone de diferentes entornos, el objetivo es administrar la infraestructura híbrida desde una única plataforma o consola para simplificar las operaciones.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E551CA-BFA7-4AA7-D749-35373CAB1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1" y="3868812"/>
            <a:ext cx="5340813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1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20402" y="1691455"/>
            <a:ext cx="9151197" cy="1236891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492500" y="1802522"/>
            <a:ext cx="56276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Flexibilidad Máxima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492500" y="2168112"/>
            <a:ext cx="5626100" cy="651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04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VentajaPermite colocar cada carga de trabajo en el entorno más adecuado, optimizando rendimiento y costo.
Desventaja: Mayor Complejidad de Gestión. Administrar y asegurar dos entornos diferentes es un desafío técnico significativo.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826715" y="1637562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81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691441" y="2012705"/>
            <a:ext cx="613890" cy="61389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393847" y="1953155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20402" y="3239503"/>
            <a:ext cx="9151197" cy="1238242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492500" y="3352799"/>
            <a:ext cx="56261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Seguridad y Cumplimiento Optimizados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492500" y="3715193"/>
            <a:ext cx="5626100" cy="651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04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VentajaDatos más sensibles se pueden mantener de forma segura en el centro de datos local.
Desventaja: Desafíos de Integración. Garantizar conectividad de red segura y fiable entre el entorno local y la nube es complejo.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26715" y="3186286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81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2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93847" y="3501204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520402" y="4790288"/>
            <a:ext cx="9151197" cy="1226894"/>
          </a:xfrm>
          <a:prstGeom prst="roundRect">
            <a:avLst>
              <a:gd name="adj" fmla="val 9350"/>
            </a:avLst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492500" y="4922046"/>
            <a:ext cx="56261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Escalabilidad Controlada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492500" y="5284441"/>
            <a:ext cx="5626100" cy="684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16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VentajaPermite desbordarse a la nube (cloud bursting) para manejar picos de demanda sin comprar hardware adicional.
Desventaja: Requiere Personal Especializado. Se necesitan equipos de TI con habilidades en infraestructura tradicional y tecnologías de la nube.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826715" y="4731397"/>
            <a:ext cx="1466471" cy="1344676"/>
          </a:xfrm>
          <a:custGeom>
            <a:avLst/>
            <a:gdLst>
              <a:gd name="connsiteX0" fmla="*/ 0 w 1732428"/>
              <a:gd name="connsiteY0" fmla="*/ 0 h 1588544"/>
              <a:gd name="connsiteX1" fmla="*/ 1588544 w 1732428"/>
              <a:gd name="connsiteY1" fmla="*/ 0 h 1588544"/>
              <a:gd name="connsiteX2" fmla="*/ 1588544 w 1732428"/>
              <a:gd name="connsiteY2" fmla="*/ 650389 h 1588544"/>
              <a:gd name="connsiteX3" fmla="*/ 1732428 w 1732428"/>
              <a:gd name="connsiteY3" fmla="*/ 794273 h 1588544"/>
              <a:gd name="connsiteX4" fmla="*/ 1588544 w 1732428"/>
              <a:gd name="connsiteY4" fmla="*/ 938156 h 1588544"/>
              <a:gd name="connsiteX5" fmla="*/ 1588544 w 1732428"/>
              <a:gd name="connsiteY5" fmla="*/ 1588544 h 1588544"/>
              <a:gd name="connsiteX6" fmla="*/ 0 w 1732428"/>
              <a:gd name="connsiteY6" fmla="*/ 1588544 h 1588544"/>
            </a:gdLst>
            <a:ahLst/>
            <a:cxnLst/>
            <a:rect l="l" t="t" r="r" b="b"/>
            <a:pathLst>
              <a:path w="1732428" h="1588544">
                <a:moveTo>
                  <a:pt x="0" y="0"/>
                </a:moveTo>
                <a:lnTo>
                  <a:pt x="1588544" y="0"/>
                </a:lnTo>
                <a:lnTo>
                  <a:pt x="1588544" y="650389"/>
                </a:lnTo>
                <a:lnTo>
                  <a:pt x="1732428" y="794273"/>
                </a:lnTo>
                <a:lnTo>
                  <a:pt x="1588544" y="938156"/>
                </a:lnTo>
                <a:lnTo>
                  <a:pt x="1588544" y="1588544"/>
                </a:lnTo>
                <a:lnTo>
                  <a:pt x="0" y="158854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381000" dir="5400000" sx="90000" sy="90000" algn="t" rotWithShape="0">
              <a:schemeClr val="accent3">
                <a:lumMod val="50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393847" y="5049252"/>
            <a:ext cx="38700" cy="7329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679751" y="5143001"/>
            <a:ext cx="637271" cy="577760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668059" y="3600541"/>
            <a:ext cx="637272" cy="527114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ahLst/>
            <a:cxnLst/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264906" y="1953155"/>
            <a:ext cx="497048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228463" y="3501204"/>
            <a:ext cx="569934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228463" y="5049253"/>
            <a:ext cx="569934" cy="5729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110785" y="833291"/>
            <a:ext cx="4496491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Analogía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: Tener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tu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casa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propia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usar un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servicio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externo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cuando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necesitas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8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espacio</a:t>
            </a:r>
            <a:r>
              <a:rPr kumimoji="1" lang="en-US" altLang="zh-CN" sz="168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extra</a:t>
            </a:r>
            <a:endParaRPr kumimoji="1" lang="zh-CN" altLang="en-US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75CC1F0A-FA10-96AE-1486-6A162876AD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标题 1"/>
          <p:cNvCxnSpPr/>
          <p:nvPr/>
        </p:nvCxnSpPr>
        <p:spPr>
          <a:xfrm>
            <a:off x="-24000" y="3405483"/>
            <a:ext cx="12240000" cy="0"/>
          </a:xfrm>
          <a:prstGeom prst="line">
            <a:avLst/>
          </a:prstGeom>
          <a:noFill/>
          <a:ln w="25400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3" name="标题 1"/>
          <p:cNvSpPr txBox="1"/>
          <p:nvPr/>
        </p:nvSpPr>
        <p:spPr>
          <a:xfrm rot="8113744">
            <a:off x="2688263" y="1610136"/>
            <a:ext cx="1260000" cy="1260000"/>
          </a:xfrm>
          <a:prstGeom prst="teardrop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46263" y="3333483"/>
            <a:ext cx="144000" cy="14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012263" y="1957066"/>
            <a:ext cx="612000" cy="566140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8263" y="4441659"/>
            <a:ext cx="4680000" cy="13015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49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Una infraestructura híbrida permite a las organizaciones aprovechar las capacidades de la nube y los servidores locales, proporcionando flexibilidad y escalabilidad según las necesidades específicas.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8263" y="3608925"/>
            <a:ext cx="4680000" cy="6471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Combina lo mejor de ambos mundos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8113744">
            <a:off x="8231037" y="1610136"/>
            <a:ext cx="1260000" cy="1260000"/>
          </a:xfrm>
          <a:prstGeom prst="teardrop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789037" y="3333483"/>
            <a:ext cx="144000" cy="14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555038" y="1962711"/>
            <a:ext cx="612000" cy="554849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45250" y="4441659"/>
            <a:ext cx="4680000" cy="13015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 centros de cómputo híbridos maximizan la utilización de recursos, permitiendo que las empresas distribuyan cargas de trabajo de manera eficiente entre la nube y las instalaciones locales.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45250" y="3608925"/>
            <a:ext cx="4680000" cy="6471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Optimización de recursos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Ventajas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216C30B-8E87-DFD0-A2E0-EBB42E2F6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091155" y="1235242"/>
            <a:ext cx="8702842" cy="2261938"/>
          </a:xfrm>
          <a:prstGeom prst="roundRect">
            <a:avLst>
              <a:gd name="adj" fmla="val 582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85303" y="1229688"/>
            <a:ext cx="1772652" cy="2273048"/>
          </a:xfrm>
          <a:prstGeom prst="roundRect">
            <a:avLst>
              <a:gd name="adj" fmla="val 964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839745" y="2133600"/>
            <a:ext cx="6689558" cy="10587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integración de entornos de nube pública y privada puede llevar a una mayor complejidad operativa, requiriendo habilidades especializadas para su correcta administración y funcionamiento.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839741" y="1459163"/>
            <a:ext cx="6689557" cy="4473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Complejidad en la gestión</a:t>
            </a:r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3831723" y="1955295"/>
            <a:ext cx="6689559" cy="0"/>
          </a:xfrm>
          <a:prstGeom prst="line">
            <a:avLst/>
          </a:prstGeom>
          <a:noFill/>
          <a:ln w="6350" cap="sq">
            <a:solidFill>
              <a:schemeClr val="bg1"/>
            </a:solidFill>
            <a:miter/>
          </a:ln>
        </p:spPr>
      </p:cxn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alphaModFix/>
          </a:blip>
          <a:srcRect l="38757" t="7576" r="10407" b="5776"/>
          <a:stretch>
            <a:fillRect/>
          </a:stretch>
        </p:blipFill>
        <p:spPr>
          <a:xfrm>
            <a:off x="1714166" y="1313611"/>
            <a:ext cx="1852863" cy="2105202"/>
          </a:xfrm>
          <a:custGeom>
            <a:avLst/>
            <a:gdLst/>
            <a:ahLst/>
            <a:cxnLst/>
            <a:rect l="l" t="t" r="r" b="b"/>
            <a:pathLst>
              <a:path w="1852863" h="2105202">
                <a:moveTo>
                  <a:pt x="178616" y="0"/>
                </a:moveTo>
                <a:lnTo>
                  <a:pt x="1674247" y="0"/>
                </a:lnTo>
                <a:cubicBezTo>
                  <a:pt x="1772894" y="0"/>
                  <a:pt x="1852863" y="79969"/>
                  <a:pt x="1852863" y="178616"/>
                </a:cubicBezTo>
                <a:lnTo>
                  <a:pt x="1852863" y="1926586"/>
                </a:lnTo>
                <a:cubicBezTo>
                  <a:pt x="1852863" y="2025233"/>
                  <a:pt x="1772894" y="2105202"/>
                  <a:pt x="1674247" y="2105202"/>
                </a:cubicBezTo>
                <a:lnTo>
                  <a:pt x="178616" y="2105202"/>
                </a:lnTo>
                <a:cubicBezTo>
                  <a:pt x="79969" y="2105202"/>
                  <a:pt x="0" y="2025233"/>
                  <a:pt x="0" y="1926586"/>
                </a:cubicBezTo>
                <a:lnTo>
                  <a:pt x="0" y="178616"/>
                </a:lnTo>
                <a:cubicBezTo>
                  <a:pt x="0" y="79969"/>
                  <a:pt x="79969" y="0"/>
                  <a:pt x="17861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2091155" y="3681038"/>
            <a:ext cx="8702842" cy="2261938"/>
          </a:xfrm>
          <a:prstGeom prst="roundRect">
            <a:avLst>
              <a:gd name="adj" fmla="val 582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385303" y="3675484"/>
            <a:ext cx="1772652" cy="2273048"/>
          </a:xfrm>
          <a:prstGeom prst="roundRect">
            <a:avLst>
              <a:gd name="adj" fmla="val 964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839745" y="4579396"/>
            <a:ext cx="6689558" cy="10587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Aunque los centros de cómputo híbridos ofrecen beneficios, pueden resultar en costos mayores debido a la inversión inicial y los gastos de mantenimiento continuos asociados a múltiples infraestructuras.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839741" y="3904959"/>
            <a:ext cx="6689557" cy="4473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Costos potencialmente elevados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831723" y="4401091"/>
            <a:ext cx="6689559" cy="0"/>
          </a:xfrm>
          <a:prstGeom prst="line">
            <a:avLst/>
          </a:prstGeom>
          <a:noFill/>
          <a:ln w="6350" cap="sq">
            <a:solidFill>
              <a:schemeClr val="bg1"/>
            </a:solidFill>
            <a:miter/>
          </a:ln>
        </p:spPr>
      </p:cxn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alphaModFix/>
          </a:blip>
          <a:srcRect l="22845" r="22845"/>
          <a:stretch>
            <a:fillRect/>
          </a:stretch>
        </p:blipFill>
        <p:spPr>
          <a:xfrm>
            <a:off x="1714166" y="3759407"/>
            <a:ext cx="1852863" cy="2105202"/>
          </a:xfrm>
          <a:custGeom>
            <a:avLst/>
            <a:gdLst/>
            <a:ahLst/>
            <a:cxnLst/>
            <a:rect l="l" t="t" r="r" b="b"/>
            <a:pathLst>
              <a:path w="1852863" h="2105202">
                <a:moveTo>
                  <a:pt x="178616" y="0"/>
                </a:moveTo>
                <a:lnTo>
                  <a:pt x="1674247" y="0"/>
                </a:lnTo>
                <a:cubicBezTo>
                  <a:pt x="1772894" y="0"/>
                  <a:pt x="1852863" y="79969"/>
                  <a:pt x="1852863" y="178616"/>
                </a:cubicBezTo>
                <a:lnTo>
                  <a:pt x="1852863" y="1926586"/>
                </a:lnTo>
                <a:cubicBezTo>
                  <a:pt x="1852863" y="2025233"/>
                  <a:pt x="1772894" y="2105202"/>
                  <a:pt x="1674247" y="2105202"/>
                </a:cubicBezTo>
                <a:lnTo>
                  <a:pt x="178616" y="2105202"/>
                </a:lnTo>
                <a:cubicBezTo>
                  <a:pt x="79969" y="2105202"/>
                  <a:pt x="0" y="2025233"/>
                  <a:pt x="0" y="1926586"/>
                </a:cubicBezTo>
                <a:lnTo>
                  <a:pt x="0" y="178616"/>
                </a:lnTo>
                <a:cubicBezTo>
                  <a:pt x="0" y="79969"/>
                  <a:pt x="79969" y="0"/>
                  <a:pt x="17861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305555" y="424640"/>
            <a:ext cx="4495800" cy="56515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00323" y="490037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Desventajas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87715" y="421863"/>
            <a:ext cx="570705" cy="570705"/>
          </a:xfrm>
          <a:prstGeom prst="snip2DiagRect">
            <a:avLst>
              <a:gd name="adj1" fmla="val 0"/>
              <a:gd name="adj2" fmla="val 40820"/>
            </a:avLst>
          </a:prstGeom>
          <a:gradFill>
            <a:gsLst>
              <a:gs pos="0">
                <a:schemeClr val="accent1"/>
              </a:gs>
              <a:gs pos="8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AD46040-BF0F-9B52-AE5B-59D3294925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149600" y="1162384"/>
            <a:ext cx="2743199" cy="1917996"/>
          </a:xfrm>
          <a:prstGeom prst="roundRect">
            <a:avLst>
              <a:gd name="adj" fmla="val 4965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0400" y="1563124"/>
            <a:ext cx="4959684" cy="1917996"/>
          </a:xfrm>
          <a:prstGeom prst="roundRect">
            <a:avLst>
              <a:gd name="adj" fmla="val 4965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86615" y="2311317"/>
            <a:ext cx="4507249" cy="88740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Migrar a la nube de forma gradual sin desechar su inversión existente.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092691" y="1206726"/>
            <a:ext cx="857016" cy="330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5400000">
            <a:off x="861438" y="1512655"/>
            <a:ext cx="69495" cy="47157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4933480" y="2658835"/>
            <a:ext cx="80580" cy="12850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86617" y="1819728"/>
            <a:ext cx="4507249" cy="49158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Grandes Empresas en Transición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775701" y="1162384"/>
            <a:ext cx="2743199" cy="1917996"/>
          </a:xfrm>
          <a:prstGeom prst="roundRect">
            <a:avLst>
              <a:gd name="adj" fmla="val 4965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286501" y="1563124"/>
            <a:ext cx="4959684" cy="1917996"/>
          </a:xfrm>
          <a:prstGeom prst="roundRect">
            <a:avLst>
              <a:gd name="adj" fmla="val 4965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512716" y="2311317"/>
            <a:ext cx="4507249" cy="88740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Tiendas minoristas que necesitan capacidad extra durante temporadas de rebajas.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718792" y="1206726"/>
            <a:ext cx="857016" cy="330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6487539" y="1512655"/>
            <a:ext cx="69495" cy="47157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16200000" flipH="1">
            <a:off x="10559581" y="2658835"/>
            <a:ext cx="80580" cy="12850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512718" y="1819728"/>
            <a:ext cx="4507249" cy="49158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553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Negocios con Cargas de Trabajo Variables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149600" y="3726849"/>
            <a:ext cx="2743199" cy="1917996"/>
          </a:xfrm>
          <a:prstGeom prst="roundRect">
            <a:avLst>
              <a:gd name="adj" fmla="val 4965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127589"/>
            <a:ext cx="4959684" cy="1917996"/>
          </a:xfrm>
          <a:prstGeom prst="roundRect">
            <a:avLst>
              <a:gd name="adj" fmla="val 4965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86615" y="4875781"/>
            <a:ext cx="4507249" cy="88740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Mantener ciertos datos on- prem por ley y usar la nube para desarrollo, análisis de Big Data o aplicaciones de cara al cliente.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092691" y="3771191"/>
            <a:ext cx="857016" cy="330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5400000">
            <a:off x="861438" y="4077119"/>
            <a:ext cx="69495" cy="47157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16200000" flipH="1">
            <a:off x="4933480" y="5223299"/>
            <a:ext cx="80580" cy="128503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86617" y="4384193"/>
            <a:ext cx="4507249" cy="49158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Industrias Reguladas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238499" y="295321"/>
            <a:ext cx="11953501" cy="720000"/>
          </a:xfrm>
          <a:custGeom>
            <a:avLst/>
            <a:gdLst>
              <a:gd name="connsiteX0" fmla="*/ 499816 w 11953501"/>
              <a:gd name="connsiteY0" fmla="*/ 0 h 720000"/>
              <a:gd name="connsiteX1" fmla="*/ 11953501 w 11953501"/>
              <a:gd name="connsiteY1" fmla="*/ 0 h 720000"/>
              <a:gd name="connsiteX2" fmla="*/ 11953501 w 11953501"/>
              <a:gd name="connsiteY2" fmla="*/ 720000 h 720000"/>
              <a:gd name="connsiteX3" fmla="*/ 499816 w 11953501"/>
              <a:gd name="connsiteY3" fmla="*/ 720000 h 720000"/>
              <a:gd name="connsiteX4" fmla="*/ 0 w 11953501"/>
              <a:gd name="connsiteY4" fmla="*/ 360000 h 720000"/>
              <a:gd name="connsiteX5" fmla="*/ 499816 w 11953501"/>
              <a:gd name="connsiteY5" fmla="*/ 0 h 720000"/>
            </a:gdLst>
            <a:ahLst/>
            <a:cxnLst/>
            <a:rect l="l" t="t" r="r" b="b"/>
            <a:pathLst>
              <a:path w="11953501" h="720000">
                <a:moveTo>
                  <a:pt x="499816" y="0"/>
                </a:moveTo>
                <a:lnTo>
                  <a:pt x="11953501" y="0"/>
                </a:lnTo>
                <a:lnTo>
                  <a:pt x="11953501" y="720000"/>
                </a:lnTo>
                <a:lnTo>
                  <a:pt x="499816" y="720000"/>
                </a:lnTo>
                <a:cubicBezTo>
                  <a:pt x="223775" y="720000"/>
                  <a:pt x="0" y="558823"/>
                  <a:pt x="0" y="360000"/>
                </a:cubicBezTo>
                <a:cubicBezTo>
                  <a:pt x="0" y="161177"/>
                  <a:pt x="223775" y="0"/>
                  <a:pt x="4998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0" y="259321"/>
            <a:ext cx="1152000" cy="792000"/>
          </a:xfrm>
          <a:custGeom>
            <a:avLst/>
            <a:gdLst>
              <a:gd name="connsiteX0" fmla="*/ 0 w 1152000"/>
              <a:gd name="connsiteY0" fmla="*/ 0 h 792000"/>
              <a:gd name="connsiteX1" fmla="*/ 112665 w 1152000"/>
              <a:gd name="connsiteY1" fmla="*/ 0 h 792000"/>
              <a:gd name="connsiteX2" fmla="*/ 701664 w 1152000"/>
              <a:gd name="connsiteY2" fmla="*/ 0 h 792000"/>
              <a:gd name="connsiteX3" fmla="*/ 1039165 w 1152000"/>
              <a:gd name="connsiteY3" fmla="*/ 0 h 792000"/>
              <a:gd name="connsiteX4" fmla="*/ 1137940 w 1152000"/>
              <a:gd name="connsiteY4" fmla="*/ 168829 h 792000"/>
              <a:gd name="connsiteX5" fmla="*/ 831619 w 1152000"/>
              <a:gd name="connsiteY5" fmla="*/ 732899 h 792000"/>
              <a:gd name="connsiteX6" fmla="*/ 732844 w 1152000"/>
              <a:gd name="connsiteY6" fmla="*/ 792000 h 792000"/>
              <a:gd name="connsiteX7" fmla="*/ 395343 w 1152000"/>
              <a:gd name="connsiteY7" fmla="*/ 792000 h 792000"/>
              <a:gd name="connsiteX8" fmla="*/ 112665 w 1152000"/>
              <a:gd name="connsiteY8" fmla="*/ 792000 h 792000"/>
              <a:gd name="connsiteX9" fmla="*/ 112574 w 1152000"/>
              <a:gd name="connsiteY9" fmla="*/ 792000 h 792000"/>
              <a:gd name="connsiteX10" fmla="*/ 0 w 1152000"/>
              <a:gd name="connsiteY10" fmla="*/ 792000 h 792000"/>
            </a:gdLst>
            <a:ahLst/>
            <a:cxnLst/>
            <a:rect l="l" t="t" r="r" b="b"/>
            <a:pathLst>
              <a:path w="1152000" h="792000">
                <a:moveTo>
                  <a:pt x="0" y="0"/>
                </a:moveTo>
                <a:lnTo>
                  <a:pt x="112665" y="0"/>
                </a:lnTo>
                <a:lnTo>
                  <a:pt x="701664" y="0"/>
                </a:lnTo>
                <a:lnTo>
                  <a:pt x="1039165" y="0"/>
                </a:lnTo>
                <a:cubicBezTo>
                  <a:pt x="1124825" y="0"/>
                  <a:pt x="1179154" y="92830"/>
                  <a:pt x="1137940" y="168829"/>
                </a:cubicBezTo>
                <a:lnTo>
                  <a:pt x="831619" y="732899"/>
                </a:lnTo>
                <a:cubicBezTo>
                  <a:pt x="811825" y="769348"/>
                  <a:pt x="773968" y="792000"/>
                  <a:pt x="732844" y="792000"/>
                </a:cubicBezTo>
                <a:lnTo>
                  <a:pt x="395343" y="792000"/>
                </a:lnTo>
                <a:lnTo>
                  <a:pt x="112665" y="792000"/>
                </a:lnTo>
                <a:cubicBezTo>
                  <a:pt x="112635" y="792000"/>
                  <a:pt x="112604" y="792000"/>
                  <a:pt x="112574" y="792000"/>
                </a:cubicBezTo>
                <a:lnTo>
                  <a:pt x="0" y="792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317500" dist="190500" algn="tl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324204" y="418055"/>
            <a:ext cx="1029629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Casos de Uso Ideales</a:t>
            </a:r>
            <a:endParaRPr kumimoji="1" lang="zh-CN" altLang="en-US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BFAD24AD-9D4F-D97F-BB83-D461608A0E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Tendencias Actuales y Futuras</a:t>
            </a:r>
            <a:endParaRPr kumimoji="1" lang="zh-CN" alt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1FD5EAC-77A6-B391-60C8-2671B45FE5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486B15-0F89-423C-B113-49925D75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12" y="2271692"/>
            <a:ext cx="4914373" cy="3511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611843" y="1495359"/>
            <a:ext cx="4273682" cy="4273682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>
            <a:off x="3555608" y="2211213"/>
            <a:ext cx="386154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</p:cxnSp>
      <p:sp>
        <p:nvSpPr>
          <p:cNvPr id="5" name="标题 1"/>
          <p:cNvSpPr txBox="1"/>
          <p:nvPr/>
        </p:nvSpPr>
        <p:spPr>
          <a:xfrm>
            <a:off x="2175475" y="2356730"/>
            <a:ext cx="3146419" cy="81756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Innovaciones Tecnológicas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213625" y="3347540"/>
            <a:ext cx="3070120" cy="14079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66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innovaciones en nubes híbridas están redefiniendo la forma en que se manejan los datos, permitiendo una integración más fluida entre servicios locales y en la nube, optimizando la seguridad y escalabilidad.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V="1">
            <a:off x="6293775" y="1495359"/>
            <a:ext cx="4273682" cy="4273682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8237540" y="2211213"/>
            <a:ext cx="386154" cy="0"/>
          </a:xfrm>
          <a:prstGeom prst="line">
            <a:avLst/>
          </a:prstGeom>
          <a:noFill/>
          <a:ln w="12700" cap="rnd">
            <a:solidFill>
              <a:schemeClr val="bg1"/>
            </a:solidFill>
            <a:round/>
          </a:ln>
        </p:spPr>
      </p:cxnSp>
      <p:sp>
        <p:nvSpPr>
          <p:cNvPr id="9" name="标题 1"/>
          <p:cNvSpPr txBox="1"/>
          <p:nvPr/>
        </p:nvSpPr>
        <p:spPr>
          <a:xfrm>
            <a:off x="6857407" y="2356730"/>
            <a:ext cx="3146419" cy="81756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Predicciones Futuras en la Industria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7409" y="3347540"/>
            <a:ext cx="3146418" cy="14079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66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 espera que la industria de la nube híbrida continúe evolucionando, con un enfoque en la inteligencia artificial y el análisis de datos, lo que transformará aún más las operaciones empresariales y educativas.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Tendencias en Nubes Híbridas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181207" y="478327"/>
            <a:ext cx="487890" cy="326886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143292" y="321458"/>
            <a:ext cx="264371" cy="17712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512221" y="435582"/>
            <a:ext cx="177460" cy="118899"/>
          </a:xfrm>
          <a:prstGeom prst="flowChartDecisi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978A94-F993-BED4-BDCC-0BF2C9102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2047485" y="1629282"/>
            <a:ext cx="2915429" cy="2345818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2061702" y="1644784"/>
            <a:ext cx="2901196" cy="2335568"/>
          </a:xfrm>
          <a:prstGeom prst="roundRect">
            <a:avLst>
              <a:gd name="adj" fmla="val 1055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5000">
                <a:schemeClr val="accent1">
                  <a:lumMod val="75000"/>
                  <a:alpha val="0"/>
                </a:schemeClr>
              </a:gs>
              <a:gs pos="7800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229085" y="1596438"/>
            <a:ext cx="2877329" cy="2315162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7223503" y="1644784"/>
            <a:ext cx="2901196" cy="2335568"/>
          </a:xfrm>
          <a:prstGeom prst="roundRect">
            <a:avLst>
              <a:gd name="adj" fmla="val 1055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5000">
                <a:schemeClr val="accent1">
                  <a:lumMod val="75000"/>
                  <a:alpha val="0"/>
                </a:schemeClr>
              </a:gs>
              <a:gs pos="7800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001224" y="3020476"/>
            <a:ext cx="3020120" cy="801564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Ejemplos de empresas que usan la nube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51284" y="4182751"/>
            <a:ext cx="432000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Muchas empresas, como Google y Amazon, utilizan soluciones de computación en la nube para mejorar su capacidad de almacenamiento y ofrecer servicios a escala global.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157956" y="3020476"/>
            <a:ext cx="3020120" cy="801564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Impacto en la productividad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08016" y="4182751"/>
            <a:ext cx="432000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adopción de la nube permite a las empresas optimizar sus procesos, facilitando el acceso a datos en tiempo real y fomentando la colaboración entre equipos.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400" y="41613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Aplicaciones en el sector empresarial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473E2C-9D7C-C54D-036C-D580763BD9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47332" y="1415272"/>
            <a:ext cx="4320000" cy="443385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88900" sx="99000" sy="99000" algn="ctr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47332" y="1415271"/>
            <a:ext cx="4320000" cy="98532"/>
          </a:xfrm>
          <a:prstGeom prst="rect">
            <a:avLst/>
          </a:prstGeom>
          <a:gradFill>
            <a:gsLst>
              <a:gs pos="0">
                <a:schemeClr val="accent1"/>
              </a:gs>
              <a:gs pos="98000">
                <a:schemeClr val="accent1">
                  <a:lumMod val="75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707332" y="2702895"/>
            <a:ext cx="3600000" cy="7200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Inteligencia Artificial y su relación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707332" y="3741579"/>
            <a:ext cx="3600000" cy="17310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inteligencia artificial está revolucionando la forma en que se analizan los datos y se toman decisiones, mejorando la eficiencia en diversas áreas comerciales.</a:t>
            </a:r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3315881" y="3546006"/>
            <a:ext cx="382905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6511968" y="1415272"/>
            <a:ext cx="4320000" cy="443385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88900" sx="99000" sy="99000" algn="ctr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511968" y="1415271"/>
            <a:ext cx="4320000" cy="98532"/>
          </a:xfrm>
          <a:prstGeom prst="rect">
            <a:avLst/>
          </a:prstGeom>
          <a:gradFill>
            <a:gsLst>
              <a:gs pos="0">
                <a:schemeClr val="accent1"/>
              </a:gs>
              <a:gs pos="98000">
                <a:schemeClr val="accent1">
                  <a:lumMod val="75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871967" y="2702895"/>
            <a:ext cx="3600000" cy="7200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Internet de las Cosas (IoT)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71967" y="3741579"/>
            <a:ext cx="3600000" cy="17310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IoT conecta dispositivos a internet, permitiendo la recopilación de datos masivos que se utilizan para mejorar la operatividad y los servicios ofrecidos a los clientes.</a:t>
            </a: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>
            <a:off x="8480516" y="3546006"/>
            <a:ext cx="382905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miter/>
          </a:ln>
        </p:spPr>
      </p:cxnSp>
      <p:sp>
        <p:nvSpPr>
          <p:cNvPr id="12" name="标题 1"/>
          <p:cNvSpPr txBox="1"/>
          <p:nvPr/>
        </p:nvSpPr>
        <p:spPr>
          <a:xfrm>
            <a:off x="3174997" y="1880897"/>
            <a:ext cx="664672" cy="720001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 flipV="1">
            <a:off x="8299965" y="1880897"/>
            <a:ext cx="744004" cy="720001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0400" y="416133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Innovaciones tecnológicas</a:t>
            </a:r>
            <a:endParaRPr kumimoji="1" lang="zh-CN" alt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5B11E27-CC5D-5F32-A220-BBBF443267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95323" y="1988777"/>
            <a:ext cx="138025" cy="121118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5000"/>
                  <a:lumOff val="25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33348" y="1988777"/>
            <a:ext cx="5949416" cy="12111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83412" y="2032786"/>
            <a:ext cx="572218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Predicciones de mercado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83412" y="2410804"/>
            <a:ext cx="5718738" cy="9242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16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 espera que el mercado de centros de cómputo crezca exponencialmente, impulsado por la demanda de soluciones de procesamiento de datos cada vez más sofisticadas.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95323" y="3826466"/>
            <a:ext cx="138025" cy="121118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75000"/>
                  <a:lumOff val="25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33348" y="3826466"/>
            <a:ext cx="5949416" cy="12111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83412" y="3870475"/>
            <a:ext cx="5722188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Nuevas tendencias emergentes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83412" y="4248493"/>
            <a:ext cx="5718738" cy="9242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16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Las tendencias como la virtualización y la sostenibilidad están ganando impulso, modificando la forma en que se diseñan y operan los centros de cómputo en el futuro.</a:t>
            </a:r>
            <a:endParaRPr kumimoji="1" lang="zh-CN" altLang="en-US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alphaModFix/>
          </a:blip>
          <a:srcRect l="28045" t="4302" r="15819" b="7101"/>
          <a:stretch>
            <a:fillRect/>
          </a:stretch>
        </p:blipFill>
        <p:spPr>
          <a:xfrm>
            <a:off x="7177148" y="1432185"/>
            <a:ext cx="4301080" cy="4197449"/>
          </a:xfrm>
          <a:custGeom>
            <a:avLst/>
            <a:gdLst/>
            <a:ahLst/>
            <a:cxnLst/>
            <a:rect l="l" t="t" r="r" b="b"/>
            <a:pathLst>
              <a:path w="4301080" h="4197449">
                <a:moveTo>
                  <a:pt x="0" y="0"/>
                </a:moveTo>
                <a:lnTo>
                  <a:pt x="4301080" y="0"/>
                </a:lnTo>
                <a:lnTo>
                  <a:pt x="4301080" y="4197449"/>
                </a:lnTo>
                <a:lnTo>
                  <a:pt x="0" y="419744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" name="标题 1"/>
          <p:cNvSpPr txBox="1"/>
          <p:nvPr/>
        </p:nvSpPr>
        <p:spPr>
          <a:xfrm>
            <a:off x="660400" y="416133"/>
            <a:ext cx="762819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Futuro de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los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centros</a:t>
            </a: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3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endParaRPr kumimoji="1" lang="zh-CN" altLang="en-U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B57501B-3003-7C91-A7AF-1501C39513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4401" y="4646065"/>
            <a:ext cx="69723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1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 JOSE FRANCO LAMILLA</a:t>
            </a:r>
            <a:endParaRPr kumimoji="1" lang="zh-CN" altLang="en-US" dirty="0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F8BD50B-BA7D-F005-3B58-1AC61164C5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C53645"/>
      </a:accent1>
      <a:accent2>
        <a:srgbClr val="30556B"/>
      </a:accent2>
      <a:accent3>
        <a:srgbClr val="095CB6"/>
      </a:accent3>
      <a:accent4>
        <a:srgbClr val="487ED7"/>
      </a:accent4>
      <a:accent5>
        <a:srgbClr val="909090"/>
      </a:accent5>
      <a:accent6>
        <a:srgbClr val="BEBEB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2422</Words>
  <Application>Microsoft Office PowerPoint</Application>
  <PresentationFormat>Panorámica</PresentationFormat>
  <Paragraphs>195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Poppins</vt:lpstr>
      <vt:lpstr>poppins-bold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8</cp:revision>
  <dcterms:modified xsi:type="dcterms:W3CDTF">2025-09-25T20:03:49Z</dcterms:modified>
</cp:coreProperties>
</file>
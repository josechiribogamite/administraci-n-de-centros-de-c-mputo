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embeddedFontLst>
    <p:embeddedFont>
      <p:font typeface="Poppins" panose="00000500000000000000" pitchFamily="2" charset="0"/>
      <p:regular r:id="rId21"/>
      <p:bold r:id="rId22"/>
      <p:italic r:id="rId23"/>
    </p:embeddedFont>
    <p:embeddedFont>
      <p:font typeface="poppins-bold" panose="020B0604020202020204" charset="0"/>
      <p:regular r:id="rId24"/>
    </p:embeddedFont>
  </p:embeddedFontLst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914399" y="1200625"/>
            <a:ext cx="8748461" cy="2881022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4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Políticas de Respaldo y Recuperación ante Desastres</a:t>
            </a:r>
            <a:endParaRPr kumimoji="1" lang="zh-CN" altLang="en-US"/>
          </a:p>
        </p:txBody>
      </p:sp>
      <p:cxnSp>
        <p:nvCxnSpPr>
          <p:cNvPr id="8" name="标题 1"/>
          <p:cNvCxnSpPr/>
          <p:nvPr/>
        </p:nvCxnSpPr>
        <p:spPr>
          <a:xfrm>
            <a:off x="1065856" y="773905"/>
            <a:ext cx="0" cy="254795"/>
          </a:xfrm>
          <a:prstGeom prst="line">
            <a:avLst/>
          </a:prstGeom>
          <a:noFill/>
          <a:ln w="12700" cap="sq">
            <a:solidFill>
              <a:schemeClr val="tx1">
                <a:lumMod val="85000"/>
                <a:lumOff val="15000"/>
              </a:schemeClr>
            </a:solidFill>
            <a:miter/>
          </a:ln>
        </p:spPr>
      </p:cxnSp>
      <p:cxnSp>
        <p:nvCxnSpPr>
          <p:cNvPr id="9" name="标题 1"/>
          <p:cNvCxnSpPr/>
          <p:nvPr/>
        </p:nvCxnSpPr>
        <p:spPr>
          <a:xfrm>
            <a:off x="1621972" y="773905"/>
            <a:ext cx="0" cy="254795"/>
          </a:xfrm>
          <a:prstGeom prst="line">
            <a:avLst/>
          </a:prstGeom>
          <a:noFill/>
          <a:ln w="12700" cap="sq">
            <a:solidFill>
              <a:schemeClr val="tx1">
                <a:lumMod val="85000"/>
                <a:lumOff val="15000"/>
              </a:schemeClr>
            </a:solidFill>
            <a:miter/>
          </a:ln>
        </p:spPr>
      </p:cxnSp>
      <p:sp>
        <p:nvSpPr>
          <p:cNvPr id="10" name="标题 1"/>
          <p:cNvSpPr txBox="1"/>
          <p:nvPr/>
        </p:nvSpPr>
        <p:spPr>
          <a:xfrm>
            <a:off x="660400" y="773905"/>
            <a:ext cx="254795" cy="254795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216516" y="781228"/>
            <a:ext cx="254795" cy="240150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ahLst/>
            <a:cxnLst/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772651" y="773905"/>
            <a:ext cx="254757" cy="254795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0" y="0"/>
            <a:ext cx="482600" cy="6870700"/>
          </a:xfrm>
          <a:prstGeom prst="rect">
            <a:avLst/>
          </a:prstGeom>
          <a:solidFill>
            <a:srgbClr val="C53645">
              <a:alpha val="100000"/>
            </a:srgbClr>
          </a:solidFill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057854A-AB86-D935-F228-8007A0894F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4381173" y="1162104"/>
            <a:ext cx="396000" cy="360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400">
                <a:ln w="12700">
                  <a:noFill/>
                </a:ln>
                <a:solidFill>
                  <a:srgbClr val="C53645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1.</a:t>
            </a: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4791038" y="1130300"/>
            <a:ext cx="6727861" cy="86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0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Estrategias de Backup</a:t>
            </a: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791038" y="2359672"/>
            <a:ext cx="6727861" cy="86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0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Planes de Continuidad de Negocio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4381173" y="2391477"/>
            <a:ext cx="396000" cy="360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400">
                <a:ln w="12700">
                  <a:noFill/>
                </a:ln>
                <a:solidFill>
                  <a:srgbClr val="C53645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2.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4791038" y="3589045"/>
            <a:ext cx="6727861" cy="86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0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Recuperación de Datos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4381173" y="3620850"/>
            <a:ext cx="396000" cy="360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400">
                <a:ln w="12700">
                  <a:noFill/>
                </a:ln>
                <a:solidFill>
                  <a:srgbClr val="C53645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3.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4791038" y="4818418"/>
            <a:ext cx="6727861" cy="86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0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Servicios Post-Desastre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4381173" y="4850223"/>
            <a:ext cx="396000" cy="360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400">
                <a:ln w="12700">
                  <a:noFill/>
                </a:ln>
                <a:solidFill>
                  <a:srgbClr val="C53645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4.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1" y="0"/>
            <a:ext cx="3622655" cy="6858000"/>
          </a:xfrm>
          <a:prstGeom prst="rect">
            <a:avLst/>
          </a:pr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222333" y="2422340"/>
            <a:ext cx="3400323" cy="738664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40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CONTENIDO</a:t>
            </a:r>
            <a:endParaRPr kumimoji="1" lang="zh-CN" altLang="en-US" dirty="0"/>
          </a:p>
        </p:txBody>
      </p:sp>
      <p:sp>
        <p:nvSpPr>
          <p:cNvPr id="12" name="标题 1"/>
          <p:cNvSpPr txBox="1"/>
          <p:nvPr/>
        </p:nvSpPr>
        <p:spPr>
          <a:xfrm>
            <a:off x="673100" y="1745024"/>
            <a:ext cx="648000" cy="36000"/>
          </a:xfrm>
          <a:prstGeom prst="rect">
            <a:avLst/>
          </a:prstGeom>
          <a:solidFill>
            <a:schemeClr val="bg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54A93F08-385F-8115-9980-BBEC791A11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5605670" y="1831259"/>
            <a:ext cx="1755485" cy="1117115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8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01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5605670" y="3309275"/>
            <a:ext cx="5911783" cy="2020369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Estrategias de Backup</a:t>
            </a:r>
            <a:endParaRPr kumimoji="1" lang="zh-CN" altLang="en-U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5E5F555-D824-DF5C-362E-8EE8F60AAA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840400" y="1028700"/>
            <a:ext cx="2880000" cy="2880000"/>
          </a:xfrm>
          <a:prstGeom prst="ellipse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989011" y="1034360"/>
            <a:ext cx="2582779" cy="2582779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alphaModFix/>
          </a:blip>
          <a:srcRect l="18723" t="3190" r="22584" b="8761"/>
          <a:stretch>
            <a:fillRect/>
          </a:stretch>
        </p:blipFill>
        <p:spPr>
          <a:xfrm>
            <a:off x="1074072" y="1057420"/>
            <a:ext cx="2435058" cy="2435058"/>
          </a:xfrm>
          <a:custGeom>
            <a:avLst/>
            <a:gdLst/>
            <a:ahLst/>
            <a:cxnLst/>
            <a:rect l="l" t="t" r="r" b="b"/>
            <a:pathLst>
              <a:path w="2435058" h="2435058">
                <a:moveTo>
                  <a:pt x="1217529" y="0"/>
                </a:moveTo>
                <a:cubicBezTo>
                  <a:pt x="1889952" y="0"/>
                  <a:pt x="2435058" y="545106"/>
                  <a:pt x="2435058" y="1217529"/>
                </a:cubicBezTo>
                <a:cubicBezTo>
                  <a:pt x="2435058" y="1889952"/>
                  <a:pt x="1889952" y="2435058"/>
                  <a:pt x="1217529" y="2435058"/>
                </a:cubicBezTo>
                <a:cubicBezTo>
                  <a:pt x="545106" y="2435058"/>
                  <a:pt x="0" y="1889952"/>
                  <a:pt x="0" y="1217529"/>
                </a:cubicBezTo>
                <a:cubicBezTo>
                  <a:pt x="0" y="545106"/>
                  <a:pt x="545106" y="0"/>
                  <a:pt x="1217529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5" name="标题 1"/>
          <p:cNvSpPr txBox="1"/>
          <p:nvPr/>
        </p:nvSpPr>
        <p:spPr>
          <a:xfrm>
            <a:off x="660400" y="4850317"/>
            <a:ext cx="3240000" cy="145891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172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Un backup completo implica copiar todos los datos de un sistema en un solo proceso, proporcionando una restauración rápida pero puede requerir mucho espacio de almacenamiento.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2700000">
            <a:off x="2023727" y="3566967"/>
            <a:ext cx="513347" cy="513347"/>
          </a:xfrm>
          <a:prstGeom prst="roundRect">
            <a:avLst>
              <a:gd name="adj" fmla="val 10417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2105608" y="3670615"/>
            <a:ext cx="349584" cy="306050"/>
          </a:xfrm>
          <a:custGeom>
            <a:avLst/>
            <a:gdLst>
              <a:gd name="connsiteX0" fmla="*/ 411292 w 822400"/>
              <a:gd name="connsiteY0" fmla="*/ 234366 h 720000"/>
              <a:gd name="connsiteX1" fmla="*/ 285658 w 822400"/>
              <a:gd name="connsiteY1" fmla="*/ 360000 h 720000"/>
              <a:gd name="connsiteX2" fmla="*/ 411292 w 822400"/>
              <a:gd name="connsiteY2" fmla="*/ 485635 h 720000"/>
              <a:gd name="connsiteX3" fmla="*/ 536927 w 822400"/>
              <a:gd name="connsiteY3" fmla="*/ 360000 h 720000"/>
              <a:gd name="connsiteX4" fmla="*/ 411292 w 822400"/>
              <a:gd name="connsiteY4" fmla="*/ 234366 h 720000"/>
              <a:gd name="connsiteX5" fmla="*/ 411292 w 822400"/>
              <a:gd name="connsiteY5" fmla="*/ 178938 h 720000"/>
              <a:gd name="connsiteX6" fmla="*/ 592354 w 822400"/>
              <a:gd name="connsiteY6" fmla="*/ 360000 h 720000"/>
              <a:gd name="connsiteX7" fmla="*/ 411292 w 822400"/>
              <a:gd name="connsiteY7" fmla="*/ 541063 h 720000"/>
              <a:gd name="connsiteX8" fmla="*/ 230230 w 822400"/>
              <a:gd name="connsiteY8" fmla="*/ 360000 h 720000"/>
              <a:gd name="connsiteX9" fmla="*/ 411292 w 822400"/>
              <a:gd name="connsiteY9" fmla="*/ 178938 h 720000"/>
              <a:gd name="connsiteX10" fmla="*/ 235403 w 822400"/>
              <a:gd name="connsiteY10" fmla="*/ 55427 h 720000"/>
              <a:gd name="connsiteX11" fmla="*/ 59514 w 822400"/>
              <a:gd name="connsiteY11" fmla="*/ 360000 h 720000"/>
              <a:gd name="connsiteX12" fmla="*/ 235403 w 822400"/>
              <a:gd name="connsiteY12" fmla="*/ 664573 h 720000"/>
              <a:gd name="connsiteX13" fmla="*/ 587089 w 822400"/>
              <a:gd name="connsiteY13" fmla="*/ 664573 h 720000"/>
              <a:gd name="connsiteX14" fmla="*/ 762978 w 822400"/>
              <a:gd name="connsiteY14" fmla="*/ 360000 h 720000"/>
              <a:gd name="connsiteX15" fmla="*/ 587089 w 822400"/>
              <a:gd name="connsiteY15" fmla="*/ 55427 h 720000"/>
              <a:gd name="connsiteX16" fmla="*/ 219883 w 822400"/>
              <a:gd name="connsiteY16" fmla="*/ 0 h 720000"/>
              <a:gd name="connsiteX17" fmla="*/ 602516 w 822400"/>
              <a:gd name="connsiteY17" fmla="*/ 0 h 720000"/>
              <a:gd name="connsiteX18" fmla="*/ 627274 w 822400"/>
              <a:gd name="connsiteY18" fmla="*/ 14319 h 720000"/>
              <a:gd name="connsiteX19" fmla="*/ 818590 w 822400"/>
              <a:gd name="connsiteY19" fmla="*/ 345682 h 720000"/>
              <a:gd name="connsiteX20" fmla="*/ 818590 w 822400"/>
              <a:gd name="connsiteY20" fmla="*/ 374319 h 720000"/>
              <a:gd name="connsiteX21" fmla="*/ 627366 w 822400"/>
              <a:gd name="connsiteY21" fmla="*/ 705682 h 720000"/>
              <a:gd name="connsiteX22" fmla="*/ 602608 w 822400"/>
              <a:gd name="connsiteY22" fmla="*/ 720000 h 720000"/>
              <a:gd name="connsiteX23" fmla="*/ 219976 w 822400"/>
              <a:gd name="connsiteY23" fmla="*/ 720000 h 720000"/>
              <a:gd name="connsiteX24" fmla="*/ 195218 w 822400"/>
              <a:gd name="connsiteY24" fmla="*/ 705682 h 720000"/>
              <a:gd name="connsiteX25" fmla="*/ 3810 w 822400"/>
              <a:gd name="connsiteY25" fmla="*/ 374319 h 720000"/>
              <a:gd name="connsiteX26" fmla="*/ 3810 w 822400"/>
              <a:gd name="connsiteY26" fmla="*/ 345682 h 720000"/>
              <a:gd name="connsiteX27" fmla="*/ 195126 w 822400"/>
              <a:gd name="connsiteY27" fmla="*/ 14319 h 720000"/>
              <a:gd name="connsiteX28" fmla="*/ 219883 w 822400"/>
              <a:gd name="connsiteY28" fmla="*/ 0 h 720000"/>
            </a:gdLst>
            <a:ahLst/>
            <a:cxnLst/>
            <a:rect l="l" t="t" r="r" b="b"/>
            <a:pathLst>
              <a:path w="822400" h="720000">
                <a:moveTo>
                  <a:pt x="411292" y="234366"/>
                </a:moveTo>
                <a:cubicBezTo>
                  <a:pt x="342008" y="234366"/>
                  <a:pt x="285658" y="290716"/>
                  <a:pt x="285658" y="360000"/>
                </a:cubicBezTo>
                <a:cubicBezTo>
                  <a:pt x="285658" y="429284"/>
                  <a:pt x="342008" y="485635"/>
                  <a:pt x="411292" y="485635"/>
                </a:cubicBezTo>
                <a:cubicBezTo>
                  <a:pt x="480576" y="485635"/>
                  <a:pt x="536927" y="429284"/>
                  <a:pt x="536927" y="360000"/>
                </a:cubicBezTo>
                <a:cubicBezTo>
                  <a:pt x="536927" y="290716"/>
                  <a:pt x="480576" y="234366"/>
                  <a:pt x="411292" y="234366"/>
                </a:cubicBezTo>
                <a:close/>
                <a:moveTo>
                  <a:pt x="411292" y="178938"/>
                </a:moveTo>
                <a:cubicBezTo>
                  <a:pt x="511153" y="178938"/>
                  <a:pt x="592354" y="260139"/>
                  <a:pt x="592354" y="360000"/>
                </a:cubicBezTo>
                <a:cubicBezTo>
                  <a:pt x="592354" y="459861"/>
                  <a:pt x="511153" y="541063"/>
                  <a:pt x="411292" y="541063"/>
                </a:cubicBezTo>
                <a:cubicBezTo>
                  <a:pt x="311431" y="541063"/>
                  <a:pt x="230230" y="459861"/>
                  <a:pt x="230230" y="360000"/>
                </a:cubicBezTo>
                <a:cubicBezTo>
                  <a:pt x="230230" y="260139"/>
                  <a:pt x="311431" y="178938"/>
                  <a:pt x="411292" y="178938"/>
                </a:cubicBezTo>
                <a:close/>
                <a:moveTo>
                  <a:pt x="235403" y="55427"/>
                </a:moveTo>
                <a:lnTo>
                  <a:pt x="59514" y="360000"/>
                </a:lnTo>
                <a:lnTo>
                  <a:pt x="235403" y="664573"/>
                </a:lnTo>
                <a:lnTo>
                  <a:pt x="587089" y="664573"/>
                </a:lnTo>
                <a:lnTo>
                  <a:pt x="762978" y="360000"/>
                </a:lnTo>
                <a:lnTo>
                  <a:pt x="587089" y="55427"/>
                </a:lnTo>
                <a:close/>
                <a:moveTo>
                  <a:pt x="219883" y="0"/>
                </a:moveTo>
                <a:lnTo>
                  <a:pt x="602516" y="0"/>
                </a:lnTo>
                <a:cubicBezTo>
                  <a:pt x="612678" y="0"/>
                  <a:pt x="622193" y="5450"/>
                  <a:pt x="627274" y="14319"/>
                </a:cubicBezTo>
                <a:lnTo>
                  <a:pt x="818590" y="345682"/>
                </a:lnTo>
                <a:cubicBezTo>
                  <a:pt x="823671" y="354550"/>
                  <a:pt x="823671" y="365451"/>
                  <a:pt x="818590" y="374319"/>
                </a:cubicBezTo>
                <a:lnTo>
                  <a:pt x="627366" y="705682"/>
                </a:lnTo>
                <a:cubicBezTo>
                  <a:pt x="622285" y="714550"/>
                  <a:pt x="612770" y="720000"/>
                  <a:pt x="602608" y="720000"/>
                </a:cubicBezTo>
                <a:lnTo>
                  <a:pt x="219976" y="720000"/>
                </a:lnTo>
                <a:cubicBezTo>
                  <a:pt x="209814" y="720000"/>
                  <a:pt x="200299" y="714550"/>
                  <a:pt x="195218" y="705682"/>
                </a:cubicBezTo>
                <a:lnTo>
                  <a:pt x="3810" y="374319"/>
                </a:lnTo>
                <a:cubicBezTo>
                  <a:pt x="-1271" y="365543"/>
                  <a:pt x="-1271" y="354550"/>
                  <a:pt x="3810" y="345682"/>
                </a:cubicBezTo>
                <a:lnTo>
                  <a:pt x="195126" y="14319"/>
                </a:lnTo>
                <a:cubicBezTo>
                  <a:pt x="200207" y="5450"/>
                  <a:pt x="209721" y="0"/>
                  <a:pt x="219883" y="0"/>
                </a:cubicBezTo>
                <a:close/>
              </a:path>
            </a:pathLst>
          </a:custGeom>
          <a:solidFill>
            <a:schemeClr val="accent1"/>
          </a:solidFill>
          <a:ln w="1553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660400" y="4208311"/>
            <a:ext cx="3240000" cy="6480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C53645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Backup completo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4649650" y="1028700"/>
            <a:ext cx="2880000" cy="2880000"/>
          </a:xfrm>
          <a:prstGeom prst="ellipse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4798261" y="1034360"/>
            <a:ext cx="2582779" cy="2582779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4469650" y="4850317"/>
            <a:ext cx="3240000" cy="145891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172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El backup incremental solo copia los cambios realizados desde el último backup, lo que ahorra espacio y tiempo, pero requiere un backup completo inicial para su restauración.</a:t>
            </a:r>
            <a:endParaRPr kumimoji="1" lang="zh-CN" altLang="en-US"/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>
            <a:alphaModFix/>
          </a:blip>
          <a:srcRect l="18723" t="3190" r="22584" b="8761"/>
          <a:stretch>
            <a:fillRect/>
          </a:stretch>
        </p:blipFill>
        <p:spPr>
          <a:xfrm>
            <a:off x="4872122" y="1108220"/>
            <a:ext cx="2435058" cy="2435058"/>
          </a:xfrm>
          <a:custGeom>
            <a:avLst/>
            <a:gdLst/>
            <a:ahLst/>
            <a:cxnLst/>
            <a:rect l="l" t="t" r="r" b="b"/>
            <a:pathLst>
              <a:path w="2435058" h="2435058">
                <a:moveTo>
                  <a:pt x="1217529" y="0"/>
                </a:moveTo>
                <a:cubicBezTo>
                  <a:pt x="1889952" y="0"/>
                  <a:pt x="2435058" y="545106"/>
                  <a:pt x="2435058" y="1217529"/>
                </a:cubicBezTo>
                <a:cubicBezTo>
                  <a:pt x="2435058" y="1889952"/>
                  <a:pt x="1889952" y="2435058"/>
                  <a:pt x="1217529" y="2435058"/>
                </a:cubicBezTo>
                <a:cubicBezTo>
                  <a:pt x="545106" y="2435058"/>
                  <a:pt x="0" y="1889952"/>
                  <a:pt x="0" y="1217529"/>
                </a:cubicBezTo>
                <a:cubicBezTo>
                  <a:pt x="0" y="545106"/>
                  <a:pt x="545106" y="0"/>
                  <a:pt x="1217529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3" name="标题 1"/>
          <p:cNvSpPr txBox="1"/>
          <p:nvPr/>
        </p:nvSpPr>
        <p:spPr>
          <a:xfrm rot="2700000">
            <a:off x="5832977" y="3566967"/>
            <a:ext cx="513347" cy="513347"/>
          </a:xfrm>
          <a:prstGeom prst="roundRect">
            <a:avLst>
              <a:gd name="adj" fmla="val 10417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5914860" y="3665171"/>
            <a:ext cx="349584" cy="316938"/>
          </a:xfrm>
          <a:custGeom>
            <a:avLst/>
            <a:gdLst>
              <a:gd name="connsiteX0" fmla="*/ 351048 w 1543905"/>
              <a:gd name="connsiteY0" fmla="*/ 523317 h 1399728"/>
              <a:gd name="connsiteX1" fmla="*/ 351048 w 1543905"/>
              <a:gd name="connsiteY1" fmla="*/ 523317 h 1399728"/>
              <a:gd name="connsiteX2" fmla="*/ 351420 w 1543905"/>
              <a:gd name="connsiteY2" fmla="*/ 523503 h 1399728"/>
              <a:gd name="connsiteX3" fmla="*/ 351420 w 1543905"/>
              <a:gd name="connsiteY3" fmla="*/ 1020031 h 1399728"/>
              <a:gd name="connsiteX4" fmla="*/ 351048 w 1543905"/>
              <a:gd name="connsiteY4" fmla="*/ 1020403 h 1399728"/>
              <a:gd name="connsiteX5" fmla="*/ 163525 w 1543905"/>
              <a:gd name="connsiteY5" fmla="*/ 1020403 h 1399728"/>
              <a:gd name="connsiteX6" fmla="*/ 163153 w 1543905"/>
              <a:gd name="connsiteY6" fmla="*/ 1020031 h 1399728"/>
              <a:gd name="connsiteX7" fmla="*/ 163153 w 1543905"/>
              <a:gd name="connsiteY7" fmla="*/ 523503 h 1399728"/>
              <a:gd name="connsiteX8" fmla="*/ 163153 w 1543905"/>
              <a:gd name="connsiteY8" fmla="*/ 523317 h 1399728"/>
              <a:gd name="connsiteX9" fmla="*/ 163339 w 1543905"/>
              <a:gd name="connsiteY9" fmla="*/ 523131 h 1399728"/>
              <a:gd name="connsiteX10" fmla="*/ 351048 w 1543905"/>
              <a:gd name="connsiteY10" fmla="*/ 523131 h 1399728"/>
              <a:gd name="connsiteX11" fmla="*/ 351048 w 1543905"/>
              <a:gd name="connsiteY11" fmla="*/ 411696 h 1399728"/>
              <a:gd name="connsiteX12" fmla="*/ 163339 w 1543905"/>
              <a:gd name="connsiteY12" fmla="*/ 411696 h 1399728"/>
              <a:gd name="connsiteX13" fmla="*/ 51346 w 1543905"/>
              <a:gd name="connsiteY13" fmla="*/ 523689 h 1399728"/>
              <a:gd name="connsiteX14" fmla="*/ 51346 w 1543905"/>
              <a:gd name="connsiteY14" fmla="*/ 1020217 h 1399728"/>
              <a:gd name="connsiteX15" fmla="*/ 163339 w 1543905"/>
              <a:gd name="connsiteY15" fmla="*/ 1132210 h 1399728"/>
              <a:gd name="connsiteX16" fmla="*/ 351048 w 1543905"/>
              <a:gd name="connsiteY16" fmla="*/ 1132210 h 1399728"/>
              <a:gd name="connsiteX17" fmla="*/ 463042 w 1543905"/>
              <a:gd name="connsiteY17" fmla="*/ 1020217 h 1399728"/>
              <a:gd name="connsiteX18" fmla="*/ 463042 w 1543905"/>
              <a:gd name="connsiteY18" fmla="*/ 523503 h 1399728"/>
              <a:gd name="connsiteX19" fmla="*/ 351048 w 1543905"/>
              <a:gd name="connsiteY19" fmla="*/ 411696 h 1399728"/>
              <a:gd name="connsiteX20" fmla="*/ 865808 w 1543905"/>
              <a:gd name="connsiteY20" fmla="*/ 111621 h 1399728"/>
              <a:gd name="connsiteX21" fmla="*/ 866180 w 1543905"/>
              <a:gd name="connsiteY21" fmla="*/ 111807 h 1399728"/>
              <a:gd name="connsiteX22" fmla="*/ 866180 w 1543905"/>
              <a:gd name="connsiteY22" fmla="*/ 1020031 h 1399728"/>
              <a:gd name="connsiteX23" fmla="*/ 865808 w 1543905"/>
              <a:gd name="connsiteY23" fmla="*/ 1020403 h 1399728"/>
              <a:gd name="connsiteX24" fmla="*/ 678284 w 1543905"/>
              <a:gd name="connsiteY24" fmla="*/ 1020403 h 1399728"/>
              <a:gd name="connsiteX25" fmla="*/ 677912 w 1543905"/>
              <a:gd name="connsiteY25" fmla="*/ 1020031 h 1399728"/>
              <a:gd name="connsiteX26" fmla="*/ 677912 w 1543905"/>
              <a:gd name="connsiteY26" fmla="*/ 111993 h 1399728"/>
              <a:gd name="connsiteX27" fmla="*/ 677912 w 1543905"/>
              <a:gd name="connsiteY27" fmla="*/ 111807 h 1399728"/>
              <a:gd name="connsiteX28" fmla="*/ 678098 w 1543905"/>
              <a:gd name="connsiteY28" fmla="*/ 111621 h 1399728"/>
              <a:gd name="connsiteX29" fmla="*/ 865808 w 1543905"/>
              <a:gd name="connsiteY29" fmla="*/ 111621 h 1399728"/>
              <a:gd name="connsiteX30" fmla="*/ 865808 w 1543905"/>
              <a:gd name="connsiteY30" fmla="*/ 0 h 1399728"/>
              <a:gd name="connsiteX31" fmla="*/ 677912 w 1543905"/>
              <a:gd name="connsiteY31" fmla="*/ 0 h 1399728"/>
              <a:gd name="connsiteX32" fmla="*/ 565919 w 1543905"/>
              <a:gd name="connsiteY32" fmla="*/ 111993 h 1399728"/>
              <a:gd name="connsiteX33" fmla="*/ 565919 w 1543905"/>
              <a:gd name="connsiteY33" fmla="*/ 1020217 h 1399728"/>
              <a:gd name="connsiteX34" fmla="*/ 677912 w 1543905"/>
              <a:gd name="connsiteY34" fmla="*/ 1132210 h 1399728"/>
              <a:gd name="connsiteX35" fmla="*/ 865622 w 1543905"/>
              <a:gd name="connsiteY35" fmla="*/ 1132210 h 1399728"/>
              <a:gd name="connsiteX36" fmla="*/ 977615 w 1543905"/>
              <a:gd name="connsiteY36" fmla="*/ 1020217 h 1399728"/>
              <a:gd name="connsiteX37" fmla="*/ 977615 w 1543905"/>
              <a:gd name="connsiteY37" fmla="*/ 111993 h 1399728"/>
              <a:gd name="connsiteX38" fmla="*/ 865808 w 1543905"/>
              <a:gd name="connsiteY38" fmla="*/ 0 h 1399728"/>
              <a:gd name="connsiteX39" fmla="*/ 1380381 w 1543905"/>
              <a:gd name="connsiteY39" fmla="*/ 729072 h 1399728"/>
              <a:gd name="connsiteX40" fmla="*/ 1380753 w 1543905"/>
              <a:gd name="connsiteY40" fmla="*/ 729258 h 1399728"/>
              <a:gd name="connsiteX41" fmla="*/ 1380753 w 1543905"/>
              <a:gd name="connsiteY41" fmla="*/ 1020031 h 1399728"/>
              <a:gd name="connsiteX42" fmla="*/ 1380381 w 1543905"/>
              <a:gd name="connsiteY42" fmla="*/ 1020403 h 1399728"/>
              <a:gd name="connsiteX43" fmla="*/ 1192858 w 1543905"/>
              <a:gd name="connsiteY43" fmla="*/ 1020403 h 1399728"/>
              <a:gd name="connsiteX44" fmla="*/ 1192485 w 1543905"/>
              <a:gd name="connsiteY44" fmla="*/ 1020031 h 1399728"/>
              <a:gd name="connsiteX45" fmla="*/ 1192485 w 1543905"/>
              <a:gd name="connsiteY45" fmla="*/ 729444 h 1399728"/>
              <a:gd name="connsiteX46" fmla="*/ 1192485 w 1543905"/>
              <a:gd name="connsiteY46" fmla="*/ 729258 h 1399728"/>
              <a:gd name="connsiteX47" fmla="*/ 1192671 w 1543905"/>
              <a:gd name="connsiteY47" fmla="*/ 729072 h 1399728"/>
              <a:gd name="connsiteX48" fmla="*/ 1380381 w 1543905"/>
              <a:gd name="connsiteY48" fmla="*/ 729072 h 1399728"/>
              <a:gd name="connsiteX49" fmla="*/ 1380381 w 1543905"/>
              <a:gd name="connsiteY49" fmla="*/ 617451 h 1399728"/>
              <a:gd name="connsiteX50" fmla="*/ 1192671 w 1543905"/>
              <a:gd name="connsiteY50" fmla="*/ 617451 h 1399728"/>
              <a:gd name="connsiteX51" fmla="*/ 1080678 w 1543905"/>
              <a:gd name="connsiteY51" fmla="*/ 729444 h 1399728"/>
              <a:gd name="connsiteX52" fmla="*/ 1080678 w 1543905"/>
              <a:gd name="connsiteY52" fmla="*/ 1020031 h 1399728"/>
              <a:gd name="connsiteX53" fmla="*/ 1192671 w 1543905"/>
              <a:gd name="connsiteY53" fmla="*/ 1132024 h 1399728"/>
              <a:gd name="connsiteX54" fmla="*/ 1380381 w 1543905"/>
              <a:gd name="connsiteY54" fmla="*/ 1132024 h 1399728"/>
              <a:gd name="connsiteX55" fmla="*/ 1492374 w 1543905"/>
              <a:gd name="connsiteY55" fmla="*/ 1020031 h 1399728"/>
              <a:gd name="connsiteX56" fmla="*/ 1492374 w 1543905"/>
              <a:gd name="connsiteY56" fmla="*/ 729444 h 1399728"/>
              <a:gd name="connsiteX57" fmla="*/ 1380381 w 1543905"/>
              <a:gd name="connsiteY57" fmla="*/ 617451 h 1399728"/>
              <a:gd name="connsiteX58" fmla="*/ 1481956 w 1543905"/>
              <a:gd name="connsiteY58" fmla="*/ 1276201 h 1399728"/>
              <a:gd name="connsiteX59" fmla="*/ 61764 w 1543905"/>
              <a:gd name="connsiteY59" fmla="*/ 1276201 h 1399728"/>
              <a:gd name="connsiteX60" fmla="*/ 0 w 1543905"/>
              <a:gd name="connsiteY60" fmla="*/ 1337965 h 1399728"/>
              <a:gd name="connsiteX61" fmla="*/ 61764 w 1543905"/>
              <a:gd name="connsiteY61" fmla="*/ 1399729 h 1399728"/>
              <a:gd name="connsiteX62" fmla="*/ 1482142 w 1543905"/>
              <a:gd name="connsiteY62" fmla="*/ 1399729 h 1399728"/>
              <a:gd name="connsiteX63" fmla="*/ 1543906 w 1543905"/>
              <a:gd name="connsiteY63" fmla="*/ 1337965 h 1399728"/>
              <a:gd name="connsiteX64" fmla="*/ 1481956 w 1543905"/>
              <a:gd name="connsiteY64" fmla="*/ 1276201 h 1399728"/>
            </a:gdLst>
            <a:ahLst/>
            <a:cxnLst/>
            <a:rect l="l" t="t" r="r" b="b"/>
            <a:pathLst>
              <a:path w="1543905" h="1399728">
                <a:moveTo>
                  <a:pt x="351048" y="523317"/>
                </a:moveTo>
                <a:cubicBezTo>
                  <a:pt x="351234" y="523317"/>
                  <a:pt x="351234" y="523317"/>
                  <a:pt x="351048" y="523317"/>
                </a:cubicBezTo>
                <a:cubicBezTo>
                  <a:pt x="351234" y="523317"/>
                  <a:pt x="351420" y="523503"/>
                  <a:pt x="351420" y="523503"/>
                </a:cubicBezTo>
                <a:lnTo>
                  <a:pt x="351420" y="1020031"/>
                </a:lnTo>
                <a:lnTo>
                  <a:pt x="351048" y="1020403"/>
                </a:lnTo>
                <a:lnTo>
                  <a:pt x="163525" y="1020403"/>
                </a:lnTo>
                <a:lnTo>
                  <a:pt x="163153" y="1020031"/>
                </a:lnTo>
                <a:lnTo>
                  <a:pt x="163153" y="523503"/>
                </a:lnTo>
                <a:lnTo>
                  <a:pt x="163153" y="523317"/>
                </a:lnTo>
                <a:lnTo>
                  <a:pt x="163339" y="523131"/>
                </a:lnTo>
                <a:lnTo>
                  <a:pt x="351048" y="523131"/>
                </a:lnTo>
                <a:moveTo>
                  <a:pt x="351048" y="411696"/>
                </a:moveTo>
                <a:lnTo>
                  <a:pt x="163339" y="411696"/>
                </a:lnTo>
                <a:cubicBezTo>
                  <a:pt x="101575" y="411696"/>
                  <a:pt x="51346" y="461739"/>
                  <a:pt x="51346" y="523689"/>
                </a:cubicBezTo>
                <a:lnTo>
                  <a:pt x="51346" y="1020217"/>
                </a:lnTo>
                <a:cubicBezTo>
                  <a:pt x="51346" y="1081795"/>
                  <a:pt x="101761" y="1132210"/>
                  <a:pt x="163339" y="1132210"/>
                </a:cubicBezTo>
                <a:lnTo>
                  <a:pt x="351048" y="1132210"/>
                </a:lnTo>
                <a:cubicBezTo>
                  <a:pt x="412626" y="1132210"/>
                  <a:pt x="463042" y="1081795"/>
                  <a:pt x="463042" y="1020217"/>
                </a:cubicBezTo>
                <a:lnTo>
                  <a:pt x="463042" y="523503"/>
                </a:lnTo>
                <a:cubicBezTo>
                  <a:pt x="463042" y="461739"/>
                  <a:pt x="412998" y="411696"/>
                  <a:pt x="351048" y="411696"/>
                </a:cubicBezTo>
                <a:close/>
                <a:moveTo>
                  <a:pt x="865808" y="111621"/>
                </a:moveTo>
                <a:cubicBezTo>
                  <a:pt x="865994" y="111621"/>
                  <a:pt x="866180" y="111807"/>
                  <a:pt x="866180" y="111807"/>
                </a:cubicBezTo>
                <a:lnTo>
                  <a:pt x="866180" y="1020031"/>
                </a:lnTo>
                <a:lnTo>
                  <a:pt x="865808" y="1020403"/>
                </a:lnTo>
                <a:lnTo>
                  <a:pt x="678284" y="1020403"/>
                </a:lnTo>
                <a:lnTo>
                  <a:pt x="677912" y="1020031"/>
                </a:lnTo>
                <a:lnTo>
                  <a:pt x="677912" y="111993"/>
                </a:lnTo>
                <a:lnTo>
                  <a:pt x="677912" y="111807"/>
                </a:lnTo>
                <a:lnTo>
                  <a:pt x="678098" y="111621"/>
                </a:lnTo>
                <a:lnTo>
                  <a:pt x="865808" y="111621"/>
                </a:lnTo>
                <a:moveTo>
                  <a:pt x="865808" y="0"/>
                </a:moveTo>
                <a:lnTo>
                  <a:pt x="677912" y="0"/>
                </a:lnTo>
                <a:cubicBezTo>
                  <a:pt x="616148" y="0"/>
                  <a:pt x="565919" y="50043"/>
                  <a:pt x="565919" y="111993"/>
                </a:cubicBezTo>
                <a:lnTo>
                  <a:pt x="565919" y="1020217"/>
                </a:lnTo>
                <a:cubicBezTo>
                  <a:pt x="565919" y="1081795"/>
                  <a:pt x="616335" y="1132210"/>
                  <a:pt x="677912" y="1132210"/>
                </a:cubicBezTo>
                <a:lnTo>
                  <a:pt x="865622" y="1132210"/>
                </a:lnTo>
                <a:cubicBezTo>
                  <a:pt x="927199" y="1132210"/>
                  <a:pt x="977615" y="1081795"/>
                  <a:pt x="977615" y="1020217"/>
                </a:cubicBezTo>
                <a:lnTo>
                  <a:pt x="977615" y="111993"/>
                </a:lnTo>
                <a:cubicBezTo>
                  <a:pt x="977615" y="50043"/>
                  <a:pt x="927571" y="0"/>
                  <a:pt x="865808" y="0"/>
                </a:cubicBezTo>
                <a:close/>
                <a:moveTo>
                  <a:pt x="1380381" y="729072"/>
                </a:moveTo>
                <a:cubicBezTo>
                  <a:pt x="1380567" y="729072"/>
                  <a:pt x="1380753" y="729258"/>
                  <a:pt x="1380753" y="729258"/>
                </a:cubicBezTo>
                <a:lnTo>
                  <a:pt x="1380753" y="1020031"/>
                </a:lnTo>
                <a:lnTo>
                  <a:pt x="1380381" y="1020403"/>
                </a:lnTo>
                <a:lnTo>
                  <a:pt x="1192858" y="1020403"/>
                </a:lnTo>
                <a:lnTo>
                  <a:pt x="1192485" y="1020031"/>
                </a:lnTo>
                <a:lnTo>
                  <a:pt x="1192485" y="729444"/>
                </a:lnTo>
                <a:lnTo>
                  <a:pt x="1192485" y="729258"/>
                </a:lnTo>
                <a:lnTo>
                  <a:pt x="1192671" y="729072"/>
                </a:lnTo>
                <a:lnTo>
                  <a:pt x="1380381" y="729072"/>
                </a:lnTo>
                <a:moveTo>
                  <a:pt x="1380381" y="617451"/>
                </a:moveTo>
                <a:lnTo>
                  <a:pt x="1192671" y="617451"/>
                </a:lnTo>
                <a:cubicBezTo>
                  <a:pt x="1130908" y="617451"/>
                  <a:pt x="1080678" y="667494"/>
                  <a:pt x="1080678" y="729444"/>
                </a:cubicBezTo>
                <a:lnTo>
                  <a:pt x="1080678" y="1020031"/>
                </a:lnTo>
                <a:cubicBezTo>
                  <a:pt x="1080678" y="1081608"/>
                  <a:pt x="1131094" y="1132024"/>
                  <a:pt x="1192671" y="1132024"/>
                </a:cubicBezTo>
                <a:lnTo>
                  <a:pt x="1380381" y="1132024"/>
                </a:lnTo>
                <a:cubicBezTo>
                  <a:pt x="1441959" y="1132024"/>
                  <a:pt x="1492374" y="1081608"/>
                  <a:pt x="1492374" y="1020031"/>
                </a:cubicBezTo>
                <a:lnTo>
                  <a:pt x="1492374" y="729444"/>
                </a:lnTo>
                <a:cubicBezTo>
                  <a:pt x="1492374" y="667680"/>
                  <a:pt x="1442145" y="617451"/>
                  <a:pt x="1380381" y="617451"/>
                </a:cubicBezTo>
                <a:close/>
                <a:moveTo>
                  <a:pt x="1481956" y="1276201"/>
                </a:moveTo>
                <a:lnTo>
                  <a:pt x="61764" y="1276201"/>
                </a:lnTo>
                <a:cubicBezTo>
                  <a:pt x="27719" y="1276201"/>
                  <a:pt x="0" y="1303920"/>
                  <a:pt x="0" y="1337965"/>
                </a:cubicBezTo>
                <a:cubicBezTo>
                  <a:pt x="0" y="1372009"/>
                  <a:pt x="27719" y="1399729"/>
                  <a:pt x="61764" y="1399729"/>
                </a:cubicBezTo>
                <a:lnTo>
                  <a:pt x="1482142" y="1399729"/>
                </a:lnTo>
                <a:cubicBezTo>
                  <a:pt x="1516187" y="1399729"/>
                  <a:pt x="1543906" y="1372009"/>
                  <a:pt x="1543906" y="1337965"/>
                </a:cubicBezTo>
                <a:cubicBezTo>
                  <a:pt x="1543720" y="1303734"/>
                  <a:pt x="1516187" y="1276201"/>
                  <a:pt x="1481956" y="1276201"/>
                </a:cubicBezTo>
                <a:close/>
              </a:path>
            </a:pathLst>
          </a:custGeom>
          <a:solidFill>
            <a:schemeClr val="accent1"/>
          </a:solidFill>
          <a:ln w="1553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4469650" y="4208311"/>
            <a:ext cx="3240000" cy="6480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C53645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Backup incremental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8458900" y="1028700"/>
            <a:ext cx="2880000" cy="2880000"/>
          </a:xfrm>
          <a:prstGeom prst="ellipse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8607511" y="1034360"/>
            <a:ext cx="2582779" cy="2582779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8278900" y="4850317"/>
            <a:ext cx="3240000" cy="145891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172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Un backup diferencial guarda todos los cambios desde el último backup completo, equilibrando tiempo y espacio, y facilita la recuperación de datos más reciente.</a:t>
            </a:r>
            <a:endParaRPr kumimoji="1" lang="zh-CN" altLang="en-US"/>
          </a:p>
        </p:txBody>
      </p:sp>
      <p:pic>
        <p:nvPicPr>
          <p:cNvPr id="19" name="Imagen 18"/>
          <p:cNvPicPr>
            <a:picLocks noChangeAspect="1"/>
          </p:cNvPicPr>
          <p:nvPr/>
        </p:nvPicPr>
        <p:blipFill>
          <a:blip r:embed="rId2">
            <a:alphaModFix/>
          </a:blip>
          <a:srcRect l="18723" t="3190" r="22584" b="8761"/>
          <a:stretch>
            <a:fillRect/>
          </a:stretch>
        </p:blipFill>
        <p:spPr>
          <a:xfrm>
            <a:off x="8681372" y="1044720"/>
            <a:ext cx="2435058" cy="2435058"/>
          </a:xfrm>
          <a:custGeom>
            <a:avLst/>
            <a:gdLst/>
            <a:ahLst/>
            <a:cxnLst/>
            <a:rect l="l" t="t" r="r" b="b"/>
            <a:pathLst>
              <a:path w="2435058" h="2435058">
                <a:moveTo>
                  <a:pt x="1217529" y="0"/>
                </a:moveTo>
                <a:cubicBezTo>
                  <a:pt x="1889952" y="0"/>
                  <a:pt x="2435058" y="545106"/>
                  <a:pt x="2435058" y="1217529"/>
                </a:cubicBezTo>
                <a:cubicBezTo>
                  <a:pt x="2435058" y="1889952"/>
                  <a:pt x="1889952" y="2435058"/>
                  <a:pt x="1217529" y="2435058"/>
                </a:cubicBezTo>
                <a:cubicBezTo>
                  <a:pt x="545106" y="2435058"/>
                  <a:pt x="0" y="1889952"/>
                  <a:pt x="0" y="1217529"/>
                </a:cubicBezTo>
                <a:cubicBezTo>
                  <a:pt x="0" y="545106"/>
                  <a:pt x="545106" y="0"/>
                  <a:pt x="1217529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0" name="标题 1"/>
          <p:cNvSpPr txBox="1"/>
          <p:nvPr/>
        </p:nvSpPr>
        <p:spPr>
          <a:xfrm rot="2700000">
            <a:off x="9642227" y="3566967"/>
            <a:ext cx="513347" cy="513347"/>
          </a:xfrm>
          <a:prstGeom prst="roundRect">
            <a:avLst>
              <a:gd name="adj" fmla="val 10417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9724110" y="3665171"/>
            <a:ext cx="349584" cy="316938"/>
          </a:xfrm>
          <a:custGeom>
            <a:avLst/>
            <a:gdLst>
              <a:gd name="connsiteX0" fmla="*/ 351048 w 1543905"/>
              <a:gd name="connsiteY0" fmla="*/ 523317 h 1399728"/>
              <a:gd name="connsiteX1" fmla="*/ 351048 w 1543905"/>
              <a:gd name="connsiteY1" fmla="*/ 523317 h 1399728"/>
              <a:gd name="connsiteX2" fmla="*/ 351420 w 1543905"/>
              <a:gd name="connsiteY2" fmla="*/ 523503 h 1399728"/>
              <a:gd name="connsiteX3" fmla="*/ 351420 w 1543905"/>
              <a:gd name="connsiteY3" fmla="*/ 1020031 h 1399728"/>
              <a:gd name="connsiteX4" fmla="*/ 351048 w 1543905"/>
              <a:gd name="connsiteY4" fmla="*/ 1020403 h 1399728"/>
              <a:gd name="connsiteX5" fmla="*/ 163525 w 1543905"/>
              <a:gd name="connsiteY5" fmla="*/ 1020403 h 1399728"/>
              <a:gd name="connsiteX6" fmla="*/ 163153 w 1543905"/>
              <a:gd name="connsiteY6" fmla="*/ 1020031 h 1399728"/>
              <a:gd name="connsiteX7" fmla="*/ 163153 w 1543905"/>
              <a:gd name="connsiteY7" fmla="*/ 523503 h 1399728"/>
              <a:gd name="connsiteX8" fmla="*/ 163153 w 1543905"/>
              <a:gd name="connsiteY8" fmla="*/ 523317 h 1399728"/>
              <a:gd name="connsiteX9" fmla="*/ 163339 w 1543905"/>
              <a:gd name="connsiteY9" fmla="*/ 523131 h 1399728"/>
              <a:gd name="connsiteX10" fmla="*/ 351048 w 1543905"/>
              <a:gd name="connsiteY10" fmla="*/ 523131 h 1399728"/>
              <a:gd name="connsiteX11" fmla="*/ 351048 w 1543905"/>
              <a:gd name="connsiteY11" fmla="*/ 411696 h 1399728"/>
              <a:gd name="connsiteX12" fmla="*/ 163339 w 1543905"/>
              <a:gd name="connsiteY12" fmla="*/ 411696 h 1399728"/>
              <a:gd name="connsiteX13" fmla="*/ 51346 w 1543905"/>
              <a:gd name="connsiteY13" fmla="*/ 523689 h 1399728"/>
              <a:gd name="connsiteX14" fmla="*/ 51346 w 1543905"/>
              <a:gd name="connsiteY14" fmla="*/ 1020217 h 1399728"/>
              <a:gd name="connsiteX15" fmla="*/ 163339 w 1543905"/>
              <a:gd name="connsiteY15" fmla="*/ 1132210 h 1399728"/>
              <a:gd name="connsiteX16" fmla="*/ 351048 w 1543905"/>
              <a:gd name="connsiteY16" fmla="*/ 1132210 h 1399728"/>
              <a:gd name="connsiteX17" fmla="*/ 463042 w 1543905"/>
              <a:gd name="connsiteY17" fmla="*/ 1020217 h 1399728"/>
              <a:gd name="connsiteX18" fmla="*/ 463042 w 1543905"/>
              <a:gd name="connsiteY18" fmla="*/ 523503 h 1399728"/>
              <a:gd name="connsiteX19" fmla="*/ 351048 w 1543905"/>
              <a:gd name="connsiteY19" fmla="*/ 411696 h 1399728"/>
              <a:gd name="connsiteX20" fmla="*/ 865808 w 1543905"/>
              <a:gd name="connsiteY20" fmla="*/ 111621 h 1399728"/>
              <a:gd name="connsiteX21" fmla="*/ 866180 w 1543905"/>
              <a:gd name="connsiteY21" fmla="*/ 111807 h 1399728"/>
              <a:gd name="connsiteX22" fmla="*/ 866180 w 1543905"/>
              <a:gd name="connsiteY22" fmla="*/ 1020031 h 1399728"/>
              <a:gd name="connsiteX23" fmla="*/ 865808 w 1543905"/>
              <a:gd name="connsiteY23" fmla="*/ 1020403 h 1399728"/>
              <a:gd name="connsiteX24" fmla="*/ 678284 w 1543905"/>
              <a:gd name="connsiteY24" fmla="*/ 1020403 h 1399728"/>
              <a:gd name="connsiteX25" fmla="*/ 677912 w 1543905"/>
              <a:gd name="connsiteY25" fmla="*/ 1020031 h 1399728"/>
              <a:gd name="connsiteX26" fmla="*/ 677912 w 1543905"/>
              <a:gd name="connsiteY26" fmla="*/ 111993 h 1399728"/>
              <a:gd name="connsiteX27" fmla="*/ 677912 w 1543905"/>
              <a:gd name="connsiteY27" fmla="*/ 111807 h 1399728"/>
              <a:gd name="connsiteX28" fmla="*/ 678098 w 1543905"/>
              <a:gd name="connsiteY28" fmla="*/ 111621 h 1399728"/>
              <a:gd name="connsiteX29" fmla="*/ 865808 w 1543905"/>
              <a:gd name="connsiteY29" fmla="*/ 111621 h 1399728"/>
              <a:gd name="connsiteX30" fmla="*/ 865808 w 1543905"/>
              <a:gd name="connsiteY30" fmla="*/ 0 h 1399728"/>
              <a:gd name="connsiteX31" fmla="*/ 677912 w 1543905"/>
              <a:gd name="connsiteY31" fmla="*/ 0 h 1399728"/>
              <a:gd name="connsiteX32" fmla="*/ 565919 w 1543905"/>
              <a:gd name="connsiteY32" fmla="*/ 111993 h 1399728"/>
              <a:gd name="connsiteX33" fmla="*/ 565919 w 1543905"/>
              <a:gd name="connsiteY33" fmla="*/ 1020217 h 1399728"/>
              <a:gd name="connsiteX34" fmla="*/ 677912 w 1543905"/>
              <a:gd name="connsiteY34" fmla="*/ 1132210 h 1399728"/>
              <a:gd name="connsiteX35" fmla="*/ 865622 w 1543905"/>
              <a:gd name="connsiteY35" fmla="*/ 1132210 h 1399728"/>
              <a:gd name="connsiteX36" fmla="*/ 977615 w 1543905"/>
              <a:gd name="connsiteY36" fmla="*/ 1020217 h 1399728"/>
              <a:gd name="connsiteX37" fmla="*/ 977615 w 1543905"/>
              <a:gd name="connsiteY37" fmla="*/ 111993 h 1399728"/>
              <a:gd name="connsiteX38" fmla="*/ 865808 w 1543905"/>
              <a:gd name="connsiteY38" fmla="*/ 0 h 1399728"/>
              <a:gd name="connsiteX39" fmla="*/ 1380381 w 1543905"/>
              <a:gd name="connsiteY39" fmla="*/ 729072 h 1399728"/>
              <a:gd name="connsiteX40" fmla="*/ 1380753 w 1543905"/>
              <a:gd name="connsiteY40" fmla="*/ 729258 h 1399728"/>
              <a:gd name="connsiteX41" fmla="*/ 1380753 w 1543905"/>
              <a:gd name="connsiteY41" fmla="*/ 1020031 h 1399728"/>
              <a:gd name="connsiteX42" fmla="*/ 1380381 w 1543905"/>
              <a:gd name="connsiteY42" fmla="*/ 1020403 h 1399728"/>
              <a:gd name="connsiteX43" fmla="*/ 1192858 w 1543905"/>
              <a:gd name="connsiteY43" fmla="*/ 1020403 h 1399728"/>
              <a:gd name="connsiteX44" fmla="*/ 1192485 w 1543905"/>
              <a:gd name="connsiteY44" fmla="*/ 1020031 h 1399728"/>
              <a:gd name="connsiteX45" fmla="*/ 1192485 w 1543905"/>
              <a:gd name="connsiteY45" fmla="*/ 729444 h 1399728"/>
              <a:gd name="connsiteX46" fmla="*/ 1192485 w 1543905"/>
              <a:gd name="connsiteY46" fmla="*/ 729258 h 1399728"/>
              <a:gd name="connsiteX47" fmla="*/ 1192671 w 1543905"/>
              <a:gd name="connsiteY47" fmla="*/ 729072 h 1399728"/>
              <a:gd name="connsiteX48" fmla="*/ 1380381 w 1543905"/>
              <a:gd name="connsiteY48" fmla="*/ 729072 h 1399728"/>
              <a:gd name="connsiteX49" fmla="*/ 1380381 w 1543905"/>
              <a:gd name="connsiteY49" fmla="*/ 617451 h 1399728"/>
              <a:gd name="connsiteX50" fmla="*/ 1192671 w 1543905"/>
              <a:gd name="connsiteY50" fmla="*/ 617451 h 1399728"/>
              <a:gd name="connsiteX51" fmla="*/ 1080678 w 1543905"/>
              <a:gd name="connsiteY51" fmla="*/ 729444 h 1399728"/>
              <a:gd name="connsiteX52" fmla="*/ 1080678 w 1543905"/>
              <a:gd name="connsiteY52" fmla="*/ 1020031 h 1399728"/>
              <a:gd name="connsiteX53" fmla="*/ 1192671 w 1543905"/>
              <a:gd name="connsiteY53" fmla="*/ 1132024 h 1399728"/>
              <a:gd name="connsiteX54" fmla="*/ 1380381 w 1543905"/>
              <a:gd name="connsiteY54" fmla="*/ 1132024 h 1399728"/>
              <a:gd name="connsiteX55" fmla="*/ 1492374 w 1543905"/>
              <a:gd name="connsiteY55" fmla="*/ 1020031 h 1399728"/>
              <a:gd name="connsiteX56" fmla="*/ 1492374 w 1543905"/>
              <a:gd name="connsiteY56" fmla="*/ 729444 h 1399728"/>
              <a:gd name="connsiteX57" fmla="*/ 1380381 w 1543905"/>
              <a:gd name="connsiteY57" fmla="*/ 617451 h 1399728"/>
              <a:gd name="connsiteX58" fmla="*/ 1481956 w 1543905"/>
              <a:gd name="connsiteY58" fmla="*/ 1276201 h 1399728"/>
              <a:gd name="connsiteX59" fmla="*/ 61764 w 1543905"/>
              <a:gd name="connsiteY59" fmla="*/ 1276201 h 1399728"/>
              <a:gd name="connsiteX60" fmla="*/ 0 w 1543905"/>
              <a:gd name="connsiteY60" fmla="*/ 1337965 h 1399728"/>
              <a:gd name="connsiteX61" fmla="*/ 61764 w 1543905"/>
              <a:gd name="connsiteY61" fmla="*/ 1399729 h 1399728"/>
              <a:gd name="connsiteX62" fmla="*/ 1482142 w 1543905"/>
              <a:gd name="connsiteY62" fmla="*/ 1399729 h 1399728"/>
              <a:gd name="connsiteX63" fmla="*/ 1543906 w 1543905"/>
              <a:gd name="connsiteY63" fmla="*/ 1337965 h 1399728"/>
              <a:gd name="connsiteX64" fmla="*/ 1481956 w 1543905"/>
              <a:gd name="connsiteY64" fmla="*/ 1276201 h 1399728"/>
            </a:gdLst>
            <a:ahLst/>
            <a:cxnLst/>
            <a:rect l="l" t="t" r="r" b="b"/>
            <a:pathLst>
              <a:path w="1543905" h="1399728">
                <a:moveTo>
                  <a:pt x="351048" y="523317"/>
                </a:moveTo>
                <a:cubicBezTo>
                  <a:pt x="351234" y="523317"/>
                  <a:pt x="351234" y="523317"/>
                  <a:pt x="351048" y="523317"/>
                </a:cubicBezTo>
                <a:cubicBezTo>
                  <a:pt x="351234" y="523317"/>
                  <a:pt x="351420" y="523503"/>
                  <a:pt x="351420" y="523503"/>
                </a:cubicBezTo>
                <a:lnTo>
                  <a:pt x="351420" y="1020031"/>
                </a:lnTo>
                <a:lnTo>
                  <a:pt x="351048" y="1020403"/>
                </a:lnTo>
                <a:lnTo>
                  <a:pt x="163525" y="1020403"/>
                </a:lnTo>
                <a:lnTo>
                  <a:pt x="163153" y="1020031"/>
                </a:lnTo>
                <a:lnTo>
                  <a:pt x="163153" y="523503"/>
                </a:lnTo>
                <a:lnTo>
                  <a:pt x="163153" y="523317"/>
                </a:lnTo>
                <a:lnTo>
                  <a:pt x="163339" y="523131"/>
                </a:lnTo>
                <a:lnTo>
                  <a:pt x="351048" y="523131"/>
                </a:lnTo>
                <a:moveTo>
                  <a:pt x="351048" y="411696"/>
                </a:moveTo>
                <a:lnTo>
                  <a:pt x="163339" y="411696"/>
                </a:lnTo>
                <a:cubicBezTo>
                  <a:pt x="101575" y="411696"/>
                  <a:pt x="51346" y="461739"/>
                  <a:pt x="51346" y="523689"/>
                </a:cubicBezTo>
                <a:lnTo>
                  <a:pt x="51346" y="1020217"/>
                </a:lnTo>
                <a:cubicBezTo>
                  <a:pt x="51346" y="1081795"/>
                  <a:pt x="101761" y="1132210"/>
                  <a:pt x="163339" y="1132210"/>
                </a:cubicBezTo>
                <a:lnTo>
                  <a:pt x="351048" y="1132210"/>
                </a:lnTo>
                <a:cubicBezTo>
                  <a:pt x="412626" y="1132210"/>
                  <a:pt x="463042" y="1081795"/>
                  <a:pt x="463042" y="1020217"/>
                </a:cubicBezTo>
                <a:lnTo>
                  <a:pt x="463042" y="523503"/>
                </a:lnTo>
                <a:cubicBezTo>
                  <a:pt x="463042" y="461739"/>
                  <a:pt x="412998" y="411696"/>
                  <a:pt x="351048" y="411696"/>
                </a:cubicBezTo>
                <a:close/>
                <a:moveTo>
                  <a:pt x="865808" y="111621"/>
                </a:moveTo>
                <a:cubicBezTo>
                  <a:pt x="865994" y="111621"/>
                  <a:pt x="866180" y="111807"/>
                  <a:pt x="866180" y="111807"/>
                </a:cubicBezTo>
                <a:lnTo>
                  <a:pt x="866180" y="1020031"/>
                </a:lnTo>
                <a:lnTo>
                  <a:pt x="865808" y="1020403"/>
                </a:lnTo>
                <a:lnTo>
                  <a:pt x="678284" y="1020403"/>
                </a:lnTo>
                <a:lnTo>
                  <a:pt x="677912" y="1020031"/>
                </a:lnTo>
                <a:lnTo>
                  <a:pt x="677912" y="111993"/>
                </a:lnTo>
                <a:lnTo>
                  <a:pt x="677912" y="111807"/>
                </a:lnTo>
                <a:lnTo>
                  <a:pt x="678098" y="111621"/>
                </a:lnTo>
                <a:lnTo>
                  <a:pt x="865808" y="111621"/>
                </a:lnTo>
                <a:moveTo>
                  <a:pt x="865808" y="0"/>
                </a:moveTo>
                <a:lnTo>
                  <a:pt x="677912" y="0"/>
                </a:lnTo>
                <a:cubicBezTo>
                  <a:pt x="616148" y="0"/>
                  <a:pt x="565919" y="50043"/>
                  <a:pt x="565919" y="111993"/>
                </a:cubicBezTo>
                <a:lnTo>
                  <a:pt x="565919" y="1020217"/>
                </a:lnTo>
                <a:cubicBezTo>
                  <a:pt x="565919" y="1081795"/>
                  <a:pt x="616335" y="1132210"/>
                  <a:pt x="677912" y="1132210"/>
                </a:cubicBezTo>
                <a:lnTo>
                  <a:pt x="865622" y="1132210"/>
                </a:lnTo>
                <a:cubicBezTo>
                  <a:pt x="927199" y="1132210"/>
                  <a:pt x="977615" y="1081795"/>
                  <a:pt x="977615" y="1020217"/>
                </a:cubicBezTo>
                <a:lnTo>
                  <a:pt x="977615" y="111993"/>
                </a:lnTo>
                <a:cubicBezTo>
                  <a:pt x="977615" y="50043"/>
                  <a:pt x="927571" y="0"/>
                  <a:pt x="865808" y="0"/>
                </a:cubicBezTo>
                <a:close/>
                <a:moveTo>
                  <a:pt x="1380381" y="729072"/>
                </a:moveTo>
                <a:cubicBezTo>
                  <a:pt x="1380567" y="729072"/>
                  <a:pt x="1380753" y="729258"/>
                  <a:pt x="1380753" y="729258"/>
                </a:cubicBezTo>
                <a:lnTo>
                  <a:pt x="1380753" y="1020031"/>
                </a:lnTo>
                <a:lnTo>
                  <a:pt x="1380381" y="1020403"/>
                </a:lnTo>
                <a:lnTo>
                  <a:pt x="1192858" y="1020403"/>
                </a:lnTo>
                <a:lnTo>
                  <a:pt x="1192485" y="1020031"/>
                </a:lnTo>
                <a:lnTo>
                  <a:pt x="1192485" y="729444"/>
                </a:lnTo>
                <a:lnTo>
                  <a:pt x="1192485" y="729258"/>
                </a:lnTo>
                <a:lnTo>
                  <a:pt x="1192671" y="729072"/>
                </a:lnTo>
                <a:lnTo>
                  <a:pt x="1380381" y="729072"/>
                </a:lnTo>
                <a:moveTo>
                  <a:pt x="1380381" y="617451"/>
                </a:moveTo>
                <a:lnTo>
                  <a:pt x="1192671" y="617451"/>
                </a:lnTo>
                <a:cubicBezTo>
                  <a:pt x="1130908" y="617451"/>
                  <a:pt x="1080678" y="667494"/>
                  <a:pt x="1080678" y="729444"/>
                </a:cubicBezTo>
                <a:lnTo>
                  <a:pt x="1080678" y="1020031"/>
                </a:lnTo>
                <a:cubicBezTo>
                  <a:pt x="1080678" y="1081608"/>
                  <a:pt x="1131094" y="1132024"/>
                  <a:pt x="1192671" y="1132024"/>
                </a:cubicBezTo>
                <a:lnTo>
                  <a:pt x="1380381" y="1132024"/>
                </a:lnTo>
                <a:cubicBezTo>
                  <a:pt x="1441959" y="1132024"/>
                  <a:pt x="1492374" y="1081608"/>
                  <a:pt x="1492374" y="1020031"/>
                </a:cubicBezTo>
                <a:lnTo>
                  <a:pt x="1492374" y="729444"/>
                </a:lnTo>
                <a:cubicBezTo>
                  <a:pt x="1492374" y="667680"/>
                  <a:pt x="1442145" y="617451"/>
                  <a:pt x="1380381" y="617451"/>
                </a:cubicBezTo>
                <a:close/>
                <a:moveTo>
                  <a:pt x="1481956" y="1276201"/>
                </a:moveTo>
                <a:lnTo>
                  <a:pt x="61764" y="1276201"/>
                </a:lnTo>
                <a:cubicBezTo>
                  <a:pt x="27719" y="1276201"/>
                  <a:pt x="0" y="1303920"/>
                  <a:pt x="0" y="1337965"/>
                </a:cubicBezTo>
                <a:cubicBezTo>
                  <a:pt x="0" y="1372009"/>
                  <a:pt x="27719" y="1399729"/>
                  <a:pt x="61764" y="1399729"/>
                </a:cubicBezTo>
                <a:lnTo>
                  <a:pt x="1482142" y="1399729"/>
                </a:lnTo>
                <a:cubicBezTo>
                  <a:pt x="1516187" y="1399729"/>
                  <a:pt x="1543906" y="1372009"/>
                  <a:pt x="1543906" y="1337965"/>
                </a:cubicBezTo>
                <a:cubicBezTo>
                  <a:pt x="1543720" y="1303734"/>
                  <a:pt x="1516187" y="1276201"/>
                  <a:pt x="1481956" y="1276201"/>
                </a:cubicBezTo>
                <a:close/>
              </a:path>
            </a:pathLst>
          </a:custGeom>
          <a:solidFill>
            <a:schemeClr val="accent1"/>
          </a:solidFill>
          <a:ln w="1553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8278900" y="4208311"/>
            <a:ext cx="3240000" cy="6480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C53645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Backup diferencial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924761" y="470193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Tipos de Backup</a:t>
            </a: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504217" y="534464"/>
            <a:ext cx="312365" cy="312365"/>
          </a:xfrm>
          <a:prstGeom prst="ellipse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>
            <a:off x="533681" y="563928"/>
            <a:ext cx="253437" cy="253437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bg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49D8DF49-1913-CB4A-9CCA-7F619C024B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5400000">
            <a:off x="6623532" y="653295"/>
            <a:ext cx="1804736" cy="602046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16200000" flipH="1">
            <a:off x="3685486" y="-977566"/>
            <a:ext cx="1804736" cy="602046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2213350" y="1693033"/>
            <a:ext cx="5183524" cy="111586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Realizar backups diarios garantiza que se capture la información más reciente, reduciendo la pérdida de datos en caso de fallos o errores.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350399" y="1739900"/>
            <a:ext cx="585537" cy="585537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0243365" y="3370761"/>
            <a:ext cx="585537" cy="585537"/>
          </a:xfrm>
          <a:prstGeom prst="ellipse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1495276" y="1895858"/>
            <a:ext cx="295783" cy="273620"/>
          </a:xfrm>
          <a:custGeom>
            <a:avLst/>
            <a:gdLst>
              <a:gd name="connsiteX0" fmla="*/ 56258 w 778320"/>
              <a:gd name="connsiteY0" fmla="*/ 333700 h 720001"/>
              <a:gd name="connsiteX1" fmla="*/ 56258 w 778320"/>
              <a:gd name="connsiteY1" fmla="*/ 627457 h 720001"/>
              <a:gd name="connsiteX2" fmla="*/ 66946 w 778320"/>
              <a:gd name="connsiteY2" fmla="*/ 653054 h 720001"/>
              <a:gd name="connsiteX3" fmla="*/ 92544 w 778320"/>
              <a:gd name="connsiteY3" fmla="*/ 663743 h 720001"/>
              <a:gd name="connsiteX4" fmla="*/ 685683 w 778320"/>
              <a:gd name="connsiteY4" fmla="*/ 663743 h 720001"/>
              <a:gd name="connsiteX5" fmla="*/ 711281 w 778320"/>
              <a:gd name="connsiteY5" fmla="*/ 653054 h 720001"/>
              <a:gd name="connsiteX6" fmla="*/ 721969 w 778320"/>
              <a:gd name="connsiteY6" fmla="*/ 627457 h 720001"/>
              <a:gd name="connsiteX7" fmla="*/ 721969 w 778320"/>
              <a:gd name="connsiteY7" fmla="*/ 333700 h 720001"/>
              <a:gd name="connsiteX8" fmla="*/ 92544 w 778320"/>
              <a:gd name="connsiteY8" fmla="*/ 142049 h 720001"/>
              <a:gd name="connsiteX9" fmla="*/ 56258 w 778320"/>
              <a:gd name="connsiteY9" fmla="*/ 178336 h 720001"/>
              <a:gd name="connsiteX10" fmla="*/ 56258 w 778320"/>
              <a:gd name="connsiteY10" fmla="*/ 277443 h 720001"/>
              <a:gd name="connsiteX11" fmla="*/ 721969 w 778320"/>
              <a:gd name="connsiteY11" fmla="*/ 277443 h 720001"/>
              <a:gd name="connsiteX12" fmla="*/ 721969 w 778320"/>
              <a:gd name="connsiteY12" fmla="*/ 178336 h 720001"/>
              <a:gd name="connsiteX13" fmla="*/ 685683 w 778320"/>
              <a:gd name="connsiteY13" fmla="*/ 142049 h 720001"/>
              <a:gd name="connsiteX14" fmla="*/ 561355 w 778320"/>
              <a:gd name="connsiteY14" fmla="*/ 142049 h 720001"/>
              <a:gd name="connsiteX15" fmla="*/ 561355 w 778320"/>
              <a:gd name="connsiteY15" fmla="*/ 201026 h 720001"/>
              <a:gd name="connsiteX16" fmla="*/ 533226 w 778320"/>
              <a:gd name="connsiteY16" fmla="*/ 229249 h 720001"/>
              <a:gd name="connsiteX17" fmla="*/ 505097 w 778320"/>
              <a:gd name="connsiteY17" fmla="*/ 201120 h 720001"/>
              <a:gd name="connsiteX18" fmla="*/ 505097 w 778320"/>
              <a:gd name="connsiteY18" fmla="*/ 142049 h 720001"/>
              <a:gd name="connsiteX19" fmla="*/ 273129 w 778320"/>
              <a:gd name="connsiteY19" fmla="*/ 142049 h 720001"/>
              <a:gd name="connsiteX20" fmla="*/ 273129 w 778320"/>
              <a:gd name="connsiteY20" fmla="*/ 201026 h 720001"/>
              <a:gd name="connsiteX21" fmla="*/ 245001 w 778320"/>
              <a:gd name="connsiteY21" fmla="*/ 229249 h 720001"/>
              <a:gd name="connsiteX22" fmla="*/ 216872 w 778320"/>
              <a:gd name="connsiteY22" fmla="*/ 201120 h 720001"/>
              <a:gd name="connsiteX23" fmla="*/ 216872 w 778320"/>
              <a:gd name="connsiteY23" fmla="*/ 142049 h 720001"/>
              <a:gd name="connsiteX24" fmla="*/ 245001 w 778320"/>
              <a:gd name="connsiteY24" fmla="*/ 0 h 720001"/>
              <a:gd name="connsiteX25" fmla="*/ 273129 w 778320"/>
              <a:gd name="connsiteY25" fmla="*/ 28129 h 720001"/>
              <a:gd name="connsiteX26" fmla="*/ 273129 w 778320"/>
              <a:gd name="connsiteY26" fmla="*/ 85792 h 720001"/>
              <a:gd name="connsiteX27" fmla="*/ 505097 w 778320"/>
              <a:gd name="connsiteY27" fmla="*/ 85792 h 720001"/>
              <a:gd name="connsiteX28" fmla="*/ 505097 w 778320"/>
              <a:gd name="connsiteY28" fmla="*/ 28129 h 720001"/>
              <a:gd name="connsiteX29" fmla="*/ 533226 w 778320"/>
              <a:gd name="connsiteY29" fmla="*/ 0 h 720001"/>
              <a:gd name="connsiteX30" fmla="*/ 561355 w 778320"/>
              <a:gd name="connsiteY30" fmla="*/ 28129 h 720001"/>
              <a:gd name="connsiteX31" fmla="*/ 561355 w 778320"/>
              <a:gd name="connsiteY31" fmla="*/ 85792 h 720001"/>
              <a:gd name="connsiteX32" fmla="*/ 685683 w 778320"/>
              <a:gd name="connsiteY32" fmla="*/ 85792 h 720001"/>
              <a:gd name="connsiteX33" fmla="*/ 778320 w 778320"/>
              <a:gd name="connsiteY33" fmla="*/ 178336 h 720001"/>
              <a:gd name="connsiteX34" fmla="*/ 778320 w 778320"/>
              <a:gd name="connsiteY34" fmla="*/ 627457 h 720001"/>
              <a:gd name="connsiteX35" fmla="*/ 685777 w 778320"/>
              <a:gd name="connsiteY35" fmla="*/ 720001 h 720001"/>
              <a:gd name="connsiteX36" fmla="*/ 92544 w 778320"/>
              <a:gd name="connsiteY36" fmla="*/ 720001 h 720001"/>
              <a:gd name="connsiteX37" fmla="*/ 0 w 778320"/>
              <a:gd name="connsiteY37" fmla="*/ 627457 h 720001"/>
              <a:gd name="connsiteX38" fmla="*/ 0 w 778320"/>
              <a:gd name="connsiteY38" fmla="*/ 333700 h 720001"/>
              <a:gd name="connsiteX39" fmla="*/ 0 w 778320"/>
              <a:gd name="connsiteY39" fmla="*/ 277443 h 720001"/>
              <a:gd name="connsiteX40" fmla="*/ 0 w 778320"/>
              <a:gd name="connsiteY40" fmla="*/ 178336 h 720001"/>
              <a:gd name="connsiteX41" fmla="*/ 92544 w 778320"/>
              <a:gd name="connsiteY41" fmla="*/ 85792 h 720001"/>
              <a:gd name="connsiteX42" fmla="*/ 216872 w 778320"/>
              <a:gd name="connsiteY42" fmla="*/ 85792 h 720001"/>
              <a:gd name="connsiteX43" fmla="*/ 216872 w 778320"/>
              <a:gd name="connsiteY43" fmla="*/ 28129 h 720001"/>
              <a:gd name="connsiteX44" fmla="*/ 245001 w 778320"/>
              <a:gd name="connsiteY44" fmla="*/ 0 h 720001"/>
            </a:gdLst>
            <a:ahLst/>
            <a:cxnLst/>
            <a:rect l="l" t="t" r="r" b="b"/>
            <a:pathLst>
              <a:path w="778320" h="720001">
                <a:moveTo>
                  <a:pt x="56258" y="333700"/>
                </a:moveTo>
                <a:lnTo>
                  <a:pt x="56258" y="627457"/>
                </a:lnTo>
                <a:cubicBezTo>
                  <a:pt x="56258" y="637115"/>
                  <a:pt x="60008" y="646116"/>
                  <a:pt x="66946" y="653054"/>
                </a:cubicBezTo>
                <a:cubicBezTo>
                  <a:pt x="73885" y="659899"/>
                  <a:pt x="82980" y="663743"/>
                  <a:pt x="92544" y="663743"/>
                </a:cubicBezTo>
                <a:lnTo>
                  <a:pt x="685683" y="663743"/>
                </a:lnTo>
                <a:cubicBezTo>
                  <a:pt x="695341" y="663743"/>
                  <a:pt x="704342" y="659993"/>
                  <a:pt x="711281" y="653054"/>
                </a:cubicBezTo>
                <a:cubicBezTo>
                  <a:pt x="718125" y="646116"/>
                  <a:pt x="721969" y="637021"/>
                  <a:pt x="721969" y="627457"/>
                </a:cubicBezTo>
                <a:lnTo>
                  <a:pt x="721969" y="333700"/>
                </a:lnTo>
                <a:close/>
                <a:moveTo>
                  <a:pt x="92544" y="142049"/>
                </a:moveTo>
                <a:cubicBezTo>
                  <a:pt x="72478" y="142049"/>
                  <a:pt x="56258" y="158364"/>
                  <a:pt x="56258" y="178336"/>
                </a:cubicBezTo>
                <a:lnTo>
                  <a:pt x="56258" y="277443"/>
                </a:lnTo>
                <a:lnTo>
                  <a:pt x="721969" y="277443"/>
                </a:lnTo>
                <a:lnTo>
                  <a:pt x="721969" y="178336"/>
                </a:lnTo>
                <a:cubicBezTo>
                  <a:pt x="721969" y="158270"/>
                  <a:pt x="705655" y="142049"/>
                  <a:pt x="685683" y="142049"/>
                </a:cubicBezTo>
                <a:lnTo>
                  <a:pt x="561355" y="142049"/>
                </a:lnTo>
                <a:lnTo>
                  <a:pt x="561355" y="201026"/>
                </a:lnTo>
                <a:cubicBezTo>
                  <a:pt x="561355" y="216591"/>
                  <a:pt x="548790" y="229249"/>
                  <a:pt x="533226" y="229249"/>
                </a:cubicBezTo>
                <a:cubicBezTo>
                  <a:pt x="517661" y="229249"/>
                  <a:pt x="505097" y="216685"/>
                  <a:pt x="505097" y="201120"/>
                </a:cubicBezTo>
                <a:lnTo>
                  <a:pt x="505097" y="142049"/>
                </a:lnTo>
                <a:lnTo>
                  <a:pt x="273129" y="142049"/>
                </a:lnTo>
                <a:lnTo>
                  <a:pt x="273129" y="201026"/>
                </a:lnTo>
                <a:cubicBezTo>
                  <a:pt x="273129" y="216591"/>
                  <a:pt x="260565" y="229249"/>
                  <a:pt x="245001" y="229249"/>
                </a:cubicBezTo>
                <a:cubicBezTo>
                  <a:pt x="229436" y="229249"/>
                  <a:pt x="216872" y="216685"/>
                  <a:pt x="216872" y="201120"/>
                </a:cubicBezTo>
                <a:lnTo>
                  <a:pt x="216872" y="142049"/>
                </a:lnTo>
                <a:close/>
                <a:moveTo>
                  <a:pt x="245001" y="0"/>
                </a:moveTo>
                <a:cubicBezTo>
                  <a:pt x="260565" y="0"/>
                  <a:pt x="273129" y="12564"/>
                  <a:pt x="273129" y="28129"/>
                </a:cubicBezTo>
                <a:lnTo>
                  <a:pt x="273129" y="85792"/>
                </a:lnTo>
                <a:lnTo>
                  <a:pt x="505097" y="85792"/>
                </a:lnTo>
                <a:lnTo>
                  <a:pt x="505097" y="28129"/>
                </a:lnTo>
                <a:cubicBezTo>
                  <a:pt x="505097" y="12564"/>
                  <a:pt x="517661" y="0"/>
                  <a:pt x="533226" y="0"/>
                </a:cubicBezTo>
                <a:cubicBezTo>
                  <a:pt x="548790" y="0"/>
                  <a:pt x="561355" y="12564"/>
                  <a:pt x="561355" y="28129"/>
                </a:cubicBezTo>
                <a:lnTo>
                  <a:pt x="561355" y="85792"/>
                </a:lnTo>
                <a:lnTo>
                  <a:pt x="685683" y="85792"/>
                </a:lnTo>
                <a:cubicBezTo>
                  <a:pt x="736784" y="85792"/>
                  <a:pt x="778227" y="127235"/>
                  <a:pt x="778320" y="178336"/>
                </a:cubicBezTo>
                <a:lnTo>
                  <a:pt x="778320" y="627457"/>
                </a:lnTo>
                <a:cubicBezTo>
                  <a:pt x="778320" y="678370"/>
                  <a:pt x="736690" y="720001"/>
                  <a:pt x="685777" y="720001"/>
                </a:cubicBezTo>
                <a:lnTo>
                  <a:pt x="92544" y="720001"/>
                </a:lnTo>
                <a:cubicBezTo>
                  <a:pt x="41631" y="720001"/>
                  <a:pt x="0" y="678370"/>
                  <a:pt x="0" y="627457"/>
                </a:cubicBezTo>
                <a:lnTo>
                  <a:pt x="0" y="333700"/>
                </a:lnTo>
                <a:lnTo>
                  <a:pt x="0" y="277443"/>
                </a:lnTo>
                <a:lnTo>
                  <a:pt x="0" y="178336"/>
                </a:lnTo>
                <a:cubicBezTo>
                  <a:pt x="0" y="127235"/>
                  <a:pt x="41443" y="85792"/>
                  <a:pt x="92544" y="85792"/>
                </a:cubicBezTo>
                <a:lnTo>
                  <a:pt x="216872" y="85792"/>
                </a:lnTo>
                <a:lnTo>
                  <a:pt x="216872" y="28129"/>
                </a:lnTo>
                <a:cubicBezTo>
                  <a:pt x="216872" y="12564"/>
                  <a:pt x="229436" y="0"/>
                  <a:pt x="245001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0388242" y="3520410"/>
            <a:ext cx="295783" cy="286240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accent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2213350" y="1253096"/>
            <a:ext cx="5183524" cy="4399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Diaria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4678780" y="3309800"/>
            <a:ext cx="5183524" cy="111586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/>
            <a:r>
              <a:rPr kumimoji="1" lang="en-US" altLang="zh-CN" sz="12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Los backups semanales son adecuados para datos menos críticos, ofreciendo un equilibrio entre la protección de datos y el uso eficiente del almacenamiento.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4678780" y="2869862"/>
            <a:ext cx="5183524" cy="4399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r"/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Semanal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 flipH="1">
            <a:off x="3685486" y="2316447"/>
            <a:ext cx="1804736" cy="602046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2213350" y="4987046"/>
            <a:ext cx="5183524" cy="111586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Un backup mensual es útil para archivar grandes volúmenes de datos o registros, ideal para auditorías y el cumplimiento normativo.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350399" y="5033913"/>
            <a:ext cx="585537" cy="585537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1495276" y="5204354"/>
            <a:ext cx="295783" cy="244654"/>
          </a:xfrm>
          <a:custGeom>
            <a:avLst/>
            <a:gdLst>
              <a:gd name="connsiteX0" fmla="*/ 153878 w 870468"/>
              <a:gd name="connsiteY0" fmla="*/ 353026 h 720000"/>
              <a:gd name="connsiteX1" fmla="*/ 449972 w 870468"/>
              <a:gd name="connsiteY1" fmla="*/ 353026 h 720000"/>
              <a:gd name="connsiteX2" fmla="*/ 489985 w 870468"/>
              <a:gd name="connsiteY2" fmla="*/ 393039 h 720000"/>
              <a:gd name="connsiteX3" fmla="*/ 449972 w 870468"/>
              <a:gd name="connsiteY3" fmla="*/ 433051 h 720000"/>
              <a:gd name="connsiteX4" fmla="*/ 153878 w 870468"/>
              <a:gd name="connsiteY4" fmla="*/ 433051 h 720000"/>
              <a:gd name="connsiteX5" fmla="*/ 113865 w 870468"/>
              <a:gd name="connsiteY5" fmla="*/ 393039 h 720000"/>
              <a:gd name="connsiteX6" fmla="*/ 153878 w 870468"/>
              <a:gd name="connsiteY6" fmla="*/ 353026 h 720000"/>
              <a:gd name="connsiteX7" fmla="*/ 68708 w 870468"/>
              <a:gd name="connsiteY7" fmla="*/ 275858 h 720000"/>
              <a:gd name="connsiteX8" fmla="*/ 68708 w 870468"/>
              <a:gd name="connsiteY8" fmla="*/ 603735 h 720000"/>
              <a:gd name="connsiteX9" fmla="*/ 116266 w 870468"/>
              <a:gd name="connsiteY9" fmla="*/ 651293 h 720000"/>
              <a:gd name="connsiteX10" fmla="*/ 598821 w 870468"/>
              <a:gd name="connsiteY10" fmla="*/ 651293 h 720000"/>
              <a:gd name="connsiteX11" fmla="*/ 754317 w 870468"/>
              <a:gd name="connsiteY11" fmla="*/ 651293 h 720000"/>
              <a:gd name="connsiteX12" fmla="*/ 801875 w 870468"/>
              <a:gd name="connsiteY12" fmla="*/ 603735 h 720000"/>
              <a:gd name="connsiteX13" fmla="*/ 801875 w 870468"/>
              <a:gd name="connsiteY13" fmla="*/ 275858 h 720000"/>
              <a:gd name="connsiteX14" fmla="*/ 598821 w 870468"/>
              <a:gd name="connsiteY14" fmla="*/ 275858 h 720000"/>
              <a:gd name="connsiteX15" fmla="*/ 116266 w 870468"/>
              <a:gd name="connsiteY15" fmla="*/ 68593 h 720000"/>
              <a:gd name="connsiteX16" fmla="*/ 68708 w 870468"/>
              <a:gd name="connsiteY16" fmla="*/ 116151 h 720000"/>
              <a:gd name="connsiteX17" fmla="*/ 68708 w 870468"/>
              <a:gd name="connsiteY17" fmla="*/ 207265 h 720000"/>
              <a:gd name="connsiteX18" fmla="*/ 598821 w 870468"/>
              <a:gd name="connsiteY18" fmla="*/ 207265 h 720000"/>
              <a:gd name="connsiteX19" fmla="*/ 801875 w 870468"/>
              <a:gd name="connsiteY19" fmla="*/ 207265 h 720000"/>
              <a:gd name="connsiteX20" fmla="*/ 801875 w 870468"/>
              <a:gd name="connsiteY20" fmla="*/ 116151 h 720000"/>
              <a:gd name="connsiteX21" fmla="*/ 754317 w 870468"/>
              <a:gd name="connsiteY21" fmla="*/ 68593 h 720000"/>
              <a:gd name="connsiteX22" fmla="*/ 598821 w 870468"/>
              <a:gd name="connsiteY22" fmla="*/ 68593 h 720000"/>
              <a:gd name="connsiteX23" fmla="*/ 116266 w 870468"/>
              <a:gd name="connsiteY23" fmla="*/ 0 h 720000"/>
              <a:gd name="connsiteX24" fmla="*/ 598821 w 870468"/>
              <a:gd name="connsiteY24" fmla="*/ 0 h 720000"/>
              <a:gd name="connsiteX25" fmla="*/ 754317 w 870468"/>
              <a:gd name="connsiteY25" fmla="*/ 0 h 720000"/>
              <a:gd name="connsiteX26" fmla="*/ 870468 w 870468"/>
              <a:gd name="connsiteY26" fmla="*/ 116151 h 720000"/>
              <a:gd name="connsiteX27" fmla="*/ 870468 w 870468"/>
              <a:gd name="connsiteY27" fmla="*/ 241562 h 720000"/>
              <a:gd name="connsiteX28" fmla="*/ 870468 w 870468"/>
              <a:gd name="connsiteY28" fmla="*/ 603735 h 720000"/>
              <a:gd name="connsiteX29" fmla="*/ 754317 w 870468"/>
              <a:gd name="connsiteY29" fmla="*/ 720000 h 720000"/>
              <a:gd name="connsiteX30" fmla="*/ 598821 w 870468"/>
              <a:gd name="connsiteY30" fmla="*/ 720000 h 720000"/>
              <a:gd name="connsiteX31" fmla="*/ 116266 w 870468"/>
              <a:gd name="connsiteY31" fmla="*/ 720000 h 720000"/>
              <a:gd name="connsiteX32" fmla="*/ 115 w 870468"/>
              <a:gd name="connsiteY32" fmla="*/ 603849 h 720000"/>
              <a:gd name="connsiteX33" fmla="*/ 115 w 870468"/>
              <a:gd name="connsiteY33" fmla="*/ 241841 h 720000"/>
              <a:gd name="connsiteX34" fmla="*/ 0 w 870468"/>
              <a:gd name="connsiteY34" fmla="*/ 241562 h 720000"/>
              <a:gd name="connsiteX35" fmla="*/ 115 w 870468"/>
              <a:gd name="connsiteY35" fmla="*/ 241284 h 720000"/>
              <a:gd name="connsiteX36" fmla="*/ 115 w 870468"/>
              <a:gd name="connsiteY36" fmla="*/ 116151 h 720000"/>
              <a:gd name="connsiteX37" fmla="*/ 116266 w 870468"/>
              <a:gd name="connsiteY37" fmla="*/ 0 h 720000"/>
            </a:gdLst>
            <a:ahLst/>
            <a:cxnLst/>
            <a:rect l="l" t="t" r="r" b="b"/>
            <a:pathLst>
              <a:path w="870468" h="720000">
                <a:moveTo>
                  <a:pt x="153878" y="353026"/>
                </a:moveTo>
                <a:lnTo>
                  <a:pt x="449972" y="353026"/>
                </a:lnTo>
                <a:cubicBezTo>
                  <a:pt x="472036" y="353026"/>
                  <a:pt x="489985" y="370975"/>
                  <a:pt x="489985" y="393039"/>
                </a:cubicBezTo>
                <a:cubicBezTo>
                  <a:pt x="489985" y="415103"/>
                  <a:pt x="472150" y="433051"/>
                  <a:pt x="449972" y="433051"/>
                </a:cubicBezTo>
                <a:lnTo>
                  <a:pt x="153878" y="433051"/>
                </a:lnTo>
                <a:cubicBezTo>
                  <a:pt x="131814" y="433051"/>
                  <a:pt x="113865" y="415103"/>
                  <a:pt x="113865" y="393039"/>
                </a:cubicBezTo>
                <a:cubicBezTo>
                  <a:pt x="113865" y="370975"/>
                  <a:pt x="131814" y="353026"/>
                  <a:pt x="153878" y="353026"/>
                </a:cubicBezTo>
                <a:close/>
                <a:moveTo>
                  <a:pt x="68708" y="275858"/>
                </a:moveTo>
                <a:lnTo>
                  <a:pt x="68708" y="603735"/>
                </a:lnTo>
                <a:cubicBezTo>
                  <a:pt x="68708" y="630029"/>
                  <a:pt x="90087" y="651293"/>
                  <a:pt x="116266" y="651293"/>
                </a:cubicBezTo>
                <a:lnTo>
                  <a:pt x="598821" y="651293"/>
                </a:lnTo>
                <a:lnTo>
                  <a:pt x="754317" y="651293"/>
                </a:lnTo>
                <a:cubicBezTo>
                  <a:pt x="780611" y="651293"/>
                  <a:pt x="801875" y="629915"/>
                  <a:pt x="801875" y="603735"/>
                </a:cubicBezTo>
                <a:lnTo>
                  <a:pt x="801875" y="275858"/>
                </a:lnTo>
                <a:lnTo>
                  <a:pt x="598821" y="275858"/>
                </a:lnTo>
                <a:close/>
                <a:moveTo>
                  <a:pt x="116266" y="68593"/>
                </a:moveTo>
                <a:cubicBezTo>
                  <a:pt x="89972" y="68593"/>
                  <a:pt x="68708" y="89972"/>
                  <a:pt x="68708" y="116151"/>
                </a:cubicBezTo>
                <a:lnTo>
                  <a:pt x="68708" y="207265"/>
                </a:lnTo>
                <a:lnTo>
                  <a:pt x="598821" y="207265"/>
                </a:lnTo>
                <a:lnTo>
                  <a:pt x="801875" y="207265"/>
                </a:lnTo>
                <a:lnTo>
                  <a:pt x="801875" y="116151"/>
                </a:lnTo>
                <a:cubicBezTo>
                  <a:pt x="801875" y="89857"/>
                  <a:pt x="780497" y="68593"/>
                  <a:pt x="754317" y="68593"/>
                </a:cubicBezTo>
                <a:lnTo>
                  <a:pt x="598821" y="68593"/>
                </a:lnTo>
                <a:close/>
                <a:moveTo>
                  <a:pt x="116266" y="0"/>
                </a:moveTo>
                <a:lnTo>
                  <a:pt x="598821" y="0"/>
                </a:lnTo>
                <a:lnTo>
                  <a:pt x="754317" y="0"/>
                </a:lnTo>
                <a:cubicBezTo>
                  <a:pt x="818338" y="0"/>
                  <a:pt x="870468" y="52131"/>
                  <a:pt x="870468" y="116151"/>
                </a:cubicBezTo>
                <a:lnTo>
                  <a:pt x="870468" y="241562"/>
                </a:lnTo>
                <a:lnTo>
                  <a:pt x="870468" y="603735"/>
                </a:lnTo>
                <a:cubicBezTo>
                  <a:pt x="870468" y="667869"/>
                  <a:pt x="818338" y="720000"/>
                  <a:pt x="754317" y="720000"/>
                </a:cubicBezTo>
                <a:lnTo>
                  <a:pt x="598821" y="720000"/>
                </a:lnTo>
                <a:lnTo>
                  <a:pt x="116266" y="720000"/>
                </a:lnTo>
                <a:cubicBezTo>
                  <a:pt x="52246" y="720000"/>
                  <a:pt x="115" y="667869"/>
                  <a:pt x="115" y="603849"/>
                </a:cubicBezTo>
                <a:lnTo>
                  <a:pt x="115" y="241841"/>
                </a:lnTo>
                <a:lnTo>
                  <a:pt x="0" y="241562"/>
                </a:lnTo>
                <a:lnTo>
                  <a:pt x="115" y="241284"/>
                </a:lnTo>
                <a:lnTo>
                  <a:pt x="115" y="116151"/>
                </a:lnTo>
                <a:cubicBezTo>
                  <a:pt x="115" y="52131"/>
                  <a:pt x="52246" y="0"/>
                  <a:pt x="116266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2213350" y="4547109"/>
            <a:ext cx="5183524" cy="4399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Mensual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924761" y="470193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Frecuencia de Backup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504217" y="534464"/>
            <a:ext cx="312365" cy="312365"/>
          </a:xfrm>
          <a:prstGeom prst="ellipse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533681" y="563928"/>
            <a:ext cx="253437" cy="253437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bg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78DB012B-34EC-BB81-E472-C53ED05906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3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3675017"/>
            <a:ext cx="12192000" cy="3182984"/>
          </a:xfrm>
          <a:custGeom>
            <a:avLst/>
            <a:gdLst>
              <a:gd name="connsiteX0" fmla="*/ 965225 w 12187146"/>
              <a:gd name="connsiteY0" fmla="*/ 0 h 2427924"/>
              <a:gd name="connsiteX1" fmla="*/ 11221921 w 12187146"/>
              <a:gd name="connsiteY1" fmla="*/ 0 h 2427924"/>
              <a:gd name="connsiteX2" fmla="*/ 12187146 w 12187146"/>
              <a:gd name="connsiteY2" fmla="*/ 965225 h 2427924"/>
              <a:gd name="connsiteX3" fmla="*/ 12187146 w 12187146"/>
              <a:gd name="connsiteY3" fmla="*/ 2427924 h 2427924"/>
              <a:gd name="connsiteX4" fmla="*/ 0 w 12187146"/>
              <a:gd name="connsiteY4" fmla="*/ 2427924 h 2427924"/>
              <a:gd name="connsiteX5" fmla="*/ 0 w 12187146"/>
              <a:gd name="connsiteY5" fmla="*/ 965225 h 2427924"/>
              <a:gd name="connsiteX6" fmla="*/ 965225 w 12187146"/>
              <a:gd name="connsiteY6" fmla="*/ 0 h 2427924"/>
            </a:gdLst>
            <a:ahLst/>
            <a:cxnLst/>
            <a:rect l="l" t="t" r="r" b="b"/>
            <a:pathLst>
              <a:path w="12187146" h="2427924">
                <a:moveTo>
                  <a:pt x="965225" y="0"/>
                </a:moveTo>
                <a:lnTo>
                  <a:pt x="11221921" y="0"/>
                </a:lnTo>
                <a:cubicBezTo>
                  <a:pt x="11755000" y="0"/>
                  <a:pt x="12187146" y="432146"/>
                  <a:pt x="12187146" y="965225"/>
                </a:cubicBezTo>
                <a:lnTo>
                  <a:pt x="12187146" y="2427924"/>
                </a:lnTo>
                <a:lnTo>
                  <a:pt x="0" y="2427924"/>
                </a:lnTo>
                <a:lnTo>
                  <a:pt x="0" y="965225"/>
                </a:lnTo>
                <a:cubicBezTo>
                  <a:pt x="0" y="432146"/>
                  <a:pt x="432146" y="0"/>
                  <a:pt x="965225" y="0"/>
                </a:cubicBezTo>
                <a:close/>
              </a:path>
            </a:pathLst>
          </a:custGeom>
          <a:solidFill>
            <a:schemeClr val="accent1"/>
          </a:solidFill>
          <a:ln w="317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1200151" y="3882046"/>
            <a:ext cx="3124199" cy="628044"/>
          </a:xfrm>
          <a:custGeom>
            <a:avLst/>
            <a:gdLst>
              <a:gd name="connsiteX0" fmla="*/ 0 w 3124199"/>
              <a:gd name="connsiteY0" fmla="*/ 0 h 523874"/>
              <a:gd name="connsiteX1" fmla="*/ 3124199 w 3124199"/>
              <a:gd name="connsiteY1" fmla="*/ 0 h 523874"/>
              <a:gd name="connsiteX2" fmla="*/ 3124199 w 3124199"/>
              <a:gd name="connsiteY2" fmla="*/ 295256 h 523874"/>
              <a:gd name="connsiteX3" fmla="*/ 2895581 w 3124199"/>
              <a:gd name="connsiteY3" fmla="*/ 523874 h 523874"/>
              <a:gd name="connsiteX4" fmla="*/ 228618 w 3124199"/>
              <a:gd name="connsiteY4" fmla="*/ 523874 h 523874"/>
              <a:gd name="connsiteX5" fmla="*/ 0 w 3124199"/>
              <a:gd name="connsiteY5" fmla="*/ 295256 h 523874"/>
              <a:gd name="connsiteX6" fmla="*/ 0 w 3124199"/>
              <a:gd name="connsiteY6" fmla="*/ 0 h 523874"/>
            </a:gdLst>
            <a:ahLst/>
            <a:cxnLst/>
            <a:rect l="l" t="t" r="r" b="b"/>
            <a:pathLst>
              <a:path w="3124199" h="523874">
                <a:moveTo>
                  <a:pt x="0" y="0"/>
                </a:moveTo>
                <a:lnTo>
                  <a:pt x="3124199" y="0"/>
                </a:lnTo>
                <a:lnTo>
                  <a:pt x="3124199" y="295256"/>
                </a:lnTo>
                <a:cubicBezTo>
                  <a:pt x="3124199" y="421518"/>
                  <a:pt x="3021843" y="523874"/>
                  <a:pt x="2895581" y="523874"/>
                </a:cubicBezTo>
                <a:lnTo>
                  <a:pt x="228618" y="523874"/>
                </a:lnTo>
                <a:cubicBezTo>
                  <a:pt x="102356" y="523874"/>
                  <a:pt x="0" y="421518"/>
                  <a:pt x="0" y="29525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317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533900" y="3882046"/>
            <a:ext cx="3124199" cy="628044"/>
          </a:xfrm>
          <a:custGeom>
            <a:avLst/>
            <a:gdLst>
              <a:gd name="connsiteX0" fmla="*/ 0 w 3124199"/>
              <a:gd name="connsiteY0" fmla="*/ 0 h 523874"/>
              <a:gd name="connsiteX1" fmla="*/ 3124199 w 3124199"/>
              <a:gd name="connsiteY1" fmla="*/ 0 h 523874"/>
              <a:gd name="connsiteX2" fmla="*/ 3124199 w 3124199"/>
              <a:gd name="connsiteY2" fmla="*/ 295256 h 523874"/>
              <a:gd name="connsiteX3" fmla="*/ 2895581 w 3124199"/>
              <a:gd name="connsiteY3" fmla="*/ 523874 h 523874"/>
              <a:gd name="connsiteX4" fmla="*/ 228618 w 3124199"/>
              <a:gd name="connsiteY4" fmla="*/ 523874 h 523874"/>
              <a:gd name="connsiteX5" fmla="*/ 0 w 3124199"/>
              <a:gd name="connsiteY5" fmla="*/ 295256 h 523874"/>
              <a:gd name="connsiteX6" fmla="*/ 0 w 3124199"/>
              <a:gd name="connsiteY6" fmla="*/ 0 h 523874"/>
            </a:gdLst>
            <a:ahLst/>
            <a:cxnLst/>
            <a:rect l="l" t="t" r="r" b="b"/>
            <a:pathLst>
              <a:path w="3124199" h="523874">
                <a:moveTo>
                  <a:pt x="0" y="0"/>
                </a:moveTo>
                <a:lnTo>
                  <a:pt x="3124199" y="0"/>
                </a:lnTo>
                <a:lnTo>
                  <a:pt x="3124199" y="295256"/>
                </a:lnTo>
                <a:cubicBezTo>
                  <a:pt x="3124199" y="421518"/>
                  <a:pt x="3021843" y="523874"/>
                  <a:pt x="2895581" y="523874"/>
                </a:cubicBezTo>
                <a:lnTo>
                  <a:pt x="228618" y="523874"/>
                </a:lnTo>
                <a:cubicBezTo>
                  <a:pt x="102356" y="523874"/>
                  <a:pt x="0" y="421518"/>
                  <a:pt x="0" y="29525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317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7867650" y="3882046"/>
            <a:ext cx="3124199" cy="628044"/>
          </a:xfrm>
          <a:custGeom>
            <a:avLst/>
            <a:gdLst>
              <a:gd name="connsiteX0" fmla="*/ 0 w 3124199"/>
              <a:gd name="connsiteY0" fmla="*/ 0 h 523874"/>
              <a:gd name="connsiteX1" fmla="*/ 3124199 w 3124199"/>
              <a:gd name="connsiteY1" fmla="*/ 0 h 523874"/>
              <a:gd name="connsiteX2" fmla="*/ 3124199 w 3124199"/>
              <a:gd name="connsiteY2" fmla="*/ 295256 h 523874"/>
              <a:gd name="connsiteX3" fmla="*/ 2895581 w 3124199"/>
              <a:gd name="connsiteY3" fmla="*/ 523874 h 523874"/>
              <a:gd name="connsiteX4" fmla="*/ 228618 w 3124199"/>
              <a:gd name="connsiteY4" fmla="*/ 523874 h 523874"/>
              <a:gd name="connsiteX5" fmla="*/ 0 w 3124199"/>
              <a:gd name="connsiteY5" fmla="*/ 295256 h 523874"/>
              <a:gd name="connsiteX6" fmla="*/ 0 w 3124199"/>
              <a:gd name="connsiteY6" fmla="*/ 0 h 523874"/>
            </a:gdLst>
            <a:ahLst/>
            <a:cxnLst/>
            <a:rect l="l" t="t" r="r" b="b"/>
            <a:pathLst>
              <a:path w="3124199" h="523874">
                <a:moveTo>
                  <a:pt x="0" y="0"/>
                </a:moveTo>
                <a:lnTo>
                  <a:pt x="3124199" y="0"/>
                </a:lnTo>
                <a:lnTo>
                  <a:pt x="3124199" y="295256"/>
                </a:lnTo>
                <a:cubicBezTo>
                  <a:pt x="3124199" y="421518"/>
                  <a:pt x="3021843" y="523874"/>
                  <a:pt x="2895581" y="523874"/>
                </a:cubicBezTo>
                <a:lnTo>
                  <a:pt x="228618" y="523874"/>
                </a:lnTo>
                <a:cubicBezTo>
                  <a:pt x="102356" y="523874"/>
                  <a:pt x="0" y="421518"/>
                  <a:pt x="0" y="29525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317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342416" y="4042180"/>
            <a:ext cx="2839668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Local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4676165" y="4042180"/>
            <a:ext cx="2839668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Remoto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8009915" y="4042180"/>
            <a:ext cx="2839668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Nube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1322251" y="4634434"/>
            <a:ext cx="2880000" cy="130894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15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El almacenamiento local se refiere a guardar copias de seguridad en dispositivos físicos cercanos, ofreciendo acceso rápido pero con riesgo de daños físicos.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4656000" y="4634434"/>
            <a:ext cx="2880000" cy="130894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15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El almacenamiento remoto implica utilizar servidores en ubicaciones diferentes, aumentando la seguridad ante desastres naturales o robos, aunque puede requerir más tiempo para acceder a los datos.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7989750" y="4634434"/>
            <a:ext cx="2880000" cy="130894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15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El almacenamiento en la nube ofrece una opción flexible y escalable para respaldos, permitiendo accesibilidad desde cualquier lugar, pero depende de una buena conexión a internet para la recuperación de datos.</a:t>
            </a:r>
            <a:endParaRPr kumimoji="1" lang="zh-CN" altLang="en-US"/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2">
            <a:alphaModFix/>
          </a:blip>
          <a:srcRect l="804" t="29668" r="67802" b="36898"/>
          <a:stretch>
            <a:fillRect/>
          </a:stretch>
        </p:blipFill>
        <p:spPr>
          <a:xfrm>
            <a:off x="4533902" y="1662722"/>
            <a:ext cx="3124199" cy="2219327"/>
          </a:xfrm>
          <a:custGeom>
            <a:avLst/>
            <a:gdLst/>
            <a:ahLst/>
            <a:cxnLst/>
            <a:rect l="l" t="t" r="r" b="b"/>
            <a:pathLst>
              <a:path w="3124199" h="2219327">
                <a:moveTo>
                  <a:pt x="228618" y="0"/>
                </a:moveTo>
                <a:lnTo>
                  <a:pt x="2895581" y="0"/>
                </a:lnTo>
                <a:cubicBezTo>
                  <a:pt x="3021843" y="0"/>
                  <a:pt x="3124199" y="102356"/>
                  <a:pt x="3124199" y="228618"/>
                </a:cubicBezTo>
                <a:lnTo>
                  <a:pt x="3124199" y="2219327"/>
                </a:lnTo>
                <a:lnTo>
                  <a:pt x="0" y="2219327"/>
                </a:lnTo>
                <a:lnTo>
                  <a:pt x="0" y="228618"/>
                </a:lnTo>
                <a:cubicBezTo>
                  <a:pt x="0" y="102356"/>
                  <a:pt x="102356" y="0"/>
                  <a:pt x="228618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3">
            <a:alphaModFix/>
          </a:blip>
          <a:srcRect l="804" t="29668" r="67802" b="36898"/>
          <a:stretch>
            <a:fillRect/>
          </a:stretch>
        </p:blipFill>
        <p:spPr>
          <a:xfrm>
            <a:off x="7867652" y="1662722"/>
            <a:ext cx="3124199" cy="2219327"/>
          </a:xfrm>
          <a:custGeom>
            <a:avLst/>
            <a:gdLst/>
            <a:ahLst/>
            <a:cxnLst/>
            <a:rect l="l" t="t" r="r" b="b"/>
            <a:pathLst>
              <a:path w="3124199" h="2219327">
                <a:moveTo>
                  <a:pt x="228618" y="0"/>
                </a:moveTo>
                <a:lnTo>
                  <a:pt x="2895581" y="0"/>
                </a:lnTo>
                <a:cubicBezTo>
                  <a:pt x="3021843" y="0"/>
                  <a:pt x="3124199" y="102356"/>
                  <a:pt x="3124199" y="228618"/>
                </a:cubicBezTo>
                <a:lnTo>
                  <a:pt x="3124199" y="2219327"/>
                </a:lnTo>
                <a:lnTo>
                  <a:pt x="0" y="2219327"/>
                </a:lnTo>
                <a:lnTo>
                  <a:pt x="0" y="228618"/>
                </a:lnTo>
                <a:cubicBezTo>
                  <a:pt x="0" y="102356"/>
                  <a:pt x="102356" y="0"/>
                  <a:pt x="228618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3">
            <a:alphaModFix/>
          </a:blip>
          <a:srcRect l="804" t="29668" r="67802" b="36898"/>
          <a:stretch>
            <a:fillRect/>
          </a:stretch>
        </p:blipFill>
        <p:spPr>
          <a:xfrm>
            <a:off x="1187452" y="1662722"/>
            <a:ext cx="3124199" cy="2219327"/>
          </a:xfrm>
          <a:custGeom>
            <a:avLst/>
            <a:gdLst/>
            <a:ahLst/>
            <a:cxnLst/>
            <a:rect l="l" t="t" r="r" b="b"/>
            <a:pathLst>
              <a:path w="3124199" h="2219327">
                <a:moveTo>
                  <a:pt x="228618" y="0"/>
                </a:moveTo>
                <a:lnTo>
                  <a:pt x="2895581" y="0"/>
                </a:lnTo>
                <a:cubicBezTo>
                  <a:pt x="3021843" y="0"/>
                  <a:pt x="3124199" y="102356"/>
                  <a:pt x="3124199" y="228618"/>
                </a:cubicBezTo>
                <a:lnTo>
                  <a:pt x="3124199" y="2219327"/>
                </a:lnTo>
                <a:lnTo>
                  <a:pt x="0" y="2219327"/>
                </a:lnTo>
                <a:lnTo>
                  <a:pt x="0" y="228618"/>
                </a:lnTo>
                <a:cubicBezTo>
                  <a:pt x="0" y="102356"/>
                  <a:pt x="102356" y="0"/>
                  <a:pt x="228618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5" name="标题 1"/>
          <p:cNvSpPr txBox="1"/>
          <p:nvPr/>
        </p:nvSpPr>
        <p:spPr>
          <a:xfrm>
            <a:off x="924761" y="470193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Almacenamiento de Backup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504217" y="534464"/>
            <a:ext cx="312365" cy="312365"/>
          </a:xfrm>
          <a:prstGeom prst="ellipse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533681" y="563928"/>
            <a:ext cx="253437" cy="253437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bg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EC153579-7B4C-1447-CB1B-B13CD2F36D4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5605670" y="1831259"/>
            <a:ext cx="1755485" cy="1117115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8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02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5605670" y="3309275"/>
            <a:ext cx="5911783" cy="2020369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Planes de </a:t>
            </a:r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Continuidad</a:t>
            </a: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de </a:t>
            </a:r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Negocio</a:t>
            </a:r>
            <a:endParaRPr kumimoji="1" lang="zh-CN" altLang="en-U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151D65E-3ACF-6895-D9C8-0E387967B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660399" y="1783916"/>
            <a:ext cx="2463724" cy="679648"/>
          </a:xfrm>
          <a:custGeom>
            <a:avLst/>
            <a:gdLst>
              <a:gd name="connsiteX0" fmla="*/ 719138 w 9429750"/>
              <a:gd name="connsiteY0" fmla="*/ 2190750 h 2591431"/>
              <a:gd name="connsiteX1" fmla="*/ 1245965 w 9429750"/>
              <a:gd name="connsiteY1" fmla="*/ 2190750 h 2591431"/>
              <a:gd name="connsiteX2" fmla="*/ 1309021 w 9429750"/>
              <a:gd name="connsiteY2" fmla="*/ 2235803 h 2591431"/>
              <a:gd name="connsiteX3" fmla="*/ 1649921 w 9429750"/>
              <a:gd name="connsiteY3" fmla="*/ 2584037 h 2591431"/>
              <a:gd name="connsiteX4" fmla="*/ 1739703 w 9429750"/>
              <a:gd name="connsiteY4" fmla="*/ 2555234 h 2591431"/>
              <a:gd name="connsiteX5" fmla="*/ 1744409 w 9429750"/>
              <a:gd name="connsiteY5" fmla="*/ 2506028 h 2591431"/>
              <a:gd name="connsiteX6" fmla="*/ 1874139 w 9429750"/>
              <a:gd name="connsiteY6" fmla="*/ 2195417 h 2591431"/>
              <a:gd name="connsiteX7" fmla="*/ 1898618 w 9429750"/>
              <a:gd name="connsiteY7" fmla="*/ 2190750 h 2591431"/>
              <a:gd name="connsiteX8" fmla="*/ 8710612 w 9429750"/>
              <a:gd name="connsiteY8" fmla="*/ 2190750 h 2591431"/>
              <a:gd name="connsiteX9" fmla="*/ 9429750 w 9429750"/>
              <a:gd name="connsiteY9" fmla="*/ 1471613 h 2591431"/>
              <a:gd name="connsiteX10" fmla="*/ 9429750 w 9429750"/>
              <a:gd name="connsiteY10" fmla="*/ 719138 h 2591431"/>
              <a:gd name="connsiteX11" fmla="*/ 8710612 w 9429750"/>
              <a:gd name="connsiteY11" fmla="*/ 0 h 2591431"/>
              <a:gd name="connsiteX12" fmla="*/ 719138 w 9429750"/>
              <a:gd name="connsiteY12" fmla="*/ 0 h 2591431"/>
              <a:gd name="connsiteX13" fmla="*/ 0 w 9429750"/>
              <a:gd name="connsiteY13" fmla="*/ 719138 h 2591431"/>
              <a:gd name="connsiteX14" fmla="*/ 0 w 9429750"/>
              <a:gd name="connsiteY14" fmla="*/ 1471613 h 2591431"/>
              <a:gd name="connsiteX15" fmla="*/ 719138 w 9429750"/>
              <a:gd name="connsiteY15" fmla="*/ 2190750 h 2591431"/>
            </a:gdLst>
            <a:ahLst/>
            <a:cxnLst/>
            <a:rect l="l" t="t" r="r" b="b"/>
            <a:pathLst>
              <a:path w="9429750" h="2591431">
                <a:moveTo>
                  <a:pt x="719138" y="2190750"/>
                </a:moveTo>
                <a:lnTo>
                  <a:pt x="1245965" y="2190750"/>
                </a:lnTo>
                <a:cubicBezTo>
                  <a:pt x="1274445" y="2190760"/>
                  <a:pt x="1299782" y="2208857"/>
                  <a:pt x="1309021" y="2235803"/>
                </a:cubicBezTo>
                <a:cubicBezTo>
                  <a:pt x="1372362" y="2413064"/>
                  <a:pt x="1528096" y="2522791"/>
                  <a:pt x="1649921" y="2584037"/>
                </a:cubicBezTo>
                <a:cubicBezTo>
                  <a:pt x="1682668" y="2600878"/>
                  <a:pt x="1722863" y="2587981"/>
                  <a:pt x="1739703" y="2555234"/>
                </a:cubicBezTo>
                <a:cubicBezTo>
                  <a:pt x="1747523" y="2540041"/>
                  <a:pt x="1749209" y="2522430"/>
                  <a:pt x="1744409" y="2506028"/>
                </a:cubicBezTo>
                <a:cubicBezTo>
                  <a:pt x="1712500" y="2400300"/>
                  <a:pt x="1710785" y="2262950"/>
                  <a:pt x="1874139" y="2195417"/>
                </a:cubicBezTo>
                <a:cubicBezTo>
                  <a:pt x="1881912" y="2192255"/>
                  <a:pt x="1890227" y="2190664"/>
                  <a:pt x="1898618" y="2190750"/>
                </a:cubicBezTo>
                <a:lnTo>
                  <a:pt x="8710612" y="2190750"/>
                </a:lnTo>
                <a:cubicBezTo>
                  <a:pt x="9107786" y="2190750"/>
                  <a:pt x="9429750" y="1868777"/>
                  <a:pt x="9429750" y="1471613"/>
                </a:cubicBezTo>
                <a:lnTo>
                  <a:pt x="9429750" y="719138"/>
                </a:lnTo>
                <a:cubicBezTo>
                  <a:pt x="9429750" y="321969"/>
                  <a:pt x="9107786" y="0"/>
                  <a:pt x="8710612" y="0"/>
                </a:cubicBezTo>
                <a:lnTo>
                  <a:pt x="719138" y="0"/>
                </a:lnTo>
                <a:cubicBezTo>
                  <a:pt x="321969" y="0"/>
                  <a:pt x="0" y="321969"/>
                  <a:pt x="0" y="719138"/>
                </a:cubicBezTo>
                <a:lnTo>
                  <a:pt x="0" y="1471613"/>
                </a:lnTo>
                <a:cubicBezTo>
                  <a:pt x="0" y="1868777"/>
                  <a:pt x="321969" y="2190750"/>
                  <a:pt x="719138" y="219075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830311" y="1903513"/>
            <a:ext cx="2123900" cy="339824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STEP. 01 </a:t>
            </a: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480981" y="1783916"/>
            <a:ext cx="2463724" cy="679648"/>
          </a:xfrm>
          <a:custGeom>
            <a:avLst/>
            <a:gdLst>
              <a:gd name="connsiteX0" fmla="*/ 719138 w 9429750"/>
              <a:gd name="connsiteY0" fmla="*/ 2190750 h 2591431"/>
              <a:gd name="connsiteX1" fmla="*/ 1245965 w 9429750"/>
              <a:gd name="connsiteY1" fmla="*/ 2190750 h 2591431"/>
              <a:gd name="connsiteX2" fmla="*/ 1309021 w 9429750"/>
              <a:gd name="connsiteY2" fmla="*/ 2235803 h 2591431"/>
              <a:gd name="connsiteX3" fmla="*/ 1649921 w 9429750"/>
              <a:gd name="connsiteY3" fmla="*/ 2584037 h 2591431"/>
              <a:gd name="connsiteX4" fmla="*/ 1739703 w 9429750"/>
              <a:gd name="connsiteY4" fmla="*/ 2555234 h 2591431"/>
              <a:gd name="connsiteX5" fmla="*/ 1744409 w 9429750"/>
              <a:gd name="connsiteY5" fmla="*/ 2506028 h 2591431"/>
              <a:gd name="connsiteX6" fmla="*/ 1874139 w 9429750"/>
              <a:gd name="connsiteY6" fmla="*/ 2195417 h 2591431"/>
              <a:gd name="connsiteX7" fmla="*/ 1898618 w 9429750"/>
              <a:gd name="connsiteY7" fmla="*/ 2190750 h 2591431"/>
              <a:gd name="connsiteX8" fmla="*/ 8710612 w 9429750"/>
              <a:gd name="connsiteY8" fmla="*/ 2190750 h 2591431"/>
              <a:gd name="connsiteX9" fmla="*/ 9429750 w 9429750"/>
              <a:gd name="connsiteY9" fmla="*/ 1471613 h 2591431"/>
              <a:gd name="connsiteX10" fmla="*/ 9429750 w 9429750"/>
              <a:gd name="connsiteY10" fmla="*/ 719138 h 2591431"/>
              <a:gd name="connsiteX11" fmla="*/ 8710612 w 9429750"/>
              <a:gd name="connsiteY11" fmla="*/ 0 h 2591431"/>
              <a:gd name="connsiteX12" fmla="*/ 719138 w 9429750"/>
              <a:gd name="connsiteY12" fmla="*/ 0 h 2591431"/>
              <a:gd name="connsiteX13" fmla="*/ 0 w 9429750"/>
              <a:gd name="connsiteY13" fmla="*/ 719138 h 2591431"/>
              <a:gd name="connsiteX14" fmla="*/ 0 w 9429750"/>
              <a:gd name="connsiteY14" fmla="*/ 1471613 h 2591431"/>
              <a:gd name="connsiteX15" fmla="*/ 719138 w 9429750"/>
              <a:gd name="connsiteY15" fmla="*/ 2190750 h 2591431"/>
            </a:gdLst>
            <a:ahLst/>
            <a:cxnLst/>
            <a:rect l="l" t="t" r="r" b="b"/>
            <a:pathLst>
              <a:path w="9429750" h="2591431">
                <a:moveTo>
                  <a:pt x="719138" y="2190750"/>
                </a:moveTo>
                <a:lnTo>
                  <a:pt x="1245965" y="2190750"/>
                </a:lnTo>
                <a:cubicBezTo>
                  <a:pt x="1274445" y="2190760"/>
                  <a:pt x="1299782" y="2208857"/>
                  <a:pt x="1309021" y="2235803"/>
                </a:cubicBezTo>
                <a:cubicBezTo>
                  <a:pt x="1372362" y="2413064"/>
                  <a:pt x="1528096" y="2522791"/>
                  <a:pt x="1649921" y="2584037"/>
                </a:cubicBezTo>
                <a:cubicBezTo>
                  <a:pt x="1682668" y="2600878"/>
                  <a:pt x="1722863" y="2587981"/>
                  <a:pt x="1739703" y="2555234"/>
                </a:cubicBezTo>
                <a:cubicBezTo>
                  <a:pt x="1747523" y="2540041"/>
                  <a:pt x="1749209" y="2522430"/>
                  <a:pt x="1744409" y="2506028"/>
                </a:cubicBezTo>
                <a:cubicBezTo>
                  <a:pt x="1712500" y="2400300"/>
                  <a:pt x="1710785" y="2262950"/>
                  <a:pt x="1874139" y="2195417"/>
                </a:cubicBezTo>
                <a:cubicBezTo>
                  <a:pt x="1881912" y="2192255"/>
                  <a:pt x="1890227" y="2190664"/>
                  <a:pt x="1898618" y="2190750"/>
                </a:cubicBezTo>
                <a:lnTo>
                  <a:pt x="8710612" y="2190750"/>
                </a:lnTo>
                <a:cubicBezTo>
                  <a:pt x="9107786" y="2190750"/>
                  <a:pt x="9429750" y="1868777"/>
                  <a:pt x="9429750" y="1471613"/>
                </a:cubicBezTo>
                <a:lnTo>
                  <a:pt x="9429750" y="719138"/>
                </a:lnTo>
                <a:cubicBezTo>
                  <a:pt x="9429750" y="321969"/>
                  <a:pt x="9107786" y="0"/>
                  <a:pt x="8710612" y="0"/>
                </a:cubicBezTo>
                <a:lnTo>
                  <a:pt x="719138" y="0"/>
                </a:lnTo>
                <a:cubicBezTo>
                  <a:pt x="321969" y="0"/>
                  <a:pt x="0" y="321969"/>
                  <a:pt x="0" y="719138"/>
                </a:cubicBezTo>
                <a:lnTo>
                  <a:pt x="0" y="1471613"/>
                </a:lnTo>
                <a:cubicBezTo>
                  <a:pt x="0" y="1868777"/>
                  <a:pt x="321969" y="2190750"/>
                  <a:pt x="719138" y="219075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4650893" y="1903513"/>
            <a:ext cx="2123900" cy="339824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STEP. 02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8301565" y="1783916"/>
            <a:ext cx="2463724" cy="679648"/>
          </a:xfrm>
          <a:custGeom>
            <a:avLst/>
            <a:gdLst>
              <a:gd name="connsiteX0" fmla="*/ 719138 w 9429750"/>
              <a:gd name="connsiteY0" fmla="*/ 2190750 h 2591431"/>
              <a:gd name="connsiteX1" fmla="*/ 1245965 w 9429750"/>
              <a:gd name="connsiteY1" fmla="*/ 2190750 h 2591431"/>
              <a:gd name="connsiteX2" fmla="*/ 1309021 w 9429750"/>
              <a:gd name="connsiteY2" fmla="*/ 2235803 h 2591431"/>
              <a:gd name="connsiteX3" fmla="*/ 1649921 w 9429750"/>
              <a:gd name="connsiteY3" fmla="*/ 2584037 h 2591431"/>
              <a:gd name="connsiteX4" fmla="*/ 1739703 w 9429750"/>
              <a:gd name="connsiteY4" fmla="*/ 2555234 h 2591431"/>
              <a:gd name="connsiteX5" fmla="*/ 1744409 w 9429750"/>
              <a:gd name="connsiteY5" fmla="*/ 2506028 h 2591431"/>
              <a:gd name="connsiteX6" fmla="*/ 1874139 w 9429750"/>
              <a:gd name="connsiteY6" fmla="*/ 2195417 h 2591431"/>
              <a:gd name="connsiteX7" fmla="*/ 1898618 w 9429750"/>
              <a:gd name="connsiteY7" fmla="*/ 2190750 h 2591431"/>
              <a:gd name="connsiteX8" fmla="*/ 8710612 w 9429750"/>
              <a:gd name="connsiteY8" fmla="*/ 2190750 h 2591431"/>
              <a:gd name="connsiteX9" fmla="*/ 9429750 w 9429750"/>
              <a:gd name="connsiteY9" fmla="*/ 1471613 h 2591431"/>
              <a:gd name="connsiteX10" fmla="*/ 9429750 w 9429750"/>
              <a:gd name="connsiteY10" fmla="*/ 719138 h 2591431"/>
              <a:gd name="connsiteX11" fmla="*/ 8710612 w 9429750"/>
              <a:gd name="connsiteY11" fmla="*/ 0 h 2591431"/>
              <a:gd name="connsiteX12" fmla="*/ 719138 w 9429750"/>
              <a:gd name="connsiteY12" fmla="*/ 0 h 2591431"/>
              <a:gd name="connsiteX13" fmla="*/ 0 w 9429750"/>
              <a:gd name="connsiteY13" fmla="*/ 719138 h 2591431"/>
              <a:gd name="connsiteX14" fmla="*/ 0 w 9429750"/>
              <a:gd name="connsiteY14" fmla="*/ 1471613 h 2591431"/>
              <a:gd name="connsiteX15" fmla="*/ 719138 w 9429750"/>
              <a:gd name="connsiteY15" fmla="*/ 2190750 h 2591431"/>
            </a:gdLst>
            <a:ahLst/>
            <a:cxnLst/>
            <a:rect l="l" t="t" r="r" b="b"/>
            <a:pathLst>
              <a:path w="9429750" h="2591431">
                <a:moveTo>
                  <a:pt x="719138" y="2190750"/>
                </a:moveTo>
                <a:lnTo>
                  <a:pt x="1245965" y="2190750"/>
                </a:lnTo>
                <a:cubicBezTo>
                  <a:pt x="1274445" y="2190760"/>
                  <a:pt x="1299782" y="2208857"/>
                  <a:pt x="1309021" y="2235803"/>
                </a:cubicBezTo>
                <a:cubicBezTo>
                  <a:pt x="1372362" y="2413064"/>
                  <a:pt x="1528096" y="2522791"/>
                  <a:pt x="1649921" y="2584037"/>
                </a:cubicBezTo>
                <a:cubicBezTo>
                  <a:pt x="1682668" y="2600878"/>
                  <a:pt x="1722863" y="2587981"/>
                  <a:pt x="1739703" y="2555234"/>
                </a:cubicBezTo>
                <a:cubicBezTo>
                  <a:pt x="1747523" y="2540041"/>
                  <a:pt x="1749209" y="2522430"/>
                  <a:pt x="1744409" y="2506028"/>
                </a:cubicBezTo>
                <a:cubicBezTo>
                  <a:pt x="1712500" y="2400300"/>
                  <a:pt x="1710785" y="2262950"/>
                  <a:pt x="1874139" y="2195417"/>
                </a:cubicBezTo>
                <a:cubicBezTo>
                  <a:pt x="1881912" y="2192255"/>
                  <a:pt x="1890227" y="2190664"/>
                  <a:pt x="1898618" y="2190750"/>
                </a:cubicBezTo>
                <a:lnTo>
                  <a:pt x="8710612" y="2190750"/>
                </a:lnTo>
                <a:cubicBezTo>
                  <a:pt x="9107786" y="2190750"/>
                  <a:pt x="9429750" y="1868777"/>
                  <a:pt x="9429750" y="1471613"/>
                </a:cubicBezTo>
                <a:lnTo>
                  <a:pt x="9429750" y="719138"/>
                </a:lnTo>
                <a:cubicBezTo>
                  <a:pt x="9429750" y="321969"/>
                  <a:pt x="9107786" y="0"/>
                  <a:pt x="8710612" y="0"/>
                </a:cubicBezTo>
                <a:lnTo>
                  <a:pt x="719138" y="0"/>
                </a:lnTo>
                <a:cubicBezTo>
                  <a:pt x="321969" y="0"/>
                  <a:pt x="0" y="321969"/>
                  <a:pt x="0" y="719138"/>
                </a:cubicBezTo>
                <a:lnTo>
                  <a:pt x="0" y="1471613"/>
                </a:lnTo>
                <a:cubicBezTo>
                  <a:pt x="0" y="1868777"/>
                  <a:pt x="321969" y="2190750"/>
                  <a:pt x="719138" y="219075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8471477" y="1903513"/>
            <a:ext cx="2123900" cy="339824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STEP .03</a:t>
            </a:r>
            <a:endParaRPr kumimoji="1" lang="zh-CN" altLang="en-US"/>
          </a:p>
        </p:txBody>
      </p:sp>
      <p:cxnSp>
        <p:nvCxnSpPr>
          <p:cNvPr id="8" name="标题 1"/>
          <p:cNvCxnSpPr/>
          <p:nvPr/>
        </p:nvCxnSpPr>
        <p:spPr>
          <a:xfrm>
            <a:off x="686527" y="5473471"/>
            <a:ext cx="7668000" cy="0"/>
          </a:xfrm>
          <a:prstGeom prst="line">
            <a:avLst/>
          </a:prstGeom>
          <a:noFill/>
          <a:ln w="12700" cap="sq">
            <a:solidFill>
              <a:schemeClr val="bg1">
                <a:lumMod val="85000"/>
              </a:schemeClr>
            </a:solidFill>
            <a:round/>
            <a:headEnd type="none"/>
            <a:tailEnd type="none"/>
          </a:ln>
        </p:spPr>
      </p:cxnSp>
      <p:sp>
        <p:nvSpPr>
          <p:cNvPr id="9" name="标题 1"/>
          <p:cNvSpPr txBox="1"/>
          <p:nvPr/>
        </p:nvSpPr>
        <p:spPr>
          <a:xfrm>
            <a:off x="4480981" y="5419471"/>
            <a:ext cx="108000" cy="108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8301565" y="5419471"/>
            <a:ext cx="108000" cy="108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660399" y="5419471"/>
            <a:ext cx="108000" cy="108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660398" y="2535123"/>
            <a:ext cx="3217335" cy="72000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Identificación de amenazas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660398" y="3214773"/>
            <a:ext cx="3217335" cy="198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La identificación de amenazas implica analizar posibles eventos que pueden interrumpir las operaciones, tales como desastres naturales, fallas tecnológicas o problemas de seguridad.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4480982" y="2535123"/>
            <a:ext cx="3217335" cy="72000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Análisis de impacto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4480982" y="3214773"/>
            <a:ext cx="3217335" cy="198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El análisis de impacto evalúa las consecuencias de las amenazas identificadas, determinando cómo afectarán la continuidad del negocio y priorizando los riesgos según su gravedad.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8301565" y="2535123"/>
            <a:ext cx="3217335" cy="72000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Estrategias de mitigación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8301565" y="3214773"/>
            <a:ext cx="3217335" cy="198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Las estrategias de mitigación son acciones específicas diseñadas para reducir la probabilidad de ocurrencia de amenazas y minimizar su impacto en las operaciones del negocio.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924761" y="470193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Evaluación de Riesgos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504217" y="534464"/>
            <a:ext cx="312365" cy="312365"/>
          </a:xfrm>
          <a:prstGeom prst="ellipse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533681" y="563928"/>
            <a:ext cx="253437" cy="253437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bg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52648647-A2DB-1443-ADAE-2BDB91F17A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8087224" y="4850754"/>
            <a:ext cx="861324" cy="508944"/>
          </a:xfrm>
          <a:prstGeom prst="rightArrow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5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9033036" y="4665070"/>
            <a:ext cx="2612864" cy="276999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14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Procedimientos de comunicación</a:t>
            </a: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9033037" y="4998897"/>
            <a:ext cx="2616674" cy="11352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007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Establecer procedimientos de comunicación claros es esencial para mantener informados a todos los interesados durante una crisis, asegurando que la información fluya de manera oportuna y precisa.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4218724" y="4226416"/>
            <a:ext cx="3603625" cy="346075"/>
          </a:xfrm>
          <a:custGeom>
            <a:avLst/>
            <a:gdLst>
              <a:gd name="T0" fmla="*/ 959 w 959"/>
              <a:gd name="T1" fmla="*/ 92 h 92"/>
              <a:gd name="T2" fmla="*/ 148 w 959"/>
              <a:gd name="T3" fmla="*/ 92 h 92"/>
              <a:gd name="T4" fmla="*/ 0 w 959"/>
              <a:gd name="T5" fmla="*/ 0 h 92"/>
              <a:gd name="T6" fmla="*/ 812 w 959"/>
              <a:gd name="T7" fmla="*/ 0 h 92"/>
              <a:gd name="T8" fmla="*/ 959 w 959"/>
              <a:gd name="T9" fmla="*/ 92 h 92"/>
            </a:gdLst>
            <a:ahLst/>
            <a:cxnLst/>
            <a:rect l="0" t="0" r="r" b="b"/>
            <a:pathLst>
              <a:path w="959" h="92">
                <a:moveTo>
                  <a:pt x="959" y="92"/>
                </a:moveTo>
                <a:cubicBezTo>
                  <a:pt x="148" y="92"/>
                  <a:pt x="148" y="92"/>
                  <a:pt x="148" y="92"/>
                </a:cubicBezTo>
                <a:cubicBezTo>
                  <a:pt x="0" y="0"/>
                  <a:pt x="0" y="0"/>
                  <a:pt x="0" y="0"/>
                </a:cubicBezTo>
                <a:cubicBezTo>
                  <a:pt x="812" y="0"/>
                  <a:pt x="812" y="0"/>
                  <a:pt x="812" y="0"/>
                </a:cubicBezTo>
                <a:cubicBezTo>
                  <a:pt x="812" y="0"/>
                  <a:pt x="958" y="91"/>
                  <a:pt x="959" y="92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5180749" y="2638916"/>
            <a:ext cx="1698625" cy="331788"/>
          </a:xfrm>
          <a:custGeom>
            <a:avLst/>
            <a:gdLst>
              <a:gd name="T0" fmla="*/ 452 w 452"/>
              <a:gd name="T1" fmla="*/ 88 h 88"/>
              <a:gd name="T2" fmla="*/ 146 w 452"/>
              <a:gd name="T3" fmla="*/ 88 h 88"/>
              <a:gd name="T4" fmla="*/ 0 w 452"/>
              <a:gd name="T5" fmla="*/ 0 h 88"/>
              <a:gd name="T6" fmla="*/ 307 w 452"/>
              <a:gd name="T7" fmla="*/ 0 h 88"/>
              <a:gd name="T8" fmla="*/ 452 w 452"/>
              <a:gd name="T9" fmla="*/ 88 h 88"/>
            </a:gdLst>
            <a:ahLst/>
            <a:cxnLst/>
            <a:rect l="0" t="0" r="r" b="b"/>
            <a:pathLst>
              <a:path w="452" h="88">
                <a:moveTo>
                  <a:pt x="452" y="88"/>
                </a:moveTo>
                <a:cubicBezTo>
                  <a:pt x="146" y="88"/>
                  <a:pt x="146" y="88"/>
                  <a:pt x="146" y="88"/>
                </a:cubicBezTo>
                <a:cubicBezTo>
                  <a:pt x="146" y="88"/>
                  <a:pt x="1" y="0"/>
                  <a:pt x="0" y="0"/>
                </a:cubicBezTo>
                <a:cubicBezTo>
                  <a:pt x="307" y="0"/>
                  <a:pt x="307" y="0"/>
                  <a:pt x="307" y="0"/>
                </a:cubicBezTo>
                <a:cubicBezTo>
                  <a:pt x="307" y="0"/>
                  <a:pt x="452" y="88"/>
                  <a:pt x="452" y="88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3275749" y="4567728"/>
            <a:ext cx="5299075" cy="1301750"/>
          </a:xfrm>
          <a:custGeom>
            <a:avLst/>
            <a:gdLst>
              <a:gd name="T0" fmla="*/ 2864 w 3338"/>
              <a:gd name="T1" fmla="*/ 0 h 820"/>
              <a:gd name="T2" fmla="*/ 3338 w 3338"/>
              <a:gd name="T3" fmla="*/ 820 h 820"/>
              <a:gd name="T4" fmla="*/ 1654 w 3338"/>
              <a:gd name="T5" fmla="*/ 820 h 820"/>
              <a:gd name="T6" fmla="*/ 0 w 3338"/>
              <a:gd name="T7" fmla="*/ 820 h 820"/>
              <a:gd name="T8" fmla="*/ 468 w 3338"/>
              <a:gd name="T9" fmla="*/ 0 h 820"/>
              <a:gd name="T10" fmla="*/ 2864 w 3338"/>
              <a:gd name="T11" fmla="*/ 0 h 820"/>
            </a:gdLst>
            <a:ahLst/>
            <a:cxnLst/>
            <a:rect l="0" t="0" r="r" b="b"/>
            <a:pathLst>
              <a:path w="3338" h="820">
                <a:moveTo>
                  <a:pt x="2864" y="0"/>
                </a:moveTo>
                <a:lnTo>
                  <a:pt x="3338" y="820"/>
                </a:lnTo>
                <a:lnTo>
                  <a:pt x="1654" y="820"/>
                </a:lnTo>
                <a:lnTo>
                  <a:pt x="0" y="820"/>
                </a:lnTo>
                <a:lnTo>
                  <a:pt x="468" y="0"/>
                </a:lnTo>
                <a:lnTo>
                  <a:pt x="2864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cap="sq">
            <a:noFill/>
          </a:ln>
        </p:spPr>
        <p:txBody>
          <a:bodyPr vert="horz" wrap="square" lIns="457200" tIns="0" rIns="457200" bIns="0" rtlCol="0" anchor="ctr"/>
          <a:lstStyle/>
          <a:p>
            <a:pPr algn="l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4226662" y="2932603"/>
            <a:ext cx="3392488" cy="1308100"/>
          </a:xfrm>
          <a:custGeom>
            <a:avLst/>
            <a:gdLst>
              <a:gd name="T0" fmla="*/ 471 w 2137"/>
              <a:gd name="T1" fmla="*/ 0 h 824"/>
              <a:gd name="T2" fmla="*/ 1666 w 2137"/>
              <a:gd name="T3" fmla="*/ 0 h 824"/>
              <a:gd name="T4" fmla="*/ 2137 w 2137"/>
              <a:gd name="T5" fmla="*/ 824 h 824"/>
              <a:gd name="T6" fmla="*/ 0 w 2137"/>
              <a:gd name="T7" fmla="*/ 824 h 824"/>
              <a:gd name="T8" fmla="*/ 471 w 2137"/>
              <a:gd name="T9" fmla="*/ 0 h 824"/>
            </a:gdLst>
            <a:ahLst/>
            <a:cxnLst/>
            <a:rect l="0" t="0" r="r" b="b"/>
            <a:pathLst>
              <a:path w="2137" h="824">
                <a:moveTo>
                  <a:pt x="471" y="0"/>
                </a:moveTo>
                <a:lnTo>
                  <a:pt x="1666" y="0"/>
                </a:lnTo>
                <a:lnTo>
                  <a:pt x="2137" y="824"/>
                </a:lnTo>
                <a:lnTo>
                  <a:pt x="0" y="824"/>
                </a:lnTo>
                <a:lnTo>
                  <a:pt x="471" y="0"/>
                </a:lnTo>
                <a:close/>
              </a:path>
            </a:pathLst>
          </a:custGeom>
          <a:solidFill>
            <a:schemeClr val="accent1"/>
          </a:solidFill>
          <a:ln cap="sq">
            <a:noFill/>
          </a:ln>
        </p:spPr>
        <p:txBody>
          <a:bodyPr vert="horz" wrap="square" lIns="457200" tIns="0" rIns="457200" bIns="0" rtlCol="0" anchor="ctr"/>
          <a:lstStyle/>
          <a:p>
            <a:pPr algn="l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5180749" y="1357803"/>
            <a:ext cx="1481138" cy="1296988"/>
          </a:xfrm>
          <a:custGeom>
            <a:avLst/>
            <a:gdLst>
              <a:gd name="T0" fmla="*/ 0 w 933"/>
              <a:gd name="T1" fmla="*/ 817 h 817"/>
              <a:gd name="T2" fmla="*/ 466 w 933"/>
              <a:gd name="T3" fmla="*/ 0 h 817"/>
              <a:gd name="T4" fmla="*/ 933 w 933"/>
              <a:gd name="T5" fmla="*/ 817 h 817"/>
              <a:gd name="T6" fmla="*/ 0 w 933"/>
              <a:gd name="T7" fmla="*/ 817 h 817"/>
            </a:gdLst>
            <a:ahLst/>
            <a:cxnLst/>
            <a:rect l="0" t="0" r="r" b="b"/>
            <a:pathLst>
              <a:path w="933" h="817">
                <a:moveTo>
                  <a:pt x="0" y="817"/>
                </a:moveTo>
                <a:lnTo>
                  <a:pt x="466" y="0"/>
                </a:lnTo>
                <a:lnTo>
                  <a:pt x="933" y="817"/>
                </a:lnTo>
                <a:lnTo>
                  <a:pt x="0" y="817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cap="sq">
            <a:noFill/>
          </a:ln>
        </p:spPr>
        <p:txBody>
          <a:bodyPr vert="horz" wrap="square" lIns="365760" tIns="548640" rIns="36576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744897" y="1689579"/>
            <a:ext cx="861324" cy="508944"/>
          </a:xfrm>
          <a:prstGeom prst="rightArrow">
            <a:avLst/>
          </a:prstGeom>
          <a:gradFill>
            <a:gsLst>
              <a:gs pos="0">
                <a:schemeClr val="bg1"/>
              </a:gs>
              <a:gs pos="100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flipH="1">
            <a:off x="3413547" y="3389933"/>
            <a:ext cx="861324" cy="508944"/>
          </a:xfrm>
          <a:prstGeom prst="rightArrow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7730016" y="1484551"/>
            <a:ext cx="3103084" cy="276999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Componentes del plan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7730017" y="1831588"/>
            <a:ext cx="3099274" cy="11352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Los componentes del plan incluyen las políticas y procedimientos necesarios para garantizar la continuidad del negocio, cubriendo aspectos como recursos, procesos y logística.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558800" y="3183811"/>
            <a:ext cx="2669021" cy="276999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b"/>
          <a:lstStyle/>
          <a:p>
            <a:pPr algn="r"/>
            <a:r>
              <a:rPr kumimoji="1" lang="en-US" altLang="zh-CN" sz="1498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Roles y responsabilidades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558800" y="3530848"/>
            <a:ext cx="2669021" cy="132309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/>
            <a:r>
              <a:rPr kumimoji="1" lang="en-US" altLang="zh-CN" sz="1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Definir roles y responsabilidades asegura que todos los miembros del equipo entiendan sus tareas en caso de una interrupción, facilitando una respuesta coordinada y efectiva.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924761" y="470193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Desarrollo del Plan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504217" y="534464"/>
            <a:ext cx="312365" cy="312365"/>
          </a:xfrm>
          <a:prstGeom prst="ellipse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533681" y="563928"/>
            <a:ext cx="253437" cy="253437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bg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EF8D621A-43E1-4E4A-ECAA-DFE47999DC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7962505" y="2594610"/>
            <a:ext cx="2663591" cy="2579256"/>
          </a:xfrm>
          <a:prstGeom prst="roundRect">
            <a:avLst>
              <a:gd name="adj" fmla="val 4731"/>
            </a:avLst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4709924" y="2594610"/>
            <a:ext cx="2663591" cy="2579256"/>
          </a:xfrm>
          <a:prstGeom prst="roundRect">
            <a:avLst>
              <a:gd name="adj" fmla="val 4731"/>
            </a:avLst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442201" y="2594610"/>
            <a:ext cx="2663591" cy="2579256"/>
          </a:xfrm>
          <a:prstGeom prst="roundRect">
            <a:avLst>
              <a:gd name="adj" fmla="val 4731"/>
            </a:avLst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442201" y="1986900"/>
            <a:ext cx="2663591" cy="1027657"/>
          </a:xfrm>
          <a:prstGeom prst="roundRect">
            <a:avLst/>
          </a:prstGeom>
          <a:solidFill>
            <a:schemeClr val="accent2"/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4720714" y="1986900"/>
            <a:ext cx="2663591" cy="1027657"/>
          </a:xfrm>
          <a:prstGeom prst="roundRect">
            <a:avLst/>
          </a:prstGeom>
          <a:solidFill>
            <a:schemeClr val="accent1"/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7981656" y="1986900"/>
            <a:ext cx="2663591" cy="1027657"/>
          </a:xfrm>
          <a:prstGeom prst="roundRect">
            <a:avLst/>
          </a:prstGeom>
          <a:solidFill>
            <a:schemeClr val="accent2"/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3359448" y="2753777"/>
            <a:ext cx="558802" cy="558802"/>
          </a:xfrm>
          <a:prstGeom prst="ellipse">
            <a:avLst/>
          </a:prstGeom>
          <a:solidFill>
            <a:schemeClr val="accent2"/>
          </a:solidFill>
          <a:ln w="19050" cap="sq">
            <a:solidFill>
              <a:schemeClr val="bg1"/>
            </a:solidFill>
            <a:miter/>
          </a:ln>
          <a:effectLst>
            <a:outerShdw blurRad="381000" dist="63500" dir="10260000" algn="t" rotWithShape="0">
              <a:schemeClr val="accent1"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6637961" y="2753777"/>
            <a:ext cx="558802" cy="558802"/>
          </a:xfrm>
          <a:prstGeom prst="ellipse">
            <a:avLst/>
          </a:prstGeom>
          <a:solidFill>
            <a:schemeClr val="accent1"/>
          </a:solidFill>
          <a:ln w="19050" cap="sq">
            <a:solidFill>
              <a:schemeClr val="bg1"/>
            </a:solidFill>
            <a:miter/>
          </a:ln>
          <a:effectLst>
            <a:outerShdw blurRad="381000" dist="63500" dir="10260000" algn="t" rotWithShape="0">
              <a:schemeClr val="accent1"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898903" y="2753777"/>
            <a:ext cx="558802" cy="558802"/>
          </a:xfrm>
          <a:prstGeom prst="ellipse">
            <a:avLst/>
          </a:prstGeom>
          <a:solidFill>
            <a:schemeClr val="accent2"/>
          </a:solidFill>
          <a:ln w="19050" cap="sq">
            <a:solidFill>
              <a:schemeClr val="bg1"/>
            </a:solidFill>
            <a:miter/>
          </a:ln>
          <a:effectLst>
            <a:outerShdw blurRad="381000" dist="63500" dir="10260000" algn="t" rotWithShape="0">
              <a:schemeClr val="accent2"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3518556" y="2917936"/>
            <a:ext cx="240586" cy="230484"/>
          </a:xfrm>
          <a:custGeom>
            <a:avLst/>
            <a:gdLst>
              <a:gd name="connsiteX0" fmla="*/ 196501 w 467362"/>
              <a:gd name="connsiteY0" fmla="*/ 222283 h 447740"/>
              <a:gd name="connsiteX1" fmla="*/ 227171 w 467362"/>
              <a:gd name="connsiteY1" fmla="*/ 249334 h 447740"/>
              <a:gd name="connsiteX2" fmla="*/ 204216 w 467362"/>
              <a:gd name="connsiteY2" fmla="*/ 278671 h 447740"/>
              <a:gd name="connsiteX3" fmla="*/ 196501 w 467362"/>
              <a:gd name="connsiteY3" fmla="*/ 278671 h 447740"/>
              <a:gd name="connsiteX4" fmla="*/ 181356 w 467362"/>
              <a:gd name="connsiteY4" fmla="*/ 263526 h 447740"/>
              <a:gd name="connsiteX5" fmla="*/ 181356 w 467362"/>
              <a:gd name="connsiteY5" fmla="*/ 237523 h 447740"/>
              <a:gd name="connsiteX6" fmla="*/ 181356 w 467362"/>
              <a:gd name="connsiteY6" fmla="*/ 237428 h 447740"/>
              <a:gd name="connsiteX7" fmla="*/ 196501 w 467362"/>
              <a:gd name="connsiteY7" fmla="*/ 222283 h 447740"/>
              <a:gd name="connsiteX8" fmla="*/ 139827 w 467362"/>
              <a:gd name="connsiteY8" fmla="*/ 182183 h 447740"/>
              <a:gd name="connsiteX9" fmla="*/ 124777 w 467362"/>
              <a:gd name="connsiteY9" fmla="*/ 197233 h 447740"/>
              <a:gd name="connsiteX10" fmla="*/ 124777 w 467362"/>
              <a:gd name="connsiteY10" fmla="*/ 368683 h 447740"/>
              <a:gd name="connsiteX11" fmla="*/ 124777 w 467362"/>
              <a:gd name="connsiteY11" fmla="*/ 368686 h 447740"/>
              <a:gd name="connsiteX12" fmla="*/ 139636 w 467362"/>
              <a:gd name="connsiteY12" fmla="*/ 383923 h 447740"/>
              <a:gd name="connsiteX13" fmla="*/ 166497 w 467362"/>
              <a:gd name="connsiteY13" fmla="*/ 383923 h 447740"/>
              <a:gd name="connsiteX14" fmla="*/ 181547 w 467362"/>
              <a:gd name="connsiteY14" fmla="*/ 368873 h 447740"/>
              <a:gd name="connsiteX15" fmla="*/ 181547 w 467362"/>
              <a:gd name="connsiteY15" fmla="*/ 334202 h 447740"/>
              <a:gd name="connsiteX16" fmla="*/ 196691 w 467362"/>
              <a:gd name="connsiteY16" fmla="*/ 319058 h 447740"/>
              <a:gd name="connsiteX17" fmla="*/ 209836 w 467362"/>
              <a:gd name="connsiteY17" fmla="*/ 319058 h 447740"/>
              <a:gd name="connsiteX18" fmla="*/ 247936 w 467362"/>
              <a:gd name="connsiteY18" fmla="*/ 309533 h 447740"/>
              <a:gd name="connsiteX19" fmla="*/ 272986 w 467362"/>
              <a:gd name="connsiteY19" fmla="*/ 284101 h 447740"/>
              <a:gd name="connsiteX20" fmla="*/ 281273 w 467362"/>
              <a:gd name="connsiteY20" fmla="*/ 251049 h 447740"/>
              <a:gd name="connsiteX21" fmla="*/ 272606 w 467362"/>
              <a:gd name="connsiteY21" fmla="*/ 217235 h 447740"/>
              <a:gd name="connsiteX22" fmla="*/ 247650 w 467362"/>
              <a:gd name="connsiteY22" fmla="*/ 191899 h 447740"/>
              <a:gd name="connsiteX23" fmla="*/ 207550 w 467362"/>
              <a:gd name="connsiteY23" fmla="*/ 182183 h 447740"/>
              <a:gd name="connsiteX24" fmla="*/ 15049 w 467362"/>
              <a:gd name="connsiteY24" fmla="*/ 73884 h 447740"/>
              <a:gd name="connsiteX25" fmla="*/ 183451 w 467362"/>
              <a:gd name="connsiteY25" fmla="*/ 73884 h 447740"/>
              <a:gd name="connsiteX26" fmla="*/ 198215 w 467362"/>
              <a:gd name="connsiteY26" fmla="*/ 85314 h 447740"/>
              <a:gd name="connsiteX27" fmla="*/ 202978 w 467362"/>
              <a:gd name="connsiteY27" fmla="*/ 105983 h 447740"/>
              <a:gd name="connsiteX28" fmla="*/ 217742 w 467362"/>
              <a:gd name="connsiteY28" fmla="*/ 117699 h 447740"/>
              <a:gd name="connsiteX29" fmla="*/ 354140 w 467362"/>
              <a:gd name="connsiteY29" fmla="*/ 117699 h 447740"/>
              <a:gd name="connsiteX30" fmla="*/ 354235 w 467362"/>
              <a:gd name="connsiteY30" fmla="*/ 117699 h 447740"/>
              <a:gd name="connsiteX31" fmla="*/ 369284 w 467362"/>
              <a:gd name="connsiteY31" fmla="*/ 132749 h 447740"/>
              <a:gd name="connsiteX32" fmla="*/ 369284 w 467362"/>
              <a:gd name="connsiteY32" fmla="*/ 432596 h 447740"/>
              <a:gd name="connsiteX33" fmla="*/ 354140 w 467362"/>
              <a:gd name="connsiteY33" fmla="*/ 447740 h 447740"/>
              <a:gd name="connsiteX34" fmla="*/ 15049 w 467362"/>
              <a:gd name="connsiteY34" fmla="*/ 447740 h 447740"/>
              <a:gd name="connsiteX35" fmla="*/ 0 w 467362"/>
              <a:gd name="connsiteY35" fmla="*/ 432596 h 447740"/>
              <a:gd name="connsiteX36" fmla="*/ 0 w 467362"/>
              <a:gd name="connsiteY36" fmla="*/ 88934 h 447740"/>
              <a:gd name="connsiteX37" fmla="*/ 15049 w 467362"/>
              <a:gd name="connsiteY37" fmla="*/ 73884 h 447740"/>
              <a:gd name="connsiteX38" fmla="*/ 124778 w 467362"/>
              <a:gd name="connsiteY38" fmla="*/ 351 h 447740"/>
              <a:gd name="connsiteX39" fmla="*/ 455581 w 467362"/>
              <a:gd name="connsiteY39" fmla="*/ 74075 h 447740"/>
              <a:gd name="connsiteX40" fmla="*/ 467011 w 467362"/>
              <a:gd name="connsiteY40" fmla="*/ 91982 h 447740"/>
              <a:gd name="connsiteX41" fmla="*/ 400336 w 467362"/>
              <a:gd name="connsiteY41" fmla="*/ 399449 h 447740"/>
              <a:gd name="connsiteX42" fmla="*/ 399193 w 467362"/>
              <a:gd name="connsiteY42" fmla="*/ 399449 h 447740"/>
              <a:gd name="connsiteX43" fmla="*/ 387573 w 467362"/>
              <a:gd name="connsiteY43" fmla="*/ 384780 h 447740"/>
              <a:gd name="connsiteX44" fmla="*/ 387573 w 467362"/>
              <a:gd name="connsiteY44" fmla="*/ 114556 h 447740"/>
              <a:gd name="connsiteX45" fmla="*/ 372428 w 467362"/>
              <a:gd name="connsiteY45" fmla="*/ 99411 h 447740"/>
              <a:gd name="connsiteX46" fmla="*/ 235839 w 467362"/>
              <a:gd name="connsiteY46" fmla="*/ 99411 h 447740"/>
              <a:gd name="connsiteX47" fmla="*/ 221171 w 467362"/>
              <a:gd name="connsiteY47" fmla="*/ 87791 h 447740"/>
              <a:gd name="connsiteX48" fmla="*/ 216408 w 467362"/>
              <a:gd name="connsiteY48" fmla="*/ 67121 h 447740"/>
              <a:gd name="connsiteX49" fmla="*/ 201645 w 467362"/>
              <a:gd name="connsiteY49" fmla="*/ 55501 h 447740"/>
              <a:gd name="connsiteX50" fmla="*/ 115920 w 467362"/>
              <a:gd name="connsiteY50" fmla="*/ 55501 h 447740"/>
              <a:gd name="connsiteX51" fmla="*/ 112872 w 467362"/>
              <a:gd name="connsiteY51" fmla="*/ 55171 h 447740"/>
              <a:gd name="connsiteX52" fmla="*/ 101156 w 467362"/>
              <a:gd name="connsiteY52" fmla="*/ 37213 h 447740"/>
              <a:gd name="connsiteX53" fmla="*/ 106680 w 467362"/>
              <a:gd name="connsiteY53" fmla="*/ 11876 h 447740"/>
              <a:gd name="connsiteX54" fmla="*/ 124778 w 467362"/>
              <a:gd name="connsiteY54" fmla="*/ 351 h 447740"/>
            </a:gdLst>
            <a:ahLst/>
            <a:cxnLst/>
            <a:rect l="l" t="t" r="r" b="b"/>
            <a:pathLst>
              <a:path w="467362" h="447740">
                <a:moveTo>
                  <a:pt x="196501" y="222283"/>
                </a:moveTo>
                <a:cubicBezTo>
                  <a:pt x="216123" y="222791"/>
                  <a:pt x="226343" y="231808"/>
                  <a:pt x="227171" y="249334"/>
                </a:cubicBezTo>
                <a:cubicBezTo>
                  <a:pt x="226981" y="267813"/>
                  <a:pt x="219361" y="277528"/>
                  <a:pt x="204216" y="278671"/>
                </a:cubicBezTo>
                <a:lnTo>
                  <a:pt x="196501" y="278671"/>
                </a:lnTo>
                <a:cubicBezTo>
                  <a:pt x="188138" y="278671"/>
                  <a:pt x="181356" y="271890"/>
                  <a:pt x="181356" y="263526"/>
                </a:cubicBezTo>
                <a:lnTo>
                  <a:pt x="181356" y="237523"/>
                </a:lnTo>
                <a:cubicBezTo>
                  <a:pt x="181356" y="237492"/>
                  <a:pt x="181356" y="237459"/>
                  <a:pt x="181356" y="237428"/>
                </a:cubicBezTo>
                <a:cubicBezTo>
                  <a:pt x="181356" y="229063"/>
                  <a:pt x="188138" y="222283"/>
                  <a:pt x="196501" y="222283"/>
                </a:cubicBezTo>
                <a:close/>
                <a:moveTo>
                  <a:pt x="139827" y="182183"/>
                </a:moveTo>
                <a:cubicBezTo>
                  <a:pt x="131511" y="182183"/>
                  <a:pt x="124777" y="188921"/>
                  <a:pt x="124777" y="197233"/>
                </a:cubicBezTo>
                <a:lnTo>
                  <a:pt x="124777" y="368683"/>
                </a:lnTo>
                <a:cubicBezTo>
                  <a:pt x="124777" y="368684"/>
                  <a:pt x="124777" y="368685"/>
                  <a:pt x="124777" y="368686"/>
                </a:cubicBezTo>
                <a:cubicBezTo>
                  <a:pt x="124673" y="376996"/>
                  <a:pt x="131321" y="383818"/>
                  <a:pt x="139636" y="383923"/>
                </a:cubicBezTo>
                <a:lnTo>
                  <a:pt x="166497" y="383923"/>
                </a:lnTo>
                <a:cubicBezTo>
                  <a:pt x="174812" y="383923"/>
                  <a:pt x="181547" y="377185"/>
                  <a:pt x="181547" y="368873"/>
                </a:cubicBezTo>
                <a:lnTo>
                  <a:pt x="181547" y="334202"/>
                </a:lnTo>
                <a:cubicBezTo>
                  <a:pt x="181547" y="325838"/>
                  <a:pt x="188328" y="319058"/>
                  <a:pt x="196691" y="319058"/>
                </a:cubicBezTo>
                <a:lnTo>
                  <a:pt x="209836" y="319058"/>
                </a:lnTo>
                <a:cubicBezTo>
                  <a:pt x="223152" y="319298"/>
                  <a:pt x="236296" y="316011"/>
                  <a:pt x="247936" y="309533"/>
                </a:cubicBezTo>
                <a:cubicBezTo>
                  <a:pt x="258584" y="303672"/>
                  <a:pt x="267290" y="294834"/>
                  <a:pt x="272986" y="284101"/>
                </a:cubicBezTo>
                <a:cubicBezTo>
                  <a:pt x="278501" y="273963"/>
                  <a:pt x="281359" y="262590"/>
                  <a:pt x="281273" y="251049"/>
                </a:cubicBezTo>
                <a:cubicBezTo>
                  <a:pt x="281321" y="239223"/>
                  <a:pt x="278340" y="227581"/>
                  <a:pt x="272606" y="217235"/>
                </a:cubicBezTo>
                <a:cubicBezTo>
                  <a:pt x="266738" y="206686"/>
                  <a:pt x="258108" y="197929"/>
                  <a:pt x="247650" y="191899"/>
                </a:cubicBezTo>
                <a:cubicBezTo>
                  <a:pt x="235325" y="185300"/>
                  <a:pt x="221523" y="181956"/>
                  <a:pt x="207550" y="182183"/>
                </a:cubicBezTo>
                <a:close/>
                <a:moveTo>
                  <a:pt x="15049" y="73884"/>
                </a:moveTo>
                <a:lnTo>
                  <a:pt x="183451" y="73884"/>
                </a:lnTo>
                <a:cubicBezTo>
                  <a:pt x="190405" y="73880"/>
                  <a:pt x="196482" y="78582"/>
                  <a:pt x="198215" y="85314"/>
                </a:cubicBezTo>
                <a:lnTo>
                  <a:pt x="202978" y="105983"/>
                </a:lnTo>
                <a:cubicBezTo>
                  <a:pt x="204578" y="112848"/>
                  <a:pt x="210693" y="117705"/>
                  <a:pt x="217742" y="117699"/>
                </a:cubicBezTo>
                <a:lnTo>
                  <a:pt x="354140" y="117699"/>
                </a:lnTo>
                <a:cubicBezTo>
                  <a:pt x="354168" y="117699"/>
                  <a:pt x="354206" y="117699"/>
                  <a:pt x="354235" y="117699"/>
                </a:cubicBezTo>
                <a:cubicBezTo>
                  <a:pt x="362550" y="117699"/>
                  <a:pt x="369284" y="124437"/>
                  <a:pt x="369284" y="132749"/>
                </a:cubicBezTo>
                <a:lnTo>
                  <a:pt x="369284" y="432596"/>
                </a:lnTo>
                <a:cubicBezTo>
                  <a:pt x="369284" y="440959"/>
                  <a:pt x="362502" y="447740"/>
                  <a:pt x="354140" y="447740"/>
                </a:cubicBezTo>
                <a:lnTo>
                  <a:pt x="15049" y="447740"/>
                </a:lnTo>
                <a:cubicBezTo>
                  <a:pt x="6763" y="447688"/>
                  <a:pt x="0" y="440922"/>
                  <a:pt x="0" y="432596"/>
                </a:cubicBezTo>
                <a:lnTo>
                  <a:pt x="0" y="88934"/>
                </a:lnTo>
                <a:cubicBezTo>
                  <a:pt x="0" y="80622"/>
                  <a:pt x="6763" y="73884"/>
                  <a:pt x="15049" y="73884"/>
                </a:cubicBezTo>
                <a:close/>
                <a:moveTo>
                  <a:pt x="124778" y="351"/>
                </a:moveTo>
                <a:lnTo>
                  <a:pt x="455581" y="74075"/>
                </a:lnTo>
                <a:cubicBezTo>
                  <a:pt x="463678" y="75877"/>
                  <a:pt x="468783" y="83883"/>
                  <a:pt x="467011" y="91982"/>
                </a:cubicBezTo>
                <a:lnTo>
                  <a:pt x="400336" y="399449"/>
                </a:lnTo>
                <a:lnTo>
                  <a:pt x="399193" y="399449"/>
                </a:lnTo>
                <a:cubicBezTo>
                  <a:pt x="392364" y="397887"/>
                  <a:pt x="387535" y="391789"/>
                  <a:pt x="387573" y="384780"/>
                </a:cubicBezTo>
                <a:lnTo>
                  <a:pt x="387573" y="114556"/>
                </a:lnTo>
                <a:cubicBezTo>
                  <a:pt x="387573" y="106192"/>
                  <a:pt x="380791" y="99411"/>
                  <a:pt x="372428" y="99411"/>
                </a:cubicBezTo>
                <a:lnTo>
                  <a:pt x="235839" y="99411"/>
                </a:lnTo>
                <a:cubicBezTo>
                  <a:pt x="228838" y="99418"/>
                  <a:pt x="222762" y="94603"/>
                  <a:pt x="221171" y="87791"/>
                </a:cubicBezTo>
                <a:lnTo>
                  <a:pt x="216408" y="67121"/>
                </a:lnTo>
                <a:cubicBezTo>
                  <a:pt x="214742" y="60314"/>
                  <a:pt x="208655" y="55519"/>
                  <a:pt x="201645" y="55501"/>
                </a:cubicBezTo>
                <a:lnTo>
                  <a:pt x="115920" y="55501"/>
                </a:lnTo>
                <a:cubicBezTo>
                  <a:pt x="114872" y="55497"/>
                  <a:pt x="113824" y="55387"/>
                  <a:pt x="112872" y="55171"/>
                </a:cubicBezTo>
                <a:cubicBezTo>
                  <a:pt x="104680" y="53435"/>
                  <a:pt x="99442" y="45395"/>
                  <a:pt x="101156" y="37213"/>
                </a:cubicBezTo>
                <a:lnTo>
                  <a:pt x="106680" y="11876"/>
                </a:lnTo>
                <a:cubicBezTo>
                  <a:pt x="108490" y="3720"/>
                  <a:pt x="116606" y="-1424"/>
                  <a:pt x="124778" y="351"/>
                </a:cubicBezTo>
                <a:close/>
              </a:path>
            </a:pathLst>
          </a:custGeom>
          <a:solidFill>
            <a:schemeClr val="bg1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6797069" y="2917373"/>
            <a:ext cx="240586" cy="231609"/>
          </a:xfrm>
          <a:custGeom>
            <a:avLst/>
            <a:gdLst>
              <a:gd name="connsiteX0" fmla="*/ 194024 w 465677"/>
              <a:gd name="connsiteY0" fmla="*/ 157258 h 448304"/>
              <a:gd name="connsiteX1" fmla="*/ 196023 w 465677"/>
              <a:gd name="connsiteY1" fmla="*/ 157258 h 448304"/>
              <a:gd name="connsiteX2" fmla="*/ 238410 w 465677"/>
              <a:gd name="connsiteY2" fmla="*/ 198691 h 448304"/>
              <a:gd name="connsiteX3" fmla="*/ 238410 w 465677"/>
              <a:gd name="connsiteY3" fmla="*/ 198791 h 448304"/>
              <a:gd name="connsiteX4" fmla="*/ 196023 w 465677"/>
              <a:gd name="connsiteY4" fmla="*/ 240220 h 448304"/>
              <a:gd name="connsiteX5" fmla="*/ 194024 w 465677"/>
              <a:gd name="connsiteY5" fmla="*/ 240220 h 448304"/>
              <a:gd name="connsiteX6" fmla="*/ 151733 w 465677"/>
              <a:gd name="connsiteY6" fmla="*/ 198691 h 448304"/>
              <a:gd name="connsiteX7" fmla="*/ 194024 w 465677"/>
              <a:gd name="connsiteY7" fmla="*/ 157258 h 448304"/>
              <a:gd name="connsiteX8" fmla="*/ 195263 w 465677"/>
              <a:gd name="connsiteY8" fmla="*/ 123824 h 448304"/>
              <a:gd name="connsiteX9" fmla="*/ 179737 w 465677"/>
              <a:gd name="connsiteY9" fmla="*/ 125062 h 448304"/>
              <a:gd name="connsiteX10" fmla="*/ 119729 w 465677"/>
              <a:gd name="connsiteY10" fmla="*/ 179831 h 448304"/>
              <a:gd name="connsiteX11" fmla="*/ 151734 w 465677"/>
              <a:gd name="connsiteY11" fmla="*/ 261937 h 448304"/>
              <a:gd name="connsiteX12" fmla="*/ 88488 w 465677"/>
              <a:gd name="connsiteY12" fmla="*/ 309562 h 448304"/>
              <a:gd name="connsiteX13" fmla="*/ 86582 w 465677"/>
              <a:gd name="connsiteY13" fmla="*/ 313303 h 448304"/>
              <a:gd name="connsiteX14" fmla="*/ 96107 w 465677"/>
              <a:gd name="connsiteY14" fmla="*/ 333374 h 448304"/>
              <a:gd name="connsiteX15" fmla="*/ 98298 w 465677"/>
              <a:gd name="connsiteY15" fmla="*/ 334231 h 448304"/>
              <a:gd name="connsiteX16" fmla="*/ 117348 w 465677"/>
              <a:gd name="connsiteY16" fmla="*/ 328135 h 448304"/>
              <a:gd name="connsiteX17" fmla="*/ 195167 w 465677"/>
              <a:gd name="connsiteY17" fmla="*/ 288892 h 448304"/>
              <a:gd name="connsiteX18" fmla="*/ 272987 w 465677"/>
              <a:gd name="connsiteY18" fmla="*/ 328135 h 448304"/>
              <a:gd name="connsiteX19" fmla="*/ 292037 w 465677"/>
              <a:gd name="connsiteY19" fmla="*/ 334231 h 448304"/>
              <a:gd name="connsiteX20" fmla="*/ 294228 w 465677"/>
              <a:gd name="connsiteY20" fmla="*/ 333374 h 448304"/>
              <a:gd name="connsiteX21" fmla="*/ 298038 w 465677"/>
              <a:gd name="connsiteY21" fmla="*/ 331430 h 448304"/>
              <a:gd name="connsiteX22" fmla="*/ 302038 w 465677"/>
              <a:gd name="connsiteY22" fmla="*/ 309562 h 448304"/>
              <a:gd name="connsiteX23" fmla="*/ 238791 w 465677"/>
              <a:gd name="connsiteY23" fmla="*/ 261937 h 448304"/>
              <a:gd name="connsiteX24" fmla="*/ 270796 w 465677"/>
              <a:gd name="connsiteY24" fmla="*/ 179831 h 448304"/>
              <a:gd name="connsiteX25" fmla="*/ 210788 w 465677"/>
              <a:gd name="connsiteY25" fmla="*/ 125062 h 448304"/>
              <a:gd name="connsiteX26" fmla="*/ 195263 w 465677"/>
              <a:gd name="connsiteY26" fmla="*/ 123824 h 448304"/>
              <a:gd name="connsiteX27" fmla="*/ 369285 w 465677"/>
              <a:gd name="connsiteY27" fmla="*/ 69717 h 448304"/>
              <a:gd name="connsiteX28" fmla="*/ 392811 w 465677"/>
              <a:gd name="connsiteY28" fmla="*/ 92677 h 448304"/>
              <a:gd name="connsiteX29" fmla="*/ 392811 w 465677"/>
              <a:gd name="connsiteY29" fmla="*/ 370903 h 448304"/>
              <a:gd name="connsiteX30" fmla="*/ 392811 w 465677"/>
              <a:gd name="connsiteY30" fmla="*/ 370906 h 448304"/>
              <a:gd name="connsiteX31" fmla="*/ 369380 w 465677"/>
              <a:gd name="connsiteY31" fmla="*/ 393763 h 448304"/>
              <a:gd name="connsiteX32" fmla="*/ 277559 w 465677"/>
              <a:gd name="connsiteY32" fmla="*/ 393763 h 448304"/>
              <a:gd name="connsiteX33" fmla="*/ 261461 w 465677"/>
              <a:gd name="connsiteY33" fmla="*/ 400049 h 448304"/>
              <a:gd name="connsiteX34" fmla="*/ 216217 w 465677"/>
              <a:gd name="connsiteY34" fmla="*/ 442054 h 448304"/>
              <a:gd name="connsiteX35" fmla="*/ 183356 w 465677"/>
              <a:gd name="connsiteY35" fmla="*/ 441388 h 448304"/>
              <a:gd name="connsiteX36" fmla="*/ 142684 w 465677"/>
              <a:gd name="connsiteY36" fmla="*/ 400621 h 448304"/>
              <a:gd name="connsiteX37" fmla="*/ 125920 w 465677"/>
              <a:gd name="connsiteY37" fmla="*/ 393763 h 448304"/>
              <a:gd name="connsiteX38" fmla="*/ 23336 w 465677"/>
              <a:gd name="connsiteY38" fmla="*/ 393763 h 448304"/>
              <a:gd name="connsiteX39" fmla="*/ 0 w 465677"/>
              <a:gd name="connsiteY39" fmla="*/ 370903 h 448304"/>
              <a:gd name="connsiteX40" fmla="*/ 0 w 465677"/>
              <a:gd name="connsiteY40" fmla="*/ 92677 h 448304"/>
              <a:gd name="connsiteX41" fmla="*/ 22956 w 465677"/>
              <a:gd name="connsiteY41" fmla="*/ 69722 h 448304"/>
              <a:gd name="connsiteX42" fmla="*/ 368999 w 465677"/>
              <a:gd name="connsiteY42" fmla="*/ 69722 h 448304"/>
              <a:gd name="connsiteX43" fmla="*/ 369285 w 465677"/>
              <a:gd name="connsiteY43" fmla="*/ 69717 h 448304"/>
              <a:gd name="connsiteX44" fmla="*/ 123825 w 465677"/>
              <a:gd name="connsiteY44" fmla="*/ 0 h 448304"/>
              <a:gd name="connsiteX45" fmla="*/ 445484 w 465677"/>
              <a:gd name="connsiteY45" fmla="*/ 0 h 448304"/>
              <a:gd name="connsiteX46" fmla="*/ 465677 w 465677"/>
              <a:gd name="connsiteY46" fmla="*/ 19810 h 448304"/>
              <a:gd name="connsiteX47" fmla="*/ 465677 w 465677"/>
              <a:gd name="connsiteY47" fmla="*/ 19812 h 448304"/>
              <a:gd name="connsiteX48" fmla="*/ 465677 w 465677"/>
              <a:gd name="connsiteY48" fmla="*/ 307753 h 448304"/>
              <a:gd name="connsiteX49" fmla="*/ 445866 w 465677"/>
              <a:gd name="connsiteY49" fmla="*/ 327565 h 448304"/>
              <a:gd name="connsiteX50" fmla="*/ 411384 w 465677"/>
              <a:gd name="connsiteY50" fmla="*/ 327565 h 448304"/>
              <a:gd name="connsiteX51" fmla="*/ 411384 w 465677"/>
              <a:gd name="connsiteY51" fmla="*/ 288512 h 448304"/>
              <a:gd name="connsiteX52" fmla="*/ 426244 w 465677"/>
              <a:gd name="connsiteY52" fmla="*/ 274037 h 448304"/>
              <a:gd name="connsiteX53" fmla="*/ 426244 w 465677"/>
              <a:gd name="connsiteY53" fmla="*/ 274034 h 448304"/>
              <a:gd name="connsiteX54" fmla="*/ 426244 w 465677"/>
              <a:gd name="connsiteY54" fmla="*/ 53626 h 448304"/>
              <a:gd name="connsiteX55" fmla="*/ 411479 w 465677"/>
              <a:gd name="connsiteY55" fmla="*/ 39051 h 448304"/>
              <a:gd name="connsiteX56" fmla="*/ 411384 w 465677"/>
              <a:gd name="connsiteY56" fmla="*/ 39052 h 448304"/>
              <a:gd name="connsiteX57" fmla="*/ 158782 w 465677"/>
              <a:gd name="connsiteY57" fmla="*/ 39052 h 448304"/>
              <a:gd name="connsiteX58" fmla="*/ 143922 w 465677"/>
              <a:gd name="connsiteY58" fmla="*/ 53529 h 448304"/>
              <a:gd name="connsiteX59" fmla="*/ 143922 w 465677"/>
              <a:gd name="connsiteY59" fmla="*/ 53626 h 448304"/>
              <a:gd name="connsiteX60" fmla="*/ 143922 w 465677"/>
              <a:gd name="connsiteY60" fmla="*/ 58007 h 448304"/>
              <a:gd name="connsiteX61" fmla="*/ 104013 w 465677"/>
              <a:gd name="connsiteY61" fmla="*/ 58007 h 448304"/>
              <a:gd name="connsiteX62" fmla="*/ 104013 w 465677"/>
              <a:gd name="connsiteY62" fmla="*/ 19907 h 448304"/>
              <a:gd name="connsiteX63" fmla="*/ 123825 w 465677"/>
              <a:gd name="connsiteY63" fmla="*/ 0 h 448304"/>
            </a:gdLst>
            <a:ahLst/>
            <a:cxnLst/>
            <a:rect l="l" t="t" r="r" b="b"/>
            <a:pathLst>
              <a:path w="465677" h="448304">
                <a:moveTo>
                  <a:pt x="194024" y="157258"/>
                </a:moveTo>
                <a:lnTo>
                  <a:pt x="196023" y="157258"/>
                </a:lnTo>
                <a:cubicBezTo>
                  <a:pt x="219170" y="156996"/>
                  <a:pt x="238124" y="175547"/>
                  <a:pt x="238410" y="198691"/>
                </a:cubicBezTo>
                <a:cubicBezTo>
                  <a:pt x="238410" y="198725"/>
                  <a:pt x="238410" y="198758"/>
                  <a:pt x="238410" y="198791"/>
                </a:cubicBezTo>
                <a:cubicBezTo>
                  <a:pt x="238124" y="221936"/>
                  <a:pt x="219170" y="240484"/>
                  <a:pt x="196023" y="240220"/>
                </a:cubicBezTo>
                <a:lnTo>
                  <a:pt x="194024" y="240220"/>
                </a:lnTo>
                <a:cubicBezTo>
                  <a:pt x="170877" y="240430"/>
                  <a:pt x="151923" y="221837"/>
                  <a:pt x="151733" y="198691"/>
                </a:cubicBezTo>
                <a:cubicBezTo>
                  <a:pt x="152018" y="175582"/>
                  <a:pt x="170877" y="157046"/>
                  <a:pt x="194024" y="157258"/>
                </a:cubicBezTo>
                <a:close/>
                <a:moveTo>
                  <a:pt x="195263" y="123824"/>
                </a:moveTo>
                <a:cubicBezTo>
                  <a:pt x="190023" y="123723"/>
                  <a:pt x="184881" y="124138"/>
                  <a:pt x="179737" y="125062"/>
                </a:cubicBezTo>
                <a:cubicBezTo>
                  <a:pt x="150685" y="129889"/>
                  <a:pt x="127159" y="151339"/>
                  <a:pt x="119729" y="179831"/>
                </a:cubicBezTo>
                <a:cubicBezTo>
                  <a:pt x="111442" y="211245"/>
                  <a:pt x="124397" y="244410"/>
                  <a:pt x="151734" y="261937"/>
                </a:cubicBezTo>
                <a:cubicBezTo>
                  <a:pt x="126111" y="270647"/>
                  <a:pt x="103918" y="287337"/>
                  <a:pt x="88488" y="309562"/>
                </a:cubicBezTo>
                <a:cubicBezTo>
                  <a:pt x="87725" y="310717"/>
                  <a:pt x="87059" y="311975"/>
                  <a:pt x="86582" y="313303"/>
                </a:cubicBezTo>
                <a:cubicBezTo>
                  <a:pt x="83630" y="321482"/>
                  <a:pt x="87916" y="330468"/>
                  <a:pt x="96107" y="333374"/>
                </a:cubicBezTo>
                <a:lnTo>
                  <a:pt x="98298" y="334231"/>
                </a:lnTo>
                <a:cubicBezTo>
                  <a:pt x="105252" y="336658"/>
                  <a:pt x="113062" y="334175"/>
                  <a:pt x="117348" y="328135"/>
                </a:cubicBezTo>
                <a:cubicBezTo>
                  <a:pt x="135255" y="303068"/>
                  <a:pt x="164402" y="288401"/>
                  <a:pt x="195167" y="288892"/>
                </a:cubicBezTo>
                <a:cubicBezTo>
                  <a:pt x="225933" y="288401"/>
                  <a:pt x="255080" y="303068"/>
                  <a:pt x="272987" y="328135"/>
                </a:cubicBezTo>
                <a:cubicBezTo>
                  <a:pt x="277273" y="334175"/>
                  <a:pt x="285084" y="336658"/>
                  <a:pt x="292037" y="334231"/>
                </a:cubicBezTo>
                <a:lnTo>
                  <a:pt x="294228" y="333374"/>
                </a:lnTo>
                <a:cubicBezTo>
                  <a:pt x="295561" y="332906"/>
                  <a:pt x="296895" y="332251"/>
                  <a:pt x="298038" y="331430"/>
                </a:cubicBezTo>
                <a:cubicBezTo>
                  <a:pt x="305182" y="326488"/>
                  <a:pt x="306991" y="316697"/>
                  <a:pt x="302038" y="309562"/>
                </a:cubicBezTo>
                <a:cubicBezTo>
                  <a:pt x="286607" y="287337"/>
                  <a:pt x="264414" y="270647"/>
                  <a:pt x="238791" y="261937"/>
                </a:cubicBezTo>
                <a:cubicBezTo>
                  <a:pt x="266128" y="244410"/>
                  <a:pt x="279083" y="211245"/>
                  <a:pt x="270796" y="179831"/>
                </a:cubicBezTo>
                <a:cubicBezTo>
                  <a:pt x="263367" y="151339"/>
                  <a:pt x="239840" y="129889"/>
                  <a:pt x="210788" y="125062"/>
                </a:cubicBezTo>
                <a:cubicBezTo>
                  <a:pt x="205645" y="124138"/>
                  <a:pt x="200502" y="123723"/>
                  <a:pt x="195263" y="123824"/>
                </a:cubicBezTo>
                <a:close/>
                <a:moveTo>
                  <a:pt x="369285" y="69717"/>
                </a:moveTo>
                <a:cubicBezTo>
                  <a:pt x="382143" y="69563"/>
                  <a:pt x="392620" y="79843"/>
                  <a:pt x="392811" y="92677"/>
                </a:cubicBezTo>
                <a:lnTo>
                  <a:pt x="392811" y="370903"/>
                </a:lnTo>
                <a:cubicBezTo>
                  <a:pt x="392811" y="370904"/>
                  <a:pt x="392811" y="370905"/>
                  <a:pt x="392811" y="370906"/>
                </a:cubicBezTo>
                <a:cubicBezTo>
                  <a:pt x="392620" y="383688"/>
                  <a:pt x="382143" y="393922"/>
                  <a:pt x="369380" y="393763"/>
                </a:cubicBezTo>
                <a:lnTo>
                  <a:pt x="277559" y="393763"/>
                </a:lnTo>
                <a:cubicBezTo>
                  <a:pt x="271558" y="393778"/>
                  <a:pt x="265843" y="396020"/>
                  <a:pt x="261461" y="400049"/>
                </a:cubicBezTo>
                <a:lnTo>
                  <a:pt x="216217" y="442054"/>
                </a:lnTo>
                <a:cubicBezTo>
                  <a:pt x="206883" y="450639"/>
                  <a:pt x="192405" y="450346"/>
                  <a:pt x="183356" y="441388"/>
                </a:cubicBezTo>
                <a:lnTo>
                  <a:pt x="142684" y="400621"/>
                </a:lnTo>
                <a:cubicBezTo>
                  <a:pt x="138208" y="396215"/>
                  <a:pt x="132207" y="393751"/>
                  <a:pt x="125920" y="393763"/>
                </a:cubicBezTo>
                <a:lnTo>
                  <a:pt x="23336" y="393763"/>
                </a:lnTo>
                <a:cubicBezTo>
                  <a:pt x="10573" y="393868"/>
                  <a:pt x="191" y="383648"/>
                  <a:pt x="0" y="370903"/>
                </a:cubicBezTo>
                <a:lnTo>
                  <a:pt x="0" y="92677"/>
                </a:lnTo>
                <a:cubicBezTo>
                  <a:pt x="96" y="80043"/>
                  <a:pt x="10287" y="69826"/>
                  <a:pt x="22956" y="69722"/>
                </a:cubicBezTo>
                <a:lnTo>
                  <a:pt x="368999" y="69722"/>
                </a:lnTo>
                <a:cubicBezTo>
                  <a:pt x="369094" y="69720"/>
                  <a:pt x="369189" y="69718"/>
                  <a:pt x="369285" y="69717"/>
                </a:cubicBezTo>
                <a:close/>
                <a:moveTo>
                  <a:pt x="123825" y="0"/>
                </a:moveTo>
                <a:lnTo>
                  <a:pt x="445484" y="0"/>
                </a:lnTo>
                <a:cubicBezTo>
                  <a:pt x="456534" y="-106"/>
                  <a:pt x="465582" y="8764"/>
                  <a:pt x="465677" y="19810"/>
                </a:cubicBezTo>
                <a:cubicBezTo>
                  <a:pt x="465677" y="19811"/>
                  <a:pt x="465677" y="19811"/>
                  <a:pt x="465677" y="19812"/>
                </a:cubicBezTo>
                <a:lnTo>
                  <a:pt x="465677" y="307753"/>
                </a:lnTo>
                <a:cubicBezTo>
                  <a:pt x="465582" y="318651"/>
                  <a:pt x="456723" y="327462"/>
                  <a:pt x="445866" y="327565"/>
                </a:cubicBezTo>
                <a:lnTo>
                  <a:pt x="411384" y="327565"/>
                </a:lnTo>
                <a:lnTo>
                  <a:pt x="411384" y="288512"/>
                </a:lnTo>
                <a:cubicBezTo>
                  <a:pt x="419481" y="288618"/>
                  <a:pt x="426148" y="282137"/>
                  <a:pt x="426244" y="274037"/>
                </a:cubicBezTo>
                <a:cubicBezTo>
                  <a:pt x="426244" y="274036"/>
                  <a:pt x="426244" y="274035"/>
                  <a:pt x="426244" y="274034"/>
                </a:cubicBezTo>
                <a:lnTo>
                  <a:pt x="426244" y="53626"/>
                </a:lnTo>
                <a:cubicBezTo>
                  <a:pt x="426148" y="45525"/>
                  <a:pt x="419576" y="39000"/>
                  <a:pt x="411479" y="39051"/>
                </a:cubicBezTo>
                <a:cubicBezTo>
                  <a:pt x="411479" y="39052"/>
                  <a:pt x="411384" y="39052"/>
                  <a:pt x="411384" y="39052"/>
                </a:cubicBezTo>
                <a:lnTo>
                  <a:pt x="158782" y="39052"/>
                </a:lnTo>
                <a:cubicBezTo>
                  <a:pt x="150685" y="38947"/>
                  <a:pt x="144018" y="45428"/>
                  <a:pt x="143922" y="53529"/>
                </a:cubicBezTo>
                <a:cubicBezTo>
                  <a:pt x="143922" y="53561"/>
                  <a:pt x="143922" y="53593"/>
                  <a:pt x="143922" y="53626"/>
                </a:cubicBezTo>
                <a:lnTo>
                  <a:pt x="143922" y="58007"/>
                </a:lnTo>
                <a:lnTo>
                  <a:pt x="104013" y="58007"/>
                </a:lnTo>
                <a:lnTo>
                  <a:pt x="104013" y="19907"/>
                </a:lnTo>
                <a:cubicBezTo>
                  <a:pt x="104109" y="8971"/>
                  <a:pt x="112871" y="104"/>
                  <a:pt x="123825" y="0"/>
                </a:cubicBezTo>
                <a:close/>
              </a:path>
            </a:pathLst>
          </a:custGeom>
          <a:solidFill>
            <a:schemeClr val="bg1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10058011" y="2922510"/>
            <a:ext cx="240586" cy="221335"/>
          </a:xfrm>
          <a:custGeom>
            <a:avLst/>
            <a:gdLst>
              <a:gd name="connsiteX0" fmla="*/ 341095 w 461968"/>
              <a:gd name="connsiteY0" fmla="*/ 172695 h 425005"/>
              <a:gd name="connsiteX1" fmla="*/ 171074 w 461968"/>
              <a:gd name="connsiteY1" fmla="*/ 7 h 425005"/>
              <a:gd name="connsiteX2" fmla="*/ 1148 w 461968"/>
              <a:gd name="connsiteY2" fmla="*/ 172695 h 425005"/>
              <a:gd name="connsiteX3" fmla="*/ 32009 w 461968"/>
              <a:gd name="connsiteY3" fmla="*/ 272041 h 425005"/>
              <a:gd name="connsiteX4" fmla="*/ 25818 w 461968"/>
              <a:gd name="connsiteY4" fmla="*/ 297378 h 425005"/>
              <a:gd name="connsiteX5" fmla="*/ 38124 w 461968"/>
              <a:gd name="connsiteY5" fmla="*/ 317956 h 425005"/>
              <a:gd name="connsiteX6" fmla="*/ 43439 w 461968"/>
              <a:gd name="connsiteY6" fmla="*/ 318428 h 425005"/>
              <a:gd name="connsiteX7" fmla="*/ 76300 w 461968"/>
              <a:gd name="connsiteY7" fmla="*/ 316237 h 425005"/>
              <a:gd name="connsiteX8" fmla="*/ 171550 w 461968"/>
              <a:gd name="connsiteY8" fmla="*/ 345574 h 425005"/>
              <a:gd name="connsiteX9" fmla="*/ 341095 w 461968"/>
              <a:gd name="connsiteY9" fmla="*/ 172695 h 425005"/>
              <a:gd name="connsiteX10" fmla="*/ 249560 w 461968"/>
              <a:gd name="connsiteY10" fmla="*/ 150502 h 425005"/>
              <a:gd name="connsiteX11" fmla="*/ 271372 w 461968"/>
              <a:gd name="connsiteY11" fmla="*/ 172693 h 425005"/>
              <a:gd name="connsiteX12" fmla="*/ 271372 w 461968"/>
              <a:gd name="connsiteY12" fmla="*/ 172695 h 425005"/>
              <a:gd name="connsiteX13" fmla="*/ 249560 w 461968"/>
              <a:gd name="connsiteY13" fmla="*/ 194793 h 425005"/>
              <a:gd name="connsiteX14" fmla="*/ 227367 w 461968"/>
              <a:gd name="connsiteY14" fmla="*/ 172982 h 425005"/>
              <a:gd name="connsiteX15" fmla="*/ 227367 w 461968"/>
              <a:gd name="connsiteY15" fmla="*/ 172695 h 425005"/>
              <a:gd name="connsiteX16" fmla="*/ 249179 w 461968"/>
              <a:gd name="connsiteY16" fmla="*/ 150502 h 425005"/>
              <a:gd name="connsiteX17" fmla="*/ 249560 w 461968"/>
              <a:gd name="connsiteY17" fmla="*/ 150502 h 425005"/>
              <a:gd name="connsiteX18" fmla="*/ 92683 w 461968"/>
              <a:gd name="connsiteY18" fmla="*/ 194793 h 425005"/>
              <a:gd name="connsiteX19" fmla="*/ 70871 w 461968"/>
              <a:gd name="connsiteY19" fmla="*/ 172791 h 425005"/>
              <a:gd name="connsiteX20" fmla="*/ 70871 w 461968"/>
              <a:gd name="connsiteY20" fmla="*/ 172695 h 425005"/>
              <a:gd name="connsiteX21" fmla="*/ 92493 w 461968"/>
              <a:gd name="connsiteY21" fmla="*/ 150504 h 425005"/>
              <a:gd name="connsiteX22" fmla="*/ 92683 w 461968"/>
              <a:gd name="connsiteY22" fmla="*/ 150502 h 425005"/>
              <a:gd name="connsiteX23" fmla="*/ 114496 w 461968"/>
              <a:gd name="connsiteY23" fmla="*/ 172693 h 425005"/>
              <a:gd name="connsiteX24" fmla="*/ 114496 w 461968"/>
              <a:gd name="connsiteY24" fmla="*/ 172695 h 425005"/>
              <a:gd name="connsiteX25" fmla="*/ 92683 w 461968"/>
              <a:gd name="connsiteY25" fmla="*/ 194793 h 425005"/>
              <a:gd name="connsiteX26" fmla="*/ 149357 w 461968"/>
              <a:gd name="connsiteY26" fmla="*/ 172695 h 425005"/>
              <a:gd name="connsiteX27" fmla="*/ 170979 w 461968"/>
              <a:gd name="connsiteY27" fmla="*/ 150503 h 425005"/>
              <a:gd name="connsiteX28" fmla="*/ 171074 w 461968"/>
              <a:gd name="connsiteY28" fmla="*/ 150502 h 425005"/>
              <a:gd name="connsiteX29" fmla="*/ 192886 w 461968"/>
              <a:gd name="connsiteY29" fmla="*/ 172503 h 425005"/>
              <a:gd name="connsiteX30" fmla="*/ 192886 w 461968"/>
              <a:gd name="connsiteY30" fmla="*/ 172695 h 425005"/>
              <a:gd name="connsiteX31" fmla="*/ 171169 w 461968"/>
              <a:gd name="connsiteY31" fmla="*/ 194792 h 425005"/>
              <a:gd name="connsiteX32" fmla="*/ 171074 w 461968"/>
              <a:gd name="connsiteY32" fmla="*/ 194793 h 425005"/>
              <a:gd name="connsiteX33" fmla="*/ 149357 w 461968"/>
              <a:gd name="connsiteY33" fmla="*/ 172697 h 425005"/>
              <a:gd name="connsiteX34" fmla="*/ 149357 w 461968"/>
              <a:gd name="connsiteY34" fmla="*/ 172695 h 425005"/>
              <a:gd name="connsiteX35" fmla="*/ 463110 w 461968"/>
              <a:gd name="connsiteY35" fmla="*/ 252324 h 425005"/>
              <a:gd name="connsiteX36" fmla="*/ 349382 w 461968"/>
              <a:gd name="connsiteY36" fmla="*/ 89542 h 425005"/>
              <a:gd name="connsiteX37" fmla="*/ 367193 w 461968"/>
              <a:gd name="connsiteY37" fmla="*/ 172695 h 425005"/>
              <a:gd name="connsiteX38" fmla="*/ 171083 w 461968"/>
              <a:gd name="connsiteY38" fmla="*/ 371863 h 425005"/>
              <a:gd name="connsiteX39" fmla="*/ 171074 w 461968"/>
              <a:gd name="connsiteY39" fmla="*/ 371863 h 425005"/>
              <a:gd name="connsiteX40" fmla="*/ 171074 w 461968"/>
              <a:gd name="connsiteY40" fmla="*/ 371863 h 425005"/>
              <a:gd name="connsiteX41" fmla="*/ 293565 w 461968"/>
              <a:gd name="connsiteY41" fmla="*/ 425013 h 425005"/>
              <a:gd name="connsiteX42" fmla="*/ 386053 w 461968"/>
              <a:gd name="connsiteY42" fmla="*/ 397104 h 425005"/>
              <a:gd name="connsiteX43" fmla="*/ 417486 w 461968"/>
              <a:gd name="connsiteY43" fmla="*/ 401962 h 425005"/>
              <a:gd name="connsiteX44" fmla="*/ 434916 w 461968"/>
              <a:gd name="connsiteY44" fmla="*/ 389065 h 425005"/>
              <a:gd name="connsiteX45" fmla="*/ 434726 w 461968"/>
              <a:gd name="connsiteY45" fmla="*/ 383483 h 425005"/>
              <a:gd name="connsiteX46" fmla="*/ 428725 w 461968"/>
              <a:gd name="connsiteY46" fmla="*/ 356718 h 425005"/>
              <a:gd name="connsiteX47" fmla="*/ 463110 w 461968"/>
              <a:gd name="connsiteY47" fmla="*/ 252324 h 425005"/>
            </a:gdLst>
            <a:ahLst/>
            <a:cxnLst/>
            <a:rect l="l" t="t" r="r" b="b"/>
            <a:pathLst>
              <a:path w="461968" h="425005">
                <a:moveTo>
                  <a:pt x="341095" y="172695"/>
                </a:moveTo>
                <a:cubicBezTo>
                  <a:pt x="341781" y="78079"/>
                  <a:pt x="265686" y="793"/>
                  <a:pt x="171074" y="7"/>
                </a:cubicBezTo>
                <a:cubicBezTo>
                  <a:pt x="76500" y="845"/>
                  <a:pt x="462" y="78116"/>
                  <a:pt x="1148" y="172695"/>
                </a:cubicBezTo>
                <a:cubicBezTo>
                  <a:pt x="1081" y="208181"/>
                  <a:pt x="11844" y="242842"/>
                  <a:pt x="32009" y="272041"/>
                </a:cubicBezTo>
                <a:lnTo>
                  <a:pt x="25818" y="297378"/>
                </a:lnTo>
                <a:cubicBezTo>
                  <a:pt x="23531" y="306459"/>
                  <a:pt x="29047" y="315672"/>
                  <a:pt x="38124" y="317956"/>
                </a:cubicBezTo>
                <a:cubicBezTo>
                  <a:pt x="39858" y="318394"/>
                  <a:pt x="41658" y="318553"/>
                  <a:pt x="43439" y="318428"/>
                </a:cubicBezTo>
                <a:lnTo>
                  <a:pt x="76300" y="316237"/>
                </a:lnTo>
                <a:cubicBezTo>
                  <a:pt x="104322" y="335490"/>
                  <a:pt x="137555" y="345725"/>
                  <a:pt x="171550" y="345574"/>
                </a:cubicBezTo>
                <a:cubicBezTo>
                  <a:pt x="266057" y="344527"/>
                  <a:pt x="341886" y="267201"/>
                  <a:pt x="341095" y="172695"/>
                </a:cubicBezTo>
                <a:close/>
                <a:moveTo>
                  <a:pt x="249560" y="150502"/>
                </a:moveTo>
                <a:cubicBezTo>
                  <a:pt x="261714" y="150607"/>
                  <a:pt x="271477" y="160542"/>
                  <a:pt x="271372" y="172693"/>
                </a:cubicBezTo>
                <a:cubicBezTo>
                  <a:pt x="271372" y="172694"/>
                  <a:pt x="271372" y="172694"/>
                  <a:pt x="271372" y="172695"/>
                </a:cubicBezTo>
                <a:cubicBezTo>
                  <a:pt x="271429" y="184810"/>
                  <a:pt x="261675" y="194688"/>
                  <a:pt x="249560" y="194793"/>
                </a:cubicBezTo>
                <a:cubicBezTo>
                  <a:pt x="237406" y="194899"/>
                  <a:pt x="227471" y="185133"/>
                  <a:pt x="227367" y="172982"/>
                </a:cubicBezTo>
                <a:cubicBezTo>
                  <a:pt x="227367" y="172887"/>
                  <a:pt x="227367" y="172791"/>
                  <a:pt x="227367" y="172695"/>
                </a:cubicBezTo>
                <a:cubicBezTo>
                  <a:pt x="227262" y="160544"/>
                  <a:pt x="237025" y="150608"/>
                  <a:pt x="249179" y="150502"/>
                </a:cubicBezTo>
                <a:cubicBezTo>
                  <a:pt x="249302" y="150501"/>
                  <a:pt x="249436" y="150501"/>
                  <a:pt x="249560" y="150502"/>
                </a:cubicBezTo>
                <a:close/>
                <a:moveTo>
                  <a:pt x="92683" y="194793"/>
                </a:moveTo>
                <a:cubicBezTo>
                  <a:pt x="80587" y="194741"/>
                  <a:pt x="70814" y="184890"/>
                  <a:pt x="70871" y="172791"/>
                </a:cubicBezTo>
                <a:cubicBezTo>
                  <a:pt x="70871" y="172759"/>
                  <a:pt x="70871" y="172728"/>
                  <a:pt x="70871" y="172695"/>
                </a:cubicBezTo>
                <a:cubicBezTo>
                  <a:pt x="70709" y="160598"/>
                  <a:pt x="80396" y="150662"/>
                  <a:pt x="92493" y="150504"/>
                </a:cubicBezTo>
                <a:cubicBezTo>
                  <a:pt x="92550" y="150503"/>
                  <a:pt x="92617" y="150502"/>
                  <a:pt x="92683" y="150502"/>
                </a:cubicBezTo>
                <a:cubicBezTo>
                  <a:pt x="104837" y="150607"/>
                  <a:pt x="114600" y="160542"/>
                  <a:pt x="114496" y="172693"/>
                </a:cubicBezTo>
                <a:cubicBezTo>
                  <a:pt x="114496" y="172694"/>
                  <a:pt x="114496" y="172694"/>
                  <a:pt x="114496" y="172695"/>
                </a:cubicBezTo>
                <a:cubicBezTo>
                  <a:pt x="114552" y="184810"/>
                  <a:pt x="104799" y="194688"/>
                  <a:pt x="92683" y="194793"/>
                </a:cubicBezTo>
                <a:close/>
                <a:moveTo>
                  <a:pt x="149357" y="172695"/>
                </a:moveTo>
                <a:cubicBezTo>
                  <a:pt x="149195" y="160598"/>
                  <a:pt x="158882" y="150661"/>
                  <a:pt x="170979" y="150503"/>
                </a:cubicBezTo>
                <a:cubicBezTo>
                  <a:pt x="171007" y="150503"/>
                  <a:pt x="171045" y="150502"/>
                  <a:pt x="171074" y="150502"/>
                </a:cubicBezTo>
                <a:cubicBezTo>
                  <a:pt x="183170" y="150553"/>
                  <a:pt x="192943" y="160403"/>
                  <a:pt x="192886" y="172503"/>
                </a:cubicBezTo>
                <a:cubicBezTo>
                  <a:pt x="192886" y="172567"/>
                  <a:pt x="192886" y="172631"/>
                  <a:pt x="192886" y="172695"/>
                </a:cubicBezTo>
                <a:cubicBezTo>
                  <a:pt x="192991" y="184794"/>
                  <a:pt x="183266" y="194688"/>
                  <a:pt x="171169" y="194792"/>
                </a:cubicBezTo>
                <a:cubicBezTo>
                  <a:pt x="171140" y="194793"/>
                  <a:pt x="171103" y="194793"/>
                  <a:pt x="171074" y="194793"/>
                </a:cubicBezTo>
                <a:cubicBezTo>
                  <a:pt x="158977" y="194688"/>
                  <a:pt x="149252" y="184796"/>
                  <a:pt x="149357" y="172697"/>
                </a:cubicBezTo>
                <a:cubicBezTo>
                  <a:pt x="149357" y="172696"/>
                  <a:pt x="149357" y="172696"/>
                  <a:pt x="149357" y="172695"/>
                </a:cubicBezTo>
                <a:close/>
                <a:moveTo>
                  <a:pt x="463110" y="252324"/>
                </a:moveTo>
                <a:cubicBezTo>
                  <a:pt x="463367" y="179496"/>
                  <a:pt x="417857" y="114354"/>
                  <a:pt x="349382" y="89542"/>
                </a:cubicBezTo>
                <a:cubicBezTo>
                  <a:pt x="361164" y="115678"/>
                  <a:pt x="367241" y="144026"/>
                  <a:pt x="367193" y="172695"/>
                </a:cubicBezTo>
                <a:cubicBezTo>
                  <a:pt x="368041" y="281848"/>
                  <a:pt x="280240" y="371018"/>
                  <a:pt x="171083" y="371863"/>
                </a:cubicBezTo>
                <a:cubicBezTo>
                  <a:pt x="171083" y="371863"/>
                  <a:pt x="171074" y="371863"/>
                  <a:pt x="171074" y="371863"/>
                </a:cubicBezTo>
                <a:lnTo>
                  <a:pt x="171074" y="371863"/>
                </a:lnTo>
                <a:cubicBezTo>
                  <a:pt x="202792" y="405772"/>
                  <a:pt x="247140" y="425013"/>
                  <a:pt x="293565" y="425013"/>
                </a:cubicBezTo>
                <a:cubicBezTo>
                  <a:pt x="326465" y="425013"/>
                  <a:pt x="358640" y="415307"/>
                  <a:pt x="386053" y="397104"/>
                </a:cubicBezTo>
                <a:lnTo>
                  <a:pt x="417486" y="401962"/>
                </a:lnTo>
                <a:cubicBezTo>
                  <a:pt x="425858" y="403210"/>
                  <a:pt x="433668" y="397438"/>
                  <a:pt x="434916" y="389065"/>
                </a:cubicBezTo>
                <a:cubicBezTo>
                  <a:pt x="435192" y="387208"/>
                  <a:pt x="435135" y="385312"/>
                  <a:pt x="434726" y="383483"/>
                </a:cubicBezTo>
                <a:lnTo>
                  <a:pt x="428725" y="356718"/>
                </a:lnTo>
                <a:cubicBezTo>
                  <a:pt x="451204" y="326571"/>
                  <a:pt x="463272" y="289931"/>
                  <a:pt x="463110" y="252324"/>
                </a:cubicBezTo>
                <a:close/>
              </a:path>
            </a:pathLst>
          </a:custGeom>
          <a:solidFill>
            <a:schemeClr val="bg1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586631" y="3396414"/>
            <a:ext cx="2374729" cy="156928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035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Los simulacros de emergencia permiten evaluar la efectividad del plan de continuidad, preparando a los empleados para responder adecuadamente a situaciones de crisis y mejorando su confianza.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4963831" y="3396414"/>
            <a:ext cx="2155775" cy="156928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185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La revisión periódica del plan garantiza que se mantenga actualizado y relevante, ajustándose a cambios en el entorno del negocio o en las operaciones de la empresa.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8159759" y="3396414"/>
            <a:ext cx="2317706" cy="15743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185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Realizar ajustes y mejoras continuas al plan de continuidad es crucial, permitiendo optimizar los procedimientos y asegurar que se aprendan lecciones de cada prueba o evento real.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1589172" y="2194142"/>
            <a:ext cx="2354580" cy="6557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Simulacros de emergencia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4867685" y="2194142"/>
            <a:ext cx="2354580" cy="6557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Revisión periódica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8128627" y="2194142"/>
            <a:ext cx="2354580" cy="6557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Ajustes y mejoras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924761" y="470193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Pruebas y Actualizaciones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504217" y="534464"/>
            <a:ext cx="312365" cy="312365"/>
          </a:xfrm>
          <a:prstGeom prst="ellipse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533681" y="563928"/>
            <a:ext cx="253437" cy="253437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bg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B552FECE-7D8D-898E-4DB5-BD86246D2D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5605670" y="1831259"/>
            <a:ext cx="1755485" cy="1117115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8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03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5605670" y="3309275"/>
            <a:ext cx="5911783" cy="2020369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Recuperación de Datos</a:t>
            </a:r>
            <a:endParaRPr kumimoji="1" lang="zh-CN" altLang="en-U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F56AA29-F52F-424E-A79D-CB76C3AEE8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660400" y="1513723"/>
            <a:ext cx="2724974" cy="4236953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4691852" y="1473166"/>
            <a:ext cx="6190205" cy="88578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La restauración de sistemas implica volver a un estado anterior en el que el sistema funcionaba correctamente, permitiendo recuperar configuraciones y datos críticos perdidos.</a:t>
            </a: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691852" y="3299547"/>
            <a:ext cx="6190205" cy="88578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La validación de datos asegura que la información recuperada sea precisa y completa, mediante procedimientos que verifican la integridad y la autenticidad de los datos.</a:t>
            </a:r>
            <a:endParaRPr kumimoji="1" lang="zh-CN" altLang="en-US"/>
          </a:p>
        </p:txBody>
      </p:sp>
      <p:cxnSp>
        <p:nvCxnSpPr>
          <p:cNvPr id="5" name="标题 1"/>
          <p:cNvCxnSpPr/>
          <p:nvPr/>
        </p:nvCxnSpPr>
        <p:spPr>
          <a:xfrm>
            <a:off x="4691852" y="2481336"/>
            <a:ext cx="6190205" cy="0"/>
          </a:xfrm>
          <a:prstGeom prst="line">
            <a:avLst/>
          </a:prstGeom>
          <a:noFill/>
          <a:ln w="12700" cap="sq">
            <a:solidFill>
              <a:schemeClr val="accent1">
                <a:lumMod val="60000"/>
                <a:lumOff val="40000"/>
              </a:schemeClr>
            </a:solidFill>
            <a:miter/>
          </a:ln>
        </p:spPr>
      </p:cxnSp>
      <p:cxnSp>
        <p:nvCxnSpPr>
          <p:cNvPr id="6" name="标题 1"/>
          <p:cNvCxnSpPr/>
          <p:nvPr/>
        </p:nvCxnSpPr>
        <p:spPr>
          <a:xfrm>
            <a:off x="4691852" y="4307718"/>
            <a:ext cx="6190205" cy="0"/>
          </a:xfrm>
          <a:prstGeom prst="line">
            <a:avLst/>
          </a:prstGeom>
          <a:noFill/>
          <a:ln w="12700" cap="sq">
            <a:solidFill>
              <a:schemeClr val="accent1">
                <a:lumMod val="60000"/>
                <a:lumOff val="40000"/>
              </a:schemeClr>
            </a:solidFill>
            <a:miter/>
          </a:ln>
        </p:spPr>
      </p:cxnSp>
      <p:pic>
        <p:nvPicPr>
          <p:cNvPr id="7" name="Imagen 6"/>
          <p:cNvPicPr>
            <a:picLocks noChangeAspect="1"/>
          </p:cNvPicPr>
          <p:nvPr/>
        </p:nvPicPr>
        <p:blipFill>
          <a:blip r:embed="rId2">
            <a:alphaModFix/>
          </a:blip>
          <a:srcRect l="2274" t="14081" r="3338" b="9911"/>
          <a:stretch>
            <a:fillRect/>
          </a:stretch>
        </p:blipFill>
        <p:spPr>
          <a:xfrm>
            <a:off x="1079597" y="1852260"/>
            <a:ext cx="2994486" cy="3559878"/>
          </a:xfrm>
          <a:custGeom>
            <a:avLst/>
            <a:gdLst/>
            <a:ahLst/>
            <a:cxnLst/>
            <a:rect l="l" t="t" r="r" b="b"/>
            <a:pathLst>
              <a:path w="2994486" h="3559878">
                <a:moveTo>
                  <a:pt x="0" y="0"/>
                </a:moveTo>
                <a:lnTo>
                  <a:pt x="2558219" y="0"/>
                </a:lnTo>
                <a:lnTo>
                  <a:pt x="2994486" y="436267"/>
                </a:lnTo>
                <a:lnTo>
                  <a:pt x="2994486" y="3559878"/>
                </a:lnTo>
                <a:lnTo>
                  <a:pt x="0" y="3559878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8" name="标题 1"/>
          <p:cNvSpPr txBox="1"/>
          <p:nvPr/>
        </p:nvSpPr>
        <p:spPr>
          <a:xfrm>
            <a:off x="4691852" y="1130300"/>
            <a:ext cx="6190205" cy="3428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Restauración de sistemas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4691852" y="2956682"/>
            <a:ext cx="6190205" cy="3428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Validación de datos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4691852" y="5125929"/>
            <a:ext cx="6190205" cy="88578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Las pruebas de integridad consisten en evaluar la calidad y consistencia de los datos recuperados, asegurando que no haya corrupción y que sean utilizables.</a:t>
            </a:r>
            <a:endParaRPr kumimoji="1" lang="zh-CN" altLang="en-US"/>
          </a:p>
        </p:txBody>
      </p:sp>
      <p:cxnSp>
        <p:nvCxnSpPr>
          <p:cNvPr id="11" name="标题 1"/>
          <p:cNvCxnSpPr/>
          <p:nvPr/>
        </p:nvCxnSpPr>
        <p:spPr>
          <a:xfrm>
            <a:off x="4691852" y="6134100"/>
            <a:ext cx="6190205" cy="0"/>
          </a:xfrm>
          <a:prstGeom prst="line">
            <a:avLst/>
          </a:prstGeom>
          <a:noFill/>
          <a:ln w="12700" cap="sq">
            <a:solidFill>
              <a:schemeClr val="accent1">
                <a:lumMod val="60000"/>
                <a:lumOff val="40000"/>
              </a:schemeClr>
            </a:solidFill>
            <a:miter/>
          </a:ln>
        </p:spPr>
      </p:cxnSp>
      <p:sp>
        <p:nvSpPr>
          <p:cNvPr id="12" name="标题 1"/>
          <p:cNvSpPr txBox="1"/>
          <p:nvPr/>
        </p:nvSpPr>
        <p:spPr>
          <a:xfrm>
            <a:off x="4691852" y="4783063"/>
            <a:ext cx="6190205" cy="3428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Pruebas de integridad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924761" y="470193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Procesos de Recuperación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504217" y="534464"/>
            <a:ext cx="312365" cy="312365"/>
          </a:xfrm>
          <a:prstGeom prst="ellipse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533681" y="563928"/>
            <a:ext cx="253437" cy="253437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bg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4BFB1BB4-7217-62A5-35F1-10233609C5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846524" y="1820604"/>
            <a:ext cx="864000" cy="540000"/>
          </a:xfrm>
          <a:prstGeom prst="rect">
            <a:avLst/>
          </a:prstGeom>
          <a:solidFill>
            <a:schemeClr val="accent1"/>
          </a:solidFill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01</a:t>
            </a: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5657650" y="1820604"/>
            <a:ext cx="864000" cy="540000"/>
          </a:xfrm>
          <a:prstGeom prst="rect">
            <a:avLst/>
          </a:prstGeom>
          <a:solidFill>
            <a:schemeClr val="accent1"/>
          </a:solidFill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02</a:t>
            </a: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9481477" y="1820604"/>
            <a:ext cx="864000" cy="540000"/>
          </a:xfrm>
          <a:prstGeom prst="rect">
            <a:avLst/>
          </a:prstGeom>
          <a:solidFill>
            <a:schemeClr val="accent1"/>
          </a:solidFill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03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73101" y="2469035"/>
            <a:ext cx="3210846" cy="808804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Software de recuperación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673101" y="3312675"/>
            <a:ext cx="3210846" cy="208757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El software de recuperación es una herramienta que ayuda a restaurar archivos borrados o perdidos, permitiendo el acceso a datos que podrían parecer irrecuperables.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4484227" y="2469035"/>
            <a:ext cx="3210846" cy="808804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Almacenamiento en la nube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4484227" y="3312675"/>
            <a:ext cx="3210846" cy="208757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El almacenamiento en la nube ofrece una forma segura de guardar datos, permitiendo la recuperación fácil y rápida desde cualquier ubicación con conexión a internet.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8308054" y="2469035"/>
            <a:ext cx="3210846" cy="808804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Servicios de recuperación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8308054" y="3312675"/>
            <a:ext cx="3210846" cy="208757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Los servicios de recuperación son empresas especializadas que ayudan en la recuperación de datos perdidos, ofreciendo experiencia y tecnología avanzada para restaurar información crítica.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924761" y="470193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Herramientas de Recuperación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504217" y="534464"/>
            <a:ext cx="312365" cy="312365"/>
          </a:xfrm>
          <a:prstGeom prst="ellipse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533681" y="563928"/>
            <a:ext cx="253437" cy="253437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bg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F61B5230-272A-1A1D-739C-D60033D8A6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543050" y="1717675"/>
            <a:ext cx="2590800" cy="40862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1587362" y="1765300"/>
            <a:ext cx="2502176" cy="1171575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304925" y="1470025"/>
            <a:ext cx="609600" cy="609600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4838700" y="1717675"/>
            <a:ext cx="2590800" cy="40862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4883012" y="1765300"/>
            <a:ext cx="2502176" cy="116840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4611053" y="1470025"/>
            <a:ext cx="609600" cy="609600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8134350" y="1717675"/>
            <a:ext cx="2590800" cy="40862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8178662" y="1765300"/>
            <a:ext cx="2502176" cy="116840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7906703" y="1470025"/>
            <a:ext cx="609600" cy="609600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847850" y="2065338"/>
            <a:ext cx="1981200" cy="5969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Documentación de procesos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763275" y="3140746"/>
            <a:ext cx="2222500" cy="24384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La documentación de procesos es crucial para establecer protocolos claros que guíen la recuperación de datos, facilitando la capacitación y la continuidad del negocio.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5143500" y="2076450"/>
            <a:ext cx="1981200" cy="5842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Capacitación del personal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5025786" y="3136900"/>
            <a:ext cx="2184400" cy="24511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La capacitación del personal asegura que los empleados estén equipados con el conocimiento necesario para llevar a cabo eficazmente los procesos de recuperación de datos.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8439150" y="2063750"/>
            <a:ext cx="1981200" cy="5969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Revisión de tecnología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8332749" y="3136900"/>
            <a:ext cx="2197100" cy="24638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La revisión de tecnología implica evaluar y actualizar regularmente las herramientas y sistemas de recuperación, garantizando que estén alineados con las mejores prácticas y tendencias actuales.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1334135" y="1564005"/>
            <a:ext cx="551180" cy="42164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01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4614863" y="1564005"/>
            <a:ext cx="601980" cy="42164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02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7910513" y="1564005"/>
            <a:ext cx="601980" cy="42164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03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924761" y="470193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Mantenimiento de la Recuperación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504217" y="534464"/>
            <a:ext cx="312365" cy="312365"/>
          </a:xfrm>
          <a:prstGeom prst="ellipse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533681" y="563928"/>
            <a:ext cx="253437" cy="253437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bg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382059FB-0B65-7479-2634-CE72FE0763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5605670" y="1831259"/>
            <a:ext cx="1755485" cy="1117115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8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04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5605670" y="3309275"/>
            <a:ext cx="5911783" cy="2020369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Servicios Post-Desastre</a:t>
            </a:r>
            <a:endParaRPr kumimoji="1" lang="zh-CN" altLang="en-U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DBEC4D6-EBC5-596F-3285-EA4DDFEA40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3500000">
            <a:off x="5350241" y="2911643"/>
            <a:ext cx="1478818" cy="1478818"/>
          </a:xfrm>
          <a:custGeom>
            <a:avLst/>
            <a:gdLst>
              <a:gd name="connsiteX0" fmla="*/ 0 w 1323474"/>
              <a:gd name="connsiteY0" fmla="*/ 1323474 h 1323474"/>
              <a:gd name="connsiteX1" fmla="*/ 0 w 1323474"/>
              <a:gd name="connsiteY1" fmla="*/ 0 h 1323474"/>
              <a:gd name="connsiteX2" fmla="*/ 1323474 w 1323474"/>
              <a:gd name="connsiteY2" fmla="*/ 0 h 1323474"/>
              <a:gd name="connsiteX3" fmla="*/ 0 w 1323474"/>
              <a:gd name="connsiteY3" fmla="*/ 1323474 h 1323474"/>
            </a:gdLst>
            <a:ahLst/>
            <a:cxnLst/>
            <a:rect l="l" t="t" r="r" b="b"/>
            <a:pathLst>
              <a:path w="1323474" h="1323474">
                <a:moveTo>
                  <a:pt x="0" y="1323474"/>
                </a:moveTo>
                <a:lnTo>
                  <a:pt x="0" y="0"/>
                </a:lnTo>
                <a:lnTo>
                  <a:pt x="1323474" y="0"/>
                </a:lnTo>
                <a:cubicBezTo>
                  <a:pt x="1323474" y="730935"/>
                  <a:pt x="730935" y="1323474"/>
                  <a:pt x="0" y="1323474"/>
                </a:cubicBezTo>
                <a:close/>
              </a:path>
            </a:pathLst>
          </a:cu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6461595" y="4029026"/>
            <a:ext cx="1478818" cy="1478818"/>
          </a:xfrm>
          <a:custGeom>
            <a:avLst/>
            <a:gdLst>
              <a:gd name="connsiteX0" fmla="*/ 0 w 1323474"/>
              <a:gd name="connsiteY0" fmla="*/ 1323474 h 1323474"/>
              <a:gd name="connsiteX1" fmla="*/ 0 w 1323474"/>
              <a:gd name="connsiteY1" fmla="*/ 0 h 1323474"/>
              <a:gd name="connsiteX2" fmla="*/ 1323474 w 1323474"/>
              <a:gd name="connsiteY2" fmla="*/ 0 h 1323474"/>
              <a:gd name="connsiteX3" fmla="*/ 0 w 1323474"/>
              <a:gd name="connsiteY3" fmla="*/ 1323474 h 1323474"/>
            </a:gdLst>
            <a:ahLst/>
            <a:cxnLst/>
            <a:rect l="l" t="t" r="r" b="b"/>
            <a:pathLst>
              <a:path w="1323474" h="1323474">
                <a:moveTo>
                  <a:pt x="0" y="1323474"/>
                </a:moveTo>
                <a:lnTo>
                  <a:pt x="0" y="0"/>
                </a:lnTo>
                <a:lnTo>
                  <a:pt x="1323474" y="0"/>
                </a:lnTo>
                <a:cubicBezTo>
                  <a:pt x="1323474" y="730935"/>
                  <a:pt x="730935" y="1323474"/>
                  <a:pt x="0" y="1323474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2700000">
            <a:off x="4238887" y="4029027"/>
            <a:ext cx="1478818" cy="1478818"/>
          </a:xfrm>
          <a:custGeom>
            <a:avLst/>
            <a:gdLst>
              <a:gd name="connsiteX0" fmla="*/ 0 w 1323474"/>
              <a:gd name="connsiteY0" fmla="*/ 1323474 h 1323474"/>
              <a:gd name="connsiteX1" fmla="*/ 0 w 1323474"/>
              <a:gd name="connsiteY1" fmla="*/ 0 h 1323474"/>
              <a:gd name="connsiteX2" fmla="*/ 1323474 w 1323474"/>
              <a:gd name="connsiteY2" fmla="*/ 0 h 1323474"/>
              <a:gd name="connsiteX3" fmla="*/ 0 w 1323474"/>
              <a:gd name="connsiteY3" fmla="*/ 1323474 h 1323474"/>
            </a:gdLst>
            <a:ahLst/>
            <a:cxnLst/>
            <a:rect l="l" t="t" r="r" b="b"/>
            <a:pathLst>
              <a:path w="1323474" h="1323474">
                <a:moveTo>
                  <a:pt x="0" y="1323474"/>
                </a:moveTo>
                <a:lnTo>
                  <a:pt x="0" y="0"/>
                </a:lnTo>
                <a:lnTo>
                  <a:pt x="1323474" y="0"/>
                </a:lnTo>
                <a:cubicBezTo>
                  <a:pt x="1323474" y="730935"/>
                  <a:pt x="730935" y="1323474"/>
                  <a:pt x="0" y="1323474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854879" y="3933105"/>
            <a:ext cx="2865298" cy="1037042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103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La fase de análisis inicial consiste en la recolección de datos sobre el impacto del desastre, evaluando las áreas más afectadas y priorizando los recursos necesarios.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854879" y="3187470"/>
            <a:ext cx="2865298" cy="66529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C53645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Análisis inicial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4650651" y="2073728"/>
            <a:ext cx="2865298" cy="1037042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917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El reporte de daños documenta de manera detallada la magnitud de las pérdidas, incluyendo infraestructura, bienes materiales y efectos en la comunidad, facilitando la toma de decisiones.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4650651" y="1328093"/>
            <a:ext cx="2865298" cy="66529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30556B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Reporte de daños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8459123" y="3933105"/>
            <a:ext cx="2865298" cy="1037042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917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Se ofrece asesoría por parte de expertos en recuperación post- desastre, brindando recomendaciones específicas para restaurar los servicios esenciales y minimizar el impacto a largo plazo.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8459123" y="3187471"/>
            <a:ext cx="2865298" cy="66529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C53645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Asesoría especializada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5862662" y="3625774"/>
            <a:ext cx="453977" cy="453977"/>
          </a:xfrm>
          <a:custGeom>
            <a:avLst/>
            <a:gdLst>
              <a:gd name="connsiteX0" fmla="*/ 457070 w 720001"/>
              <a:gd name="connsiteY0" fmla="*/ 57166 h 720001"/>
              <a:gd name="connsiteX1" fmla="*/ 457070 w 720001"/>
              <a:gd name="connsiteY1" fmla="*/ 263017 h 720001"/>
              <a:gd name="connsiteX2" fmla="*/ 662921 w 720001"/>
              <a:gd name="connsiteY2" fmla="*/ 263017 h 720001"/>
              <a:gd name="connsiteX3" fmla="*/ 647393 w 720001"/>
              <a:gd name="connsiteY3" fmla="*/ 212704 h 720001"/>
              <a:gd name="connsiteX4" fmla="*/ 591008 w 720001"/>
              <a:gd name="connsiteY4" fmla="*/ 129079 h 720001"/>
              <a:gd name="connsiteX5" fmla="*/ 507383 w 720001"/>
              <a:gd name="connsiteY5" fmla="*/ 72694 h 720001"/>
              <a:gd name="connsiteX6" fmla="*/ 457070 w 720001"/>
              <a:gd name="connsiteY6" fmla="*/ 57166 h 720001"/>
              <a:gd name="connsiteX7" fmla="*/ 307952 w 720001"/>
              <a:gd name="connsiteY7" fmla="*/ 56386 h 720001"/>
              <a:gd name="connsiteX8" fmla="*/ 240115 w 720001"/>
              <a:gd name="connsiteY8" fmla="*/ 76251 h 720001"/>
              <a:gd name="connsiteX9" fmla="*/ 142092 w 720001"/>
              <a:gd name="connsiteY9" fmla="*/ 142179 h 720001"/>
              <a:gd name="connsiteX10" fmla="*/ 76077 w 720001"/>
              <a:gd name="connsiteY10" fmla="*/ 240116 h 720001"/>
              <a:gd name="connsiteX11" fmla="*/ 51874 w 720001"/>
              <a:gd name="connsiteY11" fmla="*/ 360000 h 720001"/>
              <a:gd name="connsiteX12" fmla="*/ 76077 w 720001"/>
              <a:gd name="connsiteY12" fmla="*/ 479885 h 720001"/>
              <a:gd name="connsiteX13" fmla="*/ 142092 w 720001"/>
              <a:gd name="connsiteY13" fmla="*/ 577822 h 720001"/>
              <a:gd name="connsiteX14" fmla="*/ 240029 w 720001"/>
              <a:gd name="connsiteY14" fmla="*/ 643837 h 720001"/>
              <a:gd name="connsiteX15" fmla="*/ 359913 w 720001"/>
              <a:gd name="connsiteY15" fmla="*/ 668039 h 720001"/>
              <a:gd name="connsiteX16" fmla="*/ 479798 w 720001"/>
              <a:gd name="connsiteY16" fmla="*/ 643837 h 720001"/>
              <a:gd name="connsiteX17" fmla="*/ 577735 w 720001"/>
              <a:gd name="connsiteY17" fmla="*/ 577822 h 720001"/>
              <a:gd name="connsiteX18" fmla="*/ 643750 w 720001"/>
              <a:gd name="connsiteY18" fmla="*/ 479885 h 720001"/>
              <a:gd name="connsiteX19" fmla="*/ 663615 w 720001"/>
              <a:gd name="connsiteY19" fmla="*/ 412049 h 720001"/>
              <a:gd name="connsiteX20" fmla="*/ 360000 w 720001"/>
              <a:gd name="connsiteY20" fmla="*/ 412049 h 720001"/>
              <a:gd name="connsiteX21" fmla="*/ 307952 w 720001"/>
              <a:gd name="connsiteY21" fmla="*/ 360000 h 720001"/>
              <a:gd name="connsiteX22" fmla="*/ 405022 w 720001"/>
              <a:gd name="connsiteY22" fmla="*/ 0 h 720001"/>
              <a:gd name="connsiteX23" fmla="*/ 720001 w 720001"/>
              <a:gd name="connsiteY23" fmla="*/ 314979 h 720001"/>
              <a:gd name="connsiteX24" fmla="*/ 405022 w 720001"/>
              <a:gd name="connsiteY24" fmla="*/ 314979 h 720001"/>
              <a:gd name="connsiteX25" fmla="*/ 360000 w 720001"/>
              <a:gd name="connsiteY25" fmla="*/ 0 h 720001"/>
              <a:gd name="connsiteX26" fmla="*/ 360000 w 720001"/>
              <a:gd name="connsiteY26" fmla="*/ 360000 h 720001"/>
              <a:gd name="connsiteX27" fmla="*/ 720001 w 720001"/>
              <a:gd name="connsiteY27" fmla="*/ 360000 h 720001"/>
              <a:gd name="connsiteX28" fmla="*/ 360000 w 720001"/>
              <a:gd name="connsiteY28" fmla="*/ 720001 h 720001"/>
              <a:gd name="connsiteX29" fmla="*/ 0 w 720001"/>
              <a:gd name="connsiteY29" fmla="*/ 360000 h 720001"/>
              <a:gd name="connsiteX30" fmla="*/ 360000 w 720001"/>
              <a:gd name="connsiteY30" fmla="*/ 0 h 720001"/>
            </a:gdLst>
            <a:ahLst/>
            <a:cxnLst/>
            <a:rect l="l" t="t" r="r" b="b"/>
            <a:pathLst>
              <a:path w="720001" h="720001">
                <a:moveTo>
                  <a:pt x="457070" y="57166"/>
                </a:moveTo>
                <a:lnTo>
                  <a:pt x="457070" y="263017"/>
                </a:lnTo>
                <a:lnTo>
                  <a:pt x="662921" y="263017"/>
                </a:lnTo>
                <a:cubicBezTo>
                  <a:pt x="659451" y="245755"/>
                  <a:pt x="654246" y="229012"/>
                  <a:pt x="647393" y="212704"/>
                </a:cubicBezTo>
                <a:cubicBezTo>
                  <a:pt x="634121" y="181388"/>
                  <a:pt x="615210" y="153282"/>
                  <a:pt x="591008" y="129079"/>
                </a:cubicBezTo>
                <a:cubicBezTo>
                  <a:pt x="566806" y="104877"/>
                  <a:pt x="538699" y="85966"/>
                  <a:pt x="507383" y="72694"/>
                </a:cubicBezTo>
                <a:cubicBezTo>
                  <a:pt x="491075" y="65755"/>
                  <a:pt x="474246" y="60636"/>
                  <a:pt x="457070" y="57166"/>
                </a:cubicBezTo>
                <a:close/>
                <a:moveTo>
                  <a:pt x="307952" y="56386"/>
                </a:moveTo>
                <a:cubicBezTo>
                  <a:pt x="284703" y="60376"/>
                  <a:pt x="262062" y="66969"/>
                  <a:pt x="240115" y="76251"/>
                </a:cubicBezTo>
                <a:cubicBezTo>
                  <a:pt x="203508" y="91778"/>
                  <a:pt x="170544" y="113986"/>
                  <a:pt x="142092" y="142179"/>
                </a:cubicBezTo>
                <a:cubicBezTo>
                  <a:pt x="113812" y="170545"/>
                  <a:pt x="91605" y="203422"/>
                  <a:pt x="76077" y="240116"/>
                </a:cubicBezTo>
                <a:cubicBezTo>
                  <a:pt x="60029" y="278111"/>
                  <a:pt x="51874" y="318362"/>
                  <a:pt x="51874" y="360000"/>
                </a:cubicBezTo>
                <a:cubicBezTo>
                  <a:pt x="51874" y="401639"/>
                  <a:pt x="60029" y="441976"/>
                  <a:pt x="76077" y="479885"/>
                </a:cubicBezTo>
                <a:cubicBezTo>
                  <a:pt x="91605" y="516579"/>
                  <a:pt x="113812" y="549543"/>
                  <a:pt x="142092" y="577822"/>
                </a:cubicBezTo>
                <a:cubicBezTo>
                  <a:pt x="170458" y="606102"/>
                  <a:pt x="203335" y="628309"/>
                  <a:pt x="240029" y="643837"/>
                </a:cubicBezTo>
                <a:cubicBezTo>
                  <a:pt x="278024" y="659885"/>
                  <a:pt x="318275" y="668039"/>
                  <a:pt x="359913" y="668039"/>
                </a:cubicBezTo>
                <a:cubicBezTo>
                  <a:pt x="401552" y="668039"/>
                  <a:pt x="441890" y="659885"/>
                  <a:pt x="479798" y="643837"/>
                </a:cubicBezTo>
                <a:cubicBezTo>
                  <a:pt x="516492" y="628309"/>
                  <a:pt x="549456" y="606102"/>
                  <a:pt x="577735" y="577822"/>
                </a:cubicBezTo>
                <a:cubicBezTo>
                  <a:pt x="606015" y="549456"/>
                  <a:pt x="628222" y="516579"/>
                  <a:pt x="643750" y="479885"/>
                </a:cubicBezTo>
                <a:cubicBezTo>
                  <a:pt x="653032" y="457938"/>
                  <a:pt x="659625" y="435297"/>
                  <a:pt x="663615" y="412049"/>
                </a:cubicBezTo>
                <a:lnTo>
                  <a:pt x="360000" y="412049"/>
                </a:lnTo>
                <a:cubicBezTo>
                  <a:pt x="331287" y="412049"/>
                  <a:pt x="307952" y="388714"/>
                  <a:pt x="307952" y="360000"/>
                </a:cubicBezTo>
                <a:close/>
                <a:moveTo>
                  <a:pt x="405022" y="0"/>
                </a:moveTo>
                <a:cubicBezTo>
                  <a:pt x="578950" y="0"/>
                  <a:pt x="720001" y="141051"/>
                  <a:pt x="720001" y="314979"/>
                </a:cubicBezTo>
                <a:lnTo>
                  <a:pt x="405022" y="314979"/>
                </a:lnTo>
                <a:close/>
                <a:moveTo>
                  <a:pt x="360000" y="0"/>
                </a:moveTo>
                <a:lnTo>
                  <a:pt x="360000" y="360000"/>
                </a:lnTo>
                <a:lnTo>
                  <a:pt x="720001" y="360000"/>
                </a:lnTo>
                <a:cubicBezTo>
                  <a:pt x="720001" y="558825"/>
                  <a:pt x="558824" y="720001"/>
                  <a:pt x="360000" y="720001"/>
                </a:cubicBezTo>
                <a:cubicBezTo>
                  <a:pt x="161176" y="720001"/>
                  <a:pt x="0" y="558825"/>
                  <a:pt x="0" y="360000"/>
                </a:cubicBezTo>
                <a:cubicBezTo>
                  <a:pt x="0" y="161176"/>
                  <a:pt x="161176" y="0"/>
                  <a:pt x="360000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4751307" y="4341642"/>
            <a:ext cx="453978" cy="411583"/>
          </a:xfrm>
          <a:custGeom>
            <a:avLst/>
            <a:gdLst>
              <a:gd name="connsiteX0" fmla="*/ 351048 w 1543905"/>
              <a:gd name="connsiteY0" fmla="*/ 523317 h 1399728"/>
              <a:gd name="connsiteX1" fmla="*/ 351048 w 1543905"/>
              <a:gd name="connsiteY1" fmla="*/ 523317 h 1399728"/>
              <a:gd name="connsiteX2" fmla="*/ 351420 w 1543905"/>
              <a:gd name="connsiteY2" fmla="*/ 523503 h 1399728"/>
              <a:gd name="connsiteX3" fmla="*/ 351420 w 1543905"/>
              <a:gd name="connsiteY3" fmla="*/ 1020031 h 1399728"/>
              <a:gd name="connsiteX4" fmla="*/ 351048 w 1543905"/>
              <a:gd name="connsiteY4" fmla="*/ 1020403 h 1399728"/>
              <a:gd name="connsiteX5" fmla="*/ 163525 w 1543905"/>
              <a:gd name="connsiteY5" fmla="*/ 1020403 h 1399728"/>
              <a:gd name="connsiteX6" fmla="*/ 163153 w 1543905"/>
              <a:gd name="connsiteY6" fmla="*/ 1020031 h 1399728"/>
              <a:gd name="connsiteX7" fmla="*/ 163153 w 1543905"/>
              <a:gd name="connsiteY7" fmla="*/ 523503 h 1399728"/>
              <a:gd name="connsiteX8" fmla="*/ 163153 w 1543905"/>
              <a:gd name="connsiteY8" fmla="*/ 523317 h 1399728"/>
              <a:gd name="connsiteX9" fmla="*/ 163339 w 1543905"/>
              <a:gd name="connsiteY9" fmla="*/ 523131 h 1399728"/>
              <a:gd name="connsiteX10" fmla="*/ 351048 w 1543905"/>
              <a:gd name="connsiteY10" fmla="*/ 523131 h 1399728"/>
              <a:gd name="connsiteX11" fmla="*/ 351048 w 1543905"/>
              <a:gd name="connsiteY11" fmla="*/ 411696 h 1399728"/>
              <a:gd name="connsiteX12" fmla="*/ 163339 w 1543905"/>
              <a:gd name="connsiteY12" fmla="*/ 411696 h 1399728"/>
              <a:gd name="connsiteX13" fmla="*/ 51346 w 1543905"/>
              <a:gd name="connsiteY13" fmla="*/ 523689 h 1399728"/>
              <a:gd name="connsiteX14" fmla="*/ 51346 w 1543905"/>
              <a:gd name="connsiteY14" fmla="*/ 1020217 h 1399728"/>
              <a:gd name="connsiteX15" fmla="*/ 163339 w 1543905"/>
              <a:gd name="connsiteY15" fmla="*/ 1132210 h 1399728"/>
              <a:gd name="connsiteX16" fmla="*/ 351048 w 1543905"/>
              <a:gd name="connsiteY16" fmla="*/ 1132210 h 1399728"/>
              <a:gd name="connsiteX17" fmla="*/ 463042 w 1543905"/>
              <a:gd name="connsiteY17" fmla="*/ 1020217 h 1399728"/>
              <a:gd name="connsiteX18" fmla="*/ 463042 w 1543905"/>
              <a:gd name="connsiteY18" fmla="*/ 523503 h 1399728"/>
              <a:gd name="connsiteX19" fmla="*/ 351048 w 1543905"/>
              <a:gd name="connsiteY19" fmla="*/ 411696 h 1399728"/>
              <a:gd name="connsiteX20" fmla="*/ 865808 w 1543905"/>
              <a:gd name="connsiteY20" fmla="*/ 111621 h 1399728"/>
              <a:gd name="connsiteX21" fmla="*/ 866180 w 1543905"/>
              <a:gd name="connsiteY21" fmla="*/ 111807 h 1399728"/>
              <a:gd name="connsiteX22" fmla="*/ 866180 w 1543905"/>
              <a:gd name="connsiteY22" fmla="*/ 1020031 h 1399728"/>
              <a:gd name="connsiteX23" fmla="*/ 865808 w 1543905"/>
              <a:gd name="connsiteY23" fmla="*/ 1020403 h 1399728"/>
              <a:gd name="connsiteX24" fmla="*/ 678284 w 1543905"/>
              <a:gd name="connsiteY24" fmla="*/ 1020403 h 1399728"/>
              <a:gd name="connsiteX25" fmla="*/ 677912 w 1543905"/>
              <a:gd name="connsiteY25" fmla="*/ 1020031 h 1399728"/>
              <a:gd name="connsiteX26" fmla="*/ 677912 w 1543905"/>
              <a:gd name="connsiteY26" fmla="*/ 111993 h 1399728"/>
              <a:gd name="connsiteX27" fmla="*/ 677912 w 1543905"/>
              <a:gd name="connsiteY27" fmla="*/ 111807 h 1399728"/>
              <a:gd name="connsiteX28" fmla="*/ 678098 w 1543905"/>
              <a:gd name="connsiteY28" fmla="*/ 111621 h 1399728"/>
              <a:gd name="connsiteX29" fmla="*/ 865808 w 1543905"/>
              <a:gd name="connsiteY29" fmla="*/ 111621 h 1399728"/>
              <a:gd name="connsiteX30" fmla="*/ 865808 w 1543905"/>
              <a:gd name="connsiteY30" fmla="*/ 0 h 1399728"/>
              <a:gd name="connsiteX31" fmla="*/ 677912 w 1543905"/>
              <a:gd name="connsiteY31" fmla="*/ 0 h 1399728"/>
              <a:gd name="connsiteX32" fmla="*/ 565919 w 1543905"/>
              <a:gd name="connsiteY32" fmla="*/ 111993 h 1399728"/>
              <a:gd name="connsiteX33" fmla="*/ 565919 w 1543905"/>
              <a:gd name="connsiteY33" fmla="*/ 1020217 h 1399728"/>
              <a:gd name="connsiteX34" fmla="*/ 677912 w 1543905"/>
              <a:gd name="connsiteY34" fmla="*/ 1132210 h 1399728"/>
              <a:gd name="connsiteX35" fmla="*/ 865622 w 1543905"/>
              <a:gd name="connsiteY35" fmla="*/ 1132210 h 1399728"/>
              <a:gd name="connsiteX36" fmla="*/ 977615 w 1543905"/>
              <a:gd name="connsiteY36" fmla="*/ 1020217 h 1399728"/>
              <a:gd name="connsiteX37" fmla="*/ 977615 w 1543905"/>
              <a:gd name="connsiteY37" fmla="*/ 111993 h 1399728"/>
              <a:gd name="connsiteX38" fmla="*/ 865808 w 1543905"/>
              <a:gd name="connsiteY38" fmla="*/ 0 h 1399728"/>
              <a:gd name="connsiteX39" fmla="*/ 1380381 w 1543905"/>
              <a:gd name="connsiteY39" fmla="*/ 729072 h 1399728"/>
              <a:gd name="connsiteX40" fmla="*/ 1380753 w 1543905"/>
              <a:gd name="connsiteY40" fmla="*/ 729258 h 1399728"/>
              <a:gd name="connsiteX41" fmla="*/ 1380753 w 1543905"/>
              <a:gd name="connsiteY41" fmla="*/ 1020031 h 1399728"/>
              <a:gd name="connsiteX42" fmla="*/ 1380381 w 1543905"/>
              <a:gd name="connsiteY42" fmla="*/ 1020403 h 1399728"/>
              <a:gd name="connsiteX43" fmla="*/ 1192858 w 1543905"/>
              <a:gd name="connsiteY43" fmla="*/ 1020403 h 1399728"/>
              <a:gd name="connsiteX44" fmla="*/ 1192485 w 1543905"/>
              <a:gd name="connsiteY44" fmla="*/ 1020031 h 1399728"/>
              <a:gd name="connsiteX45" fmla="*/ 1192485 w 1543905"/>
              <a:gd name="connsiteY45" fmla="*/ 729444 h 1399728"/>
              <a:gd name="connsiteX46" fmla="*/ 1192485 w 1543905"/>
              <a:gd name="connsiteY46" fmla="*/ 729258 h 1399728"/>
              <a:gd name="connsiteX47" fmla="*/ 1192671 w 1543905"/>
              <a:gd name="connsiteY47" fmla="*/ 729072 h 1399728"/>
              <a:gd name="connsiteX48" fmla="*/ 1380381 w 1543905"/>
              <a:gd name="connsiteY48" fmla="*/ 729072 h 1399728"/>
              <a:gd name="connsiteX49" fmla="*/ 1380381 w 1543905"/>
              <a:gd name="connsiteY49" fmla="*/ 617451 h 1399728"/>
              <a:gd name="connsiteX50" fmla="*/ 1192671 w 1543905"/>
              <a:gd name="connsiteY50" fmla="*/ 617451 h 1399728"/>
              <a:gd name="connsiteX51" fmla="*/ 1080678 w 1543905"/>
              <a:gd name="connsiteY51" fmla="*/ 729444 h 1399728"/>
              <a:gd name="connsiteX52" fmla="*/ 1080678 w 1543905"/>
              <a:gd name="connsiteY52" fmla="*/ 1020031 h 1399728"/>
              <a:gd name="connsiteX53" fmla="*/ 1192671 w 1543905"/>
              <a:gd name="connsiteY53" fmla="*/ 1132024 h 1399728"/>
              <a:gd name="connsiteX54" fmla="*/ 1380381 w 1543905"/>
              <a:gd name="connsiteY54" fmla="*/ 1132024 h 1399728"/>
              <a:gd name="connsiteX55" fmla="*/ 1492374 w 1543905"/>
              <a:gd name="connsiteY55" fmla="*/ 1020031 h 1399728"/>
              <a:gd name="connsiteX56" fmla="*/ 1492374 w 1543905"/>
              <a:gd name="connsiteY56" fmla="*/ 729444 h 1399728"/>
              <a:gd name="connsiteX57" fmla="*/ 1380381 w 1543905"/>
              <a:gd name="connsiteY57" fmla="*/ 617451 h 1399728"/>
              <a:gd name="connsiteX58" fmla="*/ 1481956 w 1543905"/>
              <a:gd name="connsiteY58" fmla="*/ 1276201 h 1399728"/>
              <a:gd name="connsiteX59" fmla="*/ 61764 w 1543905"/>
              <a:gd name="connsiteY59" fmla="*/ 1276201 h 1399728"/>
              <a:gd name="connsiteX60" fmla="*/ 0 w 1543905"/>
              <a:gd name="connsiteY60" fmla="*/ 1337965 h 1399728"/>
              <a:gd name="connsiteX61" fmla="*/ 61764 w 1543905"/>
              <a:gd name="connsiteY61" fmla="*/ 1399729 h 1399728"/>
              <a:gd name="connsiteX62" fmla="*/ 1482142 w 1543905"/>
              <a:gd name="connsiteY62" fmla="*/ 1399729 h 1399728"/>
              <a:gd name="connsiteX63" fmla="*/ 1543906 w 1543905"/>
              <a:gd name="connsiteY63" fmla="*/ 1337965 h 1399728"/>
              <a:gd name="connsiteX64" fmla="*/ 1481956 w 1543905"/>
              <a:gd name="connsiteY64" fmla="*/ 1276201 h 1399728"/>
            </a:gdLst>
            <a:ahLst/>
            <a:cxnLst/>
            <a:rect l="l" t="t" r="r" b="b"/>
            <a:pathLst>
              <a:path w="1543905" h="1399728">
                <a:moveTo>
                  <a:pt x="351048" y="523317"/>
                </a:moveTo>
                <a:cubicBezTo>
                  <a:pt x="351234" y="523317"/>
                  <a:pt x="351234" y="523317"/>
                  <a:pt x="351048" y="523317"/>
                </a:cubicBezTo>
                <a:cubicBezTo>
                  <a:pt x="351234" y="523317"/>
                  <a:pt x="351420" y="523503"/>
                  <a:pt x="351420" y="523503"/>
                </a:cubicBezTo>
                <a:lnTo>
                  <a:pt x="351420" y="1020031"/>
                </a:lnTo>
                <a:lnTo>
                  <a:pt x="351048" y="1020403"/>
                </a:lnTo>
                <a:lnTo>
                  <a:pt x="163525" y="1020403"/>
                </a:lnTo>
                <a:lnTo>
                  <a:pt x="163153" y="1020031"/>
                </a:lnTo>
                <a:lnTo>
                  <a:pt x="163153" y="523503"/>
                </a:lnTo>
                <a:lnTo>
                  <a:pt x="163153" y="523317"/>
                </a:lnTo>
                <a:lnTo>
                  <a:pt x="163339" y="523131"/>
                </a:lnTo>
                <a:lnTo>
                  <a:pt x="351048" y="523131"/>
                </a:lnTo>
                <a:moveTo>
                  <a:pt x="351048" y="411696"/>
                </a:moveTo>
                <a:lnTo>
                  <a:pt x="163339" y="411696"/>
                </a:lnTo>
                <a:cubicBezTo>
                  <a:pt x="101575" y="411696"/>
                  <a:pt x="51346" y="461739"/>
                  <a:pt x="51346" y="523689"/>
                </a:cubicBezTo>
                <a:lnTo>
                  <a:pt x="51346" y="1020217"/>
                </a:lnTo>
                <a:cubicBezTo>
                  <a:pt x="51346" y="1081795"/>
                  <a:pt x="101761" y="1132210"/>
                  <a:pt x="163339" y="1132210"/>
                </a:cubicBezTo>
                <a:lnTo>
                  <a:pt x="351048" y="1132210"/>
                </a:lnTo>
                <a:cubicBezTo>
                  <a:pt x="412626" y="1132210"/>
                  <a:pt x="463042" y="1081795"/>
                  <a:pt x="463042" y="1020217"/>
                </a:cubicBezTo>
                <a:lnTo>
                  <a:pt x="463042" y="523503"/>
                </a:lnTo>
                <a:cubicBezTo>
                  <a:pt x="463042" y="461739"/>
                  <a:pt x="412998" y="411696"/>
                  <a:pt x="351048" y="411696"/>
                </a:cubicBezTo>
                <a:close/>
                <a:moveTo>
                  <a:pt x="865808" y="111621"/>
                </a:moveTo>
                <a:cubicBezTo>
                  <a:pt x="865994" y="111621"/>
                  <a:pt x="866180" y="111807"/>
                  <a:pt x="866180" y="111807"/>
                </a:cubicBezTo>
                <a:lnTo>
                  <a:pt x="866180" y="1020031"/>
                </a:lnTo>
                <a:lnTo>
                  <a:pt x="865808" y="1020403"/>
                </a:lnTo>
                <a:lnTo>
                  <a:pt x="678284" y="1020403"/>
                </a:lnTo>
                <a:lnTo>
                  <a:pt x="677912" y="1020031"/>
                </a:lnTo>
                <a:lnTo>
                  <a:pt x="677912" y="111993"/>
                </a:lnTo>
                <a:lnTo>
                  <a:pt x="677912" y="111807"/>
                </a:lnTo>
                <a:lnTo>
                  <a:pt x="678098" y="111621"/>
                </a:lnTo>
                <a:lnTo>
                  <a:pt x="865808" y="111621"/>
                </a:lnTo>
                <a:moveTo>
                  <a:pt x="865808" y="0"/>
                </a:moveTo>
                <a:lnTo>
                  <a:pt x="677912" y="0"/>
                </a:lnTo>
                <a:cubicBezTo>
                  <a:pt x="616148" y="0"/>
                  <a:pt x="565919" y="50043"/>
                  <a:pt x="565919" y="111993"/>
                </a:cubicBezTo>
                <a:lnTo>
                  <a:pt x="565919" y="1020217"/>
                </a:lnTo>
                <a:cubicBezTo>
                  <a:pt x="565919" y="1081795"/>
                  <a:pt x="616335" y="1132210"/>
                  <a:pt x="677912" y="1132210"/>
                </a:cubicBezTo>
                <a:lnTo>
                  <a:pt x="865622" y="1132210"/>
                </a:lnTo>
                <a:cubicBezTo>
                  <a:pt x="927199" y="1132210"/>
                  <a:pt x="977615" y="1081795"/>
                  <a:pt x="977615" y="1020217"/>
                </a:cubicBezTo>
                <a:lnTo>
                  <a:pt x="977615" y="111993"/>
                </a:lnTo>
                <a:cubicBezTo>
                  <a:pt x="977615" y="50043"/>
                  <a:pt x="927571" y="0"/>
                  <a:pt x="865808" y="0"/>
                </a:cubicBezTo>
                <a:close/>
                <a:moveTo>
                  <a:pt x="1380381" y="729072"/>
                </a:moveTo>
                <a:cubicBezTo>
                  <a:pt x="1380567" y="729072"/>
                  <a:pt x="1380753" y="729258"/>
                  <a:pt x="1380753" y="729258"/>
                </a:cubicBezTo>
                <a:lnTo>
                  <a:pt x="1380753" y="1020031"/>
                </a:lnTo>
                <a:lnTo>
                  <a:pt x="1380381" y="1020403"/>
                </a:lnTo>
                <a:lnTo>
                  <a:pt x="1192858" y="1020403"/>
                </a:lnTo>
                <a:lnTo>
                  <a:pt x="1192485" y="1020031"/>
                </a:lnTo>
                <a:lnTo>
                  <a:pt x="1192485" y="729444"/>
                </a:lnTo>
                <a:lnTo>
                  <a:pt x="1192485" y="729258"/>
                </a:lnTo>
                <a:lnTo>
                  <a:pt x="1192671" y="729072"/>
                </a:lnTo>
                <a:lnTo>
                  <a:pt x="1380381" y="729072"/>
                </a:lnTo>
                <a:moveTo>
                  <a:pt x="1380381" y="617451"/>
                </a:moveTo>
                <a:lnTo>
                  <a:pt x="1192671" y="617451"/>
                </a:lnTo>
                <a:cubicBezTo>
                  <a:pt x="1130908" y="617451"/>
                  <a:pt x="1080678" y="667494"/>
                  <a:pt x="1080678" y="729444"/>
                </a:cubicBezTo>
                <a:lnTo>
                  <a:pt x="1080678" y="1020031"/>
                </a:lnTo>
                <a:cubicBezTo>
                  <a:pt x="1080678" y="1081608"/>
                  <a:pt x="1131094" y="1132024"/>
                  <a:pt x="1192671" y="1132024"/>
                </a:cubicBezTo>
                <a:lnTo>
                  <a:pt x="1380381" y="1132024"/>
                </a:lnTo>
                <a:cubicBezTo>
                  <a:pt x="1441959" y="1132024"/>
                  <a:pt x="1492374" y="1081608"/>
                  <a:pt x="1492374" y="1020031"/>
                </a:cubicBezTo>
                <a:lnTo>
                  <a:pt x="1492374" y="729444"/>
                </a:lnTo>
                <a:cubicBezTo>
                  <a:pt x="1492374" y="667680"/>
                  <a:pt x="1442145" y="617451"/>
                  <a:pt x="1380381" y="617451"/>
                </a:cubicBezTo>
                <a:close/>
                <a:moveTo>
                  <a:pt x="1481956" y="1276201"/>
                </a:moveTo>
                <a:lnTo>
                  <a:pt x="61764" y="1276201"/>
                </a:lnTo>
                <a:cubicBezTo>
                  <a:pt x="27719" y="1276201"/>
                  <a:pt x="0" y="1303920"/>
                  <a:pt x="0" y="1337965"/>
                </a:cubicBezTo>
                <a:cubicBezTo>
                  <a:pt x="0" y="1372009"/>
                  <a:pt x="27719" y="1399729"/>
                  <a:pt x="61764" y="1399729"/>
                </a:cubicBezTo>
                <a:lnTo>
                  <a:pt x="1482142" y="1399729"/>
                </a:lnTo>
                <a:cubicBezTo>
                  <a:pt x="1516187" y="1399729"/>
                  <a:pt x="1543906" y="1372009"/>
                  <a:pt x="1543906" y="1337965"/>
                </a:cubicBezTo>
                <a:cubicBezTo>
                  <a:pt x="1543720" y="1303734"/>
                  <a:pt x="1516187" y="1276201"/>
                  <a:pt x="1481956" y="127620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6974016" y="4348708"/>
            <a:ext cx="453977" cy="397451"/>
          </a:xfrm>
          <a:custGeom>
            <a:avLst/>
            <a:gdLst>
              <a:gd name="connsiteX0" fmla="*/ 411292 w 822400"/>
              <a:gd name="connsiteY0" fmla="*/ 234366 h 720000"/>
              <a:gd name="connsiteX1" fmla="*/ 285658 w 822400"/>
              <a:gd name="connsiteY1" fmla="*/ 360000 h 720000"/>
              <a:gd name="connsiteX2" fmla="*/ 411292 w 822400"/>
              <a:gd name="connsiteY2" fmla="*/ 485635 h 720000"/>
              <a:gd name="connsiteX3" fmla="*/ 536927 w 822400"/>
              <a:gd name="connsiteY3" fmla="*/ 360000 h 720000"/>
              <a:gd name="connsiteX4" fmla="*/ 411292 w 822400"/>
              <a:gd name="connsiteY4" fmla="*/ 234366 h 720000"/>
              <a:gd name="connsiteX5" fmla="*/ 411292 w 822400"/>
              <a:gd name="connsiteY5" fmla="*/ 178938 h 720000"/>
              <a:gd name="connsiteX6" fmla="*/ 592354 w 822400"/>
              <a:gd name="connsiteY6" fmla="*/ 360000 h 720000"/>
              <a:gd name="connsiteX7" fmla="*/ 411292 w 822400"/>
              <a:gd name="connsiteY7" fmla="*/ 541063 h 720000"/>
              <a:gd name="connsiteX8" fmla="*/ 230230 w 822400"/>
              <a:gd name="connsiteY8" fmla="*/ 360000 h 720000"/>
              <a:gd name="connsiteX9" fmla="*/ 411292 w 822400"/>
              <a:gd name="connsiteY9" fmla="*/ 178938 h 720000"/>
              <a:gd name="connsiteX10" fmla="*/ 235403 w 822400"/>
              <a:gd name="connsiteY10" fmla="*/ 55427 h 720000"/>
              <a:gd name="connsiteX11" fmla="*/ 59514 w 822400"/>
              <a:gd name="connsiteY11" fmla="*/ 360000 h 720000"/>
              <a:gd name="connsiteX12" fmla="*/ 235403 w 822400"/>
              <a:gd name="connsiteY12" fmla="*/ 664573 h 720000"/>
              <a:gd name="connsiteX13" fmla="*/ 587089 w 822400"/>
              <a:gd name="connsiteY13" fmla="*/ 664573 h 720000"/>
              <a:gd name="connsiteX14" fmla="*/ 762978 w 822400"/>
              <a:gd name="connsiteY14" fmla="*/ 360000 h 720000"/>
              <a:gd name="connsiteX15" fmla="*/ 587089 w 822400"/>
              <a:gd name="connsiteY15" fmla="*/ 55427 h 720000"/>
              <a:gd name="connsiteX16" fmla="*/ 219883 w 822400"/>
              <a:gd name="connsiteY16" fmla="*/ 0 h 720000"/>
              <a:gd name="connsiteX17" fmla="*/ 602516 w 822400"/>
              <a:gd name="connsiteY17" fmla="*/ 0 h 720000"/>
              <a:gd name="connsiteX18" fmla="*/ 627274 w 822400"/>
              <a:gd name="connsiteY18" fmla="*/ 14319 h 720000"/>
              <a:gd name="connsiteX19" fmla="*/ 818590 w 822400"/>
              <a:gd name="connsiteY19" fmla="*/ 345682 h 720000"/>
              <a:gd name="connsiteX20" fmla="*/ 818590 w 822400"/>
              <a:gd name="connsiteY20" fmla="*/ 374319 h 720000"/>
              <a:gd name="connsiteX21" fmla="*/ 627366 w 822400"/>
              <a:gd name="connsiteY21" fmla="*/ 705682 h 720000"/>
              <a:gd name="connsiteX22" fmla="*/ 602608 w 822400"/>
              <a:gd name="connsiteY22" fmla="*/ 720000 h 720000"/>
              <a:gd name="connsiteX23" fmla="*/ 219976 w 822400"/>
              <a:gd name="connsiteY23" fmla="*/ 720000 h 720000"/>
              <a:gd name="connsiteX24" fmla="*/ 195218 w 822400"/>
              <a:gd name="connsiteY24" fmla="*/ 705682 h 720000"/>
              <a:gd name="connsiteX25" fmla="*/ 3810 w 822400"/>
              <a:gd name="connsiteY25" fmla="*/ 374319 h 720000"/>
              <a:gd name="connsiteX26" fmla="*/ 3810 w 822400"/>
              <a:gd name="connsiteY26" fmla="*/ 345682 h 720000"/>
              <a:gd name="connsiteX27" fmla="*/ 195126 w 822400"/>
              <a:gd name="connsiteY27" fmla="*/ 14319 h 720000"/>
              <a:gd name="connsiteX28" fmla="*/ 219883 w 822400"/>
              <a:gd name="connsiteY28" fmla="*/ 0 h 720000"/>
            </a:gdLst>
            <a:ahLst/>
            <a:cxnLst/>
            <a:rect l="l" t="t" r="r" b="b"/>
            <a:pathLst>
              <a:path w="822400" h="720000">
                <a:moveTo>
                  <a:pt x="411292" y="234366"/>
                </a:moveTo>
                <a:cubicBezTo>
                  <a:pt x="342008" y="234366"/>
                  <a:pt x="285658" y="290716"/>
                  <a:pt x="285658" y="360000"/>
                </a:cubicBezTo>
                <a:cubicBezTo>
                  <a:pt x="285658" y="429284"/>
                  <a:pt x="342008" y="485635"/>
                  <a:pt x="411292" y="485635"/>
                </a:cubicBezTo>
                <a:cubicBezTo>
                  <a:pt x="480576" y="485635"/>
                  <a:pt x="536927" y="429284"/>
                  <a:pt x="536927" y="360000"/>
                </a:cubicBezTo>
                <a:cubicBezTo>
                  <a:pt x="536927" y="290716"/>
                  <a:pt x="480576" y="234366"/>
                  <a:pt x="411292" y="234366"/>
                </a:cubicBezTo>
                <a:close/>
                <a:moveTo>
                  <a:pt x="411292" y="178938"/>
                </a:moveTo>
                <a:cubicBezTo>
                  <a:pt x="511153" y="178938"/>
                  <a:pt x="592354" y="260139"/>
                  <a:pt x="592354" y="360000"/>
                </a:cubicBezTo>
                <a:cubicBezTo>
                  <a:pt x="592354" y="459861"/>
                  <a:pt x="511153" y="541063"/>
                  <a:pt x="411292" y="541063"/>
                </a:cubicBezTo>
                <a:cubicBezTo>
                  <a:pt x="311431" y="541063"/>
                  <a:pt x="230230" y="459861"/>
                  <a:pt x="230230" y="360000"/>
                </a:cubicBezTo>
                <a:cubicBezTo>
                  <a:pt x="230230" y="260139"/>
                  <a:pt x="311431" y="178938"/>
                  <a:pt x="411292" y="178938"/>
                </a:cubicBezTo>
                <a:close/>
                <a:moveTo>
                  <a:pt x="235403" y="55427"/>
                </a:moveTo>
                <a:lnTo>
                  <a:pt x="59514" y="360000"/>
                </a:lnTo>
                <a:lnTo>
                  <a:pt x="235403" y="664573"/>
                </a:lnTo>
                <a:lnTo>
                  <a:pt x="587089" y="664573"/>
                </a:lnTo>
                <a:lnTo>
                  <a:pt x="762978" y="360000"/>
                </a:lnTo>
                <a:lnTo>
                  <a:pt x="587089" y="55427"/>
                </a:lnTo>
                <a:close/>
                <a:moveTo>
                  <a:pt x="219883" y="0"/>
                </a:moveTo>
                <a:lnTo>
                  <a:pt x="602516" y="0"/>
                </a:lnTo>
                <a:cubicBezTo>
                  <a:pt x="612678" y="0"/>
                  <a:pt x="622193" y="5450"/>
                  <a:pt x="627274" y="14319"/>
                </a:cubicBezTo>
                <a:lnTo>
                  <a:pt x="818590" y="345682"/>
                </a:lnTo>
                <a:cubicBezTo>
                  <a:pt x="823671" y="354550"/>
                  <a:pt x="823671" y="365451"/>
                  <a:pt x="818590" y="374319"/>
                </a:cubicBezTo>
                <a:lnTo>
                  <a:pt x="627366" y="705682"/>
                </a:lnTo>
                <a:cubicBezTo>
                  <a:pt x="622285" y="714550"/>
                  <a:pt x="612770" y="720000"/>
                  <a:pt x="602608" y="720000"/>
                </a:cubicBezTo>
                <a:lnTo>
                  <a:pt x="219976" y="720000"/>
                </a:lnTo>
                <a:cubicBezTo>
                  <a:pt x="209814" y="720000"/>
                  <a:pt x="200299" y="714550"/>
                  <a:pt x="195218" y="705682"/>
                </a:cubicBezTo>
                <a:lnTo>
                  <a:pt x="3810" y="374319"/>
                </a:lnTo>
                <a:cubicBezTo>
                  <a:pt x="-1271" y="365543"/>
                  <a:pt x="-1271" y="354550"/>
                  <a:pt x="3810" y="345682"/>
                </a:cubicBezTo>
                <a:lnTo>
                  <a:pt x="195126" y="14319"/>
                </a:lnTo>
                <a:cubicBezTo>
                  <a:pt x="200207" y="5450"/>
                  <a:pt x="209721" y="0"/>
                  <a:pt x="219883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924761" y="470193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Evaluación de Daños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504217" y="534464"/>
            <a:ext cx="312365" cy="312365"/>
          </a:xfrm>
          <a:prstGeom prst="ellipse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533681" y="563928"/>
            <a:ext cx="253437" cy="253437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bg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A9B26D98-B5CA-9BCC-D72D-1BF252BA10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712654" y="2197688"/>
            <a:ext cx="3339831" cy="3240000"/>
          </a:xfrm>
          <a:prstGeom prst="roundRect">
            <a:avLst>
              <a:gd name="adj" fmla="val 1239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flipV="1">
            <a:off x="324302" y="1826713"/>
            <a:ext cx="2845542" cy="751474"/>
          </a:xfrm>
          <a:custGeom>
            <a:avLst/>
            <a:gdLst>
              <a:gd name="connsiteX0" fmla="*/ 105613 w 1965158"/>
              <a:gd name="connsiteY0" fmla="*/ 751474 h 751474"/>
              <a:gd name="connsiteX1" fmla="*/ 1859545 w 1965158"/>
              <a:gd name="connsiteY1" fmla="*/ 751474 h 751474"/>
              <a:gd name="connsiteX2" fmla="*/ 1965158 w 1965158"/>
              <a:gd name="connsiteY2" fmla="*/ 645861 h 751474"/>
              <a:gd name="connsiteX3" fmla="*/ 1965158 w 1965158"/>
              <a:gd name="connsiteY3" fmla="*/ 223422 h 751474"/>
              <a:gd name="connsiteX4" fmla="*/ 1859545 w 1965158"/>
              <a:gd name="connsiteY4" fmla="*/ 117809 h 751474"/>
              <a:gd name="connsiteX5" fmla="*/ 451383 w 1965158"/>
              <a:gd name="connsiteY5" fmla="*/ 117809 h 751474"/>
              <a:gd name="connsiteX6" fmla="*/ 383054 w 1965158"/>
              <a:gd name="connsiteY6" fmla="*/ 0 h 751474"/>
              <a:gd name="connsiteX7" fmla="*/ 314725 w 1965158"/>
              <a:gd name="connsiteY7" fmla="*/ 117809 h 751474"/>
              <a:gd name="connsiteX8" fmla="*/ 105613 w 1965158"/>
              <a:gd name="connsiteY8" fmla="*/ 117809 h 751474"/>
              <a:gd name="connsiteX9" fmla="*/ 0 w 1965158"/>
              <a:gd name="connsiteY9" fmla="*/ 223422 h 751474"/>
              <a:gd name="connsiteX10" fmla="*/ 0 w 1965158"/>
              <a:gd name="connsiteY10" fmla="*/ 645861 h 751474"/>
              <a:gd name="connsiteX11" fmla="*/ 105613 w 1965158"/>
              <a:gd name="connsiteY11" fmla="*/ 751474 h 751474"/>
            </a:gdLst>
            <a:ahLst/>
            <a:cxnLst/>
            <a:rect l="l" t="t" r="r" b="b"/>
            <a:pathLst>
              <a:path w="1965158" h="751474">
                <a:moveTo>
                  <a:pt x="105613" y="751474"/>
                </a:moveTo>
                <a:lnTo>
                  <a:pt x="1859545" y="751474"/>
                </a:lnTo>
                <a:cubicBezTo>
                  <a:pt x="1917873" y="751474"/>
                  <a:pt x="1965158" y="704189"/>
                  <a:pt x="1965158" y="645861"/>
                </a:cubicBezTo>
                <a:lnTo>
                  <a:pt x="1965158" y="223422"/>
                </a:lnTo>
                <a:cubicBezTo>
                  <a:pt x="1965158" y="165094"/>
                  <a:pt x="1917873" y="117809"/>
                  <a:pt x="1859545" y="117809"/>
                </a:cubicBezTo>
                <a:lnTo>
                  <a:pt x="451383" y="117809"/>
                </a:lnTo>
                <a:lnTo>
                  <a:pt x="383054" y="0"/>
                </a:lnTo>
                <a:lnTo>
                  <a:pt x="314725" y="117809"/>
                </a:lnTo>
                <a:lnTo>
                  <a:pt x="105613" y="117809"/>
                </a:lnTo>
                <a:cubicBezTo>
                  <a:pt x="47285" y="117809"/>
                  <a:pt x="0" y="165094"/>
                  <a:pt x="0" y="223422"/>
                </a:cubicBezTo>
                <a:lnTo>
                  <a:pt x="0" y="645861"/>
                </a:lnTo>
                <a:cubicBezTo>
                  <a:pt x="0" y="704189"/>
                  <a:pt x="47285" y="751474"/>
                  <a:pt x="105613" y="751474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894803" y="2673133"/>
            <a:ext cx="2975532" cy="22320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Las estrategias a corto plazo están diseñadas para abordar necesidades inmediatas, como el suministro de alimentos, agua potable y atención médica a la población afectada.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3472624" y="4746716"/>
            <a:ext cx="579861" cy="5293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6000">
                <a:ln w="12700">
                  <a:solidFill>
                    <a:srgbClr val="8B9D3E">
                      <a:alpha val="100000"/>
                    </a:srgbClr>
                  </a:solidFill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”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4613910" y="2197688"/>
            <a:ext cx="3339831" cy="3240000"/>
          </a:xfrm>
          <a:prstGeom prst="roundRect">
            <a:avLst>
              <a:gd name="adj" fmla="val 1239"/>
            </a:avLst>
          </a:prstGeom>
          <a:solidFill>
            <a:schemeClr val="bg1"/>
          </a:solidFill>
          <a:ln w="12700" cap="sq">
            <a:solidFill>
              <a:schemeClr val="accent2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flipV="1">
            <a:off x="4225558" y="1826713"/>
            <a:ext cx="2845542" cy="751474"/>
          </a:xfrm>
          <a:custGeom>
            <a:avLst/>
            <a:gdLst>
              <a:gd name="connsiteX0" fmla="*/ 105613 w 1965158"/>
              <a:gd name="connsiteY0" fmla="*/ 751474 h 751474"/>
              <a:gd name="connsiteX1" fmla="*/ 1859545 w 1965158"/>
              <a:gd name="connsiteY1" fmla="*/ 751474 h 751474"/>
              <a:gd name="connsiteX2" fmla="*/ 1965158 w 1965158"/>
              <a:gd name="connsiteY2" fmla="*/ 645861 h 751474"/>
              <a:gd name="connsiteX3" fmla="*/ 1965158 w 1965158"/>
              <a:gd name="connsiteY3" fmla="*/ 223422 h 751474"/>
              <a:gd name="connsiteX4" fmla="*/ 1859545 w 1965158"/>
              <a:gd name="connsiteY4" fmla="*/ 117809 h 751474"/>
              <a:gd name="connsiteX5" fmla="*/ 451383 w 1965158"/>
              <a:gd name="connsiteY5" fmla="*/ 117809 h 751474"/>
              <a:gd name="connsiteX6" fmla="*/ 383054 w 1965158"/>
              <a:gd name="connsiteY6" fmla="*/ 0 h 751474"/>
              <a:gd name="connsiteX7" fmla="*/ 314725 w 1965158"/>
              <a:gd name="connsiteY7" fmla="*/ 117809 h 751474"/>
              <a:gd name="connsiteX8" fmla="*/ 105613 w 1965158"/>
              <a:gd name="connsiteY8" fmla="*/ 117809 h 751474"/>
              <a:gd name="connsiteX9" fmla="*/ 0 w 1965158"/>
              <a:gd name="connsiteY9" fmla="*/ 223422 h 751474"/>
              <a:gd name="connsiteX10" fmla="*/ 0 w 1965158"/>
              <a:gd name="connsiteY10" fmla="*/ 645861 h 751474"/>
              <a:gd name="connsiteX11" fmla="*/ 105613 w 1965158"/>
              <a:gd name="connsiteY11" fmla="*/ 751474 h 751474"/>
            </a:gdLst>
            <a:ahLst/>
            <a:cxnLst/>
            <a:rect l="l" t="t" r="r" b="b"/>
            <a:pathLst>
              <a:path w="1965158" h="751474">
                <a:moveTo>
                  <a:pt x="105613" y="751474"/>
                </a:moveTo>
                <a:lnTo>
                  <a:pt x="1859545" y="751474"/>
                </a:lnTo>
                <a:cubicBezTo>
                  <a:pt x="1917873" y="751474"/>
                  <a:pt x="1965158" y="704189"/>
                  <a:pt x="1965158" y="645861"/>
                </a:cubicBezTo>
                <a:lnTo>
                  <a:pt x="1965158" y="223422"/>
                </a:lnTo>
                <a:cubicBezTo>
                  <a:pt x="1965158" y="165094"/>
                  <a:pt x="1917873" y="117809"/>
                  <a:pt x="1859545" y="117809"/>
                </a:cubicBezTo>
                <a:lnTo>
                  <a:pt x="451383" y="117809"/>
                </a:lnTo>
                <a:lnTo>
                  <a:pt x="383054" y="0"/>
                </a:lnTo>
                <a:lnTo>
                  <a:pt x="314725" y="117809"/>
                </a:lnTo>
                <a:lnTo>
                  <a:pt x="105613" y="117809"/>
                </a:lnTo>
                <a:cubicBezTo>
                  <a:pt x="47285" y="117809"/>
                  <a:pt x="0" y="165094"/>
                  <a:pt x="0" y="223422"/>
                </a:cubicBezTo>
                <a:lnTo>
                  <a:pt x="0" y="645861"/>
                </a:lnTo>
                <a:cubicBezTo>
                  <a:pt x="0" y="704189"/>
                  <a:pt x="47285" y="751474"/>
                  <a:pt x="105613" y="751474"/>
                </a:cubicBezTo>
                <a:close/>
              </a:path>
            </a:pathLst>
          </a:cu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4796059" y="2673133"/>
            <a:ext cx="2975532" cy="22320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Estas estrategias se centran en la reconstrucción sostenible y en el desarrollo de infraestructura resiliente que prevenga daños futuros, promoviendo la adaptación al cambio climático.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7373881" y="4746716"/>
            <a:ext cx="579861" cy="5293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6000">
                <a:ln w="12700">
                  <a:solidFill>
                    <a:srgbClr val="E3A014">
                      <a:alpha val="100000"/>
                    </a:srgbClr>
                  </a:solidFill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”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4348928" y="1826714"/>
            <a:ext cx="2621280" cy="63366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Estrategias a largo plazo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447673" y="1826714"/>
            <a:ext cx="2621280" cy="63366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Estrategias a corto plazo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8497208" y="2197688"/>
            <a:ext cx="3339831" cy="3240000"/>
          </a:xfrm>
          <a:prstGeom prst="roundRect">
            <a:avLst>
              <a:gd name="adj" fmla="val 1239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flipV="1">
            <a:off x="8108856" y="1826713"/>
            <a:ext cx="2845542" cy="751474"/>
          </a:xfrm>
          <a:custGeom>
            <a:avLst/>
            <a:gdLst>
              <a:gd name="connsiteX0" fmla="*/ 105613 w 1965158"/>
              <a:gd name="connsiteY0" fmla="*/ 751474 h 751474"/>
              <a:gd name="connsiteX1" fmla="*/ 1859545 w 1965158"/>
              <a:gd name="connsiteY1" fmla="*/ 751474 h 751474"/>
              <a:gd name="connsiteX2" fmla="*/ 1965158 w 1965158"/>
              <a:gd name="connsiteY2" fmla="*/ 645861 h 751474"/>
              <a:gd name="connsiteX3" fmla="*/ 1965158 w 1965158"/>
              <a:gd name="connsiteY3" fmla="*/ 223422 h 751474"/>
              <a:gd name="connsiteX4" fmla="*/ 1859545 w 1965158"/>
              <a:gd name="connsiteY4" fmla="*/ 117809 h 751474"/>
              <a:gd name="connsiteX5" fmla="*/ 451383 w 1965158"/>
              <a:gd name="connsiteY5" fmla="*/ 117809 h 751474"/>
              <a:gd name="connsiteX6" fmla="*/ 383054 w 1965158"/>
              <a:gd name="connsiteY6" fmla="*/ 0 h 751474"/>
              <a:gd name="connsiteX7" fmla="*/ 314725 w 1965158"/>
              <a:gd name="connsiteY7" fmla="*/ 117809 h 751474"/>
              <a:gd name="connsiteX8" fmla="*/ 105613 w 1965158"/>
              <a:gd name="connsiteY8" fmla="*/ 117809 h 751474"/>
              <a:gd name="connsiteX9" fmla="*/ 0 w 1965158"/>
              <a:gd name="connsiteY9" fmla="*/ 223422 h 751474"/>
              <a:gd name="connsiteX10" fmla="*/ 0 w 1965158"/>
              <a:gd name="connsiteY10" fmla="*/ 645861 h 751474"/>
              <a:gd name="connsiteX11" fmla="*/ 105613 w 1965158"/>
              <a:gd name="connsiteY11" fmla="*/ 751474 h 751474"/>
            </a:gdLst>
            <a:ahLst/>
            <a:cxnLst/>
            <a:rect l="l" t="t" r="r" b="b"/>
            <a:pathLst>
              <a:path w="1965158" h="751474">
                <a:moveTo>
                  <a:pt x="105613" y="751474"/>
                </a:moveTo>
                <a:lnTo>
                  <a:pt x="1859545" y="751474"/>
                </a:lnTo>
                <a:cubicBezTo>
                  <a:pt x="1917873" y="751474"/>
                  <a:pt x="1965158" y="704189"/>
                  <a:pt x="1965158" y="645861"/>
                </a:cubicBezTo>
                <a:lnTo>
                  <a:pt x="1965158" y="223422"/>
                </a:lnTo>
                <a:cubicBezTo>
                  <a:pt x="1965158" y="165094"/>
                  <a:pt x="1917873" y="117809"/>
                  <a:pt x="1859545" y="117809"/>
                </a:cubicBezTo>
                <a:lnTo>
                  <a:pt x="451383" y="117809"/>
                </a:lnTo>
                <a:lnTo>
                  <a:pt x="383054" y="0"/>
                </a:lnTo>
                <a:lnTo>
                  <a:pt x="314725" y="117809"/>
                </a:lnTo>
                <a:lnTo>
                  <a:pt x="105613" y="117809"/>
                </a:lnTo>
                <a:cubicBezTo>
                  <a:pt x="47285" y="117809"/>
                  <a:pt x="0" y="165094"/>
                  <a:pt x="0" y="223422"/>
                </a:cubicBezTo>
                <a:lnTo>
                  <a:pt x="0" y="645861"/>
                </a:lnTo>
                <a:cubicBezTo>
                  <a:pt x="0" y="704189"/>
                  <a:pt x="47285" y="751474"/>
                  <a:pt x="105613" y="751474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8679357" y="2673133"/>
            <a:ext cx="2975532" cy="22320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Identificar y movilizar los recursos necesarios, tanto financieros como humanos, es crucial para la implementación eficaz de los planes de recuperación y el desarrollo comunitario.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11257178" y="4746716"/>
            <a:ext cx="579861" cy="5293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6000">
                <a:ln w="12700">
                  <a:solidFill>
                    <a:srgbClr val="8B9D3E">
                      <a:alpha val="100000"/>
                    </a:srgbClr>
                  </a:solidFill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”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8232227" y="1826714"/>
            <a:ext cx="2621280" cy="63366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Recursos necesarios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924761" y="470193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Planificación de la Recuperación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504217" y="534464"/>
            <a:ext cx="312365" cy="312365"/>
          </a:xfrm>
          <a:prstGeom prst="ellipse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533681" y="563928"/>
            <a:ext cx="253437" cy="253437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bg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82C7E49D-3B10-9213-94E3-A741C50857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4395867" y="2119942"/>
            <a:ext cx="3387570" cy="3780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blurRad="381000" dist="127000" dir="5400000" algn="t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8100000">
            <a:off x="5495652" y="1364459"/>
            <a:ext cx="1188000" cy="1188000"/>
          </a:xfrm>
          <a:prstGeom prst="teardrop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ln w="9525" cap="flat">
            <a:noFill/>
            <a:miter/>
          </a:ln>
          <a:effectLst>
            <a:outerShdw blurRad="508000" dist="190500" dir="5400000" algn="t" rotWithShape="0">
              <a:schemeClr val="accent1">
                <a:alpha val="3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660402" y="2119942"/>
            <a:ext cx="3387570" cy="3780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blurRad="381000" dist="127000" dir="5400000" algn="t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8131330" y="2119942"/>
            <a:ext cx="3387570" cy="3780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blurRad="381000" dist="127000" dir="5400000" algn="t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8100000">
            <a:off x="1760187" y="1364459"/>
            <a:ext cx="1188000" cy="1188000"/>
          </a:xfrm>
          <a:prstGeom prst="teardrop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ln w="9525" cap="flat">
            <a:noFill/>
            <a:miter/>
          </a:ln>
          <a:effectLst>
            <a:outerShdw blurRad="508000" dist="190500" dir="5400000" algn="t" rotWithShape="0">
              <a:schemeClr val="accent1">
                <a:alpha val="3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8100000">
            <a:off x="9231115" y="1364459"/>
            <a:ext cx="1188000" cy="1188000"/>
          </a:xfrm>
          <a:prstGeom prst="teardrop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ln w="9525" cap="flat">
            <a:noFill/>
            <a:miter/>
          </a:ln>
          <a:effectLst>
            <a:outerShdw blurRad="508000" dist="190500" dir="5400000" algn="t" rotWithShape="0">
              <a:schemeClr val="accent1">
                <a:alpha val="3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956814" y="2987157"/>
            <a:ext cx="2794746" cy="79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Indicadores de rendimiento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956814" y="3809834"/>
            <a:ext cx="2794746" cy="18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4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Se establecen indicadores de rendimiento para evaluar la efectividad de las acciones de recuperación y garantizar que se cumplan los objetivos planteados en el plan.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2120187" y="1724459"/>
            <a:ext cx="468000" cy="468000"/>
          </a:xfrm>
          <a:custGeom>
            <a:avLst/>
            <a:gdLst>
              <a:gd name="connsiteX0" fmla="*/ 438553 w 720000"/>
              <a:gd name="connsiteY0" fmla="*/ 189601 h 720000"/>
              <a:gd name="connsiteX1" fmla="*/ 503636 w 720000"/>
              <a:gd name="connsiteY1" fmla="*/ 216365 h 720000"/>
              <a:gd name="connsiteX2" fmla="*/ 503636 w 720000"/>
              <a:gd name="connsiteY2" fmla="*/ 346445 h 720000"/>
              <a:gd name="connsiteX3" fmla="*/ 362260 w 720000"/>
              <a:gd name="connsiteY3" fmla="*/ 487907 h 720000"/>
              <a:gd name="connsiteX4" fmla="*/ 191861 w 720000"/>
              <a:gd name="connsiteY4" fmla="*/ 528226 h 720000"/>
              <a:gd name="connsiteX5" fmla="*/ 232180 w 720000"/>
              <a:gd name="connsiteY5" fmla="*/ 357827 h 720000"/>
              <a:gd name="connsiteX6" fmla="*/ 373556 w 720000"/>
              <a:gd name="connsiteY6" fmla="*/ 216452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339581 w 720000"/>
              <a:gd name="connsiteY9" fmla="*/ 182476 h 720000"/>
              <a:gd name="connsiteX10" fmla="*/ 198205 w 720000"/>
              <a:gd name="connsiteY10" fmla="*/ 323852 h 720000"/>
              <a:gd name="connsiteX11" fmla="*/ 141637 w 720000"/>
              <a:gd name="connsiteY11" fmla="*/ 578364 h 720000"/>
              <a:gd name="connsiteX12" fmla="*/ 396149 w 720000"/>
              <a:gd name="connsiteY12" fmla="*/ 521796 h 720000"/>
              <a:gd name="connsiteX13" fmla="*/ 537524 w 720000"/>
              <a:gd name="connsiteY13" fmla="*/ 380420 h 720000"/>
              <a:gd name="connsiteX14" fmla="*/ 537524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0 h 720000"/>
              <a:gd name="connsiteX17" fmla="*/ 600000 w 720000"/>
              <a:gd name="connsiteY17" fmla="*/ 0 h 720000"/>
              <a:gd name="connsiteX18" fmla="*/ 720000 w 720000"/>
              <a:gd name="connsiteY18" fmla="*/ 120000 h 720000"/>
              <a:gd name="connsiteX19" fmla="*/ 720000 w 720000"/>
              <a:gd name="connsiteY19" fmla="*/ 600000 h 720000"/>
              <a:gd name="connsiteX20" fmla="*/ 600000 w 720000"/>
              <a:gd name="connsiteY20" fmla="*/ 720000 h 720000"/>
              <a:gd name="connsiteX21" fmla="*/ 120000 w 720000"/>
              <a:gd name="connsiteY21" fmla="*/ 720000 h 720000"/>
              <a:gd name="connsiteX22" fmla="*/ 0 w 720000"/>
              <a:gd name="connsiteY22" fmla="*/ 600000 h 720000"/>
              <a:gd name="connsiteX23" fmla="*/ 0 w 720000"/>
              <a:gd name="connsiteY23" fmla="*/ 120000 h 720000"/>
              <a:gd name="connsiteX24" fmla="*/ 120000 w 720000"/>
              <a:gd name="connsiteY24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4692279" y="2987157"/>
            <a:ext cx="2794746" cy="79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Revisión de lecciones aprendidas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4692279" y="3809834"/>
            <a:ext cx="2794746" cy="18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207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La revisión de lecciones aprendidas permite identificar aciertos y errores en la gestión de desastres, facilitando la mejora continua de los procesos y políticas implementadas.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5831549" y="1724459"/>
            <a:ext cx="516207" cy="468000"/>
          </a:xfrm>
          <a:custGeom>
            <a:avLst/>
            <a:gdLst>
              <a:gd name="connsiteX0" fmla="*/ 31770 w 794163"/>
              <a:gd name="connsiteY0" fmla="*/ 656460 h 720001"/>
              <a:gd name="connsiteX1" fmla="*/ 762297 w 794163"/>
              <a:gd name="connsiteY1" fmla="*/ 656460 h 720001"/>
              <a:gd name="connsiteX2" fmla="*/ 794163 w 794163"/>
              <a:gd name="connsiteY2" fmla="*/ 688230 h 720001"/>
              <a:gd name="connsiteX3" fmla="*/ 762392 w 794163"/>
              <a:gd name="connsiteY3" fmla="*/ 720001 h 720001"/>
              <a:gd name="connsiteX4" fmla="*/ 31770 w 794163"/>
              <a:gd name="connsiteY4" fmla="*/ 720001 h 720001"/>
              <a:gd name="connsiteX5" fmla="*/ 0 w 794163"/>
              <a:gd name="connsiteY5" fmla="*/ 688230 h 720001"/>
              <a:gd name="connsiteX6" fmla="*/ 31770 w 794163"/>
              <a:gd name="connsiteY6" fmla="*/ 656460 h 720001"/>
              <a:gd name="connsiteX7" fmla="*/ 613493 w 794163"/>
              <a:gd name="connsiteY7" fmla="*/ 317608 h 720001"/>
              <a:gd name="connsiteX8" fmla="*/ 710048 w 794163"/>
              <a:gd name="connsiteY8" fmla="*/ 317608 h 720001"/>
              <a:gd name="connsiteX9" fmla="*/ 767655 w 794163"/>
              <a:gd name="connsiteY9" fmla="*/ 375216 h 720001"/>
              <a:gd name="connsiteX10" fmla="*/ 767655 w 794163"/>
              <a:gd name="connsiteY10" fmla="*/ 524689 h 720001"/>
              <a:gd name="connsiteX11" fmla="*/ 710048 w 794163"/>
              <a:gd name="connsiteY11" fmla="*/ 582297 h 720001"/>
              <a:gd name="connsiteX12" fmla="*/ 613493 w 794163"/>
              <a:gd name="connsiteY12" fmla="*/ 582297 h 720001"/>
              <a:gd name="connsiteX13" fmla="*/ 555885 w 794163"/>
              <a:gd name="connsiteY13" fmla="*/ 524689 h 720001"/>
              <a:gd name="connsiteX14" fmla="*/ 555885 w 794163"/>
              <a:gd name="connsiteY14" fmla="*/ 375216 h 720001"/>
              <a:gd name="connsiteX15" fmla="*/ 613493 w 794163"/>
              <a:gd name="connsiteY15" fmla="*/ 317608 h 720001"/>
              <a:gd name="connsiteX16" fmla="*/ 84019 w 794163"/>
              <a:gd name="connsiteY16" fmla="*/ 211770 h 720001"/>
              <a:gd name="connsiteX17" fmla="*/ 180574 w 794163"/>
              <a:gd name="connsiteY17" fmla="*/ 211770 h 720001"/>
              <a:gd name="connsiteX18" fmla="*/ 238182 w 794163"/>
              <a:gd name="connsiteY18" fmla="*/ 269282 h 720001"/>
              <a:gd name="connsiteX19" fmla="*/ 238182 w 794163"/>
              <a:gd name="connsiteY19" fmla="*/ 524785 h 720001"/>
              <a:gd name="connsiteX20" fmla="*/ 180574 w 794163"/>
              <a:gd name="connsiteY20" fmla="*/ 582393 h 720001"/>
              <a:gd name="connsiteX21" fmla="*/ 84019 w 794163"/>
              <a:gd name="connsiteY21" fmla="*/ 582393 h 720001"/>
              <a:gd name="connsiteX22" fmla="*/ 26411 w 794163"/>
              <a:gd name="connsiteY22" fmla="*/ 524785 h 720001"/>
              <a:gd name="connsiteX23" fmla="*/ 26411 w 794163"/>
              <a:gd name="connsiteY23" fmla="*/ 269378 h 720001"/>
              <a:gd name="connsiteX24" fmla="*/ 84019 w 794163"/>
              <a:gd name="connsiteY24" fmla="*/ 211770 h 720001"/>
              <a:gd name="connsiteX25" fmla="*/ 348708 w 794163"/>
              <a:gd name="connsiteY25" fmla="*/ 0 h 720001"/>
              <a:gd name="connsiteX26" fmla="*/ 445359 w 794163"/>
              <a:gd name="connsiteY26" fmla="*/ 0 h 720001"/>
              <a:gd name="connsiteX27" fmla="*/ 502871 w 794163"/>
              <a:gd name="connsiteY27" fmla="*/ 57607 h 720001"/>
              <a:gd name="connsiteX28" fmla="*/ 502871 w 794163"/>
              <a:gd name="connsiteY28" fmla="*/ 524785 h 720001"/>
              <a:gd name="connsiteX29" fmla="*/ 445263 w 794163"/>
              <a:gd name="connsiteY29" fmla="*/ 582393 h 720001"/>
              <a:gd name="connsiteX30" fmla="*/ 348708 w 794163"/>
              <a:gd name="connsiteY30" fmla="*/ 582393 h 720001"/>
              <a:gd name="connsiteX31" fmla="*/ 291100 w 794163"/>
              <a:gd name="connsiteY31" fmla="*/ 524785 h 720001"/>
              <a:gd name="connsiteX32" fmla="*/ 291100 w 794163"/>
              <a:gd name="connsiteY32" fmla="*/ 57607 h 720001"/>
              <a:gd name="connsiteX33" fmla="*/ 348708 w 794163"/>
              <a:gd name="connsiteY33" fmla="*/ 0 h 720001"/>
            </a:gdLst>
            <a:ahLst/>
            <a:cxnLst/>
            <a:rect l="l" t="t" r="r" b="b"/>
            <a:pathLst>
              <a:path w="794163" h="720001">
                <a:moveTo>
                  <a:pt x="31770" y="656460"/>
                </a:moveTo>
                <a:lnTo>
                  <a:pt x="762297" y="656460"/>
                </a:lnTo>
                <a:cubicBezTo>
                  <a:pt x="779904" y="656460"/>
                  <a:pt x="794067" y="670622"/>
                  <a:pt x="794163" y="688230"/>
                </a:cubicBezTo>
                <a:cubicBezTo>
                  <a:pt x="794163" y="705742"/>
                  <a:pt x="779904" y="720001"/>
                  <a:pt x="762392" y="720001"/>
                </a:cubicBezTo>
                <a:lnTo>
                  <a:pt x="31770" y="720001"/>
                </a:lnTo>
                <a:cubicBezTo>
                  <a:pt x="14258" y="720001"/>
                  <a:pt x="0" y="705742"/>
                  <a:pt x="0" y="688230"/>
                </a:cubicBezTo>
                <a:cubicBezTo>
                  <a:pt x="0" y="670718"/>
                  <a:pt x="14258" y="656460"/>
                  <a:pt x="31770" y="656460"/>
                </a:cubicBezTo>
                <a:close/>
                <a:moveTo>
                  <a:pt x="613493" y="317608"/>
                </a:moveTo>
                <a:lnTo>
                  <a:pt x="710048" y="317608"/>
                </a:lnTo>
                <a:cubicBezTo>
                  <a:pt x="741818" y="317608"/>
                  <a:pt x="767655" y="343445"/>
                  <a:pt x="767655" y="375216"/>
                </a:cubicBezTo>
                <a:lnTo>
                  <a:pt x="767655" y="524689"/>
                </a:lnTo>
                <a:cubicBezTo>
                  <a:pt x="767655" y="556364"/>
                  <a:pt x="741723" y="582297"/>
                  <a:pt x="710048" y="582297"/>
                </a:cubicBezTo>
                <a:lnTo>
                  <a:pt x="613493" y="582297"/>
                </a:lnTo>
                <a:cubicBezTo>
                  <a:pt x="581818" y="582297"/>
                  <a:pt x="555885" y="556364"/>
                  <a:pt x="555885" y="524689"/>
                </a:cubicBezTo>
                <a:lnTo>
                  <a:pt x="555885" y="375216"/>
                </a:lnTo>
                <a:cubicBezTo>
                  <a:pt x="555885" y="343349"/>
                  <a:pt x="581722" y="317608"/>
                  <a:pt x="613493" y="317608"/>
                </a:cubicBezTo>
                <a:close/>
                <a:moveTo>
                  <a:pt x="84019" y="211770"/>
                </a:moveTo>
                <a:lnTo>
                  <a:pt x="180574" y="211770"/>
                </a:lnTo>
                <a:cubicBezTo>
                  <a:pt x="212440" y="211770"/>
                  <a:pt x="238182" y="237512"/>
                  <a:pt x="238182" y="269282"/>
                </a:cubicBezTo>
                <a:lnTo>
                  <a:pt x="238182" y="524785"/>
                </a:lnTo>
                <a:cubicBezTo>
                  <a:pt x="238182" y="556460"/>
                  <a:pt x="212248" y="582393"/>
                  <a:pt x="180574" y="582393"/>
                </a:cubicBezTo>
                <a:lnTo>
                  <a:pt x="84019" y="582393"/>
                </a:lnTo>
                <a:cubicBezTo>
                  <a:pt x="52344" y="582393"/>
                  <a:pt x="26411" y="556460"/>
                  <a:pt x="26411" y="524785"/>
                </a:cubicBezTo>
                <a:lnTo>
                  <a:pt x="26411" y="269378"/>
                </a:lnTo>
                <a:cubicBezTo>
                  <a:pt x="26411" y="237512"/>
                  <a:pt x="52248" y="211770"/>
                  <a:pt x="84019" y="211770"/>
                </a:cubicBezTo>
                <a:close/>
                <a:moveTo>
                  <a:pt x="348708" y="0"/>
                </a:moveTo>
                <a:lnTo>
                  <a:pt x="445359" y="0"/>
                </a:lnTo>
                <a:cubicBezTo>
                  <a:pt x="477129" y="0"/>
                  <a:pt x="502871" y="25741"/>
                  <a:pt x="502871" y="57607"/>
                </a:cubicBezTo>
                <a:lnTo>
                  <a:pt x="502871" y="524785"/>
                </a:lnTo>
                <a:cubicBezTo>
                  <a:pt x="502871" y="556460"/>
                  <a:pt x="476937" y="582393"/>
                  <a:pt x="445263" y="582393"/>
                </a:cubicBezTo>
                <a:lnTo>
                  <a:pt x="348708" y="582393"/>
                </a:lnTo>
                <a:cubicBezTo>
                  <a:pt x="317033" y="582393"/>
                  <a:pt x="291100" y="556460"/>
                  <a:pt x="291100" y="524785"/>
                </a:cubicBezTo>
                <a:lnTo>
                  <a:pt x="291100" y="57607"/>
                </a:lnTo>
                <a:cubicBezTo>
                  <a:pt x="291100" y="25741"/>
                  <a:pt x="316937" y="0"/>
                  <a:pt x="348708" y="0"/>
                </a:cubicBez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8427742" y="2987157"/>
            <a:ext cx="2794746" cy="79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Actualización de políticas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8427742" y="3809834"/>
            <a:ext cx="2794746" cy="18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207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La actualización de políticas se realiza en base a la retroalimentación obtenida durante el proceso de recuperación, asegurando que las estrategias sean relevantes y efectivas en futuras crisis.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9591115" y="1732008"/>
            <a:ext cx="468000" cy="452901"/>
          </a:xfrm>
          <a:custGeom>
            <a:avLst/>
            <a:gdLst>
              <a:gd name="connsiteX0" fmla="*/ 311954 w 744004"/>
              <a:gd name="connsiteY0" fmla="*/ 337123 h 720001"/>
              <a:gd name="connsiteX1" fmla="*/ 168770 w 744004"/>
              <a:gd name="connsiteY1" fmla="*/ 337123 h 720001"/>
              <a:gd name="connsiteX2" fmla="*/ 49673 w 744004"/>
              <a:gd name="connsiteY2" fmla="*/ 287618 h 720001"/>
              <a:gd name="connsiteX3" fmla="*/ 167 w 744004"/>
              <a:gd name="connsiteY3" fmla="*/ 168520 h 720001"/>
              <a:gd name="connsiteX4" fmla="*/ 49590 w 744004"/>
              <a:gd name="connsiteY4" fmla="*/ 49507 h 720001"/>
              <a:gd name="connsiteX5" fmla="*/ 168687 w 744004"/>
              <a:gd name="connsiteY5" fmla="*/ 0 h 720001"/>
              <a:gd name="connsiteX6" fmla="*/ 287784 w 744004"/>
              <a:gd name="connsiteY6" fmla="*/ 49507 h 720001"/>
              <a:gd name="connsiteX7" fmla="*/ 337290 w 744004"/>
              <a:gd name="connsiteY7" fmla="*/ 168604 h 720001"/>
              <a:gd name="connsiteX8" fmla="*/ 337290 w 744004"/>
              <a:gd name="connsiteY8" fmla="*/ 311787 h 720001"/>
              <a:gd name="connsiteX9" fmla="*/ 311954 w 744004"/>
              <a:gd name="connsiteY9" fmla="*/ 337123 h 720001"/>
              <a:gd name="connsiteX10" fmla="*/ 575401 w 744004"/>
              <a:gd name="connsiteY10" fmla="*/ 337207 h 720001"/>
              <a:gd name="connsiteX11" fmla="*/ 432218 w 744004"/>
              <a:gd name="connsiteY11" fmla="*/ 337207 h 720001"/>
              <a:gd name="connsiteX12" fmla="*/ 406882 w 744004"/>
              <a:gd name="connsiteY12" fmla="*/ 311870 h 720001"/>
              <a:gd name="connsiteX13" fmla="*/ 406882 w 744004"/>
              <a:gd name="connsiteY13" fmla="*/ 168687 h 720001"/>
              <a:gd name="connsiteX14" fmla="*/ 456387 w 744004"/>
              <a:gd name="connsiteY14" fmla="*/ 49590 h 720001"/>
              <a:gd name="connsiteX15" fmla="*/ 575401 w 744004"/>
              <a:gd name="connsiteY15" fmla="*/ 0 h 720001"/>
              <a:gd name="connsiteX16" fmla="*/ 694498 w 744004"/>
              <a:gd name="connsiteY16" fmla="*/ 49507 h 720001"/>
              <a:gd name="connsiteX17" fmla="*/ 744004 w 744004"/>
              <a:gd name="connsiteY17" fmla="*/ 168604 h 720001"/>
              <a:gd name="connsiteX18" fmla="*/ 694498 w 744004"/>
              <a:gd name="connsiteY18" fmla="*/ 287701 h 720001"/>
              <a:gd name="connsiteX19" fmla="*/ 575401 w 744004"/>
              <a:gd name="connsiteY19" fmla="*/ 337207 h 720001"/>
              <a:gd name="connsiteX20" fmla="*/ 168604 w 744004"/>
              <a:gd name="connsiteY20" fmla="*/ 720001 h 720001"/>
              <a:gd name="connsiteX21" fmla="*/ 49507 w 744004"/>
              <a:gd name="connsiteY21" fmla="*/ 670495 h 720001"/>
              <a:gd name="connsiteX22" fmla="*/ 0 w 744004"/>
              <a:gd name="connsiteY22" fmla="*/ 551398 h 720001"/>
              <a:gd name="connsiteX23" fmla="*/ 49507 w 744004"/>
              <a:gd name="connsiteY23" fmla="*/ 432301 h 720001"/>
              <a:gd name="connsiteX24" fmla="*/ 168687 w 744004"/>
              <a:gd name="connsiteY24" fmla="*/ 382879 h 720001"/>
              <a:gd name="connsiteX25" fmla="*/ 311871 w 744004"/>
              <a:gd name="connsiteY25" fmla="*/ 382879 h 720001"/>
              <a:gd name="connsiteX26" fmla="*/ 337207 w 744004"/>
              <a:gd name="connsiteY26" fmla="*/ 408215 h 720001"/>
              <a:gd name="connsiteX27" fmla="*/ 337207 w 744004"/>
              <a:gd name="connsiteY27" fmla="*/ 551398 h 720001"/>
              <a:gd name="connsiteX28" fmla="*/ 287701 w 744004"/>
              <a:gd name="connsiteY28" fmla="*/ 670495 h 720001"/>
              <a:gd name="connsiteX29" fmla="*/ 168604 w 744004"/>
              <a:gd name="connsiteY29" fmla="*/ 720001 h 720001"/>
              <a:gd name="connsiteX30" fmla="*/ 575401 w 744004"/>
              <a:gd name="connsiteY30" fmla="*/ 720001 h 720001"/>
              <a:gd name="connsiteX31" fmla="*/ 456304 w 744004"/>
              <a:gd name="connsiteY31" fmla="*/ 670495 h 720001"/>
              <a:gd name="connsiteX32" fmla="*/ 406798 w 744004"/>
              <a:gd name="connsiteY32" fmla="*/ 551398 h 720001"/>
              <a:gd name="connsiteX33" fmla="*/ 406798 w 744004"/>
              <a:gd name="connsiteY33" fmla="*/ 408215 h 720001"/>
              <a:gd name="connsiteX34" fmla="*/ 432218 w 744004"/>
              <a:gd name="connsiteY34" fmla="*/ 382879 h 720001"/>
              <a:gd name="connsiteX35" fmla="*/ 575401 w 744004"/>
              <a:gd name="connsiteY35" fmla="*/ 382879 h 720001"/>
              <a:gd name="connsiteX36" fmla="*/ 694498 w 744004"/>
              <a:gd name="connsiteY36" fmla="*/ 432385 h 720001"/>
              <a:gd name="connsiteX37" fmla="*/ 744004 w 744004"/>
              <a:gd name="connsiteY37" fmla="*/ 551398 h 720001"/>
              <a:gd name="connsiteX38" fmla="*/ 694498 w 744004"/>
              <a:gd name="connsiteY38" fmla="*/ 670495 h 720001"/>
              <a:gd name="connsiteX39" fmla="*/ 575401 w 744004"/>
              <a:gd name="connsiteY39" fmla="*/ 720001 h 720001"/>
            </a:gdLst>
            <a:ahLst/>
            <a:cxnLst/>
            <a:rect l="l" t="t" r="r" b="b"/>
            <a:pathLst>
              <a:path w="744004" h="720001">
                <a:moveTo>
                  <a:pt x="311954" y="337123"/>
                </a:moveTo>
                <a:lnTo>
                  <a:pt x="168770" y="337123"/>
                </a:lnTo>
                <a:cubicBezTo>
                  <a:pt x="123932" y="337123"/>
                  <a:pt x="81594" y="319538"/>
                  <a:pt x="49673" y="287618"/>
                </a:cubicBezTo>
                <a:cubicBezTo>
                  <a:pt x="17753" y="255697"/>
                  <a:pt x="167" y="213442"/>
                  <a:pt x="167" y="168520"/>
                </a:cubicBezTo>
                <a:cubicBezTo>
                  <a:pt x="167" y="123598"/>
                  <a:pt x="17669" y="81427"/>
                  <a:pt x="49590" y="49507"/>
                </a:cubicBezTo>
                <a:cubicBezTo>
                  <a:pt x="81510" y="17586"/>
                  <a:pt x="123848" y="0"/>
                  <a:pt x="168687" y="0"/>
                </a:cubicBezTo>
                <a:cubicBezTo>
                  <a:pt x="213526" y="0"/>
                  <a:pt x="255864" y="17586"/>
                  <a:pt x="287784" y="49507"/>
                </a:cubicBezTo>
                <a:cubicBezTo>
                  <a:pt x="319705" y="81427"/>
                  <a:pt x="337290" y="123682"/>
                  <a:pt x="337290" y="168604"/>
                </a:cubicBezTo>
                <a:lnTo>
                  <a:pt x="337290" y="311787"/>
                </a:lnTo>
                <a:cubicBezTo>
                  <a:pt x="337290" y="325789"/>
                  <a:pt x="325956" y="337123"/>
                  <a:pt x="311954" y="337123"/>
                </a:cubicBezTo>
                <a:close/>
                <a:moveTo>
                  <a:pt x="575401" y="337207"/>
                </a:moveTo>
                <a:lnTo>
                  <a:pt x="432218" y="337207"/>
                </a:lnTo>
                <a:cubicBezTo>
                  <a:pt x="418216" y="337207"/>
                  <a:pt x="406882" y="325872"/>
                  <a:pt x="406882" y="311870"/>
                </a:cubicBezTo>
                <a:lnTo>
                  <a:pt x="406882" y="168687"/>
                </a:lnTo>
                <a:cubicBezTo>
                  <a:pt x="406882" y="123849"/>
                  <a:pt x="424467" y="81510"/>
                  <a:pt x="456387" y="49590"/>
                </a:cubicBezTo>
                <a:cubicBezTo>
                  <a:pt x="488308" y="17669"/>
                  <a:pt x="530563" y="0"/>
                  <a:pt x="575401" y="0"/>
                </a:cubicBezTo>
                <a:cubicBezTo>
                  <a:pt x="620240" y="0"/>
                  <a:pt x="662578" y="17586"/>
                  <a:pt x="694498" y="49507"/>
                </a:cubicBezTo>
                <a:cubicBezTo>
                  <a:pt x="726419" y="81427"/>
                  <a:pt x="744004" y="123765"/>
                  <a:pt x="744004" y="168604"/>
                </a:cubicBezTo>
                <a:cubicBezTo>
                  <a:pt x="744004" y="213442"/>
                  <a:pt x="726419" y="255780"/>
                  <a:pt x="694498" y="287701"/>
                </a:cubicBezTo>
                <a:cubicBezTo>
                  <a:pt x="662578" y="319621"/>
                  <a:pt x="620323" y="337207"/>
                  <a:pt x="575401" y="337207"/>
                </a:cubicBezTo>
                <a:close/>
                <a:moveTo>
                  <a:pt x="168604" y="720001"/>
                </a:moveTo>
                <a:cubicBezTo>
                  <a:pt x="123682" y="720001"/>
                  <a:pt x="81427" y="702416"/>
                  <a:pt x="49507" y="670495"/>
                </a:cubicBezTo>
                <a:cubicBezTo>
                  <a:pt x="17586" y="638575"/>
                  <a:pt x="0" y="596320"/>
                  <a:pt x="0" y="551398"/>
                </a:cubicBezTo>
                <a:cubicBezTo>
                  <a:pt x="0" y="506476"/>
                  <a:pt x="17586" y="464221"/>
                  <a:pt x="49507" y="432301"/>
                </a:cubicBezTo>
                <a:cubicBezTo>
                  <a:pt x="81510" y="400464"/>
                  <a:pt x="123848" y="382879"/>
                  <a:pt x="168687" y="382879"/>
                </a:cubicBezTo>
                <a:lnTo>
                  <a:pt x="311871" y="382879"/>
                </a:lnTo>
                <a:cubicBezTo>
                  <a:pt x="325872" y="382879"/>
                  <a:pt x="337207" y="394297"/>
                  <a:pt x="337207" y="408215"/>
                </a:cubicBezTo>
                <a:lnTo>
                  <a:pt x="337207" y="551398"/>
                </a:lnTo>
                <a:cubicBezTo>
                  <a:pt x="337207" y="596237"/>
                  <a:pt x="319621" y="638575"/>
                  <a:pt x="287701" y="670495"/>
                </a:cubicBezTo>
                <a:cubicBezTo>
                  <a:pt x="255781" y="702416"/>
                  <a:pt x="213526" y="720001"/>
                  <a:pt x="168604" y="720001"/>
                </a:cubicBezTo>
                <a:close/>
                <a:moveTo>
                  <a:pt x="575401" y="720001"/>
                </a:moveTo>
                <a:cubicBezTo>
                  <a:pt x="530563" y="720001"/>
                  <a:pt x="488224" y="702416"/>
                  <a:pt x="456304" y="670495"/>
                </a:cubicBezTo>
                <a:cubicBezTo>
                  <a:pt x="424383" y="638575"/>
                  <a:pt x="406798" y="596320"/>
                  <a:pt x="406798" y="551398"/>
                </a:cubicBezTo>
                <a:lnTo>
                  <a:pt x="406798" y="408215"/>
                </a:lnTo>
                <a:cubicBezTo>
                  <a:pt x="406882" y="394213"/>
                  <a:pt x="418216" y="382879"/>
                  <a:pt x="432218" y="382879"/>
                </a:cubicBezTo>
                <a:lnTo>
                  <a:pt x="575401" y="382879"/>
                </a:lnTo>
                <a:cubicBezTo>
                  <a:pt x="620240" y="382879"/>
                  <a:pt x="662578" y="400464"/>
                  <a:pt x="694498" y="432385"/>
                </a:cubicBezTo>
                <a:cubicBezTo>
                  <a:pt x="726419" y="464305"/>
                  <a:pt x="744004" y="506560"/>
                  <a:pt x="744004" y="551398"/>
                </a:cubicBezTo>
                <a:cubicBezTo>
                  <a:pt x="744004" y="596237"/>
                  <a:pt x="726419" y="638575"/>
                  <a:pt x="694498" y="670495"/>
                </a:cubicBezTo>
                <a:cubicBezTo>
                  <a:pt x="662578" y="702416"/>
                  <a:pt x="620323" y="720001"/>
                  <a:pt x="575401" y="720001"/>
                </a:cubicBez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924761" y="470193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Monitoreo y Mejora Continua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504217" y="534464"/>
            <a:ext cx="312365" cy="312365"/>
          </a:xfrm>
          <a:prstGeom prst="ellipse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533681" y="563928"/>
            <a:ext cx="253437" cy="253437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bg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F520E684-728F-F3CA-41BB-9132C9ADF7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914399" y="1200625"/>
            <a:ext cx="8748461" cy="2881022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4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Thanks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914401" y="4646065"/>
            <a:ext cx="6972300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l"/>
            <a:r>
              <a:rPr kumimoji="1" lang="en-US" altLang="zh-CN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MGS.</a:t>
            </a:r>
            <a:r>
              <a:rPr kumimoji="1" lang="en-US" altLang="zh-CN" sz="18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JOSE FRANCO LAMILLA</a:t>
            </a:r>
            <a:endParaRPr kumimoji="1" lang="zh-CN" altLang="en-US" dirty="0"/>
          </a:p>
        </p:txBody>
      </p:sp>
      <p:cxnSp>
        <p:nvCxnSpPr>
          <p:cNvPr id="8" name="标题 1"/>
          <p:cNvCxnSpPr/>
          <p:nvPr/>
        </p:nvCxnSpPr>
        <p:spPr>
          <a:xfrm>
            <a:off x="1065856" y="773905"/>
            <a:ext cx="0" cy="254795"/>
          </a:xfrm>
          <a:prstGeom prst="line">
            <a:avLst/>
          </a:prstGeom>
          <a:noFill/>
          <a:ln w="12700" cap="sq">
            <a:solidFill>
              <a:schemeClr val="tx1">
                <a:lumMod val="85000"/>
                <a:lumOff val="15000"/>
              </a:schemeClr>
            </a:solidFill>
            <a:miter/>
          </a:ln>
        </p:spPr>
      </p:cxnSp>
      <p:cxnSp>
        <p:nvCxnSpPr>
          <p:cNvPr id="9" name="标题 1"/>
          <p:cNvCxnSpPr/>
          <p:nvPr/>
        </p:nvCxnSpPr>
        <p:spPr>
          <a:xfrm>
            <a:off x="1621972" y="773905"/>
            <a:ext cx="0" cy="254795"/>
          </a:xfrm>
          <a:prstGeom prst="line">
            <a:avLst/>
          </a:prstGeom>
          <a:noFill/>
          <a:ln w="12700" cap="sq">
            <a:solidFill>
              <a:schemeClr val="tx1">
                <a:lumMod val="85000"/>
                <a:lumOff val="15000"/>
              </a:schemeClr>
            </a:solidFill>
            <a:miter/>
          </a:ln>
        </p:spPr>
      </p:cxnSp>
      <p:sp>
        <p:nvSpPr>
          <p:cNvPr id="10" name="标题 1"/>
          <p:cNvSpPr txBox="1"/>
          <p:nvPr/>
        </p:nvSpPr>
        <p:spPr>
          <a:xfrm>
            <a:off x="660400" y="773905"/>
            <a:ext cx="254795" cy="254795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216516" y="781228"/>
            <a:ext cx="254795" cy="240150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ahLst/>
            <a:cxnLst/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772651" y="773905"/>
            <a:ext cx="254757" cy="254795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0" y="0"/>
            <a:ext cx="482600" cy="6870700"/>
          </a:xfrm>
          <a:prstGeom prst="rect">
            <a:avLst/>
          </a:prstGeom>
          <a:solidFill>
            <a:srgbClr val="C53645">
              <a:alpha val="100000"/>
            </a:srgbClr>
          </a:solidFill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9D949B1D-FC83-66C1-9063-51C901D58E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C53645"/>
      </a:accent1>
      <a:accent2>
        <a:srgbClr val="30556B"/>
      </a:accent2>
      <a:accent3>
        <a:srgbClr val="095CB6"/>
      </a:accent3>
      <a:accent4>
        <a:srgbClr val="487ED7"/>
      </a:accent4>
      <a:accent5>
        <a:srgbClr val="909090"/>
      </a:accent5>
      <a:accent6>
        <a:srgbClr val="BEBEBE"/>
      </a:accent6>
      <a:hlink>
        <a:srgbClr val="000000"/>
      </a:hlink>
      <a:folHlink>
        <a:srgbClr val="0000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1190</Words>
  <Application>Microsoft Office PowerPoint</Application>
  <PresentationFormat>Panorámica</PresentationFormat>
  <Paragraphs>116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Arial</vt:lpstr>
      <vt:lpstr>Poppins</vt:lpstr>
      <vt:lpstr>poppins-bold</vt:lpstr>
      <vt:lpstr>Office 主题​​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TICS</cp:lastModifiedBy>
  <cp:revision>2</cp:revision>
  <dcterms:modified xsi:type="dcterms:W3CDTF">2025-10-13T20:45:28Z</dcterms:modified>
</cp:coreProperties>
</file>
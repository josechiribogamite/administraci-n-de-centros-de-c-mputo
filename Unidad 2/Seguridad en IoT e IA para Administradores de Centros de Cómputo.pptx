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Barlow Condensed Medium" panose="00000606000000000000" pitchFamily="2" charset="0"/>
      <p:regular r:id="rId14"/>
      <p:italic r:id="rId15"/>
    </p:embeddedFont>
    <p:embeddedFont>
      <p:font typeface="Poppins" panose="00000500000000000000" pitchFamily="2" charset="0"/>
      <p:regular r:id="rId16"/>
      <p:bold r:id="rId17"/>
    </p:embeddedFont>
    <p:embeddedFont>
      <p:font typeface="poppins-bold" panose="020B0604020202020204" charset="0"/>
      <p:regular r:id="rId18"/>
    </p:embeddedFont>
  </p:embeddedFontLst>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a:off x="5355771" y="1016001"/>
            <a:ext cx="6662058" cy="4586514"/>
          </a:xfrm>
          <a:prstGeom prst="rect">
            <a:avLst/>
          </a:prstGeom>
          <a:noFill/>
          <a:ln>
            <a:noFill/>
          </a:ln>
        </p:spPr>
      </p:pic>
      <p:sp>
        <p:nvSpPr>
          <p:cNvPr id="4" name="标题 1"/>
          <p:cNvSpPr txBox="1"/>
          <p:nvPr/>
        </p:nvSpPr>
        <p:spPr>
          <a:xfrm>
            <a:off x="518144" y="2073584"/>
            <a:ext cx="4823112" cy="2086725"/>
          </a:xfrm>
          <a:prstGeom prst="rect">
            <a:avLst/>
          </a:prstGeom>
          <a:noFill/>
          <a:ln>
            <a:noFill/>
          </a:ln>
        </p:spPr>
        <p:txBody>
          <a:bodyPr vert="horz" wrap="square" lIns="91440" tIns="45720" rIns="91440" bIns="45720" rtlCol="0" anchor="ctr"/>
          <a:lstStyle/>
          <a:p>
            <a:pPr algn="l"/>
            <a:r>
              <a:rPr kumimoji="1" lang="en-US" altLang="zh-CN" sz="2700">
                <a:ln w="12700">
                  <a:noFill/>
                </a:ln>
                <a:solidFill>
                  <a:srgbClr val="000000">
                    <a:alpha val="100000"/>
                  </a:srgbClr>
                </a:solidFill>
                <a:latin typeface="Barlow Condensed Medium"/>
                <a:ea typeface="Barlow Condensed Medium"/>
                <a:cs typeface="Barlow Condensed Medium"/>
              </a:rPr>
              <a:t>Seguridad en IoT e IA para Administradores de Centros de Cómputo</a:t>
            </a:r>
            <a:endParaRPr kumimoji="1" lang="zh-CN" altLang="en-US"/>
          </a:p>
        </p:txBody>
      </p:sp>
      <p:pic>
        <p:nvPicPr>
          <p:cNvPr id="7" name="Imagen 6">
            <a:extLst>
              <a:ext uri="{FF2B5EF4-FFF2-40B4-BE49-F238E27FC236}">
                <a16:creationId xmlns:a16="http://schemas.microsoft.com/office/drawing/2014/main" id="{54E92C1F-5E6B-F56A-A457-F20C8FD8A0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0" y="0"/>
            <a:ext cx="12192000" cy="6858000"/>
          </a:xfrm>
          <a:prstGeom prst="rect">
            <a:avLst/>
          </a:prstGeom>
          <a:gradFill>
            <a:gsLst>
              <a:gs pos="0">
                <a:schemeClr val="accent1">
                  <a:lumMod val="40000"/>
                  <a:lumOff val="60000"/>
                  <a:alpha val="50000"/>
                </a:schemeClr>
              </a:gs>
              <a:gs pos="50500">
                <a:schemeClr val="bg1"/>
              </a:gs>
              <a:gs pos="100000">
                <a:schemeClr val="accent1">
                  <a:lumMod val="20000"/>
                  <a:lumOff val="80000"/>
                </a:schemeClr>
              </a:gs>
            </a:gsLst>
            <a:lin ang="2700000" scaled="0"/>
          </a:gradFill>
          <a:ln w="12700" cap="flat">
            <a:noFill/>
            <a:miter/>
          </a:ln>
          <a:effectLst/>
        </p:spPr>
        <p:txBody>
          <a:bodyPr vert="horz" wrap="square" lIns="0" tIns="0" rIns="0" bIns="0" rtlCol="0" anchor="ctr"/>
          <a:lstStyle/>
          <a:p>
            <a:pPr algn="ctr"/>
            <a:endParaRPr kumimoji="1" lang="zh-CN" altLang="en-US"/>
          </a:p>
        </p:txBody>
      </p:sp>
      <p:sp>
        <p:nvSpPr>
          <p:cNvPr id="6" name="标题 1"/>
          <p:cNvSpPr txBox="1"/>
          <p:nvPr/>
        </p:nvSpPr>
        <p:spPr>
          <a:xfrm>
            <a:off x="11276664" y="496265"/>
            <a:ext cx="193613" cy="193613"/>
          </a:xfrm>
          <a:prstGeom prst="ellipse">
            <a:avLst/>
          </a:prstGeom>
          <a:solidFill>
            <a:schemeClr val="bg1"/>
          </a:solidFill>
          <a:ln cap="sq">
            <a:noFill/>
          </a:ln>
        </p:spPr>
        <p:txBody>
          <a:bodyPr vert="horz" wrap="square" lIns="0" tIns="0" rIns="0" bIns="0" rtlCol="0" anchor="ctr"/>
          <a:lstStyle/>
          <a:p>
            <a:pPr algn="ctr"/>
            <a:endParaRPr kumimoji="1" lang="zh-CN" altLang="en-US"/>
          </a:p>
        </p:txBody>
      </p:sp>
      <p:sp>
        <p:nvSpPr>
          <p:cNvPr id="7" name="标题 1"/>
          <p:cNvSpPr txBox="1"/>
          <p:nvPr/>
        </p:nvSpPr>
        <p:spPr>
          <a:xfrm>
            <a:off x="2366585" y="1015023"/>
            <a:ext cx="7420729" cy="1411284"/>
          </a:xfrm>
          <a:prstGeom prst="rect">
            <a:avLst/>
          </a:prstGeom>
          <a:noFill/>
          <a:ln>
            <a:noFill/>
          </a:ln>
        </p:spPr>
        <p:txBody>
          <a:bodyPr vert="horz" wrap="square" lIns="0" tIns="0" rIns="0" bIns="0" rtlCol="0" anchor="t"/>
          <a:lstStyle/>
          <a:p>
            <a:pPr algn="ctr"/>
            <a:r>
              <a:rPr kumimoji="1" lang="en-US" altLang="zh-CN" sz="8800">
                <a:ln w="12700">
                  <a:noFill/>
                </a:ln>
                <a:solidFill>
                  <a:srgbClr val="4472C4">
                    <a:alpha val="100000"/>
                  </a:srgbClr>
                </a:solidFill>
                <a:latin typeface="poppins-bold"/>
                <a:ea typeface="poppins-bold"/>
                <a:cs typeface="poppins-bold"/>
              </a:rPr>
              <a:t>CONTENTS</a:t>
            </a:r>
            <a:endParaRPr kumimoji="1" lang="zh-CN" altLang="en-US"/>
          </a:p>
        </p:txBody>
      </p:sp>
      <p:sp>
        <p:nvSpPr>
          <p:cNvPr id="8" name="标题 1"/>
          <p:cNvSpPr txBox="1"/>
          <p:nvPr/>
        </p:nvSpPr>
        <p:spPr>
          <a:xfrm>
            <a:off x="1537917" y="2991297"/>
            <a:ext cx="967793" cy="967793"/>
          </a:xfrm>
          <a:prstGeom prst="rect">
            <a:avLst/>
          </a:prstGeom>
          <a:solidFill>
            <a:schemeClr val="accent1"/>
          </a:solidFill>
          <a:ln w="12700" cap="sq">
            <a:noFill/>
            <a:miter/>
          </a:ln>
        </p:spPr>
        <p:txBody>
          <a:bodyPr vert="horz" wrap="square" lIns="0" tIns="0" rIns="0" bIns="0" rtlCol="0" anchor="ctr"/>
          <a:lstStyle/>
          <a:p>
            <a:pPr algn="ctr"/>
            <a:endParaRPr kumimoji="1" lang="zh-CN" altLang="en-US"/>
          </a:p>
        </p:txBody>
      </p:sp>
      <p:sp>
        <p:nvSpPr>
          <p:cNvPr id="9" name="标题 1"/>
          <p:cNvSpPr txBox="1"/>
          <p:nvPr/>
        </p:nvSpPr>
        <p:spPr>
          <a:xfrm>
            <a:off x="1347011" y="2880177"/>
            <a:ext cx="4338734" cy="1190032"/>
          </a:xfrm>
          <a:prstGeom prst="rect">
            <a:avLst/>
          </a:prstGeom>
          <a:solidFill>
            <a:schemeClr val="accent1">
              <a:lumMod val="60000"/>
              <a:lumOff val="40000"/>
            </a:schemeClr>
          </a:solidFill>
          <a:ln w="25400" cap="sq">
            <a:noFill/>
            <a:miter/>
          </a:ln>
        </p:spPr>
        <p:txBody>
          <a:bodyPr vert="horz" wrap="square" lIns="0" tIns="0" rIns="0" bIns="0" rtlCol="0" anchor="ctr"/>
          <a:lstStyle/>
          <a:p>
            <a:pPr algn="ctr"/>
            <a:endParaRPr kumimoji="1" lang="zh-CN" altLang="en-US"/>
          </a:p>
        </p:txBody>
      </p:sp>
      <p:sp>
        <p:nvSpPr>
          <p:cNvPr id="10" name="标题 1"/>
          <p:cNvSpPr txBox="1"/>
          <p:nvPr/>
        </p:nvSpPr>
        <p:spPr>
          <a:xfrm>
            <a:off x="1330097" y="2880177"/>
            <a:ext cx="1083980" cy="1190032"/>
          </a:xfrm>
          <a:prstGeom prst="rect">
            <a:avLst/>
          </a:prstGeom>
          <a:solidFill>
            <a:schemeClr val="accent1"/>
          </a:solidFill>
          <a:ln w="25400" cap="sq">
            <a:noFill/>
            <a:miter/>
          </a:ln>
        </p:spPr>
        <p:txBody>
          <a:bodyPr vert="horz" wrap="square" lIns="0" tIns="0" rIns="0" bIns="0" rtlCol="0" anchor="ctr"/>
          <a:lstStyle/>
          <a:p>
            <a:pPr algn="ctr"/>
            <a:endParaRPr kumimoji="1" lang="zh-CN" altLang="en-US"/>
          </a:p>
        </p:txBody>
      </p:sp>
      <p:sp>
        <p:nvSpPr>
          <p:cNvPr id="11" name="标题 1"/>
          <p:cNvSpPr txBox="1"/>
          <p:nvPr/>
        </p:nvSpPr>
        <p:spPr>
          <a:xfrm>
            <a:off x="2600053" y="2991296"/>
            <a:ext cx="2832729" cy="967794"/>
          </a:xfrm>
          <a:prstGeom prst="rect">
            <a:avLst/>
          </a:prstGeom>
          <a:noFill/>
          <a:ln w="12700" cap="sq">
            <a:noFill/>
            <a:miter/>
          </a:ln>
        </p:spPr>
        <p:txBody>
          <a:bodyPr vert="horz" wrap="square" lIns="0" tIns="0" rIns="0" bIns="0" rtlCol="0" anchor="ctr"/>
          <a:lstStyle/>
          <a:p>
            <a:pPr algn="ctr"/>
            <a:r>
              <a:rPr kumimoji="1" lang="en-US" altLang="zh-CN" sz="1800">
                <a:ln w="12700">
                  <a:noFill/>
                </a:ln>
                <a:solidFill>
                  <a:srgbClr val="FFFFFF">
                    <a:alpha val="100000"/>
                  </a:srgbClr>
                </a:solidFill>
                <a:latin typeface="Poppins"/>
                <a:ea typeface="Poppins"/>
                <a:cs typeface="Poppins"/>
              </a:rPr>
              <a:t>Introducción</a:t>
            </a:r>
            <a:endParaRPr kumimoji="1" lang="zh-CN" altLang="en-US"/>
          </a:p>
        </p:txBody>
      </p:sp>
      <p:sp>
        <p:nvSpPr>
          <p:cNvPr id="12" name="标题 1"/>
          <p:cNvSpPr txBox="1"/>
          <p:nvPr/>
        </p:nvSpPr>
        <p:spPr>
          <a:xfrm>
            <a:off x="1181373" y="2815447"/>
            <a:ext cx="1416945" cy="1319492"/>
          </a:xfrm>
          <a:prstGeom prst="rect">
            <a:avLst/>
          </a:prstGeom>
          <a:noFill/>
          <a:ln>
            <a:noFill/>
          </a:ln>
        </p:spPr>
        <p:txBody>
          <a:bodyPr vert="horz" wrap="square" lIns="0" tIns="0" rIns="0" bIns="0" rtlCol="0" anchor="ctr"/>
          <a:lstStyle/>
          <a:p>
            <a:pPr algn="ctr"/>
            <a:r>
              <a:rPr kumimoji="1" lang="en-US" altLang="zh-CN" sz="4400">
                <a:ln w="12700">
                  <a:noFill/>
                </a:ln>
                <a:solidFill>
                  <a:srgbClr val="FFFFFF">
                    <a:alpha val="100000"/>
                  </a:srgbClr>
                </a:solidFill>
                <a:latin typeface="poppins-bold"/>
                <a:ea typeface="poppins-bold"/>
                <a:cs typeface="poppins-bold"/>
              </a:rPr>
              <a:t>01</a:t>
            </a:r>
            <a:endParaRPr kumimoji="1" lang="zh-CN" altLang="en-US"/>
          </a:p>
        </p:txBody>
      </p:sp>
      <p:sp>
        <p:nvSpPr>
          <p:cNvPr id="13" name="标题 1"/>
          <p:cNvSpPr txBox="1"/>
          <p:nvPr/>
        </p:nvSpPr>
        <p:spPr>
          <a:xfrm>
            <a:off x="1537917" y="4604180"/>
            <a:ext cx="967793" cy="967793"/>
          </a:xfrm>
          <a:prstGeom prst="rect">
            <a:avLst/>
          </a:prstGeom>
          <a:solidFill>
            <a:schemeClr val="accent1"/>
          </a:solidFill>
          <a:ln w="12700" cap="sq">
            <a:noFill/>
            <a:miter/>
          </a:ln>
        </p:spPr>
        <p:txBody>
          <a:bodyPr vert="horz" wrap="square" lIns="0" tIns="0" rIns="0" bIns="0" rtlCol="0" anchor="ctr"/>
          <a:lstStyle/>
          <a:p>
            <a:pPr algn="ctr"/>
            <a:endParaRPr kumimoji="1" lang="zh-CN" altLang="en-US"/>
          </a:p>
        </p:txBody>
      </p:sp>
      <p:sp>
        <p:nvSpPr>
          <p:cNvPr id="14" name="标题 1"/>
          <p:cNvSpPr txBox="1"/>
          <p:nvPr/>
        </p:nvSpPr>
        <p:spPr>
          <a:xfrm>
            <a:off x="1347011" y="4493060"/>
            <a:ext cx="4338734" cy="1190032"/>
          </a:xfrm>
          <a:prstGeom prst="rect">
            <a:avLst/>
          </a:prstGeom>
          <a:solidFill>
            <a:schemeClr val="accent1">
              <a:lumMod val="60000"/>
              <a:lumOff val="40000"/>
            </a:schemeClr>
          </a:solidFill>
          <a:ln w="25400" cap="sq">
            <a:noFill/>
            <a:miter/>
          </a:ln>
        </p:spPr>
        <p:txBody>
          <a:bodyPr vert="horz" wrap="square" lIns="0" tIns="0" rIns="0" bIns="0" rtlCol="0" anchor="ctr"/>
          <a:lstStyle/>
          <a:p>
            <a:pPr algn="ctr"/>
            <a:endParaRPr kumimoji="1" lang="zh-CN" altLang="en-US"/>
          </a:p>
        </p:txBody>
      </p:sp>
      <p:sp>
        <p:nvSpPr>
          <p:cNvPr id="15" name="标题 1"/>
          <p:cNvSpPr txBox="1"/>
          <p:nvPr/>
        </p:nvSpPr>
        <p:spPr>
          <a:xfrm>
            <a:off x="1330097" y="4493060"/>
            <a:ext cx="1083980" cy="1190032"/>
          </a:xfrm>
          <a:prstGeom prst="rect">
            <a:avLst/>
          </a:prstGeom>
          <a:solidFill>
            <a:schemeClr val="accent1"/>
          </a:solidFill>
          <a:ln w="25400" cap="sq">
            <a:noFill/>
            <a:miter/>
          </a:ln>
        </p:spPr>
        <p:txBody>
          <a:bodyPr vert="horz" wrap="square" lIns="0" tIns="0" rIns="0" bIns="0" rtlCol="0" anchor="ctr"/>
          <a:lstStyle/>
          <a:p>
            <a:pPr algn="ctr"/>
            <a:endParaRPr kumimoji="1" lang="zh-CN" altLang="en-US"/>
          </a:p>
        </p:txBody>
      </p:sp>
      <p:sp>
        <p:nvSpPr>
          <p:cNvPr id="16" name="标题 1"/>
          <p:cNvSpPr txBox="1"/>
          <p:nvPr/>
        </p:nvSpPr>
        <p:spPr>
          <a:xfrm>
            <a:off x="1181373" y="4428330"/>
            <a:ext cx="1416945" cy="1319492"/>
          </a:xfrm>
          <a:prstGeom prst="rect">
            <a:avLst/>
          </a:prstGeom>
          <a:noFill/>
          <a:ln>
            <a:noFill/>
          </a:ln>
        </p:spPr>
        <p:txBody>
          <a:bodyPr vert="horz" wrap="square" lIns="0" tIns="0" rIns="0" bIns="0" rtlCol="0" anchor="ctr"/>
          <a:lstStyle/>
          <a:p>
            <a:pPr algn="ctr"/>
            <a:r>
              <a:rPr kumimoji="1" lang="en-US" altLang="zh-CN" sz="4400">
                <a:ln w="12700">
                  <a:noFill/>
                </a:ln>
                <a:solidFill>
                  <a:srgbClr val="FFFFFF">
                    <a:alpha val="100000"/>
                  </a:srgbClr>
                </a:solidFill>
                <a:latin typeface="poppins-bold"/>
                <a:ea typeface="poppins-bold"/>
                <a:cs typeface="poppins-bold"/>
              </a:rPr>
              <a:t>02</a:t>
            </a:r>
            <a:endParaRPr kumimoji="1" lang="zh-CN" altLang="en-US"/>
          </a:p>
        </p:txBody>
      </p:sp>
      <p:sp>
        <p:nvSpPr>
          <p:cNvPr id="17" name="标题 1"/>
          <p:cNvSpPr txBox="1"/>
          <p:nvPr/>
        </p:nvSpPr>
        <p:spPr>
          <a:xfrm>
            <a:off x="6675975" y="2991297"/>
            <a:ext cx="967793" cy="967793"/>
          </a:xfrm>
          <a:prstGeom prst="rect">
            <a:avLst/>
          </a:prstGeom>
          <a:solidFill>
            <a:schemeClr val="accent1"/>
          </a:solidFill>
          <a:ln w="12700" cap="sq">
            <a:noFill/>
            <a:miter/>
          </a:ln>
        </p:spPr>
        <p:txBody>
          <a:bodyPr vert="horz" wrap="square" lIns="0" tIns="0" rIns="0" bIns="0" rtlCol="0" anchor="ctr"/>
          <a:lstStyle/>
          <a:p>
            <a:pPr algn="ctr"/>
            <a:endParaRPr kumimoji="1" lang="zh-CN" altLang="en-US"/>
          </a:p>
        </p:txBody>
      </p:sp>
      <p:sp>
        <p:nvSpPr>
          <p:cNvPr id="18" name="标题 1"/>
          <p:cNvSpPr txBox="1"/>
          <p:nvPr/>
        </p:nvSpPr>
        <p:spPr>
          <a:xfrm>
            <a:off x="6485069" y="2880177"/>
            <a:ext cx="4338734" cy="1190032"/>
          </a:xfrm>
          <a:prstGeom prst="rect">
            <a:avLst/>
          </a:prstGeom>
          <a:solidFill>
            <a:schemeClr val="accent1">
              <a:lumMod val="60000"/>
              <a:lumOff val="40000"/>
            </a:schemeClr>
          </a:solidFill>
          <a:ln w="25400" cap="sq">
            <a:noFill/>
            <a:miter/>
          </a:ln>
        </p:spPr>
        <p:txBody>
          <a:bodyPr vert="horz" wrap="square" lIns="0" tIns="0" rIns="0" bIns="0" rtlCol="0" anchor="ctr"/>
          <a:lstStyle/>
          <a:p>
            <a:pPr algn="ctr"/>
            <a:endParaRPr kumimoji="1" lang="zh-CN" altLang="en-US"/>
          </a:p>
        </p:txBody>
      </p:sp>
      <p:sp>
        <p:nvSpPr>
          <p:cNvPr id="19" name="标题 1"/>
          <p:cNvSpPr txBox="1"/>
          <p:nvPr/>
        </p:nvSpPr>
        <p:spPr>
          <a:xfrm>
            <a:off x="6468155" y="2880177"/>
            <a:ext cx="1083980" cy="1190032"/>
          </a:xfrm>
          <a:prstGeom prst="rect">
            <a:avLst/>
          </a:prstGeom>
          <a:solidFill>
            <a:schemeClr val="accent1"/>
          </a:solidFill>
          <a:ln w="25400" cap="sq">
            <a:noFill/>
            <a:miter/>
          </a:ln>
        </p:spPr>
        <p:txBody>
          <a:bodyPr vert="horz" wrap="square" lIns="0" tIns="0" rIns="0" bIns="0" rtlCol="0" anchor="ctr"/>
          <a:lstStyle/>
          <a:p>
            <a:pPr algn="ctr"/>
            <a:endParaRPr kumimoji="1" lang="zh-CN" altLang="en-US"/>
          </a:p>
        </p:txBody>
      </p:sp>
      <p:sp>
        <p:nvSpPr>
          <p:cNvPr id="20" name="标题 1"/>
          <p:cNvSpPr txBox="1"/>
          <p:nvPr/>
        </p:nvSpPr>
        <p:spPr>
          <a:xfrm>
            <a:off x="6319431" y="2815447"/>
            <a:ext cx="1416945" cy="1319492"/>
          </a:xfrm>
          <a:prstGeom prst="rect">
            <a:avLst/>
          </a:prstGeom>
          <a:noFill/>
          <a:ln>
            <a:noFill/>
          </a:ln>
        </p:spPr>
        <p:txBody>
          <a:bodyPr vert="horz" wrap="square" lIns="0" tIns="0" rIns="0" bIns="0" rtlCol="0" anchor="ctr"/>
          <a:lstStyle/>
          <a:p>
            <a:pPr algn="ctr"/>
            <a:r>
              <a:rPr kumimoji="1" lang="en-US" altLang="zh-CN" sz="4400">
                <a:ln w="12700">
                  <a:noFill/>
                </a:ln>
                <a:solidFill>
                  <a:srgbClr val="FFFFFF">
                    <a:alpha val="100000"/>
                  </a:srgbClr>
                </a:solidFill>
                <a:latin typeface="poppins-bold"/>
                <a:ea typeface="poppins-bold"/>
                <a:cs typeface="poppins-bold"/>
              </a:rPr>
              <a:t>03</a:t>
            </a:r>
            <a:endParaRPr kumimoji="1" lang="zh-CN" altLang="en-US"/>
          </a:p>
        </p:txBody>
      </p:sp>
      <p:sp>
        <p:nvSpPr>
          <p:cNvPr id="21" name="标题 1"/>
          <p:cNvSpPr txBox="1"/>
          <p:nvPr/>
        </p:nvSpPr>
        <p:spPr>
          <a:xfrm>
            <a:off x="6675975" y="4604180"/>
            <a:ext cx="967793" cy="967793"/>
          </a:xfrm>
          <a:prstGeom prst="rect">
            <a:avLst/>
          </a:prstGeom>
          <a:solidFill>
            <a:schemeClr val="accent1"/>
          </a:solidFill>
          <a:ln w="12700" cap="sq">
            <a:noFill/>
            <a:miter/>
          </a:ln>
        </p:spPr>
        <p:txBody>
          <a:bodyPr vert="horz" wrap="square" lIns="0" tIns="0" rIns="0" bIns="0" rtlCol="0" anchor="ctr"/>
          <a:lstStyle/>
          <a:p>
            <a:pPr algn="ctr"/>
            <a:endParaRPr kumimoji="1" lang="zh-CN" altLang="en-US"/>
          </a:p>
        </p:txBody>
      </p:sp>
      <p:sp>
        <p:nvSpPr>
          <p:cNvPr id="22" name="标题 1"/>
          <p:cNvSpPr txBox="1"/>
          <p:nvPr/>
        </p:nvSpPr>
        <p:spPr>
          <a:xfrm>
            <a:off x="6485069" y="4493060"/>
            <a:ext cx="4338734" cy="1190032"/>
          </a:xfrm>
          <a:prstGeom prst="rect">
            <a:avLst/>
          </a:prstGeom>
          <a:solidFill>
            <a:schemeClr val="accent1">
              <a:lumMod val="60000"/>
              <a:lumOff val="40000"/>
            </a:schemeClr>
          </a:solidFill>
          <a:ln w="25400" cap="sq">
            <a:noFill/>
            <a:miter/>
          </a:ln>
        </p:spPr>
        <p:txBody>
          <a:bodyPr vert="horz" wrap="square" lIns="0" tIns="0" rIns="0" bIns="0" rtlCol="0" anchor="ctr"/>
          <a:lstStyle/>
          <a:p>
            <a:pPr algn="ctr"/>
            <a:endParaRPr kumimoji="1" lang="zh-CN" altLang="en-US"/>
          </a:p>
        </p:txBody>
      </p:sp>
      <p:sp>
        <p:nvSpPr>
          <p:cNvPr id="23" name="标题 1"/>
          <p:cNvSpPr txBox="1"/>
          <p:nvPr/>
        </p:nvSpPr>
        <p:spPr>
          <a:xfrm>
            <a:off x="6468155" y="4493060"/>
            <a:ext cx="1083980" cy="1190032"/>
          </a:xfrm>
          <a:prstGeom prst="rect">
            <a:avLst/>
          </a:prstGeom>
          <a:solidFill>
            <a:schemeClr val="accent1"/>
          </a:solidFill>
          <a:ln w="25400" cap="sq">
            <a:noFill/>
            <a:miter/>
          </a:ln>
        </p:spPr>
        <p:txBody>
          <a:bodyPr vert="horz" wrap="square" lIns="0" tIns="0" rIns="0" bIns="0" rtlCol="0" anchor="ctr"/>
          <a:lstStyle/>
          <a:p>
            <a:pPr algn="ctr"/>
            <a:endParaRPr kumimoji="1" lang="zh-CN" altLang="en-US"/>
          </a:p>
        </p:txBody>
      </p:sp>
      <p:sp>
        <p:nvSpPr>
          <p:cNvPr id="24" name="标题 1"/>
          <p:cNvSpPr txBox="1"/>
          <p:nvPr/>
        </p:nvSpPr>
        <p:spPr>
          <a:xfrm>
            <a:off x="6319431" y="4428330"/>
            <a:ext cx="1416945" cy="1319492"/>
          </a:xfrm>
          <a:prstGeom prst="rect">
            <a:avLst/>
          </a:prstGeom>
          <a:noFill/>
          <a:ln>
            <a:noFill/>
          </a:ln>
        </p:spPr>
        <p:txBody>
          <a:bodyPr vert="horz" wrap="square" lIns="0" tIns="0" rIns="0" bIns="0" rtlCol="0" anchor="ctr"/>
          <a:lstStyle/>
          <a:p>
            <a:pPr algn="ctr"/>
            <a:r>
              <a:rPr kumimoji="1" lang="en-US" altLang="zh-CN" sz="4400">
                <a:ln w="12700">
                  <a:noFill/>
                </a:ln>
                <a:solidFill>
                  <a:srgbClr val="FFFFFF">
                    <a:alpha val="100000"/>
                  </a:srgbClr>
                </a:solidFill>
                <a:latin typeface="poppins-bold"/>
                <a:ea typeface="poppins-bold"/>
                <a:cs typeface="poppins-bold"/>
              </a:rPr>
              <a:t>04</a:t>
            </a:r>
            <a:endParaRPr kumimoji="1" lang="zh-CN" altLang="en-US"/>
          </a:p>
        </p:txBody>
      </p:sp>
      <p:sp>
        <p:nvSpPr>
          <p:cNvPr id="25" name="标题 1"/>
          <p:cNvSpPr txBox="1"/>
          <p:nvPr/>
        </p:nvSpPr>
        <p:spPr>
          <a:xfrm>
            <a:off x="7757319" y="2991296"/>
            <a:ext cx="2832729" cy="967794"/>
          </a:xfrm>
          <a:prstGeom prst="rect">
            <a:avLst/>
          </a:prstGeom>
          <a:noFill/>
          <a:ln w="12700" cap="sq">
            <a:noFill/>
            <a:miter/>
          </a:ln>
        </p:spPr>
        <p:txBody>
          <a:bodyPr vert="horz" wrap="square" lIns="0" tIns="0" rIns="0" bIns="0" rtlCol="0" anchor="ctr"/>
          <a:lstStyle/>
          <a:p>
            <a:pPr algn="ctr"/>
            <a:r>
              <a:rPr kumimoji="1" lang="en-US" altLang="zh-CN" sz="1800">
                <a:ln w="12700">
                  <a:noFill/>
                </a:ln>
                <a:solidFill>
                  <a:srgbClr val="FFFFFF">
                    <a:alpha val="100000"/>
                  </a:srgbClr>
                </a:solidFill>
                <a:latin typeface="Poppins"/>
                <a:ea typeface="Poppins"/>
                <a:cs typeface="Poppins"/>
              </a:rPr>
              <a:t>Vulnerabilidades en IA Aplicada a la Gestión del Datacenter</a:t>
            </a:r>
            <a:endParaRPr kumimoji="1" lang="zh-CN" altLang="en-US"/>
          </a:p>
        </p:txBody>
      </p:sp>
      <p:sp>
        <p:nvSpPr>
          <p:cNvPr id="26" name="标题 1"/>
          <p:cNvSpPr txBox="1"/>
          <p:nvPr/>
        </p:nvSpPr>
        <p:spPr>
          <a:xfrm>
            <a:off x="2600053" y="4604179"/>
            <a:ext cx="2832729" cy="967794"/>
          </a:xfrm>
          <a:prstGeom prst="rect">
            <a:avLst/>
          </a:prstGeom>
          <a:noFill/>
          <a:ln w="12700" cap="sq">
            <a:noFill/>
            <a:miter/>
          </a:ln>
        </p:spPr>
        <p:txBody>
          <a:bodyPr vert="horz" wrap="square" lIns="0" tIns="0" rIns="0" bIns="0" rtlCol="0" anchor="ctr"/>
          <a:lstStyle/>
          <a:p>
            <a:pPr algn="ctr"/>
            <a:r>
              <a:rPr kumimoji="1" lang="en-US" altLang="zh-CN" sz="1800">
                <a:ln w="12700">
                  <a:noFill/>
                </a:ln>
                <a:solidFill>
                  <a:srgbClr val="FFFFFF">
                    <a:alpha val="100000"/>
                  </a:srgbClr>
                </a:solidFill>
                <a:latin typeface="Poppins"/>
                <a:ea typeface="Poppins"/>
                <a:cs typeface="Poppins"/>
              </a:rPr>
              <a:t>Riesgos de Dispositivos Conectados (IoT) en el Datacenter</a:t>
            </a:r>
            <a:endParaRPr kumimoji="1" lang="zh-CN" altLang="en-US"/>
          </a:p>
        </p:txBody>
      </p:sp>
      <p:sp>
        <p:nvSpPr>
          <p:cNvPr id="27" name="标题 1"/>
          <p:cNvSpPr txBox="1"/>
          <p:nvPr/>
        </p:nvSpPr>
        <p:spPr>
          <a:xfrm>
            <a:off x="7757319" y="4604179"/>
            <a:ext cx="2832729" cy="967794"/>
          </a:xfrm>
          <a:prstGeom prst="rect">
            <a:avLst/>
          </a:prstGeom>
          <a:noFill/>
          <a:ln w="12700" cap="sq">
            <a:noFill/>
            <a:miter/>
          </a:ln>
        </p:spPr>
        <p:txBody>
          <a:bodyPr vert="horz" wrap="square" lIns="0" tIns="0" rIns="0" bIns="0" rtlCol="0" anchor="ctr"/>
          <a:lstStyle/>
          <a:p>
            <a:pPr algn="ctr"/>
            <a:r>
              <a:rPr kumimoji="1" lang="en-US" altLang="zh-CN" sz="1368">
                <a:ln w="12700">
                  <a:noFill/>
                </a:ln>
                <a:solidFill>
                  <a:srgbClr val="FFFFFF">
                    <a:alpha val="100000"/>
                  </a:srgbClr>
                </a:solidFill>
                <a:latin typeface="Poppins"/>
                <a:ea typeface="Poppins"/>
                <a:cs typeface="Poppins"/>
              </a:rPr>
              <a:t>Controles y Auditorías de Seguridad Específicas para el Datacenter</a:t>
            </a:r>
            <a:endParaRPr kumimoji="1" lang="zh-CN" altLang="en-US"/>
          </a:p>
        </p:txBody>
      </p:sp>
      <p:pic>
        <p:nvPicPr>
          <p:cNvPr id="29" name="Imagen 28">
            <a:extLst>
              <a:ext uri="{FF2B5EF4-FFF2-40B4-BE49-F238E27FC236}">
                <a16:creationId xmlns:a16="http://schemas.microsoft.com/office/drawing/2014/main" id="{1D8F8C8E-36F6-060B-A850-387B6B54D1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endParaRPr kumimoji="1" lang="zh-CN" altLang="en-US"/>
          </a:p>
        </p:txBody>
      </p:sp>
      <p:pic>
        <p:nvPicPr>
          <p:cNvPr id="3" name="Imagen 2"/>
          <p:cNvPicPr>
            <a:picLocks noChangeAspect="1"/>
          </p:cNvPicPr>
          <p:nvPr/>
        </p:nvPicPr>
        <p:blipFill>
          <a:blip r:embed="rId2">
            <a:alphaModFix/>
          </a:blip>
          <a:srcRect l="34798" t="10263" r="6538" b="17674"/>
          <a:stretch>
            <a:fillRect/>
          </a:stretch>
        </p:blipFill>
        <p:spPr>
          <a:xfrm flipH="1">
            <a:off x="174171" y="1016001"/>
            <a:ext cx="6662058" cy="4586514"/>
          </a:xfrm>
          <a:prstGeom prst="rect">
            <a:avLst/>
          </a:prstGeom>
          <a:noFill/>
          <a:ln>
            <a:noFill/>
          </a:ln>
        </p:spPr>
      </p:pic>
      <p:sp>
        <p:nvSpPr>
          <p:cNvPr id="4" name="标题 1"/>
          <p:cNvSpPr txBox="1"/>
          <p:nvPr/>
        </p:nvSpPr>
        <p:spPr>
          <a:xfrm>
            <a:off x="6879771" y="3359947"/>
            <a:ext cx="4760688" cy="1255728"/>
          </a:xfrm>
          <a:prstGeom prst="rect">
            <a:avLst/>
          </a:prstGeom>
          <a:noFill/>
          <a:ln>
            <a:noFill/>
          </a:ln>
        </p:spPr>
        <p:txBody>
          <a:bodyPr vert="horz" wrap="square" lIns="91440" tIns="45720" rIns="91440" bIns="45720" rtlCol="0" anchor="ctr"/>
          <a:lstStyle/>
          <a:p>
            <a:pPr algn="ctr"/>
            <a:r>
              <a:rPr kumimoji="1" lang="en-US" altLang="zh-CN" sz="2800">
                <a:ln w="12700">
                  <a:noFill/>
                </a:ln>
                <a:solidFill>
                  <a:srgbClr val="000000">
                    <a:alpha val="100000"/>
                  </a:srgbClr>
                </a:solidFill>
                <a:latin typeface="poppins-bold"/>
                <a:ea typeface="poppins-bold"/>
                <a:cs typeface="poppins-bold"/>
              </a:rPr>
              <a:t>Introducción</a:t>
            </a:r>
            <a:endParaRPr kumimoji="1" lang="zh-CN" altLang="en-US"/>
          </a:p>
        </p:txBody>
      </p:sp>
      <p:sp>
        <p:nvSpPr>
          <p:cNvPr id="6" name="标题 1"/>
          <p:cNvSpPr txBox="1"/>
          <p:nvPr/>
        </p:nvSpPr>
        <p:spPr>
          <a:xfrm flipH="1">
            <a:off x="8745588" y="2147252"/>
            <a:ext cx="1029054" cy="1029054"/>
          </a:xfrm>
          <a:prstGeom prst="ellips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8031679" y="1262814"/>
            <a:ext cx="2456872" cy="1667352"/>
          </a:xfrm>
          <a:prstGeom prst="rect">
            <a:avLst/>
          </a:prstGeom>
          <a:noFill/>
          <a:ln>
            <a:noFill/>
          </a:ln>
        </p:spPr>
        <p:txBody>
          <a:bodyPr vert="horz" wrap="square" lIns="0" tIns="0" rIns="0" bIns="0" rtlCol="0" anchor="b"/>
          <a:lstStyle/>
          <a:p>
            <a:pPr algn="ctr"/>
            <a:r>
              <a:rPr kumimoji="1" lang="en-US" altLang="zh-CN" sz="4000">
                <a:ln w="12700">
                  <a:noFill/>
                </a:ln>
                <a:solidFill>
                  <a:srgbClr val="FFFFFF">
                    <a:alpha val="100000"/>
                  </a:srgbClr>
                </a:solidFill>
                <a:latin typeface="Barlow Condensed Medium"/>
                <a:ea typeface="Barlow Condensed Medium"/>
                <a:cs typeface="Barlow Condensed Medium"/>
              </a:rPr>
              <a:t> 01</a:t>
            </a:r>
            <a:endParaRPr kumimoji="1" lang="zh-CN" altLang="en-US"/>
          </a:p>
        </p:txBody>
      </p:sp>
      <p:pic>
        <p:nvPicPr>
          <p:cNvPr id="10" name="Imagen 9">
            <a:extLst>
              <a:ext uri="{FF2B5EF4-FFF2-40B4-BE49-F238E27FC236}">
                <a16:creationId xmlns:a16="http://schemas.microsoft.com/office/drawing/2014/main" id="{D9E045F2-1EA2-7013-1608-1A5122F48D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3799133" y="3666141"/>
            <a:ext cx="18000" cy="1859643"/>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9102029" y="3675840"/>
            <a:ext cx="18000" cy="1859643"/>
          </a:xfrm>
          <a:prstGeom prst="rect">
            <a:avLst/>
          </a:prstGeom>
          <a:solidFill>
            <a:schemeClr val="bg1">
              <a:lumMod val="75000"/>
            </a:schemeClr>
          </a:soli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6450581" y="3675840"/>
            <a:ext cx="18000" cy="1859643"/>
          </a:xfrm>
          <a:prstGeom prst="rect">
            <a:avLst/>
          </a:prstGeom>
          <a:solidFill>
            <a:schemeClr val="bg1">
              <a:lumMod val="75000"/>
            </a:schemeClr>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1147685" y="3665220"/>
            <a:ext cx="18000" cy="1859643"/>
          </a:xfrm>
          <a:prstGeom prst="rect">
            <a:avLst/>
          </a:prstGeom>
          <a:solidFill>
            <a:schemeClr val="bg1">
              <a:lumMod val="75000"/>
            </a:schemeClr>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1594731" y="3084349"/>
            <a:ext cx="1182989" cy="1182984"/>
          </a:xfrm>
          <a:prstGeom prst="ellipse">
            <a:avLst/>
          </a:prstGeom>
          <a:solidFill>
            <a:schemeClr val="bg1">
              <a:lumMod val="95000"/>
            </a:schemeClr>
          </a:solidFill>
          <a:ln w="12700" cap="rnd">
            <a:noFill/>
            <a:round/>
            <a:headEnd/>
            <a:tailEnd/>
          </a:ln>
          <a:effectLst/>
        </p:spPr>
        <p:txBody>
          <a:bodyPr vert="horz" wrap="square" lIns="91440" tIns="45720" rIns="91440" bIns="45720" rtlCol="0" anchor="ctr"/>
          <a:lstStyle/>
          <a:p>
            <a:pPr algn="ctr"/>
            <a:endParaRPr kumimoji="1" lang="zh-CN" altLang="en-US"/>
          </a:p>
        </p:txBody>
      </p:sp>
      <p:sp>
        <p:nvSpPr>
          <p:cNvPr id="8" name="标题 1"/>
          <p:cNvSpPr txBox="1"/>
          <p:nvPr/>
        </p:nvSpPr>
        <p:spPr>
          <a:xfrm>
            <a:off x="1429099" y="2918715"/>
            <a:ext cx="1514254" cy="1514252"/>
          </a:xfrm>
          <a:prstGeom prst="ellipse">
            <a:avLst/>
          </a:prstGeom>
          <a:noFill/>
          <a:ln w="15875" cap="rnd">
            <a:solidFill>
              <a:schemeClr val="bg1">
                <a:lumMod val="75000"/>
              </a:schemeClr>
            </a:solidFill>
            <a:round/>
            <a:headEnd/>
            <a:tailEnd/>
          </a:ln>
          <a:effectLst/>
        </p:spPr>
        <p:txBody>
          <a:bodyPr vert="horz" wrap="square" lIns="91440" tIns="45720" rIns="91440" bIns="45720" rtlCol="0" anchor="ctr"/>
          <a:lstStyle/>
          <a:p>
            <a:pPr algn="ctr"/>
            <a:endParaRPr kumimoji="1" lang="zh-CN" altLang="en-US"/>
          </a:p>
        </p:txBody>
      </p:sp>
      <p:sp>
        <p:nvSpPr>
          <p:cNvPr id="9" name="标题 1"/>
          <p:cNvSpPr txBox="1"/>
          <p:nvPr/>
        </p:nvSpPr>
        <p:spPr>
          <a:xfrm>
            <a:off x="1082564" y="3591099"/>
            <a:ext cx="148242" cy="148242"/>
          </a:xfrm>
          <a:prstGeom prst="ellipse">
            <a:avLst/>
          </a:prstGeom>
          <a:solidFill>
            <a:schemeClr val="bg1"/>
          </a:solidFill>
          <a:ln w="15875" cap="rnd">
            <a:solidFill>
              <a:schemeClr val="bg1">
                <a:lumMod val="75000"/>
              </a:schemeClr>
            </a:solidFill>
            <a:round/>
            <a:headEnd/>
            <a:tailEnd/>
          </a:ln>
          <a:effectLst/>
        </p:spPr>
        <p:txBody>
          <a:bodyPr vert="horz" wrap="square" lIns="91440" tIns="45720" rIns="91440" bIns="45720" rtlCol="0" anchor="ctr"/>
          <a:lstStyle/>
          <a:p>
            <a:pPr algn="ctr"/>
            <a:endParaRPr kumimoji="1" lang="zh-CN" altLang="en-US"/>
          </a:p>
        </p:txBody>
      </p:sp>
      <p:sp>
        <p:nvSpPr>
          <p:cNvPr id="10" name="标题 1"/>
          <p:cNvSpPr txBox="1"/>
          <p:nvPr/>
        </p:nvSpPr>
        <p:spPr>
          <a:xfrm>
            <a:off x="1919526" y="3424471"/>
            <a:ext cx="533400" cy="502741"/>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lumMod val="50000"/>
            </a:schemeClr>
          </a:solidFill>
          <a:ln w="9525" cap="flat">
            <a:noFill/>
            <a:miter/>
          </a:ln>
        </p:spPr>
        <p:txBody>
          <a:bodyPr vert="horz" wrap="square" lIns="91440" tIns="45720" rIns="91440" bIns="45720" rtlCol="0" anchor="ctr"/>
          <a:lstStyle/>
          <a:p>
            <a:pPr algn="l"/>
            <a:endParaRPr kumimoji="1" lang="zh-CN" altLang="en-US"/>
          </a:p>
        </p:txBody>
      </p:sp>
      <p:sp>
        <p:nvSpPr>
          <p:cNvPr id="11" name="标题 1"/>
          <p:cNvSpPr txBox="1"/>
          <p:nvPr/>
        </p:nvSpPr>
        <p:spPr>
          <a:xfrm>
            <a:off x="4246179" y="3084349"/>
            <a:ext cx="1182989" cy="1182984"/>
          </a:xfrm>
          <a:prstGeom prst="ellipse">
            <a:avLst/>
          </a:prstGeom>
          <a:solidFill>
            <a:schemeClr val="accent1">
              <a:lumMod val="20000"/>
              <a:lumOff val="80000"/>
            </a:schemeClr>
          </a:solidFill>
          <a:ln w="12700" cap="rnd">
            <a:noFill/>
            <a:round/>
            <a:headEnd/>
            <a:tailEnd/>
          </a:ln>
          <a:effectLst/>
        </p:spPr>
        <p:txBody>
          <a:bodyPr vert="horz" wrap="square" lIns="91440" tIns="45720" rIns="91440" bIns="45720" rtlCol="0" anchor="ctr"/>
          <a:lstStyle/>
          <a:p>
            <a:pPr algn="ctr"/>
            <a:endParaRPr kumimoji="1" lang="zh-CN" altLang="en-US"/>
          </a:p>
        </p:txBody>
      </p:sp>
      <p:sp>
        <p:nvSpPr>
          <p:cNvPr id="12" name="标题 1"/>
          <p:cNvSpPr txBox="1"/>
          <p:nvPr/>
        </p:nvSpPr>
        <p:spPr>
          <a:xfrm>
            <a:off x="4080547" y="2918715"/>
            <a:ext cx="1514254" cy="1514252"/>
          </a:xfrm>
          <a:prstGeom prst="ellipse">
            <a:avLst/>
          </a:prstGeom>
          <a:noFill/>
          <a:ln w="15875" cap="rnd">
            <a:solidFill>
              <a:schemeClr val="accent1"/>
            </a:solidFill>
            <a:round/>
            <a:headEnd/>
            <a:tailEnd/>
          </a:ln>
          <a:effectLst/>
        </p:spPr>
        <p:txBody>
          <a:bodyPr vert="horz" wrap="square" lIns="91440" tIns="45720" rIns="91440" bIns="45720" rtlCol="0" anchor="ctr"/>
          <a:lstStyle/>
          <a:p>
            <a:pPr algn="ctr"/>
            <a:endParaRPr kumimoji="1" lang="zh-CN" altLang="en-US"/>
          </a:p>
        </p:txBody>
      </p:sp>
      <p:sp>
        <p:nvSpPr>
          <p:cNvPr id="13" name="标题 1"/>
          <p:cNvSpPr txBox="1"/>
          <p:nvPr/>
        </p:nvSpPr>
        <p:spPr>
          <a:xfrm>
            <a:off x="3734012" y="3591099"/>
            <a:ext cx="148242" cy="148242"/>
          </a:xfrm>
          <a:prstGeom prst="ellipse">
            <a:avLst/>
          </a:prstGeom>
          <a:solidFill>
            <a:schemeClr val="bg1"/>
          </a:solidFill>
          <a:ln w="15875" cap="rnd">
            <a:solidFill>
              <a:schemeClr val="accent1"/>
            </a:solidFill>
            <a:round/>
            <a:headEnd/>
            <a:tailEnd/>
          </a:ln>
          <a:effectLst/>
        </p:spPr>
        <p:txBody>
          <a:bodyPr vert="horz" wrap="square" lIns="91440" tIns="45720" rIns="91440" bIns="45720" rtlCol="0" anchor="ctr"/>
          <a:lstStyle/>
          <a:p>
            <a:pPr algn="ctr"/>
            <a:endParaRPr kumimoji="1" lang="zh-CN" altLang="en-US"/>
          </a:p>
        </p:txBody>
      </p:sp>
      <p:sp>
        <p:nvSpPr>
          <p:cNvPr id="14" name="标题 1"/>
          <p:cNvSpPr txBox="1"/>
          <p:nvPr/>
        </p:nvSpPr>
        <p:spPr>
          <a:xfrm>
            <a:off x="6897627" y="3084349"/>
            <a:ext cx="1182989" cy="1182984"/>
          </a:xfrm>
          <a:prstGeom prst="ellipse">
            <a:avLst/>
          </a:prstGeom>
          <a:solidFill>
            <a:schemeClr val="bg1">
              <a:lumMod val="95000"/>
            </a:schemeClr>
          </a:solidFill>
          <a:ln w="12700" cap="rnd">
            <a:noFill/>
            <a:round/>
            <a:headEnd/>
            <a:tailEnd/>
          </a:ln>
          <a:effectLst/>
        </p:spPr>
        <p:txBody>
          <a:bodyPr vert="horz" wrap="square" lIns="91440" tIns="45720" rIns="91440" bIns="45720" rtlCol="0" anchor="ctr"/>
          <a:lstStyle/>
          <a:p>
            <a:pPr algn="ctr"/>
            <a:endParaRPr kumimoji="1" lang="zh-CN" altLang="en-US"/>
          </a:p>
        </p:txBody>
      </p:sp>
      <p:sp>
        <p:nvSpPr>
          <p:cNvPr id="15" name="标题 1"/>
          <p:cNvSpPr txBox="1"/>
          <p:nvPr/>
        </p:nvSpPr>
        <p:spPr>
          <a:xfrm>
            <a:off x="6731995" y="2918715"/>
            <a:ext cx="1514254" cy="1514252"/>
          </a:xfrm>
          <a:prstGeom prst="ellipse">
            <a:avLst/>
          </a:prstGeom>
          <a:noFill/>
          <a:ln w="15875" cap="rnd">
            <a:solidFill>
              <a:schemeClr val="bg1">
                <a:lumMod val="75000"/>
              </a:schemeClr>
            </a:solidFill>
            <a:round/>
            <a:headEnd/>
            <a:tailEnd/>
          </a:ln>
          <a:effectLst/>
        </p:spPr>
        <p:txBody>
          <a:bodyPr vert="horz" wrap="square" lIns="91440" tIns="45720" rIns="91440" bIns="45720" rtlCol="0" anchor="ctr"/>
          <a:lstStyle/>
          <a:p>
            <a:pPr algn="ctr"/>
            <a:endParaRPr kumimoji="1" lang="zh-CN" altLang="en-US"/>
          </a:p>
        </p:txBody>
      </p:sp>
      <p:sp>
        <p:nvSpPr>
          <p:cNvPr id="16" name="标题 1"/>
          <p:cNvSpPr txBox="1"/>
          <p:nvPr/>
        </p:nvSpPr>
        <p:spPr>
          <a:xfrm>
            <a:off x="6385460" y="3591099"/>
            <a:ext cx="148242" cy="148242"/>
          </a:xfrm>
          <a:prstGeom prst="ellipse">
            <a:avLst/>
          </a:prstGeom>
          <a:solidFill>
            <a:schemeClr val="bg1"/>
          </a:solidFill>
          <a:ln w="15875" cap="rnd">
            <a:solidFill>
              <a:schemeClr val="bg1">
                <a:lumMod val="75000"/>
              </a:schemeClr>
            </a:solidFill>
            <a:round/>
            <a:headEnd/>
            <a:tailEnd/>
          </a:ln>
          <a:effectLst/>
        </p:spPr>
        <p:txBody>
          <a:bodyPr vert="horz" wrap="square" lIns="91440" tIns="45720" rIns="91440" bIns="45720" rtlCol="0" anchor="ctr"/>
          <a:lstStyle/>
          <a:p>
            <a:pPr algn="ctr"/>
            <a:endParaRPr kumimoji="1" lang="zh-CN" altLang="en-US"/>
          </a:p>
        </p:txBody>
      </p:sp>
      <p:sp>
        <p:nvSpPr>
          <p:cNvPr id="17" name="标题 1"/>
          <p:cNvSpPr txBox="1"/>
          <p:nvPr/>
        </p:nvSpPr>
        <p:spPr>
          <a:xfrm>
            <a:off x="9549075" y="3084349"/>
            <a:ext cx="1182989" cy="1182984"/>
          </a:xfrm>
          <a:prstGeom prst="ellipse">
            <a:avLst/>
          </a:prstGeom>
          <a:solidFill>
            <a:schemeClr val="bg1">
              <a:lumMod val="95000"/>
            </a:schemeClr>
          </a:solidFill>
          <a:ln w="12700" cap="rnd">
            <a:noFill/>
            <a:round/>
            <a:headEnd/>
            <a:tailEnd/>
          </a:ln>
          <a:effectLst/>
        </p:spPr>
        <p:txBody>
          <a:bodyPr vert="horz" wrap="square" lIns="91440" tIns="45720" rIns="91440" bIns="45720" rtlCol="0" anchor="ctr"/>
          <a:lstStyle/>
          <a:p>
            <a:pPr algn="ctr"/>
            <a:endParaRPr kumimoji="1" lang="zh-CN" altLang="en-US"/>
          </a:p>
        </p:txBody>
      </p:sp>
      <p:sp>
        <p:nvSpPr>
          <p:cNvPr id="18" name="标题 1"/>
          <p:cNvSpPr txBox="1"/>
          <p:nvPr/>
        </p:nvSpPr>
        <p:spPr>
          <a:xfrm>
            <a:off x="9383443" y="2918715"/>
            <a:ext cx="1514254" cy="1514252"/>
          </a:xfrm>
          <a:prstGeom prst="ellipse">
            <a:avLst/>
          </a:prstGeom>
          <a:noFill/>
          <a:ln w="15875" cap="rnd">
            <a:solidFill>
              <a:schemeClr val="bg1">
                <a:lumMod val="75000"/>
              </a:schemeClr>
            </a:solidFill>
            <a:round/>
            <a:headEnd/>
            <a:tailEnd/>
          </a:ln>
          <a:effectLst/>
        </p:spPr>
        <p:txBody>
          <a:bodyPr vert="horz" wrap="square" lIns="91440" tIns="45720" rIns="91440" bIns="45720" rtlCol="0" anchor="ctr"/>
          <a:lstStyle/>
          <a:p>
            <a:pPr algn="ctr"/>
            <a:endParaRPr kumimoji="1" lang="zh-CN" altLang="en-US"/>
          </a:p>
        </p:txBody>
      </p:sp>
      <p:sp>
        <p:nvSpPr>
          <p:cNvPr id="19" name="标题 1"/>
          <p:cNvSpPr txBox="1"/>
          <p:nvPr/>
        </p:nvSpPr>
        <p:spPr>
          <a:xfrm>
            <a:off x="9036908" y="3591099"/>
            <a:ext cx="148242" cy="148242"/>
          </a:xfrm>
          <a:prstGeom prst="ellipse">
            <a:avLst/>
          </a:prstGeom>
          <a:solidFill>
            <a:schemeClr val="bg1"/>
          </a:solidFill>
          <a:ln w="15875" cap="rnd">
            <a:solidFill>
              <a:schemeClr val="bg1">
                <a:lumMod val="75000"/>
              </a:schemeClr>
            </a:solidFill>
            <a:round/>
            <a:headEnd/>
            <a:tailEnd/>
          </a:ln>
          <a:effectLst/>
        </p:spPr>
        <p:txBody>
          <a:bodyPr vert="horz" wrap="square" lIns="91440" tIns="45720" rIns="91440" bIns="45720" rtlCol="0" anchor="ctr"/>
          <a:lstStyle/>
          <a:p>
            <a:pPr algn="ctr"/>
            <a:endParaRPr kumimoji="1" lang="zh-CN" altLang="en-US"/>
          </a:p>
        </p:txBody>
      </p:sp>
      <p:sp>
        <p:nvSpPr>
          <p:cNvPr id="20" name="标题 1"/>
          <p:cNvSpPr txBox="1"/>
          <p:nvPr/>
        </p:nvSpPr>
        <p:spPr>
          <a:xfrm>
            <a:off x="4600237" y="3398520"/>
            <a:ext cx="492411" cy="533400"/>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21" name="标题 1"/>
          <p:cNvSpPr txBox="1"/>
          <p:nvPr/>
        </p:nvSpPr>
        <p:spPr>
          <a:xfrm>
            <a:off x="7222422" y="3417745"/>
            <a:ext cx="533400" cy="516191"/>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lumMod val="50000"/>
            </a:schemeClr>
          </a:solidFill>
          <a:ln w="9525" cap="flat">
            <a:noFill/>
            <a:miter/>
          </a:ln>
        </p:spPr>
        <p:txBody>
          <a:bodyPr vert="horz" wrap="square" lIns="91440" tIns="45720" rIns="91440" bIns="45720" rtlCol="0" anchor="ctr"/>
          <a:lstStyle/>
          <a:p>
            <a:pPr algn="l"/>
            <a:endParaRPr kumimoji="1" lang="zh-CN" altLang="en-US"/>
          </a:p>
        </p:txBody>
      </p:sp>
      <p:sp>
        <p:nvSpPr>
          <p:cNvPr id="22" name="标题 1"/>
          <p:cNvSpPr txBox="1"/>
          <p:nvPr/>
        </p:nvSpPr>
        <p:spPr>
          <a:xfrm>
            <a:off x="9873870" y="3442349"/>
            <a:ext cx="533400" cy="466984"/>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bg1">
              <a:lumMod val="50000"/>
            </a:schemeClr>
          </a:solidFill>
          <a:ln w="9525" cap="flat">
            <a:noFill/>
            <a:miter/>
          </a:ln>
        </p:spPr>
        <p:txBody>
          <a:bodyPr vert="horz" wrap="square" lIns="91440" tIns="45720" rIns="91440" bIns="45720" rtlCol="0" anchor="ctr"/>
          <a:lstStyle/>
          <a:p>
            <a:pPr algn="l"/>
            <a:endParaRPr kumimoji="1" lang="zh-CN" altLang="en-US"/>
          </a:p>
        </p:txBody>
      </p:sp>
      <p:sp>
        <p:nvSpPr>
          <p:cNvPr id="23" name="标题 1"/>
          <p:cNvSpPr txBox="1"/>
          <p:nvPr/>
        </p:nvSpPr>
        <p:spPr>
          <a:xfrm>
            <a:off x="6647254" y="4598601"/>
            <a:ext cx="1928197" cy="969595"/>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Los dispositivos IoT proporcionan control y visibilidad sin precedentes.</a:t>
            </a:r>
            <a:endParaRPr kumimoji="1" lang="zh-CN" altLang="en-US"/>
          </a:p>
        </p:txBody>
      </p:sp>
      <p:sp>
        <p:nvSpPr>
          <p:cNvPr id="24" name="标题 1"/>
          <p:cNvSpPr txBox="1"/>
          <p:nvPr/>
        </p:nvSpPr>
        <p:spPr>
          <a:xfrm>
            <a:off x="9298702" y="4598601"/>
            <a:ext cx="1928197" cy="969595"/>
          </a:xfrm>
          <a:prstGeom prst="rect">
            <a:avLst/>
          </a:prstGeom>
          <a:noFill/>
          <a:ln>
            <a:noFill/>
          </a:ln>
        </p:spPr>
        <p:txBody>
          <a:bodyPr vert="horz" wrap="square" lIns="0" tIns="0" rIns="0" bIns="0" rtlCol="0" anchor="t"/>
          <a:lstStyle/>
          <a:p>
            <a:pPr algn="l"/>
            <a:r>
              <a:rPr kumimoji="1" lang="en-US" altLang="zh-CN" sz="1121">
                <a:ln w="12700">
                  <a:noFill/>
                </a:ln>
                <a:solidFill>
                  <a:srgbClr val="262626">
                    <a:alpha val="100000"/>
                  </a:srgbClr>
                </a:solidFill>
                <a:latin typeface="Poppins"/>
                <a:ea typeface="Poppins"/>
                <a:cs typeface="Poppins"/>
              </a:rPr>
              <a:t>Un sensor de humedad comprometido puede ser tan peligroso como un servidor sin parchar.</a:t>
            </a:r>
            <a:endParaRPr kumimoji="1" lang="zh-CN" altLang="en-US"/>
          </a:p>
        </p:txBody>
      </p:sp>
      <p:sp>
        <p:nvSpPr>
          <p:cNvPr id="25" name="标题 1"/>
          <p:cNvSpPr txBox="1"/>
          <p:nvPr/>
        </p:nvSpPr>
        <p:spPr>
          <a:xfrm>
            <a:off x="1344358" y="4598601"/>
            <a:ext cx="1928197" cy="969595"/>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El perímetro de defensa ya no es solo el firewall de internet.</a:t>
            </a:r>
            <a:endParaRPr kumimoji="1" lang="zh-CN" altLang="en-US"/>
          </a:p>
        </p:txBody>
      </p:sp>
      <p:sp>
        <p:nvSpPr>
          <p:cNvPr id="26" name="标题 1"/>
          <p:cNvSpPr txBox="1"/>
          <p:nvPr/>
        </p:nvSpPr>
        <p:spPr>
          <a:xfrm>
            <a:off x="3995806" y="4598601"/>
            <a:ext cx="1928197" cy="969595"/>
          </a:xfrm>
          <a:prstGeom prst="rect">
            <a:avLst/>
          </a:prstGeom>
          <a:noFill/>
          <a:ln>
            <a:noFill/>
          </a:ln>
        </p:spPr>
        <p:txBody>
          <a:bodyPr vert="horz" wrap="square" lIns="0" tIns="0" rIns="0" bIns="0" rtlCol="0" anchor="t"/>
          <a:lstStyle/>
          <a:p>
            <a:pPr algn="l"/>
            <a:r>
              <a:rPr kumimoji="1" lang="en-US" altLang="zh-CN" sz="1121">
                <a:ln w="12700">
                  <a:noFill/>
                </a:ln>
                <a:solidFill>
                  <a:srgbClr val="262626">
                    <a:alpha val="100000"/>
                  </a:srgbClr>
                </a:solidFill>
                <a:latin typeface="Poppins"/>
                <a:ea typeface="Poppins"/>
                <a:cs typeface="Poppins"/>
              </a:rPr>
              <a:t>Se extiende a cada sensor de temperatura, cámara de seguridad y PDU inteligente.</a:t>
            </a:r>
            <a:endParaRPr kumimoji="1" lang="zh-CN" altLang="en-US"/>
          </a:p>
        </p:txBody>
      </p:sp>
      <p:sp>
        <p:nvSpPr>
          <p:cNvPr id="27" name="标题 1"/>
          <p:cNvSpPr txBox="1"/>
          <p:nvPr/>
        </p:nvSpPr>
        <p:spPr>
          <a:xfrm>
            <a:off x="1351099" y="1434442"/>
            <a:ext cx="9489802" cy="1075231"/>
          </a:xfrm>
          <a:prstGeom prst="rect">
            <a:avLst/>
          </a:prstGeom>
          <a:noFill/>
          <a:ln>
            <a:noFill/>
          </a:ln>
        </p:spPr>
        <p:txBody>
          <a:bodyPr vert="horz" wrap="square" lIns="0" tIns="0" rIns="0" bIns="0" rtlCol="0" anchor="b"/>
          <a:lstStyle/>
          <a:p>
            <a:pPr algn="ctr"/>
            <a:r>
              <a:rPr kumimoji="1" lang="en-US" altLang="zh-CN" sz="1600">
                <a:ln w="12700">
                  <a:noFill/>
                </a:ln>
                <a:solidFill>
                  <a:srgbClr val="262626">
                    <a:alpha val="100000"/>
                  </a:srgbClr>
                </a:solidFill>
                <a:latin typeface="poppins-bold"/>
                <a:ea typeface="poppins-bold"/>
                <a:cs typeface="poppins-bold"/>
              </a:rPr>
              <a:t>Evolución del Perímetro de Defensa</a:t>
            </a:r>
            <a:endParaRPr kumimoji="1" lang="zh-CN" altLang="en-US"/>
          </a:p>
        </p:txBody>
      </p:sp>
      <p:sp>
        <p:nvSpPr>
          <p:cNvPr id="28" name="标题 1"/>
          <p:cNvSpPr txBox="1"/>
          <p:nvPr/>
        </p:nvSpPr>
        <p:spPr>
          <a:xfrm>
            <a:off x="271780" y="279022"/>
            <a:ext cx="11066780" cy="432000"/>
          </a:xfrm>
          <a:prstGeom prst="rect">
            <a:avLst/>
          </a:prstGeom>
          <a:noFill/>
          <a:ln>
            <a:noFill/>
          </a:ln>
        </p:spPr>
        <p:txBody>
          <a:bodyPr vert="horz" wrap="square" lIns="0" tIns="0" rIns="0" bIns="0" rtlCol="0" anchor="ctr"/>
          <a:lstStyle/>
          <a:p>
            <a:pPr algn="l"/>
            <a:r>
              <a:rPr kumimoji="1" lang="en-US" altLang="zh-CN" sz="3200">
                <a:ln w="12700">
                  <a:noFill/>
                </a:ln>
                <a:solidFill>
                  <a:srgbClr val="4472C4">
                    <a:alpha val="100000"/>
                  </a:srgbClr>
                </a:solidFill>
                <a:latin typeface="poppins-bold"/>
                <a:ea typeface="poppins-bold"/>
                <a:cs typeface="poppins-bold"/>
              </a:rPr>
              <a:t>Contexto de la Seguridad en IoT e IA</a:t>
            </a:r>
            <a:endParaRPr kumimoji="1" lang="zh-CN" altLang="en-US"/>
          </a:p>
        </p:txBody>
      </p:sp>
      <p:pic>
        <p:nvPicPr>
          <p:cNvPr id="31" name="Imagen 30">
            <a:extLst>
              <a:ext uri="{FF2B5EF4-FFF2-40B4-BE49-F238E27FC236}">
                <a16:creationId xmlns:a16="http://schemas.microsoft.com/office/drawing/2014/main" id="{29724CB4-216A-5D55-D160-167A0B2F4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endParaRPr kumimoji="1" lang="zh-CN" altLang="en-US"/>
          </a:p>
        </p:txBody>
      </p:sp>
      <p:pic>
        <p:nvPicPr>
          <p:cNvPr id="3" name="Imagen 2"/>
          <p:cNvPicPr>
            <a:picLocks noChangeAspect="1"/>
          </p:cNvPicPr>
          <p:nvPr/>
        </p:nvPicPr>
        <p:blipFill>
          <a:blip r:embed="rId2">
            <a:alphaModFix/>
          </a:blip>
          <a:srcRect l="34798" t="10263" r="6538" b="17674"/>
          <a:stretch>
            <a:fillRect/>
          </a:stretch>
        </p:blipFill>
        <p:spPr>
          <a:xfrm flipH="1">
            <a:off x="174171" y="1016001"/>
            <a:ext cx="6662058" cy="4586514"/>
          </a:xfrm>
          <a:prstGeom prst="rect">
            <a:avLst/>
          </a:prstGeom>
          <a:noFill/>
          <a:ln>
            <a:noFill/>
          </a:ln>
        </p:spPr>
      </p:pic>
      <p:sp>
        <p:nvSpPr>
          <p:cNvPr id="4" name="标题 1"/>
          <p:cNvSpPr txBox="1"/>
          <p:nvPr/>
        </p:nvSpPr>
        <p:spPr>
          <a:xfrm>
            <a:off x="6879771" y="3359947"/>
            <a:ext cx="4760688" cy="1255728"/>
          </a:xfrm>
          <a:prstGeom prst="rect">
            <a:avLst/>
          </a:prstGeom>
          <a:noFill/>
          <a:ln>
            <a:noFill/>
          </a:ln>
        </p:spPr>
        <p:txBody>
          <a:bodyPr vert="horz" wrap="square" lIns="91440" tIns="45720" rIns="91440" bIns="45720" rtlCol="0" anchor="ctr"/>
          <a:lstStyle/>
          <a:p>
            <a:pPr algn="ctr"/>
            <a:r>
              <a:rPr kumimoji="1" lang="en-US" altLang="zh-CN" sz="2039">
                <a:ln w="12700">
                  <a:noFill/>
                </a:ln>
                <a:solidFill>
                  <a:srgbClr val="000000">
                    <a:alpha val="100000"/>
                  </a:srgbClr>
                </a:solidFill>
                <a:latin typeface="poppins-bold"/>
                <a:ea typeface="poppins-bold"/>
                <a:cs typeface="poppins-bold"/>
              </a:rPr>
              <a:t>Riesgos de Dispositivos Conectados (IoT) en el Datacenter</a:t>
            </a:r>
            <a:endParaRPr kumimoji="1" lang="zh-CN" altLang="en-US"/>
          </a:p>
        </p:txBody>
      </p:sp>
      <p:sp>
        <p:nvSpPr>
          <p:cNvPr id="6" name="标题 1"/>
          <p:cNvSpPr txBox="1"/>
          <p:nvPr/>
        </p:nvSpPr>
        <p:spPr>
          <a:xfrm flipH="1">
            <a:off x="8745588" y="2147252"/>
            <a:ext cx="1029054" cy="1029054"/>
          </a:xfrm>
          <a:prstGeom prst="ellips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8031679" y="1262814"/>
            <a:ext cx="2456872" cy="1667352"/>
          </a:xfrm>
          <a:prstGeom prst="rect">
            <a:avLst/>
          </a:prstGeom>
          <a:noFill/>
          <a:ln>
            <a:noFill/>
          </a:ln>
        </p:spPr>
        <p:txBody>
          <a:bodyPr vert="horz" wrap="square" lIns="0" tIns="0" rIns="0" bIns="0" rtlCol="0" anchor="b"/>
          <a:lstStyle/>
          <a:p>
            <a:pPr algn="ctr"/>
            <a:r>
              <a:rPr kumimoji="1" lang="en-US" altLang="zh-CN" sz="4000">
                <a:ln w="12700">
                  <a:noFill/>
                </a:ln>
                <a:solidFill>
                  <a:srgbClr val="FFFFFF">
                    <a:alpha val="100000"/>
                  </a:srgbClr>
                </a:solidFill>
                <a:latin typeface="Barlow Condensed Medium"/>
                <a:ea typeface="Barlow Condensed Medium"/>
                <a:cs typeface="Barlow Condensed Medium"/>
              </a:rPr>
              <a:t> 02</a:t>
            </a:r>
            <a:endParaRPr kumimoji="1" lang="zh-CN" altLang="en-US"/>
          </a:p>
        </p:txBody>
      </p:sp>
      <p:pic>
        <p:nvPicPr>
          <p:cNvPr id="8" name="Imagen 7">
            <a:extLst>
              <a:ext uri="{FF2B5EF4-FFF2-40B4-BE49-F238E27FC236}">
                <a16:creationId xmlns:a16="http://schemas.microsoft.com/office/drawing/2014/main" id="{3D879401-76AA-4033-B6D3-61B8014ADC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892265" y="2838375"/>
            <a:ext cx="2482205" cy="2040590"/>
          </a:xfrm>
          <a:prstGeom prst="rect">
            <a:avLst/>
          </a:prstGeom>
          <a:noFill/>
          <a:ln cap="sq">
            <a:noFill/>
          </a:ln>
          <a:effectLst/>
        </p:spPr>
        <p:txBody>
          <a:bodyPr vert="horz" wrap="square" lIns="64008" tIns="32004" rIns="64008" bIns="32004" rtlCol="0" anchor="ctr"/>
          <a:lstStyle/>
          <a:p>
            <a:pPr algn="r"/>
            <a:r>
              <a:rPr kumimoji="1" lang="en-US" altLang="zh-CN" sz="11500">
                <a:ln w="12700">
                  <a:noFill/>
                </a:ln>
                <a:solidFill>
                  <a:srgbClr val="FFFFFF">
                    <a:alpha val="80000"/>
                  </a:srgbClr>
                </a:solidFill>
                <a:latin typeface="poppins-bold"/>
                <a:ea typeface="poppins-bold"/>
                <a:cs typeface="poppins-bold"/>
              </a:rPr>
              <a:t>01</a:t>
            </a:r>
            <a:endParaRPr kumimoji="1" lang="zh-CN" altLang="en-US"/>
          </a:p>
        </p:txBody>
      </p:sp>
      <p:sp>
        <p:nvSpPr>
          <p:cNvPr id="4" name="标题 1"/>
          <p:cNvSpPr txBox="1"/>
          <p:nvPr/>
        </p:nvSpPr>
        <p:spPr>
          <a:xfrm>
            <a:off x="515862" y="2781300"/>
            <a:ext cx="2406730" cy="729449"/>
          </a:xfrm>
          <a:prstGeom prst="rect">
            <a:avLst/>
          </a:prstGeom>
          <a:noFill/>
          <a:ln cap="sq">
            <a:noFill/>
          </a:ln>
          <a:effectLst/>
        </p:spPr>
        <p:txBody>
          <a:bodyPr vert="horz" wrap="square" lIns="64008" tIns="32004" rIns="64008" bIns="32004" rtlCol="0" anchor="ctr"/>
          <a:lstStyle/>
          <a:p>
            <a:pPr algn="l"/>
            <a:r>
              <a:rPr kumimoji="1" lang="en-US" altLang="zh-CN" sz="1600">
                <a:ln w="12700">
                  <a:noFill/>
                </a:ln>
                <a:solidFill>
                  <a:srgbClr val="262626">
                    <a:alpha val="100000"/>
                  </a:srgbClr>
                </a:solidFill>
                <a:latin typeface="poppins-bold"/>
                <a:ea typeface="poppins-bold"/>
                <a:cs typeface="poppins-bold"/>
              </a:rPr>
              <a:t>Vectores de Ataque Físico-Digital</a:t>
            </a:r>
            <a:endParaRPr kumimoji="1" lang="zh-CN" altLang="en-US"/>
          </a:p>
        </p:txBody>
      </p:sp>
      <p:sp>
        <p:nvSpPr>
          <p:cNvPr id="5" name="标题 1"/>
          <p:cNvSpPr txBox="1"/>
          <p:nvPr/>
        </p:nvSpPr>
        <p:spPr>
          <a:xfrm>
            <a:off x="515862" y="3548052"/>
            <a:ext cx="2405138" cy="2459048"/>
          </a:xfrm>
          <a:prstGeom prst="rect">
            <a:avLst/>
          </a:prstGeom>
          <a:noFill/>
          <a:ln cap="sq">
            <a:noFill/>
          </a:ln>
          <a:effectLst/>
        </p:spPr>
        <p:txBody>
          <a:bodyPr vert="horz" wrap="square" lIns="64008" tIns="32004" rIns="64008" bIns="32004" rtlCol="0" anchor="t"/>
          <a:lstStyle/>
          <a:p>
            <a:r>
              <a:rPr kumimoji="1" lang="es-EC" sz="1200" dirty="0">
                <a:ln w="12700">
                  <a:noFill/>
                </a:ln>
                <a:solidFill>
                  <a:srgbClr val="404040">
                    <a:alpha val="100000"/>
                  </a:srgbClr>
                </a:solidFill>
                <a:latin typeface="Poppins"/>
                <a:cs typeface="Poppins"/>
              </a:rPr>
              <a:t>Los dispositivos </a:t>
            </a:r>
            <a:r>
              <a:rPr kumimoji="1" lang="es-EC" sz="1200" dirty="0" err="1">
                <a:ln w="12700">
                  <a:noFill/>
                </a:ln>
                <a:solidFill>
                  <a:srgbClr val="404040">
                    <a:alpha val="100000"/>
                  </a:srgbClr>
                </a:solidFill>
                <a:latin typeface="Poppins"/>
                <a:cs typeface="Poppins"/>
              </a:rPr>
              <a:t>IoT</a:t>
            </a:r>
            <a:r>
              <a:rPr kumimoji="1" lang="es-EC" sz="1200" dirty="0">
                <a:ln w="12700">
                  <a:noFill/>
                </a:ln>
                <a:solidFill>
                  <a:srgbClr val="404040">
                    <a:alpha val="100000"/>
                  </a:srgbClr>
                </a:solidFill>
                <a:latin typeface="Poppins"/>
                <a:cs typeface="Poppins"/>
              </a:rPr>
              <a:t> son el puente entre el mundo físico y el digital. Un atacante que compromete un sensor de temperatura podría reportar falsamente que la sala está fría, provocando que el sistema de climatización de precisión (CRAC) se apague y los servidores se sobrecalienten y fallen.</a:t>
            </a:r>
          </a:p>
          <a:p>
            <a:pPr algn="l"/>
            <a:endParaRPr kumimoji="1" lang="zh-CN" altLang="en-US" sz="1400" dirty="0">
              <a:ln w="12700">
                <a:noFill/>
              </a:ln>
              <a:solidFill>
                <a:srgbClr val="404040">
                  <a:alpha val="100000"/>
                </a:srgbClr>
              </a:solidFill>
              <a:latin typeface="Poppins"/>
              <a:cs typeface="Poppins"/>
            </a:endParaRPr>
          </a:p>
        </p:txBody>
      </p:sp>
      <p:sp>
        <p:nvSpPr>
          <p:cNvPr id="6" name="标题 1"/>
          <p:cNvSpPr txBox="1"/>
          <p:nvPr/>
        </p:nvSpPr>
        <p:spPr>
          <a:xfrm>
            <a:off x="515862" y="1904554"/>
            <a:ext cx="812594" cy="812594"/>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709789" y="2098481"/>
            <a:ext cx="424740" cy="424740"/>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8" name="标题 1"/>
          <p:cNvSpPr txBox="1"/>
          <p:nvPr/>
        </p:nvSpPr>
        <p:spPr>
          <a:xfrm>
            <a:off x="3491159" y="2838375"/>
            <a:ext cx="2482205" cy="2040590"/>
          </a:xfrm>
          <a:prstGeom prst="rect">
            <a:avLst/>
          </a:prstGeom>
          <a:noFill/>
          <a:ln cap="sq">
            <a:noFill/>
          </a:ln>
          <a:effectLst/>
        </p:spPr>
        <p:txBody>
          <a:bodyPr vert="horz" wrap="square" lIns="64008" tIns="32004" rIns="64008" bIns="32004" rtlCol="0" anchor="ctr"/>
          <a:lstStyle/>
          <a:p>
            <a:pPr algn="r"/>
            <a:r>
              <a:rPr kumimoji="1" lang="en-US" altLang="zh-CN" sz="11500">
                <a:ln w="12700">
                  <a:noFill/>
                </a:ln>
                <a:solidFill>
                  <a:srgbClr val="FFFFFF">
                    <a:alpha val="80000"/>
                  </a:srgbClr>
                </a:solidFill>
                <a:latin typeface="poppins-bold"/>
                <a:ea typeface="poppins-bold"/>
                <a:cs typeface="poppins-bold"/>
              </a:rPr>
              <a:t>02</a:t>
            </a:r>
            <a:endParaRPr kumimoji="1" lang="zh-CN" altLang="en-US"/>
          </a:p>
        </p:txBody>
      </p:sp>
      <p:sp>
        <p:nvSpPr>
          <p:cNvPr id="9" name="标题 1"/>
          <p:cNvSpPr txBox="1"/>
          <p:nvPr/>
        </p:nvSpPr>
        <p:spPr>
          <a:xfrm>
            <a:off x="3114756" y="2781300"/>
            <a:ext cx="2635330" cy="729449"/>
          </a:xfrm>
          <a:prstGeom prst="rect">
            <a:avLst/>
          </a:prstGeom>
          <a:noFill/>
          <a:ln cap="sq">
            <a:noFill/>
          </a:ln>
          <a:effectLst/>
        </p:spPr>
        <p:txBody>
          <a:bodyPr vert="horz" wrap="square" lIns="64008" tIns="32004" rIns="64008" bIns="32004" rtlCol="0" anchor="ctr"/>
          <a:lstStyle/>
          <a:p>
            <a:pPr algn="l"/>
            <a:r>
              <a:rPr kumimoji="1" lang="en-US" altLang="zh-CN" sz="1600">
                <a:ln w="12700">
                  <a:noFill/>
                </a:ln>
                <a:solidFill>
                  <a:srgbClr val="262626">
                    <a:alpha val="100000"/>
                  </a:srgbClr>
                </a:solidFill>
                <a:latin typeface="poppins-bold"/>
                <a:ea typeface="poppins-bold"/>
                <a:cs typeface="poppins-bold"/>
              </a:rPr>
              <a:t>Contraseñas por Defecto en Equipos Críticos</a:t>
            </a:r>
            <a:endParaRPr kumimoji="1" lang="zh-CN" altLang="en-US"/>
          </a:p>
        </p:txBody>
      </p:sp>
      <p:sp>
        <p:nvSpPr>
          <p:cNvPr id="10" name="标题 1"/>
          <p:cNvSpPr txBox="1"/>
          <p:nvPr/>
        </p:nvSpPr>
        <p:spPr>
          <a:xfrm>
            <a:off x="3102056" y="3543837"/>
            <a:ext cx="2638344" cy="2459048"/>
          </a:xfrm>
          <a:prstGeom prst="rect">
            <a:avLst/>
          </a:prstGeom>
          <a:noFill/>
          <a:ln cap="sq">
            <a:noFill/>
          </a:ln>
          <a:effectLst/>
        </p:spPr>
        <p:txBody>
          <a:bodyPr vert="horz" wrap="square" lIns="64008" tIns="32004" rIns="64008" bIns="32004" rtlCol="0" anchor="t"/>
          <a:lstStyle/>
          <a:p>
            <a:pPr lvl="0"/>
            <a:r>
              <a:rPr kumimoji="1" lang="es-EC" sz="1200" dirty="0">
                <a:ln w="12700">
                  <a:noFill/>
                </a:ln>
                <a:solidFill>
                  <a:srgbClr val="404040">
                    <a:alpha val="100000"/>
                  </a:srgbClr>
                </a:solidFill>
                <a:latin typeface="Poppins"/>
                <a:cs typeface="Poppins"/>
              </a:rPr>
              <a:t>Muchos dispositivos de gestión de infraestructura, como Unidades de Distribución de Energía (PDU) inteligentes, sistemas de control de acceso o cámaras IP, vienen con credenciales de fábrica conocidas (</a:t>
            </a:r>
            <a:r>
              <a:rPr kumimoji="1" lang="es-EC" sz="1200" dirty="0" err="1">
                <a:ln w="12700">
                  <a:noFill/>
                </a:ln>
                <a:solidFill>
                  <a:srgbClr val="404040">
                    <a:alpha val="100000"/>
                  </a:srgbClr>
                </a:solidFill>
                <a:latin typeface="Poppins"/>
                <a:cs typeface="Poppins"/>
              </a:rPr>
              <a:t>admin</a:t>
            </a:r>
            <a:r>
              <a:rPr kumimoji="1" lang="es-EC" sz="1200" dirty="0">
                <a:ln w="12700">
                  <a:noFill/>
                </a:ln>
                <a:solidFill>
                  <a:srgbClr val="404040">
                    <a:alpha val="100000"/>
                  </a:srgbClr>
                </a:solidFill>
                <a:latin typeface="Poppins"/>
                <a:cs typeface="Poppins"/>
              </a:rPr>
              <a:t>/</a:t>
            </a:r>
            <a:r>
              <a:rPr kumimoji="1" lang="es-EC" sz="1200" dirty="0" err="1">
                <a:ln w="12700">
                  <a:noFill/>
                </a:ln>
                <a:solidFill>
                  <a:srgbClr val="404040">
                    <a:alpha val="100000"/>
                  </a:srgbClr>
                </a:solidFill>
                <a:latin typeface="Poppins"/>
                <a:cs typeface="Poppins"/>
              </a:rPr>
              <a:t>admin</a:t>
            </a:r>
            <a:r>
              <a:rPr kumimoji="1" lang="es-EC" sz="1200" dirty="0">
                <a:ln w="12700">
                  <a:noFill/>
                </a:ln>
                <a:solidFill>
                  <a:srgbClr val="404040">
                    <a:alpha val="100000"/>
                  </a:srgbClr>
                </a:solidFill>
                <a:latin typeface="Poppins"/>
                <a:cs typeface="Poppins"/>
              </a:rPr>
              <a:t>). Un atacante que escanea la red interna y las encuentra puede, de forma remota, cortar la energía a un rack completo de servidores.</a:t>
            </a:r>
          </a:p>
        </p:txBody>
      </p:sp>
      <p:sp>
        <p:nvSpPr>
          <p:cNvPr id="11" name="标题 1"/>
          <p:cNvSpPr txBox="1"/>
          <p:nvPr/>
        </p:nvSpPr>
        <p:spPr>
          <a:xfrm>
            <a:off x="3171297" y="1904554"/>
            <a:ext cx="812594" cy="812594"/>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3365224" y="2110688"/>
            <a:ext cx="424740" cy="400326"/>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13" name="标题 1"/>
          <p:cNvSpPr txBox="1"/>
          <p:nvPr/>
        </p:nvSpPr>
        <p:spPr>
          <a:xfrm>
            <a:off x="6333893" y="2838375"/>
            <a:ext cx="2482205" cy="2040590"/>
          </a:xfrm>
          <a:prstGeom prst="rect">
            <a:avLst/>
          </a:prstGeom>
          <a:noFill/>
          <a:ln cap="sq">
            <a:noFill/>
          </a:ln>
          <a:effectLst/>
        </p:spPr>
        <p:txBody>
          <a:bodyPr vert="horz" wrap="square" lIns="64008" tIns="32004" rIns="64008" bIns="32004" rtlCol="0" anchor="ctr"/>
          <a:lstStyle/>
          <a:p>
            <a:pPr algn="r"/>
            <a:r>
              <a:rPr kumimoji="1" lang="en-US" altLang="zh-CN" sz="11500">
                <a:ln w="12700">
                  <a:noFill/>
                </a:ln>
                <a:solidFill>
                  <a:srgbClr val="FFFFFF">
                    <a:alpha val="80000"/>
                  </a:srgbClr>
                </a:solidFill>
                <a:latin typeface="poppins-bold"/>
                <a:ea typeface="poppins-bold"/>
                <a:cs typeface="poppins-bold"/>
              </a:rPr>
              <a:t>03</a:t>
            </a:r>
            <a:endParaRPr kumimoji="1" lang="zh-CN" altLang="en-US"/>
          </a:p>
        </p:txBody>
      </p:sp>
      <p:sp>
        <p:nvSpPr>
          <p:cNvPr id="14" name="标题 1"/>
          <p:cNvSpPr txBox="1"/>
          <p:nvPr/>
        </p:nvSpPr>
        <p:spPr>
          <a:xfrm>
            <a:off x="5957490" y="2781300"/>
            <a:ext cx="2856310" cy="729449"/>
          </a:xfrm>
          <a:prstGeom prst="rect">
            <a:avLst/>
          </a:prstGeom>
          <a:noFill/>
          <a:ln cap="sq">
            <a:noFill/>
          </a:ln>
          <a:effectLst/>
        </p:spPr>
        <p:txBody>
          <a:bodyPr vert="horz" wrap="square" lIns="64008" tIns="32004" rIns="64008" bIns="32004" rtlCol="0" anchor="ctr"/>
          <a:lstStyle/>
          <a:p>
            <a:pPr algn="l"/>
            <a:r>
              <a:rPr kumimoji="1" lang="en-US" altLang="zh-CN" sz="1600">
                <a:ln w="12700">
                  <a:noFill/>
                </a:ln>
                <a:solidFill>
                  <a:srgbClr val="262626">
                    <a:alpha val="100000"/>
                  </a:srgbClr>
                </a:solidFill>
                <a:latin typeface="poppins-bold"/>
                <a:ea typeface="poppins-bold"/>
                <a:cs typeface="poppins-bold"/>
              </a:rPr>
              <a:t>Punto Ciego en la Gestión de Parches</a:t>
            </a:r>
            <a:endParaRPr kumimoji="1" lang="zh-CN" altLang="en-US"/>
          </a:p>
        </p:txBody>
      </p:sp>
      <p:sp>
        <p:nvSpPr>
          <p:cNvPr id="15" name="标题 1"/>
          <p:cNvSpPr txBox="1"/>
          <p:nvPr/>
        </p:nvSpPr>
        <p:spPr>
          <a:xfrm>
            <a:off x="5957490" y="3548052"/>
            <a:ext cx="2856310" cy="2459048"/>
          </a:xfrm>
          <a:prstGeom prst="rect">
            <a:avLst/>
          </a:prstGeom>
          <a:noFill/>
          <a:ln cap="sq">
            <a:noFill/>
          </a:ln>
          <a:effectLst/>
        </p:spPr>
        <p:txBody>
          <a:bodyPr vert="horz" wrap="square" lIns="64008" tIns="32004" rIns="64008" bIns="32004" rtlCol="0" anchor="t"/>
          <a:lstStyle/>
          <a:p>
            <a:pPr lvl="0"/>
            <a:r>
              <a:rPr kumimoji="1" lang="es-EC" sz="1200" dirty="0">
                <a:ln w="12700">
                  <a:noFill/>
                </a:ln>
                <a:solidFill>
                  <a:srgbClr val="404040">
                    <a:alpha val="100000"/>
                  </a:srgbClr>
                </a:solidFill>
                <a:latin typeface="Poppins"/>
                <a:cs typeface="Poppins"/>
              </a:rPr>
              <a:t>Como administradores, somos expertos en parchear nuestros servidores Windows y Linux. Pero, ¿con qué frecuencia actualizamos el firmware de las cámaras de seguridad o de los sensores de humedad? Estos dispositivos a menudo operan por años sin actualizaciones, convirtiéndose en vulnerabilidades permanentes y olvidadas dentro de nuestra red.</a:t>
            </a:r>
          </a:p>
        </p:txBody>
      </p:sp>
      <p:sp>
        <p:nvSpPr>
          <p:cNvPr id="16" name="标题 1"/>
          <p:cNvSpPr txBox="1"/>
          <p:nvPr/>
        </p:nvSpPr>
        <p:spPr>
          <a:xfrm>
            <a:off x="6070573" y="1904554"/>
            <a:ext cx="812594" cy="812594"/>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7" name="标题 1"/>
          <p:cNvSpPr txBox="1"/>
          <p:nvPr/>
        </p:nvSpPr>
        <p:spPr>
          <a:xfrm>
            <a:off x="6264500" y="2105332"/>
            <a:ext cx="424740" cy="411038"/>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18" name="标题 1"/>
          <p:cNvSpPr txBox="1"/>
          <p:nvPr/>
        </p:nvSpPr>
        <p:spPr>
          <a:xfrm>
            <a:off x="9404753" y="2838375"/>
            <a:ext cx="2482205" cy="2040590"/>
          </a:xfrm>
          <a:prstGeom prst="rect">
            <a:avLst/>
          </a:prstGeom>
          <a:noFill/>
          <a:ln cap="sq">
            <a:noFill/>
          </a:ln>
          <a:effectLst/>
        </p:spPr>
        <p:txBody>
          <a:bodyPr vert="horz" wrap="square" lIns="64008" tIns="32004" rIns="64008" bIns="32004" rtlCol="0" anchor="ctr"/>
          <a:lstStyle/>
          <a:p>
            <a:pPr algn="r"/>
            <a:r>
              <a:rPr kumimoji="1" lang="en-US" altLang="zh-CN" sz="11500">
                <a:ln w="12700">
                  <a:noFill/>
                </a:ln>
                <a:solidFill>
                  <a:srgbClr val="FFFFFF">
                    <a:alpha val="80000"/>
                  </a:srgbClr>
                </a:solidFill>
                <a:latin typeface="poppins-bold"/>
                <a:ea typeface="poppins-bold"/>
                <a:cs typeface="poppins-bold"/>
              </a:rPr>
              <a:t>04</a:t>
            </a:r>
            <a:endParaRPr kumimoji="1" lang="zh-CN" altLang="en-US"/>
          </a:p>
        </p:txBody>
      </p:sp>
      <p:sp>
        <p:nvSpPr>
          <p:cNvPr id="19" name="标题 1"/>
          <p:cNvSpPr txBox="1"/>
          <p:nvPr/>
        </p:nvSpPr>
        <p:spPr>
          <a:xfrm>
            <a:off x="9028350" y="2781300"/>
            <a:ext cx="2668350" cy="729449"/>
          </a:xfrm>
          <a:prstGeom prst="rect">
            <a:avLst/>
          </a:prstGeom>
          <a:noFill/>
          <a:ln cap="sq">
            <a:noFill/>
          </a:ln>
          <a:effectLst/>
        </p:spPr>
        <p:txBody>
          <a:bodyPr vert="horz" wrap="square" lIns="64008" tIns="32004" rIns="64008" bIns="32004" rtlCol="0" anchor="ctr"/>
          <a:lstStyle/>
          <a:p>
            <a:pPr algn="l"/>
            <a:r>
              <a:rPr kumimoji="1" lang="en-US" altLang="zh-CN" sz="1600">
                <a:ln w="12700">
                  <a:noFill/>
                </a:ln>
                <a:solidFill>
                  <a:srgbClr val="262626">
                    <a:alpha val="100000"/>
                  </a:srgbClr>
                </a:solidFill>
                <a:latin typeface="poppins-bold"/>
                <a:ea typeface="poppins-bold"/>
                <a:cs typeface="poppins-bold"/>
              </a:rPr>
              <a:t>Creación de "Pivotes" para Movimiento Lateral</a:t>
            </a:r>
            <a:endParaRPr kumimoji="1" lang="zh-CN" altLang="en-US"/>
          </a:p>
        </p:txBody>
      </p:sp>
      <p:sp>
        <p:nvSpPr>
          <p:cNvPr id="20" name="标题 1"/>
          <p:cNvSpPr txBox="1"/>
          <p:nvPr/>
        </p:nvSpPr>
        <p:spPr>
          <a:xfrm>
            <a:off x="9028350" y="3548052"/>
            <a:ext cx="2668350" cy="2459048"/>
          </a:xfrm>
          <a:prstGeom prst="rect">
            <a:avLst/>
          </a:prstGeom>
          <a:noFill/>
          <a:ln cap="sq">
            <a:noFill/>
          </a:ln>
          <a:effectLst/>
        </p:spPr>
        <p:txBody>
          <a:bodyPr vert="horz" wrap="square" lIns="64008" tIns="32004" rIns="64008" bIns="32004" rtlCol="0" anchor="t"/>
          <a:lstStyle/>
          <a:p>
            <a:r>
              <a:rPr kumimoji="1" lang="es-EC" sz="1200" dirty="0">
                <a:ln w="12700">
                  <a:noFill/>
                </a:ln>
                <a:solidFill>
                  <a:srgbClr val="404040">
                    <a:alpha val="100000"/>
                  </a:srgbClr>
                </a:solidFill>
                <a:latin typeface="Poppins"/>
                <a:cs typeface="Poppins"/>
              </a:rPr>
              <a:t>Un atacante que compromete un dispositivo </a:t>
            </a:r>
            <a:r>
              <a:rPr kumimoji="1" lang="es-EC" sz="1200" dirty="0" err="1">
                <a:ln w="12700">
                  <a:noFill/>
                </a:ln>
                <a:solidFill>
                  <a:srgbClr val="404040">
                    <a:alpha val="100000"/>
                  </a:srgbClr>
                </a:solidFill>
                <a:latin typeface="Poppins"/>
                <a:cs typeface="Poppins"/>
              </a:rPr>
              <a:t>IoT</a:t>
            </a:r>
            <a:r>
              <a:rPr kumimoji="1" lang="es-EC" sz="1200" dirty="0">
                <a:ln w="12700">
                  <a:noFill/>
                </a:ln>
                <a:solidFill>
                  <a:srgbClr val="404040">
                    <a:alpha val="100000"/>
                  </a:srgbClr>
                </a:solidFill>
                <a:latin typeface="Poppins"/>
                <a:cs typeface="Poppins"/>
              </a:rPr>
              <a:t> de baja seguridad, como una cámara IP en la red de operaciones, puede usarlo como un "pivote". Desde esa cámara, puede lanzar ataques al resto de la red interna (movimiento lateral), saltando a servidores de virtualización o bases de datos que de otro modo serían inaccesibles desde el exterior.</a:t>
            </a:r>
            <a:endParaRPr kumimoji="1" lang="zh-CN" altLang="en-US" sz="1200" dirty="0">
              <a:ln w="12700">
                <a:noFill/>
              </a:ln>
              <a:solidFill>
                <a:srgbClr val="404040">
                  <a:alpha val="100000"/>
                </a:srgbClr>
              </a:solidFill>
              <a:latin typeface="Poppins"/>
              <a:cs typeface="Poppins"/>
            </a:endParaRPr>
          </a:p>
        </p:txBody>
      </p:sp>
      <p:sp>
        <p:nvSpPr>
          <p:cNvPr id="21" name="标题 1"/>
          <p:cNvSpPr txBox="1"/>
          <p:nvPr/>
        </p:nvSpPr>
        <p:spPr>
          <a:xfrm>
            <a:off x="9141433" y="1904554"/>
            <a:ext cx="812594" cy="812594"/>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2" name="标题 1"/>
          <p:cNvSpPr txBox="1"/>
          <p:nvPr/>
        </p:nvSpPr>
        <p:spPr>
          <a:xfrm>
            <a:off x="9315244" y="2046108"/>
            <a:ext cx="486616" cy="441174"/>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23" name="标题 1"/>
          <p:cNvSpPr txBox="1"/>
          <p:nvPr/>
        </p:nvSpPr>
        <p:spPr>
          <a:xfrm>
            <a:off x="424100" y="536338"/>
            <a:ext cx="11066780" cy="432000"/>
          </a:xfrm>
          <a:prstGeom prst="rect">
            <a:avLst/>
          </a:prstGeom>
          <a:noFill/>
          <a:ln>
            <a:noFill/>
          </a:ln>
        </p:spPr>
        <p:txBody>
          <a:bodyPr vert="horz" wrap="square" lIns="0" tIns="0" rIns="0" bIns="0" rtlCol="0" anchor="ctr"/>
          <a:lstStyle/>
          <a:p>
            <a:pPr algn="l"/>
            <a:r>
              <a:rPr kumimoji="1" lang="en-US" altLang="zh-CN" sz="3104" dirty="0" err="1">
                <a:ln w="12700">
                  <a:noFill/>
                </a:ln>
                <a:solidFill>
                  <a:srgbClr val="4472C4">
                    <a:alpha val="100000"/>
                  </a:srgbClr>
                </a:solidFill>
                <a:latin typeface="poppins-bold"/>
                <a:ea typeface="poppins-bold"/>
                <a:cs typeface="poppins-bold"/>
              </a:rPr>
              <a:t>Principales</a:t>
            </a:r>
            <a:r>
              <a:rPr kumimoji="1" lang="en-US" altLang="zh-CN" sz="3104" dirty="0">
                <a:ln w="12700">
                  <a:noFill/>
                </a:ln>
                <a:solidFill>
                  <a:srgbClr val="4472C4">
                    <a:alpha val="100000"/>
                  </a:srgbClr>
                </a:solidFill>
                <a:latin typeface="poppins-bold"/>
                <a:ea typeface="poppins-bold"/>
                <a:cs typeface="poppins-bold"/>
              </a:rPr>
              <a:t> </a:t>
            </a:r>
            <a:r>
              <a:rPr kumimoji="1" lang="en-US" altLang="zh-CN" sz="3104" dirty="0" err="1">
                <a:ln w="12700">
                  <a:noFill/>
                </a:ln>
                <a:solidFill>
                  <a:srgbClr val="4472C4">
                    <a:alpha val="100000"/>
                  </a:srgbClr>
                </a:solidFill>
                <a:latin typeface="poppins-bold"/>
                <a:ea typeface="poppins-bold"/>
                <a:cs typeface="poppins-bold"/>
              </a:rPr>
              <a:t>Riesgos</a:t>
            </a:r>
            <a:r>
              <a:rPr kumimoji="1" lang="en-US" altLang="zh-CN" sz="3104" dirty="0">
                <a:ln w="12700">
                  <a:noFill/>
                </a:ln>
                <a:solidFill>
                  <a:srgbClr val="4472C4">
                    <a:alpha val="100000"/>
                  </a:srgbClr>
                </a:solidFill>
                <a:latin typeface="poppins-bold"/>
                <a:ea typeface="poppins-bold"/>
                <a:cs typeface="poppins-bold"/>
              </a:rPr>
              <a:t> del IoT </a:t>
            </a:r>
          </a:p>
          <a:p>
            <a:pPr algn="l"/>
            <a:r>
              <a:rPr kumimoji="1" lang="en-US" altLang="zh-CN" sz="3104" dirty="0" err="1">
                <a:ln w="12700">
                  <a:noFill/>
                </a:ln>
                <a:solidFill>
                  <a:srgbClr val="4472C4">
                    <a:alpha val="100000"/>
                  </a:srgbClr>
                </a:solidFill>
                <a:latin typeface="poppins-bold"/>
                <a:ea typeface="poppins-bold"/>
                <a:cs typeface="poppins-bold"/>
              </a:rPr>
              <a:t>en</a:t>
            </a:r>
            <a:r>
              <a:rPr kumimoji="1" lang="en-US" altLang="zh-CN" sz="3104" dirty="0">
                <a:ln w="12700">
                  <a:noFill/>
                </a:ln>
                <a:solidFill>
                  <a:srgbClr val="4472C4">
                    <a:alpha val="100000"/>
                  </a:srgbClr>
                </a:solidFill>
                <a:latin typeface="poppins-bold"/>
                <a:ea typeface="poppins-bold"/>
                <a:cs typeface="poppins-bold"/>
              </a:rPr>
              <a:t> </a:t>
            </a:r>
            <a:r>
              <a:rPr kumimoji="1" lang="en-US" altLang="zh-CN" sz="3104" dirty="0" err="1">
                <a:ln w="12700">
                  <a:noFill/>
                </a:ln>
                <a:solidFill>
                  <a:srgbClr val="4472C4">
                    <a:alpha val="100000"/>
                  </a:srgbClr>
                </a:solidFill>
                <a:latin typeface="poppins-bold"/>
                <a:ea typeface="poppins-bold"/>
                <a:cs typeface="poppins-bold"/>
              </a:rPr>
              <a:t>el</a:t>
            </a:r>
            <a:r>
              <a:rPr kumimoji="1" lang="en-US" altLang="zh-CN" sz="3104" dirty="0">
                <a:ln w="12700">
                  <a:noFill/>
                </a:ln>
                <a:solidFill>
                  <a:srgbClr val="4472C4">
                    <a:alpha val="100000"/>
                  </a:srgbClr>
                </a:solidFill>
                <a:latin typeface="poppins-bold"/>
                <a:ea typeface="poppins-bold"/>
                <a:cs typeface="poppins-bold"/>
              </a:rPr>
              <a:t> Centro de </a:t>
            </a:r>
            <a:r>
              <a:rPr kumimoji="1" lang="en-US" altLang="zh-CN" sz="3104" dirty="0" err="1">
                <a:ln w="12700">
                  <a:noFill/>
                </a:ln>
                <a:solidFill>
                  <a:srgbClr val="4472C4">
                    <a:alpha val="100000"/>
                  </a:srgbClr>
                </a:solidFill>
                <a:latin typeface="poppins-bold"/>
                <a:ea typeface="poppins-bold"/>
                <a:cs typeface="poppins-bold"/>
              </a:rPr>
              <a:t>Cómputo</a:t>
            </a:r>
            <a:endParaRPr kumimoji="1" lang="zh-CN" altLang="en-US" dirty="0"/>
          </a:p>
        </p:txBody>
      </p:sp>
      <p:pic>
        <p:nvPicPr>
          <p:cNvPr id="25" name="Imagen 24">
            <a:extLst>
              <a:ext uri="{FF2B5EF4-FFF2-40B4-BE49-F238E27FC236}">
                <a16:creationId xmlns:a16="http://schemas.microsoft.com/office/drawing/2014/main" id="{03D7B857-CB9F-61AF-632F-72D606C19D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flipH="1">
            <a:off x="174171" y="1016001"/>
            <a:ext cx="6662058" cy="4586514"/>
          </a:xfrm>
          <a:prstGeom prst="rect">
            <a:avLst/>
          </a:prstGeom>
          <a:noFill/>
          <a:ln>
            <a:noFill/>
          </a:ln>
        </p:spPr>
      </p:pic>
      <p:sp>
        <p:nvSpPr>
          <p:cNvPr id="4" name="标题 1"/>
          <p:cNvSpPr txBox="1"/>
          <p:nvPr/>
        </p:nvSpPr>
        <p:spPr>
          <a:xfrm>
            <a:off x="6879771" y="3359947"/>
            <a:ext cx="4760688" cy="1255728"/>
          </a:xfrm>
          <a:prstGeom prst="rect">
            <a:avLst/>
          </a:prstGeom>
          <a:noFill/>
          <a:ln>
            <a:noFill/>
          </a:ln>
        </p:spPr>
        <p:txBody>
          <a:bodyPr vert="horz" wrap="square" lIns="91440" tIns="45720" rIns="91440" bIns="45720" rtlCol="0" anchor="ctr"/>
          <a:lstStyle/>
          <a:p>
            <a:pPr algn="ctr"/>
            <a:r>
              <a:rPr kumimoji="1" lang="en-US" altLang="zh-CN" sz="2039">
                <a:ln w="12700">
                  <a:noFill/>
                </a:ln>
                <a:solidFill>
                  <a:srgbClr val="000000">
                    <a:alpha val="100000"/>
                  </a:srgbClr>
                </a:solidFill>
                <a:latin typeface="poppins-bold"/>
                <a:ea typeface="poppins-bold"/>
                <a:cs typeface="poppins-bold"/>
              </a:rPr>
              <a:t>Vulnerabilidades en IA Aplicada a la Gestión del Datacenter</a:t>
            </a:r>
            <a:endParaRPr kumimoji="1" lang="zh-CN" altLang="en-US"/>
          </a:p>
        </p:txBody>
      </p:sp>
      <p:sp>
        <p:nvSpPr>
          <p:cNvPr id="6" name="标题 1"/>
          <p:cNvSpPr txBox="1"/>
          <p:nvPr/>
        </p:nvSpPr>
        <p:spPr>
          <a:xfrm flipH="1">
            <a:off x="8745588" y="2147252"/>
            <a:ext cx="1029054" cy="1029054"/>
          </a:xfrm>
          <a:prstGeom prst="ellips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8031679" y="1262814"/>
            <a:ext cx="2456872" cy="1667352"/>
          </a:xfrm>
          <a:prstGeom prst="rect">
            <a:avLst/>
          </a:prstGeom>
          <a:noFill/>
          <a:ln>
            <a:noFill/>
          </a:ln>
        </p:spPr>
        <p:txBody>
          <a:bodyPr vert="horz" wrap="square" lIns="0" tIns="0" rIns="0" bIns="0" rtlCol="0" anchor="b"/>
          <a:lstStyle/>
          <a:p>
            <a:pPr algn="ctr"/>
            <a:r>
              <a:rPr kumimoji="1" lang="en-US" altLang="zh-CN" sz="4000">
                <a:ln w="12700">
                  <a:noFill/>
                </a:ln>
                <a:solidFill>
                  <a:srgbClr val="FFFFFF">
                    <a:alpha val="100000"/>
                  </a:srgbClr>
                </a:solidFill>
                <a:latin typeface="Barlow Condensed Medium"/>
                <a:ea typeface="Barlow Condensed Medium"/>
                <a:cs typeface="Barlow Condensed Medium"/>
              </a:rPr>
              <a:t> 03</a:t>
            </a:r>
            <a:endParaRPr kumimoji="1" lang="zh-CN" altLang="en-US"/>
          </a:p>
        </p:txBody>
      </p:sp>
      <p:pic>
        <p:nvPicPr>
          <p:cNvPr id="9" name="Imagen 8">
            <a:extLst>
              <a:ext uri="{FF2B5EF4-FFF2-40B4-BE49-F238E27FC236}">
                <a16:creationId xmlns:a16="http://schemas.microsoft.com/office/drawing/2014/main" id="{99EB65B4-8E0F-BD05-9727-D26555290B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565452" y="4543909"/>
            <a:ext cx="5981395" cy="662048"/>
          </a:xfrm>
          <a:prstGeom prst="rect">
            <a:avLst/>
          </a:prstGeom>
          <a:noFill/>
          <a:ln>
            <a:noFill/>
          </a:ln>
        </p:spPr>
        <p:txBody>
          <a:bodyPr vert="horz" wrap="square" lIns="0" tIns="0" rIns="0" bIns="0" rtlCol="0" anchor="b"/>
          <a:lstStyle/>
          <a:p>
            <a:pPr algn="l"/>
            <a:r>
              <a:rPr kumimoji="1" lang="en-US" altLang="zh-CN" sz="1600" dirty="0" err="1">
                <a:ln w="12700">
                  <a:noFill/>
                </a:ln>
                <a:solidFill>
                  <a:srgbClr val="262626">
                    <a:alpha val="100000"/>
                  </a:srgbClr>
                </a:solidFill>
                <a:latin typeface="poppins-bold"/>
                <a:ea typeface="poppins-bold"/>
                <a:cs typeface="poppins-bold"/>
              </a:rPr>
              <a:t>Ataques</a:t>
            </a:r>
            <a:r>
              <a:rPr kumimoji="1" lang="en-US" altLang="zh-CN" sz="1600" dirty="0">
                <a:ln w="12700">
                  <a:noFill/>
                </a:ln>
                <a:solidFill>
                  <a:srgbClr val="262626">
                    <a:alpha val="100000"/>
                  </a:srgbClr>
                </a:solidFill>
                <a:latin typeface="poppins-bold"/>
                <a:ea typeface="poppins-bold"/>
                <a:cs typeface="poppins-bold"/>
              </a:rPr>
              <a:t> de </a:t>
            </a:r>
            <a:r>
              <a:rPr kumimoji="1" lang="en-US" altLang="zh-CN" sz="1600" dirty="0" err="1">
                <a:ln w="12700">
                  <a:noFill/>
                </a:ln>
                <a:solidFill>
                  <a:srgbClr val="262626">
                    <a:alpha val="100000"/>
                  </a:srgbClr>
                </a:solidFill>
                <a:latin typeface="poppins-bold"/>
                <a:ea typeface="poppins-bold"/>
                <a:cs typeface="poppins-bold"/>
              </a:rPr>
              <a:t>Evasión</a:t>
            </a:r>
            <a:r>
              <a:rPr kumimoji="1" lang="en-US" altLang="zh-CN" sz="1600" dirty="0">
                <a:ln w="12700">
                  <a:noFill/>
                </a:ln>
                <a:solidFill>
                  <a:srgbClr val="262626">
                    <a:alpha val="100000"/>
                  </a:srgbClr>
                </a:solidFill>
                <a:latin typeface="poppins-bold"/>
                <a:ea typeface="poppins-bold"/>
                <a:cs typeface="poppins-bold"/>
              </a:rPr>
              <a:t> contra SIEM con IA</a:t>
            </a:r>
            <a:endParaRPr kumimoji="1" lang="zh-CN" altLang="en-US" dirty="0"/>
          </a:p>
        </p:txBody>
      </p:sp>
      <p:sp>
        <p:nvSpPr>
          <p:cNvPr id="4" name="标题 1"/>
          <p:cNvSpPr txBox="1"/>
          <p:nvPr/>
        </p:nvSpPr>
        <p:spPr>
          <a:xfrm>
            <a:off x="565452" y="5270128"/>
            <a:ext cx="4972052" cy="1118147"/>
          </a:xfrm>
          <a:prstGeom prst="rect">
            <a:avLst/>
          </a:prstGeom>
          <a:noFill/>
          <a:ln>
            <a:noFill/>
          </a:ln>
        </p:spPr>
        <p:txBody>
          <a:bodyPr vert="horz" wrap="square" lIns="0" tIns="0" rIns="0" bIns="0" rtlCol="0" anchor="t"/>
          <a:lstStyle/>
          <a:p>
            <a:pPr lvl="0"/>
            <a:r>
              <a:rPr kumimoji="1" lang="es-EC" sz="1225" dirty="0">
                <a:ln w="12700">
                  <a:noFill/>
                </a:ln>
                <a:solidFill>
                  <a:srgbClr val="262626">
                    <a:alpha val="100000"/>
                  </a:srgbClr>
                </a:solidFill>
                <a:latin typeface="Poppins"/>
                <a:cs typeface="Poppins"/>
              </a:rPr>
              <a:t>Los sistemas de Gestión de Información y Eventos de Seguridad (SIEM) modernos usan IA para detectar patrones de ataque. Un atacante sofisticado, conociendo el tipo de modelo de IA que se utiliza, puede modificar su ataque para que sea "de bajo perfil", disfrazando su actividad maliciosa como si fuera tráfico normal. De esta manera, evade la detección de la IA y opera sin ser visto.</a:t>
            </a:r>
          </a:p>
        </p:txBody>
      </p:sp>
      <p:sp>
        <p:nvSpPr>
          <p:cNvPr id="7" name="标题 1"/>
          <p:cNvSpPr txBox="1"/>
          <p:nvPr/>
        </p:nvSpPr>
        <p:spPr>
          <a:xfrm>
            <a:off x="565452" y="1182007"/>
            <a:ext cx="5981395" cy="662048"/>
          </a:xfrm>
          <a:prstGeom prst="rect">
            <a:avLst/>
          </a:prstGeom>
          <a:noFill/>
          <a:ln>
            <a:noFill/>
          </a:ln>
        </p:spPr>
        <p:txBody>
          <a:bodyPr vert="horz" wrap="square" lIns="0" tIns="0" rIns="0" bIns="0" rtlCol="0" anchor="b"/>
          <a:lstStyle/>
          <a:p>
            <a:pPr algn="l"/>
            <a:r>
              <a:rPr kumimoji="1" lang="en-US" altLang="zh-CN" sz="1600" dirty="0" err="1">
                <a:ln w="12700">
                  <a:noFill/>
                </a:ln>
                <a:solidFill>
                  <a:srgbClr val="262626">
                    <a:alpha val="100000"/>
                  </a:srgbClr>
                </a:solidFill>
                <a:latin typeface="poppins-bold"/>
                <a:ea typeface="poppins-bold"/>
                <a:cs typeface="poppins-bold"/>
              </a:rPr>
              <a:t>Envenenamiento</a:t>
            </a:r>
            <a:r>
              <a:rPr kumimoji="1" lang="en-US" altLang="zh-CN" sz="1600" dirty="0">
                <a:ln w="12700">
                  <a:noFill/>
                </a:ln>
                <a:solidFill>
                  <a:srgbClr val="262626">
                    <a:alpha val="100000"/>
                  </a:srgbClr>
                </a:solidFill>
                <a:latin typeface="poppins-bold"/>
                <a:ea typeface="poppins-bold"/>
                <a:cs typeface="poppins-bold"/>
              </a:rPr>
              <a:t> de Datos </a:t>
            </a:r>
            <a:r>
              <a:rPr kumimoji="1" lang="en-US" altLang="zh-CN" sz="1600" dirty="0" err="1">
                <a:ln w="12700">
                  <a:noFill/>
                </a:ln>
                <a:solidFill>
                  <a:srgbClr val="262626">
                    <a:alpha val="100000"/>
                  </a:srgbClr>
                </a:solidFill>
                <a:latin typeface="poppins-bold"/>
                <a:ea typeface="poppins-bold"/>
                <a:cs typeface="poppins-bold"/>
              </a:rPr>
              <a:t>en</a:t>
            </a:r>
            <a:r>
              <a:rPr kumimoji="1" lang="en-US" altLang="zh-CN" sz="1600" dirty="0">
                <a:ln w="12700">
                  <a:noFill/>
                </a:ln>
                <a:solidFill>
                  <a:srgbClr val="262626">
                    <a:alpha val="100000"/>
                  </a:srgbClr>
                </a:solidFill>
                <a:latin typeface="poppins-bold"/>
                <a:ea typeface="poppins-bold"/>
                <a:cs typeface="poppins-bold"/>
              </a:rPr>
              <a:t> Mantenimiento </a:t>
            </a:r>
            <a:r>
              <a:rPr kumimoji="1" lang="en-US" altLang="zh-CN" sz="1600" dirty="0" err="1">
                <a:ln w="12700">
                  <a:noFill/>
                </a:ln>
                <a:solidFill>
                  <a:srgbClr val="262626">
                    <a:alpha val="100000"/>
                  </a:srgbClr>
                </a:solidFill>
                <a:latin typeface="poppins-bold"/>
                <a:ea typeface="poppins-bold"/>
                <a:cs typeface="poppins-bold"/>
              </a:rPr>
              <a:t>Predictivo</a:t>
            </a:r>
            <a:endParaRPr kumimoji="1" lang="zh-CN" altLang="en-US" dirty="0"/>
          </a:p>
        </p:txBody>
      </p:sp>
      <p:sp>
        <p:nvSpPr>
          <p:cNvPr id="8" name="标题 1"/>
          <p:cNvSpPr txBox="1"/>
          <p:nvPr/>
        </p:nvSpPr>
        <p:spPr>
          <a:xfrm>
            <a:off x="565453" y="1939934"/>
            <a:ext cx="4972051" cy="1250202"/>
          </a:xfrm>
          <a:prstGeom prst="rect">
            <a:avLst/>
          </a:prstGeom>
          <a:noFill/>
          <a:ln>
            <a:noFill/>
          </a:ln>
        </p:spPr>
        <p:txBody>
          <a:bodyPr vert="horz" wrap="square" lIns="0" tIns="0" rIns="0" bIns="0" rtlCol="0" anchor="t"/>
          <a:lstStyle/>
          <a:p>
            <a:r>
              <a:rPr kumimoji="1" lang="es-EC" sz="1225" dirty="0">
                <a:ln w="12700">
                  <a:noFill/>
                </a:ln>
                <a:solidFill>
                  <a:srgbClr val="262626">
                    <a:alpha val="100000"/>
                  </a:srgbClr>
                </a:solidFill>
                <a:latin typeface="Poppins"/>
                <a:cs typeface="Poppins"/>
              </a:rPr>
              <a:t>Muchas plataformas de </a:t>
            </a:r>
            <a:r>
              <a:rPr kumimoji="1" lang="es-EC" sz="1225" dirty="0" err="1">
                <a:ln w="12700">
                  <a:noFill/>
                </a:ln>
                <a:solidFill>
                  <a:srgbClr val="262626">
                    <a:alpha val="100000"/>
                  </a:srgbClr>
                </a:solidFill>
                <a:latin typeface="Poppins"/>
                <a:cs typeface="Poppins"/>
              </a:rPr>
              <a:t>AIOps</a:t>
            </a:r>
            <a:r>
              <a:rPr kumimoji="1" lang="es-EC" sz="1225" dirty="0">
                <a:ln w="12700">
                  <a:noFill/>
                </a:ln>
                <a:solidFill>
                  <a:srgbClr val="262626">
                    <a:alpha val="100000"/>
                  </a:srgbClr>
                </a:solidFill>
                <a:latin typeface="Poppins"/>
                <a:cs typeface="Poppins"/>
              </a:rPr>
              <a:t> analizan los logs de los servidores para predecir fallos de hardware. Un atacante podría inyectar sutilmente datos de log falsos y corruptos en el sistema de recolección. Con el tiempo, esto puede "entrenar" al modelo de IA para que ignore las señales reales de un fallo inminente de un disco duro o una fuente de poder, llevando a una caída inesperada del sistema.</a:t>
            </a:r>
            <a:endParaRPr kumimoji="1" lang="zh-CN" altLang="en-US" sz="1225" dirty="0">
              <a:ln w="12700">
                <a:noFill/>
              </a:ln>
              <a:solidFill>
                <a:srgbClr val="262626">
                  <a:alpha val="100000"/>
                </a:srgbClr>
              </a:solidFill>
              <a:latin typeface="Poppins"/>
              <a:cs typeface="Poppins"/>
            </a:endParaRPr>
          </a:p>
        </p:txBody>
      </p:sp>
      <p:sp>
        <p:nvSpPr>
          <p:cNvPr id="11" name="标题 1"/>
          <p:cNvSpPr txBox="1"/>
          <p:nvPr/>
        </p:nvSpPr>
        <p:spPr>
          <a:xfrm>
            <a:off x="6306817" y="3079852"/>
            <a:ext cx="5981395" cy="662048"/>
          </a:xfrm>
          <a:prstGeom prst="rect">
            <a:avLst/>
          </a:prstGeom>
          <a:noFill/>
          <a:ln>
            <a:noFill/>
          </a:ln>
        </p:spPr>
        <p:txBody>
          <a:bodyPr vert="horz" wrap="square" lIns="0" tIns="0" rIns="0" bIns="0" rtlCol="0" anchor="b"/>
          <a:lstStyle/>
          <a:p>
            <a:pPr algn="l"/>
            <a:endParaRPr kumimoji="1" lang="en-US" altLang="zh-CN" sz="1600" dirty="0">
              <a:ln w="12700">
                <a:noFill/>
              </a:ln>
              <a:solidFill>
                <a:srgbClr val="262626">
                  <a:alpha val="100000"/>
                </a:srgbClr>
              </a:solidFill>
              <a:latin typeface="poppins-bold"/>
              <a:ea typeface="poppins-bold"/>
              <a:cs typeface="poppins-bold"/>
            </a:endParaRPr>
          </a:p>
          <a:p>
            <a:pPr algn="l"/>
            <a:endParaRPr kumimoji="1" lang="en-US" altLang="zh-CN" sz="1600" dirty="0">
              <a:ln w="12700">
                <a:noFill/>
              </a:ln>
              <a:solidFill>
                <a:srgbClr val="262626">
                  <a:alpha val="100000"/>
                </a:srgbClr>
              </a:solidFill>
              <a:latin typeface="poppins-bold"/>
              <a:ea typeface="poppins-bold"/>
              <a:cs typeface="poppins-bold"/>
            </a:endParaRPr>
          </a:p>
          <a:p>
            <a:pPr algn="l"/>
            <a:endParaRPr kumimoji="1" lang="en-US" altLang="zh-CN" sz="1600" dirty="0">
              <a:ln w="12700">
                <a:noFill/>
              </a:ln>
              <a:solidFill>
                <a:srgbClr val="262626">
                  <a:alpha val="100000"/>
                </a:srgbClr>
              </a:solidFill>
              <a:latin typeface="poppins-bold"/>
              <a:ea typeface="poppins-bold"/>
              <a:cs typeface="poppins-bold"/>
            </a:endParaRPr>
          </a:p>
          <a:p>
            <a:pPr algn="l"/>
            <a:endParaRPr kumimoji="1" lang="en-US" altLang="zh-CN" sz="1600" dirty="0">
              <a:ln w="12700">
                <a:noFill/>
              </a:ln>
              <a:solidFill>
                <a:srgbClr val="262626">
                  <a:alpha val="100000"/>
                </a:srgbClr>
              </a:solidFill>
              <a:latin typeface="poppins-bold"/>
              <a:ea typeface="poppins-bold"/>
              <a:cs typeface="poppins-bold"/>
            </a:endParaRPr>
          </a:p>
          <a:p>
            <a:pPr algn="l"/>
            <a:r>
              <a:rPr kumimoji="1" lang="en-US" altLang="zh-CN" sz="1600" dirty="0" err="1">
                <a:ln w="12700">
                  <a:noFill/>
                </a:ln>
                <a:solidFill>
                  <a:srgbClr val="262626">
                    <a:alpha val="100000"/>
                  </a:srgbClr>
                </a:solidFill>
                <a:latin typeface="poppins-bold"/>
                <a:ea typeface="poppins-bold"/>
                <a:cs typeface="poppins-bold"/>
              </a:rPr>
              <a:t>Manipulación</a:t>
            </a:r>
            <a:r>
              <a:rPr kumimoji="1" lang="en-US" altLang="zh-CN" sz="1600" dirty="0">
                <a:ln w="12700">
                  <a:noFill/>
                </a:ln>
                <a:solidFill>
                  <a:srgbClr val="262626">
                    <a:alpha val="100000"/>
                  </a:srgbClr>
                </a:solidFill>
                <a:latin typeface="poppins-bold"/>
                <a:ea typeface="poppins-bold"/>
                <a:cs typeface="poppins-bold"/>
              </a:rPr>
              <a:t> de la </a:t>
            </a:r>
            <a:r>
              <a:rPr kumimoji="1" lang="en-US" altLang="zh-CN" sz="1600" dirty="0" err="1">
                <a:ln w="12700">
                  <a:noFill/>
                </a:ln>
                <a:solidFill>
                  <a:srgbClr val="262626">
                    <a:alpha val="100000"/>
                  </a:srgbClr>
                </a:solidFill>
                <a:latin typeface="poppins-bold"/>
                <a:ea typeface="poppins-bold"/>
                <a:cs typeface="poppins-bold"/>
              </a:rPr>
              <a:t>Optimización</a:t>
            </a:r>
            <a:r>
              <a:rPr kumimoji="1" lang="en-US" altLang="zh-CN" sz="1600" dirty="0">
                <a:ln w="12700">
                  <a:noFill/>
                </a:ln>
                <a:solidFill>
                  <a:srgbClr val="262626">
                    <a:alpha val="100000"/>
                  </a:srgbClr>
                </a:solidFill>
                <a:latin typeface="poppins-bold"/>
                <a:ea typeface="poppins-bold"/>
                <a:cs typeface="poppins-bold"/>
              </a:rPr>
              <a:t> de Cargas de </a:t>
            </a:r>
            <a:r>
              <a:rPr kumimoji="1" lang="en-US" altLang="zh-CN" sz="1600" dirty="0" err="1">
                <a:ln w="12700">
                  <a:noFill/>
                </a:ln>
                <a:solidFill>
                  <a:srgbClr val="262626">
                    <a:alpha val="100000"/>
                  </a:srgbClr>
                </a:solidFill>
                <a:latin typeface="poppins-bold"/>
                <a:ea typeface="poppins-bold"/>
                <a:cs typeface="poppins-bold"/>
              </a:rPr>
              <a:t>Trabajo</a:t>
            </a:r>
            <a:endParaRPr kumimoji="1" lang="zh-CN" altLang="en-US" dirty="0"/>
          </a:p>
        </p:txBody>
      </p:sp>
      <p:sp>
        <p:nvSpPr>
          <p:cNvPr id="12" name="标题 1"/>
          <p:cNvSpPr txBox="1"/>
          <p:nvPr/>
        </p:nvSpPr>
        <p:spPr>
          <a:xfrm>
            <a:off x="6306817" y="3831977"/>
            <a:ext cx="5530547" cy="1042120"/>
          </a:xfrm>
          <a:prstGeom prst="rect">
            <a:avLst/>
          </a:prstGeom>
          <a:noFill/>
          <a:ln>
            <a:noFill/>
          </a:ln>
        </p:spPr>
        <p:txBody>
          <a:bodyPr vert="horz" wrap="square" lIns="0" tIns="0" rIns="0" bIns="0" rtlCol="0" anchor="t"/>
          <a:lstStyle/>
          <a:p>
            <a:r>
              <a:rPr kumimoji="1" lang="es-EC" sz="1225" dirty="0">
                <a:ln w="12700">
                  <a:noFill/>
                </a:ln>
                <a:solidFill>
                  <a:srgbClr val="262626">
                    <a:alpha val="100000"/>
                  </a:srgbClr>
                </a:solidFill>
                <a:latin typeface="Poppins"/>
                <a:cs typeface="Poppins"/>
              </a:rPr>
              <a:t>Algunos sistemas de virtualización usan IA para mover máquinas virtuales entre hosts físicos y balancear la carga de trabajo. Un atacante que logre influir en los datos de rendimiento que el modelo analiza (por ejemplo, reportando falsamente que un host está sobrecargado) podría forzar al sistema a mover una máquina virtual crítica a un host menos seguro que él ya ha comprometido.</a:t>
            </a:r>
            <a:endParaRPr kumimoji="1" lang="zh-CN" altLang="en-US" sz="1225" dirty="0">
              <a:ln w="12700">
                <a:noFill/>
              </a:ln>
              <a:solidFill>
                <a:srgbClr val="262626">
                  <a:alpha val="100000"/>
                </a:srgbClr>
              </a:solidFill>
              <a:latin typeface="Poppins"/>
              <a:cs typeface="Poppins"/>
            </a:endParaRPr>
          </a:p>
        </p:txBody>
      </p:sp>
      <p:sp>
        <p:nvSpPr>
          <p:cNvPr id="21" name="标题 1"/>
          <p:cNvSpPr txBox="1"/>
          <p:nvPr/>
        </p:nvSpPr>
        <p:spPr>
          <a:xfrm>
            <a:off x="260350" y="486068"/>
            <a:ext cx="11066780" cy="432000"/>
          </a:xfrm>
          <a:prstGeom prst="rect">
            <a:avLst/>
          </a:prstGeom>
          <a:noFill/>
          <a:ln>
            <a:noFill/>
          </a:ln>
        </p:spPr>
        <p:txBody>
          <a:bodyPr vert="horz" wrap="square" lIns="0" tIns="0" rIns="0" bIns="0" rtlCol="0" anchor="ctr"/>
          <a:lstStyle/>
          <a:p>
            <a:pPr algn="l"/>
            <a:r>
              <a:rPr kumimoji="1" lang="en-US" altLang="zh-CN" sz="2999" dirty="0" err="1">
                <a:ln w="12700">
                  <a:noFill/>
                </a:ln>
                <a:solidFill>
                  <a:srgbClr val="4472C4">
                    <a:alpha val="100000"/>
                  </a:srgbClr>
                </a:solidFill>
                <a:latin typeface="poppins-bold"/>
                <a:ea typeface="poppins-bold"/>
                <a:cs typeface="poppins-bold"/>
              </a:rPr>
              <a:t>Principales</a:t>
            </a:r>
            <a:r>
              <a:rPr kumimoji="1" lang="en-US" altLang="zh-CN" sz="2999" dirty="0">
                <a:ln w="12700">
                  <a:noFill/>
                </a:ln>
                <a:solidFill>
                  <a:srgbClr val="4472C4">
                    <a:alpha val="100000"/>
                  </a:srgbClr>
                </a:solidFill>
                <a:latin typeface="poppins-bold"/>
                <a:ea typeface="poppins-bold"/>
                <a:cs typeface="poppins-bold"/>
              </a:rPr>
              <a:t> </a:t>
            </a:r>
            <a:r>
              <a:rPr kumimoji="1" lang="en-US" altLang="zh-CN" sz="2999" dirty="0" err="1">
                <a:ln w="12700">
                  <a:noFill/>
                </a:ln>
                <a:solidFill>
                  <a:srgbClr val="4472C4">
                    <a:alpha val="100000"/>
                  </a:srgbClr>
                </a:solidFill>
                <a:latin typeface="poppins-bold"/>
                <a:ea typeface="poppins-bold"/>
                <a:cs typeface="poppins-bold"/>
              </a:rPr>
              <a:t>Vulnerabilidades</a:t>
            </a:r>
            <a:r>
              <a:rPr kumimoji="1" lang="en-US" altLang="zh-CN" sz="2999" dirty="0">
                <a:ln w="12700">
                  <a:noFill/>
                </a:ln>
                <a:solidFill>
                  <a:srgbClr val="4472C4">
                    <a:alpha val="100000"/>
                  </a:srgbClr>
                </a:solidFill>
                <a:latin typeface="poppins-bold"/>
                <a:ea typeface="poppins-bold"/>
                <a:cs typeface="poppins-bold"/>
              </a:rPr>
              <a:t> de</a:t>
            </a:r>
          </a:p>
          <a:p>
            <a:pPr algn="l"/>
            <a:r>
              <a:rPr kumimoji="1" lang="en-US" altLang="zh-CN" sz="2999" dirty="0">
                <a:ln w="12700">
                  <a:noFill/>
                </a:ln>
                <a:solidFill>
                  <a:srgbClr val="4472C4">
                    <a:alpha val="100000"/>
                  </a:srgbClr>
                </a:solidFill>
                <a:latin typeface="poppins-bold"/>
                <a:ea typeface="poppins-bold"/>
                <a:cs typeface="poppins-bold"/>
              </a:rPr>
              <a:t> la IA </a:t>
            </a:r>
            <a:r>
              <a:rPr kumimoji="1" lang="en-US" altLang="zh-CN" sz="2999" dirty="0" err="1">
                <a:ln w="12700">
                  <a:noFill/>
                </a:ln>
                <a:solidFill>
                  <a:srgbClr val="4472C4">
                    <a:alpha val="100000"/>
                  </a:srgbClr>
                </a:solidFill>
                <a:latin typeface="poppins-bold"/>
                <a:ea typeface="poppins-bold"/>
                <a:cs typeface="poppins-bold"/>
              </a:rPr>
              <a:t>en</a:t>
            </a:r>
            <a:r>
              <a:rPr kumimoji="1" lang="en-US" altLang="zh-CN" sz="2999" dirty="0">
                <a:ln w="12700">
                  <a:noFill/>
                </a:ln>
                <a:solidFill>
                  <a:srgbClr val="4472C4">
                    <a:alpha val="100000"/>
                  </a:srgbClr>
                </a:solidFill>
                <a:latin typeface="poppins-bold"/>
                <a:ea typeface="poppins-bold"/>
                <a:cs typeface="poppins-bold"/>
              </a:rPr>
              <a:t> </a:t>
            </a:r>
            <a:r>
              <a:rPr kumimoji="1" lang="en-US" altLang="zh-CN" sz="2999" dirty="0" err="1">
                <a:ln w="12700">
                  <a:noFill/>
                </a:ln>
                <a:solidFill>
                  <a:srgbClr val="4472C4">
                    <a:alpha val="100000"/>
                  </a:srgbClr>
                </a:solidFill>
                <a:latin typeface="poppins-bold"/>
                <a:ea typeface="poppins-bold"/>
                <a:cs typeface="poppins-bold"/>
              </a:rPr>
              <a:t>el</a:t>
            </a:r>
            <a:r>
              <a:rPr kumimoji="1" lang="en-US" altLang="zh-CN" sz="2999" dirty="0">
                <a:ln w="12700">
                  <a:noFill/>
                </a:ln>
                <a:solidFill>
                  <a:srgbClr val="4472C4">
                    <a:alpha val="100000"/>
                  </a:srgbClr>
                </a:solidFill>
                <a:latin typeface="poppins-bold"/>
                <a:ea typeface="poppins-bold"/>
                <a:cs typeface="poppins-bold"/>
              </a:rPr>
              <a:t> Datacenter</a:t>
            </a:r>
            <a:endParaRPr kumimoji="1" lang="zh-CN" altLang="en-US" dirty="0"/>
          </a:p>
        </p:txBody>
      </p:sp>
      <p:pic>
        <p:nvPicPr>
          <p:cNvPr id="25" name="Imagen 24">
            <a:extLst>
              <a:ext uri="{FF2B5EF4-FFF2-40B4-BE49-F238E27FC236}">
                <a16:creationId xmlns:a16="http://schemas.microsoft.com/office/drawing/2014/main" id="{706CB43D-772B-8BB9-AD05-A488DBEE57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flipH="1">
            <a:off x="174171" y="1016001"/>
            <a:ext cx="6662058" cy="4586514"/>
          </a:xfrm>
          <a:prstGeom prst="rect">
            <a:avLst/>
          </a:prstGeom>
          <a:noFill/>
          <a:ln>
            <a:noFill/>
          </a:ln>
        </p:spPr>
      </p:pic>
      <p:sp>
        <p:nvSpPr>
          <p:cNvPr id="4" name="标题 1"/>
          <p:cNvSpPr txBox="1"/>
          <p:nvPr/>
        </p:nvSpPr>
        <p:spPr>
          <a:xfrm>
            <a:off x="6879771" y="3359947"/>
            <a:ext cx="4760688" cy="1255728"/>
          </a:xfrm>
          <a:prstGeom prst="rect">
            <a:avLst/>
          </a:prstGeom>
          <a:noFill/>
          <a:ln>
            <a:noFill/>
          </a:ln>
        </p:spPr>
        <p:txBody>
          <a:bodyPr vert="horz" wrap="square" lIns="91440" tIns="45720" rIns="91440" bIns="45720" rtlCol="0" anchor="ctr"/>
          <a:lstStyle/>
          <a:p>
            <a:pPr algn="ctr"/>
            <a:r>
              <a:rPr kumimoji="1" lang="en-US" altLang="zh-CN" sz="2039">
                <a:ln w="12700">
                  <a:noFill/>
                </a:ln>
                <a:solidFill>
                  <a:srgbClr val="000000">
                    <a:alpha val="100000"/>
                  </a:srgbClr>
                </a:solidFill>
                <a:latin typeface="poppins-bold"/>
                <a:ea typeface="poppins-bold"/>
                <a:cs typeface="poppins-bold"/>
              </a:rPr>
              <a:t>Controles y Auditorías de Seguridad Específicas para el Datacenter</a:t>
            </a:r>
            <a:endParaRPr kumimoji="1" lang="zh-CN" altLang="en-US"/>
          </a:p>
        </p:txBody>
      </p:sp>
      <p:sp>
        <p:nvSpPr>
          <p:cNvPr id="6" name="标题 1"/>
          <p:cNvSpPr txBox="1"/>
          <p:nvPr/>
        </p:nvSpPr>
        <p:spPr>
          <a:xfrm flipH="1">
            <a:off x="8745588" y="2147252"/>
            <a:ext cx="1029054" cy="1029054"/>
          </a:xfrm>
          <a:prstGeom prst="ellips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8031679" y="1262814"/>
            <a:ext cx="2456872" cy="1667352"/>
          </a:xfrm>
          <a:prstGeom prst="rect">
            <a:avLst/>
          </a:prstGeom>
          <a:noFill/>
          <a:ln>
            <a:noFill/>
          </a:ln>
        </p:spPr>
        <p:txBody>
          <a:bodyPr vert="horz" wrap="square" lIns="0" tIns="0" rIns="0" bIns="0" rtlCol="0" anchor="b"/>
          <a:lstStyle/>
          <a:p>
            <a:pPr algn="ctr"/>
            <a:r>
              <a:rPr kumimoji="1" lang="en-US" altLang="zh-CN" sz="4000">
                <a:ln w="12700">
                  <a:noFill/>
                </a:ln>
                <a:solidFill>
                  <a:srgbClr val="FFFFFF">
                    <a:alpha val="100000"/>
                  </a:srgbClr>
                </a:solidFill>
                <a:latin typeface="Barlow Condensed Medium"/>
                <a:ea typeface="Barlow Condensed Medium"/>
                <a:cs typeface="Barlow Condensed Medium"/>
              </a:rPr>
              <a:t> 04</a:t>
            </a:r>
            <a:endParaRPr kumimoji="1" lang="zh-CN" altLang="en-US"/>
          </a:p>
        </p:txBody>
      </p:sp>
      <p:pic>
        <p:nvPicPr>
          <p:cNvPr id="10" name="Imagen 9">
            <a:extLst>
              <a:ext uri="{FF2B5EF4-FFF2-40B4-BE49-F238E27FC236}">
                <a16:creationId xmlns:a16="http://schemas.microsoft.com/office/drawing/2014/main" id="{3AB77916-0D1F-5DDC-3202-DEFECCDC43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1429418" y="1788359"/>
            <a:ext cx="1989222" cy="1395662"/>
          </a:xfrm>
          <a:prstGeom prst="chevron">
            <a:avLst>
              <a:gd name="adj" fmla="val 27067"/>
            </a:avLst>
          </a:prstGeom>
          <a:solidFill>
            <a:schemeClr val="accent1">
              <a:lumMod val="20000"/>
              <a:lumOff val="80000"/>
            </a:schemeClr>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1604712" y="1888049"/>
            <a:ext cx="1638635" cy="1196283"/>
          </a:xfrm>
          <a:prstGeom prst="chevron">
            <a:avLst>
              <a:gd name="adj" fmla="val 27067"/>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841442" y="4011617"/>
            <a:ext cx="3165175" cy="1760533"/>
          </a:xfrm>
          <a:prstGeom prst="rect">
            <a:avLst/>
          </a:prstGeom>
          <a:noFill/>
          <a:ln cap="sq">
            <a:noFill/>
          </a:ln>
        </p:spPr>
        <p:txBody>
          <a:bodyPr vert="horz" wrap="square" lIns="0" tIns="0" rIns="0" bIns="0" rtlCol="0" anchor="t"/>
          <a:lstStyle/>
          <a:p>
            <a:pPr lvl="0"/>
            <a:r>
              <a:rPr kumimoji="1" lang="es-EC" sz="1178" dirty="0">
                <a:ln w="12700">
                  <a:noFill/>
                </a:ln>
                <a:solidFill>
                  <a:srgbClr val="262626">
                    <a:alpha val="100000"/>
                  </a:srgbClr>
                </a:solidFill>
                <a:latin typeface="Poppins"/>
                <a:cs typeface="Poppins"/>
              </a:rPr>
              <a:t>¡La regla de oro! Todos los dispositivos de monitoreo y gestión (cámaras, sensores, </a:t>
            </a:r>
            <a:r>
              <a:rPr kumimoji="1" lang="es-EC" sz="1178" dirty="0" err="1">
                <a:ln w="12700">
                  <a:noFill/>
                </a:ln>
                <a:solidFill>
                  <a:srgbClr val="262626">
                    <a:alpha val="100000"/>
                  </a:srgbClr>
                </a:solidFill>
                <a:latin typeface="Poppins"/>
                <a:cs typeface="Poppins"/>
              </a:rPr>
              <a:t>PDUs</a:t>
            </a:r>
            <a:r>
              <a:rPr kumimoji="1" lang="es-EC" sz="1178" dirty="0">
                <a:ln w="12700">
                  <a:noFill/>
                </a:ln>
                <a:solidFill>
                  <a:srgbClr val="262626">
                    <a:alpha val="100000"/>
                  </a:srgbClr>
                </a:solidFill>
                <a:latin typeface="Poppins"/>
                <a:cs typeface="Poppins"/>
              </a:rPr>
              <a:t>) deben residir en una VLAN (Red de Área Local Virtual) completamente separada y aislada de la red de servidores de producción. El acceso a esta "red de operaciones" debe estar estrictamente controlado por un firewall interno.</a:t>
            </a:r>
          </a:p>
        </p:txBody>
      </p:sp>
      <p:sp>
        <p:nvSpPr>
          <p:cNvPr id="6" name="标题 1"/>
          <p:cNvSpPr txBox="1"/>
          <p:nvPr/>
        </p:nvSpPr>
        <p:spPr>
          <a:xfrm>
            <a:off x="841442" y="3263900"/>
            <a:ext cx="3165175" cy="647700"/>
          </a:xfrm>
          <a:prstGeom prst="rect">
            <a:avLst/>
          </a:prstGeom>
          <a:noFill/>
          <a:ln cap="sq">
            <a:noFill/>
          </a:ln>
        </p:spPr>
        <p:txBody>
          <a:bodyPr vert="horz" wrap="square" lIns="0" tIns="0" rIns="0" bIns="0" rtlCol="0" anchor="b"/>
          <a:lstStyle/>
          <a:p>
            <a:pPr algn="ctr"/>
            <a:r>
              <a:rPr kumimoji="1" lang="en-US" altLang="zh-CN" sz="1600">
                <a:ln w="12700">
                  <a:noFill/>
                </a:ln>
                <a:solidFill>
                  <a:srgbClr val="4472C4">
                    <a:alpha val="100000"/>
                  </a:srgbClr>
                </a:solidFill>
                <a:latin typeface="poppins-bold"/>
                <a:ea typeface="poppins-bold"/>
                <a:cs typeface="poppins-bold"/>
              </a:rPr>
              <a:t>Segmentación Extrema de la Red (Airlock Digital)</a:t>
            </a:r>
            <a:endParaRPr kumimoji="1" lang="zh-CN" altLang="en-US"/>
          </a:p>
        </p:txBody>
      </p:sp>
      <p:sp>
        <p:nvSpPr>
          <p:cNvPr id="7" name="标题 1"/>
          <p:cNvSpPr txBox="1"/>
          <p:nvPr/>
        </p:nvSpPr>
        <p:spPr>
          <a:xfrm>
            <a:off x="4401603" y="3976737"/>
            <a:ext cx="3665621" cy="2080571"/>
          </a:xfrm>
          <a:prstGeom prst="rect">
            <a:avLst/>
          </a:prstGeom>
          <a:noFill/>
          <a:ln cap="sq">
            <a:noFill/>
          </a:ln>
        </p:spPr>
        <p:txBody>
          <a:bodyPr vert="horz" wrap="square" lIns="0" tIns="0" rIns="0" bIns="0" rtlCol="0" anchor="t"/>
          <a:lstStyle/>
          <a:p>
            <a:pPr lvl="0"/>
            <a:r>
              <a:rPr kumimoji="1" lang="es-EC" sz="1178" dirty="0">
                <a:ln w="12700">
                  <a:noFill/>
                </a:ln>
                <a:solidFill>
                  <a:srgbClr val="262626">
                    <a:alpha val="100000"/>
                  </a:srgbClr>
                </a:solidFill>
                <a:latin typeface="Poppins"/>
                <a:cs typeface="Poppins"/>
              </a:rPr>
              <a:t>Ningún dispositivo </a:t>
            </a:r>
            <a:r>
              <a:rPr kumimoji="1" lang="es-EC" sz="1178" dirty="0" err="1">
                <a:ln w="12700">
                  <a:noFill/>
                </a:ln>
                <a:solidFill>
                  <a:srgbClr val="262626">
                    <a:alpha val="100000"/>
                  </a:srgbClr>
                </a:solidFill>
                <a:latin typeface="Poppins"/>
                <a:cs typeface="Poppins"/>
              </a:rPr>
              <a:t>IoT</a:t>
            </a:r>
            <a:r>
              <a:rPr kumimoji="1" lang="es-EC" sz="1178" dirty="0">
                <a:ln w="12700">
                  <a:noFill/>
                </a:ln>
                <a:solidFill>
                  <a:srgbClr val="262626">
                    <a:alpha val="100000"/>
                  </a:srgbClr>
                </a:solidFill>
                <a:latin typeface="Poppins"/>
                <a:cs typeface="Poppins"/>
              </a:rPr>
              <a:t> se conecta directamente a la red. </a:t>
            </a:r>
          </a:p>
          <a:p>
            <a:pPr lvl="0"/>
            <a:r>
              <a:rPr kumimoji="1" lang="es-EC" sz="1178" dirty="0">
                <a:ln w="12700">
                  <a:noFill/>
                </a:ln>
                <a:solidFill>
                  <a:srgbClr val="262626">
                    <a:alpha val="100000"/>
                  </a:srgbClr>
                </a:solidFill>
                <a:latin typeface="Poppins"/>
                <a:cs typeface="Poppins"/>
              </a:rPr>
              <a:t>Debe pasar por un proceso de "endurecimiento" que incluya:</a:t>
            </a:r>
          </a:p>
          <a:p>
            <a:pPr marL="628650" lvl="1" indent="-171450">
              <a:buFont typeface="Arial" panose="020B0604020202020204" pitchFamily="34" charset="0"/>
              <a:buChar char="•"/>
            </a:pPr>
            <a:r>
              <a:rPr kumimoji="1" lang="es-EC" sz="1178" dirty="0">
                <a:ln w="12700">
                  <a:noFill/>
                </a:ln>
                <a:solidFill>
                  <a:srgbClr val="262626">
                    <a:alpha val="100000"/>
                  </a:srgbClr>
                </a:solidFill>
                <a:latin typeface="Poppins"/>
                <a:cs typeface="Poppins"/>
              </a:rPr>
              <a:t>Cambio inmediato de todas las contraseñas por defecto.</a:t>
            </a:r>
          </a:p>
          <a:p>
            <a:pPr marL="628650" lvl="1" indent="-171450">
              <a:buFont typeface="Arial" panose="020B0604020202020204" pitchFamily="34" charset="0"/>
              <a:buChar char="•"/>
            </a:pPr>
            <a:r>
              <a:rPr kumimoji="1" lang="es-EC" sz="1178" dirty="0">
                <a:ln w="12700">
                  <a:noFill/>
                </a:ln>
                <a:solidFill>
                  <a:srgbClr val="262626">
                    <a:alpha val="100000"/>
                  </a:srgbClr>
                </a:solidFill>
                <a:latin typeface="Poppins"/>
                <a:cs typeface="Poppins"/>
              </a:rPr>
              <a:t>Actualización del firmware a la última versión estable.</a:t>
            </a:r>
          </a:p>
          <a:p>
            <a:pPr marL="628650" lvl="1" indent="-171450">
              <a:buFont typeface="Arial" panose="020B0604020202020204" pitchFamily="34" charset="0"/>
              <a:buChar char="•"/>
            </a:pPr>
            <a:r>
              <a:rPr kumimoji="1" lang="es-EC" sz="1178" dirty="0">
                <a:ln w="12700">
                  <a:noFill/>
                </a:ln>
                <a:solidFill>
                  <a:srgbClr val="262626">
                    <a:alpha val="100000"/>
                  </a:srgbClr>
                </a:solidFill>
                <a:latin typeface="Poppins"/>
                <a:cs typeface="Poppins"/>
              </a:rPr>
              <a:t>Desactivación de todos los servicios no esenciales (ej. servidores web de administración si no se usan).</a:t>
            </a:r>
          </a:p>
        </p:txBody>
      </p:sp>
      <p:sp>
        <p:nvSpPr>
          <p:cNvPr id="8" name="标题 1"/>
          <p:cNvSpPr txBox="1"/>
          <p:nvPr/>
        </p:nvSpPr>
        <p:spPr>
          <a:xfrm>
            <a:off x="4507062" y="3272331"/>
            <a:ext cx="3165175" cy="639269"/>
          </a:xfrm>
          <a:prstGeom prst="rect">
            <a:avLst/>
          </a:prstGeom>
          <a:noFill/>
          <a:ln cap="sq">
            <a:noFill/>
          </a:ln>
        </p:spPr>
        <p:txBody>
          <a:bodyPr vert="horz" wrap="square" lIns="0" tIns="0" rIns="0" bIns="0" rtlCol="0" anchor="b"/>
          <a:lstStyle/>
          <a:p>
            <a:pPr algn="ctr"/>
            <a:r>
              <a:rPr kumimoji="1" lang="en-US" altLang="zh-CN" sz="1600">
                <a:ln w="12700">
                  <a:noFill/>
                </a:ln>
                <a:solidFill>
                  <a:srgbClr val="ED7D31">
                    <a:alpha val="100000"/>
                  </a:srgbClr>
                </a:solidFill>
                <a:latin typeface="poppins-bold"/>
                <a:ea typeface="poppins-bold"/>
                <a:cs typeface="poppins-bold"/>
              </a:rPr>
              <a:t>Procedimiento de Puesta en Marcha (Hardening)</a:t>
            </a:r>
            <a:endParaRPr kumimoji="1" lang="zh-CN" altLang="en-US"/>
          </a:p>
        </p:txBody>
      </p:sp>
      <p:sp>
        <p:nvSpPr>
          <p:cNvPr id="9" name="标题 1"/>
          <p:cNvSpPr txBox="1"/>
          <p:nvPr/>
        </p:nvSpPr>
        <p:spPr>
          <a:xfrm>
            <a:off x="8286983" y="4011617"/>
            <a:ext cx="3165175" cy="1512807"/>
          </a:xfrm>
          <a:prstGeom prst="rect">
            <a:avLst/>
          </a:prstGeom>
          <a:noFill/>
          <a:ln cap="sq">
            <a:noFill/>
          </a:ln>
        </p:spPr>
        <p:txBody>
          <a:bodyPr vert="horz" wrap="square" lIns="0" tIns="0" rIns="0" bIns="0" rtlCol="0" anchor="t"/>
          <a:lstStyle/>
          <a:p>
            <a:pPr lvl="0"/>
            <a:r>
              <a:rPr kumimoji="1" lang="es-EC" sz="1178" dirty="0">
                <a:ln w="12700">
                  <a:noFill/>
                </a:ln>
                <a:solidFill>
                  <a:srgbClr val="262626">
                    <a:alpha val="100000"/>
                  </a:srgbClr>
                </a:solidFill>
                <a:latin typeface="Poppins"/>
                <a:cs typeface="Poppins"/>
              </a:rPr>
              <a:t>Mantener un inventario detallado de cada dispositivo </a:t>
            </a:r>
            <a:r>
              <a:rPr kumimoji="1" lang="es-EC" sz="1178" dirty="0" err="1">
                <a:ln w="12700">
                  <a:noFill/>
                </a:ln>
                <a:solidFill>
                  <a:srgbClr val="262626">
                    <a:alpha val="100000"/>
                  </a:srgbClr>
                </a:solidFill>
                <a:latin typeface="Poppins"/>
                <a:cs typeface="Poppins"/>
              </a:rPr>
              <a:t>IoT</a:t>
            </a:r>
            <a:r>
              <a:rPr kumimoji="1" lang="es-EC" sz="1178" dirty="0">
                <a:ln w="12700">
                  <a:noFill/>
                </a:ln>
                <a:solidFill>
                  <a:srgbClr val="262626">
                    <a:alpha val="100000"/>
                  </a:srgbClr>
                </a:solidFill>
                <a:latin typeface="Poppins"/>
                <a:cs typeface="Poppins"/>
              </a:rPr>
              <a:t>, incluyendo su versión de firmware y la fecha de fin de soporte del fabricante. Un dispositivo que ya no recibe actualizaciones de seguridad debe ser reemplazado, sin excepción.</a:t>
            </a:r>
          </a:p>
        </p:txBody>
      </p:sp>
      <p:sp>
        <p:nvSpPr>
          <p:cNvPr id="10" name="标题 1"/>
          <p:cNvSpPr txBox="1"/>
          <p:nvPr/>
        </p:nvSpPr>
        <p:spPr>
          <a:xfrm>
            <a:off x="8172683" y="3268652"/>
            <a:ext cx="3165175" cy="642948"/>
          </a:xfrm>
          <a:prstGeom prst="rect">
            <a:avLst/>
          </a:prstGeom>
          <a:noFill/>
          <a:ln cap="sq">
            <a:noFill/>
          </a:ln>
        </p:spPr>
        <p:txBody>
          <a:bodyPr vert="horz" wrap="square" lIns="0" tIns="0" rIns="0" bIns="0" rtlCol="0" anchor="b"/>
          <a:lstStyle/>
          <a:p>
            <a:pPr algn="ctr"/>
            <a:r>
              <a:rPr kumimoji="1" lang="en-US" altLang="zh-CN" sz="1600">
                <a:ln w="12700">
                  <a:noFill/>
                </a:ln>
                <a:solidFill>
                  <a:srgbClr val="4472C4">
                    <a:alpha val="100000"/>
                  </a:srgbClr>
                </a:solidFill>
                <a:latin typeface="poppins-bold"/>
                <a:ea typeface="poppins-bold"/>
                <a:cs typeface="poppins-bold"/>
              </a:rPr>
              <a:t>Inventario y Ciclo de Vida</a:t>
            </a:r>
            <a:endParaRPr kumimoji="1" lang="zh-CN" altLang="en-US"/>
          </a:p>
        </p:txBody>
      </p:sp>
      <p:sp>
        <p:nvSpPr>
          <p:cNvPr id="11" name="标题 1"/>
          <p:cNvSpPr txBox="1"/>
          <p:nvPr/>
        </p:nvSpPr>
        <p:spPr>
          <a:xfrm>
            <a:off x="2202449" y="2264611"/>
            <a:ext cx="443162" cy="443160"/>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2" name="标题 1"/>
          <p:cNvSpPr txBox="1"/>
          <p:nvPr/>
        </p:nvSpPr>
        <p:spPr>
          <a:xfrm>
            <a:off x="4112077" y="2202035"/>
            <a:ext cx="289526" cy="568310"/>
          </a:xfrm>
          <a:prstGeom prst="chevron">
            <a:avLst>
              <a:gd name="adj" fmla="val 63865"/>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5095038" y="1788359"/>
            <a:ext cx="1989222" cy="1395662"/>
          </a:xfrm>
          <a:prstGeom prst="chevron">
            <a:avLst>
              <a:gd name="adj" fmla="val 27067"/>
            </a:avLst>
          </a:prstGeom>
          <a:solidFill>
            <a:schemeClr val="accent2">
              <a:lumMod val="20000"/>
              <a:lumOff val="80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5270333" y="1888049"/>
            <a:ext cx="1638635" cy="1196283"/>
          </a:xfrm>
          <a:prstGeom prst="chevron">
            <a:avLst>
              <a:gd name="adj" fmla="val 27067"/>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5895626" y="2264610"/>
            <a:ext cx="388046" cy="443162"/>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6" name="标题 1"/>
          <p:cNvSpPr txBox="1"/>
          <p:nvPr/>
        </p:nvSpPr>
        <p:spPr>
          <a:xfrm>
            <a:off x="7777698" y="2202035"/>
            <a:ext cx="289526" cy="568310"/>
          </a:xfrm>
          <a:prstGeom prst="chevron">
            <a:avLst>
              <a:gd name="adj" fmla="val 63865"/>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7" name="标题 1"/>
          <p:cNvSpPr txBox="1"/>
          <p:nvPr/>
        </p:nvSpPr>
        <p:spPr>
          <a:xfrm>
            <a:off x="8760659" y="1788359"/>
            <a:ext cx="1989222" cy="1395662"/>
          </a:xfrm>
          <a:prstGeom prst="chevron">
            <a:avLst>
              <a:gd name="adj" fmla="val 27067"/>
            </a:avLst>
          </a:prstGeom>
          <a:solidFill>
            <a:schemeClr val="accent1">
              <a:lumMod val="20000"/>
              <a:lumOff val="80000"/>
            </a:schemeClr>
          </a:soli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a:off x="8935953" y="1888049"/>
            <a:ext cx="1638635" cy="1196283"/>
          </a:xfrm>
          <a:prstGeom prst="chevron">
            <a:avLst>
              <a:gd name="adj" fmla="val 27067"/>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a:off x="9533689" y="2271759"/>
            <a:ext cx="443162" cy="428864"/>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a:off x="271780" y="279022"/>
            <a:ext cx="11066780" cy="432000"/>
          </a:xfrm>
          <a:prstGeom prst="rect">
            <a:avLst/>
          </a:prstGeom>
          <a:noFill/>
          <a:ln>
            <a:noFill/>
          </a:ln>
        </p:spPr>
        <p:txBody>
          <a:bodyPr vert="horz" wrap="square" lIns="0" tIns="0" rIns="0" bIns="0" rtlCol="0" anchor="ctr"/>
          <a:lstStyle/>
          <a:p>
            <a:pPr algn="l"/>
            <a:r>
              <a:rPr kumimoji="1" lang="en-US" altLang="zh-CN" sz="3200">
                <a:ln w="12700">
                  <a:noFill/>
                </a:ln>
                <a:solidFill>
                  <a:srgbClr val="4472C4">
                    <a:alpha val="100000"/>
                  </a:srgbClr>
                </a:solidFill>
                <a:latin typeface="poppins-bold"/>
                <a:ea typeface="poppins-bold"/>
                <a:cs typeface="poppins-bold"/>
              </a:rPr>
              <a:t>Controles para el IoT del Datacenter</a:t>
            </a:r>
            <a:endParaRPr kumimoji="1" lang="zh-CN" altLang="en-US"/>
          </a:p>
        </p:txBody>
      </p:sp>
      <p:pic>
        <p:nvPicPr>
          <p:cNvPr id="23" name="Imagen 22">
            <a:extLst>
              <a:ext uri="{FF2B5EF4-FFF2-40B4-BE49-F238E27FC236}">
                <a16:creationId xmlns:a16="http://schemas.microsoft.com/office/drawing/2014/main" id="{C245A6EB-BC92-AF05-FC9F-BCA291F100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906324" y="2349996"/>
            <a:ext cx="467818" cy="467495"/>
          </a:xfrm>
          <a:prstGeom prst="rightArrow">
            <a:avLst/>
          </a:prstGeom>
          <a:gradFill>
            <a:gsLst>
              <a:gs pos="0">
                <a:schemeClr val="accent1">
                  <a:alpha val="0"/>
                </a:schemeClr>
              </a:gs>
              <a:gs pos="100000">
                <a:schemeClr val="accent1">
                  <a:lumMod val="20000"/>
                  <a:lumOff val="8000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7817858" y="2349996"/>
            <a:ext cx="467818" cy="467495"/>
          </a:xfrm>
          <a:prstGeom prst="rightArrow">
            <a:avLst/>
          </a:prstGeom>
          <a:gradFill>
            <a:gsLst>
              <a:gs pos="0">
                <a:schemeClr val="accent1">
                  <a:alpha val="0"/>
                </a:schemeClr>
              </a:gs>
              <a:gs pos="100000">
                <a:schemeClr val="accent1">
                  <a:lumMod val="20000"/>
                  <a:lumOff val="8000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8496239" y="1798601"/>
            <a:ext cx="3022590" cy="3807986"/>
          </a:xfrm>
          <a:prstGeom prst="round2DiagRect">
            <a:avLst/>
          </a:prstGeom>
          <a:solidFill>
            <a:schemeClr val="bg1"/>
          </a:solidFill>
          <a:ln w="12700" cap="sq">
            <a:solidFill>
              <a:schemeClr val="accent1"/>
            </a:solidFill>
          </a:ln>
          <a:effectLst/>
        </p:spPr>
        <p:txBody>
          <a:bodyPr vert="horz" wrap="square" lIns="91440" tIns="45720" rIns="91440" bIns="45720" rtlCol="0" anchor="t"/>
          <a:lstStyle/>
          <a:p>
            <a:pPr algn="l"/>
            <a:endParaRPr kumimoji="1" lang="zh-CN" altLang="en-US"/>
          </a:p>
        </p:txBody>
      </p:sp>
      <p:sp>
        <p:nvSpPr>
          <p:cNvPr id="6" name="标题 1"/>
          <p:cNvSpPr txBox="1"/>
          <p:nvPr/>
        </p:nvSpPr>
        <p:spPr>
          <a:xfrm>
            <a:off x="9802377" y="1901268"/>
            <a:ext cx="410315" cy="426661"/>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7" name="标题 1"/>
          <p:cNvSpPr txBox="1"/>
          <p:nvPr/>
        </p:nvSpPr>
        <p:spPr>
          <a:xfrm>
            <a:off x="8664964" y="2463800"/>
            <a:ext cx="2685140" cy="520990"/>
          </a:xfrm>
          <a:prstGeom prst="rect">
            <a:avLst/>
          </a:prstGeom>
          <a:noFill/>
          <a:ln>
            <a:noFill/>
          </a:ln>
        </p:spPr>
        <p:txBody>
          <a:bodyPr vert="horz" wrap="square" lIns="0" tIns="0" rIns="0" bIns="0" rtlCol="0" anchor="ctr"/>
          <a:lstStyle/>
          <a:p>
            <a:pPr algn="ctr"/>
            <a:r>
              <a:rPr kumimoji="1" lang="en-US" altLang="zh-CN" sz="1082">
                <a:ln w="12700">
                  <a:noFill/>
                </a:ln>
                <a:solidFill>
                  <a:srgbClr val="262626">
                    <a:alpha val="100000"/>
                  </a:srgbClr>
                </a:solidFill>
                <a:latin typeface="poppins-bold"/>
                <a:ea typeface="poppins-bold"/>
                <a:cs typeface="poppins-bold"/>
              </a:rPr>
              <a:t>Auditoría de "Caja Negra" (Black-Box Testing)</a:t>
            </a:r>
            <a:endParaRPr kumimoji="1" lang="zh-CN" altLang="en-US"/>
          </a:p>
        </p:txBody>
      </p:sp>
      <p:sp>
        <p:nvSpPr>
          <p:cNvPr id="8" name="标题 1"/>
          <p:cNvSpPr txBox="1"/>
          <p:nvPr/>
        </p:nvSpPr>
        <p:spPr>
          <a:xfrm>
            <a:off x="8664964" y="3200710"/>
            <a:ext cx="2685140" cy="1455130"/>
          </a:xfrm>
          <a:prstGeom prst="rect">
            <a:avLst/>
          </a:prstGeom>
          <a:noFill/>
          <a:ln>
            <a:noFill/>
          </a:ln>
        </p:spPr>
        <p:txBody>
          <a:bodyPr vert="horz" wrap="square" lIns="0" tIns="0" rIns="0" bIns="0" rtlCol="0" anchor="t"/>
          <a:lstStyle/>
          <a:p>
            <a:pPr algn="ctr"/>
            <a:r>
              <a:rPr kumimoji="1" lang="es-EC" sz="1178" dirty="0">
                <a:ln w="12700">
                  <a:noFill/>
                </a:ln>
                <a:solidFill>
                  <a:srgbClr val="262626">
                    <a:alpha val="100000"/>
                  </a:srgbClr>
                </a:solidFill>
                <a:latin typeface="Poppins"/>
                <a:cs typeface="Poppins"/>
              </a:rPr>
              <a:t>Realizar auditorías periódicas donde se trata al sistema de IA como una caja negra. Se le presentan escenarios de prueba controlados (incluyendo datos anómalos o adversarios) para verificar </a:t>
            </a:r>
            <a:endParaRPr kumimoji="1" lang="zh-CN" altLang="en-US" sz="1178" dirty="0">
              <a:ln w="12700">
                <a:noFill/>
              </a:ln>
              <a:solidFill>
                <a:srgbClr val="262626">
                  <a:alpha val="100000"/>
                </a:srgbClr>
              </a:solidFill>
              <a:latin typeface="Poppins"/>
              <a:cs typeface="Poppins"/>
            </a:endParaRPr>
          </a:p>
        </p:txBody>
      </p:sp>
      <p:sp>
        <p:nvSpPr>
          <p:cNvPr id="9" name="标题 1"/>
          <p:cNvSpPr txBox="1"/>
          <p:nvPr/>
        </p:nvSpPr>
        <p:spPr>
          <a:xfrm>
            <a:off x="673171" y="1665714"/>
            <a:ext cx="3022590" cy="3807986"/>
          </a:xfrm>
          <a:prstGeom prst="round2DiagRect">
            <a:avLst/>
          </a:prstGeom>
          <a:solidFill>
            <a:schemeClr val="bg1"/>
          </a:solidFill>
          <a:ln w="12700" cap="sq">
            <a:solidFill>
              <a:schemeClr val="accent1"/>
            </a:solidFill>
          </a:ln>
          <a:effectLst/>
        </p:spPr>
        <p:txBody>
          <a:bodyPr vert="horz" wrap="square" lIns="91440" tIns="45720" rIns="91440" bIns="45720" rtlCol="0" anchor="t"/>
          <a:lstStyle/>
          <a:p>
            <a:pPr algn="l"/>
            <a:endParaRPr kumimoji="1" lang="zh-CN" altLang="en-US"/>
          </a:p>
        </p:txBody>
      </p:sp>
      <p:sp>
        <p:nvSpPr>
          <p:cNvPr id="10" name="标题 1"/>
          <p:cNvSpPr txBox="1"/>
          <p:nvPr/>
        </p:nvSpPr>
        <p:spPr>
          <a:xfrm>
            <a:off x="1971166" y="1901268"/>
            <a:ext cx="426598" cy="426661"/>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11" name="标题 1"/>
          <p:cNvSpPr txBox="1"/>
          <p:nvPr/>
        </p:nvSpPr>
        <p:spPr>
          <a:xfrm>
            <a:off x="841896" y="2463800"/>
            <a:ext cx="2685140" cy="520990"/>
          </a:xfrm>
          <a:prstGeom prst="rect">
            <a:avLst/>
          </a:prstGeom>
          <a:noFill/>
          <a:ln>
            <a:noFill/>
          </a:ln>
        </p:spPr>
        <p:txBody>
          <a:bodyPr vert="horz" wrap="square" lIns="0" tIns="0" rIns="0" bIns="0" rtlCol="0" anchor="ctr"/>
          <a:lstStyle/>
          <a:p>
            <a:pPr algn="ctr"/>
            <a:r>
              <a:rPr kumimoji="1" lang="en-US" altLang="zh-CN" sz="1600">
                <a:ln w="12700">
                  <a:noFill/>
                </a:ln>
                <a:solidFill>
                  <a:srgbClr val="262626">
                    <a:alpha val="100000"/>
                  </a:srgbClr>
                </a:solidFill>
                <a:latin typeface="poppins-bold"/>
                <a:ea typeface="poppins-bold"/>
                <a:cs typeface="poppins-bold"/>
              </a:rPr>
              <a:t>Auditoría de la Cadena de Suministro de Datos</a:t>
            </a:r>
            <a:endParaRPr kumimoji="1" lang="zh-CN" altLang="en-US"/>
          </a:p>
        </p:txBody>
      </p:sp>
      <p:sp>
        <p:nvSpPr>
          <p:cNvPr id="12" name="标题 1"/>
          <p:cNvSpPr txBox="1"/>
          <p:nvPr/>
        </p:nvSpPr>
        <p:spPr>
          <a:xfrm>
            <a:off x="841896" y="3048290"/>
            <a:ext cx="2685140" cy="2349210"/>
          </a:xfrm>
          <a:prstGeom prst="rect">
            <a:avLst/>
          </a:prstGeom>
          <a:noFill/>
          <a:ln>
            <a:noFill/>
          </a:ln>
        </p:spPr>
        <p:txBody>
          <a:bodyPr vert="horz" wrap="square" lIns="0" tIns="0" rIns="0" bIns="0" rtlCol="0" anchor="t"/>
          <a:lstStyle/>
          <a:p>
            <a:pPr algn="ctr"/>
            <a:r>
              <a:rPr kumimoji="1" lang="es-EC" sz="1178" dirty="0">
                <a:ln w="12700">
                  <a:noFill/>
                </a:ln>
                <a:solidFill>
                  <a:srgbClr val="262626">
                    <a:alpha val="100000"/>
                  </a:srgbClr>
                </a:solidFill>
                <a:latin typeface="Poppins"/>
                <a:cs typeface="Poppins"/>
              </a:rPr>
              <a:t>No confíes ciegamente en los datos que alimentan tu IA. Es crucial implementar controles para asegurar la integridad de los logs y las métricas que se recolectan. Esto incluye usar hashes para verificar que los datos no han sido alterados desde su recolección hasta su análisis.</a:t>
            </a:r>
          </a:p>
          <a:p>
            <a:pPr algn="ctr"/>
            <a:r>
              <a:rPr kumimoji="1" lang="en-US" altLang="zh-CN" sz="1178" dirty="0">
                <a:ln w="12700">
                  <a:noFill/>
                </a:ln>
                <a:solidFill>
                  <a:srgbClr val="262626">
                    <a:alpha val="100000"/>
                  </a:srgbClr>
                </a:solidFill>
                <a:latin typeface="Poppins"/>
                <a:cs typeface="Poppins"/>
              </a:rPr>
              <a:t>.</a:t>
            </a:r>
            <a:endParaRPr kumimoji="1" lang="zh-CN" altLang="en-US" sz="1178" dirty="0">
              <a:ln w="12700">
                <a:noFill/>
              </a:ln>
              <a:solidFill>
                <a:srgbClr val="262626">
                  <a:alpha val="100000"/>
                </a:srgbClr>
              </a:solidFill>
              <a:latin typeface="Poppins"/>
              <a:cs typeface="Poppins"/>
            </a:endParaRPr>
          </a:p>
        </p:txBody>
      </p:sp>
      <p:sp>
        <p:nvSpPr>
          <p:cNvPr id="13" name="标题 1"/>
          <p:cNvSpPr txBox="1"/>
          <p:nvPr/>
        </p:nvSpPr>
        <p:spPr>
          <a:xfrm>
            <a:off x="4584705" y="1665714"/>
            <a:ext cx="3022590" cy="3807986"/>
          </a:xfrm>
          <a:prstGeom prst="round2Diag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5886479" y="1924644"/>
            <a:ext cx="419041" cy="379909"/>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4753430" y="2463800"/>
            <a:ext cx="2685140" cy="520990"/>
          </a:xfrm>
          <a:prstGeom prst="rect">
            <a:avLst/>
          </a:prstGeom>
          <a:noFill/>
          <a:ln>
            <a:noFill/>
          </a:ln>
        </p:spPr>
        <p:txBody>
          <a:bodyPr vert="horz" wrap="square" lIns="0" tIns="0" rIns="0" bIns="0" rtlCol="0" anchor="ctr"/>
          <a:lstStyle/>
          <a:p>
            <a:pPr algn="ctr"/>
            <a:r>
              <a:rPr kumimoji="1" lang="en-US" altLang="zh-CN" sz="1600">
                <a:ln w="12700">
                  <a:noFill/>
                </a:ln>
                <a:solidFill>
                  <a:srgbClr val="FFFFFF">
                    <a:alpha val="100000"/>
                  </a:srgbClr>
                </a:solidFill>
                <a:latin typeface="poppins-bold"/>
                <a:ea typeface="poppins-bold"/>
                <a:cs typeface="poppins-bold"/>
              </a:rPr>
              <a:t>Monitoreo del "Drift" del Modelo</a:t>
            </a:r>
            <a:endParaRPr kumimoji="1" lang="zh-CN" altLang="en-US"/>
          </a:p>
        </p:txBody>
      </p:sp>
      <p:sp>
        <p:nvSpPr>
          <p:cNvPr id="16" name="标题 1"/>
          <p:cNvSpPr txBox="1"/>
          <p:nvPr/>
        </p:nvSpPr>
        <p:spPr>
          <a:xfrm>
            <a:off x="4753430" y="3048290"/>
            <a:ext cx="2685140" cy="2349210"/>
          </a:xfrm>
          <a:prstGeom prst="rect">
            <a:avLst/>
          </a:prstGeom>
          <a:noFill/>
          <a:ln>
            <a:noFill/>
          </a:ln>
        </p:spPr>
        <p:txBody>
          <a:bodyPr vert="horz" wrap="square" lIns="0" tIns="0" rIns="0" bIns="0" rtlCol="0" anchor="t"/>
          <a:lstStyle/>
          <a:p>
            <a:pPr lvl="0"/>
            <a:r>
              <a:rPr kumimoji="1" lang="es-EC" sz="1178" dirty="0">
                <a:ln w="12700">
                  <a:noFill/>
                </a:ln>
                <a:solidFill>
                  <a:schemeClr val="bg2"/>
                </a:solidFill>
                <a:latin typeface="Poppins"/>
                <a:cs typeface="Poppins"/>
              </a:rPr>
              <a:t>Un modelo de IA no es estático. Sus predicciones pueden desviarse con el tiempo ("</a:t>
            </a:r>
            <a:r>
              <a:rPr kumimoji="1" lang="es-EC" sz="1178" dirty="0" err="1">
                <a:ln w="12700">
                  <a:noFill/>
                </a:ln>
                <a:solidFill>
                  <a:schemeClr val="bg2"/>
                </a:solidFill>
                <a:latin typeface="Poppins"/>
                <a:cs typeface="Poppins"/>
              </a:rPr>
              <a:t>model</a:t>
            </a:r>
            <a:r>
              <a:rPr kumimoji="1" lang="es-EC" sz="1178" dirty="0">
                <a:ln w="12700">
                  <a:noFill/>
                </a:ln>
                <a:solidFill>
                  <a:schemeClr val="bg2"/>
                </a:solidFill>
                <a:latin typeface="Poppins"/>
                <a:cs typeface="Poppins"/>
              </a:rPr>
              <a:t> </a:t>
            </a:r>
            <a:r>
              <a:rPr kumimoji="1" lang="es-EC" sz="1178" dirty="0" err="1">
                <a:ln w="12700">
                  <a:noFill/>
                </a:ln>
                <a:solidFill>
                  <a:schemeClr val="bg2"/>
                </a:solidFill>
                <a:latin typeface="Poppins"/>
                <a:cs typeface="Poppins"/>
              </a:rPr>
              <a:t>drift</a:t>
            </a:r>
            <a:r>
              <a:rPr kumimoji="1" lang="es-EC" sz="1178" dirty="0">
                <a:ln w="12700">
                  <a:noFill/>
                </a:ln>
                <a:solidFill>
                  <a:schemeClr val="bg2"/>
                </a:solidFill>
                <a:latin typeface="Poppins"/>
                <a:cs typeface="Poppins"/>
              </a:rPr>
              <a:t>"). Como administradores, debemos monitorear constantemente el rendimiento del modelo. Si un sistema de </a:t>
            </a:r>
            <a:r>
              <a:rPr kumimoji="1" lang="es-EC" sz="1178" dirty="0" err="1">
                <a:ln w="12700">
                  <a:noFill/>
                </a:ln>
                <a:solidFill>
                  <a:schemeClr val="bg2"/>
                </a:solidFill>
                <a:latin typeface="Poppins"/>
                <a:cs typeface="Poppins"/>
              </a:rPr>
              <a:t>AIOps</a:t>
            </a:r>
            <a:r>
              <a:rPr kumimoji="1" lang="es-EC" sz="1178" dirty="0">
                <a:ln w="12700">
                  <a:noFill/>
                </a:ln>
                <a:solidFill>
                  <a:schemeClr val="bg2"/>
                </a:solidFill>
                <a:latin typeface="Poppins"/>
                <a:cs typeface="Poppins"/>
              </a:rPr>
              <a:t> que antes era 99% preciso de repente empieza a generar muchas falsas alarmas o a fallar en sus predicciones, debe ser investigado y </a:t>
            </a:r>
            <a:r>
              <a:rPr kumimoji="1" lang="es-EC" sz="1178" dirty="0" err="1">
                <a:ln w="12700">
                  <a:noFill/>
                </a:ln>
                <a:solidFill>
                  <a:schemeClr val="bg2"/>
                </a:solidFill>
                <a:latin typeface="Poppins"/>
                <a:cs typeface="Poppins"/>
              </a:rPr>
              <a:t>re-entrenado</a:t>
            </a:r>
            <a:r>
              <a:rPr kumimoji="1" lang="es-EC" sz="1178" dirty="0">
                <a:ln w="12700">
                  <a:noFill/>
                </a:ln>
                <a:solidFill>
                  <a:schemeClr val="bg2"/>
                </a:solidFill>
                <a:latin typeface="Poppins"/>
                <a:cs typeface="Poppins"/>
              </a:rPr>
              <a:t> inmediatamente.</a:t>
            </a:r>
          </a:p>
        </p:txBody>
      </p:sp>
      <p:sp>
        <p:nvSpPr>
          <p:cNvPr id="17" name="标题 1"/>
          <p:cNvSpPr txBox="1"/>
          <p:nvPr/>
        </p:nvSpPr>
        <p:spPr>
          <a:xfrm>
            <a:off x="283324" y="541897"/>
            <a:ext cx="11066780" cy="432000"/>
          </a:xfrm>
          <a:prstGeom prst="rect">
            <a:avLst/>
          </a:prstGeom>
          <a:noFill/>
          <a:ln>
            <a:noFill/>
          </a:ln>
        </p:spPr>
        <p:txBody>
          <a:bodyPr vert="horz" wrap="square" lIns="0" tIns="0" rIns="0" bIns="0" rtlCol="0" anchor="ctr"/>
          <a:lstStyle/>
          <a:p>
            <a:pPr algn="l"/>
            <a:r>
              <a:rPr kumimoji="1" lang="en-US" altLang="zh-CN" sz="3200" dirty="0" err="1">
                <a:ln w="12700">
                  <a:noFill/>
                </a:ln>
                <a:solidFill>
                  <a:srgbClr val="4472C4">
                    <a:alpha val="100000"/>
                  </a:srgbClr>
                </a:solidFill>
                <a:latin typeface="poppins-bold"/>
                <a:ea typeface="poppins-bold"/>
                <a:cs typeface="poppins-bold"/>
              </a:rPr>
              <a:t>Controles</a:t>
            </a:r>
            <a:r>
              <a:rPr kumimoji="1" lang="en-US" altLang="zh-CN" sz="3200" dirty="0">
                <a:ln w="12700">
                  <a:noFill/>
                </a:ln>
                <a:solidFill>
                  <a:srgbClr val="4472C4">
                    <a:alpha val="100000"/>
                  </a:srgbClr>
                </a:solidFill>
                <a:latin typeface="poppins-bold"/>
                <a:ea typeface="poppins-bold"/>
                <a:cs typeface="poppins-bold"/>
              </a:rPr>
              <a:t> y </a:t>
            </a:r>
            <a:r>
              <a:rPr kumimoji="1" lang="en-US" altLang="zh-CN" sz="3200" dirty="0" err="1">
                <a:ln w="12700">
                  <a:noFill/>
                </a:ln>
                <a:solidFill>
                  <a:srgbClr val="4472C4">
                    <a:alpha val="100000"/>
                  </a:srgbClr>
                </a:solidFill>
                <a:latin typeface="poppins-bold"/>
                <a:ea typeface="poppins-bold"/>
                <a:cs typeface="poppins-bold"/>
              </a:rPr>
              <a:t>Auditorías</a:t>
            </a:r>
            <a:r>
              <a:rPr kumimoji="1" lang="en-US" altLang="zh-CN" sz="3200" dirty="0">
                <a:ln w="12700">
                  <a:noFill/>
                </a:ln>
                <a:solidFill>
                  <a:srgbClr val="4472C4">
                    <a:alpha val="100000"/>
                  </a:srgbClr>
                </a:solidFill>
                <a:latin typeface="poppins-bold"/>
                <a:ea typeface="poppins-bold"/>
                <a:cs typeface="poppins-bold"/>
              </a:rPr>
              <a:t> para </a:t>
            </a:r>
          </a:p>
          <a:p>
            <a:pPr algn="l"/>
            <a:r>
              <a:rPr kumimoji="1" lang="en-US" altLang="zh-CN" sz="3200" dirty="0">
                <a:ln w="12700">
                  <a:noFill/>
                </a:ln>
                <a:solidFill>
                  <a:srgbClr val="4472C4">
                    <a:alpha val="100000"/>
                  </a:srgbClr>
                </a:solidFill>
                <a:latin typeface="poppins-bold"/>
                <a:ea typeface="poppins-bold"/>
                <a:cs typeface="poppins-bold"/>
              </a:rPr>
              <a:t>la IA del Datacenter</a:t>
            </a:r>
            <a:endParaRPr kumimoji="1" lang="zh-CN" altLang="en-US" dirty="0"/>
          </a:p>
        </p:txBody>
      </p:sp>
      <p:pic>
        <p:nvPicPr>
          <p:cNvPr id="20" name="Imagen 19">
            <a:extLst>
              <a:ext uri="{FF2B5EF4-FFF2-40B4-BE49-F238E27FC236}">
                <a16:creationId xmlns:a16="http://schemas.microsoft.com/office/drawing/2014/main" id="{6146E367-3ED5-8307-C30E-A6691714B7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1"/>
          <p:cNvSpPr txBox="1"/>
          <p:nvPr/>
        </p:nvSpPr>
        <p:spPr>
          <a:xfrm>
            <a:off x="518144" y="2073584"/>
            <a:ext cx="4823112" cy="2086725"/>
          </a:xfrm>
          <a:prstGeom prst="rect">
            <a:avLst/>
          </a:prstGeom>
          <a:noFill/>
          <a:ln>
            <a:noFill/>
          </a:ln>
        </p:spPr>
        <p:txBody>
          <a:bodyPr vert="horz" wrap="square" lIns="91440" tIns="45720" rIns="91440" bIns="45720" rtlCol="0" anchor="ctr"/>
          <a:lstStyle/>
          <a:p>
            <a:pPr algn="l"/>
            <a:r>
              <a:rPr kumimoji="1" lang="en-US" altLang="zh-CN" sz="7100">
                <a:ln w="12700">
                  <a:noFill/>
                </a:ln>
                <a:solidFill>
                  <a:srgbClr val="000000">
                    <a:alpha val="100000"/>
                  </a:srgbClr>
                </a:solidFill>
                <a:latin typeface="Barlow Condensed Medium"/>
                <a:ea typeface="Barlow Condensed Medium"/>
                <a:cs typeface="Barlow Condensed Medium"/>
              </a:rPr>
              <a:t>Thanks</a:t>
            </a:r>
            <a:endParaRPr kumimoji="1" lang="zh-CN" altLang="en-US"/>
          </a:p>
        </p:txBody>
      </p:sp>
      <p:sp>
        <p:nvSpPr>
          <p:cNvPr id="5" name="标题 1"/>
          <p:cNvSpPr txBox="1"/>
          <p:nvPr/>
        </p:nvSpPr>
        <p:spPr>
          <a:xfrm>
            <a:off x="648773" y="4259273"/>
            <a:ext cx="4483841" cy="559469"/>
          </a:xfrm>
          <a:prstGeom prst="rect">
            <a:avLst/>
          </a:prstGeom>
          <a:noFill/>
          <a:ln w="12700" cap="sq">
            <a:noFill/>
            <a:miter/>
          </a:ln>
        </p:spPr>
        <p:txBody>
          <a:bodyPr vert="horz" wrap="square" lIns="0" tIns="0" rIns="0" bIns="0" rtlCol="0" anchor="ctr"/>
          <a:lstStyle/>
          <a:p>
            <a:pPr algn="l"/>
            <a:r>
              <a:rPr kumimoji="1" lang="en-US" altLang="zh-CN" sz="1600" dirty="0">
                <a:ln w="12700">
                  <a:noFill/>
                </a:ln>
                <a:solidFill>
                  <a:srgbClr val="000000">
                    <a:alpha val="100000"/>
                  </a:srgbClr>
                </a:solidFill>
                <a:latin typeface="Poppins"/>
                <a:ea typeface="Poppins"/>
                <a:cs typeface="Poppins"/>
              </a:rPr>
              <a:t>MGS. JOSE FRANCO LAMILLA</a:t>
            </a:r>
            <a:endParaRPr kumimoji="1" lang="zh-CN" altLang="en-US" dirty="0"/>
          </a:p>
        </p:txBody>
      </p:sp>
      <p:pic>
        <p:nvPicPr>
          <p:cNvPr id="7" name="Imagen 6">
            <a:extLst>
              <a:ext uri="{FF2B5EF4-FFF2-40B4-BE49-F238E27FC236}">
                <a16:creationId xmlns:a16="http://schemas.microsoft.com/office/drawing/2014/main" id="{8DEA4340-3EBD-3F78-E388-8DA4E6879B38}"/>
              </a:ext>
            </a:extLst>
          </p:cNvPr>
          <p:cNvPicPr>
            <a:picLocks noChangeAspect="1"/>
          </p:cNvPicPr>
          <p:nvPr/>
        </p:nvPicPr>
        <p:blipFill>
          <a:blip r:embed="rId2"/>
          <a:stretch>
            <a:fillRect/>
          </a:stretch>
        </p:blipFill>
        <p:spPr>
          <a:xfrm>
            <a:off x="5132614" y="999545"/>
            <a:ext cx="6657409" cy="4584589"/>
          </a:xfrm>
          <a:prstGeom prst="rect">
            <a:avLst/>
          </a:prstGeom>
        </p:spPr>
      </p:pic>
      <p:pic>
        <p:nvPicPr>
          <p:cNvPr id="10" name="Imagen 9">
            <a:extLst>
              <a:ext uri="{FF2B5EF4-FFF2-40B4-BE49-F238E27FC236}">
                <a16:creationId xmlns:a16="http://schemas.microsoft.com/office/drawing/2014/main" id="{159CCFDE-D364-B2DC-CCE2-96C6573C5B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1039</Words>
  <Application>Microsoft Office PowerPoint</Application>
  <PresentationFormat>Panorámica</PresentationFormat>
  <Paragraphs>72</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poppins-bold</vt:lpstr>
      <vt:lpstr>Poppins</vt:lpstr>
      <vt:lpstr>Barlow Condensed Medium</vt:lpstr>
      <vt:lpstr>Office 主题​​</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TICS</cp:lastModifiedBy>
  <cp:revision>1</cp:revision>
  <dcterms:modified xsi:type="dcterms:W3CDTF">2025-10-14T17:42:04Z</dcterms:modified>
</cp:coreProperties>
</file>
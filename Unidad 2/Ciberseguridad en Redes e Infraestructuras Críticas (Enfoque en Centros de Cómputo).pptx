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embeddedFontLst>
    <p:embeddedFont>
      <p:font typeface="Poppins" panose="00000500000000000000" pitchFamily="2" charset="0"/>
      <p:regular r:id="rId22"/>
      <p:bold r:id="rId23"/>
    </p:embeddedFont>
    <p:embeddedFont>
      <p:font typeface="poppins-bold" panose="020B0604020202020204" charset="0"/>
      <p:regular r:id="rId24"/>
    </p:embeddedFont>
  </p:embeddedFontLst>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4" d="100"/>
          <a:sy n="84" d="100"/>
        </p:scale>
        <p:origin x="78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1065856" y="663415"/>
            <a:ext cx="8748461" cy="2881022"/>
          </a:xfrm>
          <a:prstGeom prst="rect">
            <a:avLst/>
          </a:prstGeom>
          <a:noFill/>
          <a:ln w="12700" cap="sq">
            <a:noFill/>
            <a:miter/>
          </a:ln>
        </p:spPr>
        <p:txBody>
          <a:bodyPr vert="horz" wrap="square" lIns="0" tIns="0" rIns="0" bIns="0" rtlCol="0" anchor="b"/>
          <a:lstStyle/>
          <a:p>
            <a:pPr algn="l"/>
            <a:r>
              <a:rPr kumimoji="1" lang="en-US" altLang="zh-CN" sz="3200" dirty="0">
                <a:ln w="12700">
                  <a:noFill/>
                </a:ln>
                <a:solidFill>
                  <a:srgbClr val="262626">
                    <a:alpha val="100000"/>
                  </a:srgbClr>
                </a:solidFill>
                <a:latin typeface="Poppins"/>
                <a:ea typeface="Poppins"/>
                <a:cs typeface="Poppins"/>
              </a:rPr>
              <a:t>Administracion Centros de </a:t>
            </a:r>
            <a:r>
              <a:rPr kumimoji="1" lang="en-US" altLang="zh-CN" sz="3200" dirty="0" err="1">
                <a:ln w="12700">
                  <a:noFill/>
                </a:ln>
                <a:solidFill>
                  <a:srgbClr val="262626">
                    <a:alpha val="100000"/>
                  </a:srgbClr>
                </a:solidFill>
                <a:latin typeface="Poppins"/>
                <a:ea typeface="Poppins"/>
                <a:cs typeface="Poppins"/>
              </a:rPr>
              <a:t>Cómputo</a:t>
            </a:r>
            <a:endParaRPr kumimoji="1" lang="en-US" altLang="zh-CN" sz="3200" dirty="0">
              <a:ln w="12700">
                <a:noFill/>
              </a:ln>
              <a:solidFill>
                <a:srgbClr val="262626">
                  <a:alpha val="100000"/>
                </a:srgbClr>
              </a:solidFill>
              <a:latin typeface="Poppins"/>
              <a:ea typeface="Poppins"/>
              <a:cs typeface="Poppins"/>
            </a:endParaRPr>
          </a:p>
          <a:p>
            <a:pPr algn="l"/>
            <a:r>
              <a:rPr kumimoji="1" lang="en-US" altLang="zh-CN" sz="3200" dirty="0" err="1">
                <a:ln w="12700">
                  <a:noFill/>
                </a:ln>
                <a:solidFill>
                  <a:srgbClr val="262626">
                    <a:alpha val="100000"/>
                  </a:srgbClr>
                </a:solidFill>
                <a:latin typeface="Poppins"/>
                <a:ea typeface="Poppins"/>
                <a:cs typeface="Poppins"/>
              </a:rPr>
              <a:t>Ciberseguridad</a:t>
            </a:r>
            <a:r>
              <a:rPr kumimoji="1" lang="en-US" altLang="zh-CN" sz="3200" dirty="0">
                <a:ln w="12700">
                  <a:noFill/>
                </a:ln>
                <a:solidFill>
                  <a:srgbClr val="262626">
                    <a:alpha val="100000"/>
                  </a:srgbClr>
                </a:solidFill>
                <a:latin typeface="Poppins"/>
                <a:ea typeface="Poppins"/>
                <a:cs typeface="Poppins"/>
              </a:rPr>
              <a:t> </a:t>
            </a:r>
            <a:r>
              <a:rPr kumimoji="1" lang="en-US" altLang="zh-CN" sz="3200" dirty="0" err="1">
                <a:ln w="12700">
                  <a:noFill/>
                </a:ln>
                <a:solidFill>
                  <a:srgbClr val="262626">
                    <a:alpha val="100000"/>
                  </a:srgbClr>
                </a:solidFill>
                <a:latin typeface="Poppins"/>
                <a:ea typeface="Poppins"/>
                <a:cs typeface="Poppins"/>
              </a:rPr>
              <a:t>en</a:t>
            </a:r>
            <a:r>
              <a:rPr kumimoji="1" lang="en-US" altLang="zh-CN" sz="3200" dirty="0">
                <a:ln w="12700">
                  <a:noFill/>
                </a:ln>
                <a:solidFill>
                  <a:srgbClr val="262626">
                    <a:alpha val="100000"/>
                  </a:srgbClr>
                </a:solidFill>
                <a:latin typeface="Poppins"/>
                <a:ea typeface="Poppins"/>
                <a:cs typeface="Poppins"/>
              </a:rPr>
              <a:t> Redes e </a:t>
            </a:r>
            <a:r>
              <a:rPr kumimoji="1" lang="en-US" altLang="zh-CN" sz="3200" dirty="0" err="1">
                <a:ln w="12700">
                  <a:noFill/>
                </a:ln>
                <a:solidFill>
                  <a:srgbClr val="262626">
                    <a:alpha val="100000"/>
                  </a:srgbClr>
                </a:solidFill>
                <a:latin typeface="Poppins"/>
                <a:ea typeface="Poppins"/>
                <a:cs typeface="Poppins"/>
              </a:rPr>
              <a:t>Infraestructuras</a:t>
            </a:r>
            <a:r>
              <a:rPr kumimoji="1" lang="en-US" altLang="zh-CN" sz="3200" dirty="0">
                <a:ln w="12700">
                  <a:noFill/>
                </a:ln>
                <a:solidFill>
                  <a:srgbClr val="262626">
                    <a:alpha val="100000"/>
                  </a:srgbClr>
                </a:solidFill>
                <a:latin typeface="Poppins"/>
                <a:ea typeface="Poppins"/>
                <a:cs typeface="Poppins"/>
              </a:rPr>
              <a:t> </a:t>
            </a:r>
            <a:r>
              <a:rPr kumimoji="1" lang="en-US" altLang="zh-CN" sz="3200" dirty="0" err="1">
                <a:ln w="12700">
                  <a:noFill/>
                </a:ln>
                <a:solidFill>
                  <a:srgbClr val="262626">
                    <a:alpha val="100000"/>
                  </a:srgbClr>
                </a:solidFill>
                <a:latin typeface="Poppins"/>
                <a:ea typeface="Poppins"/>
                <a:cs typeface="Poppins"/>
              </a:rPr>
              <a:t>Críticas</a:t>
            </a:r>
            <a:r>
              <a:rPr kumimoji="1" lang="en-US" altLang="zh-CN" sz="3200" dirty="0">
                <a:ln w="12700">
                  <a:noFill/>
                </a:ln>
                <a:solidFill>
                  <a:srgbClr val="262626">
                    <a:alpha val="100000"/>
                  </a:srgbClr>
                </a:solidFill>
                <a:latin typeface="Poppins"/>
                <a:ea typeface="Poppins"/>
                <a:cs typeface="Poppins"/>
              </a:rPr>
              <a:t> </a:t>
            </a:r>
            <a:endParaRPr kumimoji="1" lang="zh-CN" altLang="en-US" dirty="0"/>
          </a:p>
        </p:txBody>
      </p:sp>
      <p:cxnSp>
        <p:nvCxnSpPr>
          <p:cNvPr id="8" name="标题 1"/>
          <p:cNvCxnSpPr/>
          <p:nvPr/>
        </p:nvCxnSpPr>
        <p:spPr>
          <a:xfrm>
            <a:off x="1065856" y="773905"/>
            <a:ext cx="0" cy="254795"/>
          </a:xfrm>
          <a:prstGeom prst="line">
            <a:avLst/>
          </a:prstGeom>
          <a:noFill/>
          <a:ln w="12700" cap="sq">
            <a:solidFill>
              <a:schemeClr val="tx1">
                <a:lumMod val="85000"/>
                <a:lumOff val="15000"/>
              </a:schemeClr>
            </a:solidFill>
            <a:miter/>
          </a:ln>
        </p:spPr>
      </p:cxnSp>
      <p:cxnSp>
        <p:nvCxnSpPr>
          <p:cNvPr id="9" name="标题 1"/>
          <p:cNvCxnSpPr/>
          <p:nvPr/>
        </p:nvCxnSpPr>
        <p:spPr>
          <a:xfrm>
            <a:off x="1621972" y="773905"/>
            <a:ext cx="0" cy="254795"/>
          </a:xfrm>
          <a:prstGeom prst="line">
            <a:avLst/>
          </a:prstGeom>
          <a:noFill/>
          <a:ln w="12700" cap="sq">
            <a:solidFill>
              <a:schemeClr val="tx1">
                <a:lumMod val="85000"/>
                <a:lumOff val="15000"/>
              </a:schemeClr>
            </a:solidFill>
            <a:miter/>
          </a:ln>
        </p:spPr>
      </p:cxnSp>
      <p:sp>
        <p:nvSpPr>
          <p:cNvPr id="10" name="标题 1"/>
          <p:cNvSpPr txBox="1"/>
          <p:nvPr/>
        </p:nvSpPr>
        <p:spPr>
          <a:xfrm>
            <a:off x="660400" y="773905"/>
            <a:ext cx="254795" cy="254795"/>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1216516" y="781228"/>
            <a:ext cx="254795" cy="24015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1772651" y="773905"/>
            <a:ext cx="254757" cy="254795"/>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0" y="0"/>
            <a:ext cx="482600" cy="6870700"/>
          </a:xfrm>
          <a:prstGeom prst="rect">
            <a:avLst/>
          </a:prstGeom>
          <a:solidFill>
            <a:srgbClr val="C53645">
              <a:alpha val="100000"/>
            </a:srgbClr>
          </a:solidFill>
        </p:spPr>
        <p:txBody>
          <a:bodyPr vert="horz" wrap="square" lIns="0" tIns="0" rIns="0" bIns="0" rtlCol="0" anchor="ctr"/>
          <a:lstStyle/>
          <a:p>
            <a:pPr algn="ctr"/>
            <a:endParaRPr kumimoji="1" lang="zh-CN" altLang="en-US"/>
          </a:p>
        </p:txBody>
      </p:sp>
      <p:pic>
        <p:nvPicPr>
          <p:cNvPr id="15" name="Imagen 14">
            <a:extLst>
              <a:ext uri="{FF2B5EF4-FFF2-40B4-BE49-F238E27FC236}">
                <a16:creationId xmlns:a16="http://schemas.microsoft.com/office/drawing/2014/main" id="{709FF8F1-0247-2370-0B3C-2276E9FF2D0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3669096" y="2242703"/>
            <a:ext cx="1080000" cy="648000"/>
          </a:xfrm>
          <a:prstGeom prst="rect">
            <a:avLst/>
          </a:prstGeom>
          <a:solidFill>
            <a:schemeClr val="accent1"/>
          </a:solidFill>
          <a:ln cap="sq">
            <a:noFill/>
          </a:ln>
        </p:spPr>
        <p:txBody>
          <a:bodyPr vert="horz" wrap="square" lIns="0" tIns="0" rIns="0" bIns="0" rtlCol="0" anchor="ctr"/>
          <a:lstStyle/>
          <a:p>
            <a:pPr algn="ctr"/>
            <a:endParaRPr kumimoji="1" lang="zh-CN" altLang="en-US"/>
          </a:p>
        </p:txBody>
      </p:sp>
      <p:sp>
        <p:nvSpPr>
          <p:cNvPr id="3" name="标题 1"/>
          <p:cNvSpPr txBox="1"/>
          <p:nvPr/>
        </p:nvSpPr>
        <p:spPr>
          <a:xfrm>
            <a:off x="2476500" y="3066902"/>
            <a:ext cx="3465192" cy="1080000"/>
          </a:xfrm>
          <a:prstGeom prst="rect">
            <a:avLst/>
          </a:prstGeom>
          <a:noFill/>
          <a:ln>
            <a:noFill/>
          </a:ln>
        </p:spPr>
        <p:txBody>
          <a:bodyPr vert="horz" wrap="square" lIns="0" tIns="0" rIns="0" bIns="0" rtlCol="0" anchor="t"/>
          <a:lstStyle/>
          <a:p>
            <a:pPr algn="ctr"/>
            <a:r>
              <a:rPr kumimoji="1" lang="en-US" altLang="zh-CN" sz="1400">
                <a:ln w="12700">
                  <a:noFill/>
                </a:ln>
                <a:solidFill>
                  <a:srgbClr val="404040">
                    <a:alpha val="100000"/>
                  </a:srgbClr>
                </a:solidFill>
                <a:latin typeface="Poppins"/>
                <a:ea typeface="Poppins"/>
                <a:cs typeface="Poppins"/>
              </a:rPr>
              <a:t>Introducción</a:t>
            </a:r>
            <a:endParaRPr kumimoji="1" lang="zh-CN" altLang="en-US"/>
          </a:p>
        </p:txBody>
      </p:sp>
      <p:sp>
        <p:nvSpPr>
          <p:cNvPr id="4" name="标题 1"/>
          <p:cNvSpPr txBox="1"/>
          <p:nvPr/>
        </p:nvSpPr>
        <p:spPr>
          <a:xfrm>
            <a:off x="7430205" y="2242703"/>
            <a:ext cx="1080000" cy="648000"/>
          </a:xfrm>
          <a:prstGeom prst="rect">
            <a:avLst/>
          </a:prstGeom>
          <a:solidFill>
            <a:schemeClr val="accent1"/>
          </a:solidFill>
          <a:ln cap="sq">
            <a:noFill/>
          </a:ln>
        </p:spPr>
        <p:txBody>
          <a:bodyPr vert="horz" wrap="square" lIns="0" tIns="0" rIns="0" bIns="0" rtlCol="0" anchor="ctr"/>
          <a:lstStyle/>
          <a:p>
            <a:pPr algn="ctr"/>
            <a:endParaRPr kumimoji="1" lang="zh-CN" altLang="en-US"/>
          </a:p>
        </p:txBody>
      </p:sp>
      <p:sp>
        <p:nvSpPr>
          <p:cNvPr id="5" name="标题 1"/>
          <p:cNvSpPr txBox="1"/>
          <p:nvPr/>
        </p:nvSpPr>
        <p:spPr>
          <a:xfrm>
            <a:off x="6237608" y="3066902"/>
            <a:ext cx="3465192" cy="1080000"/>
          </a:xfrm>
          <a:prstGeom prst="rect">
            <a:avLst/>
          </a:prstGeom>
          <a:noFill/>
          <a:ln>
            <a:noFill/>
          </a:ln>
        </p:spPr>
        <p:txBody>
          <a:bodyPr vert="horz" wrap="square" lIns="0" tIns="0" rIns="0" bIns="0" rtlCol="0" anchor="t"/>
          <a:lstStyle/>
          <a:p>
            <a:pPr algn="ctr"/>
            <a:r>
              <a:rPr kumimoji="1" lang="en-US" altLang="zh-CN" sz="1400">
                <a:ln w="12700">
                  <a:noFill/>
                </a:ln>
                <a:solidFill>
                  <a:srgbClr val="404040">
                    <a:alpha val="100000"/>
                  </a:srgbClr>
                </a:solidFill>
                <a:latin typeface="Poppins"/>
                <a:ea typeface="Poppins"/>
                <a:cs typeface="Poppins"/>
              </a:rPr>
              <a:t>Principales Amenazas para un Centro de Cómputo</a:t>
            </a:r>
            <a:endParaRPr kumimoji="1" lang="zh-CN" altLang="en-US"/>
          </a:p>
        </p:txBody>
      </p:sp>
      <p:sp>
        <p:nvSpPr>
          <p:cNvPr id="6" name="标题 1"/>
          <p:cNvSpPr txBox="1"/>
          <p:nvPr/>
        </p:nvSpPr>
        <p:spPr>
          <a:xfrm>
            <a:off x="1776400" y="4331501"/>
            <a:ext cx="1080000" cy="648000"/>
          </a:xfrm>
          <a:prstGeom prst="rect">
            <a:avLst/>
          </a:prstGeom>
          <a:solidFill>
            <a:schemeClr val="accent1"/>
          </a:solidFill>
          <a:ln cap="sq">
            <a:noFill/>
          </a:ln>
        </p:spPr>
        <p:txBody>
          <a:bodyPr vert="horz" wrap="square" lIns="0" tIns="0" rIns="0" bIns="0" rtlCol="0" anchor="ctr"/>
          <a:lstStyle/>
          <a:p>
            <a:pPr algn="ctr"/>
            <a:endParaRPr kumimoji="1" lang="zh-CN" altLang="en-US"/>
          </a:p>
        </p:txBody>
      </p:sp>
      <p:sp>
        <p:nvSpPr>
          <p:cNvPr id="7" name="标题 1"/>
          <p:cNvSpPr txBox="1"/>
          <p:nvPr/>
        </p:nvSpPr>
        <p:spPr>
          <a:xfrm>
            <a:off x="583804" y="5155700"/>
            <a:ext cx="3465192" cy="1080000"/>
          </a:xfrm>
          <a:prstGeom prst="rect">
            <a:avLst/>
          </a:prstGeom>
          <a:noFill/>
          <a:ln>
            <a:noFill/>
          </a:ln>
        </p:spPr>
        <p:txBody>
          <a:bodyPr vert="horz" wrap="square" lIns="0" tIns="0" rIns="0" bIns="0" rtlCol="0" anchor="t"/>
          <a:lstStyle/>
          <a:p>
            <a:pPr algn="ctr"/>
            <a:r>
              <a:rPr kumimoji="1" lang="en-US" altLang="zh-CN" sz="1400">
                <a:ln w="12700">
                  <a:noFill/>
                </a:ln>
                <a:solidFill>
                  <a:srgbClr val="404040">
                    <a:alpha val="100000"/>
                  </a:srgbClr>
                </a:solidFill>
                <a:latin typeface="Poppins"/>
                <a:ea typeface="Poppins"/>
                <a:cs typeface="Poppins"/>
              </a:rPr>
              <a:t>Herramientas y Soluciones de Mitigación en el Datacenter</a:t>
            </a:r>
            <a:endParaRPr kumimoji="1" lang="zh-CN" altLang="en-US"/>
          </a:p>
        </p:txBody>
      </p:sp>
      <p:sp>
        <p:nvSpPr>
          <p:cNvPr id="8" name="标题 1"/>
          <p:cNvSpPr txBox="1"/>
          <p:nvPr/>
        </p:nvSpPr>
        <p:spPr>
          <a:xfrm>
            <a:off x="5549650" y="4331501"/>
            <a:ext cx="1080000" cy="648000"/>
          </a:xfrm>
          <a:prstGeom prst="rect">
            <a:avLst/>
          </a:prstGeom>
          <a:solidFill>
            <a:schemeClr val="accent1"/>
          </a:solidFill>
          <a:ln cap="sq">
            <a:noFill/>
          </a:ln>
        </p:spPr>
        <p:txBody>
          <a:bodyPr vert="horz" wrap="square" lIns="0" tIns="0" rIns="0" bIns="0" rtlCol="0" anchor="ctr"/>
          <a:lstStyle/>
          <a:p>
            <a:pPr algn="ctr"/>
            <a:endParaRPr kumimoji="1" lang="zh-CN" altLang="en-US"/>
          </a:p>
        </p:txBody>
      </p:sp>
      <p:sp>
        <p:nvSpPr>
          <p:cNvPr id="9" name="标题 1"/>
          <p:cNvSpPr txBox="1"/>
          <p:nvPr/>
        </p:nvSpPr>
        <p:spPr>
          <a:xfrm>
            <a:off x="4357054" y="5155700"/>
            <a:ext cx="3465192" cy="1080000"/>
          </a:xfrm>
          <a:prstGeom prst="rect">
            <a:avLst/>
          </a:prstGeom>
          <a:noFill/>
          <a:ln>
            <a:noFill/>
          </a:ln>
        </p:spPr>
        <p:txBody>
          <a:bodyPr vert="horz" wrap="square" lIns="0" tIns="0" rIns="0" bIns="0" rtlCol="0" anchor="t"/>
          <a:lstStyle/>
          <a:p>
            <a:pPr algn="ctr"/>
            <a:r>
              <a:rPr kumimoji="1" lang="en-US" altLang="zh-CN" sz="1400">
                <a:ln w="12700">
                  <a:noFill/>
                </a:ln>
                <a:solidFill>
                  <a:srgbClr val="404040">
                    <a:alpha val="100000"/>
                  </a:srgbClr>
                </a:solidFill>
                <a:latin typeface="Poppins"/>
                <a:ea typeface="Poppins"/>
                <a:cs typeface="Poppins"/>
              </a:rPr>
              <a:t>Buenas Prácticas de Protección Perimetral del Centro de Cómputo</a:t>
            </a:r>
            <a:endParaRPr kumimoji="1" lang="zh-CN" altLang="en-US"/>
          </a:p>
        </p:txBody>
      </p:sp>
      <p:sp>
        <p:nvSpPr>
          <p:cNvPr id="10" name="标题 1"/>
          <p:cNvSpPr txBox="1"/>
          <p:nvPr/>
        </p:nvSpPr>
        <p:spPr>
          <a:xfrm>
            <a:off x="9322900" y="4331501"/>
            <a:ext cx="1080000" cy="648000"/>
          </a:xfrm>
          <a:prstGeom prst="rect">
            <a:avLst/>
          </a:prstGeom>
          <a:solidFill>
            <a:schemeClr val="accent1"/>
          </a:solidFill>
          <a:ln cap="sq">
            <a:noFill/>
          </a:ln>
        </p:spPr>
        <p:txBody>
          <a:bodyPr vert="horz" wrap="square" lIns="0" tIns="0" rIns="0" bIns="0" rtlCol="0" anchor="ctr"/>
          <a:lstStyle/>
          <a:p>
            <a:pPr algn="ctr"/>
            <a:endParaRPr kumimoji="1" lang="zh-CN" altLang="en-US"/>
          </a:p>
        </p:txBody>
      </p:sp>
      <p:sp>
        <p:nvSpPr>
          <p:cNvPr id="11" name="标题 1"/>
          <p:cNvSpPr txBox="1"/>
          <p:nvPr/>
        </p:nvSpPr>
        <p:spPr>
          <a:xfrm>
            <a:off x="8130304" y="5155700"/>
            <a:ext cx="3465192" cy="1080000"/>
          </a:xfrm>
          <a:prstGeom prst="rect">
            <a:avLst/>
          </a:prstGeom>
          <a:noFill/>
          <a:ln>
            <a:noFill/>
          </a:ln>
        </p:spPr>
        <p:txBody>
          <a:bodyPr vert="horz" wrap="square" lIns="0" tIns="0" rIns="0" bIns="0" rtlCol="0" anchor="t"/>
          <a:lstStyle/>
          <a:p>
            <a:pPr algn="ctr"/>
            <a:r>
              <a:rPr kumimoji="1" lang="en-US" altLang="zh-CN" sz="1400">
                <a:ln w="12700">
                  <a:noFill/>
                </a:ln>
                <a:solidFill>
                  <a:srgbClr val="404040">
                    <a:alpha val="100000"/>
                  </a:srgbClr>
                </a:solidFill>
                <a:latin typeface="Poppins"/>
                <a:ea typeface="Poppins"/>
                <a:cs typeface="Poppins"/>
              </a:rPr>
              <a:t>Conclusión</a:t>
            </a:r>
            <a:endParaRPr kumimoji="1" lang="zh-CN" altLang="en-US"/>
          </a:p>
        </p:txBody>
      </p:sp>
      <p:sp>
        <p:nvSpPr>
          <p:cNvPr id="12" name="标题 1"/>
          <p:cNvSpPr txBox="1"/>
          <p:nvPr/>
        </p:nvSpPr>
        <p:spPr>
          <a:xfrm>
            <a:off x="2381795" y="631009"/>
            <a:ext cx="7428411" cy="1038755"/>
          </a:xfrm>
          <a:prstGeom prst="rect">
            <a:avLst/>
          </a:prstGeom>
          <a:noFill/>
          <a:ln>
            <a:noFill/>
          </a:ln>
        </p:spPr>
        <p:txBody>
          <a:bodyPr vert="horz" wrap="square" lIns="0" tIns="0" rIns="0" bIns="0" rtlCol="0" anchor="t"/>
          <a:lstStyle/>
          <a:p>
            <a:pPr algn="ctr"/>
            <a:r>
              <a:rPr kumimoji="1" lang="en-US" altLang="zh-CN" sz="6600" dirty="0">
                <a:ln w="12700">
                  <a:noFill/>
                </a:ln>
                <a:solidFill>
                  <a:srgbClr val="C53645">
                    <a:alpha val="100000"/>
                  </a:srgbClr>
                </a:solidFill>
                <a:latin typeface="poppins-bold"/>
                <a:ea typeface="poppins-bold"/>
                <a:cs typeface="poppins-bold"/>
              </a:rPr>
              <a:t>- CONTENIDO -</a:t>
            </a:r>
            <a:endParaRPr kumimoji="1" lang="zh-CN" altLang="en-US" dirty="0"/>
          </a:p>
        </p:txBody>
      </p:sp>
      <p:sp>
        <p:nvSpPr>
          <p:cNvPr id="13" name="标题 1"/>
          <p:cNvSpPr txBox="1"/>
          <p:nvPr/>
        </p:nvSpPr>
        <p:spPr>
          <a:xfrm>
            <a:off x="3758791" y="2320376"/>
            <a:ext cx="900611" cy="492655"/>
          </a:xfrm>
          <a:prstGeom prst="rect">
            <a:avLst/>
          </a:prstGeom>
          <a:noFill/>
          <a:ln>
            <a:noFill/>
          </a:ln>
        </p:spPr>
        <p:txBody>
          <a:bodyPr vert="horz" wrap="square" lIns="0" tIns="0" rIns="0" bIns="0" rtlCol="0" anchor="ctr"/>
          <a:lstStyle/>
          <a:p>
            <a:pPr algn="ctr"/>
            <a:r>
              <a:rPr kumimoji="1" lang="en-US" altLang="zh-CN" sz="3600">
                <a:ln w="12700">
                  <a:noFill/>
                </a:ln>
                <a:solidFill>
                  <a:srgbClr val="FFFFFF">
                    <a:alpha val="100000"/>
                  </a:srgbClr>
                </a:solidFill>
                <a:latin typeface="poppins-bold"/>
                <a:ea typeface="poppins-bold"/>
                <a:cs typeface="poppins-bold"/>
              </a:rPr>
              <a:t>01</a:t>
            </a:r>
            <a:endParaRPr kumimoji="1" lang="zh-CN" altLang="en-US"/>
          </a:p>
        </p:txBody>
      </p:sp>
      <p:sp>
        <p:nvSpPr>
          <p:cNvPr id="14" name="标题 1"/>
          <p:cNvSpPr txBox="1"/>
          <p:nvPr/>
        </p:nvSpPr>
        <p:spPr>
          <a:xfrm>
            <a:off x="7530691" y="2320376"/>
            <a:ext cx="900611" cy="492655"/>
          </a:xfrm>
          <a:prstGeom prst="rect">
            <a:avLst/>
          </a:prstGeom>
          <a:noFill/>
          <a:ln>
            <a:noFill/>
          </a:ln>
        </p:spPr>
        <p:txBody>
          <a:bodyPr vert="horz" wrap="square" lIns="0" tIns="0" rIns="0" bIns="0" rtlCol="0" anchor="ctr"/>
          <a:lstStyle/>
          <a:p>
            <a:pPr algn="ctr"/>
            <a:r>
              <a:rPr kumimoji="1" lang="en-US" altLang="zh-CN" sz="3600">
                <a:ln w="12700">
                  <a:noFill/>
                </a:ln>
                <a:solidFill>
                  <a:srgbClr val="FFFFFF">
                    <a:alpha val="100000"/>
                  </a:srgbClr>
                </a:solidFill>
                <a:latin typeface="poppins-bold"/>
                <a:ea typeface="poppins-bold"/>
                <a:cs typeface="poppins-bold"/>
              </a:rPr>
              <a:t>02</a:t>
            </a:r>
            <a:endParaRPr kumimoji="1" lang="zh-CN" altLang="en-US"/>
          </a:p>
        </p:txBody>
      </p:sp>
      <p:sp>
        <p:nvSpPr>
          <p:cNvPr id="15" name="标题 1"/>
          <p:cNvSpPr txBox="1"/>
          <p:nvPr/>
        </p:nvSpPr>
        <p:spPr>
          <a:xfrm>
            <a:off x="1866491" y="4415876"/>
            <a:ext cx="900611" cy="492655"/>
          </a:xfrm>
          <a:prstGeom prst="rect">
            <a:avLst/>
          </a:prstGeom>
          <a:noFill/>
          <a:ln>
            <a:noFill/>
          </a:ln>
        </p:spPr>
        <p:txBody>
          <a:bodyPr vert="horz" wrap="square" lIns="0" tIns="0" rIns="0" bIns="0" rtlCol="0" anchor="ctr"/>
          <a:lstStyle/>
          <a:p>
            <a:pPr algn="ctr"/>
            <a:r>
              <a:rPr kumimoji="1" lang="en-US" altLang="zh-CN" sz="3600">
                <a:ln w="12700">
                  <a:noFill/>
                </a:ln>
                <a:solidFill>
                  <a:srgbClr val="FFFFFF">
                    <a:alpha val="100000"/>
                  </a:srgbClr>
                </a:solidFill>
                <a:latin typeface="poppins-bold"/>
                <a:ea typeface="poppins-bold"/>
                <a:cs typeface="poppins-bold"/>
              </a:rPr>
              <a:t>03</a:t>
            </a:r>
            <a:endParaRPr kumimoji="1" lang="zh-CN" altLang="en-US"/>
          </a:p>
        </p:txBody>
      </p:sp>
      <p:sp>
        <p:nvSpPr>
          <p:cNvPr id="16" name="标题 1"/>
          <p:cNvSpPr txBox="1"/>
          <p:nvPr/>
        </p:nvSpPr>
        <p:spPr>
          <a:xfrm>
            <a:off x="5651091" y="4415876"/>
            <a:ext cx="900611" cy="492655"/>
          </a:xfrm>
          <a:prstGeom prst="rect">
            <a:avLst/>
          </a:prstGeom>
          <a:noFill/>
          <a:ln>
            <a:noFill/>
          </a:ln>
        </p:spPr>
        <p:txBody>
          <a:bodyPr vert="horz" wrap="square" lIns="0" tIns="0" rIns="0" bIns="0" rtlCol="0" anchor="ctr"/>
          <a:lstStyle/>
          <a:p>
            <a:pPr algn="ctr"/>
            <a:r>
              <a:rPr kumimoji="1" lang="en-US" altLang="zh-CN" sz="3600">
                <a:ln w="12700">
                  <a:noFill/>
                </a:ln>
                <a:solidFill>
                  <a:srgbClr val="FFFFFF">
                    <a:alpha val="100000"/>
                  </a:srgbClr>
                </a:solidFill>
                <a:latin typeface="poppins-bold"/>
                <a:ea typeface="poppins-bold"/>
                <a:cs typeface="poppins-bold"/>
              </a:rPr>
              <a:t>04</a:t>
            </a:r>
            <a:endParaRPr kumimoji="1" lang="zh-CN" altLang="en-US"/>
          </a:p>
        </p:txBody>
      </p:sp>
      <p:sp>
        <p:nvSpPr>
          <p:cNvPr id="17" name="标题 1"/>
          <p:cNvSpPr txBox="1"/>
          <p:nvPr/>
        </p:nvSpPr>
        <p:spPr>
          <a:xfrm>
            <a:off x="9422991" y="4415876"/>
            <a:ext cx="900611" cy="492655"/>
          </a:xfrm>
          <a:prstGeom prst="rect">
            <a:avLst/>
          </a:prstGeom>
          <a:noFill/>
          <a:ln>
            <a:noFill/>
          </a:ln>
        </p:spPr>
        <p:txBody>
          <a:bodyPr vert="horz" wrap="square" lIns="0" tIns="0" rIns="0" bIns="0" rtlCol="0" anchor="ctr"/>
          <a:lstStyle/>
          <a:p>
            <a:pPr algn="ctr"/>
            <a:r>
              <a:rPr kumimoji="1" lang="en-US" altLang="zh-CN" sz="3600">
                <a:ln w="12700">
                  <a:noFill/>
                </a:ln>
                <a:solidFill>
                  <a:srgbClr val="FFFFFF">
                    <a:alpha val="100000"/>
                  </a:srgbClr>
                </a:solidFill>
                <a:latin typeface="poppins-bold"/>
                <a:ea typeface="poppins-bold"/>
                <a:cs typeface="poppins-bold"/>
              </a:rPr>
              <a:t>05</a:t>
            </a:r>
            <a:endParaRPr kumimoji="1" lang="zh-CN" altLang="en-US"/>
          </a:p>
        </p:txBody>
      </p:sp>
      <p:pic>
        <p:nvPicPr>
          <p:cNvPr id="18" name="Imagen 17">
            <a:extLst>
              <a:ext uri="{FF2B5EF4-FFF2-40B4-BE49-F238E27FC236}">
                <a16:creationId xmlns:a16="http://schemas.microsoft.com/office/drawing/2014/main" id="{CD8BCEA9-C396-FC77-362F-55FCC2ED702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599330" y="1774109"/>
            <a:ext cx="1755485" cy="1117115"/>
          </a:xfrm>
          <a:prstGeom prst="rect">
            <a:avLst/>
          </a:prstGeom>
          <a:noFill/>
          <a:ln w="12700" cap="sq">
            <a:noFill/>
            <a:miter/>
          </a:ln>
        </p:spPr>
        <p:txBody>
          <a:bodyPr vert="horz" wrap="square" lIns="0" tIns="0" rIns="0" bIns="0" rtlCol="0" anchor="ctr"/>
          <a:lstStyle/>
          <a:p>
            <a:pPr algn="l"/>
            <a:r>
              <a:rPr kumimoji="1" lang="en-US" altLang="zh-CN" sz="8000" dirty="0">
                <a:ln w="12700">
                  <a:noFill/>
                </a:ln>
                <a:solidFill>
                  <a:srgbClr val="262626">
                    <a:alpha val="100000"/>
                  </a:srgbClr>
                </a:solidFill>
                <a:latin typeface="poppins-bold"/>
                <a:ea typeface="poppins-bold"/>
                <a:cs typeface="poppins-bold"/>
              </a:rPr>
              <a:t> 01</a:t>
            </a:r>
            <a:endParaRPr kumimoji="1" lang="zh-CN" altLang="en-US" dirty="0"/>
          </a:p>
        </p:txBody>
      </p:sp>
      <p:sp>
        <p:nvSpPr>
          <p:cNvPr id="7" name="标题 1"/>
          <p:cNvSpPr txBox="1"/>
          <p:nvPr/>
        </p:nvSpPr>
        <p:spPr>
          <a:xfrm>
            <a:off x="1477072" y="2956592"/>
            <a:ext cx="5911783" cy="2020369"/>
          </a:xfrm>
          <a:prstGeom prst="rect">
            <a:avLst/>
          </a:prstGeom>
          <a:noFill/>
          <a:ln w="12700" cap="sq">
            <a:noFill/>
            <a:miter/>
          </a:ln>
        </p:spPr>
        <p:txBody>
          <a:bodyPr vert="horz" wrap="square" lIns="0" tIns="0" rIns="0" bIns="0" rtlCol="0" anchor="t"/>
          <a:lstStyle/>
          <a:p>
            <a:pPr algn="l"/>
            <a:r>
              <a:rPr kumimoji="1" lang="en-US" altLang="zh-CN" sz="2400" dirty="0" err="1">
                <a:ln w="12700">
                  <a:noFill/>
                </a:ln>
                <a:solidFill>
                  <a:srgbClr val="262626">
                    <a:alpha val="100000"/>
                  </a:srgbClr>
                </a:solidFill>
                <a:latin typeface="poppins-bold"/>
                <a:ea typeface="poppins-bold"/>
                <a:cs typeface="poppins-bold"/>
              </a:rPr>
              <a:t>Introducción</a:t>
            </a:r>
            <a:endParaRPr kumimoji="1" lang="zh-CN" altLang="en-US" dirty="0"/>
          </a:p>
        </p:txBody>
      </p:sp>
      <p:pic>
        <p:nvPicPr>
          <p:cNvPr id="10" name="Imagen 9">
            <a:extLst>
              <a:ext uri="{FF2B5EF4-FFF2-40B4-BE49-F238E27FC236}">
                <a16:creationId xmlns:a16="http://schemas.microsoft.com/office/drawing/2014/main" id="{D09E108A-ED23-44BA-5114-8FF2D8B5C78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783520" y="1625072"/>
            <a:ext cx="3666246" cy="3656604"/>
          </a:xfrm>
          <a:prstGeom prst="rect">
            <a:avLst/>
          </a:prstGeom>
          <a:solidFill>
            <a:schemeClr val="accent6">
              <a:lumMod val="40000"/>
              <a:lumOff val="60000"/>
            </a:schemeClr>
          </a:solidFill>
          <a:ln w="12700" cap="sq">
            <a:noFill/>
            <a:miter/>
          </a:ln>
          <a:effectLst>
            <a:outerShdw blurRad="38100" dist="12700" dir="5400000" algn="ctr" rotWithShape="0">
              <a:srgbClr val="000000">
                <a:alpha val="15000"/>
              </a:srgbClr>
            </a:outerShdw>
          </a:effectLst>
        </p:spPr>
        <p:txBody>
          <a:bodyPr vert="horz" wrap="square" lIns="274320" tIns="731520" rIns="274320" bIns="45720" rtlCol="0" anchor="t"/>
          <a:lstStyle/>
          <a:p>
            <a:pPr algn="just"/>
            <a:r>
              <a:rPr kumimoji="1" lang="es-EC" sz="1400" dirty="0">
                <a:ln w="12700">
                  <a:noFill/>
                </a:ln>
                <a:solidFill>
                  <a:srgbClr val="404040">
                    <a:alpha val="100000"/>
                  </a:srgbClr>
                </a:solidFill>
                <a:latin typeface="Poppins"/>
                <a:cs typeface="Poppins"/>
              </a:rPr>
              <a:t>La ciberseguridad en redes e infraestructuras críticas es un pilar esencial dentro de la administración de centros de cómputo, ya que estos entornos concentran los recursos tecnológicos más importantes de una organización: servidores, sistemas de almacenamiento, redes de comunicación, dispositivos </a:t>
            </a:r>
            <a:r>
              <a:rPr kumimoji="1" lang="es-EC" sz="1400" dirty="0" err="1">
                <a:ln w="12700">
                  <a:noFill/>
                </a:ln>
                <a:solidFill>
                  <a:srgbClr val="404040">
                    <a:alpha val="100000"/>
                  </a:srgbClr>
                </a:solidFill>
                <a:latin typeface="Poppins"/>
                <a:cs typeface="Poppins"/>
              </a:rPr>
              <a:t>IoT</a:t>
            </a:r>
            <a:r>
              <a:rPr kumimoji="1" lang="es-EC" sz="1400" dirty="0">
                <a:ln w="12700">
                  <a:noFill/>
                </a:ln>
                <a:solidFill>
                  <a:srgbClr val="404040">
                    <a:alpha val="100000"/>
                  </a:srgbClr>
                </a:solidFill>
                <a:latin typeface="Poppins"/>
                <a:cs typeface="Poppins"/>
              </a:rPr>
              <a:t> y servicios digitales que soportan las operaciones institucionales.</a:t>
            </a:r>
            <a:r>
              <a:rPr kumimoji="1" lang="en-US" altLang="zh-CN" sz="1400" dirty="0">
                <a:ln w="12700">
                  <a:noFill/>
                </a:ln>
                <a:solidFill>
                  <a:srgbClr val="404040">
                    <a:alpha val="100000"/>
                  </a:srgbClr>
                </a:solidFill>
                <a:latin typeface="Poppins"/>
                <a:cs typeface="Poppins"/>
              </a:rPr>
              <a:t>.</a:t>
            </a:r>
            <a:endParaRPr kumimoji="1" lang="zh-CN" altLang="en-US" sz="1400" dirty="0">
              <a:ln w="12700">
                <a:noFill/>
              </a:ln>
              <a:solidFill>
                <a:srgbClr val="404040">
                  <a:alpha val="100000"/>
                </a:srgbClr>
              </a:solidFill>
              <a:latin typeface="Poppins"/>
              <a:cs typeface="Poppins"/>
            </a:endParaRPr>
          </a:p>
        </p:txBody>
      </p:sp>
      <p:sp>
        <p:nvSpPr>
          <p:cNvPr id="3" name="标题 1"/>
          <p:cNvSpPr txBox="1"/>
          <p:nvPr/>
        </p:nvSpPr>
        <p:spPr>
          <a:xfrm>
            <a:off x="4770050" y="1625072"/>
            <a:ext cx="2698114" cy="3656604"/>
          </a:xfrm>
          <a:prstGeom prst="rect">
            <a:avLst/>
          </a:prstGeom>
          <a:solidFill>
            <a:schemeClr val="accent6">
              <a:lumMod val="20000"/>
              <a:lumOff val="80000"/>
            </a:schemeClr>
          </a:solidFill>
          <a:ln w="12700" cap="sq">
            <a:noFill/>
            <a:miter/>
          </a:ln>
          <a:effectLst>
            <a:outerShdw blurRad="762000" dist="254000" dir="5400000" algn="t" rotWithShape="0">
              <a:srgbClr val="000000">
                <a:alpha val="30000"/>
              </a:srgbClr>
            </a:outerShdw>
          </a:effectLst>
        </p:spPr>
        <p:txBody>
          <a:bodyPr vert="horz" wrap="square" lIns="274320" tIns="731520" rIns="274320" bIns="45720" rtlCol="0" anchor="t"/>
          <a:lstStyle/>
          <a:p>
            <a:r>
              <a:rPr kumimoji="1" lang="es-EC" sz="1400" dirty="0">
                <a:ln w="12700">
                  <a:noFill/>
                </a:ln>
                <a:solidFill>
                  <a:srgbClr val="404040">
                    <a:alpha val="100000"/>
                  </a:srgbClr>
                </a:solidFill>
                <a:latin typeface="Poppins"/>
                <a:cs typeface="Poppins"/>
              </a:rPr>
              <a:t>El</a:t>
            </a:r>
            <a:r>
              <a:rPr lang="es-EC" dirty="0"/>
              <a:t> </a:t>
            </a:r>
            <a:r>
              <a:rPr kumimoji="1" lang="es-EC" sz="1400" dirty="0">
                <a:ln w="12700">
                  <a:noFill/>
                </a:ln>
                <a:solidFill>
                  <a:srgbClr val="404040">
                    <a:alpha val="100000"/>
                  </a:srgbClr>
                </a:solidFill>
                <a:latin typeface="Poppins"/>
                <a:cs typeface="Poppins"/>
              </a:rPr>
              <a:t>objetivo principal es garantizar la confidencialidad, integridad y disponibilidad de la información y los servicios que sustentan las actividades académicas, administrativas y operativas.</a:t>
            </a:r>
          </a:p>
        </p:txBody>
      </p:sp>
      <p:sp>
        <p:nvSpPr>
          <p:cNvPr id="4" name="标题 1"/>
          <p:cNvSpPr txBox="1"/>
          <p:nvPr/>
        </p:nvSpPr>
        <p:spPr>
          <a:xfrm>
            <a:off x="7788448" y="1625073"/>
            <a:ext cx="3036592" cy="3656604"/>
          </a:xfrm>
          <a:prstGeom prst="rect">
            <a:avLst/>
          </a:prstGeom>
          <a:solidFill>
            <a:schemeClr val="accent6">
              <a:lumMod val="40000"/>
              <a:lumOff val="60000"/>
            </a:schemeClr>
          </a:solidFill>
          <a:ln w="12700" cap="sq">
            <a:noFill/>
            <a:miter/>
          </a:ln>
          <a:effectLst>
            <a:outerShdw blurRad="38100" dist="12700" dir="5400000" algn="ctr" rotWithShape="0">
              <a:srgbClr val="000000">
                <a:alpha val="15000"/>
              </a:srgbClr>
            </a:outerShdw>
          </a:effectLst>
        </p:spPr>
        <p:txBody>
          <a:bodyPr vert="horz" wrap="square" lIns="274320" tIns="731520" rIns="274320" bIns="45720" rtlCol="0" anchor="t"/>
          <a:lstStyle/>
          <a:p>
            <a:pPr algn="just"/>
            <a:r>
              <a:rPr kumimoji="1" lang="es-EC" sz="1400" dirty="0">
                <a:ln w="12700">
                  <a:noFill/>
                </a:ln>
                <a:solidFill>
                  <a:srgbClr val="404040">
                    <a:alpha val="100000"/>
                  </a:srgbClr>
                </a:solidFill>
                <a:latin typeface="Poppins"/>
                <a:cs typeface="Poppins"/>
              </a:rPr>
              <a:t>Las amenazas a un datacenter son una combinación peligrosa de ataques físicos y lógicos, mucho más sofisticados que los que enfrenta un usuario común.</a:t>
            </a:r>
          </a:p>
          <a:p>
            <a:pPr algn="just"/>
            <a:endParaRPr kumimoji="1" lang="zh-CN" altLang="en-US" sz="1400" dirty="0">
              <a:ln w="12700">
                <a:noFill/>
              </a:ln>
              <a:solidFill>
                <a:srgbClr val="404040">
                  <a:alpha val="100000"/>
                </a:srgbClr>
              </a:solidFill>
              <a:latin typeface="Poppins"/>
              <a:cs typeface="Poppins"/>
            </a:endParaRPr>
          </a:p>
        </p:txBody>
      </p:sp>
      <p:sp>
        <p:nvSpPr>
          <p:cNvPr id="5" name="标题 1"/>
          <p:cNvSpPr txBox="1"/>
          <p:nvPr/>
        </p:nvSpPr>
        <p:spPr>
          <a:xfrm>
            <a:off x="362551" y="935040"/>
            <a:ext cx="10858500" cy="634533"/>
          </a:xfrm>
          <a:prstGeom prst="rect">
            <a:avLst/>
          </a:prstGeom>
          <a:noFill/>
          <a:ln>
            <a:noFill/>
          </a:ln>
        </p:spPr>
        <p:txBody>
          <a:bodyPr vert="horz" wrap="square" lIns="91440" tIns="45720" rIns="91440" bIns="45720" rtlCol="0" anchor="t"/>
          <a:lstStyle/>
          <a:p>
            <a:pPr algn="ctr"/>
            <a:r>
              <a:rPr kumimoji="1" lang="en-US" altLang="zh-CN" sz="1600" dirty="0" err="1">
                <a:ln w="12700">
                  <a:noFill/>
                </a:ln>
                <a:solidFill>
                  <a:srgbClr val="000000">
                    <a:alpha val="100000"/>
                  </a:srgbClr>
                </a:solidFill>
                <a:latin typeface="poppins-bold"/>
                <a:ea typeface="poppins-bold"/>
                <a:cs typeface="poppins-bold"/>
              </a:rPr>
              <a:t>Responsabilidad</a:t>
            </a:r>
            <a:r>
              <a:rPr kumimoji="1" lang="en-US" altLang="zh-CN" sz="1600" dirty="0">
                <a:ln w="12700">
                  <a:noFill/>
                </a:ln>
                <a:solidFill>
                  <a:srgbClr val="000000">
                    <a:alpha val="100000"/>
                  </a:srgbClr>
                </a:solidFill>
                <a:latin typeface="poppins-bold"/>
                <a:ea typeface="poppins-bold"/>
                <a:cs typeface="poppins-bold"/>
              </a:rPr>
              <a:t> del Administrador de Centros de </a:t>
            </a:r>
            <a:r>
              <a:rPr kumimoji="1" lang="en-US" altLang="zh-CN" sz="1600" dirty="0" err="1">
                <a:ln w="12700">
                  <a:noFill/>
                </a:ln>
                <a:solidFill>
                  <a:srgbClr val="000000">
                    <a:alpha val="100000"/>
                  </a:srgbClr>
                </a:solidFill>
                <a:latin typeface="poppins-bold"/>
                <a:ea typeface="poppins-bold"/>
                <a:cs typeface="poppins-bold"/>
              </a:rPr>
              <a:t>Cómputo</a:t>
            </a:r>
            <a:endParaRPr kumimoji="1" lang="zh-CN" altLang="en-US" dirty="0"/>
          </a:p>
        </p:txBody>
      </p:sp>
      <p:sp>
        <p:nvSpPr>
          <p:cNvPr id="6"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Contexto</a:t>
            </a:r>
            <a:endParaRPr kumimoji="1" lang="zh-CN" altLang="en-US"/>
          </a:p>
        </p:txBody>
      </p:sp>
      <p:sp>
        <p:nvSpPr>
          <p:cNvPr id="7"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9" name="Imagen 8">
            <a:extLst>
              <a:ext uri="{FF2B5EF4-FFF2-40B4-BE49-F238E27FC236}">
                <a16:creationId xmlns:a16="http://schemas.microsoft.com/office/drawing/2014/main" id="{E2C0E1E7-AF00-ADBD-D098-E0263AFA5D4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610760" y="1636949"/>
            <a:ext cx="1755485" cy="1117115"/>
          </a:xfrm>
          <a:prstGeom prst="rect">
            <a:avLst/>
          </a:prstGeom>
          <a:noFill/>
          <a:ln w="12700" cap="sq">
            <a:noFill/>
            <a:miter/>
          </a:ln>
        </p:spPr>
        <p:txBody>
          <a:bodyPr vert="horz" wrap="square" lIns="0" tIns="0" rIns="0" bIns="0" rtlCol="0" anchor="ctr"/>
          <a:lstStyle/>
          <a:p>
            <a:pPr algn="l"/>
            <a:r>
              <a:rPr kumimoji="1" lang="en-US" altLang="zh-CN" sz="8000" dirty="0">
                <a:ln w="12700">
                  <a:noFill/>
                </a:ln>
                <a:solidFill>
                  <a:srgbClr val="262626">
                    <a:alpha val="100000"/>
                  </a:srgbClr>
                </a:solidFill>
                <a:latin typeface="poppins-bold"/>
                <a:ea typeface="poppins-bold"/>
                <a:cs typeface="poppins-bold"/>
              </a:rPr>
              <a:t> 02</a:t>
            </a:r>
            <a:endParaRPr kumimoji="1" lang="zh-CN" altLang="en-US" dirty="0"/>
          </a:p>
        </p:txBody>
      </p:sp>
      <p:sp>
        <p:nvSpPr>
          <p:cNvPr id="7" name="标题 1"/>
          <p:cNvSpPr txBox="1"/>
          <p:nvPr/>
        </p:nvSpPr>
        <p:spPr>
          <a:xfrm>
            <a:off x="1488502" y="2897795"/>
            <a:ext cx="5911783" cy="2020369"/>
          </a:xfrm>
          <a:prstGeom prst="rect">
            <a:avLst/>
          </a:prstGeom>
          <a:noFill/>
          <a:ln w="12700" cap="sq">
            <a:noFill/>
            <a:miter/>
          </a:ln>
        </p:spPr>
        <p:txBody>
          <a:bodyPr vert="horz" wrap="square" lIns="0" tIns="0" rIns="0" bIns="0" rtlCol="0" anchor="t"/>
          <a:lstStyle/>
          <a:p>
            <a:pPr algn="l"/>
            <a:r>
              <a:rPr kumimoji="1" lang="en-US" altLang="zh-CN" sz="2400" dirty="0" err="1">
                <a:ln w="12700">
                  <a:noFill/>
                </a:ln>
                <a:solidFill>
                  <a:srgbClr val="262626">
                    <a:alpha val="100000"/>
                  </a:srgbClr>
                </a:solidFill>
                <a:latin typeface="poppins-bold"/>
                <a:ea typeface="poppins-bold"/>
                <a:cs typeface="poppins-bold"/>
              </a:rPr>
              <a:t>Principales</a:t>
            </a:r>
            <a:r>
              <a:rPr kumimoji="1" lang="en-US" altLang="zh-CN" sz="2400" dirty="0">
                <a:ln w="12700">
                  <a:noFill/>
                </a:ln>
                <a:solidFill>
                  <a:srgbClr val="262626">
                    <a:alpha val="100000"/>
                  </a:srgbClr>
                </a:solidFill>
                <a:latin typeface="poppins-bold"/>
                <a:ea typeface="poppins-bold"/>
                <a:cs typeface="poppins-bold"/>
              </a:rPr>
              <a:t> </a:t>
            </a:r>
            <a:r>
              <a:rPr kumimoji="1" lang="en-US" altLang="zh-CN" sz="2400" dirty="0" err="1">
                <a:ln w="12700">
                  <a:noFill/>
                </a:ln>
                <a:solidFill>
                  <a:srgbClr val="262626">
                    <a:alpha val="100000"/>
                  </a:srgbClr>
                </a:solidFill>
                <a:latin typeface="poppins-bold"/>
                <a:ea typeface="poppins-bold"/>
                <a:cs typeface="poppins-bold"/>
              </a:rPr>
              <a:t>Amenazas</a:t>
            </a:r>
            <a:r>
              <a:rPr kumimoji="1" lang="en-US" altLang="zh-CN" sz="2400" dirty="0">
                <a:ln w="12700">
                  <a:noFill/>
                </a:ln>
                <a:solidFill>
                  <a:srgbClr val="262626">
                    <a:alpha val="100000"/>
                  </a:srgbClr>
                </a:solidFill>
                <a:latin typeface="poppins-bold"/>
                <a:ea typeface="poppins-bold"/>
                <a:cs typeface="poppins-bold"/>
              </a:rPr>
              <a:t> para un Centro de </a:t>
            </a:r>
            <a:r>
              <a:rPr kumimoji="1" lang="en-US" altLang="zh-CN" sz="2400" dirty="0" err="1">
                <a:ln w="12700">
                  <a:noFill/>
                </a:ln>
                <a:solidFill>
                  <a:srgbClr val="262626">
                    <a:alpha val="100000"/>
                  </a:srgbClr>
                </a:solidFill>
                <a:latin typeface="poppins-bold"/>
                <a:ea typeface="poppins-bold"/>
                <a:cs typeface="poppins-bold"/>
              </a:rPr>
              <a:t>Cómputo</a:t>
            </a:r>
            <a:endParaRPr kumimoji="1" lang="zh-CN" altLang="en-US" dirty="0"/>
          </a:p>
        </p:txBody>
      </p:sp>
      <p:pic>
        <p:nvPicPr>
          <p:cNvPr id="10" name="Imagen 9">
            <a:extLst>
              <a:ext uri="{FF2B5EF4-FFF2-40B4-BE49-F238E27FC236}">
                <a16:creationId xmlns:a16="http://schemas.microsoft.com/office/drawing/2014/main" id="{68643D85-9BE9-D0DB-AC88-FCBC466EE37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5030901" y="1363744"/>
            <a:ext cx="6487998" cy="1311921"/>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18900000" flipH="1">
            <a:off x="4543042" y="1346275"/>
            <a:ext cx="1235616" cy="1235616"/>
          </a:xfrm>
          <a:prstGeom prst="roundRect">
            <a:avLst>
              <a:gd name="adj" fmla="val 5403"/>
            </a:avLst>
          </a:prstGeom>
          <a:solidFill>
            <a:schemeClr val="accent1">
              <a:lumMod val="60000"/>
              <a:lumOff val="40000"/>
            </a:schemeClr>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6151488" y="1813927"/>
            <a:ext cx="5194607" cy="929918"/>
          </a:xfrm>
          <a:prstGeom prst="rect">
            <a:avLst/>
          </a:prstGeom>
          <a:noFill/>
          <a:ln>
            <a:noFill/>
          </a:ln>
        </p:spPr>
        <p:txBody>
          <a:bodyPr vert="horz" wrap="square" lIns="0" tIns="0" rIns="0" bIns="0" rtlCol="0" anchor="t"/>
          <a:lstStyle/>
          <a:p>
            <a:pPr algn="l"/>
            <a:r>
              <a:rPr kumimoji="1" lang="en-US" altLang="zh-CN" sz="1200" dirty="0">
                <a:ln w="12700">
                  <a:noFill/>
                </a:ln>
                <a:solidFill>
                  <a:srgbClr val="FFFFFF">
                    <a:alpha val="100000"/>
                  </a:srgbClr>
                </a:solidFill>
                <a:latin typeface="Poppins"/>
                <a:ea typeface="Poppins"/>
                <a:cs typeface="Poppins"/>
              </a:rPr>
              <a:t>Personas con </a:t>
            </a:r>
            <a:r>
              <a:rPr kumimoji="1" lang="en-US" altLang="zh-CN" sz="1200" dirty="0" err="1">
                <a:ln w="12700">
                  <a:noFill/>
                </a:ln>
                <a:solidFill>
                  <a:srgbClr val="FFFFFF">
                    <a:alpha val="100000"/>
                  </a:srgbClr>
                </a:solidFill>
                <a:latin typeface="Poppins"/>
                <a:ea typeface="Poppins"/>
                <a:cs typeface="Poppins"/>
              </a:rPr>
              <a:t>credenciales</a:t>
            </a:r>
            <a:r>
              <a:rPr kumimoji="1" lang="en-US" altLang="zh-CN" sz="1200" dirty="0">
                <a:ln w="12700">
                  <a:noFill/>
                </a:ln>
                <a:solidFill>
                  <a:srgbClr val="FFFFFF">
                    <a:alpha val="100000"/>
                  </a:srgbClr>
                </a:solidFill>
                <a:latin typeface="Poppins"/>
                <a:ea typeface="Poppins"/>
                <a:cs typeface="Poppins"/>
              </a:rPr>
              <a:t> falsas.
</a:t>
            </a:r>
            <a:r>
              <a:rPr kumimoji="1" lang="en-US" altLang="zh-CN" sz="1200" dirty="0" err="1">
                <a:ln w="12700">
                  <a:noFill/>
                </a:ln>
                <a:solidFill>
                  <a:srgbClr val="FFFFFF">
                    <a:alpha val="100000"/>
                  </a:srgbClr>
                </a:solidFill>
                <a:latin typeface="Poppins"/>
                <a:ea typeface="Poppins"/>
                <a:cs typeface="Poppins"/>
              </a:rPr>
              <a:t>Riesgos</a:t>
            </a:r>
            <a:r>
              <a:rPr kumimoji="1" lang="en-US" altLang="zh-CN" sz="1200" dirty="0">
                <a:ln w="12700">
                  <a:noFill/>
                </a:ln>
                <a:solidFill>
                  <a:srgbClr val="FFFFFF">
                    <a:alpha val="100000"/>
                  </a:srgbClr>
                </a:solidFill>
                <a:latin typeface="Poppins"/>
                <a:ea typeface="Poppins"/>
                <a:cs typeface="Poppins"/>
              </a:rPr>
              <a:t> de </a:t>
            </a:r>
            <a:r>
              <a:rPr kumimoji="1" lang="en-US" altLang="zh-CN" sz="1200" dirty="0" err="1">
                <a:ln w="12700">
                  <a:noFill/>
                </a:ln>
                <a:solidFill>
                  <a:srgbClr val="FFFFFF">
                    <a:alpha val="100000"/>
                  </a:srgbClr>
                </a:solidFill>
                <a:latin typeface="Poppins"/>
                <a:ea typeface="Poppins"/>
                <a:cs typeface="Poppins"/>
              </a:rPr>
              <a:t>robo</a:t>
            </a:r>
            <a:r>
              <a:rPr kumimoji="1" lang="en-US" altLang="zh-CN" sz="1200" dirty="0">
                <a:ln w="12700">
                  <a:noFill/>
                </a:ln>
                <a:solidFill>
                  <a:srgbClr val="FFFFFF">
                    <a:alpha val="100000"/>
                  </a:srgbClr>
                </a:solidFill>
                <a:latin typeface="Poppins"/>
                <a:ea typeface="Poppins"/>
                <a:cs typeface="Poppins"/>
              </a:rPr>
              <a:t> de discos </a:t>
            </a:r>
            <a:r>
              <a:rPr kumimoji="1" lang="en-US" altLang="zh-CN" sz="1200" dirty="0" err="1">
                <a:ln w="12700">
                  <a:noFill/>
                </a:ln>
                <a:solidFill>
                  <a:srgbClr val="FFFFFF">
                    <a:alpha val="100000"/>
                  </a:srgbClr>
                </a:solidFill>
                <a:latin typeface="Poppins"/>
                <a:ea typeface="Poppins"/>
                <a:cs typeface="Poppins"/>
              </a:rPr>
              <a:t>duros</a:t>
            </a:r>
            <a:r>
              <a:rPr kumimoji="1" lang="en-US" altLang="zh-CN" sz="1200" dirty="0">
                <a:ln w="12700">
                  <a:noFill/>
                </a:ln>
                <a:solidFill>
                  <a:srgbClr val="FFFFFF">
                    <a:alpha val="100000"/>
                  </a:srgbClr>
                </a:solidFill>
                <a:latin typeface="Poppins"/>
                <a:ea typeface="Poppins"/>
                <a:cs typeface="Poppins"/>
              </a:rPr>
              <a:t> y corte de cables de </a:t>
            </a:r>
            <a:r>
              <a:rPr kumimoji="1" lang="en-US" altLang="zh-CN" sz="1200" dirty="0" err="1">
                <a:ln w="12700">
                  <a:noFill/>
                </a:ln>
                <a:solidFill>
                  <a:srgbClr val="FFFFFF">
                    <a:alpha val="100000"/>
                  </a:srgbClr>
                </a:solidFill>
                <a:latin typeface="Poppins"/>
                <a:ea typeface="Poppins"/>
                <a:cs typeface="Poppins"/>
              </a:rPr>
              <a:t>fibra</a:t>
            </a:r>
            <a:r>
              <a:rPr kumimoji="1" lang="en-US" altLang="zh-CN" sz="1200" dirty="0">
                <a:ln w="12700">
                  <a:noFill/>
                </a:ln>
                <a:solidFill>
                  <a:srgbClr val="FFFFFF">
                    <a:alpha val="100000"/>
                  </a:srgbClr>
                </a:solidFill>
                <a:latin typeface="Poppins"/>
                <a:ea typeface="Poppins"/>
                <a:cs typeface="Poppins"/>
              </a:rPr>
              <a:t> </a:t>
            </a:r>
            <a:r>
              <a:rPr kumimoji="1" lang="en-US" altLang="zh-CN" sz="1200" dirty="0" err="1">
                <a:ln w="12700">
                  <a:noFill/>
                </a:ln>
                <a:solidFill>
                  <a:srgbClr val="FFFFFF">
                    <a:alpha val="100000"/>
                  </a:srgbClr>
                </a:solidFill>
                <a:latin typeface="Poppins"/>
                <a:ea typeface="Poppins"/>
                <a:cs typeface="Poppins"/>
              </a:rPr>
              <a:t>óptica</a:t>
            </a:r>
            <a:r>
              <a:rPr kumimoji="1" lang="en-US" altLang="zh-CN" sz="1200" dirty="0">
                <a:ln w="12700">
                  <a:noFill/>
                </a:ln>
                <a:solidFill>
                  <a:srgbClr val="FFFFFF">
                    <a:alpha val="100000"/>
                  </a:srgbClr>
                </a:solidFill>
                <a:latin typeface="Poppins"/>
                <a:ea typeface="Poppins"/>
                <a:cs typeface="Poppins"/>
              </a:rPr>
              <a:t>.
</a:t>
            </a:r>
            <a:r>
              <a:rPr kumimoji="1" lang="en-US" altLang="zh-CN" sz="1200" dirty="0" err="1">
                <a:ln w="12700">
                  <a:noFill/>
                </a:ln>
                <a:solidFill>
                  <a:srgbClr val="FFFFFF">
                    <a:alpha val="100000"/>
                  </a:srgbClr>
                </a:solidFill>
                <a:latin typeface="Poppins"/>
                <a:ea typeface="Poppins"/>
                <a:cs typeface="Poppins"/>
              </a:rPr>
              <a:t>Conexión</a:t>
            </a:r>
            <a:r>
              <a:rPr kumimoji="1" lang="en-US" altLang="zh-CN" sz="1200" dirty="0">
                <a:ln w="12700">
                  <a:noFill/>
                </a:ln>
                <a:solidFill>
                  <a:srgbClr val="FFFFFF">
                    <a:alpha val="100000"/>
                  </a:srgbClr>
                </a:solidFill>
                <a:latin typeface="Poppins"/>
                <a:ea typeface="Poppins"/>
                <a:cs typeface="Poppins"/>
              </a:rPr>
              <a:t> de </a:t>
            </a:r>
            <a:r>
              <a:rPr kumimoji="1" lang="en-US" altLang="zh-CN" sz="1200" dirty="0" err="1">
                <a:ln w="12700">
                  <a:noFill/>
                </a:ln>
                <a:solidFill>
                  <a:srgbClr val="FFFFFF">
                    <a:alpha val="100000"/>
                  </a:srgbClr>
                </a:solidFill>
                <a:latin typeface="Poppins"/>
                <a:ea typeface="Poppins"/>
                <a:cs typeface="Poppins"/>
              </a:rPr>
              <a:t>dispositivos</a:t>
            </a:r>
            <a:r>
              <a:rPr kumimoji="1" lang="en-US" altLang="zh-CN" sz="1200" dirty="0">
                <a:ln w="12700">
                  <a:noFill/>
                </a:ln>
                <a:solidFill>
                  <a:srgbClr val="FFFFFF">
                    <a:alpha val="100000"/>
                  </a:srgbClr>
                </a:solidFill>
                <a:latin typeface="Poppins"/>
                <a:ea typeface="Poppins"/>
                <a:cs typeface="Poppins"/>
              </a:rPr>
              <a:t> </a:t>
            </a:r>
            <a:r>
              <a:rPr kumimoji="1" lang="en-US" altLang="zh-CN" sz="1200" dirty="0" err="1">
                <a:ln w="12700">
                  <a:noFill/>
                </a:ln>
                <a:solidFill>
                  <a:srgbClr val="FFFFFF">
                    <a:alpha val="100000"/>
                  </a:srgbClr>
                </a:solidFill>
                <a:latin typeface="Poppins"/>
                <a:ea typeface="Poppins"/>
                <a:cs typeface="Poppins"/>
              </a:rPr>
              <a:t>maliciosos</a:t>
            </a:r>
            <a:r>
              <a:rPr kumimoji="1" lang="en-US" altLang="zh-CN" sz="1200" dirty="0">
                <a:ln w="12700">
                  <a:noFill/>
                </a:ln>
                <a:solidFill>
                  <a:srgbClr val="FFFFFF">
                    <a:alpha val="100000"/>
                  </a:srgbClr>
                </a:solidFill>
                <a:latin typeface="Poppins"/>
                <a:ea typeface="Poppins"/>
                <a:cs typeface="Poppins"/>
              </a:rPr>
              <a:t>.</a:t>
            </a:r>
            <a:endParaRPr kumimoji="1" lang="zh-CN" altLang="en-US" dirty="0"/>
          </a:p>
        </p:txBody>
      </p:sp>
      <p:pic>
        <p:nvPicPr>
          <p:cNvPr id="5" name="Imagen 4"/>
          <p:cNvPicPr>
            <a:picLocks noChangeAspect="1"/>
          </p:cNvPicPr>
          <p:nvPr/>
        </p:nvPicPr>
        <p:blipFill>
          <a:blip r:embed="rId2">
            <a:alphaModFix/>
          </a:blip>
          <a:srcRect l="16685" r="16685"/>
          <a:stretch>
            <a:fillRect/>
          </a:stretch>
        </p:blipFill>
        <p:spPr>
          <a:xfrm flipH="1">
            <a:off x="4404062" y="1194632"/>
            <a:ext cx="1513576" cy="1513574"/>
          </a:xfrm>
          <a:custGeom>
            <a:avLst/>
            <a:gdLst/>
            <a:ahLst/>
            <a:cxnLst/>
            <a:rect l="l" t="t" r="r" b="b"/>
            <a:pathLst>
              <a:path w="1513576" h="1513574">
                <a:moveTo>
                  <a:pt x="756788" y="0"/>
                </a:moveTo>
                <a:cubicBezTo>
                  <a:pt x="772071" y="0"/>
                  <a:pt x="787354" y="5830"/>
                  <a:pt x="799014" y="17491"/>
                </a:cubicBezTo>
                <a:lnTo>
                  <a:pt x="1496086" y="714561"/>
                </a:lnTo>
                <a:cubicBezTo>
                  <a:pt x="1519406" y="737882"/>
                  <a:pt x="1519406" y="775692"/>
                  <a:pt x="1496086" y="799013"/>
                </a:cubicBezTo>
                <a:lnTo>
                  <a:pt x="799014" y="1496084"/>
                </a:lnTo>
                <a:cubicBezTo>
                  <a:pt x="775693" y="1519404"/>
                  <a:pt x="737883" y="1519404"/>
                  <a:pt x="714563" y="1496084"/>
                </a:cubicBezTo>
                <a:lnTo>
                  <a:pt x="17491" y="799013"/>
                </a:lnTo>
                <a:cubicBezTo>
                  <a:pt x="-5830" y="775692"/>
                  <a:pt x="-5830" y="737882"/>
                  <a:pt x="17491" y="714561"/>
                </a:cubicBezTo>
                <a:lnTo>
                  <a:pt x="714563" y="17491"/>
                </a:lnTo>
                <a:cubicBezTo>
                  <a:pt x="726223" y="5830"/>
                  <a:pt x="741506" y="0"/>
                  <a:pt x="756788" y="0"/>
                </a:cubicBezTo>
                <a:close/>
              </a:path>
            </a:pathLst>
          </a:custGeom>
          <a:noFill/>
          <a:ln>
            <a:noFill/>
          </a:ln>
        </p:spPr>
      </p:pic>
      <p:sp>
        <p:nvSpPr>
          <p:cNvPr id="6" name="标题 1"/>
          <p:cNvSpPr txBox="1"/>
          <p:nvPr/>
        </p:nvSpPr>
        <p:spPr>
          <a:xfrm flipH="1">
            <a:off x="660400" y="2989301"/>
            <a:ext cx="6487998" cy="1311921"/>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rot="18900000" flipH="1">
            <a:off x="6375602" y="3017430"/>
            <a:ext cx="1235616" cy="1235616"/>
          </a:xfrm>
          <a:prstGeom prst="roundRect">
            <a:avLst>
              <a:gd name="adj" fmla="val 5403"/>
            </a:avLst>
          </a:prstGeom>
          <a:solidFill>
            <a:schemeClr val="accent1">
              <a:lumMod val="60000"/>
              <a:lumOff val="40000"/>
            </a:schemeClr>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754822" y="3327502"/>
            <a:ext cx="5194607" cy="929918"/>
          </a:xfrm>
          <a:prstGeom prst="rect">
            <a:avLst/>
          </a:prstGeom>
          <a:noFill/>
          <a:ln>
            <a:noFill/>
          </a:ln>
        </p:spPr>
        <p:txBody>
          <a:bodyPr vert="horz" wrap="square" lIns="0" tIns="0" rIns="0" bIns="0" rtlCol="0" anchor="t"/>
          <a:lstStyle/>
          <a:p>
            <a:pPr algn="r"/>
            <a:r>
              <a:rPr kumimoji="1" lang="en-US" altLang="zh-CN" sz="1200">
                <a:ln w="12700">
                  <a:noFill/>
                </a:ln>
                <a:solidFill>
                  <a:srgbClr val="FFFFFF">
                    <a:alpha val="100000"/>
                  </a:srgbClr>
                </a:solidFill>
                <a:latin typeface="Poppins"/>
                <a:ea typeface="Poppins"/>
                <a:cs typeface="Poppins"/>
              </a:rPr>
              <a:t>Administradores descontentos o sobornados.
Borrado de backups y apagado de sistemas de climatización.
Ejecución de comandos destructivos.</a:t>
            </a:r>
            <a:endParaRPr kumimoji="1" lang="zh-CN" altLang="en-US"/>
          </a:p>
        </p:txBody>
      </p:sp>
      <p:pic>
        <p:nvPicPr>
          <p:cNvPr id="9" name="Imagen 8"/>
          <p:cNvPicPr>
            <a:picLocks noChangeAspect="1"/>
          </p:cNvPicPr>
          <p:nvPr/>
        </p:nvPicPr>
        <p:blipFill>
          <a:blip r:embed="rId3">
            <a:alphaModFix/>
          </a:blip>
          <a:srcRect l="16685" r="16685"/>
          <a:stretch>
            <a:fillRect/>
          </a:stretch>
        </p:blipFill>
        <p:spPr>
          <a:xfrm flipH="1">
            <a:off x="6236621" y="2878450"/>
            <a:ext cx="1513576" cy="1513574"/>
          </a:xfrm>
          <a:custGeom>
            <a:avLst/>
            <a:gdLst/>
            <a:ahLst/>
            <a:cxnLst/>
            <a:rect l="l" t="t" r="r" b="b"/>
            <a:pathLst>
              <a:path w="1513576" h="1513574">
                <a:moveTo>
                  <a:pt x="756788" y="0"/>
                </a:moveTo>
                <a:cubicBezTo>
                  <a:pt x="772071" y="0"/>
                  <a:pt x="787354" y="5830"/>
                  <a:pt x="799014" y="17491"/>
                </a:cubicBezTo>
                <a:lnTo>
                  <a:pt x="1496086" y="714561"/>
                </a:lnTo>
                <a:cubicBezTo>
                  <a:pt x="1519406" y="737882"/>
                  <a:pt x="1519406" y="775692"/>
                  <a:pt x="1496086" y="799013"/>
                </a:cubicBezTo>
                <a:lnTo>
                  <a:pt x="799014" y="1496084"/>
                </a:lnTo>
                <a:cubicBezTo>
                  <a:pt x="775693" y="1519404"/>
                  <a:pt x="737883" y="1519404"/>
                  <a:pt x="714563" y="1496084"/>
                </a:cubicBezTo>
                <a:lnTo>
                  <a:pt x="17491" y="799013"/>
                </a:lnTo>
                <a:cubicBezTo>
                  <a:pt x="-5830" y="775692"/>
                  <a:pt x="-5830" y="737882"/>
                  <a:pt x="17491" y="714561"/>
                </a:cubicBezTo>
                <a:lnTo>
                  <a:pt x="714563" y="17491"/>
                </a:lnTo>
                <a:cubicBezTo>
                  <a:pt x="726223" y="5830"/>
                  <a:pt x="741506" y="0"/>
                  <a:pt x="756788" y="0"/>
                </a:cubicBezTo>
                <a:close/>
              </a:path>
            </a:pathLst>
          </a:custGeom>
          <a:noFill/>
          <a:ln>
            <a:noFill/>
          </a:ln>
        </p:spPr>
      </p:pic>
      <p:sp>
        <p:nvSpPr>
          <p:cNvPr id="10" name="标题 1"/>
          <p:cNvSpPr txBox="1"/>
          <p:nvPr/>
        </p:nvSpPr>
        <p:spPr>
          <a:xfrm flipH="1">
            <a:off x="5030901" y="4792135"/>
            <a:ext cx="6487998" cy="1311921"/>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18900000" flipH="1">
            <a:off x="4607899" y="4820263"/>
            <a:ext cx="1235616" cy="1235616"/>
          </a:xfrm>
          <a:prstGeom prst="roundRect">
            <a:avLst>
              <a:gd name="adj" fmla="val 5403"/>
            </a:avLst>
          </a:prstGeom>
          <a:solidFill>
            <a:schemeClr val="accent1">
              <a:lumMod val="60000"/>
              <a:lumOff val="40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6187767" y="5130335"/>
            <a:ext cx="5194607" cy="929918"/>
          </a:xfrm>
          <a:prstGeom prst="rect">
            <a:avLst/>
          </a:prstGeom>
          <a:noFill/>
          <a:ln>
            <a:noFill/>
          </a:ln>
        </p:spPr>
        <p:txBody>
          <a:bodyPr vert="horz" wrap="square" lIns="0" tIns="0" rIns="0" bIns="0" rtlCol="0" anchor="t"/>
          <a:lstStyle/>
          <a:p>
            <a:pPr algn="l"/>
            <a:r>
              <a:rPr kumimoji="1" lang="en-US" altLang="zh-CN" sz="1200">
                <a:ln w="12700">
                  <a:noFill/>
                </a:ln>
                <a:solidFill>
                  <a:srgbClr val="FFFFFF">
                    <a:alpha val="100000"/>
                  </a:srgbClr>
                </a:solidFill>
                <a:latin typeface="Poppins"/>
                <a:ea typeface="Poppins"/>
                <a:cs typeface="Poppins"/>
              </a:rPr>
              <a:t>Fallos en el aire acondicionado de precisión.
Elevación crítica de la temperatura.
Cortes de energía y corrupción de bases de datos sin UPS industrial y generador funcional.</a:t>
            </a:r>
            <a:endParaRPr kumimoji="1" lang="zh-CN" altLang="en-US"/>
          </a:p>
        </p:txBody>
      </p:sp>
      <p:pic>
        <p:nvPicPr>
          <p:cNvPr id="13" name="Imagen 12"/>
          <p:cNvPicPr>
            <a:picLocks noChangeAspect="1"/>
          </p:cNvPicPr>
          <p:nvPr/>
        </p:nvPicPr>
        <p:blipFill>
          <a:blip r:embed="rId2">
            <a:alphaModFix/>
          </a:blip>
          <a:srcRect l="16685" r="16685"/>
          <a:stretch>
            <a:fillRect/>
          </a:stretch>
        </p:blipFill>
        <p:spPr>
          <a:xfrm flipH="1">
            <a:off x="4468918" y="4676342"/>
            <a:ext cx="1513576" cy="1513574"/>
          </a:xfrm>
          <a:custGeom>
            <a:avLst/>
            <a:gdLst/>
            <a:ahLst/>
            <a:cxnLst/>
            <a:rect l="l" t="t" r="r" b="b"/>
            <a:pathLst>
              <a:path w="1513576" h="1513574">
                <a:moveTo>
                  <a:pt x="756788" y="0"/>
                </a:moveTo>
                <a:cubicBezTo>
                  <a:pt x="772071" y="0"/>
                  <a:pt x="787354" y="5830"/>
                  <a:pt x="799014" y="17491"/>
                </a:cubicBezTo>
                <a:lnTo>
                  <a:pt x="1496086" y="714561"/>
                </a:lnTo>
                <a:cubicBezTo>
                  <a:pt x="1519406" y="737882"/>
                  <a:pt x="1519406" y="775692"/>
                  <a:pt x="1496086" y="799013"/>
                </a:cubicBezTo>
                <a:lnTo>
                  <a:pt x="799014" y="1496084"/>
                </a:lnTo>
                <a:cubicBezTo>
                  <a:pt x="775693" y="1519404"/>
                  <a:pt x="737883" y="1519404"/>
                  <a:pt x="714563" y="1496084"/>
                </a:cubicBezTo>
                <a:lnTo>
                  <a:pt x="17491" y="799013"/>
                </a:lnTo>
                <a:cubicBezTo>
                  <a:pt x="-5830" y="775692"/>
                  <a:pt x="-5830" y="737882"/>
                  <a:pt x="17491" y="714561"/>
                </a:cubicBezTo>
                <a:lnTo>
                  <a:pt x="714563" y="17491"/>
                </a:lnTo>
                <a:cubicBezTo>
                  <a:pt x="726223" y="5830"/>
                  <a:pt x="741506" y="0"/>
                  <a:pt x="756788" y="0"/>
                </a:cubicBezTo>
                <a:close/>
              </a:path>
            </a:pathLst>
          </a:custGeom>
          <a:noFill/>
          <a:ln>
            <a:noFill/>
          </a:ln>
        </p:spPr>
      </p:pic>
      <p:sp>
        <p:nvSpPr>
          <p:cNvPr id="14" name="标题 1"/>
          <p:cNvSpPr txBox="1"/>
          <p:nvPr/>
        </p:nvSpPr>
        <p:spPr>
          <a:xfrm>
            <a:off x="6187767" y="1412729"/>
            <a:ext cx="5194607" cy="333018"/>
          </a:xfrm>
          <a:prstGeom prst="rect">
            <a:avLst/>
          </a:prstGeom>
          <a:noFill/>
          <a:ln>
            <a:noFill/>
          </a:ln>
        </p:spPr>
        <p:txBody>
          <a:bodyPr vert="horz" wrap="square" lIns="0" tIns="0" rIns="0" bIns="0" rtlCol="0" anchor="b"/>
          <a:lstStyle/>
          <a:p>
            <a:pPr algn="l"/>
            <a:r>
              <a:rPr kumimoji="1" lang="en-US" altLang="zh-CN" sz="1600" dirty="0" err="1">
                <a:ln w="12700">
                  <a:noFill/>
                </a:ln>
                <a:solidFill>
                  <a:srgbClr val="FFFFFF">
                    <a:alpha val="100000"/>
                  </a:srgbClr>
                </a:solidFill>
                <a:latin typeface="poppins-bold"/>
                <a:ea typeface="poppins-bold"/>
                <a:cs typeface="poppins-bold"/>
              </a:rPr>
              <a:t>Acceso</a:t>
            </a:r>
            <a:r>
              <a:rPr kumimoji="1" lang="en-US" altLang="zh-CN" sz="1600" dirty="0">
                <a:ln w="12700">
                  <a:noFill/>
                </a:ln>
                <a:solidFill>
                  <a:srgbClr val="FFFFFF">
                    <a:alpha val="100000"/>
                  </a:srgbClr>
                </a:solidFill>
                <a:latin typeface="poppins-bold"/>
                <a:ea typeface="poppins-bold"/>
                <a:cs typeface="poppins-bold"/>
              </a:rPr>
              <a:t> No Autorizado</a:t>
            </a:r>
            <a:endParaRPr kumimoji="1" lang="zh-CN" altLang="en-US" dirty="0"/>
          </a:p>
        </p:txBody>
      </p:sp>
      <p:sp>
        <p:nvSpPr>
          <p:cNvPr id="15" name="标题 1"/>
          <p:cNvSpPr txBox="1"/>
          <p:nvPr/>
        </p:nvSpPr>
        <p:spPr>
          <a:xfrm>
            <a:off x="754822" y="2989301"/>
            <a:ext cx="5194607" cy="333018"/>
          </a:xfrm>
          <a:prstGeom prst="rect">
            <a:avLst/>
          </a:prstGeom>
          <a:noFill/>
          <a:ln>
            <a:noFill/>
          </a:ln>
        </p:spPr>
        <p:txBody>
          <a:bodyPr vert="horz" wrap="square" lIns="0" tIns="0" rIns="0" bIns="0" rtlCol="0" anchor="b"/>
          <a:lstStyle/>
          <a:p>
            <a:pPr algn="r"/>
            <a:r>
              <a:rPr kumimoji="1" lang="en-US" altLang="zh-CN" sz="1600">
                <a:ln w="12700">
                  <a:noFill/>
                </a:ln>
                <a:solidFill>
                  <a:srgbClr val="FFFFFF">
                    <a:alpha val="100000"/>
                  </a:srgbClr>
                </a:solidFill>
                <a:latin typeface="poppins-bold"/>
                <a:ea typeface="poppins-bold"/>
                <a:cs typeface="poppins-bold"/>
              </a:rPr>
              <a:t>Sabotaje Interno</a:t>
            </a:r>
            <a:endParaRPr kumimoji="1" lang="zh-CN" altLang="en-US"/>
          </a:p>
        </p:txBody>
      </p:sp>
      <p:sp>
        <p:nvSpPr>
          <p:cNvPr id="16" name="标题 1"/>
          <p:cNvSpPr txBox="1"/>
          <p:nvPr/>
        </p:nvSpPr>
        <p:spPr>
          <a:xfrm>
            <a:off x="6187767" y="4792135"/>
            <a:ext cx="5194607" cy="333018"/>
          </a:xfrm>
          <a:prstGeom prst="rect">
            <a:avLst/>
          </a:prstGeom>
          <a:noFill/>
          <a:ln>
            <a:noFill/>
          </a:ln>
        </p:spPr>
        <p:txBody>
          <a:bodyPr vert="horz" wrap="square" lIns="0" tIns="0" rIns="0" bIns="0" rtlCol="0" anchor="b"/>
          <a:lstStyle/>
          <a:p>
            <a:pPr algn="l"/>
            <a:r>
              <a:rPr kumimoji="1" lang="en-US" altLang="zh-CN" sz="1600">
                <a:ln w="12700">
                  <a:noFill/>
                </a:ln>
                <a:solidFill>
                  <a:srgbClr val="FFFFFF">
                    <a:alpha val="100000"/>
                  </a:srgbClr>
                </a:solidFill>
                <a:latin typeface="poppins-bold"/>
                <a:ea typeface="poppins-bold"/>
                <a:cs typeface="poppins-bold"/>
              </a:rPr>
              <a:t>Fallas Ambientales y Eléctricas</a:t>
            </a:r>
            <a:endParaRPr kumimoji="1" lang="zh-CN" altLang="en-US"/>
          </a:p>
        </p:txBody>
      </p:sp>
      <p:sp>
        <p:nvSpPr>
          <p:cNvPr id="17"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800" dirty="0" err="1">
                <a:ln w="12700">
                  <a:noFill/>
                </a:ln>
                <a:solidFill>
                  <a:srgbClr val="262626">
                    <a:alpha val="100000"/>
                  </a:srgbClr>
                </a:solidFill>
                <a:latin typeface="poppins-bold"/>
                <a:ea typeface="poppins-bold"/>
                <a:cs typeface="poppins-bold"/>
              </a:rPr>
              <a:t>Amenazas</a:t>
            </a:r>
            <a:r>
              <a:rPr kumimoji="1" lang="en-US" altLang="zh-CN" sz="2800" dirty="0">
                <a:ln w="12700">
                  <a:noFill/>
                </a:ln>
                <a:solidFill>
                  <a:srgbClr val="262626">
                    <a:alpha val="100000"/>
                  </a:srgbClr>
                </a:solidFill>
                <a:latin typeface="poppins-bold"/>
                <a:ea typeface="poppins-bold"/>
                <a:cs typeface="poppins-bold"/>
              </a:rPr>
              <a:t> </a:t>
            </a:r>
            <a:r>
              <a:rPr kumimoji="1" lang="en-US" altLang="zh-CN" sz="2800" dirty="0" err="1">
                <a:ln w="12700">
                  <a:noFill/>
                </a:ln>
                <a:solidFill>
                  <a:srgbClr val="262626">
                    <a:alpha val="100000"/>
                  </a:srgbClr>
                </a:solidFill>
                <a:latin typeface="poppins-bold"/>
                <a:ea typeface="poppins-bold"/>
                <a:cs typeface="poppins-bold"/>
              </a:rPr>
              <a:t>Físicas</a:t>
            </a:r>
            <a:r>
              <a:rPr kumimoji="1" lang="en-US" altLang="zh-CN" sz="2800" dirty="0">
                <a:ln w="12700">
                  <a:noFill/>
                </a:ln>
                <a:solidFill>
                  <a:srgbClr val="262626">
                    <a:alpha val="100000"/>
                  </a:srgbClr>
                </a:solidFill>
                <a:latin typeface="poppins-bold"/>
                <a:ea typeface="poppins-bold"/>
                <a:cs typeface="poppins-bold"/>
              </a:rPr>
              <a:t> (El </a:t>
            </a:r>
            <a:r>
              <a:rPr kumimoji="1" lang="en-US" altLang="zh-CN" sz="2800" dirty="0" err="1">
                <a:ln w="12700">
                  <a:noFill/>
                </a:ln>
                <a:solidFill>
                  <a:srgbClr val="262626">
                    <a:alpha val="100000"/>
                  </a:srgbClr>
                </a:solidFill>
                <a:latin typeface="poppins-bold"/>
                <a:ea typeface="poppins-bold"/>
                <a:cs typeface="poppins-bold"/>
              </a:rPr>
              <a:t>Ataque</a:t>
            </a:r>
            <a:r>
              <a:rPr kumimoji="1" lang="en-US" altLang="zh-CN" sz="2800" dirty="0">
                <a:ln w="12700">
                  <a:noFill/>
                </a:ln>
                <a:solidFill>
                  <a:srgbClr val="262626">
                    <a:alpha val="100000"/>
                  </a:srgbClr>
                </a:solidFill>
                <a:latin typeface="poppins-bold"/>
                <a:ea typeface="poppins-bold"/>
                <a:cs typeface="poppins-bold"/>
              </a:rPr>
              <a:t> al Castillo) </a:t>
            </a:r>
            <a:endParaRPr kumimoji="1" lang="zh-CN" altLang="en-US" dirty="0"/>
          </a:p>
        </p:txBody>
      </p:sp>
      <p:sp>
        <p:nvSpPr>
          <p:cNvPr id="18"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21" name="Imagen 20">
            <a:extLst>
              <a:ext uri="{FF2B5EF4-FFF2-40B4-BE49-F238E27FC236}">
                <a16:creationId xmlns:a16="http://schemas.microsoft.com/office/drawing/2014/main" id="{C82105B4-9D4D-63E1-E95D-751ADBE3A7C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18982180">
            <a:off x="4736929" y="3794718"/>
            <a:ext cx="1243656" cy="1663536"/>
          </a:xfrm>
          <a:custGeom>
            <a:avLst/>
            <a:gdLst>
              <a:gd name="T0" fmla="*/ 0 w 4668"/>
              <a:gd name="T1" fmla="*/ 1562 h 6244"/>
              <a:gd name="T2" fmla="*/ 1684 w 4668"/>
              <a:gd name="T3" fmla="*/ 1567 h 6244"/>
              <a:gd name="T4" fmla="*/ 1908 w 4668"/>
              <a:gd name="T5" fmla="*/ 1603 h 6244"/>
              <a:gd name="T6" fmla="*/ 2121 w 4668"/>
              <a:gd name="T7" fmla="*/ 1670 h 6244"/>
              <a:gd name="T8" fmla="*/ 2321 w 4668"/>
              <a:gd name="T9" fmla="*/ 1766 h 6244"/>
              <a:gd name="T10" fmla="*/ 2503 w 4668"/>
              <a:gd name="T11" fmla="*/ 1887 h 6244"/>
              <a:gd name="T12" fmla="*/ 2667 w 4668"/>
              <a:gd name="T13" fmla="*/ 2034 h 6244"/>
              <a:gd name="T14" fmla="*/ 2808 w 4668"/>
              <a:gd name="T15" fmla="*/ 2202 h 6244"/>
              <a:gd name="T16" fmla="*/ 2925 w 4668"/>
              <a:gd name="T17" fmla="*/ 2390 h 6244"/>
              <a:gd name="T18" fmla="*/ 3016 w 4668"/>
              <a:gd name="T19" fmla="*/ 2594 h 6244"/>
              <a:gd name="T20" fmla="*/ 3077 w 4668"/>
              <a:gd name="T21" fmla="*/ 2813 h 6244"/>
              <a:gd name="T22" fmla="*/ 3106 w 4668"/>
              <a:gd name="T23" fmla="*/ 3044 h 6244"/>
              <a:gd name="T24" fmla="*/ 3100 w 4668"/>
              <a:gd name="T25" fmla="*/ 3282 h 6244"/>
              <a:gd name="T26" fmla="*/ 3059 w 4668"/>
              <a:gd name="T27" fmla="*/ 3510 h 6244"/>
              <a:gd name="T28" fmla="*/ 2986 w 4668"/>
              <a:gd name="T29" fmla="*/ 3727 h 6244"/>
              <a:gd name="T30" fmla="*/ 2883 w 4668"/>
              <a:gd name="T31" fmla="*/ 3929 h 6244"/>
              <a:gd name="T32" fmla="*/ 2754 w 4668"/>
              <a:gd name="T33" fmla="*/ 4112 h 6244"/>
              <a:gd name="T34" fmla="*/ 2600 w 4668"/>
              <a:gd name="T35" fmla="*/ 4275 h 6244"/>
              <a:gd name="T36" fmla="*/ 2422 w 4668"/>
              <a:gd name="T37" fmla="*/ 4415 h 6244"/>
              <a:gd name="T38" fmla="*/ 2226 w 4668"/>
              <a:gd name="T39" fmla="*/ 4528 h 6244"/>
              <a:gd name="T40" fmla="*/ 2013 w 4668"/>
              <a:gd name="T41" fmla="*/ 4612 h 6244"/>
              <a:gd name="T42" fmla="*/ 1785 w 4668"/>
              <a:gd name="T43" fmla="*/ 4665 h 6244"/>
              <a:gd name="T44" fmla="*/ 1601 w 4668"/>
              <a:gd name="T45" fmla="*/ 4682 h 6244"/>
              <a:gd name="T46" fmla="*/ 1529 w 4668"/>
              <a:gd name="T47" fmla="*/ 4682 h 6244"/>
              <a:gd name="T48" fmla="*/ 1529 w 4668"/>
              <a:gd name="T49" fmla="*/ 6244 h 6244"/>
              <a:gd name="T50" fmla="*/ 1594 w 4668"/>
              <a:gd name="T51" fmla="*/ 6244 h 6244"/>
              <a:gd name="T52" fmla="*/ 1660 w 4668"/>
              <a:gd name="T53" fmla="*/ 6242 h 6244"/>
              <a:gd name="T54" fmla="*/ 1864 w 4668"/>
              <a:gd name="T55" fmla="*/ 6228 h 6244"/>
              <a:gd name="T56" fmla="*/ 2330 w 4668"/>
              <a:gd name="T57" fmla="*/ 6145 h 6244"/>
              <a:gd name="T58" fmla="*/ 2766 w 4668"/>
              <a:gd name="T59" fmla="*/ 5997 h 6244"/>
              <a:gd name="T60" fmla="*/ 3171 w 4668"/>
              <a:gd name="T61" fmla="*/ 5789 h 6244"/>
              <a:gd name="T62" fmla="*/ 3538 w 4668"/>
              <a:gd name="T63" fmla="*/ 5526 h 6244"/>
              <a:gd name="T64" fmla="*/ 3862 w 4668"/>
              <a:gd name="T65" fmla="*/ 5216 h 6244"/>
              <a:gd name="T66" fmla="*/ 4138 w 4668"/>
              <a:gd name="T67" fmla="*/ 4862 h 6244"/>
              <a:gd name="T68" fmla="*/ 4363 w 4668"/>
              <a:gd name="T69" fmla="*/ 4470 h 6244"/>
              <a:gd name="T70" fmla="*/ 4529 w 4668"/>
              <a:gd name="T71" fmla="*/ 4046 h 6244"/>
              <a:gd name="T72" fmla="*/ 4633 w 4668"/>
              <a:gd name="T73" fmla="*/ 3596 h 6244"/>
              <a:gd name="T74" fmla="*/ 4668 w 4668"/>
              <a:gd name="T75" fmla="*/ 3125 h 6244"/>
              <a:gd name="T76" fmla="*/ 4634 w 4668"/>
              <a:gd name="T77" fmla="*/ 2655 h 6244"/>
              <a:gd name="T78" fmla="*/ 4533 w 4668"/>
              <a:gd name="T79" fmla="*/ 2210 h 6244"/>
              <a:gd name="T80" fmla="*/ 4373 w 4668"/>
              <a:gd name="T81" fmla="*/ 1794 h 6244"/>
              <a:gd name="T82" fmla="*/ 4156 w 4668"/>
              <a:gd name="T83" fmla="*/ 1408 h 6244"/>
              <a:gd name="T84" fmla="*/ 3891 w 4668"/>
              <a:gd name="T85" fmla="*/ 1059 h 6244"/>
              <a:gd name="T86" fmla="*/ 3579 w 4668"/>
              <a:gd name="T87" fmla="*/ 752 h 6244"/>
              <a:gd name="T88" fmla="*/ 3228 w 4668"/>
              <a:gd name="T89" fmla="*/ 491 h 6244"/>
              <a:gd name="T90" fmla="*/ 2843 w 4668"/>
              <a:gd name="T91" fmla="*/ 281 h 6244"/>
              <a:gd name="T92" fmla="*/ 2428 w 4668"/>
              <a:gd name="T93" fmla="*/ 126 h 6244"/>
              <a:gd name="T94" fmla="*/ 1988 w 4668"/>
              <a:gd name="T95" fmla="*/ 30 h 6244"/>
              <a:gd name="T96" fmla="*/ 1529 w 4668"/>
              <a:gd name="T97" fmla="*/ 0 h 6244"/>
            </a:gdLst>
            <a:ahLst/>
            <a:cxnLst/>
            <a:rect l="0" t="0" r="r" b="b"/>
            <a:pathLst>
              <a:path w="4668" h="6244">
                <a:moveTo>
                  <a:pt x="1529" y="0"/>
                </a:moveTo>
                <a:lnTo>
                  <a:pt x="0" y="0"/>
                </a:lnTo>
                <a:lnTo>
                  <a:pt x="0" y="1562"/>
                </a:lnTo>
                <a:lnTo>
                  <a:pt x="1529" y="1562"/>
                </a:lnTo>
                <a:lnTo>
                  <a:pt x="1607" y="1562"/>
                </a:lnTo>
                <a:lnTo>
                  <a:pt x="1684" y="1567"/>
                </a:lnTo>
                <a:lnTo>
                  <a:pt x="1760" y="1575"/>
                </a:lnTo>
                <a:lnTo>
                  <a:pt x="1834" y="1587"/>
                </a:lnTo>
                <a:lnTo>
                  <a:pt x="1908" y="1603"/>
                </a:lnTo>
                <a:lnTo>
                  <a:pt x="1980" y="1622"/>
                </a:lnTo>
                <a:lnTo>
                  <a:pt x="2052" y="1644"/>
                </a:lnTo>
                <a:lnTo>
                  <a:pt x="2121" y="1670"/>
                </a:lnTo>
                <a:lnTo>
                  <a:pt x="2189" y="1699"/>
                </a:lnTo>
                <a:lnTo>
                  <a:pt x="2256" y="1731"/>
                </a:lnTo>
                <a:lnTo>
                  <a:pt x="2321" y="1766"/>
                </a:lnTo>
                <a:lnTo>
                  <a:pt x="2383" y="1804"/>
                </a:lnTo>
                <a:lnTo>
                  <a:pt x="2445" y="1844"/>
                </a:lnTo>
                <a:lnTo>
                  <a:pt x="2503" y="1887"/>
                </a:lnTo>
                <a:lnTo>
                  <a:pt x="2560" y="1934"/>
                </a:lnTo>
                <a:lnTo>
                  <a:pt x="2614" y="1983"/>
                </a:lnTo>
                <a:lnTo>
                  <a:pt x="2667" y="2034"/>
                </a:lnTo>
                <a:lnTo>
                  <a:pt x="2716" y="2088"/>
                </a:lnTo>
                <a:lnTo>
                  <a:pt x="2764" y="2144"/>
                </a:lnTo>
                <a:lnTo>
                  <a:pt x="2808" y="2202"/>
                </a:lnTo>
                <a:lnTo>
                  <a:pt x="2850" y="2263"/>
                </a:lnTo>
                <a:lnTo>
                  <a:pt x="2890" y="2325"/>
                </a:lnTo>
                <a:lnTo>
                  <a:pt x="2925" y="2390"/>
                </a:lnTo>
                <a:lnTo>
                  <a:pt x="2959" y="2456"/>
                </a:lnTo>
                <a:lnTo>
                  <a:pt x="2989" y="2524"/>
                </a:lnTo>
                <a:lnTo>
                  <a:pt x="3016" y="2594"/>
                </a:lnTo>
                <a:lnTo>
                  <a:pt x="3039" y="2664"/>
                </a:lnTo>
                <a:lnTo>
                  <a:pt x="3061" y="2738"/>
                </a:lnTo>
                <a:lnTo>
                  <a:pt x="3077" y="2813"/>
                </a:lnTo>
                <a:lnTo>
                  <a:pt x="3091" y="2888"/>
                </a:lnTo>
                <a:lnTo>
                  <a:pt x="3100" y="2966"/>
                </a:lnTo>
                <a:lnTo>
                  <a:pt x="3106" y="3044"/>
                </a:lnTo>
                <a:lnTo>
                  <a:pt x="3107" y="3124"/>
                </a:lnTo>
                <a:lnTo>
                  <a:pt x="3106" y="3203"/>
                </a:lnTo>
                <a:lnTo>
                  <a:pt x="3100" y="3282"/>
                </a:lnTo>
                <a:lnTo>
                  <a:pt x="3090" y="3360"/>
                </a:lnTo>
                <a:lnTo>
                  <a:pt x="3076" y="3436"/>
                </a:lnTo>
                <a:lnTo>
                  <a:pt x="3059" y="3510"/>
                </a:lnTo>
                <a:lnTo>
                  <a:pt x="3038" y="3584"/>
                </a:lnTo>
                <a:lnTo>
                  <a:pt x="3014" y="3657"/>
                </a:lnTo>
                <a:lnTo>
                  <a:pt x="2986" y="3727"/>
                </a:lnTo>
                <a:lnTo>
                  <a:pt x="2955" y="3796"/>
                </a:lnTo>
                <a:lnTo>
                  <a:pt x="2921" y="3863"/>
                </a:lnTo>
                <a:lnTo>
                  <a:pt x="2883" y="3929"/>
                </a:lnTo>
                <a:lnTo>
                  <a:pt x="2843" y="3992"/>
                </a:lnTo>
                <a:lnTo>
                  <a:pt x="2799" y="4053"/>
                </a:lnTo>
                <a:lnTo>
                  <a:pt x="2754" y="4112"/>
                </a:lnTo>
                <a:lnTo>
                  <a:pt x="2705" y="4169"/>
                </a:lnTo>
                <a:lnTo>
                  <a:pt x="2653" y="4224"/>
                </a:lnTo>
                <a:lnTo>
                  <a:pt x="2600" y="4275"/>
                </a:lnTo>
                <a:lnTo>
                  <a:pt x="2543" y="4324"/>
                </a:lnTo>
                <a:lnTo>
                  <a:pt x="2484" y="4371"/>
                </a:lnTo>
                <a:lnTo>
                  <a:pt x="2422" y="4415"/>
                </a:lnTo>
                <a:lnTo>
                  <a:pt x="2359" y="4456"/>
                </a:lnTo>
                <a:lnTo>
                  <a:pt x="2294" y="4494"/>
                </a:lnTo>
                <a:lnTo>
                  <a:pt x="2226" y="4528"/>
                </a:lnTo>
                <a:lnTo>
                  <a:pt x="2157" y="4560"/>
                </a:lnTo>
                <a:lnTo>
                  <a:pt x="2085" y="4588"/>
                </a:lnTo>
                <a:lnTo>
                  <a:pt x="2013" y="4612"/>
                </a:lnTo>
                <a:lnTo>
                  <a:pt x="1938" y="4633"/>
                </a:lnTo>
                <a:lnTo>
                  <a:pt x="1862" y="4651"/>
                </a:lnTo>
                <a:lnTo>
                  <a:pt x="1785" y="4665"/>
                </a:lnTo>
                <a:lnTo>
                  <a:pt x="1706" y="4675"/>
                </a:lnTo>
                <a:lnTo>
                  <a:pt x="1626" y="4681"/>
                </a:lnTo>
                <a:lnTo>
                  <a:pt x="1601" y="4682"/>
                </a:lnTo>
                <a:lnTo>
                  <a:pt x="1577" y="4682"/>
                </a:lnTo>
                <a:lnTo>
                  <a:pt x="1553" y="4682"/>
                </a:lnTo>
                <a:lnTo>
                  <a:pt x="1529" y="4682"/>
                </a:lnTo>
                <a:lnTo>
                  <a:pt x="0" y="4682"/>
                </a:lnTo>
                <a:lnTo>
                  <a:pt x="0" y="6244"/>
                </a:lnTo>
                <a:lnTo>
                  <a:pt x="1529" y="6244"/>
                </a:lnTo>
                <a:lnTo>
                  <a:pt x="1551" y="6244"/>
                </a:lnTo>
                <a:lnTo>
                  <a:pt x="1572" y="6244"/>
                </a:lnTo>
                <a:lnTo>
                  <a:pt x="1594" y="6244"/>
                </a:lnTo>
                <a:lnTo>
                  <a:pt x="1617" y="6243"/>
                </a:lnTo>
                <a:lnTo>
                  <a:pt x="1638" y="6243"/>
                </a:lnTo>
                <a:lnTo>
                  <a:pt x="1660" y="6242"/>
                </a:lnTo>
                <a:lnTo>
                  <a:pt x="1683" y="6241"/>
                </a:lnTo>
                <a:lnTo>
                  <a:pt x="1704" y="6241"/>
                </a:lnTo>
                <a:lnTo>
                  <a:pt x="1864" y="6228"/>
                </a:lnTo>
                <a:lnTo>
                  <a:pt x="2022" y="6208"/>
                </a:lnTo>
                <a:lnTo>
                  <a:pt x="2177" y="6180"/>
                </a:lnTo>
                <a:lnTo>
                  <a:pt x="2330" y="6145"/>
                </a:lnTo>
                <a:lnTo>
                  <a:pt x="2478" y="6102"/>
                </a:lnTo>
                <a:lnTo>
                  <a:pt x="2624" y="6053"/>
                </a:lnTo>
                <a:lnTo>
                  <a:pt x="2766" y="5997"/>
                </a:lnTo>
                <a:lnTo>
                  <a:pt x="2905" y="5934"/>
                </a:lnTo>
                <a:lnTo>
                  <a:pt x="3040" y="5864"/>
                </a:lnTo>
                <a:lnTo>
                  <a:pt x="3171" y="5789"/>
                </a:lnTo>
                <a:lnTo>
                  <a:pt x="3297" y="5707"/>
                </a:lnTo>
                <a:lnTo>
                  <a:pt x="3420" y="5620"/>
                </a:lnTo>
                <a:lnTo>
                  <a:pt x="3538" y="5526"/>
                </a:lnTo>
                <a:lnTo>
                  <a:pt x="3651" y="5428"/>
                </a:lnTo>
                <a:lnTo>
                  <a:pt x="3759" y="5324"/>
                </a:lnTo>
                <a:lnTo>
                  <a:pt x="3862" y="5216"/>
                </a:lnTo>
                <a:lnTo>
                  <a:pt x="3960" y="5102"/>
                </a:lnTo>
                <a:lnTo>
                  <a:pt x="4052" y="4984"/>
                </a:lnTo>
                <a:lnTo>
                  <a:pt x="4138" y="4862"/>
                </a:lnTo>
                <a:lnTo>
                  <a:pt x="4220" y="4735"/>
                </a:lnTo>
                <a:lnTo>
                  <a:pt x="4295" y="4604"/>
                </a:lnTo>
                <a:lnTo>
                  <a:pt x="4363" y="4470"/>
                </a:lnTo>
                <a:lnTo>
                  <a:pt x="4425" y="4332"/>
                </a:lnTo>
                <a:lnTo>
                  <a:pt x="4480" y="4191"/>
                </a:lnTo>
                <a:lnTo>
                  <a:pt x="4529" y="4046"/>
                </a:lnTo>
                <a:lnTo>
                  <a:pt x="4570" y="3899"/>
                </a:lnTo>
                <a:lnTo>
                  <a:pt x="4605" y="3749"/>
                </a:lnTo>
                <a:lnTo>
                  <a:pt x="4633" y="3596"/>
                </a:lnTo>
                <a:lnTo>
                  <a:pt x="4652" y="3441"/>
                </a:lnTo>
                <a:lnTo>
                  <a:pt x="4664" y="3285"/>
                </a:lnTo>
                <a:lnTo>
                  <a:pt x="4668" y="3125"/>
                </a:lnTo>
                <a:lnTo>
                  <a:pt x="4664" y="2965"/>
                </a:lnTo>
                <a:lnTo>
                  <a:pt x="4653" y="2809"/>
                </a:lnTo>
                <a:lnTo>
                  <a:pt x="4634" y="2655"/>
                </a:lnTo>
                <a:lnTo>
                  <a:pt x="4607" y="2505"/>
                </a:lnTo>
                <a:lnTo>
                  <a:pt x="4573" y="2356"/>
                </a:lnTo>
                <a:lnTo>
                  <a:pt x="4533" y="2210"/>
                </a:lnTo>
                <a:lnTo>
                  <a:pt x="4485" y="2068"/>
                </a:lnTo>
                <a:lnTo>
                  <a:pt x="4432" y="1929"/>
                </a:lnTo>
                <a:lnTo>
                  <a:pt x="4373" y="1794"/>
                </a:lnTo>
                <a:lnTo>
                  <a:pt x="4306" y="1661"/>
                </a:lnTo>
                <a:lnTo>
                  <a:pt x="4234" y="1533"/>
                </a:lnTo>
                <a:lnTo>
                  <a:pt x="4156" y="1408"/>
                </a:lnTo>
                <a:lnTo>
                  <a:pt x="4072" y="1288"/>
                </a:lnTo>
                <a:lnTo>
                  <a:pt x="3984" y="1171"/>
                </a:lnTo>
                <a:lnTo>
                  <a:pt x="3891" y="1059"/>
                </a:lnTo>
                <a:lnTo>
                  <a:pt x="3791" y="952"/>
                </a:lnTo>
                <a:lnTo>
                  <a:pt x="3688" y="849"/>
                </a:lnTo>
                <a:lnTo>
                  <a:pt x="3579" y="752"/>
                </a:lnTo>
                <a:lnTo>
                  <a:pt x="3467" y="660"/>
                </a:lnTo>
                <a:lnTo>
                  <a:pt x="3349" y="573"/>
                </a:lnTo>
                <a:lnTo>
                  <a:pt x="3228" y="491"/>
                </a:lnTo>
                <a:lnTo>
                  <a:pt x="3103" y="415"/>
                </a:lnTo>
                <a:lnTo>
                  <a:pt x="2975" y="345"/>
                </a:lnTo>
                <a:lnTo>
                  <a:pt x="2843" y="281"/>
                </a:lnTo>
                <a:lnTo>
                  <a:pt x="2707" y="223"/>
                </a:lnTo>
                <a:lnTo>
                  <a:pt x="2568" y="171"/>
                </a:lnTo>
                <a:lnTo>
                  <a:pt x="2428" y="126"/>
                </a:lnTo>
                <a:lnTo>
                  <a:pt x="2283" y="87"/>
                </a:lnTo>
                <a:lnTo>
                  <a:pt x="2137" y="56"/>
                </a:lnTo>
                <a:lnTo>
                  <a:pt x="1988" y="30"/>
                </a:lnTo>
                <a:lnTo>
                  <a:pt x="1837" y="13"/>
                </a:lnTo>
                <a:lnTo>
                  <a:pt x="1684" y="2"/>
                </a:lnTo>
                <a:lnTo>
                  <a:pt x="1529" y="0"/>
                </a:lnTo>
                <a:close/>
              </a:path>
            </a:pathLst>
          </a:custGeom>
          <a:gradFill>
            <a:gsLst>
              <a:gs pos="1000">
                <a:schemeClr val="accent2">
                  <a:alpha val="100000"/>
                </a:schemeClr>
              </a:gs>
              <a:gs pos="100000">
                <a:schemeClr val="accent2">
                  <a:lumMod val="40000"/>
                  <a:lumOff val="60000"/>
                  <a:alpha val="100000"/>
                </a:schemeClr>
              </a:gs>
            </a:gsLst>
            <a:lin ang="2700000" scaled="0"/>
          </a:gradFill>
          <a:ln w="12700" cap="sq">
            <a:noFill/>
            <a:miter/>
          </a:ln>
          <a:effectLst/>
        </p:spPr>
        <p:txBody>
          <a:bodyPr vert="horz" wrap="square" lIns="0" tIns="0" rIns="0" bIns="0" rtlCol="0" anchor="ctr"/>
          <a:lstStyle/>
          <a:p>
            <a:pPr algn="ctr"/>
            <a:endParaRPr kumimoji="1" lang="zh-CN" altLang="en-US"/>
          </a:p>
        </p:txBody>
      </p:sp>
      <p:sp>
        <p:nvSpPr>
          <p:cNvPr id="3" name="标题 1"/>
          <p:cNvSpPr txBox="1"/>
          <p:nvPr/>
        </p:nvSpPr>
        <p:spPr>
          <a:xfrm rot="2264349" flipH="1">
            <a:off x="6182724" y="3801703"/>
            <a:ext cx="1243656" cy="1663536"/>
          </a:xfrm>
          <a:custGeom>
            <a:avLst/>
            <a:gdLst>
              <a:gd name="T0" fmla="*/ 0 w 4668"/>
              <a:gd name="T1" fmla="*/ 1562 h 6244"/>
              <a:gd name="T2" fmla="*/ 1684 w 4668"/>
              <a:gd name="T3" fmla="*/ 1567 h 6244"/>
              <a:gd name="T4" fmla="*/ 1908 w 4668"/>
              <a:gd name="T5" fmla="*/ 1603 h 6244"/>
              <a:gd name="T6" fmla="*/ 2121 w 4668"/>
              <a:gd name="T7" fmla="*/ 1670 h 6244"/>
              <a:gd name="T8" fmla="*/ 2321 w 4668"/>
              <a:gd name="T9" fmla="*/ 1766 h 6244"/>
              <a:gd name="T10" fmla="*/ 2503 w 4668"/>
              <a:gd name="T11" fmla="*/ 1887 h 6244"/>
              <a:gd name="T12" fmla="*/ 2667 w 4668"/>
              <a:gd name="T13" fmla="*/ 2034 h 6244"/>
              <a:gd name="T14" fmla="*/ 2808 w 4668"/>
              <a:gd name="T15" fmla="*/ 2202 h 6244"/>
              <a:gd name="T16" fmla="*/ 2925 w 4668"/>
              <a:gd name="T17" fmla="*/ 2390 h 6244"/>
              <a:gd name="T18" fmla="*/ 3016 w 4668"/>
              <a:gd name="T19" fmla="*/ 2594 h 6244"/>
              <a:gd name="T20" fmla="*/ 3077 w 4668"/>
              <a:gd name="T21" fmla="*/ 2813 h 6244"/>
              <a:gd name="T22" fmla="*/ 3106 w 4668"/>
              <a:gd name="T23" fmla="*/ 3044 h 6244"/>
              <a:gd name="T24" fmla="*/ 3100 w 4668"/>
              <a:gd name="T25" fmla="*/ 3282 h 6244"/>
              <a:gd name="T26" fmla="*/ 3059 w 4668"/>
              <a:gd name="T27" fmla="*/ 3510 h 6244"/>
              <a:gd name="T28" fmla="*/ 2986 w 4668"/>
              <a:gd name="T29" fmla="*/ 3727 h 6244"/>
              <a:gd name="T30" fmla="*/ 2883 w 4668"/>
              <a:gd name="T31" fmla="*/ 3929 h 6244"/>
              <a:gd name="T32" fmla="*/ 2754 w 4668"/>
              <a:gd name="T33" fmla="*/ 4112 h 6244"/>
              <a:gd name="T34" fmla="*/ 2600 w 4668"/>
              <a:gd name="T35" fmla="*/ 4275 h 6244"/>
              <a:gd name="T36" fmla="*/ 2422 w 4668"/>
              <a:gd name="T37" fmla="*/ 4415 h 6244"/>
              <a:gd name="T38" fmla="*/ 2226 w 4668"/>
              <a:gd name="T39" fmla="*/ 4528 h 6244"/>
              <a:gd name="T40" fmla="*/ 2013 w 4668"/>
              <a:gd name="T41" fmla="*/ 4612 h 6244"/>
              <a:gd name="T42" fmla="*/ 1785 w 4668"/>
              <a:gd name="T43" fmla="*/ 4665 h 6244"/>
              <a:gd name="T44" fmla="*/ 1601 w 4668"/>
              <a:gd name="T45" fmla="*/ 4682 h 6244"/>
              <a:gd name="T46" fmla="*/ 1529 w 4668"/>
              <a:gd name="T47" fmla="*/ 4682 h 6244"/>
              <a:gd name="T48" fmla="*/ 1529 w 4668"/>
              <a:gd name="T49" fmla="*/ 6244 h 6244"/>
              <a:gd name="T50" fmla="*/ 1594 w 4668"/>
              <a:gd name="T51" fmla="*/ 6244 h 6244"/>
              <a:gd name="T52" fmla="*/ 1660 w 4668"/>
              <a:gd name="T53" fmla="*/ 6242 h 6244"/>
              <a:gd name="T54" fmla="*/ 1864 w 4668"/>
              <a:gd name="T55" fmla="*/ 6228 h 6244"/>
              <a:gd name="T56" fmla="*/ 2330 w 4668"/>
              <a:gd name="T57" fmla="*/ 6145 h 6244"/>
              <a:gd name="T58" fmla="*/ 2766 w 4668"/>
              <a:gd name="T59" fmla="*/ 5997 h 6244"/>
              <a:gd name="T60" fmla="*/ 3171 w 4668"/>
              <a:gd name="T61" fmla="*/ 5789 h 6244"/>
              <a:gd name="T62" fmla="*/ 3538 w 4668"/>
              <a:gd name="T63" fmla="*/ 5526 h 6244"/>
              <a:gd name="T64" fmla="*/ 3862 w 4668"/>
              <a:gd name="T65" fmla="*/ 5216 h 6244"/>
              <a:gd name="T66" fmla="*/ 4138 w 4668"/>
              <a:gd name="T67" fmla="*/ 4862 h 6244"/>
              <a:gd name="T68" fmla="*/ 4363 w 4668"/>
              <a:gd name="T69" fmla="*/ 4470 h 6244"/>
              <a:gd name="T70" fmla="*/ 4529 w 4668"/>
              <a:gd name="T71" fmla="*/ 4046 h 6244"/>
              <a:gd name="T72" fmla="*/ 4633 w 4668"/>
              <a:gd name="T73" fmla="*/ 3596 h 6244"/>
              <a:gd name="T74" fmla="*/ 4668 w 4668"/>
              <a:gd name="T75" fmla="*/ 3125 h 6244"/>
              <a:gd name="T76" fmla="*/ 4634 w 4668"/>
              <a:gd name="T77" fmla="*/ 2655 h 6244"/>
              <a:gd name="T78" fmla="*/ 4533 w 4668"/>
              <a:gd name="T79" fmla="*/ 2210 h 6244"/>
              <a:gd name="T80" fmla="*/ 4373 w 4668"/>
              <a:gd name="T81" fmla="*/ 1794 h 6244"/>
              <a:gd name="T82" fmla="*/ 4156 w 4668"/>
              <a:gd name="T83" fmla="*/ 1408 h 6244"/>
              <a:gd name="T84" fmla="*/ 3891 w 4668"/>
              <a:gd name="T85" fmla="*/ 1059 h 6244"/>
              <a:gd name="T86" fmla="*/ 3579 w 4668"/>
              <a:gd name="T87" fmla="*/ 752 h 6244"/>
              <a:gd name="T88" fmla="*/ 3228 w 4668"/>
              <a:gd name="T89" fmla="*/ 491 h 6244"/>
              <a:gd name="T90" fmla="*/ 2843 w 4668"/>
              <a:gd name="T91" fmla="*/ 281 h 6244"/>
              <a:gd name="T92" fmla="*/ 2428 w 4668"/>
              <a:gd name="T93" fmla="*/ 126 h 6244"/>
              <a:gd name="T94" fmla="*/ 1988 w 4668"/>
              <a:gd name="T95" fmla="*/ 30 h 6244"/>
              <a:gd name="T96" fmla="*/ 1529 w 4668"/>
              <a:gd name="T97" fmla="*/ 0 h 6244"/>
            </a:gdLst>
            <a:ahLst/>
            <a:cxnLst/>
            <a:rect l="0" t="0" r="r" b="b"/>
            <a:pathLst>
              <a:path w="4668" h="6244">
                <a:moveTo>
                  <a:pt x="1529" y="0"/>
                </a:moveTo>
                <a:lnTo>
                  <a:pt x="0" y="0"/>
                </a:lnTo>
                <a:lnTo>
                  <a:pt x="0" y="1562"/>
                </a:lnTo>
                <a:lnTo>
                  <a:pt x="1529" y="1562"/>
                </a:lnTo>
                <a:lnTo>
                  <a:pt x="1607" y="1562"/>
                </a:lnTo>
                <a:lnTo>
                  <a:pt x="1684" y="1567"/>
                </a:lnTo>
                <a:lnTo>
                  <a:pt x="1760" y="1575"/>
                </a:lnTo>
                <a:lnTo>
                  <a:pt x="1834" y="1587"/>
                </a:lnTo>
                <a:lnTo>
                  <a:pt x="1908" y="1603"/>
                </a:lnTo>
                <a:lnTo>
                  <a:pt x="1980" y="1622"/>
                </a:lnTo>
                <a:lnTo>
                  <a:pt x="2052" y="1644"/>
                </a:lnTo>
                <a:lnTo>
                  <a:pt x="2121" y="1670"/>
                </a:lnTo>
                <a:lnTo>
                  <a:pt x="2189" y="1699"/>
                </a:lnTo>
                <a:lnTo>
                  <a:pt x="2256" y="1731"/>
                </a:lnTo>
                <a:lnTo>
                  <a:pt x="2321" y="1766"/>
                </a:lnTo>
                <a:lnTo>
                  <a:pt x="2383" y="1804"/>
                </a:lnTo>
                <a:lnTo>
                  <a:pt x="2445" y="1844"/>
                </a:lnTo>
                <a:lnTo>
                  <a:pt x="2503" y="1887"/>
                </a:lnTo>
                <a:lnTo>
                  <a:pt x="2560" y="1934"/>
                </a:lnTo>
                <a:lnTo>
                  <a:pt x="2614" y="1983"/>
                </a:lnTo>
                <a:lnTo>
                  <a:pt x="2667" y="2034"/>
                </a:lnTo>
                <a:lnTo>
                  <a:pt x="2716" y="2088"/>
                </a:lnTo>
                <a:lnTo>
                  <a:pt x="2764" y="2144"/>
                </a:lnTo>
                <a:lnTo>
                  <a:pt x="2808" y="2202"/>
                </a:lnTo>
                <a:lnTo>
                  <a:pt x="2850" y="2263"/>
                </a:lnTo>
                <a:lnTo>
                  <a:pt x="2890" y="2325"/>
                </a:lnTo>
                <a:lnTo>
                  <a:pt x="2925" y="2390"/>
                </a:lnTo>
                <a:lnTo>
                  <a:pt x="2959" y="2456"/>
                </a:lnTo>
                <a:lnTo>
                  <a:pt x="2989" y="2524"/>
                </a:lnTo>
                <a:lnTo>
                  <a:pt x="3016" y="2594"/>
                </a:lnTo>
                <a:lnTo>
                  <a:pt x="3039" y="2664"/>
                </a:lnTo>
                <a:lnTo>
                  <a:pt x="3061" y="2738"/>
                </a:lnTo>
                <a:lnTo>
                  <a:pt x="3077" y="2813"/>
                </a:lnTo>
                <a:lnTo>
                  <a:pt x="3091" y="2888"/>
                </a:lnTo>
                <a:lnTo>
                  <a:pt x="3100" y="2966"/>
                </a:lnTo>
                <a:lnTo>
                  <a:pt x="3106" y="3044"/>
                </a:lnTo>
                <a:lnTo>
                  <a:pt x="3107" y="3124"/>
                </a:lnTo>
                <a:lnTo>
                  <a:pt x="3106" y="3203"/>
                </a:lnTo>
                <a:lnTo>
                  <a:pt x="3100" y="3282"/>
                </a:lnTo>
                <a:lnTo>
                  <a:pt x="3090" y="3360"/>
                </a:lnTo>
                <a:lnTo>
                  <a:pt x="3076" y="3436"/>
                </a:lnTo>
                <a:lnTo>
                  <a:pt x="3059" y="3510"/>
                </a:lnTo>
                <a:lnTo>
                  <a:pt x="3038" y="3584"/>
                </a:lnTo>
                <a:lnTo>
                  <a:pt x="3014" y="3657"/>
                </a:lnTo>
                <a:lnTo>
                  <a:pt x="2986" y="3727"/>
                </a:lnTo>
                <a:lnTo>
                  <a:pt x="2955" y="3796"/>
                </a:lnTo>
                <a:lnTo>
                  <a:pt x="2921" y="3863"/>
                </a:lnTo>
                <a:lnTo>
                  <a:pt x="2883" y="3929"/>
                </a:lnTo>
                <a:lnTo>
                  <a:pt x="2843" y="3992"/>
                </a:lnTo>
                <a:lnTo>
                  <a:pt x="2799" y="4053"/>
                </a:lnTo>
                <a:lnTo>
                  <a:pt x="2754" y="4112"/>
                </a:lnTo>
                <a:lnTo>
                  <a:pt x="2705" y="4169"/>
                </a:lnTo>
                <a:lnTo>
                  <a:pt x="2653" y="4224"/>
                </a:lnTo>
                <a:lnTo>
                  <a:pt x="2600" y="4275"/>
                </a:lnTo>
                <a:lnTo>
                  <a:pt x="2543" y="4324"/>
                </a:lnTo>
                <a:lnTo>
                  <a:pt x="2484" y="4371"/>
                </a:lnTo>
                <a:lnTo>
                  <a:pt x="2422" y="4415"/>
                </a:lnTo>
                <a:lnTo>
                  <a:pt x="2359" y="4456"/>
                </a:lnTo>
                <a:lnTo>
                  <a:pt x="2294" y="4494"/>
                </a:lnTo>
                <a:lnTo>
                  <a:pt x="2226" y="4528"/>
                </a:lnTo>
                <a:lnTo>
                  <a:pt x="2157" y="4560"/>
                </a:lnTo>
                <a:lnTo>
                  <a:pt x="2085" y="4588"/>
                </a:lnTo>
                <a:lnTo>
                  <a:pt x="2013" y="4612"/>
                </a:lnTo>
                <a:lnTo>
                  <a:pt x="1938" y="4633"/>
                </a:lnTo>
                <a:lnTo>
                  <a:pt x="1862" y="4651"/>
                </a:lnTo>
                <a:lnTo>
                  <a:pt x="1785" y="4665"/>
                </a:lnTo>
                <a:lnTo>
                  <a:pt x="1706" y="4675"/>
                </a:lnTo>
                <a:lnTo>
                  <a:pt x="1626" y="4681"/>
                </a:lnTo>
                <a:lnTo>
                  <a:pt x="1601" y="4682"/>
                </a:lnTo>
                <a:lnTo>
                  <a:pt x="1577" y="4682"/>
                </a:lnTo>
                <a:lnTo>
                  <a:pt x="1553" y="4682"/>
                </a:lnTo>
                <a:lnTo>
                  <a:pt x="1529" y="4682"/>
                </a:lnTo>
                <a:lnTo>
                  <a:pt x="0" y="4682"/>
                </a:lnTo>
                <a:lnTo>
                  <a:pt x="0" y="6244"/>
                </a:lnTo>
                <a:lnTo>
                  <a:pt x="1529" y="6244"/>
                </a:lnTo>
                <a:lnTo>
                  <a:pt x="1551" y="6244"/>
                </a:lnTo>
                <a:lnTo>
                  <a:pt x="1572" y="6244"/>
                </a:lnTo>
                <a:lnTo>
                  <a:pt x="1594" y="6244"/>
                </a:lnTo>
                <a:lnTo>
                  <a:pt x="1617" y="6243"/>
                </a:lnTo>
                <a:lnTo>
                  <a:pt x="1638" y="6243"/>
                </a:lnTo>
                <a:lnTo>
                  <a:pt x="1660" y="6242"/>
                </a:lnTo>
                <a:lnTo>
                  <a:pt x="1683" y="6241"/>
                </a:lnTo>
                <a:lnTo>
                  <a:pt x="1704" y="6241"/>
                </a:lnTo>
                <a:lnTo>
                  <a:pt x="1864" y="6228"/>
                </a:lnTo>
                <a:lnTo>
                  <a:pt x="2022" y="6208"/>
                </a:lnTo>
                <a:lnTo>
                  <a:pt x="2177" y="6180"/>
                </a:lnTo>
                <a:lnTo>
                  <a:pt x="2330" y="6145"/>
                </a:lnTo>
                <a:lnTo>
                  <a:pt x="2478" y="6102"/>
                </a:lnTo>
                <a:lnTo>
                  <a:pt x="2624" y="6053"/>
                </a:lnTo>
                <a:lnTo>
                  <a:pt x="2766" y="5997"/>
                </a:lnTo>
                <a:lnTo>
                  <a:pt x="2905" y="5934"/>
                </a:lnTo>
                <a:lnTo>
                  <a:pt x="3040" y="5864"/>
                </a:lnTo>
                <a:lnTo>
                  <a:pt x="3171" y="5789"/>
                </a:lnTo>
                <a:lnTo>
                  <a:pt x="3297" y="5707"/>
                </a:lnTo>
                <a:lnTo>
                  <a:pt x="3420" y="5620"/>
                </a:lnTo>
                <a:lnTo>
                  <a:pt x="3538" y="5526"/>
                </a:lnTo>
                <a:lnTo>
                  <a:pt x="3651" y="5428"/>
                </a:lnTo>
                <a:lnTo>
                  <a:pt x="3759" y="5324"/>
                </a:lnTo>
                <a:lnTo>
                  <a:pt x="3862" y="5216"/>
                </a:lnTo>
                <a:lnTo>
                  <a:pt x="3960" y="5102"/>
                </a:lnTo>
                <a:lnTo>
                  <a:pt x="4052" y="4984"/>
                </a:lnTo>
                <a:lnTo>
                  <a:pt x="4138" y="4862"/>
                </a:lnTo>
                <a:lnTo>
                  <a:pt x="4220" y="4735"/>
                </a:lnTo>
                <a:lnTo>
                  <a:pt x="4295" y="4604"/>
                </a:lnTo>
                <a:lnTo>
                  <a:pt x="4363" y="4470"/>
                </a:lnTo>
                <a:lnTo>
                  <a:pt x="4425" y="4332"/>
                </a:lnTo>
                <a:lnTo>
                  <a:pt x="4480" y="4191"/>
                </a:lnTo>
                <a:lnTo>
                  <a:pt x="4529" y="4046"/>
                </a:lnTo>
                <a:lnTo>
                  <a:pt x="4570" y="3899"/>
                </a:lnTo>
                <a:lnTo>
                  <a:pt x="4605" y="3749"/>
                </a:lnTo>
                <a:lnTo>
                  <a:pt x="4633" y="3596"/>
                </a:lnTo>
                <a:lnTo>
                  <a:pt x="4652" y="3441"/>
                </a:lnTo>
                <a:lnTo>
                  <a:pt x="4664" y="3285"/>
                </a:lnTo>
                <a:lnTo>
                  <a:pt x="4668" y="3125"/>
                </a:lnTo>
                <a:lnTo>
                  <a:pt x="4664" y="2965"/>
                </a:lnTo>
                <a:lnTo>
                  <a:pt x="4653" y="2809"/>
                </a:lnTo>
                <a:lnTo>
                  <a:pt x="4634" y="2655"/>
                </a:lnTo>
                <a:lnTo>
                  <a:pt x="4607" y="2505"/>
                </a:lnTo>
                <a:lnTo>
                  <a:pt x="4573" y="2356"/>
                </a:lnTo>
                <a:lnTo>
                  <a:pt x="4533" y="2210"/>
                </a:lnTo>
                <a:lnTo>
                  <a:pt x="4485" y="2068"/>
                </a:lnTo>
                <a:lnTo>
                  <a:pt x="4432" y="1929"/>
                </a:lnTo>
                <a:lnTo>
                  <a:pt x="4373" y="1794"/>
                </a:lnTo>
                <a:lnTo>
                  <a:pt x="4306" y="1661"/>
                </a:lnTo>
                <a:lnTo>
                  <a:pt x="4234" y="1533"/>
                </a:lnTo>
                <a:lnTo>
                  <a:pt x="4156" y="1408"/>
                </a:lnTo>
                <a:lnTo>
                  <a:pt x="4072" y="1288"/>
                </a:lnTo>
                <a:lnTo>
                  <a:pt x="3984" y="1171"/>
                </a:lnTo>
                <a:lnTo>
                  <a:pt x="3891" y="1059"/>
                </a:lnTo>
                <a:lnTo>
                  <a:pt x="3791" y="952"/>
                </a:lnTo>
                <a:lnTo>
                  <a:pt x="3688" y="849"/>
                </a:lnTo>
                <a:lnTo>
                  <a:pt x="3579" y="752"/>
                </a:lnTo>
                <a:lnTo>
                  <a:pt x="3467" y="660"/>
                </a:lnTo>
                <a:lnTo>
                  <a:pt x="3349" y="573"/>
                </a:lnTo>
                <a:lnTo>
                  <a:pt x="3228" y="491"/>
                </a:lnTo>
                <a:lnTo>
                  <a:pt x="3103" y="415"/>
                </a:lnTo>
                <a:lnTo>
                  <a:pt x="2975" y="345"/>
                </a:lnTo>
                <a:lnTo>
                  <a:pt x="2843" y="281"/>
                </a:lnTo>
                <a:lnTo>
                  <a:pt x="2707" y="223"/>
                </a:lnTo>
                <a:lnTo>
                  <a:pt x="2568" y="171"/>
                </a:lnTo>
                <a:lnTo>
                  <a:pt x="2428" y="126"/>
                </a:lnTo>
                <a:lnTo>
                  <a:pt x="2283" y="87"/>
                </a:lnTo>
                <a:lnTo>
                  <a:pt x="2137" y="56"/>
                </a:lnTo>
                <a:lnTo>
                  <a:pt x="1988" y="30"/>
                </a:lnTo>
                <a:lnTo>
                  <a:pt x="1837" y="13"/>
                </a:lnTo>
                <a:lnTo>
                  <a:pt x="1684" y="2"/>
                </a:lnTo>
                <a:lnTo>
                  <a:pt x="1529" y="0"/>
                </a:lnTo>
                <a:close/>
              </a:path>
            </a:pathLst>
          </a:custGeom>
          <a:gradFill>
            <a:gsLst>
              <a:gs pos="1000">
                <a:schemeClr val="accent1">
                  <a:alpha val="100000"/>
                </a:schemeClr>
              </a:gs>
              <a:gs pos="100000">
                <a:schemeClr val="accent1">
                  <a:lumMod val="40000"/>
                  <a:lumOff val="60000"/>
                  <a:alpha val="100000"/>
                </a:schemeClr>
              </a:gs>
            </a:gsLst>
            <a:lin ang="2700000" scaled="0"/>
          </a:gradFill>
          <a:ln w="12700" cap="sq">
            <a:noFill/>
            <a:miter/>
          </a:ln>
          <a:effectLst/>
        </p:spPr>
        <p:txBody>
          <a:bodyPr vert="horz" wrap="square" lIns="0" tIns="0" rIns="0" bIns="0" rtlCol="0" anchor="ctr"/>
          <a:lstStyle/>
          <a:p>
            <a:pPr algn="ctr"/>
            <a:endParaRPr kumimoji="1" lang="zh-CN" altLang="en-US"/>
          </a:p>
        </p:txBody>
      </p:sp>
      <p:sp>
        <p:nvSpPr>
          <p:cNvPr id="4" name="标题 1"/>
          <p:cNvSpPr txBox="1"/>
          <p:nvPr/>
        </p:nvSpPr>
        <p:spPr>
          <a:xfrm rot="2491009">
            <a:off x="4729852" y="2195881"/>
            <a:ext cx="1243656" cy="1663536"/>
          </a:xfrm>
          <a:custGeom>
            <a:avLst/>
            <a:gdLst>
              <a:gd name="T0" fmla="*/ 0 w 4668"/>
              <a:gd name="T1" fmla="*/ 1562 h 6244"/>
              <a:gd name="T2" fmla="*/ 1684 w 4668"/>
              <a:gd name="T3" fmla="*/ 1567 h 6244"/>
              <a:gd name="T4" fmla="*/ 1908 w 4668"/>
              <a:gd name="T5" fmla="*/ 1603 h 6244"/>
              <a:gd name="T6" fmla="*/ 2121 w 4668"/>
              <a:gd name="T7" fmla="*/ 1670 h 6244"/>
              <a:gd name="T8" fmla="*/ 2321 w 4668"/>
              <a:gd name="T9" fmla="*/ 1766 h 6244"/>
              <a:gd name="T10" fmla="*/ 2503 w 4668"/>
              <a:gd name="T11" fmla="*/ 1887 h 6244"/>
              <a:gd name="T12" fmla="*/ 2667 w 4668"/>
              <a:gd name="T13" fmla="*/ 2034 h 6244"/>
              <a:gd name="T14" fmla="*/ 2808 w 4668"/>
              <a:gd name="T15" fmla="*/ 2202 h 6244"/>
              <a:gd name="T16" fmla="*/ 2925 w 4668"/>
              <a:gd name="T17" fmla="*/ 2390 h 6244"/>
              <a:gd name="T18" fmla="*/ 3016 w 4668"/>
              <a:gd name="T19" fmla="*/ 2594 h 6244"/>
              <a:gd name="T20" fmla="*/ 3077 w 4668"/>
              <a:gd name="T21" fmla="*/ 2813 h 6244"/>
              <a:gd name="T22" fmla="*/ 3106 w 4668"/>
              <a:gd name="T23" fmla="*/ 3044 h 6244"/>
              <a:gd name="T24" fmla="*/ 3100 w 4668"/>
              <a:gd name="T25" fmla="*/ 3282 h 6244"/>
              <a:gd name="T26" fmla="*/ 3059 w 4668"/>
              <a:gd name="T27" fmla="*/ 3510 h 6244"/>
              <a:gd name="T28" fmla="*/ 2986 w 4668"/>
              <a:gd name="T29" fmla="*/ 3727 h 6244"/>
              <a:gd name="T30" fmla="*/ 2883 w 4668"/>
              <a:gd name="T31" fmla="*/ 3929 h 6244"/>
              <a:gd name="T32" fmla="*/ 2754 w 4668"/>
              <a:gd name="T33" fmla="*/ 4112 h 6244"/>
              <a:gd name="T34" fmla="*/ 2600 w 4668"/>
              <a:gd name="T35" fmla="*/ 4275 h 6244"/>
              <a:gd name="T36" fmla="*/ 2422 w 4668"/>
              <a:gd name="T37" fmla="*/ 4415 h 6244"/>
              <a:gd name="T38" fmla="*/ 2226 w 4668"/>
              <a:gd name="T39" fmla="*/ 4528 h 6244"/>
              <a:gd name="T40" fmla="*/ 2013 w 4668"/>
              <a:gd name="T41" fmla="*/ 4612 h 6244"/>
              <a:gd name="T42" fmla="*/ 1785 w 4668"/>
              <a:gd name="T43" fmla="*/ 4665 h 6244"/>
              <a:gd name="T44" fmla="*/ 1601 w 4668"/>
              <a:gd name="T45" fmla="*/ 4682 h 6244"/>
              <a:gd name="T46" fmla="*/ 1529 w 4668"/>
              <a:gd name="T47" fmla="*/ 4682 h 6244"/>
              <a:gd name="T48" fmla="*/ 1529 w 4668"/>
              <a:gd name="T49" fmla="*/ 6244 h 6244"/>
              <a:gd name="T50" fmla="*/ 1594 w 4668"/>
              <a:gd name="T51" fmla="*/ 6244 h 6244"/>
              <a:gd name="T52" fmla="*/ 1660 w 4668"/>
              <a:gd name="T53" fmla="*/ 6242 h 6244"/>
              <a:gd name="T54" fmla="*/ 1864 w 4668"/>
              <a:gd name="T55" fmla="*/ 6228 h 6244"/>
              <a:gd name="T56" fmla="*/ 2330 w 4668"/>
              <a:gd name="T57" fmla="*/ 6145 h 6244"/>
              <a:gd name="T58" fmla="*/ 2766 w 4668"/>
              <a:gd name="T59" fmla="*/ 5997 h 6244"/>
              <a:gd name="T60" fmla="*/ 3171 w 4668"/>
              <a:gd name="T61" fmla="*/ 5789 h 6244"/>
              <a:gd name="T62" fmla="*/ 3538 w 4668"/>
              <a:gd name="T63" fmla="*/ 5526 h 6244"/>
              <a:gd name="T64" fmla="*/ 3862 w 4668"/>
              <a:gd name="T65" fmla="*/ 5216 h 6244"/>
              <a:gd name="T66" fmla="*/ 4138 w 4668"/>
              <a:gd name="T67" fmla="*/ 4862 h 6244"/>
              <a:gd name="T68" fmla="*/ 4363 w 4668"/>
              <a:gd name="T69" fmla="*/ 4470 h 6244"/>
              <a:gd name="T70" fmla="*/ 4529 w 4668"/>
              <a:gd name="T71" fmla="*/ 4046 h 6244"/>
              <a:gd name="T72" fmla="*/ 4633 w 4668"/>
              <a:gd name="T73" fmla="*/ 3596 h 6244"/>
              <a:gd name="T74" fmla="*/ 4668 w 4668"/>
              <a:gd name="T75" fmla="*/ 3125 h 6244"/>
              <a:gd name="T76" fmla="*/ 4634 w 4668"/>
              <a:gd name="T77" fmla="*/ 2655 h 6244"/>
              <a:gd name="T78" fmla="*/ 4533 w 4668"/>
              <a:gd name="T79" fmla="*/ 2210 h 6244"/>
              <a:gd name="T80" fmla="*/ 4373 w 4668"/>
              <a:gd name="T81" fmla="*/ 1794 h 6244"/>
              <a:gd name="T82" fmla="*/ 4156 w 4668"/>
              <a:gd name="T83" fmla="*/ 1408 h 6244"/>
              <a:gd name="T84" fmla="*/ 3891 w 4668"/>
              <a:gd name="T85" fmla="*/ 1059 h 6244"/>
              <a:gd name="T86" fmla="*/ 3579 w 4668"/>
              <a:gd name="T87" fmla="*/ 752 h 6244"/>
              <a:gd name="T88" fmla="*/ 3228 w 4668"/>
              <a:gd name="T89" fmla="*/ 491 h 6244"/>
              <a:gd name="T90" fmla="*/ 2843 w 4668"/>
              <a:gd name="T91" fmla="*/ 281 h 6244"/>
              <a:gd name="T92" fmla="*/ 2428 w 4668"/>
              <a:gd name="T93" fmla="*/ 126 h 6244"/>
              <a:gd name="T94" fmla="*/ 1988 w 4668"/>
              <a:gd name="T95" fmla="*/ 30 h 6244"/>
              <a:gd name="T96" fmla="*/ 1529 w 4668"/>
              <a:gd name="T97" fmla="*/ 0 h 6244"/>
            </a:gdLst>
            <a:ahLst/>
            <a:cxnLst/>
            <a:rect l="0" t="0" r="r" b="b"/>
            <a:pathLst>
              <a:path w="4668" h="6244">
                <a:moveTo>
                  <a:pt x="1529" y="0"/>
                </a:moveTo>
                <a:lnTo>
                  <a:pt x="0" y="0"/>
                </a:lnTo>
                <a:lnTo>
                  <a:pt x="0" y="1562"/>
                </a:lnTo>
                <a:lnTo>
                  <a:pt x="1529" y="1562"/>
                </a:lnTo>
                <a:lnTo>
                  <a:pt x="1607" y="1562"/>
                </a:lnTo>
                <a:lnTo>
                  <a:pt x="1684" y="1567"/>
                </a:lnTo>
                <a:lnTo>
                  <a:pt x="1760" y="1575"/>
                </a:lnTo>
                <a:lnTo>
                  <a:pt x="1834" y="1587"/>
                </a:lnTo>
                <a:lnTo>
                  <a:pt x="1908" y="1603"/>
                </a:lnTo>
                <a:lnTo>
                  <a:pt x="1980" y="1622"/>
                </a:lnTo>
                <a:lnTo>
                  <a:pt x="2052" y="1644"/>
                </a:lnTo>
                <a:lnTo>
                  <a:pt x="2121" y="1670"/>
                </a:lnTo>
                <a:lnTo>
                  <a:pt x="2189" y="1699"/>
                </a:lnTo>
                <a:lnTo>
                  <a:pt x="2256" y="1731"/>
                </a:lnTo>
                <a:lnTo>
                  <a:pt x="2321" y="1766"/>
                </a:lnTo>
                <a:lnTo>
                  <a:pt x="2383" y="1804"/>
                </a:lnTo>
                <a:lnTo>
                  <a:pt x="2445" y="1844"/>
                </a:lnTo>
                <a:lnTo>
                  <a:pt x="2503" y="1887"/>
                </a:lnTo>
                <a:lnTo>
                  <a:pt x="2560" y="1934"/>
                </a:lnTo>
                <a:lnTo>
                  <a:pt x="2614" y="1983"/>
                </a:lnTo>
                <a:lnTo>
                  <a:pt x="2667" y="2034"/>
                </a:lnTo>
                <a:lnTo>
                  <a:pt x="2716" y="2088"/>
                </a:lnTo>
                <a:lnTo>
                  <a:pt x="2764" y="2144"/>
                </a:lnTo>
                <a:lnTo>
                  <a:pt x="2808" y="2202"/>
                </a:lnTo>
                <a:lnTo>
                  <a:pt x="2850" y="2263"/>
                </a:lnTo>
                <a:lnTo>
                  <a:pt x="2890" y="2325"/>
                </a:lnTo>
                <a:lnTo>
                  <a:pt x="2925" y="2390"/>
                </a:lnTo>
                <a:lnTo>
                  <a:pt x="2959" y="2456"/>
                </a:lnTo>
                <a:lnTo>
                  <a:pt x="2989" y="2524"/>
                </a:lnTo>
                <a:lnTo>
                  <a:pt x="3016" y="2594"/>
                </a:lnTo>
                <a:lnTo>
                  <a:pt x="3039" y="2664"/>
                </a:lnTo>
                <a:lnTo>
                  <a:pt x="3061" y="2738"/>
                </a:lnTo>
                <a:lnTo>
                  <a:pt x="3077" y="2813"/>
                </a:lnTo>
                <a:lnTo>
                  <a:pt x="3091" y="2888"/>
                </a:lnTo>
                <a:lnTo>
                  <a:pt x="3100" y="2966"/>
                </a:lnTo>
                <a:lnTo>
                  <a:pt x="3106" y="3044"/>
                </a:lnTo>
                <a:lnTo>
                  <a:pt x="3107" y="3124"/>
                </a:lnTo>
                <a:lnTo>
                  <a:pt x="3106" y="3203"/>
                </a:lnTo>
                <a:lnTo>
                  <a:pt x="3100" y="3282"/>
                </a:lnTo>
                <a:lnTo>
                  <a:pt x="3090" y="3360"/>
                </a:lnTo>
                <a:lnTo>
                  <a:pt x="3076" y="3436"/>
                </a:lnTo>
                <a:lnTo>
                  <a:pt x="3059" y="3510"/>
                </a:lnTo>
                <a:lnTo>
                  <a:pt x="3038" y="3584"/>
                </a:lnTo>
                <a:lnTo>
                  <a:pt x="3014" y="3657"/>
                </a:lnTo>
                <a:lnTo>
                  <a:pt x="2986" y="3727"/>
                </a:lnTo>
                <a:lnTo>
                  <a:pt x="2955" y="3796"/>
                </a:lnTo>
                <a:lnTo>
                  <a:pt x="2921" y="3863"/>
                </a:lnTo>
                <a:lnTo>
                  <a:pt x="2883" y="3929"/>
                </a:lnTo>
                <a:lnTo>
                  <a:pt x="2843" y="3992"/>
                </a:lnTo>
                <a:lnTo>
                  <a:pt x="2799" y="4053"/>
                </a:lnTo>
                <a:lnTo>
                  <a:pt x="2754" y="4112"/>
                </a:lnTo>
                <a:lnTo>
                  <a:pt x="2705" y="4169"/>
                </a:lnTo>
                <a:lnTo>
                  <a:pt x="2653" y="4224"/>
                </a:lnTo>
                <a:lnTo>
                  <a:pt x="2600" y="4275"/>
                </a:lnTo>
                <a:lnTo>
                  <a:pt x="2543" y="4324"/>
                </a:lnTo>
                <a:lnTo>
                  <a:pt x="2484" y="4371"/>
                </a:lnTo>
                <a:lnTo>
                  <a:pt x="2422" y="4415"/>
                </a:lnTo>
                <a:lnTo>
                  <a:pt x="2359" y="4456"/>
                </a:lnTo>
                <a:lnTo>
                  <a:pt x="2294" y="4494"/>
                </a:lnTo>
                <a:lnTo>
                  <a:pt x="2226" y="4528"/>
                </a:lnTo>
                <a:lnTo>
                  <a:pt x="2157" y="4560"/>
                </a:lnTo>
                <a:lnTo>
                  <a:pt x="2085" y="4588"/>
                </a:lnTo>
                <a:lnTo>
                  <a:pt x="2013" y="4612"/>
                </a:lnTo>
                <a:lnTo>
                  <a:pt x="1938" y="4633"/>
                </a:lnTo>
                <a:lnTo>
                  <a:pt x="1862" y="4651"/>
                </a:lnTo>
                <a:lnTo>
                  <a:pt x="1785" y="4665"/>
                </a:lnTo>
                <a:lnTo>
                  <a:pt x="1706" y="4675"/>
                </a:lnTo>
                <a:lnTo>
                  <a:pt x="1626" y="4681"/>
                </a:lnTo>
                <a:lnTo>
                  <a:pt x="1601" y="4682"/>
                </a:lnTo>
                <a:lnTo>
                  <a:pt x="1577" y="4682"/>
                </a:lnTo>
                <a:lnTo>
                  <a:pt x="1553" y="4682"/>
                </a:lnTo>
                <a:lnTo>
                  <a:pt x="1529" y="4682"/>
                </a:lnTo>
                <a:lnTo>
                  <a:pt x="0" y="4682"/>
                </a:lnTo>
                <a:lnTo>
                  <a:pt x="0" y="6244"/>
                </a:lnTo>
                <a:lnTo>
                  <a:pt x="1529" y="6244"/>
                </a:lnTo>
                <a:lnTo>
                  <a:pt x="1551" y="6244"/>
                </a:lnTo>
                <a:lnTo>
                  <a:pt x="1572" y="6244"/>
                </a:lnTo>
                <a:lnTo>
                  <a:pt x="1594" y="6244"/>
                </a:lnTo>
                <a:lnTo>
                  <a:pt x="1617" y="6243"/>
                </a:lnTo>
                <a:lnTo>
                  <a:pt x="1638" y="6243"/>
                </a:lnTo>
                <a:lnTo>
                  <a:pt x="1660" y="6242"/>
                </a:lnTo>
                <a:lnTo>
                  <a:pt x="1683" y="6241"/>
                </a:lnTo>
                <a:lnTo>
                  <a:pt x="1704" y="6241"/>
                </a:lnTo>
                <a:lnTo>
                  <a:pt x="1864" y="6228"/>
                </a:lnTo>
                <a:lnTo>
                  <a:pt x="2022" y="6208"/>
                </a:lnTo>
                <a:lnTo>
                  <a:pt x="2177" y="6180"/>
                </a:lnTo>
                <a:lnTo>
                  <a:pt x="2330" y="6145"/>
                </a:lnTo>
                <a:lnTo>
                  <a:pt x="2478" y="6102"/>
                </a:lnTo>
                <a:lnTo>
                  <a:pt x="2624" y="6053"/>
                </a:lnTo>
                <a:lnTo>
                  <a:pt x="2766" y="5997"/>
                </a:lnTo>
                <a:lnTo>
                  <a:pt x="2905" y="5934"/>
                </a:lnTo>
                <a:lnTo>
                  <a:pt x="3040" y="5864"/>
                </a:lnTo>
                <a:lnTo>
                  <a:pt x="3171" y="5789"/>
                </a:lnTo>
                <a:lnTo>
                  <a:pt x="3297" y="5707"/>
                </a:lnTo>
                <a:lnTo>
                  <a:pt x="3420" y="5620"/>
                </a:lnTo>
                <a:lnTo>
                  <a:pt x="3538" y="5526"/>
                </a:lnTo>
                <a:lnTo>
                  <a:pt x="3651" y="5428"/>
                </a:lnTo>
                <a:lnTo>
                  <a:pt x="3759" y="5324"/>
                </a:lnTo>
                <a:lnTo>
                  <a:pt x="3862" y="5216"/>
                </a:lnTo>
                <a:lnTo>
                  <a:pt x="3960" y="5102"/>
                </a:lnTo>
                <a:lnTo>
                  <a:pt x="4052" y="4984"/>
                </a:lnTo>
                <a:lnTo>
                  <a:pt x="4138" y="4862"/>
                </a:lnTo>
                <a:lnTo>
                  <a:pt x="4220" y="4735"/>
                </a:lnTo>
                <a:lnTo>
                  <a:pt x="4295" y="4604"/>
                </a:lnTo>
                <a:lnTo>
                  <a:pt x="4363" y="4470"/>
                </a:lnTo>
                <a:lnTo>
                  <a:pt x="4425" y="4332"/>
                </a:lnTo>
                <a:lnTo>
                  <a:pt x="4480" y="4191"/>
                </a:lnTo>
                <a:lnTo>
                  <a:pt x="4529" y="4046"/>
                </a:lnTo>
                <a:lnTo>
                  <a:pt x="4570" y="3899"/>
                </a:lnTo>
                <a:lnTo>
                  <a:pt x="4605" y="3749"/>
                </a:lnTo>
                <a:lnTo>
                  <a:pt x="4633" y="3596"/>
                </a:lnTo>
                <a:lnTo>
                  <a:pt x="4652" y="3441"/>
                </a:lnTo>
                <a:lnTo>
                  <a:pt x="4664" y="3285"/>
                </a:lnTo>
                <a:lnTo>
                  <a:pt x="4668" y="3125"/>
                </a:lnTo>
                <a:lnTo>
                  <a:pt x="4664" y="2965"/>
                </a:lnTo>
                <a:lnTo>
                  <a:pt x="4653" y="2809"/>
                </a:lnTo>
                <a:lnTo>
                  <a:pt x="4634" y="2655"/>
                </a:lnTo>
                <a:lnTo>
                  <a:pt x="4607" y="2505"/>
                </a:lnTo>
                <a:lnTo>
                  <a:pt x="4573" y="2356"/>
                </a:lnTo>
                <a:lnTo>
                  <a:pt x="4533" y="2210"/>
                </a:lnTo>
                <a:lnTo>
                  <a:pt x="4485" y="2068"/>
                </a:lnTo>
                <a:lnTo>
                  <a:pt x="4432" y="1929"/>
                </a:lnTo>
                <a:lnTo>
                  <a:pt x="4373" y="1794"/>
                </a:lnTo>
                <a:lnTo>
                  <a:pt x="4306" y="1661"/>
                </a:lnTo>
                <a:lnTo>
                  <a:pt x="4234" y="1533"/>
                </a:lnTo>
                <a:lnTo>
                  <a:pt x="4156" y="1408"/>
                </a:lnTo>
                <a:lnTo>
                  <a:pt x="4072" y="1288"/>
                </a:lnTo>
                <a:lnTo>
                  <a:pt x="3984" y="1171"/>
                </a:lnTo>
                <a:lnTo>
                  <a:pt x="3891" y="1059"/>
                </a:lnTo>
                <a:lnTo>
                  <a:pt x="3791" y="952"/>
                </a:lnTo>
                <a:lnTo>
                  <a:pt x="3688" y="849"/>
                </a:lnTo>
                <a:lnTo>
                  <a:pt x="3579" y="752"/>
                </a:lnTo>
                <a:lnTo>
                  <a:pt x="3467" y="660"/>
                </a:lnTo>
                <a:lnTo>
                  <a:pt x="3349" y="573"/>
                </a:lnTo>
                <a:lnTo>
                  <a:pt x="3228" y="491"/>
                </a:lnTo>
                <a:lnTo>
                  <a:pt x="3103" y="415"/>
                </a:lnTo>
                <a:lnTo>
                  <a:pt x="2975" y="345"/>
                </a:lnTo>
                <a:lnTo>
                  <a:pt x="2843" y="281"/>
                </a:lnTo>
                <a:lnTo>
                  <a:pt x="2707" y="223"/>
                </a:lnTo>
                <a:lnTo>
                  <a:pt x="2568" y="171"/>
                </a:lnTo>
                <a:lnTo>
                  <a:pt x="2428" y="126"/>
                </a:lnTo>
                <a:lnTo>
                  <a:pt x="2283" y="87"/>
                </a:lnTo>
                <a:lnTo>
                  <a:pt x="2137" y="56"/>
                </a:lnTo>
                <a:lnTo>
                  <a:pt x="1988" y="30"/>
                </a:lnTo>
                <a:lnTo>
                  <a:pt x="1837" y="13"/>
                </a:lnTo>
                <a:lnTo>
                  <a:pt x="1684" y="2"/>
                </a:lnTo>
                <a:lnTo>
                  <a:pt x="1529" y="0"/>
                </a:lnTo>
                <a:close/>
              </a:path>
            </a:pathLst>
          </a:custGeom>
          <a:gradFill>
            <a:gsLst>
              <a:gs pos="1000">
                <a:schemeClr val="accent1">
                  <a:alpha val="100000"/>
                </a:schemeClr>
              </a:gs>
              <a:gs pos="100000">
                <a:schemeClr val="accent1">
                  <a:lumMod val="40000"/>
                  <a:lumOff val="60000"/>
                  <a:alpha val="100000"/>
                </a:schemeClr>
              </a:gs>
            </a:gsLst>
            <a:lin ang="2700000" scaled="0"/>
          </a:gradFill>
          <a:ln w="12700" cap="sq">
            <a:noFill/>
            <a:miter/>
          </a:ln>
          <a:effectLst/>
        </p:spPr>
        <p:txBody>
          <a:bodyPr vert="horz" wrap="square" lIns="0" tIns="0" rIns="0" bIns="0" rtlCol="0" anchor="ctr"/>
          <a:lstStyle/>
          <a:p>
            <a:pPr algn="ctr"/>
            <a:endParaRPr kumimoji="1" lang="zh-CN" altLang="en-US"/>
          </a:p>
        </p:txBody>
      </p:sp>
      <p:sp>
        <p:nvSpPr>
          <p:cNvPr id="5" name="标题 1"/>
          <p:cNvSpPr txBox="1"/>
          <p:nvPr/>
        </p:nvSpPr>
        <p:spPr>
          <a:xfrm rot="19366632" flipH="1">
            <a:off x="6185173" y="2195881"/>
            <a:ext cx="1243656" cy="1663536"/>
          </a:xfrm>
          <a:custGeom>
            <a:avLst/>
            <a:gdLst>
              <a:gd name="T0" fmla="*/ 0 w 4668"/>
              <a:gd name="T1" fmla="*/ 1562 h 6244"/>
              <a:gd name="T2" fmla="*/ 1684 w 4668"/>
              <a:gd name="T3" fmla="*/ 1567 h 6244"/>
              <a:gd name="T4" fmla="*/ 1908 w 4668"/>
              <a:gd name="T5" fmla="*/ 1603 h 6244"/>
              <a:gd name="T6" fmla="*/ 2121 w 4668"/>
              <a:gd name="T7" fmla="*/ 1670 h 6244"/>
              <a:gd name="T8" fmla="*/ 2321 w 4668"/>
              <a:gd name="T9" fmla="*/ 1766 h 6244"/>
              <a:gd name="T10" fmla="*/ 2503 w 4668"/>
              <a:gd name="T11" fmla="*/ 1887 h 6244"/>
              <a:gd name="T12" fmla="*/ 2667 w 4668"/>
              <a:gd name="T13" fmla="*/ 2034 h 6244"/>
              <a:gd name="T14" fmla="*/ 2808 w 4668"/>
              <a:gd name="T15" fmla="*/ 2202 h 6244"/>
              <a:gd name="T16" fmla="*/ 2925 w 4668"/>
              <a:gd name="T17" fmla="*/ 2390 h 6244"/>
              <a:gd name="T18" fmla="*/ 3016 w 4668"/>
              <a:gd name="T19" fmla="*/ 2594 h 6244"/>
              <a:gd name="T20" fmla="*/ 3077 w 4668"/>
              <a:gd name="T21" fmla="*/ 2813 h 6244"/>
              <a:gd name="T22" fmla="*/ 3106 w 4668"/>
              <a:gd name="T23" fmla="*/ 3044 h 6244"/>
              <a:gd name="T24" fmla="*/ 3100 w 4668"/>
              <a:gd name="T25" fmla="*/ 3282 h 6244"/>
              <a:gd name="T26" fmla="*/ 3059 w 4668"/>
              <a:gd name="T27" fmla="*/ 3510 h 6244"/>
              <a:gd name="T28" fmla="*/ 2986 w 4668"/>
              <a:gd name="T29" fmla="*/ 3727 h 6244"/>
              <a:gd name="T30" fmla="*/ 2883 w 4668"/>
              <a:gd name="T31" fmla="*/ 3929 h 6244"/>
              <a:gd name="T32" fmla="*/ 2754 w 4668"/>
              <a:gd name="T33" fmla="*/ 4112 h 6244"/>
              <a:gd name="T34" fmla="*/ 2600 w 4668"/>
              <a:gd name="T35" fmla="*/ 4275 h 6244"/>
              <a:gd name="T36" fmla="*/ 2422 w 4668"/>
              <a:gd name="T37" fmla="*/ 4415 h 6244"/>
              <a:gd name="T38" fmla="*/ 2226 w 4668"/>
              <a:gd name="T39" fmla="*/ 4528 h 6244"/>
              <a:gd name="T40" fmla="*/ 2013 w 4668"/>
              <a:gd name="T41" fmla="*/ 4612 h 6244"/>
              <a:gd name="T42" fmla="*/ 1785 w 4668"/>
              <a:gd name="T43" fmla="*/ 4665 h 6244"/>
              <a:gd name="T44" fmla="*/ 1601 w 4668"/>
              <a:gd name="T45" fmla="*/ 4682 h 6244"/>
              <a:gd name="T46" fmla="*/ 1529 w 4668"/>
              <a:gd name="T47" fmla="*/ 4682 h 6244"/>
              <a:gd name="T48" fmla="*/ 1529 w 4668"/>
              <a:gd name="T49" fmla="*/ 6244 h 6244"/>
              <a:gd name="T50" fmla="*/ 1594 w 4668"/>
              <a:gd name="T51" fmla="*/ 6244 h 6244"/>
              <a:gd name="T52" fmla="*/ 1660 w 4668"/>
              <a:gd name="T53" fmla="*/ 6242 h 6244"/>
              <a:gd name="T54" fmla="*/ 1864 w 4668"/>
              <a:gd name="T55" fmla="*/ 6228 h 6244"/>
              <a:gd name="T56" fmla="*/ 2330 w 4668"/>
              <a:gd name="T57" fmla="*/ 6145 h 6244"/>
              <a:gd name="T58" fmla="*/ 2766 w 4668"/>
              <a:gd name="T59" fmla="*/ 5997 h 6244"/>
              <a:gd name="T60" fmla="*/ 3171 w 4668"/>
              <a:gd name="T61" fmla="*/ 5789 h 6244"/>
              <a:gd name="T62" fmla="*/ 3538 w 4668"/>
              <a:gd name="T63" fmla="*/ 5526 h 6244"/>
              <a:gd name="T64" fmla="*/ 3862 w 4668"/>
              <a:gd name="T65" fmla="*/ 5216 h 6244"/>
              <a:gd name="T66" fmla="*/ 4138 w 4668"/>
              <a:gd name="T67" fmla="*/ 4862 h 6244"/>
              <a:gd name="T68" fmla="*/ 4363 w 4668"/>
              <a:gd name="T69" fmla="*/ 4470 h 6244"/>
              <a:gd name="T70" fmla="*/ 4529 w 4668"/>
              <a:gd name="T71" fmla="*/ 4046 h 6244"/>
              <a:gd name="T72" fmla="*/ 4633 w 4668"/>
              <a:gd name="T73" fmla="*/ 3596 h 6244"/>
              <a:gd name="T74" fmla="*/ 4668 w 4668"/>
              <a:gd name="T75" fmla="*/ 3125 h 6244"/>
              <a:gd name="T76" fmla="*/ 4634 w 4668"/>
              <a:gd name="T77" fmla="*/ 2655 h 6244"/>
              <a:gd name="T78" fmla="*/ 4533 w 4668"/>
              <a:gd name="T79" fmla="*/ 2210 h 6244"/>
              <a:gd name="T80" fmla="*/ 4373 w 4668"/>
              <a:gd name="T81" fmla="*/ 1794 h 6244"/>
              <a:gd name="T82" fmla="*/ 4156 w 4668"/>
              <a:gd name="T83" fmla="*/ 1408 h 6244"/>
              <a:gd name="T84" fmla="*/ 3891 w 4668"/>
              <a:gd name="T85" fmla="*/ 1059 h 6244"/>
              <a:gd name="T86" fmla="*/ 3579 w 4668"/>
              <a:gd name="T87" fmla="*/ 752 h 6244"/>
              <a:gd name="T88" fmla="*/ 3228 w 4668"/>
              <a:gd name="T89" fmla="*/ 491 h 6244"/>
              <a:gd name="T90" fmla="*/ 2843 w 4668"/>
              <a:gd name="T91" fmla="*/ 281 h 6244"/>
              <a:gd name="T92" fmla="*/ 2428 w 4668"/>
              <a:gd name="T93" fmla="*/ 126 h 6244"/>
              <a:gd name="T94" fmla="*/ 1988 w 4668"/>
              <a:gd name="T95" fmla="*/ 30 h 6244"/>
              <a:gd name="T96" fmla="*/ 1529 w 4668"/>
              <a:gd name="T97" fmla="*/ 0 h 6244"/>
            </a:gdLst>
            <a:ahLst/>
            <a:cxnLst/>
            <a:rect l="0" t="0" r="r" b="b"/>
            <a:pathLst>
              <a:path w="4668" h="6244">
                <a:moveTo>
                  <a:pt x="1529" y="0"/>
                </a:moveTo>
                <a:lnTo>
                  <a:pt x="0" y="0"/>
                </a:lnTo>
                <a:lnTo>
                  <a:pt x="0" y="1562"/>
                </a:lnTo>
                <a:lnTo>
                  <a:pt x="1529" y="1562"/>
                </a:lnTo>
                <a:lnTo>
                  <a:pt x="1607" y="1562"/>
                </a:lnTo>
                <a:lnTo>
                  <a:pt x="1684" y="1567"/>
                </a:lnTo>
                <a:lnTo>
                  <a:pt x="1760" y="1575"/>
                </a:lnTo>
                <a:lnTo>
                  <a:pt x="1834" y="1587"/>
                </a:lnTo>
                <a:lnTo>
                  <a:pt x="1908" y="1603"/>
                </a:lnTo>
                <a:lnTo>
                  <a:pt x="1980" y="1622"/>
                </a:lnTo>
                <a:lnTo>
                  <a:pt x="2052" y="1644"/>
                </a:lnTo>
                <a:lnTo>
                  <a:pt x="2121" y="1670"/>
                </a:lnTo>
                <a:lnTo>
                  <a:pt x="2189" y="1699"/>
                </a:lnTo>
                <a:lnTo>
                  <a:pt x="2256" y="1731"/>
                </a:lnTo>
                <a:lnTo>
                  <a:pt x="2321" y="1766"/>
                </a:lnTo>
                <a:lnTo>
                  <a:pt x="2383" y="1804"/>
                </a:lnTo>
                <a:lnTo>
                  <a:pt x="2445" y="1844"/>
                </a:lnTo>
                <a:lnTo>
                  <a:pt x="2503" y="1887"/>
                </a:lnTo>
                <a:lnTo>
                  <a:pt x="2560" y="1934"/>
                </a:lnTo>
                <a:lnTo>
                  <a:pt x="2614" y="1983"/>
                </a:lnTo>
                <a:lnTo>
                  <a:pt x="2667" y="2034"/>
                </a:lnTo>
                <a:lnTo>
                  <a:pt x="2716" y="2088"/>
                </a:lnTo>
                <a:lnTo>
                  <a:pt x="2764" y="2144"/>
                </a:lnTo>
                <a:lnTo>
                  <a:pt x="2808" y="2202"/>
                </a:lnTo>
                <a:lnTo>
                  <a:pt x="2850" y="2263"/>
                </a:lnTo>
                <a:lnTo>
                  <a:pt x="2890" y="2325"/>
                </a:lnTo>
                <a:lnTo>
                  <a:pt x="2925" y="2390"/>
                </a:lnTo>
                <a:lnTo>
                  <a:pt x="2959" y="2456"/>
                </a:lnTo>
                <a:lnTo>
                  <a:pt x="2989" y="2524"/>
                </a:lnTo>
                <a:lnTo>
                  <a:pt x="3016" y="2594"/>
                </a:lnTo>
                <a:lnTo>
                  <a:pt x="3039" y="2664"/>
                </a:lnTo>
                <a:lnTo>
                  <a:pt x="3061" y="2738"/>
                </a:lnTo>
                <a:lnTo>
                  <a:pt x="3077" y="2813"/>
                </a:lnTo>
                <a:lnTo>
                  <a:pt x="3091" y="2888"/>
                </a:lnTo>
                <a:lnTo>
                  <a:pt x="3100" y="2966"/>
                </a:lnTo>
                <a:lnTo>
                  <a:pt x="3106" y="3044"/>
                </a:lnTo>
                <a:lnTo>
                  <a:pt x="3107" y="3124"/>
                </a:lnTo>
                <a:lnTo>
                  <a:pt x="3106" y="3203"/>
                </a:lnTo>
                <a:lnTo>
                  <a:pt x="3100" y="3282"/>
                </a:lnTo>
                <a:lnTo>
                  <a:pt x="3090" y="3360"/>
                </a:lnTo>
                <a:lnTo>
                  <a:pt x="3076" y="3436"/>
                </a:lnTo>
                <a:lnTo>
                  <a:pt x="3059" y="3510"/>
                </a:lnTo>
                <a:lnTo>
                  <a:pt x="3038" y="3584"/>
                </a:lnTo>
                <a:lnTo>
                  <a:pt x="3014" y="3657"/>
                </a:lnTo>
                <a:lnTo>
                  <a:pt x="2986" y="3727"/>
                </a:lnTo>
                <a:lnTo>
                  <a:pt x="2955" y="3796"/>
                </a:lnTo>
                <a:lnTo>
                  <a:pt x="2921" y="3863"/>
                </a:lnTo>
                <a:lnTo>
                  <a:pt x="2883" y="3929"/>
                </a:lnTo>
                <a:lnTo>
                  <a:pt x="2843" y="3992"/>
                </a:lnTo>
                <a:lnTo>
                  <a:pt x="2799" y="4053"/>
                </a:lnTo>
                <a:lnTo>
                  <a:pt x="2754" y="4112"/>
                </a:lnTo>
                <a:lnTo>
                  <a:pt x="2705" y="4169"/>
                </a:lnTo>
                <a:lnTo>
                  <a:pt x="2653" y="4224"/>
                </a:lnTo>
                <a:lnTo>
                  <a:pt x="2600" y="4275"/>
                </a:lnTo>
                <a:lnTo>
                  <a:pt x="2543" y="4324"/>
                </a:lnTo>
                <a:lnTo>
                  <a:pt x="2484" y="4371"/>
                </a:lnTo>
                <a:lnTo>
                  <a:pt x="2422" y="4415"/>
                </a:lnTo>
                <a:lnTo>
                  <a:pt x="2359" y="4456"/>
                </a:lnTo>
                <a:lnTo>
                  <a:pt x="2294" y="4494"/>
                </a:lnTo>
                <a:lnTo>
                  <a:pt x="2226" y="4528"/>
                </a:lnTo>
                <a:lnTo>
                  <a:pt x="2157" y="4560"/>
                </a:lnTo>
                <a:lnTo>
                  <a:pt x="2085" y="4588"/>
                </a:lnTo>
                <a:lnTo>
                  <a:pt x="2013" y="4612"/>
                </a:lnTo>
                <a:lnTo>
                  <a:pt x="1938" y="4633"/>
                </a:lnTo>
                <a:lnTo>
                  <a:pt x="1862" y="4651"/>
                </a:lnTo>
                <a:lnTo>
                  <a:pt x="1785" y="4665"/>
                </a:lnTo>
                <a:lnTo>
                  <a:pt x="1706" y="4675"/>
                </a:lnTo>
                <a:lnTo>
                  <a:pt x="1626" y="4681"/>
                </a:lnTo>
                <a:lnTo>
                  <a:pt x="1601" y="4682"/>
                </a:lnTo>
                <a:lnTo>
                  <a:pt x="1577" y="4682"/>
                </a:lnTo>
                <a:lnTo>
                  <a:pt x="1553" y="4682"/>
                </a:lnTo>
                <a:lnTo>
                  <a:pt x="1529" y="4682"/>
                </a:lnTo>
                <a:lnTo>
                  <a:pt x="0" y="4682"/>
                </a:lnTo>
                <a:lnTo>
                  <a:pt x="0" y="6244"/>
                </a:lnTo>
                <a:lnTo>
                  <a:pt x="1529" y="6244"/>
                </a:lnTo>
                <a:lnTo>
                  <a:pt x="1551" y="6244"/>
                </a:lnTo>
                <a:lnTo>
                  <a:pt x="1572" y="6244"/>
                </a:lnTo>
                <a:lnTo>
                  <a:pt x="1594" y="6244"/>
                </a:lnTo>
                <a:lnTo>
                  <a:pt x="1617" y="6243"/>
                </a:lnTo>
                <a:lnTo>
                  <a:pt x="1638" y="6243"/>
                </a:lnTo>
                <a:lnTo>
                  <a:pt x="1660" y="6242"/>
                </a:lnTo>
                <a:lnTo>
                  <a:pt x="1683" y="6241"/>
                </a:lnTo>
                <a:lnTo>
                  <a:pt x="1704" y="6241"/>
                </a:lnTo>
                <a:lnTo>
                  <a:pt x="1864" y="6228"/>
                </a:lnTo>
                <a:lnTo>
                  <a:pt x="2022" y="6208"/>
                </a:lnTo>
                <a:lnTo>
                  <a:pt x="2177" y="6180"/>
                </a:lnTo>
                <a:lnTo>
                  <a:pt x="2330" y="6145"/>
                </a:lnTo>
                <a:lnTo>
                  <a:pt x="2478" y="6102"/>
                </a:lnTo>
                <a:lnTo>
                  <a:pt x="2624" y="6053"/>
                </a:lnTo>
                <a:lnTo>
                  <a:pt x="2766" y="5997"/>
                </a:lnTo>
                <a:lnTo>
                  <a:pt x="2905" y="5934"/>
                </a:lnTo>
                <a:lnTo>
                  <a:pt x="3040" y="5864"/>
                </a:lnTo>
                <a:lnTo>
                  <a:pt x="3171" y="5789"/>
                </a:lnTo>
                <a:lnTo>
                  <a:pt x="3297" y="5707"/>
                </a:lnTo>
                <a:lnTo>
                  <a:pt x="3420" y="5620"/>
                </a:lnTo>
                <a:lnTo>
                  <a:pt x="3538" y="5526"/>
                </a:lnTo>
                <a:lnTo>
                  <a:pt x="3651" y="5428"/>
                </a:lnTo>
                <a:lnTo>
                  <a:pt x="3759" y="5324"/>
                </a:lnTo>
                <a:lnTo>
                  <a:pt x="3862" y="5216"/>
                </a:lnTo>
                <a:lnTo>
                  <a:pt x="3960" y="5102"/>
                </a:lnTo>
                <a:lnTo>
                  <a:pt x="4052" y="4984"/>
                </a:lnTo>
                <a:lnTo>
                  <a:pt x="4138" y="4862"/>
                </a:lnTo>
                <a:lnTo>
                  <a:pt x="4220" y="4735"/>
                </a:lnTo>
                <a:lnTo>
                  <a:pt x="4295" y="4604"/>
                </a:lnTo>
                <a:lnTo>
                  <a:pt x="4363" y="4470"/>
                </a:lnTo>
                <a:lnTo>
                  <a:pt x="4425" y="4332"/>
                </a:lnTo>
                <a:lnTo>
                  <a:pt x="4480" y="4191"/>
                </a:lnTo>
                <a:lnTo>
                  <a:pt x="4529" y="4046"/>
                </a:lnTo>
                <a:lnTo>
                  <a:pt x="4570" y="3899"/>
                </a:lnTo>
                <a:lnTo>
                  <a:pt x="4605" y="3749"/>
                </a:lnTo>
                <a:lnTo>
                  <a:pt x="4633" y="3596"/>
                </a:lnTo>
                <a:lnTo>
                  <a:pt x="4652" y="3441"/>
                </a:lnTo>
                <a:lnTo>
                  <a:pt x="4664" y="3285"/>
                </a:lnTo>
                <a:lnTo>
                  <a:pt x="4668" y="3125"/>
                </a:lnTo>
                <a:lnTo>
                  <a:pt x="4664" y="2965"/>
                </a:lnTo>
                <a:lnTo>
                  <a:pt x="4653" y="2809"/>
                </a:lnTo>
                <a:lnTo>
                  <a:pt x="4634" y="2655"/>
                </a:lnTo>
                <a:lnTo>
                  <a:pt x="4607" y="2505"/>
                </a:lnTo>
                <a:lnTo>
                  <a:pt x="4573" y="2356"/>
                </a:lnTo>
                <a:lnTo>
                  <a:pt x="4533" y="2210"/>
                </a:lnTo>
                <a:lnTo>
                  <a:pt x="4485" y="2068"/>
                </a:lnTo>
                <a:lnTo>
                  <a:pt x="4432" y="1929"/>
                </a:lnTo>
                <a:lnTo>
                  <a:pt x="4373" y="1794"/>
                </a:lnTo>
                <a:lnTo>
                  <a:pt x="4306" y="1661"/>
                </a:lnTo>
                <a:lnTo>
                  <a:pt x="4234" y="1533"/>
                </a:lnTo>
                <a:lnTo>
                  <a:pt x="4156" y="1408"/>
                </a:lnTo>
                <a:lnTo>
                  <a:pt x="4072" y="1288"/>
                </a:lnTo>
                <a:lnTo>
                  <a:pt x="3984" y="1171"/>
                </a:lnTo>
                <a:lnTo>
                  <a:pt x="3891" y="1059"/>
                </a:lnTo>
                <a:lnTo>
                  <a:pt x="3791" y="952"/>
                </a:lnTo>
                <a:lnTo>
                  <a:pt x="3688" y="849"/>
                </a:lnTo>
                <a:lnTo>
                  <a:pt x="3579" y="752"/>
                </a:lnTo>
                <a:lnTo>
                  <a:pt x="3467" y="660"/>
                </a:lnTo>
                <a:lnTo>
                  <a:pt x="3349" y="573"/>
                </a:lnTo>
                <a:lnTo>
                  <a:pt x="3228" y="491"/>
                </a:lnTo>
                <a:lnTo>
                  <a:pt x="3103" y="415"/>
                </a:lnTo>
                <a:lnTo>
                  <a:pt x="2975" y="345"/>
                </a:lnTo>
                <a:lnTo>
                  <a:pt x="2843" y="281"/>
                </a:lnTo>
                <a:lnTo>
                  <a:pt x="2707" y="223"/>
                </a:lnTo>
                <a:lnTo>
                  <a:pt x="2568" y="171"/>
                </a:lnTo>
                <a:lnTo>
                  <a:pt x="2428" y="126"/>
                </a:lnTo>
                <a:lnTo>
                  <a:pt x="2283" y="87"/>
                </a:lnTo>
                <a:lnTo>
                  <a:pt x="2137" y="56"/>
                </a:lnTo>
                <a:lnTo>
                  <a:pt x="1988" y="30"/>
                </a:lnTo>
                <a:lnTo>
                  <a:pt x="1837" y="13"/>
                </a:lnTo>
                <a:lnTo>
                  <a:pt x="1684" y="2"/>
                </a:lnTo>
                <a:lnTo>
                  <a:pt x="1529" y="0"/>
                </a:lnTo>
                <a:close/>
              </a:path>
            </a:pathLst>
          </a:custGeom>
          <a:gradFill>
            <a:gsLst>
              <a:gs pos="1000">
                <a:schemeClr val="accent2">
                  <a:alpha val="100000"/>
                </a:schemeClr>
              </a:gs>
              <a:gs pos="100000">
                <a:schemeClr val="accent2">
                  <a:lumMod val="40000"/>
                  <a:lumOff val="60000"/>
                  <a:alpha val="100000"/>
                </a:schemeClr>
              </a:gs>
            </a:gsLst>
            <a:lin ang="2700000" scaled="0"/>
          </a:gradFill>
          <a:ln w="12700" cap="sq">
            <a:noFill/>
            <a:miter/>
          </a:ln>
          <a:effectLst/>
        </p:spPr>
        <p:txBody>
          <a:bodyPr vert="horz" wrap="square" lIns="0" tIns="0" rIns="0" bIns="0" rtlCol="0" anchor="ctr"/>
          <a:lstStyle/>
          <a:p>
            <a:pPr algn="ctr"/>
            <a:endParaRPr kumimoji="1" lang="zh-CN" altLang="en-US"/>
          </a:p>
        </p:txBody>
      </p:sp>
      <p:sp>
        <p:nvSpPr>
          <p:cNvPr id="6" name="标题 1"/>
          <p:cNvSpPr txBox="1"/>
          <p:nvPr/>
        </p:nvSpPr>
        <p:spPr>
          <a:xfrm>
            <a:off x="4930632" y="2725807"/>
            <a:ext cx="482600" cy="330200"/>
          </a:xfrm>
          <a:prstGeom prst="rect">
            <a:avLst/>
          </a:prstGeom>
          <a:noFill/>
          <a:ln>
            <a:noFill/>
          </a:ln>
        </p:spPr>
        <p:txBody>
          <a:bodyPr vert="horz" wrap="square" lIns="0" tIns="0" rIns="0" bIns="0" rtlCol="0" anchor="t">
            <a:spAutoFit/>
          </a:bodyPr>
          <a:lstStyle/>
          <a:p>
            <a:pPr algn="ctr"/>
            <a:r>
              <a:rPr kumimoji="1" lang="en-US" altLang="zh-CN" sz="2400">
                <a:ln w="12700">
                  <a:noFill/>
                </a:ln>
                <a:solidFill>
                  <a:srgbClr val="262626">
                    <a:alpha val="100000"/>
                  </a:srgbClr>
                </a:solidFill>
                <a:latin typeface="poppins-bold"/>
                <a:ea typeface="poppins-bold"/>
                <a:cs typeface="poppins-bold"/>
              </a:rPr>
              <a:t>01</a:t>
            </a:r>
            <a:endParaRPr kumimoji="1" lang="zh-CN" altLang="en-US"/>
          </a:p>
        </p:txBody>
      </p:sp>
      <p:sp>
        <p:nvSpPr>
          <p:cNvPr id="7" name="标题 1"/>
          <p:cNvSpPr txBox="1"/>
          <p:nvPr/>
        </p:nvSpPr>
        <p:spPr>
          <a:xfrm>
            <a:off x="4930634" y="4587471"/>
            <a:ext cx="495300" cy="330200"/>
          </a:xfrm>
          <a:prstGeom prst="rect">
            <a:avLst/>
          </a:prstGeom>
          <a:noFill/>
          <a:ln>
            <a:noFill/>
          </a:ln>
        </p:spPr>
        <p:txBody>
          <a:bodyPr vert="horz" wrap="square" lIns="0" tIns="0" rIns="0" bIns="0" rtlCol="0" anchor="t">
            <a:spAutoFit/>
          </a:bodyPr>
          <a:lstStyle/>
          <a:p>
            <a:pPr algn="ctr"/>
            <a:r>
              <a:rPr kumimoji="1" lang="en-US" altLang="zh-CN" sz="2400">
                <a:ln w="12700">
                  <a:noFill/>
                </a:ln>
                <a:solidFill>
                  <a:srgbClr val="262626">
                    <a:alpha val="100000"/>
                  </a:srgbClr>
                </a:solidFill>
                <a:latin typeface="poppins-bold"/>
                <a:ea typeface="poppins-bold"/>
                <a:cs typeface="poppins-bold"/>
              </a:rPr>
              <a:t>03</a:t>
            </a:r>
            <a:endParaRPr kumimoji="1" lang="zh-CN" altLang="en-US"/>
          </a:p>
        </p:txBody>
      </p:sp>
      <p:sp>
        <p:nvSpPr>
          <p:cNvPr id="8" name="标题 1"/>
          <p:cNvSpPr txBox="1"/>
          <p:nvPr/>
        </p:nvSpPr>
        <p:spPr>
          <a:xfrm>
            <a:off x="6739112" y="2725807"/>
            <a:ext cx="495300" cy="330200"/>
          </a:xfrm>
          <a:prstGeom prst="rect">
            <a:avLst/>
          </a:prstGeom>
          <a:noFill/>
          <a:ln>
            <a:noFill/>
          </a:ln>
        </p:spPr>
        <p:txBody>
          <a:bodyPr vert="horz" wrap="square" lIns="0" tIns="0" rIns="0" bIns="0" rtlCol="0" anchor="t">
            <a:spAutoFit/>
          </a:bodyPr>
          <a:lstStyle/>
          <a:p>
            <a:pPr algn="ctr"/>
            <a:r>
              <a:rPr kumimoji="1" lang="en-US" altLang="zh-CN" sz="2400">
                <a:ln w="12700">
                  <a:noFill/>
                </a:ln>
                <a:solidFill>
                  <a:srgbClr val="262626">
                    <a:alpha val="100000"/>
                  </a:srgbClr>
                </a:solidFill>
                <a:latin typeface="poppins-bold"/>
                <a:ea typeface="poppins-bold"/>
                <a:cs typeface="poppins-bold"/>
              </a:rPr>
              <a:t>02</a:t>
            </a:r>
            <a:endParaRPr kumimoji="1" lang="zh-CN" altLang="en-US"/>
          </a:p>
        </p:txBody>
      </p:sp>
      <p:sp>
        <p:nvSpPr>
          <p:cNvPr id="9" name="标题 1"/>
          <p:cNvSpPr txBox="1"/>
          <p:nvPr/>
        </p:nvSpPr>
        <p:spPr>
          <a:xfrm>
            <a:off x="6739111" y="4587471"/>
            <a:ext cx="495300" cy="330200"/>
          </a:xfrm>
          <a:prstGeom prst="rect">
            <a:avLst/>
          </a:prstGeom>
          <a:noFill/>
          <a:ln>
            <a:noFill/>
          </a:ln>
        </p:spPr>
        <p:txBody>
          <a:bodyPr vert="horz" wrap="square" lIns="0" tIns="0" rIns="0" bIns="0" rtlCol="0" anchor="t">
            <a:spAutoFit/>
          </a:bodyPr>
          <a:lstStyle/>
          <a:p>
            <a:pPr algn="ctr"/>
            <a:r>
              <a:rPr kumimoji="1" lang="en-US" altLang="zh-CN" sz="2400">
                <a:ln w="12700">
                  <a:noFill/>
                </a:ln>
                <a:solidFill>
                  <a:srgbClr val="262626">
                    <a:alpha val="100000"/>
                  </a:srgbClr>
                </a:solidFill>
                <a:latin typeface="poppins-bold"/>
                <a:ea typeface="poppins-bold"/>
                <a:cs typeface="poppins-bold"/>
              </a:rPr>
              <a:t>04</a:t>
            </a:r>
            <a:endParaRPr kumimoji="1" lang="zh-CN" altLang="en-US"/>
          </a:p>
        </p:txBody>
      </p:sp>
      <p:sp>
        <p:nvSpPr>
          <p:cNvPr id="10" name="标题 1"/>
          <p:cNvSpPr txBox="1"/>
          <p:nvPr/>
        </p:nvSpPr>
        <p:spPr>
          <a:xfrm>
            <a:off x="793020" y="2167745"/>
            <a:ext cx="3340100" cy="203200"/>
          </a:xfrm>
          <a:prstGeom prst="rect">
            <a:avLst/>
          </a:prstGeom>
          <a:noFill/>
          <a:ln>
            <a:noFill/>
          </a:ln>
        </p:spPr>
        <p:txBody>
          <a:bodyPr vert="horz" wrap="square" lIns="0" tIns="0" rIns="0" bIns="0" rtlCol="0" anchor="t">
            <a:spAutoFit/>
          </a:bodyPr>
          <a:lstStyle/>
          <a:p>
            <a:pPr algn="r"/>
            <a:r>
              <a:rPr kumimoji="1" lang="en-US" altLang="zh-CN" sz="1422">
                <a:ln w="12700">
                  <a:noFill/>
                </a:ln>
                <a:solidFill>
                  <a:srgbClr val="262626">
                    <a:alpha val="100000"/>
                  </a:srgbClr>
                </a:solidFill>
                <a:latin typeface="poppins-bold"/>
                <a:ea typeface="poppins-bold"/>
                <a:cs typeface="poppins-bold"/>
              </a:rPr>
              <a:t>Ransomware Dirigido a Servidores</a:t>
            </a:r>
            <a:endParaRPr kumimoji="1" lang="zh-CN" altLang="en-US"/>
          </a:p>
        </p:txBody>
      </p:sp>
      <p:sp>
        <p:nvSpPr>
          <p:cNvPr id="11" name="标题 1"/>
          <p:cNvSpPr txBox="1"/>
          <p:nvPr/>
        </p:nvSpPr>
        <p:spPr>
          <a:xfrm>
            <a:off x="793019" y="2476581"/>
            <a:ext cx="3343968" cy="881523"/>
          </a:xfrm>
          <a:prstGeom prst="rect">
            <a:avLst/>
          </a:prstGeom>
          <a:noFill/>
          <a:ln>
            <a:noFill/>
          </a:ln>
        </p:spPr>
        <p:txBody>
          <a:bodyPr vert="horz" wrap="square" lIns="0" tIns="0" rIns="0" bIns="0" rtlCol="0" anchor="t"/>
          <a:lstStyle/>
          <a:p>
            <a:pPr algn="r"/>
            <a:r>
              <a:rPr kumimoji="1" lang="es-EC" sz="942" dirty="0">
                <a:ln w="12700">
                  <a:noFill/>
                </a:ln>
                <a:solidFill>
                  <a:srgbClr val="262626">
                    <a:alpha val="100000"/>
                  </a:srgbClr>
                </a:solidFill>
                <a:latin typeface="Poppins"/>
                <a:cs typeface="Poppins"/>
              </a:rPr>
              <a:t>El objetivo ya no es el PC de un empleado. Los atacantes modernos apuntan directamente a los hipervisores (VMware, </a:t>
            </a:r>
            <a:r>
              <a:rPr kumimoji="1" lang="es-EC" sz="942" dirty="0" err="1">
                <a:ln w="12700">
                  <a:noFill/>
                </a:ln>
                <a:solidFill>
                  <a:srgbClr val="262626">
                    <a:alpha val="100000"/>
                  </a:srgbClr>
                </a:solidFill>
                <a:latin typeface="Poppins"/>
                <a:cs typeface="Poppins"/>
              </a:rPr>
              <a:t>Hyper</a:t>
            </a:r>
            <a:r>
              <a:rPr kumimoji="1" lang="es-EC" sz="942" dirty="0">
                <a:ln w="12700">
                  <a:noFill/>
                </a:ln>
                <a:solidFill>
                  <a:srgbClr val="262626">
                    <a:alpha val="100000"/>
                  </a:srgbClr>
                </a:solidFill>
                <a:latin typeface="Poppins"/>
                <a:cs typeface="Poppins"/>
              </a:rPr>
              <a:t>-V) o las cabinas de almacenamiento (SAN). Un ataque exitoso puede cifrar cientos de servidores virtuales simultáneamente, paralizando a toda la organización.</a:t>
            </a:r>
          </a:p>
          <a:p>
            <a:pPr algn="r"/>
            <a:r>
              <a:rPr kumimoji="1" lang="en-US" altLang="zh-CN" sz="942" dirty="0">
                <a:ln w="12700">
                  <a:noFill/>
                </a:ln>
                <a:solidFill>
                  <a:srgbClr val="262626">
                    <a:alpha val="100000"/>
                  </a:srgbClr>
                </a:solidFill>
                <a:latin typeface="Poppins"/>
                <a:ea typeface="Poppins"/>
                <a:cs typeface="Poppins"/>
              </a:rPr>
              <a:t>.</a:t>
            </a:r>
            <a:endParaRPr kumimoji="1" lang="zh-CN" altLang="en-US" dirty="0"/>
          </a:p>
        </p:txBody>
      </p:sp>
      <p:sp>
        <p:nvSpPr>
          <p:cNvPr id="12" name="标题 1"/>
          <p:cNvSpPr txBox="1"/>
          <p:nvPr/>
        </p:nvSpPr>
        <p:spPr>
          <a:xfrm>
            <a:off x="8055013" y="2167745"/>
            <a:ext cx="3340100" cy="190500"/>
          </a:xfrm>
          <a:prstGeom prst="rect">
            <a:avLst/>
          </a:prstGeom>
          <a:noFill/>
          <a:ln>
            <a:noFill/>
          </a:ln>
        </p:spPr>
        <p:txBody>
          <a:bodyPr vert="horz" wrap="square" lIns="0" tIns="0" rIns="0" bIns="0" rtlCol="0" anchor="t">
            <a:spAutoFit/>
          </a:bodyPr>
          <a:lstStyle/>
          <a:p>
            <a:pPr algn="l"/>
            <a:r>
              <a:rPr kumimoji="1" lang="en-US" altLang="zh-CN" sz="1375">
                <a:ln w="12700">
                  <a:noFill/>
                </a:ln>
                <a:solidFill>
                  <a:srgbClr val="262626">
                    <a:alpha val="100000"/>
                  </a:srgbClr>
                </a:solidFill>
                <a:latin typeface="poppins-bold"/>
                <a:ea typeface="poppins-bold"/>
                <a:cs typeface="poppins-bold"/>
              </a:rPr>
              <a:t>Ataques a la Cadena de Suministro</a:t>
            </a:r>
            <a:endParaRPr kumimoji="1" lang="zh-CN" altLang="en-US"/>
          </a:p>
        </p:txBody>
      </p:sp>
      <p:sp>
        <p:nvSpPr>
          <p:cNvPr id="13" name="标题 1"/>
          <p:cNvSpPr txBox="1"/>
          <p:nvPr/>
        </p:nvSpPr>
        <p:spPr>
          <a:xfrm>
            <a:off x="8055012" y="2476581"/>
            <a:ext cx="3343968" cy="881523"/>
          </a:xfrm>
          <a:prstGeom prst="rect">
            <a:avLst/>
          </a:prstGeom>
          <a:noFill/>
          <a:ln>
            <a:noFill/>
          </a:ln>
        </p:spPr>
        <p:txBody>
          <a:bodyPr vert="horz" wrap="square" lIns="0" tIns="0" rIns="0" bIns="0" rtlCol="0" anchor="t"/>
          <a:lstStyle/>
          <a:p>
            <a:pPr lvl="0"/>
            <a:r>
              <a:rPr kumimoji="1" lang="es-EC" sz="942" dirty="0">
                <a:ln w="12700">
                  <a:noFill/>
                </a:ln>
                <a:solidFill>
                  <a:srgbClr val="262626">
                    <a:alpha val="100000"/>
                  </a:srgbClr>
                </a:solidFill>
                <a:latin typeface="Poppins"/>
                <a:cs typeface="Poppins"/>
              </a:rPr>
              <a:t>Un atacante no te ataca a ti, ataca a tu proveedor de software de confianza. Comprometen una actualización de tu software de monitoreo de red o de tu sistema de </a:t>
            </a:r>
            <a:r>
              <a:rPr kumimoji="1" lang="es-EC" sz="942" dirty="0" err="1">
                <a:ln w="12700">
                  <a:noFill/>
                </a:ln>
                <a:solidFill>
                  <a:srgbClr val="262626">
                    <a:alpha val="100000"/>
                  </a:srgbClr>
                </a:solidFill>
                <a:latin typeface="Poppins"/>
                <a:cs typeface="Poppins"/>
              </a:rPr>
              <a:t>backups</a:t>
            </a:r>
            <a:r>
              <a:rPr kumimoji="1" lang="es-EC" sz="942" dirty="0">
                <a:ln w="12700">
                  <a:noFill/>
                </a:ln>
                <a:solidFill>
                  <a:srgbClr val="262626">
                    <a:alpha val="100000"/>
                  </a:srgbClr>
                </a:solidFill>
                <a:latin typeface="Poppins"/>
                <a:cs typeface="Poppins"/>
              </a:rPr>
              <a:t>. Cuando, como administrador, instalas la actualización "oficial", estás abriendo una puerta trasera a tu red sin saberlo.</a:t>
            </a:r>
          </a:p>
        </p:txBody>
      </p:sp>
      <p:sp>
        <p:nvSpPr>
          <p:cNvPr id="14" name="标题 1"/>
          <p:cNvSpPr txBox="1"/>
          <p:nvPr/>
        </p:nvSpPr>
        <p:spPr>
          <a:xfrm>
            <a:off x="8055013" y="4303017"/>
            <a:ext cx="3340100" cy="165100"/>
          </a:xfrm>
          <a:prstGeom prst="rect">
            <a:avLst/>
          </a:prstGeom>
          <a:noFill/>
          <a:ln>
            <a:noFill/>
          </a:ln>
        </p:spPr>
        <p:txBody>
          <a:bodyPr vert="horz" wrap="square" lIns="0" tIns="0" rIns="0" bIns="0" rtlCol="0" anchor="t">
            <a:spAutoFit/>
          </a:bodyPr>
          <a:lstStyle/>
          <a:p>
            <a:pPr algn="l"/>
            <a:r>
              <a:rPr kumimoji="1" lang="en-US" altLang="zh-CN" sz="1138">
                <a:ln w="12700">
                  <a:noFill/>
                </a:ln>
                <a:solidFill>
                  <a:srgbClr val="262626">
                    <a:alpha val="100000"/>
                  </a:srgbClr>
                </a:solidFill>
                <a:latin typeface="poppins-bold"/>
                <a:ea typeface="poppins-bold"/>
                <a:cs typeface="poppins-bold"/>
              </a:rPr>
              <a:t>Ataques de Denegación de Servicio (DDoS)</a:t>
            </a:r>
            <a:endParaRPr kumimoji="1" lang="zh-CN" altLang="en-US"/>
          </a:p>
        </p:txBody>
      </p:sp>
      <p:sp>
        <p:nvSpPr>
          <p:cNvPr id="15" name="标题 1"/>
          <p:cNvSpPr txBox="1"/>
          <p:nvPr/>
        </p:nvSpPr>
        <p:spPr>
          <a:xfrm>
            <a:off x="8055012" y="4611853"/>
            <a:ext cx="3343968" cy="881523"/>
          </a:xfrm>
          <a:prstGeom prst="rect">
            <a:avLst/>
          </a:prstGeom>
          <a:noFill/>
          <a:ln>
            <a:noFill/>
          </a:ln>
        </p:spPr>
        <p:txBody>
          <a:bodyPr vert="horz" wrap="square" lIns="0" tIns="0" rIns="0" bIns="0" rtlCol="0" anchor="t"/>
          <a:lstStyle/>
          <a:p>
            <a:r>
              <a:rPr kumimoji="1" lang="es-EC" sz="942" dirty="0">
                <a:ln w="12700">
                  <a:noFill/>
                </a:ln>
                <a:solidFill>
                  <a:srgbClr val="262626">
                    <a:alpha val="100000"/>
                  </a:srgbClr>
                </a:solidFill>
                <a:latin typeface="Poppins"/>
                <a:cs typeface="Poppins"/>
              </a:rPr>
              <a:t>Inundan la conexión a internet del centro de cómputo con millones de peticiones basura. El objetivo es saturar el ancho de banda y los firewalls hasta que los servicios legítimos (la web de la empresa, las aplicaciones para clientes) se vuelvan inaccesibles.</a:t>
            </a:r>
            <a:endParaRPr kumimoji="1" lang="zh-CN" altLang="en-US" sz="942" dirty="0">
              <a:ln w="12700">
                <a:noFill/>
              </a:ln>
              <a:solidFill>
                <a:srgbClr val="262626">
                  <a:alpha val="100000"/>
                </a:srgbClr>
              </a:solidFill>
              <a:latin typeface="Poppins"/>
              <a:cs typeface="Poppins"/>
            </a:endParaRPr>
          </a:p>
        </p:txBody>
      </p:sp>
      <p:sp>
        <p:nvSpPr>
          <p:cNvPr id="16" name="标题 1"/>
          <p:cNvSpPr txBox="1"/>
          <p:nvPr/>
        </p:nvSpPr>
        <p:spPr>
          <a:xfrm>
            <a:off x="793020" y="4303017"/>
            <a:ext cx="3340100" cy="139700"/>
          </a:xfrm>
          <a:prstGeom prst="rect">
            <a:avLst/>
          </a:prstGeom>
          <a:noFill/>
          <a:ln>
            <a:noFill/>
          </a:ln>
        </p:spPr>
        <p:txBody>
          <a:bodyPr vert="horz" wrap="square" lIns="0" tIns="0" rIns="0" bIns="0" rtlCol="0" anchor="t">
            <a:spAutoFit/>
          </a:bodyPr>
          <a:lstStyle/>
          <a:p>
            <a:pPr algn="r"/>
            <a:r>
              <a:rPr kumimoji="1" lang="en-US" altLang="zh-CN" sz="1021">
                <a:ln w="12700">
                  <a:noFill/>
                </a:ln>
                <a:solidFill>
                  <a:srgbClr val="262626">
                    <a:alpha val="100000"/>
                  </a:srgbClr>
                </a:solidFill>
                <a:latin typeface="poppins-bold"/>
                <a:ea typeface="poppins-bold"/>
                <a:cs typeface="poppins-bold"/>
              </a:rPr>
              <a:t>Explotación de Vulnerabilidades no Parcheadas</a:t>
            </a:r>
            <a:endParaRPr kumimoji="1" lang="zh-CN" altLang="en-US"/>
          </a:p>
        </p:txBody>
      </p:sp>
      <p:sp>
        <p:nvSpPr>
          <p:cNvPr id="17" name="标题 1"/>
          <p:cNvSpPr txBox="1"/>
          <p:nvPr/>
        </p:nvSpPr>
        <p:spPr>
          <a:xfrm>
            <a:off x="793019" y="4611853"/>
            <a:ext cx="3343968" cy="881523"/>
          </a:xfrm>
          <a:prstGeom prst="rect">
            <a:avLst/>
          </a:prstGeom>
          <a:noFill/>
          <a:ln>
            <a:noFill/>
          </a:ln>
        </p:spPr>
        <p:txBody>
          <a:bodyPr vert="horz" wrap="square" lIns="0" tIns="0" rIns="0" bIns="0" rtlCol="0" anchor="t"/>
          <a:lstStyle/>
          <a:p>
            <a:pPr algn="r"/>
            <a:r>
              <a:rPr kumimoji="1" lang="es-EC" sz="942" dirty="0">
                <a:ln w="12700">
                  <a:noFill/>
                </a:ln>
                <a:solidFill>
                  <a:srgbClr val="262626">
                    <a:alpha val="100000"/>
                  </a:srgbClr>
                </a:solidFill>
                <a:latin typeface="Poppins"/>
                <a:cs typeface="Poppins"/>
              </a:rPr>
              <a:t>La causa más común de brechas. En un datacenter con cientos de servidores, olvidar aplicar un parche de seguridad crítico en un solo sistema expuesto a internet es como dejar la llave de la fortaleza debajo del tapete de la entrada.</a:t>
            </a:r>
          </a:p>
          <a:p>
            <a:pPr algn="r"/>
            <a:r>
              <a:rPr kumimoji="1" lang="en-US" altLang="zh-CN" sz="942" dirty="0">
                <a:ln w="12700">
                  <a:noFill/>
                </a:ln>
                <a:solidFill>
                  <a:srgbClr val="262626">
                    <a:alpha val="100000"/>
                  </a:srgbClr>
                </a:solidFill>
                <a:latin typeface="Poppins"/>
                <a:cs typeface="Poppins"/>
              </a:rPr>
              <a:t>.</a:t>
            </a:r>
            <a:endParaRPr kumimoji="1" lang="zh-CN" altLang="en-US" sz="942" dirty="0">
              <a:ln w="12700">
                <a:noFill/>
              </a:ln>
              <a:solidFill>
                <a:srgbClr val="262626">
                  <a:alpha val="100000"/>
                </a:srgbClr>
              </a:solidFill>
              <a:latin typeface="Poppins"/>
              <a:cs typeface="Poppins"/>
            </a:endParaRPr>
          </a:p>
        </p:txBody>
      </p:sp>
      <p:sp>
        <p:nvSpPr>
          <p:cNvPr id="18"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800" dirty="0" err="1">
                <a:ln w="12700">
                  <a:noFill/>
                </a:ln>
                <a:solidFill>
                  <a:srgbClr val="262626">
                    <a:alpha val="100000"/>
                  </a:srgbClr>
                </a:solidFill>
                <a:latin typeface="poppins-bold"/>
                <a:ea typeface="poppins-bold"/>
                <a:cs typeface="poppins-bold"/>
              </a:rPr>
              <a:t>Amenazas</a:t>
            </a:r>
            <a:r>
              <a:rPr kumimoji="1" lang="en-US" altLang="zh-CN" sz="2800" dirty="0">
                <a:ln w="12700">
                  <a:noFill/>
                </a:ln>
                <a:solidFill>
                  <a:srgbClr val="262626">
                    <a:alpha val="100000"/>
                  </a:srgbClr>
                </a:solidFill>
                <a:latin typeface="poppins-bold"/>
                <a:ea typeface="poppins-bold"/>
                <a:cs typeface="poppins-bold"/>
              </a:rPr>
              <a:t> </a:t>
            </a:r>
            <a:r>
              <a:rPr kumimoji="1" lang="en-US" altLang="zh-CN" sz="2800" dirty="0" err="1">
                <a:ln w="12700">
                  <a:noFill/>
                </a:ln>
                <a:solidFill>
                  <a:srgbClr val="262626">
                    <a:alpha val="100000"/>
                  </a:srgbClr>
                </a:solidFill>
                <a:latin typeface="poppins-bold"/>
                <a:ea typeface="poppins-bold"/>
                <a:cs typeface="poppins-bold"/>
              </a:rPr>
              <a:t>Lógicas</a:t>
            </a:r>
            <a:r>
              <a:rPr kumimoji="1" lang="en-US" altLang="zh-CN" sz="2800" dirty="0">
                <a:ln w="12700">
                  <a:noFill/>
                </a:ln>
                <a:solidFill>
                  <a:srgbClr val="262626">
                    <a:alpha val="100000"/>
                  </a:srgbClr>
                </a:solidFill>
                <a:latin typeface="poppins-bold"/>
                <a:ea typeface="poppins-bold"/>
                <a:cs typeface="poppins-bold"/>
              </a:rPr>
              <a:t> (El </a:t>
            </a:r>
            <a:r>
              <a:rPr kumimoji="1" lang="en-US" altLang="zh-CN" sz="2800" dirty="0" err="1">
                <a:ln w="12700">
                  <a:noFill/>
                </a:ln>
                <a:solidFill>
                  <a:srgbClr val="262626">
                    <a:alpha val="100000"/>
                  </a:srgbClr>
                </a:solidFill>
                <a:latin typeface="poppins-bold"/>
                <a:ea typeface="poppins-bold"/>
                <a:cs typeface="poppins-bold"/>
              </a:rPr>
              <a:t>Asedio</a:t>
            </a:r>
            <a:r>
              <a:rPr kumimoji="1" lang="en-US" altLang="zh-CN" sz="2800" dirty="0">
                <a:ln w="12700">
                  <a:noFill/>
                </a:ln>
                <a:solidFill>
                  <a:srgbClr val="262626">
                    <a:alpha val="100000"/>
                  </a:srgbClr>
                </a:solidFill>
                <a:latin typeface="poppins-bold"/>
                <a:ea typeface="poppins-bold"/>
                <a:cs typeface="poppins-bold"/>
              </a:rPr>
              <a:t> Digital) </a:t>
            </a:r>
            <a:endParaRPr kumimoji="1" lang="zh-CN" altLang="en-US" dirty="0"/>
          </a:p>
        </p:txBody>
      </p:sp>
      <p:sp>
        <p:nvSpPr>
          <p:cNvPr id="19"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0"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21" name="Imagen 20">
            <a:extLst>
              <a:ext uri="{FF2B5EF4-FFF2-40B4-BE49-F238E27FC236}">
                <a16:creationId xmlns:a16="http://schemas.microsoft.com/office/drawing/2014/main" id="{0080C62C-CE57-BF0F-9699-D4863DC8E8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873650" y="1728389"/>
            <a:ext cx="1755485" cy="1117115"/>
          </a:xfrm>
          <a:prstGeom prst="rect">
            <a:avLst/>
          </a:prstGeom>
          <a:noFill/>
          <a:ln w="12700" cap="sq">
            <a:noFill/>
            <a:miter/>
          </a:ln>
        </p:spPr>
        <p:txBody>
          <a:bodyPr vert="horz" wrap="square" lIns="0" tIns="0" rIns="0" bIns="0" rtlCol="0" anchor="ctr"/>
          <a:lstStyle/>
          <a:p>
            <a:pPr algn="l"/>
            <a:r>
              <a:rPr kumimoji="1" lang="en-US" altLang="zh-CN" sz="8000" dirty="0">
                <a:ln w="12700">
                  <a:noFill/>
                </a:ln>
                <a:solidFill>
                  <a:srgbClr val="262626">
                    <a:alpha val="100000"/>
                  </a:srgbClr>
                </a:solidFill>
                <a:latin typeface="poppins-bold"/>
                <a:ea typeface="poppins-bold"/>
                <a:cs typeface="poppins-bold"/>
              </a:rPr>
              <a:t> 03</a:t>
            </a:r>
            <a:endParaRPr kumimoji="1" lang="zh-CN" altLang="en-US" dirty="0"/>
          </a:p>
        </p:txBody>
      </p:sp>
      <p:sp>
        <p:nvSpPr>
          <p:cNvPr id="7" name="标题 1"/>
          <p:cNvSpPr txBox="1"/>
          <p:nvPr/>
        </p:nvSpPr>
        <p:spPr>
          <a:xfrm>
            <a:off x="1751392" y="3002312"/>
            <a:ext cx="5911783" cy="2020369"/>
          </a:xfrm>
          <a:prstGeom prst="rect">
            <a:avLst/>
          </a:prstGeom>
          <a:noFill/>
          <a:ln w="12700" cap="sq">
            <a:noFill/>
            <a:miter/>
          </a:ln>
        </p:spPr>
        <p:txBody>
          <a:bodyPr vert="horz" wrap="square" lIns="0" tIns="0" rIns="0" bIns="0" rtlCol="0" anchor="t"/>
          <a:lstStyle/>
          <a:p>
            <a:pPr algn="l"/>
            <a:r>
              <a:rPr kumimoji="1" lang="en-US" altLang="zh-CN" sz="2400" dirty="0">
                <a:ln w="12700">
                  <a:noFill/>
                </a:ln>
                <a:solidFill>
                  <a:srgbClr val="262626">
                    <a:alpha val="100000"/>
                  </a:srgbClr>
                </a:solidFill>
                <a:latin typeface="poppins-bold"/>
                <a:ea typeface="poppins-bold"/>
                <a:cs typeface="poppins-bold"/>
              </a:rPr>
              <a:t>Herramientas y Soluciones de </a:t>
            </a:r>
            <a:r>
              <a:rPr kumimoji="1" lang="en-US" altLang="zh-CN" sz="2400" dirty="0" err="1">
                <a:ln w="12700">
                  <a:noFill/>
                </a:ln>
                <a:solidFill>
                  <a:srgbClr val="262626">
                    <a:alpha val="100000"/>
                  </a:srgbClr>
                </a:solidFill>
                <a:latin typeface="poppins-bold"/>
                <a:ea typeface="poppins-bold"/>
                <a:cs typeface="poppins-bold"/>
              </a:rPr>
              <a:t>Mitigación</a:t>
            </a:r>
            <a:r>
              <a:rPr kumimoji="1" lang="en-US" altLang="zh-CN" sz="2400" dirty="0">
                <a:ln w="12700">
                  <a:noFill/>
                </a:ln>
                <a:solidFill>
                  <a:srgbClr val="262626">
                    <a:alpha val="100000"/>
                  </a:srgbClr>
                </a:solidFill>
                <a:latin typeface="poppins-bold"/>
                <a:ea typeface="poppins-bold"/>
                <a:cs typeface="poppins-bold"/>
              </a:rPr>
              <a:t> </a:t>
            </a:r>
            <a:r>
              <a:rPr kumimoji="1" lang="en-US" altLang="zh-CN" sz="2400" dirty="0" err="1">
                <a:ln w="12700">
                  <a:noFill/>
                </a:ln>
                <a:solidFill>
                  <a:srgbClr val="262626">
                    <a:alpha val="100000"/>
                  </a:srgbClr>
                </a:solidFill>
                <a:latin typeface="poppins-bold"/>
                <a:ea typeface="poppins-bold"/>
                <a:cs typeface="poppins-bold"/>
              </a:rPr>
              <a:t>en</a:t>
            </a:r>
            <a:r>
              <a:rPr kumimoji="1" lang="en-US" altLang="zh-CN" sz="2400" dirty="0">
                <a:ln w="12700">
                  <a:noFill/>
                </a:ln>
                <a:solidFill>
                  <a:srgbClr val="262626">
                    <a:alpha val="100000"/>
                  </a:srgbClr>
                </a:solidFill>
                <a:latin typeface="poppins-bold"/>
                <a:ea typeface="poppins-bold"/>
                <a:cs typeface="poppins-bold"/>
              </a:rPr>
              <a:t> </a:t>
            </a:r>
            <a:r>
              <a:rPr kumimoji="1" lang="en-US" altLang="zh-CN" sz="2400" dirty="0" err="1">
                <a:ln w="12700">
                  <a:noFill/>
                </a:ln>
                <a:solidFill>
                  <a:srgbClr val="262626">
                    <a:alpha val="100000"/>
                  </a:srgbClr>
                </a:solidFill>
                <a:latin typeface="poppins-bold"/>
                <a:ea typeface="poppins-bold"/>
                <a:cs typeface="poppins-bold"/>
              </a:rPr>
              <a:t>el</a:t>
            </a:r>
            <a:r>
              <a:rPr kumimoji="1" lang="en-US" altLang="zh-CN" sz="2400" dirty="0">
                <a:ln w="12700">
                  <a:noFill/>
                </a:ln>
                <a:solidFill>
                  <a:srgbClr val="262626">
                    <a:alpha val="100000"/>
                  </a:srgbClr>
                </a:solidFill>
                <a:latin typeface="poppins-bold"/>
                <a:ea typeface="poppins-bold"/>
                <a:cs typeface="poppins-bold"/>
              </a:rPr>
              <a:t> Datacenter</a:t>
            </a:r>
            <a:endParaRPr kumimoji="1" lang="zh-CN" altLang="en-US" dirty="0"/>
          </a:p>
        </p:txBody>
      </p:sp>
      <p:pic>
        <p:nvPicPr>
          <p:cNvPr id="10" name="Imagen 9">
            <a:extLst>
              <a:ext uri="{FF2B5EF4-FFF2-40B4-BE49-F238E27FC236}">
                <a16:creationId xmlns:a16="http://schemas.microsoft.com/office/drawing/2014/main" id="{D3586C86-32E7-89BE-8ABA-F73CA0CE5E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660400" y="2259957"/>
            <a:ext cx="720001" cy="720000"/>
          </a:xfrm>
          <a:prstGeom prst="ellipse">
            <a:avLst/>
          </a:prstGeom>
          <a:gradFill>
            <a:gsLst>
              <a:gs pos="6000">
                <a:schemeClr val="accent1">
                  <a:lumMod val="40000"/>
                  <a:lumOff val="60000"/>
                </a:schemeClr>
              </a:gs>
              <a:gs pos="100000">
                <a:schemeClr val="accent1"/>
              </a:gs>
            </a:gsLst>
            <a:lin ang="2700000" scaled="0"/>
          </a:gradFill>
          <a:ln w="12700" cap="sq">
            <a:noFill/>
            <a:miter/>
          </a:ln>
          <a:effectLst>
            <a:outerShdw blurRad="190500" dist="101600" dir="2700000" algn="tl" rotWithShape="0">
              <a:schemeClr val="accent1">
                <a:alpha val="15000"/>
              </a:schemeClr>
            </a:outerShdw>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732400" y="2457957"/>
            <a:ext cx="576000" cy="324000"/>
          </a:xfrm>
          <a:prstGeom prst="rect">
            <a:avLst/>
          </a:prstGeom>
          <a:noFill/>
          <a:ln w="12700" cap="sq">
            <a:noFill/>
            <a:miter/>
          </a:ln>
        </p:spPr>
        <p:txBody>
          <a:bodyPr vert="horz" wrap="square" lIns="0" tIns="0" rIns="0" bIns="0" rtlCol="0" anchor="ctr"/>
          <a:lstStyle/>
          <a:p>
            <a:pPr algn="ctr"/>
            <a:r>
              <a:rPr kumimoji="1" lang="en-US" altLang="zh-CN" sz="2200">
                <a:ln w="12700">
                  <a:noFill/>
                </a:ln>
                <a:solidFill>
                  <a:srgbClr val="FFFFFF">
                    <a:alpha val="100000"/>
                  </a:srgbClr>
                </a:solidFill>
                <a:latin typeface="poppins-bold"/>
                <a:ea typeface="poppins-bold"/>
                <a:cs typeface="poppins-bold"/>
              </a:rPr>
              <a:t>01</a:t>
            </a:r>
            <a:endParaRPr kumimoji="1" lang="zh-CN" altLang="en-US"/>
          </a:p>
        </p:txBody>
      </p:sp>
      <p:sp>
        <p:nvSpPr>
          <p:cNvPr id="5" name="标题 1"/>
          <p:cNvSpPr txBox="1"/>
          <p:nvPr/>
        </p:nvSpPr>
        <p:spPr>
          <a:xfrm>
            <a:off x="1527551" y="2259957"/>
            <a:ext cx="5868000" cy="1080000"/>
          </a:xfrm>
          <a:prstGeom prst="rect">
            <a:avLst/>
          </a:prstGeom>
          <a:noFill/>
          <a:ln>
            <a:noFill/>
          </a:ln>
        </p:spPr>
        <p:txBody>
          <a:bodyPr vert="horz" wrap="square" lIns="0" tIns="0" rIns="0" bIns="0" rtlCol="0" anchor="t"/>
          <a:lstStyle/>
          <a:p>
            <a:r>
              <a:rPr lang="es-EC" dirty="0"/>
              <a:t>Utilizar </a:t>
            </a:r>
            <a:r>
              <a:rPr lang="es-EC" b="1" dirty="0"/>
              <a:t>sistemas de jaulas (caging)</a:t>
            </a:r>
            <a:endParaRPr kumimoji="1" lang="en-US" altLang="zh-CN" sz="1400" dirty="0">
              <a:ln w="12700">
                <a:noFill/>
              </a:ln>
              <a:solidFill>
                <a:srgbClr val="262626">
                  <a:alpha val="100000"/>
                </a:srgbClr>
              </a:solidFill>
              <a:latin typeface="Poppins"/>
              <a:ea typeface="Poppins"/>
              <a:cs typeface="Poppins"/>
            </a:endParaRPr>
          </a:p>
          <a:p>
            <a:pPr algn="l"/>
            <a:r>
              <a:rPr kumimoji="1" lang="en-US" altLang="zh-CN" sz="1400" dirty="0">
                <a:ln w="12700">
                  <a:noFill/>
                </a:ln>
                <a:solidFill>
                  <a:srgbClr val="262626">
                    <a:alpha val="100000"/>
                  </a:srgbClr>
                </a:solidFill>
                <a:latin typeface="Poppins"/>
                <a:ea typeface="Poppins"/>
                <a:cs typeface="Poppins"/>
              </a:rPr>
              <a:t>Encerrar racks de diferentes clientes o departamentos.</a:t>
            </a:r>
            <a:endParaRPr kumimoji="1" lang="zh-CN" altLang="en-US" dirty="0"/>
          </a:p>
        </p:txBody>
      </p:sp>
      <p:sp>
        <p:nvSpPr>
          <p:cNvPr id="6" name="标题 1"/>
          <p:cNvSpPr txBox="1"/>
          <p:nvPr/>
        </p:nvSpPr>
        <p:spPr>
          <a:xfrm>
            <a:off x="660400" y="3635341"/>
            <a:ext cx="720001" cy="720000"/>
          </a:xfrm>
          <a:prstGeom prst="ellipse">
            <a:avLst/>
          </a:prstGeom>
          <a:gradFill>
            <a:gsLst>
              <a:gs pos="6000">
                <a:schemeClr val="accent1">
                  <a:lumMod val="40000"/>
                  <a:lumOff val="60000"/>
                </a:schemeClr>
              </a:gs>
              <a:gs pos="100000">
                <a:schemeClr val="accent1"/>
              </a:gs>
            </a:gsLst>
            <a:lin ang="2700000" scaled="0"/>
          </a:gradFill>
          <a:ln w="12700" cap="sq">
            <a:noFill/>
            <a:miter/>
          </a:ln>
          <a:effectLst>
            <a:outerShdw blurRad="190500" dist="101600" dir="2700000" algn="tl" rotWithShape="0">
              <a:schemeClr val="accent1">
                <a:alpha val="15000"/>
              </a:schemeClr>
            </a:outerShdw>
          </a:effectLst>
        </p:spPr>
        <p:txBody>
          <a:bodyPr vert="horz" wrap="square" lIns="91440" tIns="45720" rIns="91440" bIns="45720" rtlCol="0" anchor="ctr"/>
          <a:lstStyle/>
          <a:p>
            <a:pPr algn="ctr"/>
            <a:endParaRPr kumimoji="1" lang="zh-CN" altLang="en-US"/>
          </a:p>
        </p:txBody>
      </p:sp>
      <p:sp>
        <p:nvSpPr>
          <p:cNvPr id="7" name="标题 1"/>
          <p:cNvSpPr txBox="1"/>
          <p:nvPr/>
        </p:nvSpPr>
        <p:spPr>
          <a:xfrm>
            <a:off x="732400" y="3833341"/>
            <a:ext cx="576000" cy="324000"/>
          </a:xfrm>
          <a:prstGeom prst="rect">
            <a:avLst/>
          </a:prstGeom>
          <a:noFill/>
          <a:ln w="12700" cap="sq">
            <a:noFill/>
            <a:miter/>
          </a:ln>
        </p:spPr>
        <p:txBody>
          <a:bodyPr vert="horz" wrap="square" lIns="0" tIns="0" rIns="0" bIns="0" rtlCol="0" anchor="ctr"/>
          <a:lstStyle/>
          <a:p>
            <a:pPr algn="ctr"/>
            <a:r>
              <a:rPr kumimoji="1" lang="en-US" altLang="zh-CN" sz="2200">
                <a:ln w="12700">
                  <a:noFill/>
                </a:ln>
                <a:solidFill>
                  <a:srgbClr val="FFFFFF">
                    <a:alpha val="100000"/>
                  </a:srgbClr>
                </a:solidFill>
                <a:latin typeface="poppins-bold"/>
                <a:ea typeface="poppins-bold"/>
                <a:cs typeface="poppins-bold"/>
              </a:rPr>
              <a:t>02</a:t>
            </a:r>
            <a:endParaRPr kumimoji="1" lang="zh-CN" altLang="en-US"/>
          </a:p>
        </p:txBody>
      </p:sp>
      <p:sp>
        <p:nvSpPr>
          <p:cNvPr id="8" name="标题 1"/>
          <p:cNvSpPr txBox="1"/>
          <p:nvPr/>
        </p:nvSpPr>
        <p:spPr>
          <a:xfrm>
            <a:off x="1527551" y="3635341"/>
            <a:ext cx="5868000" cy="1080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Lectores biométricos para acceso a la sala.</a:t>
            </a:r>
            <a:endParaRPr kumimoji="1" lang="zh-CN" altLang="en-US"/>
          </a:p>
        </p:txBody>
      </p:sp>
      <p:sp>
        <p:nvSpPr>
          <p:cNvPr id="9" name="标题 1"/>
          <p:cNvSpPr txBox="1"/>
          <p:nvPr/>
        </p:nvSpPr>
        <p:spPr>
          <a:xfrm>
            <a:off x="660401" y="1130300"/>
            <a:ext cx="6735150" cy="808990"/>
          </a:xfrm>
          <a:prstGeom prst="rect">
            <a:avLst/>
          </a:prstGeom>
          <a:noFill/>
          <a:ln>
            <a:noFill/>
          </a:ln>
        </p:spPr>
        <p:txBody>
          <a:bodyPr vert="horz" wrap="square" lIns="0" tIns="0" rIns="0" bIns="0" rtlCol="0" anchor="t"/>
          <a:lstStyle/>
          <a:p>
            <a:pPr algn="l"/>
            <a:r>
              <a:rPr kumimoji="1" lang="en-US" altLang="zh-CN" sz="1600">
                <a:ln w="12700">
                  <a:noFill/>
                </a:ln>
                <a:solidFill>
                  <a:srgbClr val="262626">
                    <a:alpha val="100000"/>
                  </a:srgbClr>
                </a:solidFill>
                <a:latin typeface="poppins-bold"/>
                <a:ea typeface="poppins-bold"/>
                <a:cs typeface="poppins-bold"/>
              </a:rPr>
              <a:t>Sistemas de Jaulas (Caging)</a:t>
            </a:r>
            <a:endParaRPr kumimoji="1" lang="zh-CN" altLang="en-US"/>
          </a:p>
        </p:txBody>
      </p:sp>
      <p:sp>
        <p:nvSpPr>
          <p:cNvPr id="10" name="标题 1"/>
          <p:cNvSpPr txBox="1"/>
          <p:nvPr/>
        </p:nvSpPr>
        <p:spPr>
          <a:xfrm>
            <a:off x="660400" y="5010724"/>
            <a:ext cx="720001" cy="720000"/>
          </a:xfrm>
          <a:prstGeom prst="ellipse">
            <a:avLst/>
          </a:prstGeom>
          <a:gradFill>
            <a:gsLst>
              <a:gs pos="6000">
                <a:schemeClr val="accent1">
                  <a:lumMod val="40000"/>
                  <a:lumOff val="60000"/>
                </a:schemeClr>
              </a:gs>
              <a:gs pos="100000">
                <a:schemeClr val="accent1"/>
              </a:gs>
            </a:gsLst>
            <a:lin ang="2700000" scaled="0"/>
          </a:gradFill>
          <a:ln w="12700" cap="sq">
            <a:noFill/>
            <a:miter/>
          </a:ln>
          <a:effectLst>
            <a:outerShdw blurRad="190500" dist="101600" dir="2700000" algn="tl" rotWithShape="0">
              <a:schemeClr val="accent1">
                <a:alpha val="15000"/>
              </a:schemeClr>
            </a:outerShdw>
          </a:effectLst>
        </p:spPr>
        <p:txBody>
          <a:bodyPr vert="horz" wrap="square" lIns="91440" tIns="45720" rIns="91440" bIns="45720" rtlCol="0" anchor="ctr"/>
          <a:lstStyle/>
          <a:p>
            <a:pPr algn="ctr"/>
            <a:endParaRPr kumimoji="1" lang="zh-CN" altLang="en-US"/>
          </a:p>
        </p:txBody>
      </p:sp>
      <p:sp>
        <p:nvSpPr>
          <p:cNvPr id="11" name="标题 1"/>
          <p:cNvSpPr txBox="1"/>
          <p:nvPr/>
        </p:nvSpPr>
        <p:spPr>
          <a:xfrm>
            <a:off x="732400" y="5208724"/>
            <a:ext cx="576000" cy="324000"/>
          </a:xfrm>
          <a:prstGeom prst="rect">
            <a:avLst/>
          </a:prstGeom>
          <a:noFill/>
          <a:ln w="12700" cap="sq">
            <a:noFill/>
            <a:miter/>
          </a:ln>
        </p:spPr>
        <p:txBody>
          <a:bodyPr vert="horz" wrap="square" lIns="0" tIns="0" rIns="0" bIns="0" rtlCol="0" anchor="ctr"/>
          <a:lstStyle/>
          <a:p>
            <a:pPr algn="ctr"/>
            <a:r>
              <a:rPr kumimoji="1" lang="en-US" altLang="zh-CN" sz="2200">
                <a:ln w="12700">
                  <a:noFill/>
                </a:ln>
                <a:solidFill>
                  <a:srgbClr val="FFFFFF">
                    <a:alpha val="100000"/>
                  </a:srgbClr>
                </a:solidFill>
                <a:latin typeface="poppins-bold"/>
                <a:ea typeface="poppins-bold"/>
                <a:cs typeface="poppins-bold"/>
              </a:rPr>
              <a:t>03</a:t>
            </a:r>
            <a:endParaRPr kumimoji="1" lang="zh-CN" altLang="en-US"/>
          </a:p>
        </p:txBody>
      </p:sp>
      <p:sp>
        <p:nvSpPr>
          <p:cNvPr id="12" name="标题 1"/>
          <p:cNvSpPr txBox="1"/>
          <p:nvPr/>
        </p:nvSpPr>
        <p:spPr>
          <a:xfrm>
            <a:off x="1527551" y="5010724"/>
            <a:ext cx="5868000" cy="108000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Mantraps para control de acceso individual.</a:t>
            </a:r>
            <a:endParaRPr kumimoji="1" lang="zh-CN" altLang="en-US"/>
          </a:p>
        </p:txBody>
      </p:sp>
      <p:sp>
        <p:nvSpPr>
          <p:cNvPr id="13"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Control de Acceso Físico Multinivel</a:t>
            </a:r>
            <a:endParaRPr kumimoji="1" lang="zh-CN" altLang="en-US"/>
          </a:p>
        </p:txBody>
      </p:sp>
      <p:sp>
        <p:nvSpPr>
          <p:cNvPr id="14"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16" name="Imagen 15">
            <a:extLst>
              <a:ext uri="{FF2B5EF4-FFF2-40B4-BE49-F238E27FC236}">
                <a16:creationId xmlns:a16="http://schemas.microsoft.com/office/drawing/2014/main" id="{E70BE6D4-C0BE-511A-E11D-2F5692A486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3" name="标题 1"/>
          <p:cNvCxnSpPr/>
          <p:nvPr/>
        </p:nvCxnSpPr>
        <p:spPr>
          <a:xfrm>
            <a:off x="11155680" y="2949190"/>
            <a:ext cx="363220" cy="0"/>
          </a:xfrm>
          <a:prstGeom prst="straightConnector1">
            <a:avLst/>
          </a:prstGeom>
          <a:noFill/>
          <a:ln w="57150" cap="sq">
            <a:solidFill>
              <a:srgbClr val="FFFFFF">
                <a:alpha val="100000"/>
              </a:srgbClr>
            </a:solidFill>
            <a:miter/>
            <a:tailEnd type="triangle"/>
          </a:ln>
        </p:spPr>
      </p:cxnSp>
      <p:cxnSp>
        <p:nvCxnSpPr>
          <p:cNvPr id="4" name="标题 1"/>
          <p:cNvCxnSpPr/>
          <p:nvPr/>
        </p:nvCxnSpPr>
        <p:spPr>
          <a:xfrm>
            <a:off x="1360085" y="2949190"/>
            <a:ext cx="6326286" cy="1"/>
          </a:xfrm>
          <a:prstGeom prst="line">
            <a:avLst/>
          </a:prstGeom>
          <a:noFill/>
          <a:ln w="10477" cap="sq">
            <a:solidFill>
              <a:schemeClr val="tx2">
                <a:lumMod val="60000"/>
                <a:lumOff val="40000"/>
              </a:schemeClr>
            </a:solidFill>
            <a:miter/>
          </a:ln>
        </p:spPr>
      </p:cxnSp>
      <p:sp>
        <p:nvSpPr>
          <p:cNvPr id="5" name="标题 1"/>
          <p:cNvSpPr txBox="1"/>
          <p:nvPr/>
        </p:nvSpPr>
        <p:spPr>
          <a:xfrm>
            <a:off x="1283649" y="2895817"/>
            <a:ext cx="106747" cy="106747"/>
          </a:xfrm>
          <a:prstGeom prst="ellipse">
            <a:avLst/>
          </a:prstGeom>
          <a:solidFill>
            <a:schemeClr val="bg1"/>
          </a:solidFill>
          <a:ln w="13970" cap="sq">
            <a:solidFill>
              <a:schemeClr val="accent1"/>
            </a:solidFill>
            <a:miter/>
          </a:ln>
          <a:effectLst>
            <a:outerShdw blurRad="88900" dist="38100" dir="5400000" algn="t" rotWithShape="0">
              <a:srgbClr val="000000">
                <a:alpha val="11000"/>
              </a:srgbClr>
            </a:outerShdw>
          </a:effectLst>
        </p:spPr>
        <p:txBody>
          <a:bodyPr vert="horz" wrap="square" lIns="91440" tIns="45720" rIns="91440" bIns="45720" rtlCol="0" anchor="ctr"/>
          <a:lstStyle/>
          <a:p>
            <a:pPr algn="ctr"/>
            <a:endParaRPr kumimoji="1" lang="zh-CN" altLang="en-US"/>
          </a:p>
        </p:txBody>
      </p:sp>
      <p:sp>
        <p:nvSpPr>
          <p:cNvPr id="6" name="标题 1"/>
          <p:cNvSpPr txBox="1"/>
          <p:nvPr/>
        </p:nvSpPr>
        <p:spPr>
          <a:xfrm>
            <a:off x="4523228" y="2895817"/>
            <a:ext cx="106747" cy="106747"/>
          </a:xfrm>
          <a:prstGeom prst="ellipse">
            <a:avLst/>
          </a:prstGeom>
          <a:solidFill>
            <a:schemeClr val="bg1"/>
          </a:solidFill>
          <a:ln w="13970" cap="sq">
            <a:solidFill>
              <a:schemeClr val="accent1"/>
            </a:solidFill>
            <a:miter/>
          </a:ln>
          <a:effectLst>
            <a:outerShdw blurRad="88900" dist="38100" dir="5400000" algn="t" rotWithShape="0">
              <a:srgbClr val="000000">
                <a:alpha val="11000"/>
              </a:srgbClr>
            </a:outerShdw>
          </a:effectLst>
        </p:spPr>
        <p:txBody>
          <a:bodyPr vert="horz" wrap="square" lIns="91440" tIns="45720" rIns="91440" bIns="45720" rtlCol="0" anchor="ctr"/>
          <a:lstStyle/>
          <a:p>
            <a:pPr algn="ctr"/>
            <a:endParaRPr kumimoji="1" lang="zh-CN" altLang="en-US"/>
          </a:p>
        </p:txBody>
      </p:sp>
      <p:sp>
        <p:nvSpPr>
          <p:cNvPr id="7" name="标题 1"/>
          <p:cNvSpPr txBox="1"/>
          <p:nvPr/>
        </p:nvSpPr>
        <p:spPr>
          <a:xfrm>
            <a:off x="7686370" y="2895817"/>
            <a:ext cx="106747" cy="106747"/>
          </a:xfrm>
          <a:prstGeom prst="ellipse">
            <a:avLst/>
          </a:prstGeom>
          <a:solidFill>
            <a:schemeClr val="bg1"/>
          </a:solidFill>
          <a:ln w="13970" cap="sq">
            <a:solidFill>
              <a:schemeClr val="accent1"/>
            </a:solidFill>
            <a:miter/>
          </a:ln>
          <a:effectLst>
            <a:outerShdw blurRad="88900" dist="38100" dir="5400000" algn="t" rotWithShape="0">
              <a:srgbClr val="000000">
                <a:alpha val="11000"/>
              </a:srgbClr>
            </a:outerShdw>
          </a:effectLst>
        </p:spPr>
        <p:txBody>
          <a:bodyPr vert="horz" wrap="square" lIns="91440" tIns="45720" rIns="91440" bIns="45720" rtlCol="0" anchor="ctr"/>
          <a:lstStyle/>
          <a:p>
            <a:pPr algn="ctr"/>
            <a:endParaRPr kumimoji="1" lang="zh-CN" altLang="en-US"/>
          </a:p>
        </p:txBody>
      </p:sp>
      <p:sp>
        <p:nvSpPr>
          <p:cNvPr id="8" name="标题 1"/>
          <p:cNvSpPr txBox="1"/>
          <p:nvPr/>
        </p:nvSpPr>
        <p:spPr>
          <a:xfrm>
            <a:off x="1302748" y="3335625"/>
            <a:ext cx="458868" cy="497065"/>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tx1">
              <a:lumMod val="75000"/>
              <a:lumOff val="25000"/>
            </a:schemeClr>
          </a:solidFill>
          <a:ln w="12700" cap="sq">
            <a:noFill/>
            <a:miter/>
          </a:ln>
        </p:spPr>
        <p:txBody>
          <a:bodyPr vert="horz" wrap="square" lIns="38100" tIns="38100" rIns="38100" bIns="38100" rtlCol="0" anchor="ctr"/>
          <a:lstStyle/>
          <a:p>
            <a:pPr algn="l"/>
            <a:endParaRPr kumimoji="1" lang="zh-CN" altLang="en-US"/>
          </a:p>
        </p:txBody>
      </p:sp>
      <p:sp>
        <p:nvSpPr>
          <p:cNvPr id="9" name="标题 1"/>
          <p:cNvSpPr txBox="1"/>
          <p:nvPr/>
        </p:nvSpPr>
        <p:spPr>
          <a:xfrm>
            <a:off x="4501907" y="3335625"/>
            <a:ext cx="435245" cy="497065"/>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tx1">
              <a:lumMod val="75000"/>
              <a:lumOff val="25000"/>
            </a:schemeClr>
          </a:solidFill>
          <a:ln w="12700" cap="sq">
            <a:noFill/>
            <a:miter/>
          </a:ln>
        </p:spPr>
        <p:txBody>
          <a:bodyPr vert="horz" wrap="square" lIns="38100" tIns="38100" rIns="38100" bIns="38100" rtlCol="0" anchor="ctr"/>
          <a:lstStyle/>
          <a:p>
            <a:pPr algn="l"/>
            <a:endParaRPr kumimoji="1" lang="zh-CN" altLang="en-US"/>
          </a:p>
        </p:txBody>
      </p:sp>
      <p:sp>
        <p:nvSpPr>
          <p:cNvPr id="10" name="标题 1"/>
          <p:cNvSpPr txBox="1"/>
          <p:nvPr/>
        </p:nvSpPr>
        <p:spPr>
          <a:xfrm>
            <a:off x="7634140" y="3337999"/>
            <a:ext cx="497065" cy="481028"/>
          </a:xfrm>
          <a:custGeom>
            <a:avLst/>
            <a:gdLst>
              <a:gd name="connsiteX0" fmla="*/ 695958 w 1660735"/>
              <a:gd name="connsiteY0" fmla="*/ 752512 h 1607157"/>
              <a:gd name="connsiteX1" fmla="*/ 376349 w 1660735"/>
              <a:gd name="connsiteY1" fmla="*/ 752512 h 1607157"/>
              <a:gd name="connsiteX2" fmla="*/ 110505 w 1660735"/>
              <a:gd name="connsiteY2" fmla="*/ 642007 h 1607157"/>
              <a:gd name="connsiteX3" fmla="*/ 0 w 1660735"/>
              <a:gd name="connsiteY3" fmla="*/ 376349 h 1607157"/>
              <a:gd name="connsiteX4" fmla="*/ 110505 w 1660735"/>
              <a:gd name="connsiteY4" fmla="*/ 110505 h 1607157"/>
              <a:gd name="connsiteX5" fmla="*/ 376349 w 1660735"/>
              <a:gd name="connsiteY5" fmla="*/ 0 h 1607157"/>
              <a:gd name="connsiteX6" fmla="*/ 642193 w 1660735"/>
              <a:gd name="connsiteY6" fmla="*/ 110505 h 1607157"/>
              <a:gd name="connsiteX7" fmla="*/ 752698 w 1660735"/>
              <a:gd name="connsiteY7" fmla="*/ 376349 h 1607157"/>
              <a:gd name="connsiteX8" fmla="*/ 752698 w 1660735"/>
              <a:gd name="connsiteY8" fmla="*/ 695958 h 1607157"/>
              <a:gd name="connsiteX9" fmla="*/ 695958 w 1660735"/>
              <a:gd name="connsiteY9" fmla="*/ 752512 h 1607157"/>
              <a:gd name="connsiteX10" fmla="*/ 376349 w 1660735"/>
              <a:gd name="connsiteY10" fmla="*/ 111621 h 1607157"/>
              <a:gd name="connsiteX11" fmla="*/ 111621 w 1660735"/>
              <a:gd name="connsiteY11" fmla="*/ 376349 h 1607157"/>
              <a:gd name="connsiteX12" fmla="*/ 376349 w 1660735"/>
              <a:gd name="connsiteY12" fmla="*/ 641077 h 1607157"/>
              <a:gd name="connsiteX13" fmla="*/ 641077 w 1660735"/>
              <a:gd name="connsiteY13" fmla="*/ 641077 h 1607157"/>
              <a:gd name="connsiteX14" fmla="*/ 641077 w 1660735"/>
              <a:gd name="connsiteY14" fmla="*/ 376349 h 1607157"/>
              <a:gd name="connsiteX15" fmla="*/ 376349 w 1660735"/>
              <a:gd name="connsiteY15" fmla="*/ 111621 h 1607157"/>
              <a:gd name="connsiteX16" fmla="*/ 1284201 w 1660735"/>
              <a:gd name="connsiteY16" fmla="*/ 752512 h 1607157"/>
              <a:gd name="connsiteX17" fmla="*/ 964592 w 1660735"/>
              <a:gd name="connsiteY17" fmla="*/ 752512 h 1607157"/>
              <a:gd name="connsiteX18" fmla="*/ 908038 w 1660735"/>
              <a:gd name="connsiteY18" fmla="*/ 695958 h 1607157"/>
              <a:gd name="connsiteX19" fmla="*/ 908038 w 1660735"/>
              <a:gd name="connsiteY19" fmla="*/ 376349 h 1607157"/>
              <a:gd name="connsiteX20" fmla="*/ 1018543 w 1660735"/>
              <a:gd name="connsiteY20" fmla="*/ 110505 h 1607157"/>
              <a:gd name="connsiteX21" fmla="*/ 1284387 w 1660735"/>
              <a:gd name="connsiteY21" fmla="*/ 0 h 1607157"/>
              <a:gd name="connsiteX22" fmla="*/ 1550231 w 1660735"/>
              <a:gd name="connsiteY22" fmla="*/ 110505 h 1607157"/>
              <a:gd name="connsiteX23" fmla="*/ 1660736 w 1660735"/>
              <a:gd name="connsiteY23" fmla="*/ 376349 h 1607157"/>
              <a:gd name="connsiteX24" fmla="*/ 1550231 w 1660735"/>
              <a:gd name="connsiteY24" fmla="*/ 642193 h 1607157"/>
              <a:gd name="connsiteX25" fmla="*/ 1284201 w 1660735"/>
              <a:gd name="connsiteY25" fmla="*/ 752512 h 1607157"/>
              <a:gd name="connsiteX26" fmla="*/ 1019659 w 1660735"/>
              <a:gd name="connsiteY26" fmla="*/ 640891 h 1607157"/>
              <a:gd name="connsiteX27" fmla="*/ 1284387 w 1660735"/>
              <a:gd name="connsiteY27" fmla="*/ 640891 h 1607157"/>
              <a:gd name="connsiteX28" fmla="*/ 1549115 w 1660735"/>
              <a:gd name="connsiteY28" fmla="*/ 376163 h 1607157"/>
              <a:gd name="connsiteX29" fmla="*/ 1284387 w 1660735"/>
              <a:gd name="connsiteY29" fmla="*/ 111435 h 1607157"/>
              <a:gd name="connsiteX30" fmla="*/ 1019659 w 1660735"/>
              <a:gd name="connsiteY30" fmla="*/ 376163 h 1607157"/>
              <a:gd name="connsiteX31" fmla="*/ 1019659 w 1660735"/>
              <a:gd name="connsiteY31" fmla="*/ 640891 h 1607157"/>
              <a:gd name="connsiteX32" fmla="*/ 376349 w 1660735"/>
              <a:gd name="connsiteY32" fmla="*/ 1607158 h 1607157"/>
              <a:gd name="connsiteX33" fmla="*/ 110505 w 1660735"/>
              <a:gd name="connsiteY33" fmla="*/ 1496653 h 1607157"/>
              <a:gd name="connsiteX34" fmla="*/ 0 w 1660735"/>
              <a:gd name="connsiteY34" fmla="*/ 1230809 h 1607157"/>
              <a:gd name="connsiteX35" fmla="*/ 110505 w 1660735"/>
              <a:gd name="connsiteY35" fmla="*/ 964964 h 1607157"/>
              <a:gd name="connsiteX36" fmla="*/ 376349 w 1660735"/>
              <a:gd name="connsiteY36" fmla="*/ 854459 h 1607157"/>
              <a:gd name="connsiteX37" fmla="*/ 695958 w 1660735"/>
              <a:gd name="connsiteY37" fmla="*/ 854459 h 1607157"/>
              <a:gd name="connsiteX38" fmla="*/ 752512 w 1660735"/>
              <a:gd name="connsiteY38" fmla="*/ 911014 h 1607157"/>
              <a:gd name="connsiteX39" fmla="*/ 752512 w 1660735"/>
              <a:gd name="connsiteY39" fmla="*/ 1230623 h 1607157"/>
              <a:gd name="connsiteX40" fmla="*/ 642007 w 1660735"/>
              <a:gd name="connsiteY40" fmla="*/ 1496467 h 1607157"/>
              <a:gd name="connsiteX41" fmla="*/ 376349 w 1660735"/>
              <a:gd name="connsiteY41" fmla="*/ 1607158 h 1607157"/>
              <a:gd name="connsiteX42" fmla="*/ 376349 w 1660735"/>
              <a:gd name="connsiteY42" fmla="*/ 966267 h 1607157"/>
              <a:gd name="connsiteX43" fmla="*/ 111621 w 1660735"/>
              <a:gd name="connsiteY43" fmla="*/ 1230809 h 1607157"/>
              <a:gd name="connsiteX44" fmla="*/ 376349 w 1660735"/>
              <a:gd name="connsiteY44" fmla="*/ 1495537 h 1607157"/>
              <a:gd name="connsiteX45" fmla="*/ 641077 w 1660735"/>
              <a:gd name="connsiteY45" fmla="*/ 1230809 h 1607157"/>
              <a:gd name="connsiteX46" fmla="*/ 641077 w 1660735"/>
              <a:gd name="connsiteY46" fmla="*/ 966267 h 1607157"/>
              <a:gd name="connsiteX47" fmla="*/ 376349 w 1660735"/>
              <a:gd name="connsiteY47" fmla="*/ 966267 h 1607157"/>
              <a:gd name="connsiteX48" fmla="*/ 1284201 w 1660735"/>
              <a:gd name="connsiteY48" fmla="*/ 1607158 h 1607157"/>
              <a:gd name="connsiteX49" fmla="*/ 1018357 w 1660735"/>
              <a:gd name="connsiteY49" fmla="*/ 1496653 h 1607157"/>
              <a:gd name="connsiteX50" fmla="*/ 907852 w 1660735"/>
              <a:gd name="connsiteY50" fmla="*/ 1230809 h 1607157"/>
              <a:gd name="connsiteX51" fmla="*/ 907852 w 1660735"/>
              <a:gd name="connsiteY51" fmla="*/ 911200 h 1607157"/>
              <a:gd name="connsiteX52" fmla="*/ 964406 w 1660735"/>
              <a:gd name="connsiteY52" fmla="*/ 854646 h 1607157"/>
              <a:gd name="connsiteX53" fmla="*/ 1284015 w 1660735"/>
              <a:gd name="connsiteY53" fmla="*/ 854646 h 1607157"/>
              <a:gd name="connsiteX54" fmla="*/ 1549859 w 1660735"/>
              <a:gd name="connsiteY54" fmla="*/ 965150 h 1607157"/>
              <a:gd name="connsiteX55" fmla="*/ 1660364 w 1660735"/>
              <a:gd name="connsiteY55" fmla="*/ 1230995 h 1607157"/>
              <a:gd name="connsiteX56" fmla="*/ 1550045 w 1660735"/>
              <a:gd name="connsiteY56" fmla="*/ 1496653 h 1607157"/>
              <a:gd name="connsiteX57" fmla="*/ 1284201 w 1660735"/>
              <a:gd name="connsiteY57" fmla="*/ 1607158 h 1607157"/>
              <a:gd name="connsiteX58" fmla="*/ 1019659 w 1660735"/>
              <a:gd name="connsiteY58" fmla="*/ 966267 h 1607157"/>
              <a:gd name="connsiteX59" fmla="*/ 1019659 w 1660735"/>
              <a:gd name="connsiteY59" fmla="*/ 1230995 h 1607157"/>
              <a:gd name="connsiteX60" fmla="*/ 1284387 w 1660735"/>
              <a:gd name="connsiteY60" fmla="*/ 1495723 h 1607157"/>
              <a:gd name="connsiteX61" fmla="*/ 1549115 w 1660735"/>
              <a:gd name="connsiteY61" fmla="*/ 1230995 h 1607157"/>
              <a:gd name="connsiteX62" fmla="*/ 1284387 w 1660735"/>
              <a:gd name="connsiteY62" fmla="*/ 966267 h 1607157"/>
              <a:gd name="connsiteX63" fmla="*/ 1019659 w 1660735"/>
              <a:gd name="connsiteY63" fmla="*/ 966267 h 1607157"/>
            </a:gdLst>
            <a:ahLst/>
            <a:cxnLst/>
            <a:rect l="l" t="t" r="r" b="b"/>
            <a:pathLst>
              <a:path w="1660735" h="1607157">
                <a:moveTo>
                  <a:pt x="695958" y="752512"/>
                </a:moveTo>
                <a:lnTo>
                  <a:pt x="376349" y="752512"/>
                </a:lnTo>
                <a:cubicBezTo>
                  <a:pt x="276262" y="752512"/>
                  <a:pt x="181756" y="713259"/>
                  <a:pt x="110505" y="642007"/>
                </a:cubicBezTo>
                <a:cubicBezTo>
                  <a:pt x="39253" y="570756"/>
                  <a:pt x="0" y="476436"/>
                  <a:pt x="0" y="376349"/>
                </a:cubicBezTo>
                <a:cubicBezTo>
                  <a:pt x="0" y="276262"/>
                  <a:pt x="39253" y="181756"/>
                  <a:pt x="110505" y="110505"/>
                </a:cubicBezTo>
                <a:cubicBezTo>
                  <a:pt x="181756" y="39253"/>
                  <a:pt x="276076" y="0"/>
                  <a:pt x="376349" y="0"/>
                </a:cubicBezTo>
                <a:cubicBezTo>
                  <a:pt x="476436" y="0"/>
                  <a:pt x="570942" y="39253"/>
                  <a:pt x="642193" y="110505"/>
                </a:cubicBezTo>
                <a:cubicBezTo>
                  <a:pt x="713445" y="181756"/>
                  <a:pt x="752698" y="276076"/>
                  <a:pt x="752698" y="376349"/>
                </a:cubicBezTo>
                <a:lnTo>
                  <a:pt x="752698" y="695958"/>
                </a:lnTo>
                <a:cubicBezTo>
                  <a:pt x="752512" y="727211"/>
                  <a:pt x="727211" y="752512"/>
                  <a:pt x="695958" y="752512"/>
                </a:cubicBezTo>
                <a:close/>
                <a:moveTo>
                  <a:pt x="376349" y="111621"/>
                </a:moveTo>
                <a:cubicBezTo>
                  <a:pt x="230498" y="111621"/>
                  <a:pt x="111621" y="230312"/>
                  <a:pt x="111621" y="376349"/>
                </a:cubicBezTo>
                <a:cubicBezTo>
                  <a:pt x="111621" y="522201"/>
                  <a:pt x="230312" y="641077"/>
                  <a:pt x="376349" y="641077"/>
                </a:cubicBezTo>
                <a:lnTo>
                  <a:pt x="641077" y="641077"/>
                </a:lnTo>
                <a:lnTo>
                  <a:pt x="641077" y="376349"/>
                </a:lnTo>
                <a:cubicBezTo>
                  <a:pt x="640891" y="230312"/>
                  <a:pt x="522201" y="111621"/>
                  <a:pt x="376349" y="111621"/>
                </a:cubicBezTo>
                <a:close/>
                <a:moveTo>
                  <a:pt x="1284201" y="752512"/>
                </a:moveTo>
                <a:lnTo>
                  <a:pt x="964592" y="752512"/>
                </a:lnTo>
                <a:cubicBezTo>
                  <a:pt x="933338" y="752512"/>
                  <a:pt x="908038" y="727025"/>
                  <a:pt x="908038" y="695958"/>
                </a:cubicBezTo>
                <a:lnTo>
                  <a:pt x="908038" y="376349"/>
                </a:lnTo>
                <a:cubicBezTo>
                  <a:pt x="908038" y="276262"/>
                  <a:pt x="947291" y="181756"/>
                  <a:pt x="1018543" y="110505"/>
                </a:cubicBezTo>
                <a:cubicBezTo>
                  <a:pt x="1089794" y="39253"/>
                  <a:pt x="1184114" y="0"/>
                  <a:pt x="1284387" y="0"/>
                </a:cubicBezTo>
                <a:cubicBezTo>
                  <a:pt x="1384660" y="0"/>
                  <a:pt x="1478980" y="39253"/>
                  <a:pt x="1550231" y="110505"/>
                </a:cubicBezTo>
                <a:cubicBezTo>
                  <a:pt x="1621482" y="181756"/>
                  <a:pt x="1660736" y="276076"/>
                  <a:pt x="1660736" y="376349"/>
                </a:cubicBezTo>
                <a:cubicBezTo>
                  <a:pt x="1660736" y="476622"/>
                  <a:pt x="1621482" y="570942"/>
                  <a:pt x="1550231" y="642193"/>
                </a:cubicBezTo>
                <a:cubicBezTo>
                  <a:pt x="1478794" y="713259"/>
                  <a:pt x="1384288" y="752512"/>
                  <a:pt x="1284201" y="752512"/>
                </a:cubicBezTo>
                <a:close/>
                <a:moveTo>
                  <a:pt x="1019659" y="640891"/>
                </a:moveTo>
                <a:lnTo>
                  <a:pt x="1284387" y="640891"/>
                </a:lnTo>
                <a:cubicBezTo>
                  <a:pt x="1430238" y="640891"/>
                  <a:pt x="1549115" y="522201"/>
                  <a:pt x="1549115" y="376163"/>
                </a:cubicBezTo>
                <a:cubicBezTo>
                  <a:pt x="1549115" y="230312"/>
                  <a:pt x="1430424" y="111435"/>
                  <a:pt x="1284387" y="111435"/>
                </a:cubicBezTo>
                <a:cubicBezTo>
                  <a:pt x="1138349" y="111435"/>
                  <a:pt x="1019659" y="230125"/>
                  <a:pt x="1019659" y="376163"/>
                </a:cubicBezTo>
                <a:lnTo>
                  <a:pt x="1019659" y="640891"/>
                </a:lnTo>
                <a:close/>
                <a:moveTo>
                  <a:pt x="376349" y="1607158"/>
                </a:moveTo>
                <a:cubicBezTo>
                  <a:pt x="276262" y="1607158"/>
                  <a:pt x="181756" y="1567904"/>
                  <a:pt x="110505" y="1496653"/>
                </a:cubicBezTo>
                <a:cubicBezTo>
                  <a:pt x="39253" y="1425401"/>
                  <a:pt x="0" y="1330896"/>
                  <a:pt x="0" y="1230809"/>
                </a:cubicBezTo>
                <a:cubicBezTo>
                  <a:pt x="0" y="1130722"/>
                  <a:pt x="39253" y="1036216"/>
                  <a:pt x="110505" y="964964"/>
                </a:cubicBezTo>
                <a:cubicBezTo>
                  <a:pt x="181756" y="893713"/>
                  <a:pt x="276076" y="854459"/>
                  <a:pt x="376349" y="854459"/>
                </a:cubicBezTo>
                <a:lnTo>
                  <a:pt x="695958" y="854459"/>
                </a:lnTo>
                <a:cubicBezTo>
                  <a:pt x="727211" y="854459"/>
                  <a:pt x="752512" y="879760"/>
                  <a:pt x="752512" y="911014"/>
                </a:cubicBezTo>
                <a:lnTo>
                  <a:pt x="752512" y="1230623"/>
                </a:lnTo>
                <a:cubicBezTo>
                  <a:pt x="752512" y="1330709"/>
                  <a:pt x="713259" y="1425215"/>
                  <a:pt x="642007" y="1496467"/>
                </a:cubicBezTo>
                <a:cubicBezTo>
                  <a:pt x="570756" y="1567718"/>
                  <a:pt x="476436" y="1607158"/>
                  <a:pt x="376349" y="1607158"/>
                </a:cubicBezTo>
                <a:close/>
                <a:moveTo>
                  <a:pt x="376349" y="966267"/>
                </a:moveTo>
                <a:cubicBezTo>
                  <a:pt x="230312" y="966267"/>
                  <a:pt x="111621" y="1084957"/>
                  <a:pt x="111621" y="1230809"/>
                </a:cubicBezTo>
                <a:cubicBezTo>
                  <a:pt x="111621" y="1376660"/>
                  <a:pt x="230312" y="1495537"/>
                  <a:pt x="376349" y="1495537"/>
                </a:cubicBezTo>
                <a:cubicBezTo>
                  <a:pt x="522201" y="1495537"/>
                  <a:pt x="641077" y="1376846"/>
                  <a:pt x="641077" y="1230809"/>
                </a:cubicBezTo>
                <a:lnTo>
                  <a:pt x="641077" y="966267"/>
                </a:lnTo>
                <a:lnTo>
                  <a:pt x="376349" y="966267"/>
                </a:lnTo>
                <a:close/>
                <a:moveTo>
                  <a:pt x="1284201" y="1607158"/>
                </a:moveTo>
                <a:cubicBezTo>
                  <a:pt x="1184114" y="1607158"/>
                  <a:pt x="1089608" y="1567904"/>
                  <a:pt x="1018357" y="1496653"/>
                </a:cubicBezTo>
                <a:cubicBezTo>
                  <a:pt x="947105" y="1425401"/>
                  <a:pt x="907852" y="1331082"/>
                  <a:pt x="907852" y="1230809"/>
                </a:cubicBezTo>
                <a:lnTo>
                  <a:pt x="907852" y="911200"/>
                </a:lnTo>
                <a:cubicBezTo>
                  <a:pt x="907852" y="879946"/>
                  <a:pt x="933152" y="854646"/>
                  <a:pt x="964406" y="854646"/>
                </a:cubicBezTo>
                <a:lnTo>
                  <a:pt x="1284015" y="854646"/>
                </a:lnTo>
                <a:cubicBezTo>
                  <a:pt x="1384102" y="854646"/>
                  <a:pt x="1478607" y="893899"/>
                  <a:pt x="1549859" y="965150"/>
                </a:cubicBezTo>
                <a:cubicBezTo>
                  <a:pt x="1621110" y="1036402"/>
                  <a:pt x="1660364" y="1130722"/>
                  <a:pt x="1660364" y="1230995"/>
                </a:cubicBezTo>
                <a:cubicBezTo>
                  <a:pt x="1660364" y="1331268"/>
                  <a:pt x="1621296" y="1425401"/>
                  <a:pt x="1550045" y="1496653"/>
                </a:cubicBezTo>
                <a:cubicBezTo>
                  <a:pt x="1478794" y="1567904"/>
                  <a:pt x="1384288" y="1607158"/>
                  <a:pt x="1284201" y="1607158"/>
                </a:cubicBezTo>
                <a:close/>
                <a:moveTo>
                  <a:pt x="1019659" y="966267"/>
                </a:moveTo>
                <a:lnTo>
                  <a:pt x="1019659" y="1230995"/>
                </a:lnTo>
                <a:cubicBezTo>
                  <a:pt x="1019659" y="1376846"/>
                  <a:pt x="1138349" y="1495723"/>
                  <a:pt x="1284387" y="1495723"/>
                </a:cubicBezTo>
                <a:cubicBezTo>
                  <a:pt x="1430424" y="1495723"/>
                  <a:pt x="1549115" y="1377032"/>
                  <a:pt x="1549115" y="1230995"/>
                </a:cubicBezTo>
                <a:cubicBezTo>
                  <a:pt x="1549115" y="1084957"/>
                  <a:pt x="1430424" y="966267"/>
                  <a:pt x="1284387" y="966267"/>
                </a:cubicBezTo>
                <a:lnTo>
                  <a:pt x="1019659" y="966267"/>
                </a:lnTo>
                <a:close/>
              </a:path>
            </a:pathLst>
          </a:custGeom>
          <a:solidFill>
            <a:schemeClr val="tx1">
              <a:lumMod val="75000"/>
              <a:lumOff val="25000"/>
            </a:schemeClr>
          </a:solidFill>
          <a:ln w="12700" cap="sq">
            <a:noFill/>
            <a:miter/>
          </a:ln>
        </p:spPr>
        <p:txBody>
          <a:bodyPr vert="horz" wrap="square" lIns="38100" tIns="38100" rIns="38100" bIns="38100" rtlCol="0" anchor="ctr"/>
          <a:lstStyle/>
          <a:p>
            <a:pPr algn="l"/>
            <a:endParaRPr kumimoji="1" lang="zh-CN" altLang="en-US"/>
          </a:p>
        </p:txBody>
      </p:sp>
      <p:sp>
        <p:nvSpPr>
          <p:cNvPr id="11" name="标题 1"/>
          <p:cNvSpPr txBox="1"/>
          <p:nvPr/>
        </p:nvSpPr>
        <p:spPr>
          <a:xfrm>
            <a:off x="1283649" y="4049317"/>
            <a:ext cx="2791155" cy="1652110"/>
          </a:xfrm>
          <a:prstGeom prst="rect">
            <a:avLst/>
          </a:prstGeom>
          <a:noFill/>
          <a:ln>
            <a:noFill/>
          </a:ln>
        </p:spPr>
        <p:txBody>
          <a:bodyPr vert="horz" wrap="square" lIns="0" tIns="36000" rIns="216000" bIns="36000" rtlCol="0" anchor="t"/>
          <a:lstStyle/>
          <a:p>
            <a:pPr algn="l"/>
            <a:r>
              <a:rPr kumimoji="1" lang="en-US" altLang="zh-CN" sz="1400">
                <a:ln w="12700">
                  <a:noFill/>
                </a:ln>
                <a:solidFill>
                  <a:srgbClr val="404040">
                    <a:alpha val="100000"/>
                  </a:srgbClr>
                </a:solidFill>
                <a:latin typeface="Poppins"/>
                <a:ea typeface="Poppins"/>
                <a:cs typeface="Poppins"/>
              </a:rPr>
              <a:t>Guardar cuentas de administrador.</a:t>
            </a:r>
            <a:endParaRPr kumimoji="1" lang="zh-CN" altLang="en-US"/>
          </a:p>
        </p:txBody>
      </p:sp>
      <p:sp>
        <p:nvSpPr>
          <p:cNvPr id="12" name="标题 1"/>
          <p:cNvSpPr txBox="1"/>
          <p:nvPr/>
        </p:nvSpPr>
        <p:spPr>
          <a:xfrm>
            <a:off x="4470997" y="4049316"/>
            <a:ext cx="2791155" cy="1652110"/>
          </a:xfrm>
          <a:prstGeom prst="rect">
            <a:avLst/>
          </a:prstGeom>
          <a:noFill/>
          <a:ln>
            <a:noFill/>
          </a:ln>
        </p:spPr>
        <p:txBody>
          <a:bodyPr vert="horz" wrap="square" lIns="0" tIns="36000" rIns="216000" bIns="36000" rtlCol="0" anchor="t"/>
          <a:lstStyle/>
          <a:p>
            <a:pPr algn="l"/>
            <a:r>
              <a:rPr kumimoji="1" lang="en-US" altLang="zh-CN" sz="1400">
                <a:ln w="12700">
                  <a:noFill/>
                </a:ln>
                <a:solidFill>
                  <a:srgbClr val="404040">
                    <a:alpha val="100000"/>
                  </a:srgbClr>
                </a:solidFill>
                <a:latin typeface="Poppins"/>
                <a:ea typeface="Poppins"/>
                <a:cs typeface="Poppins"/>
              </a:rPr>
              <a:t>Solicitud de contraseña para tareas específicas.</a:t>
            </a:r>
            <a:endParaRPr kumimoji="1" lang="zh-CN" altLang="en-US"/>
          </a:p>
        </p:txBody>
      </p:sp>
      <p:sp>
        <p:nvSpPr>
          <p:cNvPr id="13" name="标题 1"/>
          <p:cNvSpPr txBox="1"/>
          <p:nvPr/>
        </p:nvSpPr>
        <p:spPr>
          <a:xfrm>
            <a:off x="7634139" y="4049316"/>
            <a:ext cx="2791155" cy="1652110"/>
          </a:xfrm>
          <a:prstGeom prst="rect">
            <a:avLst/>
          </a:prstGeom>
          <a:noFill/>
          <a:ln>
            <a:noFill/>
          </a:ln>
        </p:spPr>
        <p:txBody>
          <a:bodyPr vert="horz" wrap="square" lIns="0" tIns="36000" rIns="216000" bIns="36000" rtlCol="0" anchor="t"/>
          <a:lstStyle/>
          <a:p>
            <a:pPr algn="l"/>
            <a:r>
              <a:rPr kumimoji="1" lang="en-US" altLang="zh-CN" sz="1400">
                <a:ln w="12700">
                  <a:noFill/>
                </a:ln>
                <a:solidFill>
                  <a:srgbClr val="404040">
                    <a:alpha val="100000"/>
                  </a:srgbClr>
                </a:solidFill>
                <a:latin typeface="Poppins"/>
                <a:ea typeface="Poppins"/>
                <a:cs typeface="Poppins"/>
              </a:rPr>
              <a:t>Grabación de sesiones y cambio automático de contraseñas.</a:t>
            </a:r>
            <a:endParaRPr kumimoji="1" lang="zh-CN" altLang="en-US"/>
          </a:p>
        </p:txBody>
      </p:sp>
      <p:sp>
        <p:nvSpPr>
          <p:cNvPr id="14" name="标题 1"/>
          <p:cNvSpPr txBox="1"/>
          <p:nvPr/>
        </p:nvSpPr>
        <p:spPr>
          <a:xfrm>
            <a:off x="1166224" y="1562973"/>
            <a:ext cx="9057640" cy="864000"/>
          </a:xfrm>
          <a:prstGeom prst="rect">
            <a:avLst/>
          </a:prstGeom>
          <a:noFill/>
          <a:ln>
            <a:noFill/>
          </a:ln>
        </p:spPr>
        <p:txBody>
          <a:bodyPr vert="horz" wrap="square" lIns="0" tIns="0" rIns="0" bIns="0" rtlCol="0" anchor="b"/>
          <a:lstStyle/>
          <a:p>
            <a:pPr algn="l"/>
            <a:r>
              <a:rPr kumimoji="1" lang="en-US" altLang="zh-CN" sz="1600">
                <a:ln w="12700">
                  <a:noFill/>
                </a:ln>
                <a:solidFill>
                  <a:srgbClr val="262626">
                    <a:alpha val="100000"/>
                  </a:srgbClr>
                </a:solidFill>
                <a:latin typeface="poppins-bold"/>
                <a:ea typeface="poppins-bold"/>
                <a:cs typeface="poppins-bold"/>
              </a:rPr>
              <a:t>Bóveda Digital</a:t>
            </a:r>
            <a:endParaRPr kumimoji="1" lang="zh-CN" altLang="en-US"/>
          </a:p>
        </p:txBody>
      </p:sp>
      <p:sp>
        <p:nvSpPr>
          <p:cNvPr id="15"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Gestión de Acceso Privilegiado (PAM)</a:t>
            </a:r>
            <a:endParaRPr kumimoji="1" lang="zh-CN" altLang="en-US"/>
          </a:p>
        </p:txBody>
      </p:sp>
      <p:sp>
        <p:nvSpPr>
          <p:cNvPr id="16"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7"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18" name="Imagen 17">
            <a:extLst>
              <a:ext uri="{FF2B5EF4-FFF2-40B4-BE49-F238E27FC236}">
                <a16:creationId xmlns:a16="http://schemas.microsoft.com/office/drawing/2014/main" id="{BCD3B4EE-3DA0-AE4D-F23A-4E1D50320E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3042858" y="3169488"/>
            <a:ext cx="2912678" cy="1290025"/>
          </a:xfrm>
          <a:prstGeom prst="rect">
            <a:avLst/>
          </a:prstGeom>
          <a:noFill/>
          <a:ln w="12700" cap="sq">
            <a:noFill/>
            <a:miter/>
          </a:ln>
        </p:spPr>
        <p:txBody>
          <a:bodyPr vert="horz" wrap="square" lIns="0" tIns="0" rIns="0" bIns="0" rtlCol="0" anchor="t"/>
          <a:lstStyle/>
          <a:p>
            <a:pPr algn="l"/>
            <a:r>
              <a:rPr kumimoji="1" lang="en-US" altLang="zh-CN" sz="1400">
                <a:ln w="12700">
                  <a:noFill/>
                </a:ln>
                <a:solidFill>
                  <a:srgbClr val="404040">
                    <a:alpha val="100000"/>
                  </a:srgbClr>
                </a:solidFill>
                <a:latin typeface="Poppins"/>
                <a:ea typeface="Poppins"/>
                <a:cs typeface="Poppins"/>
              </a:rPr>
              <a:t>División de la red del datacenter.</a:t>
            </a:r>
            <a:endParaRPr kumimoji="1" lang="zh-CN" altLang="en-US"/>
          </a:p>
        </p:txBody>
      </p:sp>
      <p:sp>
        <p:nvSpPr>
          <p:cNvPr id="3" name="标题 1"/>
          <p:cNvSpPr txBox="1"/>
          <p:nvPr/>
        </p:nvSpPr>
        <p:spPr>
          <a:xfrm flipV="1">
            <a:off x="1506000" y="3059546"/>
            <a:ext cx="1399970" cy="1399967"/>
          </a:xfrm>
          <a:custGeom>
            <a:avLst/>
            <a:gdLst>
              <a:gd name="T0" fmla="*/ 283 w 566"/>
              <a:gd name="T1" fmla="*/ 566 h 566"/>
              <a:gd name="T2" fmla="*/ 0 w 566"/>
              <a:gd name="T3" fmla="*/ 383 h 566"/>
              <a:gd name="T4" fmla="*/ 97 w 566"/>
              <a:gd name="T5" fmla="*/ 136 h 566"/>
              <a:gd name="T6" fmla="*/ 283 w 566"/>
              <a:gd name="T7" fmla="*/ 0 h 566"/>
              <a:gd name="T8" fmla="*/ 469 w 566"/>
              <a:gd name="T9" fmla="*/ 136 h 566"/>
              <a:gd name="T10" fmla="*/ 566 w 566"/>
              <a:gd name="T11" fmla="*/ 383 h 566"/>
              <a:gd name="T12" fmla="*/ 283 w 566"/>
              <a:gd name="T13" fmla="*/ 566 h 566"/>
            </a:gdLst>
            <a:ahLst/>
            <a:cxnLst/>
            <a:rect l="0" t="0" r="r" b="b"/>
            <a:pathLst>
              <a:path w="566" h="566">
                <a:moveTo>
                  <a:pt x="283" y="566"/>
                </a:moveTo>
                <a:cubicBezTo>
                  <a:pt x="93" y="566"/>
                  <a:pt x="0" y="506"/>
                  <a:pt x="0" y="383"/>
                </a:cubicBezTo>
                <a:cubicBezTo>
                  <a:pt x="0" y="314"/>
                  <a:pt x="37" y="219"/>
                  <a:pt x="97" y="136"/>
                </a:cubicBezTo>
                <a:cubicBezTo>
                  <a:pt x="158" y="51"/>
                  <a:pt x="228" y="0"/>
                  <a:pt x="283" y="0"/>
                </a:cubicBezTo>
                <a:cubicBezTo>
                  <a:pt x="338" y="0"/>
                  <a:pt x="408" y="51"/>
                  <a:pt x="469" y="136"/>
                </a:cubicBezTo>
                <a:cubicBezTo>
                  <a:pt x="529" y="219"/>
                  <a:pt x="566" y="314"/>
                  <a:pt x="566" y="383"/>
                </a:cubicBezTo>
                <a:cubicBezTo>
                  <a:pt x="566" y="506"/>
                  <a:pt x="473" y="566"/>
                  <a:pt x="283" y="566"/>
                </a:cubicBezTo>
                <a:close/>
              </a:path>
            </a:pathLst>
          </a:custGeom>
          <a:solidFill>
            <a:schemeClr val="accent2"/>
          </a:solidFill>
          <a:ln w="12700" cap="flat">
            <a:noFill/>
            <a:miter/>
          </a:ln>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1958534" y="3369419"/>
            <a:ext cx="535806" cy="580406"/>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7930913" y="3169488"/>
            <a:ext cx="2912678" cy="1290025"/>
          </a:xfrm>
          <a:prstGeom prst="rect">
            <a:avLst/>
          </a:prstGeom>
          <a:noFill/>
          <a:ln w="12700" cap="sq">
            <a:noFill/>
            <a:miter/>
          </a:ln>
        </p:spPr>
        <p:txBody>
          <a:bodyPr vert="horz" wrap="square" lIns="0" tIns="0" rIns="0" bIns="0" rtlCol="0" anchor="t"/>
          <a:lstStyle/>
          <a:p>
            <a:pPr algn="l"/>
            <a:r>
              <a:rPr kumimoji="1" lang="en-US" altLang="zh-CN" sz="1400" dirty="0" err="1">
                <a:ln w="12700">
                  <a:noFill/>
                </a:ln>
                <a:solidFill>
                  <a:srgbClr val="404040">
                    <a:alpha val="100000"/>
                  </a:srgbClr>
                </a:solidFill>
                <a:latin typeface="Poppins"/>
                <a:ea typeface="Poppins"/>
                <a:cs typeface="Poppins"/>
              </a:rPr>
              <a:t>Restricción</a:t>
            </a:r>
            <a:r>
              <a:rPr kumimoji="1" lang="en-US" altLang="zh-CN" sz="1400" dirty="0">
                <a:ln w="12700">
                  <a:noFill/>
                </a:ln>
                <a:solidFill>
                  <a:srgbClr val="404040">
                    <a:alpha val="100000"/>
                  </a:srgbClr>
                </a:solidFill>
                <a:latin typeface="Poppins"/>
                <a:ea typeface="Poppins"/>
                <a:cs typeface="Poppins"/>
              </a:rPr>
              <a:t> de </a:t>
            </a:r>
            <a:r>
              <a:rPr kumimoji="1" lang="en-US" altLang="zh-CN" sz="1400" dirty="0" err="1">
                <a:ln w="12700">
                  <a:noFill/>
                </a:ln>
                <a:solidFill>
                  <a:srgbClr val="404040">
                    <a:alpha val="100000"/>
                  </a:srgbClr>
                </a:solidFill>
                <a:latin typeface="Poppins"/>
                <a:ea typeface="Poppins"/>
                <a:cs typeface="Poppins"/>
              </a:rPr>
              <a:t>comunicación</a:t>
            </a:r>
            <a:r>
              <a:rPr kumimoji="1" lang="en-US" altLang="zh-CN" sz="1400" dirty="0">
                <a:ln w="12700">
                  <a:noFill/>
                </a:ln>
                <a:solidFill>
                  <a:srgbClr val="404040">
                    <a:alpha val="100000"/>
                  </a:srgbClr>
                </a:solidFill>
                <a:latin typeface="Poppins"/>
                <a:ea typeface="Poppins"/>
                <a:cs typeface="Poppins"/>
              </a:rPr>
              <a:t> entre </a:t>
            </a:r>
            <a:r>
              <a:rPr kumimoji="1" lang="en-US" altLang="zh-CN" sz="1400" dirty="0" err="1">
                <a:ln w="12700">
                  <a:noFill/>
                </a:ln>
                <a:solidFill>
                  <a:srgbClr val="404040">
                    <a:alpha val="100000"/>
                  </a:srgbClr>
                </a:solidFill>
                <a:latin typeface="Poppins"/>
                <a:ea typeface="Poppins"/>
                <a:cs typeface="Poppins"/>
              </a:rPr>
              <a:t>servidores</a:t>
            </a:r>
            <a:r>
              <a:rPr kumimoji="1" lang="en-US" altLang="zh-CN" sz="1400" dirty="0">
                <a:ln w="12700">
                  <a:noFill/>
                </a:ln>
                <a:solidFill>
                  <a:srgbClr val="404040">
                    <a:alpha val="100000"/>
                  </a:srgbClr>
                </a:solidFill>
                <a:latin typeface="Poppins"/>
                <a:ea typeface="Poppins"/>
                <a:cs typeface="Poppins"/>
              </a:rPr>
              <a:t> de diferentes </a:t>
            </a:r>
            <a:r>
              <a:rPr kumimoji="1" lang="en-US" altLang="zh-CN" sz="1400" dirty="0" err="1">
                <a:ln w="12700">
                  <a:noFill/>
                </a:ln>
                <a:solidFill>
                  <a:srgbClr val="404040">
                    <a:alpha val="100000"/>
                  </a:srgbClr>
                </a:solidFill>
                <a:latin typeface="Poppins"/>
                <a:ea typeface="Poppins"/>
                <a:cs typeface="Poppins"/>
              </a:rPr>
              <a:t>funciones</a:t>
            </a:r>
            <a:r>
              <a:rPr kumimoji="1" lang="en-US" altLang="zh-CN" sz="1400" dirty="0">
                <a:ln w="12700">
                  <a:noFill/>
                </a:ln>
                <a:solidFill>
                  <a:srgbClr val="404040">
                    <a:alpha val="100000"/>
                  </a:srgbClr>
                </a:solidFill>
                <a:latin typeface="Poppins"/>
                <a:ea typeface="Poppins"/>
                <a:cs typeface="Poppins"/>
              </a:rPr>
              <a:t>.</a:t>
            </a:r>
            <a:endParaRPr kumimoji="1" lang="zh-CN" altLang="en-US" dirty="0"/>
          </a:p>
        </p:txBody>
      </p:sp>
      <p:sp>
        <p:nvSpPr>
          <p:cNvPr id="6" name="标题 1"/>
          <p:cNvSpPr txBox="1"/>
          <p:nvPr/>
        </p:nvSpPr>
        <p:spPr>
          <a:xfrm>
            <a:off x="6376233" y="3059546"/>
            <a:ext cx="1399970" cy="1399967"/>
          </a:xfrm>
          <a:custGeom>
            <a:avLst/>
            <a:gdLst>
              <a:gd name="T0" fmla="*/ 283 w 566"/>
              <a:gd name="T1" fmla="*/ 566 h 566"/>
              <a:gd name="T2" fmla="*/ 0 w 566"/>
              <a:gd name="T3" fmla="*/ 383 h 566"/>
              <a:gd name="T4" fmla="*/ 97 w 566"/>
              <a:gd name="T5" fmla="*/ 136 h 566"/>
              <a:gd name="T6" fmla="*/ 283 w 566"/>
              <a:gd name="T7" fmla="*/ 0 h 566"/>
              <a:gd name="T8" fmla="*/ 469 w 566"/>
              <a:gd name="T9" fmla="*/ 136 h 566"/>
              <a:gd name="T10" fmla="*/ 566 w 566"/>
              <a:gd name="T11" fmla="*/ 383 h 566"/>
              <a:gd name="T12" fmla="*/ 283 w 566"/>
              <a:gd name="T13" fmla="*/ 566 h 566"/>
            </a:gdLst>
            <a:ahLst/>
            <a:cxnLst/>
            <a:rect l="0" t="0" r="r" b="b"/>
            <a:pathLst>
              <a:path w="566" h="566">
                <a:moveTo>
                  <a:pt x="283" y="566"/>
                </a:moveTo>
                <a:cubicBezTo>
                  <a:pt x="93" y="566"/>
                  <a:pt x="0" y="506"/>
                  <a:pt x="0" y="383"/>
                </a:cubicBezTo>
                <a:cubicBezTo>
                  <a:pt x="0" y="314"/>
                  <a:pt x="37" y="219"/>
                  <a:pt x="97" y="136"/>
                </a:cubicBezTo>
                <a:cubicBezTo>
                  <a:pt x="158" y="51"/>
                  <a:pt x="228" y="0"/>
                  <a:pt x="283" y="0"/>
                </a:cubicBezTo>
                <a:cubicBezTo>
                  <a:pt x="338" y="0"/>
                  <a:pt x="408" y="51"/>
                  <a:pt x="469" y="136"/>
                </a:cubicBezTo>
                <a:cubicBezTo>
                  <a:pt x="529" y="219"/>
                  <a:pt x="566" y="314"/>
                  <a:pt x="566" y="383"/>
                </a:cubicBezTo>
                <a:cubicBezTo>
                  <a:pt x="566" y="506"/>
                  <a:pt x="473" y="566"/>
                  <a:pt x="283" y="566"/>
                </a:cubicBezTo>
                <a:close/>
              </a:path>
            </a:pathLst>
          </a:custGeom>
          <a:solidFill>
            <a:schemeClr val="accent1"/>
          </a:solidFill>
          <a:ln w="12700" cap="flat">
            <a:noFill/>
            <a:miter/>
          </a:ln>
          <a:effectLst/>
        </p:spPr>
        <p:txBody>
          <a:bodyPr vert="horz" wrap="square" lIns="91440" tIns="45720" rIns="91440" bIns="45720" rtlCol="0" anchor="ctr"/>
          <a:lstStyle/>
          <a:p>
            <a:pPr algn="ctr"/>
            <a:endParaRPr kumimoji="1" lang="zh-CN" altLang="en-US"/>
          </a:p>
        </p:txBody>
      </p:sp>
      <p:sp>
        <p:nvSpPr>
          <p:cNvPr id="7" name="标题 1"/>
          <p:cNvSpPr txBox="1"/>
          <p:nvPr/>
        </p:nvSpPr>
        <p:spPr>
          <a:xfrm>
            <a:off x="6797975" y="3501679"/>
            <a:ext cx="580408" cy="547046"/>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9525" cap="flat">
            <a:noFill/>
            <a:miter/>
          </a:ln>
        </p:spPr>
        <p:txBody>
          <a:bodyPr vert="horz" wrap="square" lIns="91440" tIns="45720" rIns="91440" bIns="45720" rtlCol="0" anchor="ctr"/>
          <a:lstStyle/>
          <a:p>
            <a:pPr algn="l"/>
            <a:endParaRPr kumimoji="1" lang="zh-CN" altLang="en-US"/>
          </a:p>
        </p:txBody>
      </p:sp>
      <p:sp>
        <p:nvSpPr>
          <p:cNvPr id="8" name="标题 1"/>
          <p:cNvSpPr txBox="1"/>
          <p:nvPr/>
        </p:nvSpPr>
        <p:spPr>
          <a:xfrm>
            <a:off x="3042858" y="4947567"/>
            <a:ext cx="2912678" cy="1290025"/>
          </a:xfrm>
          <a:prstGeom prst="rect">
            <a:avLst/>
          </a:prstGeom>
          <a:noFill/>
          <a:ln w="12700" cap="sq">
            <a:noFill/>
            <a:miter/>
          </a:ln>
        </p:spPr>
        <p:txBody>
          <a:bodyPr vert="horz" wrap="square" lIns="0" tIns="0" rIns="0" bIns="0" rtlCol="0" anchor="t"/>
          <a:lstStyle/>
          <a:p>
            <a:pPr algn="l"/>
            <a:r>
              <a:rPr kumimoji="1" lang="en-US" altLang="zh-CN" sz="1400">
                <a:ln w="12700">
                  <a:noFill/>
                </a:ln>
                <a:solidFill>
                  <a:srgbClr val="404040">
                    <a:alpha val="100000"/>
                  </a:srgbClr>
                </a:solidFill>
                <a:latin typeface="Poppins"/>
                <a:ea typeface="Poppins"/>
                <a:cs typeface="Poppins"/>
              </a:rPr>
              <a:t>Prevención de movimientos laterales de atacantes.</a:t>
            </a:r>
            <a:endParaRPr kumimoji="1" lang="zh-CN" altLang="en-US"/>
          </a:p>
        </p:txBody>
      </p:sp>
      <p:sp>
        <p:nvSpPr>
          <p:cNvPr id="9" name="标题 1"/>
          <p:cNvSpPr txBox="1"/>
          <p:nvPr/>
        </p:nvSpPr>
        <p:spPr>
          <a:xfrm flipV="1">
            <a:off x="1506000" y="4837625"/>
            <a:ext cx="1399970" cy="1399967"/>
          </a:xfrm>
          <a:custGeom>
            <a:avLst/>
            <a:gdLst>
              <a:gd name="T0" fmla="*/ 283 w 566"/>
              <a:gd name="T1" fmla="*/ 566 h 566"/>
              <a:gd name="T2" fmla="*/ 0 w 566"/>
              <a:gd name="T3" fmla="*/ 383 h 566"/>
              <a:gd name="T4" fmla="*/ 97 w 566"/>
              <a:gd name="T5" fmla="*/ 136 h 566"/>
              <a:gd name="T6" fmla="*/ 283 w 566"/>
              <a:gd name="T7" fmla="*/ 0 h 566"/>
              <a:gd name="T8" fmla="*/ 469 w 566"/>
              <a:gd name="T9" fmla="*/ 136 h 566"/>
              <a:gd name="T10" fmla="*/ 566 w 566"/>
              <a:gd name="T11" fmla="*/ 383 h 566"/>
              <a:gd name="T12" fmla="*/ 283 w 566"/>
              <a:gd name="T13" fmla="*/ 566 h 566"/>
            </a:gdLst>
            <a:ahLst/>
            <a:cxnLst/>
            <a:rect l="0" t="0" r="r" b="b"/>
            <a:pathLst>
              <a:path w="566" h="566">
                <a:moveTo>
                  <a:pt x="283" y="566"/>
                </a:moveTo>
                <a:cubicBezTo>
                  <a:pt x="93" y="566"/>
                  <a:pt x="0" y="506"/>
                  <a:pt x="0" y="383"/>
                </a:cubicBezTo>
                <a:cubicBezTo>
                  <a:pt x="0" y="314"/>
                  <a:pt x="37" y="219"/>
                  <a:pt x="97" y="136"/>
                </a:cubicBezTo>
                <a:cubicBezTo>
                  <a:pt x="158" y="51"/>
                  <a:pt x="228" y="0"/>
                  <a:pt x="283" y="0"/>
                </a:cubicBezTo>
                <a:cubicBezTo>
                  <a:pt x="338" y="0"/>
                  <a:pt x="408" y="51"/>
                  <a:pt x="469" y="136"/>
                </a:cubicBezTo>
                <a:cubicBezTo>
                  <a:pt x="529" y="219"/>
                  <a:pt x="566" y="314"/>
                  <a:pt x="566" y="383"/>
                </a:cubicBezTo>
                <a:cubicBezTo>
                  <a:pt x="566" y="506"/>
                  <a:pt x="473" y="566"/>
                  <a:pt x="283" y="566"/>
                </a:cubicBezTo>
                <a:close/>
              </a:path>
            </a:pathLst>
          </a:custGeom>
          <a:solidFill>
            <a:schemeClr val="accent2"/>
          </a:solidFill>
          <a:ln w="12700" cap="flat">
            <a:noFill/>
            <a:miter/>
          </a:ln>
          <a:effectLst/>
        </p:spPr>
        <p:txBody>
          <a:bodyPr vert="horz" wrap="square" lIns="91440" tIns="45720" rIns="91440" bIns="45720" rtlCol="0" anchor="ctr"/>
          <a:lstStyle/>
          <a:p>
            <a:pPr algn="ctr"/>
            <a:endParaRPr kumimoji="1" lang="zh-CN" altLang="en-US"/>
          </a:p>
        </p:txBody>
      </p:sp>
      <p:sp>
        <p:nvSpPr>
          <p:cNvPr id="10" name="标题 1"/>
          <p:cNvSpPr txBox="1"/>
          <p:nvPr/>
        </p:nvSpPr>
        <p:spPr>
          <a:xfrm>
            <a:off x="1884437" y="5138284"/>
            <a:ext cx="684000" cy="598833"/>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bg1"/>
          </a:solidFill>
          <a:ln w="1553" cap="flat">
            <a:noFill/>
            <a:miter/>
          </a:ln>
        </p:spPr>
        <p:txBody>
          <a:bodyPr vert="horz" wrap="square" lIns="91440" tIns="45720" rIns="91440" bIns="45720" rtlCol="0" anchor="ctr"/>
          <a:lstStyle/>
          <a:p>
            <a:pPr algn="l"/>
            <a:endParaRPr kumimoji="1" lang="zh-CN" altLang="en-US"/>
          </a:p>
        </p:txBody>
      </p:sp>
      <p:sp>
        <p:nvSpPr>
          <p:cNvPr id="11" name="标题 1"/>
          <p:cNvSpPr txBox="1"/>
          <p:nvPr/>
        </p:nvSpPr>
        <p:spPr>
          <a:xfrm>
            <a:off x="669751" y="1405774"/>
            <a:ext cx="476250" cy="377952"/>
          </a:xfrm>
          <a:custGeom>
            <a:avLst/>
            <a:gdLst>
              <a:gd name="connsiteX0" fmla="*/ 476250 w 476250"/>
              <a:gd name="connsiteY0" fmla="*/ 0 h 377952"/>
              <a:gd name="connsiteX1" fmla="*/ 476250 w 476250"/>
              <a:gd name="connsiteY1" fmla="*/ 81725 h 377952"/>
              <a:gd name="connsiteX2" fmla="*/ 367570 w 476250"/>
              <a:gd name="connsiteY2" fmla="*/ 187452 h 377952"/>
              <a:gd name="connsiteX3" fmla="*/ 476250 w 476250"/>
              <a:gd name="connsiteY3" fmla="*/ 187452 h 377952"/>
              <a:gd name="connsiteX4" fmla="*/ 476250 w 476250"/>
              <a:gd name="connsiteY4" fmla="*/ 377952 h 377952"/>
              <a:gd name="connsiteX5" fmla="*/ 285750 w 476250"/>
              <a:gd name="connsiteY5" fmla="*/ 377952 h 377952"/>
              <a:gd name="connsiteX6" fmla="*/ 285750 w 476250"/>
              <a:gd name="connsiteY6" fmla="*/ 187452 h 377952"/>
              <a:gd name="connsiteX7" fmla="*/ 476250 w 476250"/>
              <a:gd name="connsiteY7" fmla="*/ 0 h 377952"/>
              <a:gd name="connsiteX8" fmla="*/ 190500 w 476250"/>
              <a:gd name="connsiteY8" fmla="*/ 0 h 377952"/>
              <a:gd name="connsiteX9" fmla="*/ 190500 w 476250"/>
              <a:gd name="connsiteY9" fmla="*/ 81725 h 377952"/>
              <a:gd name="connsiteX10" fmla="*/ 81820 w 476250"/>
              <a:gd name="connsiteY10" fmla="*/ 187452 h 377952"/>
              <a:gd name="connsiteX11" fmla="*/ 190500 w 476250"/>
              <a:gd name="connsiteY11" fmla="*/ 187452 h 377952"/>
              <a:gd name="connsiteX12" fmla="*/ 190500 w 476250"/>
              <a:gd name="connsiteY12" fmla="*/ 377952 h 377952"/>
              <a:gd name="connsiteX13" fmla="*/ 0 w 476250"/>
              <a:gd name="connsiteY13" fmla="*/ 377952 h 377952"/>
              <a:gd name="connsiteX14" fmla="*/ 0 w 476250"/>
              <a:gd name="connsiteY14" fmla="*/ 187452 h 377952"/>
              <a:gd name="connsiteX15" fmla="*/ 190500 w 476250"/>
              <a:gd name="connsiteY15" fmla="*/ 0 h 377952"/>
            </a:gdLst>
            <a:ahLst/>
            <a:cxnLst/>
            <a:rect l="l" t="t" r="r" b="b"/>
            <a:pathLst>
              <a:path w="476250" h="377952">
                <a:moveTo>
                  <a:pt x="476250" y="0"/>
                </a:moveTo>
                <a:lnTo>
                  <a:pt x="476250" y="81725"/>
                </a:lnTo>
                <a:cubicBezTo>
                  <a:pt x="417383" y="81753"/>
                  <a:pt x="369219" y="128608"/>
                  <a:pt x="367570" y="187452"/>
                </a:cubicBezTo>
                <a:lnTo>
                  <a:pt x="476250" y="187452"/>
                </a:lnTo>
                <a:lnTo>
                  <a:pt x="476250" y="377952"/>
                </a:lnTo>
                <a:lnTo>
                  <a:pt x="285750" y="377952"/>
                </a:lnTo>
                <a:lnTo>
                  <a:pt x="285750" y="187452"/>
                </a:lnTo>
                <a:cubicBezTo>
                  <a:pt x="287415" y="83434"/>
                  <a:pt x="372219" y="-13"/>
                  <a:pt x="476250" y="0"/>
                </a:cubicBezTo>
                <a:close/>
                <a:moveTo>
                  <a:pt x="190500" y="0"/>
                </a:moveTo>
                <a:lnTo>
                  <a:pt x="190500" y="81725"/>
                </a:lnTo>
                <a:cubicBezTo>
                  <a:pt x="131633" y="81753"/>
                  <a:pt x="83469" y="128608"/>
                  <a:pt x="81820" y="187452"/>
                </a:cubicBezTo>
                <a:lnTo>
                  <a:pt x="190500" y="187452"/>
                </a:lnTo>
                <a:lnTo>
                  <a:pt x="190500" y="377952"/>
                </a:lnTo>
                <a:lnTo>
                  <a:pt x="0" y="377952"/>
                </a:lnTo>
                <a:lnTo>
                  <a:pt x="0" y="187452"/>
                </a:lnTo>
                <a:cubicBezTo>
                  <a:pt x="1665" y="83434"/>
                  <a:pt x="86469" y="-13"/>
                  <a:pt x="190500" y="0"/>
                </a:cubicBezTo>
                <a:close/>
              </a:path>
            </a:pathLst>
          </a:custGeom>
          <a:solidFill>
            <a:schemeClr val="accent1"/>
          </a:solidFill>
          <a:ln w="6055" cap="flat">
            <a:noFill/>
            <a:miter/>
          </a:ln>
        </p:spPr>
        <p:txBody>
          <a:bodyPr vert="horz" wrap="square" lIns="91440" tIns="45720" rIns="91440" bIns="45720" rtlCol="0" anchor="ctr"/>
          <a:lstStyle/>
          <a:p>
            <a:pPr algn="l"/>
            <a:endParaRPr kumimoji="1" lang="zh-CN" altLang="en-US"/>
          </a:p>
        </p:txBody>
      </p:sp>
      <p:sp>
        <p:nvSpPr>
          <p:cNvPr id="12" name="标题 1"/>
          <p:cNvSpPr txBox="1"/>
          <p:nvPr/>
        </p:nvSpPr>
        <p:spPr>
          <a:xfrm>
            <a:off x="1365076" y="1463862"/>
            <a:ext cx="9846853" cy="1294838"/>
          </a:xfrm>
          <a:prstGeom prst="rect">
            <a:avLst/>
          </a:prstGeom>
          <a:noFill/>
          <a:ln>
            <a:noFill/>
          </a:ln>
        </p:spPr>
        <p:txBody>
          <a:bodyPr vert="horz" wrap="square" lIns="0" tIns="0" rIns="0" bIns="0" rtlCol="0" anchor="t"/>
          <a:lstStyle/>
          <a:p>
            <a:pPr algn="l"/>
            <a:r>
              <a:rPr kumimoji="1" lang="en-US" altLang="zh-CN" sz="1600">
                <a:ln w="12700">
                  <a:noFill/>
                </a:ln>
                <a:solidFill>
                  <a:srgbClr val="262626">
                    <a:alpha val="100000"/>
                  </a:srgbClr>
                </a:solidFill>
                <a:latin typeface="poppins-bold"/>
                <a:ea typeface="poppins-bold"/>
                <a:cs typeface="poppins-bold"/>
              </a:rPr>
              <a:t>Zonas de Seguridad Aisladas</a:t>
            </a:r>
            <a:endParaRPr kumimoji="1" lang="zh-CN" altLang="en-US"/>
          </a:p>
        </p:txBody>
      </p:sp>
      <p:sp>
        <p:nvSpPr>
          <p:cNvPr id="13"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Microsegmentación y Firewalls Internos</a:t>
            </a:r>
            <a:endParaRPr kumimoji="1" lang="zh-CN" altLang="en-US"/>
          </a:p>
        </p:txBody>
      </p:sp>
      <p:sp>
        <p:nvSpPr>
          <p:cNvPr id="14"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16" name="Imagen 15">
            <a:extLst>
              <a:ext uri="{FF2B5EF4-FFF2-40B4-BE49-F238E27FC236}">
                <a16:creationId xmlns:a16="http://schemas.microsoft.com/office/drawing/2014/main" id="{672D847A-52E9-E2E9-687F-192FFF58A9A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2891356" y="5137009"/>
            <a:ext cx="540000" cy="997091"/>
          </a:xfrm>
          <a:prstGeom prst="roundRect">
            <a:avLst>
              <a:gd name="adj" fmla="val 50000"/>
            </a:avLst>
          </a:prstGeom>
          <a:solidFill>
            <a:schemeClr val="tx2">
              <a:alpha val="20000"/>
            </a:schemeClr>
          </a:solidFill>
          <a:ln>
            <a:noFill/>
          </a:ln>
        </p:spPr>
        <p:txBody>
          <a:bodyPr vert="horz" wrap="none" lIns="108000" tIns="108000" rIns="108000" bIns="108000" rtlCol="0" anchor="ctr"/>
          <a:lstStyle/>
          <a:p>
            <a:pPr algn="ctr"/>
            <a:endParaRPr kumimoji="1" lang="zh-CN" altLang="en-US"/>
          </a:p>
        </p:txBody>
      </p:sp>
      <p:sp>
        <p:nvSpPr>
          <p:cNvPr id="3" name="标题 1"/>
          <p:cNvSpPr txBox="1"/>
          <p:nvPr/>
        </p:nvSpPr>
        <p:spPr>
          <a:xfrm>
            <a:off x="2891356" y="5137009"/>
            <a:ext cx="540000" cy="498546"/>
          </a:xfrm>
          <a:prstGeom prst="roundRect">
            <a:avLst>
              <a:gd name="adj" fmla="val 50000"/>
            </a:avLst>
          </a:prstGeom>
          <a:solidFill>
            <a:schemeClr val="accent2"/>
          </a:solidFill>
          <a:ln>
            <a:noFill/>
          </a:ln>
        </p:spPr>
        <p:txBody>
          <a:bodyPr vert="horz" wrap="none" lIns="108000" tIns="108000" rIns="108000" bIns="108000" rtlCol="0" anchor="ctr"/>
          <a:lstStyle/>
          <a:p>
            <a:pPr algn="ctr"/>
            <a:r>
              <a:rPr kumimoji="1" lang="en-US" altLang="zh-CN" sz="2000">
                <a:ln w="12700">
                  <a:noFill/>
                </a:ln>
                <a:solidFill>
                  <a:srgbClr val="FFFFFF">
                    <a:alpha val="100000"/>
                  </a:srgbClr>
                </a:solidFill>
                <a:latin typeface="poppins-bold"/>
                <a:ea typeface="poppins-bold"/>
                <a:cs typeface="poppins-bold"/>
              </a:rPr>
              <a:t>03</a:t>
            </a:r>
            <a:endParaRPr kumimoji="1" lang="zh-CN" altLang="en-US"/>
          </a:p>
        </p:txBody>
      </p:sp>
      <p:sp>
        <p:nvSpPr>
          <p:cNvPr id="4" name="标题 1"/>
          <p:cNvSpPr txBox="1"/>
          <p:nvPr/>
        </p:nvSpPr>
        <p:spPr>
          <a:xfrm>
            <a:off x="3540245" y="5356085"/>
            <a:ext cx="5760400" cy="828000"/>
          </a:xfrm>
          <a:prstGeom prst="rect">
            <a:avLst/>
          </a:prstGeom>
          <a:noFill/>
          <a:ln w="12700" cap="sq">
            <a:noFill/>
            <a:miter/>
          </a:ln>
        </p:spPr>
        <p:txBody>
          <a:bodyPr vert="horz" wrap="square" lIns="108000" tIns="108000" rIns="108000" bIns="108000" rtlCol="0" anchor="t"/>
          <a:lstStyle/>
          <a:p>
            <a:pPr algn="l"/>
            <a:r>
              <a:rPr kumimoji="1" lang="en-US" altLang="zh-CN" sz="1400">
                <a:ln w="12700">
                  <a:noFill/>
                </a:ln>
                <a:solidFill>
                  <a:srgbClr val="404040">
                    <a:alpha val="100000"/>
                  </a:srgbClr>
                </a:solidFill>
                <a:latin typeface="Poppins"/>
                <a:ea typeface="Poppins"/>
                <a:cs typeface="Poppins"/>
              </a:rPr>
              <a:t>Aplicación de políticas de seguridad restrictivas.</a:t>
            </a:r>
            <a:endParaRPr kumimoji="1" lang="zh-CN" altLang="en-US"/>
          </a:p>
        </p:txBody>
      </p:sp>
      <p:sp>
        <p:nvSpPr>
          <p:cNvPr id="5" name="标题 1"/>
          <p:cNvSpPr txBox="1"/>
          <p:nvPr/>
        </p:nvSpPr>
        <p:spPr>
          <a:xfrm>
            <a:off x="2891356" y="3945093"/>
            <a:ext cx="540000" cy="997091"/>
          </a:xfrm>
          <a:prstGeom prst="roundRect">
            <a:avLst>
              <a:gd name="adj" fmla="val 50000"/>
            </a:avLst>
          </a:prstGeom>
          <a:solidFill>
            <a:schemeClr val="tx2">
              <a:alpha val="20000"/>
            </a:schemeClr>
          </a:solidFill>
          <a:ln>
            <a:noFill/>
          </a:ln>
        </p:spPr>
        <p:txBody>
          <a:bodyPr vert="horz" wrap="none" lIns="108000" tIns="108000" rIns="108000" bIns="108000" rtlCol="0" anchor="ctr"/>
          <a:lstStyle/>
          <a:p>
            <a:pPr algn="ctr"/>
            <a:endParaRPr kumimoji="1" lang="zh-CN" altLang="en-US"/>
          </a:p>
        </p:txBody>
      </p:sp>
      <p:sp>
        <p:nvSpPr>
          <p:cNvPr id="6" name="标题 1"/>
          <p:cNvSpPr txBox="1"/>
          <p:nvPr/>
        </p:nvSpPr>
        <p:spPr>
          <a:xfrm>
            <a:off x="2891356" y="3945093"/>
            <a:ext cx="540000" cy="498546"/>
          </a:xfrm>
          <a:prstGeom prst="roundRect">
            <a:avLst>
              <a:gd name="adj" fmla="val 50000"/>
            </a:avLst>
          </a:prstGeom>
          <a:solidFill>
            <a:schemeClr val="accent1"/>
          </a:solidFill>
          <a:ln>
            <a:noFill/>
          </a:ln>
        </p:spPr>
        <p:txBody>
          <a:bodyPr vert="horz" wrap="none" lIns="108000" tIns="108000" rIns="108000" bIns="108000" rtlCol="0" anchor="ctr"/>
          <a:lstStyle/>
          <a:p>
            <a:pPr algn="ctr"/>
            <a:r>
              <a:rPr kumimoji="1" lang="en-US" altLang="zh-CN" sz="2000">
                <a:ln w="12700">
                  <a:noFill/>
                </a:ln>
                <a:solidFill>
                  <a:srgbClr val="FFFFFF">
                    <a:alpha val="100000"/>
                  </a:srgbClr>
                </a:solidFill>
                <a:latin typeface="poppins-bold"/>
                <a:ea typeface="poppins-bold"/>
                <a:cs typeface="poppins-bold"/>
              </a:rPr>
              <a:t>02</a:t>
            </a:r>
            <a:endParaRPr kumimoji="1" lang="zh-CN" altLang="en-US"/>
          </a:p>
        </p:txBody>
      </p:sp>
      <p:sp>
        <p:nvSpPr>
          <p:cNvPr id="7" name="标题 1"/>
          <p:cNvSpPr txBox="1"/>
          <p:nvPr/>
        </p:nvSpPr>
        <p:spPr>
          <a:xfrm>
            <a:off x="3540245" y="4164169"/>
            <a:ext cx="5760400" cy="828000"/>
          </a:xfrm>
          <a:prstGeom prst="rect">
            <a:avLst/>
          </a:prstGeom>
          <a:noFill/>
          <a:ln w="12700" cap="sq">
            <a:noFill/>
            <a:miter/>
          </a:ln>
        </p:spPr>
        <p:txBody>
          <a:bodyPr vert="horz" wrap="square" lIns="108000" tIns="108000" rIns="108000" bIns="108000" rtlCol="0" anchor="t"/>
          <a:lstStyle/>
          <a:p>
            <a:pPr algn="l"/>
            <a:r>
              <a:rPr kumimoji="1" lang="en-US" altLang="zh-CN" sz="1400">
                <a:ln w="12700">
                  <a:noFill/>
                </a:ln>
                <a:solidFill>
                  <a:srgbClr val="404040">
                    <a:alpha val="100000"/>
                  </a:srgbClr>
                </a:solidFill>
                <a:latin typeface="Poppins"/>
                <a:ea typeface="Poppins"/>
                <a:cs typeface="Poppins"/>
              </a:rPr>
              <a:t>Cambio de credenciales por defecto.</a:t>
            </a:r>
            <a:endParaRPr kumimoji="1" lang="zh-CN" altLang="en-US"/>
          </a:p>
        </p:txBody>
      </p:sp>
      <p:sp>
        <p:nvSpPr>
          <p:cNvPr id="8" name="标题 1"/>
          <p:cNvSpPr txBox="1"/>
          <p:nvPr/>
        </p:nvSpPr>
        <p:spPr>
          <a:xfrm>
            <a:off x="2891356" y="2534100"/>
            <a:ext cx="540000" cy="997091"/>
          </a:xfrm>
          <a:prstGeom prst="roundRect">
            <a:avLst>
              <a:gd name="adj" fmla="val 50000"/>
            </a:avLst>
          </a:prstGeom>
          <a:solidFill>
            <a:schemeClr val="tx2">
              <a:alpha val="20000"/>
            </a:schemeClr>
          </a:solidFill>
          <a:ln>
            <a:noFill/>
          </a:ln>
        </p:spPr>
        <p:txBody>
          <a:bodyPr vert="horz" wrap="none" lIns="108000" tIns="108000" rIns="108000" bIns="108000" rtlCol="0" anchor="ctr"/>
          <a:lstStyle/>
          <a:p>
            <a:pPr algn="ctr"/>
            <a:endParaRPr kumimoji="1" lang="zh-CN" altLang="en-US"/>
          </a:p>
        </p:txBody>
      </p:sp>
      <p:sp>
        <p:nvSpPr>
          <p:cNvPr id="9" name="标题 1"/>
          <p:cNvSpPr txBox="1"/>
          <p:nvPr/>
        </p:nvSpPr>
        <p:spPr>
          <a:xfrm>
            <a:off x="2891356" y="2534100"/>
            <a:ext cx="540000" cy="498546"/>
          </a:xfrm>
          <a:prstGeom prst="roundRect">
            <a:avLst>
              <a:gd name="adj" fmla="val 50000"/>
            </a:avLst>
          </a:prstGeom>
          <a:solidFill>
            <a:schemeClr val="accent1"/>
          </a:solidFill>
          <a:ln>
            <a:noFill/>
          </a:ln>
        </p:spPr>
        <p:txBody>
          <a:bodyPr vert="horz" wrap="none" lIns="108000" tIns="108000" rIns="108000" bIns="108000" rtlCol="0" anchor="ctr"/>
          <a:lstStyle/>
          <a:p>
            <a:pPr algn="ctr"/>
            <a:r>
              <a:rPr kumimoji="1" lang="en-US" altLang="zh-CN" sz="2000">
                <a:ln w="12700">
                  <a:noFill/>
                </a:ln>
                <a:solidFill>
                  <a:srgbClr val="FFFFFF">
                    <a:alpha val="100000"/>
                  </a:srgbClr>
                </a:solidFill>
                <a:latin typeface="poppins-bold"/>
                <a:ea typeface="poppins-bold"/>
                <a:cs typeface="poppins-bold"/>
              </a:rPr>
              <a:t>01</a:t>
            </a:r>
            <a:endParaRPr kumimoji="1" lang="zh-CN" altLang="en-US"/>
          </a:p>
        </p:txBody>
      </p:sp>
      <p:sp>
        <p:nvSpPr>
          <p:cNvPr id="10" name="标题 1"/>
          <p:cNvSpPr txBox="1"/>
          <p:nvPr/>
        </p:nvSpPr>
        <p:spPr>
          <a:xfrm>
            <a:off x="3540245" y="2753177"/>
            <a:ext cx="5760400" cy="828000"/>
          </a:xfrm>
          <a:prstGeom prst="rect">
            <a:avLst/>
          </a:prstGeom>
          <a:noFill/>
          <a:ln w="12700" cap="sq">
            <a:noFill/>
            <a:miter/>
          </a:ln>
        </p:spPr>
        <p:txBody>
          <a:bodyPr vert="horz" wrap="square" lIns="108000" tIns="108000" rIns="108000" bIns="108000" rtlCol="0" anchor="t"/>
          <a:lstStyle/>
          <a:p>
            <a:pPr algn="l"/>
            <a:r>
              <a:rPr kumimoji="1" lang="en-US" altLang="zh-CN" sz="1400">
                <a:ln w="12700">
                  <a:noFill/>
                </a:ln>
                <a:solidFill>
                  <a:srgbClr val="404040">
                    <a:alpha val="100000"/>
                  </a:srgbClr>
                </a:solidFill>
                <a:latin typeface="Poppins"/>
                <a:ea typeface="Poppins"/>
                <a:cs typeface="Poppins"/>
              </a:rPr>
              <a:t>Desactivación de servicios y puertos innecesarios.</a:t>
            </a:r>
            <a:endParaRPr kumimoji="1" lang="zh-CN" altLang="en-US"/>
          </a:p>
        </p:txBody>
      </p:sp>
      <p:sp>
        <p:nvSpPr>
          <p:cNvPr id="11" name="标题 1"/>
          <p:cNvSpPr txBox="1"/>
          <p:nvPr/>
        </p:nvSpPr>
        <p:spPr>
          <a:xfrm rot="10800000" flipV="1">
            <a:off x="1192530" y="1113957"/>
            <a:ext cx="7391400" cy="1006241"/>
          </a:xfrm>
          <a:prstGeom prst="roundRect">
            <a:avLst>
              <a:gd name="adj" fmla="val 5338"/>
            </a:avLst>
          </a:prstGeom>
          <a:solidFill>
            <a:schemeClr val="bg1"/>
          </a:solidFill>
          <a:ln w="6350" cap="sq">
            <a:solidFill>
              <a:schemeClr val="bg1">
                <a:lumMod val="85000"/>
              </a:schemeClr>
            </a:solidFill>
            <a:miter/>
          </a:ln>
          <a:effectLst/>
        </p:spPr>
        <p:txBody>
          <a:bodyPr vert="horz" wrap="square" lIns="91440" tIns="45720" rIns="91440" bIns="45720" rtlCol="0" anchor="ctr"/>
          <a:lstStyle/>
          <a:p>
            <a:pPr algn="ctr"/>
            <a:endParaRPr kumimoji="1" lang="zh-CN" altLang="en-US"/>
          </a:p>
        </p:txBody>
      </p:sp>
      <p:sp>
        <p:nvSpPr>
          <p:cNvPr id="12" name="标题 1"/>
          <p:cNvSpPr txBox="1"/>
          <p:nvPr/>
        </p:nvSpPr>
        <p:spPr>
          <a:xfrm>
            <a:off x="1493685" y="1219271"/>
            <a:ext cx="9191931" cy="795614"/>
          </a:xfrm>
          <a:prstGeom prst="rect">
            <a:avLst/>
          </a:prstGeom>
          <a:noFill/>
          <a:ln>
            <a:noFill/>
          </a:ln>
        </p:spPr>
        <p:txBody>
          <a:bodyPr vert="horz" wrap="square" lIns="0" tIns="0" rIns="0" bIns="0" rtlCol="0" anchor="t"/>
          <a:lstStyle/>
          <a:p>
            <a:pPr algn="l"/>
            <a:r>
              <a:rPr kumimoji="1" lang="en-US" altLang="zh-CN" sz="1600">
                <a:ln w="12700">
                  <a:noFill/>
                </a:ln>
                <a:solidFill>
                  <a:srgbClr val="262626">
                    <a:alpha val="100000"/>
                  </a:srgbClr>
                </a:solidFill>
                <a:latin typeface="poppins-bold"/>
                <a:ea typeface="poppins-bold"/>
                <a:cs typeface="poppins-bold"/>
              </a:rPr>
              <a:t>Proceso de Endurecimiento</a:t>
            </a:r>
            <a:endParaRPr kumimoji="1" lang="zh-CN" altLang="en-US"/>
          </a:p>
        </p:txBody>
      </p:sp>
      <p:sp>
        <p:nvSpPr>
          <p:cNvPr id="13"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Hardening de Sistemas</a:t>
            </a:r>
            <a:endParaRPr kumimoji="1" lang="zh-CN" altLang="en-US"/>
          </a:p>
        </p:txBody>
      </p:sp>
      <p:sp>
        <p:nvSpPr>
          <p:cNvPr id="14"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17" name="Imagen 16">
            <a:extLst>
              <a:ext uri="{FF2B5EF4-FFF2-40B4-BE49-F238E27FC236}">
                <a16:creationId xmlns:a16="http://schemas.microsoft.com/office/drawing/2014/main" id="{8D3C29CA-0E5B-5270-760A-806D65B510F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930800" y="1911269"/>
            <a:ext cx="1755485" cy="1117115"/>
          </a:xfrm>
          <a:prstGeom prst="rect">
            <a:avLst/>
          </a:prstGeom>
          <a:noFill/>
          <a:ln w="12700" cap="sq">
            <a:noFill/>
            <a:miter/>
          </a:ln>
        </p:spPr>
        <p:txBody>
          <a:bodyPr vert="horz" wrap="square" lIns="0" tIns="0" rIns="0" bIns="0" rtlCol="0" anchor="ctr"/>
          <a:lstStyle/>
          <a:p>
            <a:pPr algn="l"/>
            <a:r>
              <a:rPr kumimoji="1" lang="en-US" altLang="zh-CN" sz="8000" dirty="0">
                <a:ln w="12700">
                  <a:noFill/>
                </a:ln>
                <a:solidFill>
                  <a:srgbClr val="262626">
                    <a:alpha val="100000"/>
                  </a:srgbClr>
                </a:solidFill>
                <a:latin typeface="poppins-bold"/>
                <a:ea typeface="poppins-bold"/>
                <a:cs typeface="poppins-bold"/>
              </a:rPr>
              <a:t> 04</a:t>
            </a:r>
            <a:endParaRPr kumimoji="1" lang="zh-CN" altLang="en-US" dirty="0"/>
          </a:p>
        </p:txBody>
      </p:sp>
      <p:sp>
        <p:nvSpPr>
          <p:cNvPr id="7" name="标题 1"/>
          <p:cNvSpPr txBox="1"/>
          <p:nvPr/>
        </p:nvSpPr>
        <p:spPr>
          <a:xfrm>
            <a:off x="1808542" y="3028384"/>
            <a:ext cx="5911783" cy="2020369"/>
          </a:xfrm>
          <a:prstGeom prst="rect">
            <a:avLst/>
          </a:prstGeom>
          <a:noFill/>
          <a:ln w="12700" cap="sq">
            <a:noFill/>
            <a:miter/>
          </a:ln>
        </p:spPr>
        <p:txBody>
          <a:bodyPr vert="horz" wrap="square" lIns="0" tIns="0" rIns="0" bIns="0" rtlCol="0" anchor="t"/>
          <a:lstStyle/>
          <a:p>
            <a:pPr algn="l"/>
            <a:r>
              <a:rPr kumimoji="1" lang="en-US" altLang="zh-CN" sz="2400">
                <a:ln w="12700">
                  <a:noFill/>
                </a:ln>
                <a:solidFill>
                  <a:srgbClr val="262626">
                    <a:alpha val="100000"/>
                  </a:srgbClr>
                </a:solidFill>
                <a:latin typeface="poppins-bold"/>
                <a:ea typeface="poppins-bold"/>
                <a:cs typeface="poppins-bold"/>
              </a:rPr>
              <a:t>Buenas Prácticas de Protección Perimetral del Centro de Cómputo</a:t>
            </a:r>
            <a:endParaRPr kumimoji="1" lang="zh-CN" altLang="en-US"/>
          </a:p>
        </p:txBody>
      </p:sp>
      <p:pic>
        <p:nvPicPr>
          <p:cNvPr id="10" name="Imagen 9">
            <a:extLst>
              <a:ext uri="{FF2B5EF4-FFF2-40B4-BE49-F238E27FC236}">
                <a16:creationId xmlns:a16="http://schemas.microsoft.com/office/drawing/2014/main" id="{DB2F3DC3-2D49-9986-D54B-80080E8D4D5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n 1"/>
          <p:cNvPicPr>
            <a:picLocks noChangeAspect="1"/>
          </p:cNvPicPr>
          <p:nvPr/>
        </p:nvPicPr>
        <p:blipFill>
          <a:blip r:embed="rId2">
            <a:alphaModFix/>
          </a:blip>
          <a:srcRect l="1699" t="16798" r="57525" b="22030"/>
          <a:stretch>
            <a:fillRect/>
          </a:stretch>
        </p:blipFill>
        <p:spPr>
          <a:xfrm>
            <a:off x="660400" y="1130300"/>
            <a:ext cx="2823580" cy="5003800"/>
          </a:xfrm>
          <a:custGeom>
            <a:avLst/>
            <a:gdLst/>
            <a:ahLst/>
            <a:cxnLst/>
            <a:rect l="l" t="t" r="r" b="b"/>
            <a:pathLst>
              <a:path w="2823580" h="5003800">
                <a:moveTo>
                  <a:pt x="217698" y="0"/>
                </a:moveTo>
                <a:lnTo>
                  <a:pt x="2605882" y="0"/>
                </a:lnTo>
                <a:cubicBezTo>
                  <a:pt x="2726113" y="0"/>
                  <a:pt x="2823580" y="97467"/>
                  <a:pt x="2823580" y="217698"/>
                </a:cubicBezTo>
                <a:lnTo>
                  <a:pt x="2823580" y="4786102"/>
                </a:lnTo>
                <a:cubicBezTo>
                  <a:pt x="2823580" y="4906333"/>
                  <a:pt x="2726113" y="5003800"/>
                  <a:pt x="2605882" y="5003800"/>
                </a:cubicBezTo>
                <a:lnTo>
                  <a:pt x="217698" y="5003800"/>
                </a:lnTo>
                <a:cubicBezTo>
                  <a:pt x="97467" y="5003800"/>
                  <a:pt x="0" y="4906333"/>
                  <a:pt x="0" y="4786102"/>
                </a:cubicBezTo>
                <a:lnTo>
                  <a:pt x="0" y="217698"/>
                </a:lnTo>
                <a:cubicBezTo>
                  <a:pt x="0" y="97467"/>
                  <a:pt x="97467" y="0"/>
                  <a:pt x="217698" y="0"/>
                </a:cubicBezTo>
                <a:close/>
              </a:path>
            </a:pathLst>
          </a:custGeom>
          <a:noFill/>
          <a:ln>
            <a:noFill/>
          </a:ln>
        </p:spPr>
      </p:pic>
      <p:pic>
        <p:nvPicPr>
          <p:cNvPr id="3" name="Imagen 2"/>
          <p:cNvPicPr>
            <a:picLocks noChangeAspect="1"/>
          </p:cNvPicPr>
          <p:nvPr/>
        </p:nvPicPr>
        <p:blipFill>
          <a:blip r:embed="rId3">
            <a:alphaModFix/>
          </a:blip>
          <a:srcRect l="1699" t="16798" r="57525" b="22030"/>
          <a:stretch>
            <a:fillRect/>
          </a:stretch>
        </p:blipFill>
        <p:spPr>
          <a:xfrm>
            <a:off x="3707126" y="2620650"/>
            <a:ext cx="3298654" cy="1506133"/>
          </a:xfrm>
          <a:custGeom>
            <a:avLst/>
            <a:gdLst/>
            <a:ahLst/>
            <a:cxnLst/>
            <a:rect l="l" t="t" r="r" b="b"/>
            <a:pathLst>
              <a:path w="3298654" h="1506133">
                <a:moveTo>
                  <a:pt x="210250" y="0"/>
                </a:moveTo>
                <a:lnTo>
                  <a:pt x="3088404" y="0"/>
                </a:lnTo>
                <a:cubicBezTo>
                  <a:pt x="3204522" y="0"/>
                  <a:pt x="3298654" y="70803"/>
                  <a:pt x="3298654" y="158144"/>
                </a:cubicBezTo>
                <a:lnTo>
                  <a:pt x="3298654" y="1347989"/>
                </a:lnTo>
                <a:cubicBezTo>
                  <a:pt x="3298654" y="1435330"/>
                  <a:pt x="3204522" y="1506133"/>
                  <a:pt x="3088404" y="1506133"/>
                </a:cubicBezTo>
                <a:lnTo>
                  <a:pt x="210250" y="1506133"/>
                </a:lnTo>
                <a:cubicBezTo>
                  <a:pt x="94132" y="1506133"/>
                  <a:pt x="0" y="1435330"/>
                  <a:pt x="0" y="1347989"/>
                </a:cubicBezTo>
                <a:lnTo>
                  <a:pt x="0" y="158144"/>
                </a:lnTo>
                <a:cubicBezTo>
                  <a:pt x="0" y="70803"/>
                  <a:pt x="94132" y="0"/>
                  <a:pt x="210250" y="0"/>
                </a:cubicBezTo>
                <a:close/>
              </a:path>
            </a:pathLst>
          </a:custGeom>
          <a:noFill/>
          <a:ln>
            <a:noFill/>
          </a:ln>
        </p:spPr>
      </p:pic>
      <p:pic>
        <p:nvPicPr>
          <p:cNvPr id="4" name="Imagen 3"/>
          <p:cNvPicPr>
            <a:picLocks noChangeAspect="1"/>
          </p:cNvPicPr>
          <p:nvPr/>
        </p:nvPicPr>
        <p:blipFill>
          <a:blip r:embed="rId4">
            <a:alphaModFix/>
          </a:blip>
          <a:srcRect l="1699" t="16798" r="57525" b="22030"/>
          <a:stretch>
            <a:fillRect/>
          </a:stretch>
        </p:blipFill>
        <p:spPr>
          <a:xfrm>
            <a:off x="7387691" y="2620651"/>
            <a:ext cx="3297600" cy="1506133"/>
          </a:xfrm>
          <a:custGeom>
            <a:avLst/>
            <a:gdLst/>
            <a:ahLst/>
            <a:cxnLst/>
            <a:rect l="l" t="t" r="r" b="b"/>
            <a:pathLst>
              <a:path w="3297600" h="1506133">
                <a:moveTo>
                  <a:pt x="210183" y="0"/>
                </a:moveTo>
                <a:lnTo>
                  <a:pt x="3087417" y="0"/>
                </a:lnTo>
                <a:cubicBezTo>
                  <a:pt x="3203499" y="0"/>
                  <a:pt x="3297600" y="70803"/>
                  <a:pt x="3297600" y="158144"/>
                </a:cubicBezTo>
                <a:lnTo>
                  <a:pt x="3297600" y="1347989"/>
                </a:lnTo>
                <a:cubicBezTo>
                  <a:pt x="3297600" y="1435330"/>
                  <a:pt x="3203499" y="1506133"/>
                  <a:pt x="3087417" y="1506133"/>
                </a:cubicBezTo>
                <a:lnTo>
                  <a:pt x="210183" y="1506133"/>
                </a:lnTo>
                <a:cubicBezTo>
                  <a:pt x="94101" y="1506133"/>
                  <a:pt x="0" y="1435330"/>
                  <a:pt x="0" y="1347989"/>
                </a:cubicBezTo>
                <a:lnTo>
                  <a:pt x="0" y="158144"/>
                </a:lnTo>
                <a:cubicBezTo>
                  <a:pt x="0" y="70803"/>
                  <a:pt x="94101" y="0"/>
                  <a:pt x="210183" y="0"/>
                </a:cubicBezTo>
                <a:close/>
              </a:path>
            </a:pathLst>
          </a:custGeom>
          <a:noFill/>
          <a:ln>
            <a:noFill/>
          </a:ln>
        </p:spPr>
      </p:pic>
      <p:sp>
        <p:nvSpPr>
          <p:cNvPr id="5" name="标题 1"/>
          <p:cNvSpPr txBox="1"/>
          <p:nvPr/>
        </p:nvSpPr>
        <p:spPr>
          <a:xfrm flipH="1">
            <a:off x="3694423" y="1491889"/>
            <a:ext cx="118034" cy="866105"/>
          </a:xfrm>
          <a:prstGeom prst="roundRect">
            <a:avLst>
              <a:gd name="adj" fmla="val 44900"/>
            </a:avLst>
          </a:prstGeom>
          <a:solidFill>
            <a:schemeClr val="accent1"/>
          </a:solidFill>
          <a:ln w="12700" cap="rnd">
            <a:noFill/>
            <a:round/>
            <a:headEnd/>
            <a:tailEnd/>
          </a:ln>
          <a:effectLst/>
        </p:spPr>
        <p:txBody>
          <a:bodyPr vert="horz" wrap="square" lIns="91440" tIns="45720" rIns="91440" bIns="45720" rtlCol="0" anchor="ctr"/>
          <a:lstStyle/>
          <a:p>
            <a:pPr algn="ctr"/>
            <a:endParaRPr kumimoji="1" lang="zh-CN" altLang="en-US"/>
          </a:p>
        </p:txBody>
      </p:sp>
      <p:cxnSp>
        <p:nvCxnSpPr>
          <p:cNvPr id="6" name="标题 1"/>
          <p:cNvCxnSpPr/>
          <p:nvPr/>
        </p:nvCxnSpPr>
        <p:spPr>
          <a:xfrm flipH="1">
            <a:off x="3769538" y="6072415"/>
            <a:ext cx="1482193" cy="0"/>
          </a:xfrm>
          <a:prstGeom prst="line">
            <a:avLst/>
          </a:prstGeom>
          <a:noFill/>
          <a:ln w="76200" cap="rnd">
            <a:gradFill>
              <a:gsLst>
                <a:gs pos="20000">
                  <a:schemeClr val="accent1">
                    <a:lumMod val="60000"/>
                    <a:lumOff val="40000"/>
                  </a:schemeClr>
                </a:gs>
                <a:gs pos="100000">
                  <a:schemeClr val="bg1">
                    <a:lumMod val="95000"/>
                    <a:alpha val="0"/>
                  </a:schemeClr>
                </a:gs>
              </a:gsLst>
              <a:lin ang="12000000" scaled="0"/>
            </a:gradFill>
            <a:round/>
          </a:ln>
        </p:spPr>
      </p:cxnSp>
      <p:cxnSp>
        <p:nvCxnSpPr>
          <p:cNvPr id="7" name="标题 1"/>
          <p:cNvCxnSpPr/>
          <p:nvPr/>
        </p:nvCxnSpPr>
        <p:spPr>
          <a:xfrm flipH="1">
            <a:off x="7450105" y="6056547"/>
            <a:ext cx="3235186" cy="0"/>
          </a:xfrm>
          <a:prstGeom prst="line">
            <a:avLst/>
          </a:prstGeom>
          <a:noFill/>
          <a:ln w="76200" cap="rnd">
            <a:gradFill>
              <a:gsLst>
                <a:gs pos="20000">
                  <a:schemeClr val="accent1">
                    <a:lumMod val="40000"/>
                    <a:lumOff val="60000"/>
                  </a:schemeClr>
                </a:gs>
                <a:gs pos="100000">
                  <a:schemeClr val="bg1">
                    <a:lumMod val="95000"/>
                    <a:alpha val="0"/>
                  </a:schemeClr>
                </a:gs>
              </a:gsLst>
              <a:lin ang="12000000" scaled="0"/>
            </a:gradFill>
            <a:round/>
          </a:ln>
        </p:spPr>
      </p:cxnSp>
      <p:sp>
        <p:nvSpPr>
          <p:cNvPr id="8" name="标题 1"/>
          <p:cNvSpPr txBox="1"/>
          <p:nvPr/>
        </p:nvSpPr>
        <p:spPr>
          <a:xfrm>
            <a:off x="3707125" y="4490115"/>
            <a:ext cx="3297600" cy="112108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Vallas y guardias 24/7.</a:t>
            </a:r>
            <a:endParaRPr kumimoji="1" lang="zh-CN" altLang="en-US"/>
          </a:p>
        </p:txBody>
      </p:sp>
      <p:sp>
        <p:nvSpPr>
          <p:cNvPr id="9" name="标题 1"/>
          <p:cNvSpPr txBox="1"/>
          <p:nvPr/>
        </p:nvSpPr>
        <p:spPr>
          <a:xfrm>
            <a:off x="7387692" y="4490114"/>
            <a:ext cx="3297600" cy="1121080"/>
          </a:xfrm>
          <a:prstGeom prst="rect">
            <a:avLst/>
          </a:prstGeom>
          <a:noFill/>
          <a:ln>
            <a:noFill/>
          </a:ln>
        </p:spPr>
        <p:txBody>
          <a:bodyPr vert="horz" wrap="square" lIns="0" tIns="0" rIns="0" bIns="0" rtlCol="0" anchor="t"/>
          <a:lstStyle/>
          <a:p>
            <a:pPr algn="l"/>
            <a:r>
              <a:rPr kumimoji="1" lang="en-US" altLang="zh-CN" sz="1400">
                <a:ln w="12700">
                  <a:noFill/>
                </a:ln>
                <a:solidFill>
                  <a:srgbClr val="262626">
                    <a:alpha val="100000"/>
                  </a:srgbClr>
                </a:solidFill>
                <a:latin typeface="Poppins"/>
                <a:ea typeface="Poppins"/>
                <a:cs typeface="Poppins"/>
              </a:rPr>
              <a:t>Control riguroso de acceso.</a:t>
            </a:r>
            <a:endParaRPr kumimoji="1" lang="zh-CN" altLang="en-US"/>
          </a:p>
        </p:txBody>
      </p:sp>
      <p:sp>
        <p:nvSpPr>
          <p:cNvPr id="10" name="标题 1"/>
          <p:cNvSpPr txBox="1"/>
          <p:nvPr/>
        </p:nvSpPr>
        <p:spPr>
          <a:xfrm>
            <a:off x="4000042" y="1491879"/>
            <a:ext cx="6530463" cy="866124"/>
          </a:xfrm>
          <a:prstGeom prst="rect">
            <a:avLst/>
          </a:prstGeom>
          <a:noFill/>
          <a:ln>
            <a:noFill/>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Seguridad del Campus</a:t>
            </a:r>
            <a:endParaRPr kumimoji="1" lang="zh-CN" altLang="en-US"/>
          </a:p>
        </p:txBody>
      </p:sp>
      <p:sp>
        <p:nvSpPr>
          <p:cNvPr id="11"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El Perímetro Físico (La Muralla Exterior)</a:t>
            </a:r>
            <a:endParaRPr kumimoji="1" lang="zh-CN" altLang="en-US"/>
          </a:p>
        </p:txBody>
      </p:sp>
      <p:sp>
        <p:nvSpPr>
          <p:cNvPr id="12"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14" name="Imagen 13">
            <a:extLst>
              <a:ext uri="{FF2B5EF4-FFF2-40B4-BE49-F238E27FC236}">
                <a16:creationId xmlns:a16="http://schemas.microsoft.com/office/drawing/2014/main" id="{AC330428-4848-7316-2011-BD01372D7E1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Imagen 1"/>
          <p:cNvPicPr>
            <a:picLocks noChangeAspect="1"/>
          </p:cNvPicPr>
          <p:nvPr/>
        </p:nvPicPr>
        <p:blipFill>
          <a:blip r:embed="rId2">
            <a:alphaModFix/>
          </a:blip>
          <a:srcRect/>
          <a:stretch>
            <a:fillRect/>
          </a:stretch>
        </p:blipFill>
        <p:spPr>
          <a:xfrm>
            <a:off x="1015070" y="3431751"/>
            <a:ext cx="5590517" cy="3426249"/>
          </a:xfrm>
          <a:prstGeom prst="rect">
            <a:avLst/>
          </a:prstGeom>
          <a:noFill/>
          <a:ln>
            <a:noFill/>
          </a:ln>
        </p:spPr>
      </p:pic>
      <p:sp>
        <p:nvSpPr>
          <p:cNvPr id="4" name="标题 1"/>
          <p:cNvSpPr txBox="1"/>
          <p:nvPr/>
        </p:nvSpPr>
        <p:spPr>
          <a:xfrm>
            <a:off x="6238876" y="5024102"/>
            <a:ext cx="5280024" cy="1307445"/>
          </a:xfrm>
          <a:prstGeom prst="rect">
            <a:avLst/>
          </a:prstGeom>
          <a:solidFill>
            <a:schemeClr val="bg1"/>
          </a:solidFill>
          <a:ln w="3175" cap="sq">
            <a:solidFill>
              <a:schemeClr val="accent1">
                <a:lumMod val="60000"/>
                <a:lumOff val="40000"/>
              </a:schemeClr>
            </a:solidFill>
          </a:ln>
          <a:effectLst>
            <a:outerShdw blurRad="190500" sx="102000" sy="102000" algn="ctr" rotWithShape="0">
              <a:schemeClr val="accent1">
                <a:alpha val="10000"/>
              </a:schemeClr>
            </a:outerShdw>
          </a:effectLst>
        </p:spPr>
        <p:txBody>
          <a:bodyPr vert="horz" wrap="square" lIns="91440" tIns="45720" rIns="91440" bIns="45720" rtlCol="0" anchor="t"/>
          <a:lstStyle/>
          <a:p>
            <a:pPr algn="l"/>
            <a:endParaRPr kumimoji="1" lang="zh-CN" altLang="en-US"/>
          </a:p>
        </p:txBody>
      </p:sp>
      <p:cxnSp>
        <p:nvCxnSpPr>
          <p:cNvPr id="5" name="标题 1"/>
          <p:cNvCxnSpPr/>
          <p:nvPr/>
        </p:nvCxnSpPr>
        <p:spPr>
          <a:xfrm>
            <a:off x="6265628" y="5024102"/>
            <a:ext cx="0" cy="1307445"/>
          </a:xfrm>
          <a:prstGeom prst="line">
            <a:avLst/>
          </a:prstGeom>
          <a:noFill/>
          <a:ln w="50800" cap="sq">
            <a:solidFill>
              <a:schemeClr val="accent1"/>
            </a:solidFill>
            <a:miter/>
          </a:ln>
        </p:spPr>
      </p:cxnSp>
      <p:sp>
        <p:nvSpPr>
          <p:cNvPr id="6" name="标题 1"/>
          <p:cNvSpPr txBox="1"/>
          <p:nvPr/>
        </p:nvSpPr>
        <p:spPr>
          <a:xfrm>
            <a:off x="1019175" y="1488077"/>
            <a:ext cx="5219701" cy="1714500"/>
          </a:xfrm>
          <a:prstGeom prst="rect">
            <a:avLst/>
          </a:prstGeom>
          <a:noFill/>
          <a:ln>
            <a:noFill/>
          </a:ln>
        </p:spPr>
        <p:txBody>
          <a:bodyPr vert="horz" wrap="square" lIns="0" tIns="0" rIns="0" bIns="0" rtlCol="0" anchor="ctr"/>
          <a:lstStyle/>
          <a:p>
            <a:pPr algn="l"/>
            <a:r>
              <a:rPr kumimoji="1" lang="en-US" altLang="zh-CN" sz="1600">
                <a:ln w="12700">
                  <a:noFill/>
                </a:ln>
                <a:solidFill>
                  <a:srgbClr val="262626">
                    <a:alpha val="100000"/>
                  </a:srgbClr>
                </a:solidFill>
                <a:latin typeface="poppins-bold"/>
                <a:ea typeface="poppins-bold"/>
                <a:cs typeface="poppins-bold"/>
              </a:rPr>
              <a:t>Firewall de Nueva Generación (NGFW) y Sistemas de Prevención de Intrusiones (IPS)</a:t>
            </a:r>
            <a:endParaRPr kumimoji="1" lang="zh-CN" altLang="en-US"/>
          </a:p>
        </p:txBody>
      </p:sp>
      <p:sp>
        <p:nvSpPr>
          <p:cNvPr id="7" name="标题 1"/>
          <p:cNvSpPr txBox="1"/>
          <p:nvPr/>
        </p:nvSpPr>
        <p:spPr>
          <a:xfrm>
            <a:off x="6784975" y="3799477"/>
            <a:ext cx="4737101" cy="952500"/>
          </a:xfrm>
          <a:prstGeom prst="rect">
            <a:avLst/>
          </a:prstGeom>
          <a:noFill/>
          <a:ln>
            <a:noFill/>
          </a:ln>
        </p:spPr>
        <p:txBody>
          <a:bodyPr vert="horz" wrap="square" lIns="0" tIns="0" rIns="0" bIns="0" rtlCol="0" anchor="ctr"/>
          <a:lstStyle/>
          <a:p>
            <a:pPr algn="l"/>
            <a:r>
              <a:rPr kumimoji="1" lang="en-US" altLang="zh-CN" sz="1200">
                <a:ln w="12700">
                  <a:noFill/>
                </a:ln>
                <a:solidFill>
                  <a:srgbClr val="262626">
                    <a:alpha val="100000"/>
                  </a:srgbClr>
                </a:solidFill>
                <a:latin typeface="Poppins"/>
                <a:ea typeface="Poppins"/>
                <a:cs typeface="Poppins"/>
              </a:rPr>
              <a:t>Filtrado de tráfico entrante y saliente.</a:t>
            </a:r>
            <a:endParaRPr kumimoji="1" lang="zh-CN" altLang="en-US"/>
          </a:p>
        </p:txBody>
      </p:sp>
      <p:sp>
        <p:nvSpPr>
          <p:cNvPr id="8" name="标题 1"/>
          <p:cNvSpPr txBox="1"/>
          <p:nvPr/>
        </p:nvSpPr>
        <p:spPr>
          <a:xfrm>
            <a:off x="6784975" y="5196477"/>
            <a:ext cx="4699001" cy="952500"/>
          </a:xfrm>
          <a:prstGeom prst="rect">
            <a:avLst/>
          </a:prstGeom>
          <a:noFill/>
          <a:ln>
            <a:noFill/>
          </a:ln>
        </p:spPr>
        <p:txBody>
          <a:bodyPr vert="horz" wrap="square" lIns="0" tIns="0" rIns="0" bIns="0" rtlCol="0" anchor="ctr"/>
          <a:lstStyle/>
          <a:p>
            <a:pPr algn="l"/>
            <a:r>
              <a:rPr kumimoji="1" lang="en-US" altLang="zh-CN" sz="1200">
                <a:ln w="12700">
                  <a:noFill/>
                </a:ln>
                <a:solidFill>
                  <a:srgbClr val="262626">
                    <a:alpha val="100000"/>
                  </a:srgbClr>
                </a:solidFill>
                <a:latin typeface="Poppins"/>
                <a:ea typeface="Poppins"/>
                <a:cs typeface="Poppins"/>
              </a:rPr>
              <a:t>Bloqueo de ataques conocidos y tráfico sospechoso.</a:t>
            </a:r>
            <a:endParaRPr kumimoji="1" lang="zh-CN" altLang="en-US"/>
          </a:p>
        </p:txBody>
      </p:sp>
      <p:sp>
        <p:nvSpPr>
          <p:cNvPr id="9"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800" dirty="0">
                <a:ln w="12700">
                  <a:noFill/>
                </a:ln>
                <a:solidFill>
                  <a:srgbClr val="262626">
                    <a:alpha val="100000"/>
                  </a:srgbClr>
                </a:solidFill>
                <a:latin typeface="poppins-bold"/>
                <a:ea typeface="poppins-bold"/>
                <a:cs typeface="poppins-bold"/>
              </a:rPr>
              <a:t>El </a:t>
            </a:r>
            <a:r>
              <a:rPr kumimoji="1" lang="en-US" altLang="zh-CN" sz="2800" dirty="0" err="1">
                <a:ln w="12700">
                  <a:noFill/>
                </a:ln>
                <a:solidFill>
                  <a:srgbClr val="262626">
                    <a:alpha val="100000"/>
                  </a:srgbClr>
                </a:solidFill>
                <a:latin typeface="poppins-bold"/>
                <a:ea typeface="poppins-bold"/>
                <a:cs typeface="poppins-bold"/>
              </a:rPr>
              <a:t>Perímetro</a:t>
            </a:r>
            <a:r>
              <a:rPr kumimoji="1" lang="en-US" altLang="zh-CN" sz="2800" dirty="0">
                <a:ln w="12700">
                  <a:noFill/>
                </a:ln>
                <a:solidFill>
                  <a:srgbClr val="262626">
                    <a:alpha val="100000"/>
                  </a:srgbClr>
                </a:solidFill>
                <a:latin typeface="poppins-bold"/>
                <a:ea typeface="poppins-bold"/>
                <a:cs typeface="poppins-bold"/>
              </a:rPr>
              <a:t> de Red</a:t>
            </a:r>
          </a:p>
          <a:p>
            <a:pPr algn="l"/>
            <a:r>
              <a:rPr kumimoji="1" lang="en-US" altLang="zh-CN" sz="2800" dirty="0">
                <a:ln w="12700">
                  <a:noFill/>
                </a:ln>
                <a:solidFill>
                  <a:srgbClr val="262626">
                    <a:alpha val="100000"/>
                  </a:srgbClr>
                </a:solidFill>
                <a:latin typeface="poppins-bold"/>
                <a:ea typeface="poppins-bold"/>
                <a:cs typeface="poppins-bold"/>
              </a:rPr>
              <a:t> (La Puerta Principal a Internet)</a:t>
            </a:r>
            <a:endParaRPr kumimoji="1" lang="zh-CN" altLang="en-US" dirty="0"/>
          </a:p>
        </p:txBody>
      </p:sp>
      <p:sp>
        <p:nvSpPr>
          <p:cNvPr id="10"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12" name="Imagen 11">
            <a:extLst>
              <a:ext uri="{FF2B5EF4-FFF2-40B4-BE49-F238E27FC236}">
                <a16:creationId xmlns:a16="http://schemas.microsoft.com/office/drawing/2014/main" id="{90CD81BD-A113-18B5-DC50-E9247787CBB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1347332" y="1415272"/>
            <a:ext cx="4320000" cy="4433857"/>
          </a:xfrm>
          <a:prstGeom prst="rect">
            <a:avLst/>
          </a:prstGeom>
          <a:solidFill>
            <a:schemeClr val="bg1"/>
          </a:solidFill>
          <a:ln w="12700" cap="sq">
            <a:noFill/>
            <a:miter/>
          </a:ln>
          <a:effectLst>
            <a:outerShdw blurRad="88900" sx="99000" sy="99000" algn="ctr" rotWithShape="0">
              <a:schemeClr val="accent1">
                <a:lumMod val="75000"/>
                <a:alpha val="24000"/>
              </a:schemeClr>
            </a:outerShdw>
          </a:effectLst>
        </p:spPr>
        <p:txBody>
          <a:bodyPr vert="horz" wrap="square" lIns="91440" tIns="45720" rIns="91440" bIns="45720" rtlCol="0" anchor="ctr"/>
          <a:lstStyle/>
          <a:p>
            <a:pPr algn="ctr"/>
            <a:endParaRPr kumimoji="1" lang="zh-CN" altLang="en-US"/>
          </a:p>
        </p:txBody>
      </p:sp>
      <p:sp>
        <p:nvSpPr>
          <p:cNvPr id="3" name="标题 1"/>
          <p:cNvSpPr txBox="1"/>
          <p:nvPr/>
        </p:nvSpPr>
        <p:spPr>
          <a:xfrm>
            <a:off x="1347332" y="1415271"/>
            <a:ext cx="4320000" cy="98532"/>
          </a:xfrm>
          <a:prstGeom prst="rect">
            <a:avLst/>
          </a:prstGeom>
          <a:gradFill>
            <a:gsLst>
              <a:gs pos="0">
                <a:schemeClr val="accent1"/>
              </a:gs>
              <a:gs pos="98000">
                <a:schemeClr val="accent1">
                  <a:lumMod val="75000"/>
                </a:schemeClr>
              </a:gs>
            </a:gsLst>
            <a:lin ang="2700000" scaled="0"/>
          </a:gradFill>
          <a:ln w="12700" cap="flat">
            <a:noFill/>
            <a:miter/>
          </a:ln>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1707332" y="2702895"/>
            <a:ext cx="3600000" cy="720001"/>
          </a:xfrm>
          <a:prstGeom prst="rect">
            <a:avLst/>
          </a:prstGeom>
          <a:noFill/>
          <a:ln>
            <a:noFill/>
          </a:ln>
          <a:effectLst/>
        </p:spPr>
        <p:txBody>
          <a:bodyPr vert="horz" wrap="square" lIns="0" tIns="0" rIns="0" bIns="0" rtlCol="0" anchor="ctr"/>
          <a:lstStyle/>
          <a:p>
            <a:pPr algn="ctr"/>
            <a:r>
              <a:rPr kumimoji="1" lang="en-US" altLang="zh-CN" sz="1600">
                <a:ln w="12700">
                  <a:noFill/>
                </a:ln>
                <a:gradFill>
                  <a:gsLst>
                    <a:gs pos="0">
                      <a:schemeClr val="accent1"/>
                    </a:gs>
                    <a:gs pos="100000">
                      <a:schemeClr val="accent1">
                        <a:lumMod val="50000"/>
                      </a:schemeClr>
                    </a:gs>
                  </a:gsLst>
                  <a:lin ang="0" scaled="0"/>
                </a:gradFill>
                <a:latin typeface="poppins-bold"/>
                <a:ea typeface="poppins-bold"/>
                <a:cs typeface="poppins-bold"/>
              </a:rPr>
              <a:t>Principio de Confianza Cero (Zero Trust)</a:t>
            </a:r>
            <a:endParaRPr kumimoji="1" lang="zh-CN" altLang="en-US"/>
          </a:p>
        </p:txBody>
      </p:sp>
      <p:sp>
        <p:nvSpPr>
          <p:cNvPr id="5" name="标题 1"/>
          <p:cNvSpPr txBox="1"/>
          <p:nvPr/>
        </p:nvSpPr>
        <p:spPr>
          <a:xfrm>
            <a:off x="1707332" y="3741579"/>
            <a:ext cx="3600000" cy="1731085"/>
          </a:xfrm>
          <a:prstGeom prst="rect">
            <a:avLst/>
          </a:prstGeom>
          <a:noFill/>
          <a:ln>
            <a:noFill/>
          </a:ln>
          <a:effectLst/>
        </p:spPr>
        <p:txBody>
          <a:bodyPr vert="horz" wrap="square" lIns="0" tIns="0" rIns="0" bIns="0" rtlCol="0" anchor="t"/>
          <a:lstStyle/>
          <a:p>
            <a:pPr algn="ctr"/>
            <a:r>
              <a:rPr kumimoji="1" lang="es-EC" sz="1400" dirty="0">
                <a:ln w="12700">
                  <a:noFill/>
                </a:ln>
                <a:solidFill>
                  <a:srgbClr val="595959">
                    <a:alpha val="100000"/>
                  </a:srgbClr>
                </a:solidFill>
                <a:latin typeface="Poppins"/>
                <a:cs typeface="Poppins"/>
              </a:rPr>
              <a:t>La práctica más importante en la ciberseguridad moderna. NUNCA confíes, SIEMPRE verifica. No asumas que una solicitud es legítima solo porque viene de dentro de la red. Cada vez que un servidor intenta hablar con otro, debe autenticarse y ser autorizado. La microsegmentación es la herramienta clave para implementar esta filosofía.</a:t>
            </a:r>
            <a:endParaRPr kumimoji="1" lang="zh-CN" altLang="en-US" sz="1400" dirty="0">
              <a:ln w="12700">
                <a:noFill/>
              </a:ln>
              <a:solidFill>
                <a:srgbClr val="595959">
                  <a:alpha val="100000"/>
                </a:srgbClr>
              </a:solidFill>
              <a:latin typeface="Poppins"/>
              <a:cs typeface="Poppins"/>
            </a:endParaRPr>
          </a:p>
        </p:txBody>
      </p:sp>
      <p:cxnSp>
        <p:nvCxnSpPr>
          <p:cNvPr id="6" name="标题 1"/>
          <p:cNvCxnSpPr/>
          <p:nvPr/>
        </p:nvCxnSpPr>
        <p:spPr>
          <a:xfrm>
            <a:off x="3315881" y="3546006"/>
            <a:ext cx="382905" cy="0"/>
          </a:xfrm>
          <a:prstGeom prst="line">
            <a:avLst/>
          </a:prstGeom>
          <a:noFill/>
          <a:ln w="28575" cap="sq">
            <a:solidFill>
              <a:schemeClr val="accent1"/>
            </a:solidFill>
            <a:miter/>
          </a:ln>
        </p:spPr>
      </p:cxnSp>
      <p:sp>
        <p:nvSpPr>
          <p:cNvPr id="7" name="标题 1"/>
          <p:cNvSpPr txBox="1"/>
          <p:nvPr/>
        </p:nvSpPr>
        <p:spPr>
          <a:xfrm>
            <a:off x="6511968" y="1415272"/>
            <a:ext cx="4320000" cy="4433857"/>
          </a:xfrm>
          <a:prstGeom prst="rect">
            <a:avLst/>
          </a:prstGeom>
          <a:solidFill>
            <a:schemeClr val="bg1"/>
          </a:solidFill>
          <a:ln w="12700" cap="sq">
            <a:noFill/>
            <a:miter/>
          </a:ln>
          <a:effectLst>
            <a:outerShdw blurRad="88900" sx="99000" sy="99000" algn="ctr" rotWithShape="0">
              <a:schemeClr val="accent1">
                <a:lumMod val="75000"/>
                <a:alpha val="24000"/>
              </a:schemeClr>
            </a:outerShdw>
          </a:effectLst>
        </p:spPr>
        <p:txBody>
          <a:bodyPr vert="horz" wrap="square" lIns="91440" tIns="45720" rIns="91440" bIns="45720" rtlCol="0" anchor="ctr"/>
          <a:lstStyle/>
          <a:p>
            <a:pPr algn="ctr"/>
            <a:endParaRPr kumimoji="1" lang="zh-CN" altLang="en-US"/>
          </a:p>
        </p:txBody>
      </p:sp>
      <p:sp>
        <p:nvSpPr>
          <p:cNvPr id="8" name="标题 1"/>
          <p:cNvSpPr txBox="1"/>
          <p:nvPr/>
        </p:nvSpPr>
        <p:spPr>
          <a:xfrm>
            <a:off x="6511968" y="1415271"/>
            <a:ext cx="4320000" cy="98532"/>
          </a:xfrm>
          <a:prstGeom prst="rect">
            <a:avLst/>
          </a:prstGeom>
          <a:gradFill>
            <a:gsLst>
              <a:gs pos="0">
                <a:schemeClr val="accent1"/>
              </a:gs>
              <a:gs pos="98000">
                <a:schemeClr val="accent1">
                  <a:lumMod val="75000"/>
                </a:schemeClr>
              </a:gs>
            </a:gsLst>
            <a:lin ang="2700000" scaled="0"/>
          </a:gradFill>
          <a:ln w="12700" cap="flat">
            <a:noFill/>
            <a:miter/>
          </a:ln>
          <a:effectLst/>
        </p:spPr>
        <p:txBody>
          <a:bodyPr vert="horz" wrap="square" lIns="91440" tIns="45720" rIns="91440" bIns="45720" rtlCol="0" anchor="ctr"/>
          <a:lstStyle/>
          <a:p>
            <a:pPr algn="ctr"/>
            <a:endParaRPr kumimoji="1" lang="zh-CN" altLang="en-US"/>
          </a:p>
        </p:txBody>
      </p:sp>
      <p:sp>
        <p:nvSpPr>
          <p:cNvPr id="9" name="标题 1"/>
          <p:cNvSpPr txBox="1"/>
          <p:nvPr/>
        </p:nvSpPr>
        <p:spPr>
          <a:xfrm>
            <a:off x="6871967" y="2702895"/>
            <a:ext cx="3600000" cy="720001"/>
          </a:xfrm>
          <a:prstGeom prst="rect">
            <a:avLst/>
          </a:prstGeom>
          <a:noFill/>
          <a:ln>
            <a:noFill/>
          </a:ln>
          <a:effectLst/>
        </p:spPr>
        <p:txBody>
          <a:bodyPr vert="horz" wrap="square" lIns="0" tIns="0" rIns="0" bIns="0" rtlCol="0" anchor="ctr"/>
          <a:lstStyle/>
          <a:p>
            <a:pPr algn="ctr"/>
            <a:r>
              <a:rPr kumimoji="1" lang="en-US" altLang="zh-CN" sz="1600">
                <a:ln w="12700">
                  <a:noFill/>
                </a:ln>
                <a:gradFill>
                  <a:gsLst>
                    <a:gs pos="0">
                      <a:schemeClr val="accent1"/>
                    </a:gs>
                    <a:gs pos="100000">
                      <a:schemeClr val="accent1">
                        <a:lumMod val="50000"/>
                      </a:schemeClr>
                    </a:gs>
                  </a:gsLst>
                  <a:lin ang="0" scaled="0"/>
                </a:gradFill>
                <a:latin typeface="poppins-bold"/>
                <a:ea typeface="poppins-bold"/>
                <a:cs typeface="poppins-bold"/>
              </a:rPr>
              <a:t>Red de Gestión Aislada (Out-of-Band Management)</a:t>
            </a:r>
            <a:endParaRPr kumimoji="1" lang="zh-CN" altLang="en-US"/>
          </a:p>
        </p:txBody>
      </p:sp>
      <p:sp>
        <p:nvSpPr>
          <p:cNvPr id="10" name="标题 1"/>
          <p:cNvSpPr txBox="1"/>
          <p:nvPr/>
        </p:nvSpPr>
        <p:spPr>
          <a:xfrm>
            <a:off x="6871967" y="3741579"/>
            <a:ext cx="3600000" cy="1731085"/>
          </a:xfrm>
          <a:prstGeom prst="rect">
            <a:avLst/>
          </a:prstGeom>
          <a:noFill/>
          <a:ln>
            <a:noFill/>
          </a:ln>
          <a:effectLst/>
        </p:spPr>
        <p:txBody>
          <a:bodyPr vert="horz" wrap="square" lIns="0" tIns="0" rIns="0" bIns="0" rtlCol="0" anchor="t"/>
          <a:lstStyle/>
          <a:p>
            <a:pPr algn="ctr"/>
            <a:r>
              <a:rPr kumimoji="1" lang="es-EC" sz="1400" dirty="0">
                <a:ln w="12700">
                  <a:noFill/>
                </a:ln>
                <a:solidFill>
                  <a:srgbClr val="595959">
                    <a:alpha val="100000"/>
                  </a:srgbClr>
                </a:solidFill>
                <a:latin typeface="Poppins"/>
                <a:cs typeface="Poppins"/>
              </a:rPr>
              <a:t>Los</a:t>
            </a:r>
            <a:r>
              <a:rPr lang="es-EC" dirty="0"/>
              <a:t> </a:t>
            </a:r>
            <a:r>
              <a:rPr kumimoji="1" lang="es-EC" sz="1400" dirty="0">
                <a:ln w="12700">
                  <a:noFill/>
                </a:ln>
                <a:solidFill>
                  <a:srgbClr val="595959">
                    <a:alpha val="100000"/>
                  </a:srgbClr>
                </a:solidFill>
                <a:latin typeface="Poppins"/>
                <a:cs typeface="Poppins"/>
              </a:rPr>
              <a:t>administradores NUNCA gestionan los servidores a través de la red de producción normal. Se utiliza una red completamente separada (física o lógicamente) y altamente segura. Si la red principal sufre un ataque </a:t>
            </a:r>
            <a:r>
              <a:rPr kumimoji="1" lang="es-EC" sz="1400" dirty="0" err="1">
                <a:ln w="12700">
                  <a:noFill/>
                </a:ln>
                <a:solidFill>
                  <a:srgbClr val="595959">
                    <a:alpha val="100000"/>
                  </a:srgbClr>
                </a:solidFill>
                <a:latin typeface="Poppins"/>
                <a:cs typeface="Poppins"/>
              </a:rPr>
              <a:t>DDoS</a:t>
            </a:r>
            <a:r>
              <a:rPr kumimoji="1" lang="es-EC" sz="1400" dirty="0">
                <a:ln w="12700">
                  <a:noFill/>
                </a:ln>
                <a:solidFill>
                  <a:srgbClr val="595959">
                    <a:alpha val="100000"/>
                  </a:srgbClr>
                </a:solidFill>
                <a:latin typeface="Poppins"/>
                <a:cs typeface="Poppins"/>
              </a:rPr>
              <a:t>, los administradores aún pueden acceder a los equipos para controlarlos y mitigar el ataque.</a:t>
            </a:r>
            <a:endParaRPr kumimoji="1" lang="zh-CN" altLang="en-US" sz="1400" dirty="0">
              <a:ln w="12700">
                <a:noFill/>
              </a:ln>
              <a:solidFill>
                <a:srgbClr val="595959">
                  <a:alpha val="100000"/>
                </a:srgbClr>
              </a:solidFill>
              <a:latin typeface="Poppins"/>
              <a:cs typeface="Poppins"/>
            </a:endParaRPr>
          </a:p>
        </p:txBody>
      </p:sp>
      <p:cxnSp>
        <p:nvCxnSpPr>
          <p:cNvPr id="11" name="标题 1"/>
          <p:cNvCxnSpPr/>
          <p:nvPr/>
        </p:nvCxnSpPr>
        <p:spPr>
          <a:xfrm>
            <a:off x="8480516" y="3546006"/>
            <a:ext cx="382905" cy="0"/>
          </a:xfrm>
          <a:prstGeom prst="line">
            <a:avLst/>
          </a:prstGeom>
          <a:noFill/>
          <a:ln w="28575" cap="sq">
            <a:solidFill>
              <a:schemeClr val="accent1"/>
            </a:solidFill>
            <a:miter/>
          </a:ln>
        </p:spPr>
      </p:cxnSp>
      <p:sp>
        <p:nvSpPr>
          <p:cNvPr id="12" name="标题 1"/>
          <p:cNvSpPr txBox="1"/>
          <p:nvPr/>
        </p:nvSpPr>
        <p:spPr>
          <a:xfrm>
            <a:off x="3174997" y="1880897"/>
            <a:ext cx="664672" cy="720001"/>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accent1"/>
          </a:solidFill>
          <a:ln w="1860" cap="flat">
            <a:noFill/>
            <a:miter/>
          </a:ln>
        </p:spPr>
        <p:txBody>
          <a:bodyPr vert="horz" wrap="square" lIns="91440" tIns="45720" rIns="91440" bIns="45720" rtlCol="0" anchor="ctr"/>
          <a:lstStyle/>
          <a:p>
            <a:pPr algn="l"/>
            <a:endParaRPr kumimoji="1" lang="zh-CN" altLang="en-US"/>
          </a:p>
        </p:txBody>
      </p:sp>
      <p:sp>
        <p:nvSpPr>
          <p:cNvPr id="13" name="标题 1"/>
          <p:cNvSpPr txBox="1"/>
          <p:nvPr/>
        </p:nvSpPr>
        <p:spPr>
          <a:xfrm flipH="1" flipV="1">
            <a:off x="8299965" y="1880897"/>
            <a:ext cx="744004" cy="720001"/>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accent1"/>
          </a:solidFill>
          <a:ln w="1860" cap="flat">
            <a:noFill/>
            <a:miter/>
          </a:ln>
        </p:spPr>
        <p:txBody>
          <a:bodyPr vert="horz" wrap="square" lIns="91440" tIns="45720" rIns="91440" bIns="45720" rtlCol="0" anchor="ctr"/>
          <a:lstStyle/>
          <a:p>
            <a:pPr algn="l"/>
            <a:endParaRPr kumimoji="1" lang="zh-CN" altLang="en-US"/>
          </a:p>
        </p:txBody>
      </p:sp>
      <p:sp>
        <p:nvSpPr>
          <p:cNvPr id="14"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El Perímetro Interno (Las Murallas Interiores)</a:t>
            </a:r>
            <a:endParaRPr kumimoji="1" lang="zh-CN" altLang="en-US"/>
          </a:p>
        </p:txBody>
      </p:sp>
      <p:sp>
        <p:nvSpPr>
          <p:cNvPr id="15"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17" name="Imagen 16">
            <a:extLst>
              <a:ext uri="{FF2B5EF4-FFF2-40B4-BE49-F238E27FC236}">
                <a16:creationId xmlns:a16="http://schemas.microsoft.com/office/drawing/2014/main" id="{041BBE64-F2AB-D46A-2440-8B8A3D53506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 name="标题 1"/>
          <p:cNvCxnSpPr/>
          <p:nvPr/>
        </p:nvCxnSpPr>
        <p:spPr>
          <a:xfrm>
            <a:off x="-24000" y="3363444"/>
            <a:ext cx="12240000" cy="0"/>
          </a:xfrm>
          <a:prstGeom prst="line">
            <a:avLst/>
          </a:prstGeom>
          <a:noFill/>
          <a:ln w="25400" cap="sq">
            <a:solidFill>
              <a:schemeClr val="bg1">
                <a:lumMod val="85000"/>
              </a:schemeClr>
            </a:solidFill>
            <a:miter/>
          </a:ln>
        </p:spPr>
      </p:cxnSp>
      <p:sp>
        <p:nvSpPr>
          <p:cNvPr id="3" name="标题 1"/>
          <p:cNvSpPr txBox="1"/>
          <p:nvPr/>
        </p:nvSpPr>
        <p:spPr>
          <a:xfrm rot="8113744">
            <a:off x="1686400" y="1568097"/>
            <a:ext cx="1260000" cy="1260000"/>
          </a:xfrm>
          <a:prstGeom prst="teardrop">
            <a:avLst/>
          </a:prstGeom>
          <a:gradFill>
            <a:gsLst>
              <a:gs pos="0">
                <a:schemeClr val="accent1"/>
              </a:gs>
              <a:gs pos="100000">
                <a:schemeClr val="accent1">
                  <a:lumMod val="40000"/>
                  <a:lumOff val="60000"/>
                </a:schemeClr>
              </a:gs>
            </a:gsLst>
            <a:lin ang="5400000" scaled="0"/>
          </a:gra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2244400" y="3291444"/>
            <a:ext cx="144000" cy="14400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a:off x="2010400" y="1915027"/>
            <a:ext cx="612000" cy="566140"/>
          </a:xfrm>
          <a:custGeom>
            <a:avLst/>
            <a:gdLst>
              <a:gd name="connsiteX0" fmla="*/ 2136435 w 5834559"/>
              <a:gd name="connsiteY0" fmla="*/ 643126 h 5397372"/>
              <a:gd name="connsiteX1" fmla="*/ 3716657 w 5834559"/>
              <a:gd name="connsiteY1" fmla="*/ 643126 h 5397372"/>
              <a:gd name="connsiteX2" fmla="*/ 3716657 w 5834559"/>
              <a:gd name="connsiteY2" fmla="*/ 1064855 h 5397372"/>
              <a:gd name="connsiteX3" fmla="*/ 2136435 w 5834559"/>
              <a:gd name="connsiteY3" fmla="*/ 1064855 h 5397372"/>
              <a:gd name="connsiteX4" fmla="*/ 693741 w 5834559"/>
              <a:gd name="connsiteY4" fmla="*/ 643126 h 5397372"/>
              <a:gd name="connsiteX5" fmla="*/ 1550121 w 5834559"/>
              <a:gd name="connsiteY5" fmla="*/ 643126 h 5397372"/>
              <a:gd name="connsiteX6" fmla="*/ 1550121 w 5834559"/>
              <a:gd name="connsiteY6" fmla="*/ 1064855 h 5397372"/>
              <a:gd name="connsiteX7" fmla="*/ 693741 w 5834559"/>
              <a:gd name="connsiteY7" fmla="*/ 1064855 h 5397372"/>
              <a:gd name="connsiteX8" fmla="*/ 421729 w 5834559"/>
              <a:gd name="connsiteY8" fmla="*/ 1336867 h 5397372"/>
              <a:gd name="connsiteX9" fmla="*/ 421729 w 5834559"/>
              <a:gd name="connsiteY9" fmla="*/ 2079805 h 5397372"/>
              <a:gd name="connsiteX10" fmla="*/ 5412133 w 5834559"/>
              <a:gd name="connsiteY10" fmla="*/ 2079805 h 5397372"/>
              <a:gd name="connsiteX11" fmla="*/ 5412133 w 5834559"/>
              <a:gd name="connsiteY11" fmla="*/ 1336867 h 5397372"/>
              <a:gd name="connsiteX12" fmla="*/ 5140113 w 5834559"/>
              <a:gd name="connsiteY12" fmla="*/ 1064855 h 5397372"/>
              <a:gd name="connsiteX13" fmla="*/ 4302971 w 5834559"/>
              <a:gd name="connsiteY13" fmla="*/ 1064855 h 5397372"/>
              <a:gd name="connsiteX14" fmla="*/ 4302971 w 5834559"/>
              <a:gd name="connsiteY14" fmla="*/ 643126 h 5397372"/>
              <a:gd name="connsiteX15" fmla="*/ 5140113 w 5834559"/>
              <a:gd name="connsiteY15" fmla="*/ 643126 h 5397372"/>
              <a:gd name="connsiteX16" fmla="*/ 5834559 w 5834559"/>
              <a:gd name="connsiteY16" fmla="*/ 1336867 h 5397372"/>
              <a:gd name="connsiteX17" fmla="*/ 5834559 w 5834559"/>
              <a:gd name="connsiteY17" fmla="*/ 4703631 h 5397372"/>
              <a:gd name="connsiteX18" fmla="*/ 5140818 w 5834559"/>
              <a:gd name="connsiteY18" fmla="*/ 5397372 h 5397372"/>
              <a:gd name="connsiteX19" fmla="*/ 693741 w 5834559"/>
              <a:gd name="connsiteY19" fmla="*/ 5397372 h 5397372"/>
              <a:gd name="connsiteX20" fmla="*/ 0 w 5834559"/>
              <a:gd name="connsiteY20" fmla="*/ 4703631 h 5397372"/>
              <a:gd name="connsiteX21" fmla="*/ 0 w 5834559"/>
              <a:gd name="connsiteY21" fmla="*/ 2501529 h 5397372"/>
              <a:gd name="connsiteX22" fmla="*/ 0 w 5834559"/>
              <a:gd name="connsiteY22" fmla="*/ 2079805 h 5397372"/>
              <a:gd name="connsiteX23" fmla="*/ 0 w 5834559"/>
              <a:gd name="connsiteY23" fmla="*/ 1336867 h 5397372"/>
              <a:gd name="connsiteX24" fmla="*/ 693741 w 5834559"/>
              <a:gd name="connsiteY24" fmla="*/ 643126 h 5397372"/>
              <a:gd name="connsiteX25" fmla="*/ 3997242 w 5834559"/>
              <a:gd name="connsiteY25" fmla="*/ 0 h 5397372"/>
              <a:gd name="connsiteX26" fmla="*/ 4208106 w 5834559"/>
              <a:gd name="connsiteY26" fmla="*/ 210864 h 5397372"/>
              <a:gd name="connsiteX27" fmla="*/ 4208106 w 5834559"/>
              <a:gd name="connsiteY27" fmla="*/ 1506961 h 5397372"/>
              <a:gd name="connsiteX28" fmla="*/ 3997242 w 5834559"/>
              <a:gd name="connsiteY28" fmla="*/ 1718528 h 5397372"/>
              <a:gd name="connsiteX29" fmla="*/ 3786378 w 5834559"/>
              <a:gd name="connsiteY29" fmla="*/ 1507664 h 5397372"/>
              <a:gd name="connsiteX30" fmla="*/ 3786378 w 5834559"/>
              <a:gd name="connsiteY30" fmla="*/ 210864 h 5397372"/>
              <a:gd name="connsiteX31" fmla="*/ 3997242 w 5834559"/>
              <a:gd name="connsiteY31" fmla="*/ 0 h 5397372"/>
              <a:gd name="connsiteX32" fmla="*/ 1836609 w 5834559"/>
              <a:gd name="connsiteY32" fmla="*/ 0 h 5397372"/>
              <a:gd name="connsiteX33" fmla="*/ 2047469 w 5834559"/>
              <a:gd name="connsiteY33" fmla="*/ 210864 h 5397372"/>
              <a:gd name="connsiteX34" fmla="*/ 2047469 w 5834559"/>
              <a:gd name="connsiteY34" fmla="*/ 1506961 h 5397372"/>
              <a:gd name="connsiteX35" fmla="*/ 1836609 w 5834559"/>
              <a:gd name="connsiteY35" fmla="*/ 1718528 h 5397372"/>
              <a:gd name="connsiteX36" fmla="*/ 1625745 w 5834559"/>
              <a:gd name="connsiteY36" fmla="*/ 1507664 h 5397372"/>
              <a:gd name="connsiteX37" fmla="*/ 1625745 w 5834559"/>
              <a:gd name="connsiteY37" fmla="*/ 210864 h 5397372"/>
              <a:gd name="connsiteX38" fmla="*/ 1836609 w 5834559"/>
              <a:gd name="connsiteY38" fmla="*/ 0 h 5397372"/>
            </a:gdLst>
            <a:ahLst/>
            <a:cxnLst/>
            <a:rect l="l" t="t" r="r" b="b"/>
            <a:pathLst>
              <a:path w="5834559" h="5397372">
                <a:moveTo>
                  <a:pt x="2136435" y="643126"/>
                </a:moveTo>
                <a:lnTo>
                  <a:pt x="3716657" y="643126"/>
                </a:lnTo>
                <a:lnTo>
                  <a:pt x="3716657" y="1064855"/>
                </a:lnTo>
                <a:lnTo>
                  <a:pt x="2136435" y="1064855"/>
                </a:lnTo>
                <a:close/>
                <a:moveTo>
                  <a:pt x="693741" y="643126"/>
                </a:moveTo>
                <a:lnTo>
                  <a:pt x="1550121" y="643126"/>
                </a:lnTo>
                <a:lnTo>
                  <a:pt x="1550121" y="1064855"/>
                </a:lnTo>
                <a:lnTo>
                  <a:pt x="693741" y="1064855"/>
                </a:lnTo>
                <a:cubicBezTo>
                  <a:pt x="543320" y="1064855"/>
                  <a:pt x="421729" y="1187151"/>
                  <a:pt x="421729" y="1336867"/>
                </a:cubicBezTo>
                <a:lnTo>
                  <a:pt x="421729" y="2079805"/>
                </a:lnTo>
                <a:lnTo>
                  <a:pt x="5412133" y="2079805"/>
                </a:lnTo>
                <a:lnTo>
                  <a:pt x="5412133" y="1336867"/>
                </a:lnTo>
                <a:cubicBezTo>
                  <a:pt x="5412133" y="1186446"/>
                  <a:pt x="5289830" y="1064855"/>
                  <a:pt x="5140113" y="1064855"/>
                </a:cubicBezTo>
                <a:lnTo>
                  <a:pt x="4302971" y="1064855"/>
                </a:lnTo>
                <a:lnTo>
                  <a:pt x="4302971" y="643126"/>
                </a:lnTo>
                <a:lnTo>
                  <a:pt x="5140113" y="643126"/>
                </a:lnTo>
                <a:cubicBezTo>
                  <a:pt x="5523184" y="643126"/>
                  <a:pt x="5833854" y="953797"/>
                  <a:pt x="5834559" y="1336867"/>
                </a:cubicBezTo>
                <a:lnTo>
                  <a:pt x="5834559" y="4703631"/>
                </a:lnTo>
                <a:cubicBezTo>
                  <a:pt x="5834559" y="5085292"/>
                  <a:pt x="5522479" y="5397372"/>
                  <a:pt x="5140818" y="5397372"/>
                </a:cubicBezTo>
                <a:lnTo>
                  <a:pt x="693741" y="5397372"/>
                </a:lnTo>
                <a:cubicBezTo>
                  <a:pt x="312080" y="5397372"/>
                  <a:pt x="0" y="5085292"/>
                  <a:pt x="0" y="4703631"/>
                </a:cubicBezTo>
                <a:lnTo>
                  <a:pt x="0" y="2501529"/>
                </a:lnTo>
                <a:lnTo>
                  <a:pt x="0" y="2079805"/>
                </a:lnTo>
                <a:lnTo>
                  <a:pt x="0" y="1336867"/>
                </a:lnTo>
                <a:cubicBezTo>
                  <a:pt x="0" y="953797"/>
                  <a:pt x="310671" y="643126"/>
                  <a:pt x="693741" y="643126"/>
                </a:cubicBezTo>
                <a:close/>
                <a:moveTo>
                  <a:pt x="3997242" y="0"/>
                </a:moveTo>
                <a:cubicBezTo>
                  <a:pt x="4113920" y="0"/>
                  <a:pt x="4208106" y="94186"/>
                  <a:pt x="4208106" y="210864"/>
                </a:cubicBezTo>
                <a:lnTo>
                  <a:pt x="4208106" y="1506961"/>
                </a:lnTo>
                <a:cubicBezTo>
                  <a:pt x="4208106" y="1623639"/>
                  <a:pt x="4113920" y="1718528"/>
                  <a:pt x="3997242" y="1718528"/>
                </a:cubicBezTo>
                <a:cubicBezTo>
                  <a:pt x="3880564" y="1718528"/>
                  <a:pt x="3786378" y="1624342"/>
                  <a:pt x="3786378" y="1507664"/>
                </a:cubicBezTo>
                <a:lnTo>
                  <a:pt x="3786378" y="210864"/>
                </a:lnTo>
                <a:cubicBezTo>
                  <a:pt x="3786378" y="94186"/>
                  <a:pt x="3880564" y="0"/>
                  <a:pt x="3997242" y="0"/>
                </a:cubicBezTo>
                <a:close/>
                <a:moveTo>
                  <a:pt x="1836609" y="0"/>
                </a:moveTo>
                <a:cubicBezTo>
                  <a:pt x="1953287" y="0"/>
                  <a:pt x="2047469" y="94186"/>
                  <a:pt x="2047469" y="210864"/>
                </a:cubicBezTo>
                <a:lnTo>
                  <a:pt x="2047469" y="1506961"/>
                </a:lnTo>
                <a:cubicBezTo>
                  <a:pt x="2047469" y="1623639"/>
                  <a:pt x="1953287" y="1718528"/>
                  <a:pt x="1836609" y="1718528"/>
                </a:cubicBezTo>
                <a:cubicBezTo>
                  <a:pt x="1719932" y="1718528"/>
                  <a:pt x="1625745" y="1624342"/>
                  <a:pt x="1625745" y="1507664"/>
                </a:cubicBezTo>
                <a:lnTo>
                  <a:pt x="1625745" y="210864"/>
                </a:lnTo>
                <a:cubicBezTo>
                  <a:pt x="1625745" y="94186"/>
                  <a:pt x="1719932" y="0"/>
                  <a:pt x="1836609"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a:off x="660400" y="4399621"/>
            <a:ext cx="3312000" cy="1385582"/>
          </a:xfrm>
          <a:prstGeom prst="rect">
            <a:avLst/>
          </a:prstGeom>
          <a:noFill/>
          <a:ln>
            <a:noFill/>
          </a:ln>
        </p:spPr>
        <p:txBody>
          <a:bodyPr vert="horz" wrap="square" lIns="0" tIns="0" rIns="0" bIns="0" rtlCol="0" anchor="t"/>
          <a:lstStyle/>
          <a:p>
            <a:pPr algn="ctr"/>
            <a:r>
              <a:rPr kumimoji="1" lang="en-US" altLang="zh-CN" sz="1400">
                <a:ln w="12700">
                  <a:noFill/>
                </a:ln>
                <a:solidFill>
                  <a:srgbClr val="262626">
                    <a:alpha val="100000"/>
                  </a:srgbClr>
                </a:solidFill>
                <a:latin typeface="Poppins"/>
                <a:ea typeface="Poppins"/>
                <a:cs typeface="Poppins"/>
              </a:rPr>
              <a:t>Solicitud, documentación, aprobación y revisión de cambios.
Prevención de errores humanos y cambios maliciosos.</a:t>
            </a:r>
            <a:endParaRPr kumimoji="1" lang="zh-CN" altLang="en-US"/>
          </a:p>
        </p:txBody>
      </p:sp>
      <p:sp>
        <p:nvSpPr>
          <p:cNvPr id="7" name="标题 1"/>
          <p:cNvSpPr txBox="1"/>
          <p:nvPr/>
        </p:nvSpPr>
        <p:spPr>
          <a:xfrm>
            <a:off x="660400" y="3534911"/>
            <a:ext cx="3312000" cy="756000"/>
          </a:xfrm>
          <a:prstGeom prst="rect">
            <a:avLst/>
          </a:prstGeom>
          <a:noFill/>
          <a:ln w="12700" cap="sq">
            <a:noFill/>
            <a:miter/>
          </a:ln>
        </p:spPr>
        <p:txBody>
          <a:bodyPr vert="horz" wrap="square" lIns="0" tIns="0" rIns="0" bIns="0" rtlCol="0" anchor="b"/>
          <a:lstStyle/>
          <a:p>
            <a:pPr algn="ctr"/>
            <a:r>
              <a:rPr kumimoji="1" lang="en-US" altLang="zh-CN" sz="1188">
                <a:ln w="12700">
                  <a:noFill/>
                </a:ln>
                <a:solidFill>
                  <a:srgbClr val="262626">
                    <a:alpha val="100000"/>
                  </a:srgbClr>
                </a:solidFill>
                <a:latin typeface="poppins-bold"/>
                <a:ea typeface="poppins-bold"/>
                <a:cs typeface="poppins-bold"/>
              </a:rPr>
              <a:t>Procedimientos de Gestión de Cambios (Change Management)</a:t>
            </a:r>
            <a:endParaRPr kumimoji="1" lang="zh-CN" altLang="en-US"/>
          </a:p>
        </p:txBody>
      </p:sp>
      <p:sp>
        <p:nvSpPr>
          <p:cNvPr id="8" name="标题 1"/>
          <p:cNvSpPr txBox="1"/>
          <p:nvPr/>
        </p:nvSpPr>
        <p:spPr>
          <a:xfrm rot="8113744">
            <a:off x="5459650" y="1568097"/>
            <a:ext cx="1260000" cy="1260000"/>
          </a:xfrm>
          <a:prstGeom prst="teardrop">
            <a:avLst/>
          </a:prstGeom>
          <a:gradFill>
            <a:gsLst>
              <a:gs pos="0">
                <a:schemeClr val="accent1"/>
              </a:gs>
              <a:gs pos="100000">
                <a:schemeClr val="accent1">
                  <a:lumMod val="40000"/>
                  <a:lumOff val="60000"/>
                </a:schemeClr>
              </a:gs>
            </a:gsLst>
            <a:lin ang="5400000" scaled="0"/>
          </a:gra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a:off x="6017650" y="3291444"/>
            <a:ext cx="144000" cy="14400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5783650" y="1920672"/>
            <a:ext cx="612000" cy="554849"/>
          </a:xfrm>
          <a:custGeom>
            <a:avLst/>
            <a:gdLst>
              <a:gd name="connsiteX0" fmla="*/ 31770 w 794163"/>
              <a:gd name="connsiteY0" fmla="*/ 656460 h 720001"/>
              <a:gd name="connsiteX1" fmla="*/ 762297 w 794163"/>
              <a:gd name="connsiteY1" fmla="*/ 656460 h 720001"/>
              <a:gd name="connsiteX2" fmla="*/ 794163 w 794163"/>
              <a:gd name="connsiteY2" fmla="*/ 688230 h 720001"/>
              <a:gd name="connsiteX3" fmla="*/ 762392 w 794163"/>
              <a:gd name="connsiteY3" fmla="*/ 720001 h 720001"/>
              <a:gd name="connsiteX4" fmla="*/ 31770 w 794163"/>
              <a:gd name="connsiteY4" fmla="*/ 720001 h 720001"/>
              <a:gd name="connsiteX5" fmla="*/ 0 w 794163"/>
              <a:gd name="connsiteY5" fmla="*/ 688230 h 720001"/>
              <a:gd name="connsiteX6" fmla="*/ 31770 w 794163"/>
              <a:gd name="connsiteY6" fmla="*/ 656460 h 720001"/>
              <a:gd name="connsiteX7" fmla="*/ 613493 w 794163"/>
              <a:gd name="connsiteY7" fmla="*/ 317608 h 720001"/>
              <a:gd name="connsiteX8" fmla="*/ 710048 w 794163"/>
              <a:gd name="connsiteY8" fmla="*/ 317608 h 720001"/>
              <a:gd name="connsiteX9" fmla="*/ 767655 w 794163"/>
              <a:gd name="connsiteY9" fmla="*/ 375216 h 720001"/>
              <a:gd name="connsiteX10" fmla="*/ 767655 w 794163"/>
              <a:gd name="connsiteY10" fmla="*/ 524689 h 720001"/>
              <a:gd name="connsiteX11" fmla="*/ 710048 w 794163"/>
              <a:gd name="connsiteY11" fmla="*/ 582297 h 720001"/>
              <a:gd name="connsiteX12" fmla="*/ 613493 w 794163"/>
              <a:gd name="connsiteY12" fmla="*/ 582297 h 720001"/>
              <a:gd name="connsiteX13" fmla="*/ 555885 w 794163"/>
              <a:gd name="connsiteY13" fmla="*/ 524689 h 720001"/>
              <a:gd name="connsiteX14" fmla="*/ 555885 w 794163"/>
              <a:gd name="connsiteY14" fmla="*/ 375216 h 720001"/>
              <a:gd name="connsiteX15" fmla="*/ 613493 w 794163"/>
              <a:gd name="connsiteY15" fmla="*/ 317608 h 720001"/>
              <a:gd name="connsiteX16" fmla="*/ 84019 w 794163"/>
              <a:gd name="connsiteY16" fmla="*/ 211770 h 720001"/>
              <a:gd name="connsiteX17" fmla="*/ 180574 w 794163"/>
              <a:gd name="connsiteY17" fmla="*/ 211770 h 720001"/>
              <a:gd name="connsiteX18" fmla="*/ 238182 w 794163"/>
              <a:gd name="connsiteY18" fmla="*/ 269282 h 720001"/>
              <a:gd name="connsiteX19" fmla="*/ 238182 w 794163"/>
              <a:gd name="connsiteY19" fmla="*/ 524785 h 720001"/>
              <a:gd name="connsiteX20" fmla="*/ 180574 w 794163"/>
              <a:gd name="connsiteY20" fmla="*/ 582393 h 720001"/>
              <a:gd name="connsiteX21" fmla="*/ 84019 w 794163"/>
              <a:gd name="connsiteY21" fmla="*/ 582393 h 720001"/>
              <a:gd name="connsiteX22" fmla="*/ 26411 w 794163"/>
              <a:gd name="connsiteY22" fmla="*/ 524785 h 720001"/>
              <a:gd name="connsiteX23" fmla="*/ 26411 w 794163"/>
              <a:gd name="connsiteY23" fmla="*/ 269378 h 720001"/>
              <a:gd name="connsiteX24" fmla="*/ 84019 w 794163"/>
              <a:gd name="connsiteY24" fmla="*/ 211770 h 720001"/>
              <a:gd name="connsiteX25" fmla="*/ 348708 w 794163"/>
              <a:gd name="connsiteY25" fmla="*/ 0 h 720001"/>
              <a:gd name="connsiteX26" fmla="*/ 445359 w 794163"/>
              <a:gd name="connsiteY26" fmla="*/ 0 h 720001"/>
              <a:gd name="connsiteX27" fmla="*/ 502871 w 794163"/>
              <a:gd name="connsiteY27" fmla="*/ 57607 h 720001"/>
              <a:gd name="connsiteX28" fmla="*/ 502871 w 794163"/>
              <a:gd name="connsiteY28" fmla="*/ 524785 h 720001"/>
              <a:gd name="connsiteX29" fmla="*/ 445263 w 794163"/>
              <a:gd name="connsiteY29" fmla="*/ 582393 h 720001"/>
              <a:gd name="connsiteX30" fmla="*/ 348708 w 794163"/>
              <a:gd name="connsiteY30" fmla="*/ 582393 h 720001"/>
              <a:gd name="connsiteX31" fmla="*/ 291100 w 794163"/>
              <a:gd name="connsiteY31" fmla="*/ 524785 h 720001"/>
              <a:gd name="connsiteX32" fmla="*/ 291100 w 794163"/>
              <a:gd name="connsiteY32" fmla="*/ 57607 h 720001"/>
              <a:gd name="connsiteX33" fmla="*/ 348708 w 794163"/>
              <a:gd name="connsiteY33" fmla="*/ 0 h 720001"/>
            </a:gdLst>
            <a:ahLst/>
            <a:cxnLst/>
            <a:rect l="l" t="t" r="r" b="b"/>
            <a:pathLst>
              <a:path w="794163" h="720001">
                <a:moveTo>
                  <a:pt x="31770" y="656460"/>
                </a:moveTo>
                <a:lnTo>
                  <a:pt x="762297" y="656460"/>
                </a:lnTo>
                <a:cubicBezTo>
                  <a:pt x="779904" y="656460"/>
                  <a:pt x="794067" y="670622"/>
                  <a:pt x="794163" y="688230"/>
                </a:cubicBezTo>
                <a:cubicBezTo>
                  <a:pt x="794163" y="705742"/>
                  <a:pt x="779904" y="720001"/>
                  <a:pt x="762392" y="720001"/>
                </a:cubicBezTo>
                <a:lnTo>
                  <a:pt x="31770" y="720001"/>
                </a:lnTo>
                <a:cubicBezTo>
                  <a:pt x="14258" y="720001"/>
                  <a:pt x="0" y="705742"/>
                  <a:pt x="0" y="688230"/>
                </a:cubicBezTo>
                <a:cubicBezTo>
                  <a:pt x="0" y="670718"/>
                  <a:pt x="14258" y="656460"/>
                  <a:pt x="31770" y="656460"/>
                </a:cubicBezTo>
                <a:close/>
                <a:moveTo>
                  <a:pt x="613493" y="317608"/>
                </a:moveTo>
                <a:lnTo>
                  <a:pt x="710048" y="317608"/>
                </a:lnTo>
                <a:cubicBezTo>
                  <a:pt x="741818" y="317608"/>
                  <a:pt x="767655" y="343445"/>
                  <a:pt x="767655" y="375216"/>
                </a:cubicBezTo>
                <a:lnTo>
                  <a:pt x="767655" y="524689"/>
                </a:lnTo>
                <a:cubicBezTo>
                  <a:pt x="767655" y="556364"/>
                  <a:pt x="741723" y="582297"/>
                  <a:pt x="710048" y="582297"/>
                </a:cubicBezTo>
                <a:lnTo>
                  <a:pt x="613493" y="582297"/>
                </a:lnTo>
                <a:cubicBezTo>
                  <a:pt x="581818" y="582297"/>
                  <a:pt x="555885" y="556364"/>
                  <a:pt x="555885" y="524689"/>
                </a:cubicBezTo>
                <a:lnTo>
                  <a:pt x="555885" y="375216"/>
                </a:lnTo>
                <a:cubicBezTo>
                  <a:pt x="555885" y="343349"/>
                  <a:pt x="581722" y="317608"/>
                  <a:pt x="613493" y="317608"/>
                </a:cubicBezTo>
                <a:close/>
                <a:moveTo>
                  <a:pt x="84019" y="211770"/>
                </a:moveTo>
                <a:lnTo>
                  <a:pt x="180574" y="211770"/>
                </a:lnTo>
                <a:cubicBezTo>
                  <a:pt x="212440" y="211770"/>
                  <a:pt x="238182" y="237512"/>
                  <a:pt x="238182" y="269282"/>
                </a:cubicBezTo>
                <a:lnTo>
                  <a:pt x="238182" y="524785"/>
                </a:lnTo>
                <a:cubicBezTo>
                  <a:pt x="238182" y="556460"/>
                  <a:pt x="212248" y="582393"/>
                  <a:pt x="180574" y="582393"/>
                </a:cubicBezTo>
                <a:lnTo>
                  <a:pt x="84019" y="582393"/>
                </a:lnTo>
                <a:cubicBezTo>
                  <a:pt x="52344" y="582393"/>
                  <a:pt x="26411" y="556460"/>
                  <a:pt x="26411" y="524785"/>
                </a:cubicBezTo>
                <a:lnTo>
                  <a:pt x="26411" y="269378"/>
                </a:lnTo>
                <a:cubicBezTo>
                  <a:pt x="26411" y="237512"/>
                  <a:pt x="52248" y="211770"/>
                  <a:pt x="84019" y="211770"/>
                </a:cubicBezTo>
                <a:close/>
                <a:moveTo>
                  <a:pt x="348708" y="0"/>
                </a:moveTo>
                <a:lnTo>
                  <a:pt x="445359" y="0"/>
                </a:lnTo>
                <a:cubicBezTo>
                  <a:pt x="477129" y="0"/>
                  <a:pt x="502871" y="25741"/>
                  <a:pt x="502871" y="57607"/>
                </a:cubicBezTo>
                <a:lnTo>
                  <a:pt x="502871" y="524785"/>
                </a:lnTo>
                <a:cubicBezTo>
                  <a:pt x="502871" y="556460"/>
                  <a:pt x="476937" y="582393"/>
                  <a:pt x="445263" y="582393"/>
                </a:cubicBezTo>
                <a:lnTo>
                  <a:pt x="348708" y="582393"/>
                </a:lnTo>
                <a:cubicBezTo>
                  <a:pt x="317033" y="582393"/>
                  <a:pt x="291100" y="556460"/>
                  <a:pt x="291100" y="524785"/>
                </a:cubicBezTo>
                <a:lnTo>
                  <a:pt x="291100" y="57607"/>
                </a:lnTo>
                <a:cubicBezTo>
                  <a:pt x="291100" y="25741"/>
                  <a:pt x="316937" y="0"/>
                  <a:pt x="348708"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1" name="标题 1"/>
          <p:cNvSpPr txBox="1"/>
          <p:nvPr/>
        </p:nvSpPr>
        <p:spPr>
          <a:xfrm>
            <a:off x="4433650" y="4399621"/>
            <a:ext cx="3312000" cy="1385582"/>
          </a:xfrm>
          <a:prstGeom prst="rect">
            <a:avLst/>
          </a:prstGeom>
          <a:noFill/>
          <a:ln>
            <a:noFill/>
          </a:ln>
        </p:spPr>
        <p:txBody>
          <a:bodyPr vert="horz" wrap="square" lIns="0" tIns="0" rIns="0" bIns="0" rtlCol="0" anchor="t"/>
          <a:lstStyle/>
          <a:p>
            <a:pPr algn="ctr"/>
            <a:r>
              <a:rPr kumimoji="1" lang="en-US" altLang="zh-CN" sz="1400">
                <a:ln w="12700">
                  <a:noFill/>
                </a:ln>
                <a:solidFill>
                  <a:srgbClr val="262626">
                    <a:alpha val="100000"/>
                  </a:srgbClr>
                </a:solidFill>
                <a:latin typeface="Poppins"/>
                <a:ea typeface="Poppins"/>
                <a:cs typeface="Poppins"/>
              </a:rPr>
              <a:t>Plan probado para levantar operaciones en sitio secundario.
Copias de seguridad inmutables y offline.</a:t>
            </a:r>
            <a:endParaRPr kumimoji="1" lang="zh-CN" altLang="en-US"/>
          </a:p>
        </p:txBody>
      </p:sp>
      <p:sp>
        <p:nvSpPr>
          <p:cNvPr id="12" name="标题 1"/>
          <p:cNvSpPr txBox="1"/>
          <p:nvPr/>
        </p:nvSpPr>
        <p:spPr>
          <a:xfrm>
            <a:off x="4433650" y="3534911"/>
            <a:ext cx="3312000" cy="756000"/>
          </a:xfrm>
          <a:prstGeom prst="rect">
            <a:avLst/>
          </a:prstGeom>
          <a:noFill/>
          <a:ln w="12700" cap="sq">
            <a:noFill/>
            <a:miter/>
          </a:ln>
        </p:spPr>
        <p:txBody>
          <a:bodyPr vert="horz" wrap="square" lIns="0" tIns="0" rIns="0" bIns="0" rtlCol="0" anchor="b"/>
          <a:lstStyle/>
          <a:p>
            <a:pPr algn="ctr"/>
            <a:r>
              <a:rPr kumimoji="1" lang="en-US" altLang="zh-CN" sz="1600">
                <a:ln w="12700">
                  <a:noFill/>
                </a:ln>
                <a:solidFill>
                  <a:srgbClr val="262626">
                    <a:alpha val="100000"/>
                  </a:srgbClr>
                </a:solidFill>
                <a:latin typeface="poppins-bold"/>
                <a:ea typeface="poppins-bold"/>
                <a:cs typeface="poppins-bold"/>
              </a:rPr>
              <a:t>Plan de Recuperación ante Desastres (DRP)</a:t>
            </a:r>
            <a:endParaRPr kumimoji="1" lang="zh-CN" altLang="en-US"/>
          </a:p>
        </p:txBody>
      </p:sp>
      <p:sp>
        <p:nvSpPr>
          <p:cNvPr id="13" name="标题 1"/>
          <p:cNvSpPr txBox="1"/>
          <p:nvPr/>
        </p:nvSpPr>
        <p:spPr>
          <a:xfrm rot="8113744">
            <a:off x="9232900" y="1568097"/>
            <a:ext cx="1260000" cy="1260000"/>
          </a:xfrm>
          <a:prstGeom prst="teardrop">
            <a:avLst/>
          </a:prstGeom>
          <a:gradFill>
            <a:gsLst>
              <a:gs pos="0">
                <a:schemeClr val="accent1"/>
              </a:gs>
              <a:gs pos="100000">
                <a:schemeClr val="accent1">
                  <a:lumMod val="40000"/>
                  <a:lumOff val="60000"/>
                </a:schemeClr>
              </a:gs>
            </a:gsLst>
            <a:lin ang="5400000" scaled="0"/>
          </a:gra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9790900" y="3291444"/>
            <a:ext cx="144000" cy="14400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flipH="1" flipV="1">
            <a:off x="9574900" y="1919388"/>
            <a:ext cx="576000" cy="557416"/>
          </a:xfrm>
          <a:custGeom>
            <a:avLst/>
            <a:gdLst>
              <a:gd name="connsiteX0" fmla="*/ 311954 w 744004"/>
              <a:gd name="connsiteY0" fmla="*/ 337123 h 720001"/>
              <a:gd name="connsiteX1" fmla="*/ 168770 w 744004"/>
              <a:gd name="connsiteY1" fmla="*/ 337123 h 720001"/>
              <a:gd name="connsiteX2" fmla="*/ 49673 w 744004"/>
              <a:gd name="connsiteY2" fmla="*/ 287618 h 720001"/>
              <a:gd name="connsiteX3" fmla="*/ 167 w 744004"/>
              <a:gd name="connsiteY3" fmla="*/ 168520 h 720001"/>
              <a:gd name="connsiteX4" fmla="*/ 49590 w 744004"/>
              <a:gd name="connsiteY4" fmla="*/ 49507 h 720001"/>
              <a:gd name="connsiteX5" fmla="*/ 168687 w 744004"/>
              <a:gd name="connsiteY5" fmla="*/ 0 h 720001"/>
              <a:gd name="connsiteX6" fmla="*/ 287784 w 744004"/>
              <a:gd name="connsiteY6" fmla="*/ 49507 h 720001"/>
              <a:gd name="connsiteX7" fmla="*/ 337290 w 744004"/>
              <a:gd name="connsiteY7" fmla="*/ 168604 h 720001"/>
              <a:gd name="connsiteX8" fmla="*/ 337290 w 744004"/>
              <a:gd name="connsiteY8" fmla="*/ 311787 h 720001"/>
              <a:gd name="connsiteX9" fmla="*/ 311954 w 744004"/>
              <a:gd name="connsiteY9" fmla="*/ 337123 h 720001"/>
              <a:gd name="connsiteX10" fmla="*/ 575401 w 744004"/>
              <a:gd name="connsiteY10" fmla="*/ 337207 h 720001"/>
              <a:gd name="connsiteX11" fmla="*/ 432218 w 744004"/>
              <a:gd name="connsiteY11" fmla="*/ 337207 h 720001"/>
              <a:gd name="connsiteX12" fmla="*/ 406882 w 744004"/>
              <a:gd name="connsiteY12" fmla="*/ 311870 h 720001"/>
              <a:gd name="connsiteX13" fmla="*/ 406882 w 744004"/>
              <a:gd name="connsiteY13" fmla="*/ 168687 h 720001"/>
              <a:gd name="connsiteX14" fmla="*/ 456387 w 744004"/>
              <a:gd name="connsiteY14" fmla="*/ 49590 h 720001"/>
              <a:gd name="connsiteX15" fmla="*/ 575401 w 744004"/>
              <a:gd name="connsiteY15" fmla="*/ 0 h 720001"/>
              <a:gd name="connsiteX16" fmla="*/ 694498 w 744004"/>
              <a:gd name="connsiteY16" fmla="*/ 49507 h 720001"/>
              <a:gd name="connsiteX17" fmla="*/ 744004 w 744004"/>
              <a:gd name="connsiteY17" fmla="*/ 168604 h 720001"/>
              <a:gd name="connsiteX18" fmla="*/ 694498 w 744004"/>
              <a:gd name="connsiteY18" fmla="*/ 287701 h 720001"/>
              <a:gd name="connsiteX19" fmla="*/ 575401 w 744004"/>
              <a:gd name="connsiteY19" fmla="*/ 337207 h 720001"/>
              <a:gd name="connsiteX20" fmla="*/ 168604 w 744004"/>
              <a:gd name="connsiteY20" fmla="*/ 720001 h 720001"/>
              <a:gd name="connsiteX21" fmla="*/ 49507 w 744004"/>
              <a:gd name="connsiteY21" fmla="*/ 670495 h 720001"/>
              <a:gd name="connsiteX22" fmla="*/ 0 w 744004"/>
              <a:gd name="connsiteY22" fmla="*/ 551398 h 720001"/>
              <a:gd name="connsiteX23" fmla="*/ 49507 w 744004"/>
              <a:gd name="connsiteY23" fmla="*/ 432301 h 720001"/>
              <a:gd name="connsiteX24" fmla="*/ 168687 w 744004"/>
              <a:gd name="connsiteY24" fmla="*/ 382879 h 720001"/>
              <a:gd name="connsiteX25" fmla="*/ 311871 w 744004"/>
              <a:gd name="connsiteY25" fmla="*/ 382879 h 720001"/>
              <a:gd name="connsiteX26" fmla="*/ 337207 w 744004"/>
              <a:gd name="connsiteY26" fmla="*/ 408215 h 720001"/>
              <a:gd name="connsiteX27" fmla="*/ 337207 w 744004"/>
              <a:gd name="connsiteY27" fmla="*/ 551398 h 720001"/>
              <a:gd name="connsiteX28" fmla="*/ 287701 w 744004"/>
              <a:gd name="connsiteY28" fmla="*/ 670495 h 720001"/>
              <a:gd name="connsiteX29" fmla="*/ 168604 w 744004"/>
              <a:gd name="connsiteY29" fmla="*/ 720001 h 720001"/>
              <a:gd name="connsiteX30" fmla="*/ 575401 w 744004"/>
              <a:gd name="connsiteY30" fmla="*/ 720001 h 720001"/>
              <a:gd name="connsiteX31" fmla="*/ 456304 w 744004"/>
              <a:gd name="connsiteY31" fmla="*/ 670495 h 720001"/>
              <a:gd name="connsiteX32" fmla="*/ 406798 w 744004"/>
              <a:gd name="connsiteY32" fmla="*/ 551398 h 720001"/>
              <a:gd name="connsiteX33" fmla="*/ 406798 w 744004"/>
              <a:gd name="connsiteY33" fmla="*/ 408215 h 720001"/>
              <a:gd name="connsiteX34" fmla="*/ 432218 w 744004"/>
              <a:gd name="connsiteY34" fmla="*/ 382879 h 720001"/>
              <a:gd name="connsiteX35" fmla="*/ 575401 w 744004"/>
              <a:gd name="connsiteY35" fmla="*/ 382879 h 720001"/>
              <a:gd name="connsiteX36" fmla="*/ 694498 w 744004"/>
              <a:gd name="connsiteY36" fmla="*/ 432385 h 720001"/>
              <a:gd name="connsiteX37" fmla="*/ 744004 w 744004"/>
              <a:gd name="connsiteY37" fmla="*/ 551398 h 720001"/>
              <a:gd name="connsiteX38" fmla="*/ 694498 w 744004"/>
              <a:gd name="connsiteY38" fmla="*/ 670495 h 720001"/>
              <a:gd name="connsiteX39" fmla="*/ 575401 w 744004"/>
              <a:gd name="connsiteY39" fmla="*/ 720001 h 720001"/>
            </a:gdLst>
            <a:ahLst/>
            <a:cxnLst/>
            <a:rect l="l" t="t" r="r" b="b"/>
            <a:pathLst>
              <a:path w="744004" h="720001">
                <a:moveTo>
                  <a:pt x="311954" y="337123"/>
                </a:moveTo>
                <a:lnTo>
                  <a:pt x="168770" y="337123"/>
                </a:lnTo>
                <a:cubicBezTo>
                  <a:pt x="123932" y="337123"/>
                  <a:pt x="81594" y="319538"/>
                  <a:pt x="49673" y="287618"/>
                </a:cubicBezTo>
                <a:cubicBezTo>
                  <a:pt x="17753" y="255697"/>
                  <a:pt x="167" y="213442"/>
                  <a:pt x="167" y="168520"/>
                </a:cubicBezTo>
                <a:cubicBezTo>
                  <a:pt x="167" y="123598"/>
                  <a:pt x="17669" y="81427"/>
                  <a:pt x="49590" y="49507"/>
                </a:cubicBezTo>
                <a:cubicBezTo>
                  <a:pt x="81510" y="17586"/>
                  <a:pt x="123848" y="0"/>
                  <a:pt x="168687" y="0"/>
                </a:cubicBezTo>
                <a:cubicBezTo>
                  <a:pt x="213526" y="0"/>
                  <a:pt x="255864" y="17586"/>
                  <a:pt x="287784" y="49507"/>
                </a:cubicBezTo>
                <a:cubicBezTo>
                  <a:pt x="319705" y="81427"/>
                  <a:pt x="337290" y="123682"/>
                  <a:pt x="337290" y="168604"/>
                </a:cubicBezTo>
                <a:lnTo>
                  <a:pt x="337290" y="311787"/>
                </a:lnTo>
                <a:cubicBezTo>
                  <a:pt x="337290" y="325789"/>
                  <a:pt x="325956" y="337123"/>
                  <a:pt x="311954" y="337123"/>
                </a:cubicBezTo>
                <a:close/>
                <a:moveTo>
                  <a:pt x="575401" y="337207"/>
                </a:moveTo>
                <a:lnTo>
                  <a:pt x="432218" y="337207"/>
                </a:lnTo>
                <a:cubicBezTo>
                  <a:pt x="418216" y="337207"/>
                  <a:pt x="406882" y="325872"/>
                  <a:pt x="406882" y="311870"/>
                </a:cubicBezTo>
                <a:lnTo>
                  <a:pt x="406882" y="168687"/>
                </a:lnTo>
                <a:cubicBezTo>
                  <a:pt x="406882" y="123849"/>
                  <a:pt x="424467" y="81510"/>
                  <a:pt x="456387" y="49590"/>
                </a:cubicBezTo>
                <a:cubicBezTo>
                  <a:pt x="488308" y="17669"/>
                  <a:pt x="530563" y="0"/>
                  <a:pt x="575401" y="0"/>
                </a:cubicBezTo>
                <a:cubicBezTo>
                  <a:pt x="620240" y="0"/>
                  <a:pt x="662578" y="17586"/>
                  <a:pt x="694498" y="49507"/>
                </a:cubicBezTo>
                <a:cubicBezTo>
                  <a:pt x="726419" y="81427"/>
                  <a:pt x="744004" y="123765"/>
                  <a:pt x="744004" y="168604"/>
                </a:cubicBezTo>
                <a:cubicBezTo>
                  <a:pt x="744004" y="213442"/>
                  <a:pt x="726419" y="255780"/>
                  <a:pt x="694498" y="287701"/>
                </a:cubicBezTo>
                <a:cubicBezTo>
                  <a:pt x="662578" y="319621"/>
                  <a:pt x="620323" y="337207"/>
                  <a:pt x="575401" y="337207"/>
                </a:cubicBezTo>
                <a:close/>
                <a:moveTo>
                  <a:pt x="168604" y="720001"/>
                </a:moveTo>
                <a:cubicBezTo>
                  <a:pt x="123682" y="720001"/>
                  <a:pt x="81427" y="702416"/>
                  <a:pt x="49507" y="670495"/>
                </a:cubicBezTo>
                <a:cubicBezTo>
                  <a:pt x="17586" y="638575"/>
                  <a:pt x="0" y="596320"/>
                  <a:pt x="0" y="551398"/>
                </a:cubicBezTo>
                <a:cubicBezTo>
                  <a:pt x="0" y="506476"/>
                  <a:pt x="17586" y="464221"/>
                  <a:pt x="49507" y="432301"/>
                </a:cubicBezTo>
                <a:cubicBezTo>
                  <a:pt x="81510" y="400464"/>
                  <a:pt x="123848" y="382879"/>
                  <a:pt x="168687" y="382879"/>
                </a:cubicBezTo>
                <a:lnTo>
                  <a:pt x="311871" y="382879"/>
                </a:lnTo>
                <a:cubicBezTo>
                  <a:pt x="325872" y="382879"/>
                  <a:pt x="337207" y="394297"/>
                  <a:pt x="337207" y="408215"/>
                </a:cubicBezTo>
                <a:lnTo>
                  <a:pt x="337207" y="551398"/>
                </a:lnTo>
                <a:cubicBezTo>
                  <a:pt x="337207" y="596237"/>
                  <a:pt x="319621" y="638575"/>
                  <a:pt x="287701" y="670495"/>
                </a:cubicBezTo>
                <a:cubicBezTo>
                  <a:pt x="255781" y="702416"/>
                  <a:pt x="213526" y="720001"/>
                  <a:pt x="168604" y="720001"/>
                </a:cubicBezTo>
                <a:close/>
                <a:moveTo>
                  <a:pt x="575401" y="720001"/>
                </a:moveTo>
                <a:cubicBezTo>
                  <a:pt x="530563" y="720001"/>
                  <a:pt x="488224" y="702416"/>
                  <a:pt x="456304" y="670495"/>
                </a:cubicBezTo>
                <a:cubicBezTo>
                  <a:pt x="424383" y="638575"/>
                  <a:pt x="406798" y="596320"/>
                  <a:pt x="406798" y="551398"/>
                </a:cubicBezTo>
                <a:lnTo>
                  <a:pt x="406798" y="408215"/>
                </a:lnTo>
                <a:cubicBezTo>
                  <a:pt x="406882" y="394213"/>
                  <a:pt x="418216" y="382879"/>
                  <a:pt x="432218" y="382879"/>
                </a:cubicBezTo>
                <a:lnTo>
                  <a:pt x="575401" y="382879"/>
                </a:lnTo>
                <a:cubicBezTo>
                  <a:pt x="620240" y="382879"/>
                  <a:pt x="662578" y="400464"/>
                  <a:pt x="694498" y="432385"/>
                </a:cubicBezTo>
                <a:cubicBezTo>
                  <a:pt x="726419" y="464305"/>
                  <a:pt x="744004" y="506560"/>
                  <a:pt x="744004" y="551398"/>
                </a:cubicBezTo>
                <a:cubicBezTo>
                  <a:pt x="744004" y="596237"/>
                  <a:pt x="726419" y="638575"/>
                  <a:pt x="694498" y="670495"/>
                </a:cubicBezTo>
                <a:cubicBezTo>
                  <a:pt x="662578" y="702416"/>
                  <a:pt x="620323" y="720001"/>
                  <a:pt x="575401" y="720001"/>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6" name="标题 1"/>
          <p:cNvSpPr txBox="1"/>
          <p:nvPr/>
        </p:nvSpPr>
        <p:spPr>
          <a:xfrm>
            <a:off x="8206900" y="4399621"/>
            <a:ext cx="3312000" cy="1385582"/>
          </a:xfrm>
          <a:prstGeom prst="rect">
            <a:avLst/>
          </a:prstGeom>
          <a:noFill/>
          <a:ln>
            <a:noFill/>
          </a:ln>
        </p:spPr>
        <p:txBody>
          <a:bodyPr vert="horz" wrap="square" lIns="0" tIns="0" rIns="0" bIns="0" rtlCol="0" anchor="t"/>
          <a:lstStyle/>
          <a:p>
            <a:pPr algn="ctr"/>
            <a:r>
              <a:rPr kumimoji="1" lang="en-US" altLang="zh-CN" sz="1400">
                <a:ln w="12700">
                  <a:noFill/>
                </a:ln>
                <a:solidFill>
                  <a:srgbClr val="262626">
                    <a:alpha val="100000"/>
                  </a:srgbClr>
                </a:solidFill>
                <a:latin typeface="Poppins"/>
                <a:ea typeface="Poppins"/>
                <a:cs typeface="Poppins"/>
              </a:rPr>
              <a:t>Entrenamiento del personal para reconocer anomalías físicas y lógicas.
Detección de picos inusuales de tráfico y otras señales de alerta.</a:t>
            </a:r>
            <a:endParaRPr kumimoji="1" lang="zh-CN" altLang="en-US"/>
          </a:p>
        </p:txBody>
      </p:sp>
      <p:sp>
        <p:nvSpPr>
          <p:cNvPr id="17" name="标题 1"/>
          <p:cNvSpPr txBox="1"/>
          <p:nvPr/>
        </p:nvSpPr>
        <p:spPr>
          <a:xfrm>
            <a:off x="8206900" y="3534911"/>
            <a:ext cx="3312000" cy="756000"/>
          </a:xfrm>
          <a:prstGeom prst="rect">
            <a:avLst/>
          </a:prstGeom>
          <a:noFill/>
          <a:ln w="12700" cap="sq">
            <a:noFill/>
            <a:miter/>
          </a:ln>
        </p:spPr>
        <p:txBody>
          <a:bodyPr vert="horz" wrap="square" lIns="0" tIns="0" rIns="0" bIns="0" rtlCol="0" anchor="b"/>
          <a:lstStyle/>
          <a:p>
            <a:pPr algn="ctr"/>
            <a:r>
              <a:rPr kumimoji="1" lang="en-US" altLang="zh-CN" sz="1600">
                <a:ln w="12700">
                  <a:noFill/>
                </a:ln>
                <a:solidFill>
                  <a:srgbClr val="262626">
                    <a:alpha val="100000"/>
                  </a:srgbClr>
                </a:solidFill>
                <a:latin typeface="poppins-bold"/>
                <a:ea typeface="poppins-bold"/>
                <a:cs typeface="poppins-bold"/>
              </a:rPr>
              <a:t>Capacitación Especializada</a:t>
            </a:r>
            <a:endParaRPr kumimoji="1" lang="zh-CN" altLang="en-US"/>
          </a:p>
        </p:txBody>
      </p:sp>
      <p:sp>
        <p:nvSpPr>
          <p:cNvPr id="18"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800" dirty="0">
                <a:ln w="12700">
                  <a:noFill/>
                </a:ln>
                <a:solidFill>
                  <a:srgbClr val="262626">
                    <a:alpha val="100000"/>
                  </a:srgbClr>
                </a:solidFill>
                <a:latin typeface="poppins-bold"/>
                <a:ea typeface="poppins-bold"/>
                <a:cs typeface="poppins-bold"/>
              </a:rPr>
              <a:t>El </a:t>
            </a:r>
            <a:r>
              <a:rPr kumimoji="1" lang="en-US" altLang="zh-CN" sz="2800" dirty="0" err="1">
                <a:ln w="12700">
                  <a:noFill/>
                </a:ln>
                <a:solidFill>
                  <a:srgbClr val="262626">
                    <a:alpha val="100000"/>
                  </a:srgbClr>
                </a:solidFill>
                <a:latin typeface="poppins-bold"/>
                <a:ea typeface="poppins-bold"/>
                <a:cs typeface="poppins-bold"/>
              </a:rPr>
              <a:t>Perímetro</a:t>
            </a:r>
            <a:r>
              <a:rPr kumimoji="1" lang="en-US" altLang="zh-CN" sz="2800" dirty="0">
                <a:ln w="12700">
                  <a:noFill/>
                </a:ln>
                <a:solidFill>
                  <a:srgbClr val="262626">
                    <a:alpha val="100000"/>
                  </a:srgbClr>
                </a:solidFill>
                <a:latin typeface="poppins-bold"/>
                <a:ea typeface="poppins-bold"/>
                <a:cs typeface="poppins-bold"/>
              </a:rPr>
              <a:t> Humano y </a:t>
            </a:r>
          </a:p>
          <a:p>
            <a:pPr algn="l"/>
            <a:r>
              <a:rPr kumimoji="1" lang="en-US" altLang="zh-CN" sz="2800" dirty="0">
                <a:ln w="12700">
                  <a:noFill/>
                </a:ln>
                <a:solidFill>
                  <a:srgbClr val="262626">
                    <a:alpha val="100000"/>
                  </a:srgbClr>
                </a:solidFill>
                <a:latin typeface="poppins-bold"/>
                <a:ea typeface="poppins-bold"/>
                <a:cs typeface="poppins-bold"/>
              </a:rPr>
              <a:t>de </a:t>
            </a:r>
            <a:r>
              <a:rPr kumimoji="1" lang="en-US" altLang="zh-CN" sz="2800" dirty="0" err="1">
                <a:ln w="12700">
                  <a:noFill/>
                </a:ln>
                <a:solidFill>
                  <a:srgbClr val="262626">
                    <a:alpha val="100000"/>
                  </a:srgbClr>
                </a:solidFill>
                <a:latin typeface="poppins-bold"/>
                <a:ea typeface="poppins-bold"/>
                <a:cs typeface="poppins-bold"/>
              </a:rPr>
              <a:t>Procesos</a:t>
            </a:r>
            <a:r>
              <a:rPr kumimoji="1" lang="en-US" altLang="zh-CN" sz="2800" dirty="0">
                <a:ln w="12700">
                  <a:noFill/>
                </a:ln>
                <a:solidFill>
                  <a:srgbClr val="262626">
                    <a:alpha val="100000"/>
                  </a:srgbClr>
                </a:solidFill>
                <a:latin typeface="poppins-bold"/>
                <a:ea typeface="poppins-bold"/>
                <a:cs typeface="poppins-bold"/>
              </a:rPr>
              <a:t> (Los </a:t>
            </a:r>
            <a:r>
              <a:rPr kumimoji="1" lang="en-US" altLang="zh-CN" sz="2800" dirty="0" err="1">
                <a:ln w="12700">
                  <a:noFill/>
                </a:ln>
                <a:solidFill>
                  <a:srgbClr val="262626">
                    <a:alpha val="100000"/>
                  </a:srgbClr>
                </a:solidFill>
                <a:latin typeface="poppins-bold"/>
                <a:ea typeface="poppins-bold"/>
                <a:cs typeface="poppins-bold"/>
              </a:rPr>
              <a:t>Guardianes</a:t>
            </a:r>
            <a:r>
              <a:rPr kumimoji="1" lang="en-US" altLang="zh-CN" sz="2800" dirty="0">
                <a:ln w="12700">
                  <a:noFill/>
                </a:ln>
                <a:solidFill>
                  <a:srgbClr val="262626">
                    <a:alpha val="100000"/>
                  </a:srgbClr>
                </a:solidFill>
                <a:latin typeface="poppins-bold"/>
                <a:ea typeface="poppins-bold"/>
                <a:cs typeface="poppins-bold"/>
              </a:rPr>
              <a:t>)</a:t>
            </a:r>
            <a:endParaRPr kumimoji="1" lang="zh-CN" altLang="en-US" dirty="0"/>
          </a:p>
        </p:txBody>
      </p:sp>
      <p:sp>
        <p:nvSpPr>
          <p:cNvPr id="19"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20"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21" name="Imagen 20">
            <a:extLst>
              <a:ext uri="{FF2B5EF4-FFF2-40B4-BE49-F238E27FC236}">
                <a16:creationId xmlns:a16="http://schemas.microsoft.com/office/drawing/2014/main" id="{4F83384A-02C2-0BA9-F66C-5DD4FBD89DB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873650" y="2002709"/>
            <a:ext cx="1755485" cy="1117115"/>
          </a:xfrm>
          <a:prstGeom prst="rect">
            <a:avLst/>
          </a:prstGeom>
          <a:noFill/>
          <a:ln w="12700" cap="sq">
            <a:noFill/>
            <a:miter/>
          </a:ln>
        </p:spPr>
        <p:txBody>
          <a:bodyPr vert="horz" wrap="square" lIns="0" tIns="0" rIns="0" bIns="0" rtlCol="0" anchor="ctr"/>
          <a:lstStyle/>
          <a:p>
            <a:pPr algn="l"/>
            <a:r>
              <a:rPr kumimoji="1" lang="en-US" altLang="zh-CN" sz="8000" dirty="0">
                <a:ln w="12700">
                  <a:noFill/>
                </a:ln>
                <a:solidFill>
                  <a:srgbClr val="262626">
                    <a:alpha val="100000"/>
                  </a:srgbClr>
                </a:solidFill>
                <a:latin typeface="poppins-bold"/>
                <a:ea typeface="poppins-bold"/>
                <a:cs typeface="poppins-bold"/>
              </a:rPr>
              <a:t> 05</a:t>
            </a:r>
            <a:endParaRPr kumimoji="1" lang="zh-CN" altLang="en-US" dirty="0"/>
          </a:p>
        </p:txBody>
      </p:sp>
      <p:sp>
        <p:nvSpPr>
          <p:cNvPr id="7" name="标题 1"/>
          <p:cNvSpPr txBox="1"/>
          <p:nvPr/>
        </p:nvSpPr>
        <p:spPr>
          <a:xfrm>
            <a:off x="1751392" y="3119824"/>
            <a:ext cx="5911783" cy="2020369"/>
          </a:xfrm>
          <a:prstGeom prst="rect">
            <a:avLst/>
          </a:prstGeom>
          <a:noFill/>
          <a:ln w="12700" cap="sq">
            <a:noFill/>
            <a:miter/>
          </a:ln>
        </p:spPr>
        <p:txBody>
          <a:bodyPr vert="horz" wrap="square" lIns="0" tIns="0" rIns="0" bIns="0" rtlCol="0" anchor="t"/>
          <a:lstStyle/>
          <a:p>
            <a:pPr algn="l"/>
            <a:r>
              <a:rPr kumimoji="1" lang="en-US" altLang="zh-CN" sz="2400" dirty="0">
                <a:ln w="12700">
                  <a:noFill/>
                </a:ln>
                <a:solidFill>
                  <a:srgbClr val="262626">
                    <a:alpha val="100000"/>
                  </a:srgbClr>
                </a:solidFill>
                <a:latin typeface="poppins-bold"/>
                <a:ea typeface="poppins-bold"/>
                <a:cs typeface="poppins-bold"/>
              </a:rPr>
              <a:t>Conclusión</a:t>
            </a:r>
            <a:endParaRPr kumimoji="1" lang="zh-CN" altLang="en-US" dirty="0"/>
          </a:p>
        </p:txBody>
      </p:sp>
      <p:pic>
        <p:nvPicPr>
          <p:cNvPr id="11" name="Imagen 10">
            <a:extLst>
              <a:ext uri="{FF2B5EF4-FFF2-40B4-BE49-F238E27FC236}">
                <a16:creationId xmlns:a16="http://schemas.microsoft.com/office/drawing/2014/main" id="{95F5C201-FE21-F6C0-880E-2DB5FFE451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a:off x="847090" y="1582288"/>
            <a:ext cx="6644640" cy="3177413"/>
          </a:xfrm>
          <a:custGeom>
            <a:avLst/>
            <a:gdLst>
              <a:gd name="connsiteX0" fmla="*/ 3987939 w 3987939"/>
              <a:gd name="connsiteY0" fmla="*/ 534734 h 1907000"/>
              <a:gd name="connsiteX1" fmla="*/ 3131737 w 3987939"/>
              <a:gd name="connsiteY1" fmla="*/ 0 h 1907000"/>
              <a:gd name="connsiteX2" fmla="*/ 2164949 w 3987939"/>
              <a:gd name="connsiteY2" fmla="*/ 669227 h 1907000"/>
              <a:gd name="connsiteX3" fmla="*/ 1912537 w 3987939"/>
              <a:gd name="connsiteY3" fmla="*/ 1259777 h 1907000"/>
              <a:gd name="connsiteX4" fmla="*/ 952893 w 3987939"/>
              <a:gd name="connsiteY4" fmla="*/ 1907000 h 1907000"/>
              <a:gd name="connsiteX5" fmla="*/ 0 w 3987939"/>
              <a:gd name="connsiteY5" fmla="*/ 954891 h 1907000"/>
              <a:gd name="connsiteX6" fmla="*/ 952102 w 3987939"/>
              <a:gd name="connsiteY6" fmla="*/ 2000 h 1907000"/>
              <a:gd name="connsiteX7" fmla="*/ 1602974 w 3987939"/>
              <a:gd name="connsiteY7" fmla="*/ 258699 h 1907000"/>
            </a:gdLst>
            <a:ahLst/>
            <a:cxnLst/>
            <a:rect l="l" t="t" r="r" b="b"/>
            <a:pathLst>
              <a:path w="3987939" h="1907000">
                <a:moveTo>
                  <a:pt x="3987939" y="534734"/>
                </a:moveTo>
                <a:cubicBezTo>
                  <a:pt x="3828224" y="207475"/>
                  <a:pt x="3495887" y="-79"/>
                  <a:pt x="3131737" y="0"/>
                </a:cubicBezTo>
                <a:cubicBezTo>
                  <a:pt x="2704350" y="0"/>
                  <a:pt x="2350687" y="276225"/>
                  <a:pt x="2164949" y="669227"/>
                </a:cubicBezTo>
                <a:cubicBezTo>
                  <a:pt x="2104656" y="796671"/>
                  <a:pt x="1988737" y="1104900"/>
                  <a:pt x="1912537" y="1259777"/>
                </a:cubicBezTo>
                <a:cubicBezTo>
                  <a:pt x="1736896" y="1617917"/>
                  <a:pt x="1372184" y="1907000"/>
                  <a:pt x="952893" y="1907000"/>
                </a:cubicBezTo>
                <a:cubicBezTo>
                  <a:pt x="426842" y="1907219"/>
                  <a:pt x="217" y="1480947"/>
                  <a:pt x="0" y="954891"/>
                </a:cubicBezTo>
                <a:cubicBezTo>
                  <a:pt x="-217" y="428842"/>
                  <a:pt x="426056" y="2218"/>
                  <a:pt x="952102" y="2000"/>
                </a:cubicBezTo>
                <a:cubicBezTo>
                  <a:pt x="1193771" y="1901"/>
                  <a:pt x="1426438" y="93663"/>
                  <a:pt x="1602974" y="258699"/>
                </a:cubicBezTo>
              </a:path>
            </a:pathLst>
          </a:custGeom>
          <a:noFill/>
          <a:ln w="50800" cap="flat">
            <a:gradFill>
              <a:gsLst>
                <a:gs pos="0">
                  <a:schemeClr val="accent1"/>
                </a:gs>
                <a:gs pos="100000">
                  <a:schemeClr val="accent2"/>
                </a:gs>
              </a:gsLst>
              <a:lin ang="1800000" scaled="0"/>
            </a:gradFill>
            <a:miter/>
            <a:headEnd type="oval"/>
            <a:tailEnd type="oval"/>
          </a:ln>
          <a:effectLst>
            <a:outerShdw blurRad="190500" dist="127000" dir="5400000" algn="t" rotWithShape="0">
              <a:schemeClr val="accent1">
                <a:alpha val="20000"/>
              </a:schemeClr>
            </a:outerShdw>
          </a:effectLst>
        </p:spPr>
        <p:txBody>
          <a:bodyPr vert="horz" wrap="square" lIns="91440" tIns="45720" rIns="91440" bIns="45720" rtlCol="0" anchor="ctr"/>
          <a:lstStyle/>
          <a:p>
            <a:pPr algn="l"/>
            <a:endParaRPr kumimoji="1" lang="zh-CN" altLang="en-US"/>
          </a:p>
        </p:txBody>
      </p:sp>
      <p:sp>
        <p:nvSpPr>
          <p:cNvPr id="3" name="标题 1"/>
          <p:cNvSpPr txBox="1"/>
          <p:nvPr/>
        </p:nvSpPr>
        <p:spPr>
          <a:xfrm flipH="1" flipV="1">
            <a:off x="4687570" y="1582288"/>
            <a:ext cx="6644640" cy="3177413"/>
          </a:xfrm>
          <a:custGeom>
            <a:avLst/>
            <a:gdLst>
              <a:gd name="connsiteX0" fmla="*/ 3987939 w 3987939"/>
              <a:gd name="connsiteY0" fmla="*/ 534734 h 1907000"/>
              <a:gd name="connsiteX1" fmla="*/ 3131737 w 3987939"/>
              <a:gd name="connsiteY1" fmla="*/ 0 h 1907000"/>
              <a:gd name="connsiteX2" fmla="*/ 2164949 w 3987939"/>
              <a:gd name="connsiteY2" fmla="*/ 669227 h 1907000"/>
              <a:gd name="connsiteX3" fmla="*/ 1912537 w 3987939"/>
              <a:gd name="connsiteY3" fmla="*/ 1259777 h 1907000"/>
              <a:gd name="connsiteX4" fmla="*/ 952893 w 3987939"/>
              <a:gd name="connsiteY4" fmla="*/ 1907000 h 1907000"/>
              <a:gd name="connsiteX5" fmla="*/ 0 w 3987939"/>
              <a:gd name="connsiteY5" fmla="*/ 954891 h 1907000"/>
              <a:gd name="connsiteX6" fmla="*/ 952102 w 3987939"/>
              <a:gd name="connsiteY6" fmla="*/ 2000 h 1907000"/>
              <a:gd name="connsiteX7" fmla="*/ 1602974 w 3987939"/>
              <a:gd name="connsiteY7" fmla="*/ 258699 h 1907000"/>
            </a:gdLst>
            <a:ahLst/>
            <a:cxnLst/>
            <a:rect l="l" t="t" r="r" b="b"/>
            <a:pathLst>
              <a:path w="3987939" h="1907000">
                <a:moveTo>
                  <a:pt x="3987939" y="534734"/>
                </a:moveTo>
                <a:cubicBezTo>
                  <a:pt x="3828224" y="207475"/>
                  <a:pt x="3495887" y="-79"/>
                  <a:pt x="3131737" y="0"/>
                </a:cubicBezTo>
                <a:cubicBezTo>
                  <a:pt x="2704350" y="0"/>
                  <a:pt x="2350687" y="276225"/>
                  <a:pt x="2164949" y="669227"/>
                </a:cubicBezTo>
                <a:cubicBezTo>
                  <a:pt x="2104656" y="796671"/>
                  <a:pt x="1988737" y="1104900"/>
                  <a:pt x="1912537" y="1259777"/>
                </a:cubicBezTo>
                <a:cubicBezTo>
                  <a:pt x="1736896" y="1617917"/>
                  <a:pt x="1372184" y="1907000"/>
                  <a:pt x="952893" y="1907000"/>
                </a:cubicBezTo>
                <a:cubicBezTo>
                  <a:pt x="426842" y="1907219"/>
                  <a:pt x="217" y="1480947"/>
                  <a:pt x="0" y="954891"/>
                </a:cubicBezTo>
                <a:cubicBezTo>
                  <a:pt x="-217" y="428842"/>
                  <a:pt x="426056" y="2218"/>
                  <a:pt x="952102" y="2000"/>
                </a:cubicBezTo>
                <a:cubicBezTo>
                  <a:pt x="1193771" y="1901"/>
                  <a:pt x="1426438" y="93663"/>
                  <a:pt x="1602974" y="258699"/>
                </a:cubicBezTo>
              </a:path>
            </a:pathLst>
          </a:custGeom>
          <a:noFill/>
          <a:ln w="50800" cap="flat">
            <a:gradFill>
              <a:gsLst>
                <a:gs pos="0">
                  <a:schemeClr val="accent1"/>
                </a:gs>
                <a:gs pos="100000">
                  <a:schemeClr val="accent2"/>
                </a:gs>
              </a:gsLst>
              <a:lin ang="1800000" scaled="0"/>
            </a:gradFill>
            <a:miter/>
            <a:headEnd type="oval"/>
            <a:tailEnd type="oval"/>
          </a:ln>
          <a:effectLst>
            <a:outerShdw blurRad="190500" dist="127000" dir="5400000" algn="t" rotWithShape="0">
              <a:schemeClr val="accent1">
                <a:alpha val="20000"/>
              </a:schemeClr>
            </a:outerShdw>
          </a:effectLst>
        </p:spPr>
        <p:txBody>
          <a:bodyPr vert="horz" wrap="square" lIns="91440" tIns="45720" rIns="91440" bIns="45720" rtlCol="0" anchor="ctr"/>
          <a:lstStyle/>
          <a:p>
            <a:pPr algn="l"/>
            <a:endParaRPr kumimoji="1" lang="zh-CN" altLang="en-US"/>
          </a:p>
        </p:txBody>
      </p:sp>
      <p:sp>
        <p:nvSpPr>
          <p:cNvPr id="4" name="标题 1"/>
          <p:cNvSpPr txBox="1"/>
          <p:nvPr/>
        </p:nvSpPr>
        <p:spPr>
          <a:xfrm>
            <a:off x="1290090" y="2674734"/>
            <a:ext cx="2232000" cy="1080000"/>
          </a:xfrm>
          <a:prstGeom prst="rect">
            <a:avLst/>
          </a:prstGeom>
          <a:noFill/>
          <a:ln>
            <a:noFill/>
          </a:ln>
        </p:spPr>
        <p:txBody>
          <a:bodyPr vert="horz" wrap="square" lIns="0" tIns="0" rIns="0" bIns="0" rtlCol="0" anchor="t"/>
          <a:lstStyle/>
          <a:p>
            <a:pPr algn="ctr"/>
            <a:r>
              <a:rPr kumimoji="1" lang="en-US" altLang="zh-CN" sz="1400">
                <a:ln w="12700">
                  <a:noFill/>
                </a:ln>
                <a:solidFill>
                  <a:srgbClr val="595959">
                    <a:alpha val="100000"/>
                  </a:srgbClr>
                </a:solidFill>
                <a:latin typeface="Poppins"/>
                <a:ea typeface="Poppins"/>
                <a:cs typeface="Poppins"/>
              </a:rPr>
              <a:t>Creación de un entorno seguro y resiliente.</a:t>
            </a:r>
            <a:endParaRPr kumimoji="1" lang="zh-CN" altLang="en-US"/>
          </a:p>
        </p:txBody>
      </p:sp>
      <p:sp>
        <p:nvSpPr>
          <p:cNvPr id="5" name="标题 1"/>
          <p:cNvSpPr txBox="1"/>
          <p:nvPr/>
        </p:nvSpPr>
        <p:spPr>
          <a:xfrm>
            <a:off x="4973650" y="2674734"/>
            <a:ext cx="2232000" cy="1080000"/>
          </a:xfrm>
          <a:prstGeom prst="rect">
            <a:avLst/>
          </a:prstGeom>
          <a:noFill/>
          <a:ln>
            <a:noFill/>
          </a:ln>
        </p:spPr>
        <p:txBody>
          <a:bodyPr vert="horz" wrap="square" lIns="0" tIns="0" rIns="0" bIns="0" rtlCol="0" anchor="t"/>
          <a:lstStyle/>
          <a:p>
            <a:pPr algn="ctr"/>
            <a:r>
              <a:rPr kumimoji="1" lang="en-US" altLang="zh-CN" sz="1400">
                <a:ln w="12700">
                  <a:noFill/>
                </a:ln>
                <a:solidFill>
                  <a:srgbClr val="595959">
                    <a:alpha val="100000"/>
                  </a:srgbClr>
                </a:solidFill>
                <a:latin typeface="Poppins"/>
                <a:ea typeface="Poppins"/>
                <a:cs typeface="Poppins"/>
              </a:rPr>
              <a:t>Garantía de continuidad operativa de servicios institucionales.</a:t>
            </a:r>
            <a:endParaRPr kumimoji="1" lang="zh-CN" altLang="en-US"/>
          </a:p>
        </p:txBody>
      </p:sp>
      <p:sp>
        <p:nvSpPr>
          <p:cNvPr id="6" name="标题 1"/>
          <p:cNvSpPr txBox="1"/>
          <p:nvPr/>
        </p:nvSpPr>
        <p:spPr>
          <a:xfrm>
            <a:off x="8657210" y="2674734"/>
            <a:ext cx="2232000" cy="1080000"/>
          </a:xfrm>
          <a:prstGeom prst="rect">
            <a:avLst/>
          </a:prstGeom>
          <a:noFill/>
          <a:ln>
            <a:noFill/>
          </a:ln>
        </p:spPr>
        <p:txBody>
          <a:bodyPr vert="horz" wrap="square" lIns="0" tIns="0" rIns="0" bIns="0" rtlCol="0" anchor="t"/>
          <a:lstStyle/>
          <a:p>
            <a:pPr algn="ctr"/>
            <a:r>
              <a:rPr kumimoji="1" lang="en-US" altLang="zh-CN" sz="1400">
                <a:ln w="12700">
                  <a:noFill/>
                </a:ln>
                <a:solidFill>
                  <a:srgbClr val="595959">
                    <a:alpha val="100000"/>
                  </a:srgbClr>
                </a:solidFill>
                <a:latin typeface="Poppins"/>
                <a:ea typeface="Poppins"/>
                <a:cs typeface="Poppins"/>
              </a:rPr>
              <a:t>Mantenimiento de la confianza en sistemas tecnológicos.</a:t>
            </a:r>
            <a:endParaRPr kumimoji="1" lang="zh-CN" altLang="en-US"/>
          </a:p>
        </p:txBody>
      </p:sp>
      <p:sp>
        <p:nvSpPr>
          <p:cNvPr id="7" name="标题 1"/>
          <p:cNvSpPr txBox="1"/>
          <p:nvPr/>
        </p:nvSpPr>
        <p:spPr>
          <a:xfrm>
            <a:off x="696000" y="5152964"/>
            <a:ext cx="10800000" cy="720000"/>
          </a:xfrm>
          <a:prstGeom prst="rect">
            <a:avLst/>
          </a:prstGeom>
          <a:noFill/>
          <a:ln cap="sq">
            <a:noFill/>
          </a:ln>
          <a:effectLst/>
        </p:spPr>
        <p:txBody>
          <a:bodyPr vert="horz" wrap="square" lIns="0" tIns="0" rIns="0" bIns="0" rtlCol="0" anchor="ctr"/>
          <a:lstStyle/>
          <a:p>
            <a:pPr algn="ctr"/>
            <a:r>
              <a:rPr kumimoji="1" lang="en-US" altLang="zh-CN" sz="1600">
                <a:ln w="12700">
                  <a:noFill/>
                </a:ln>
                <a:solidFill>
                  <a:srgbClr val="262626">
                    <a:alpha val="100000"/>
                  </a:srgbClr>
                </a:solidFill>
                <a:latin typeface="poppins-bold"/>
                <a:ea typeface="poppins-bold"/>
                <a:cs typeface="poppins-bold"/>
              </a:rPr>
              <a:t>Integración de Tecnologías, Políticas y Capacitación</a:t>
            </a:r>
            <a:endParaRPr kumimoji="1" lang="zh-CN" altLang="en-US"/>
          </a:p>
        </p:txBody>
      </p:sp>
      <p:sp>
        <p:nvSpPr>
          <p:cNvPr id="8" name="标题 1"/>
          <p:cNvSpPr txBox="1"/>
          <p:nvPr/>
        </p:nvSpPr>
        <p:spPr>
          <a:xfrm>
            <a:off x="783520" y="467040"/>
            <a:ext cx="10671175" cy="468000"/>
          </a:xfrm>
          <a:prstGeom prst="rect">
            <a:avLst/>
          </a:prstGeom>
          <a:noFill/>
          <a:ln>
            <a:noFill/>
          </a:ln>
        </p:spPr>
        <p:txBody>
          <a:bodyPr vert="horz" wrap="square" lIns="0" tIns="0" rIns="0" bIns="0" rtlCol="0" anchor="ctr"/>
          <a:lstStyle/>
          <a:p>
            <a:pPr algn="l"/>
            <a:r>
              <a:rPr kumimoji="1" lang="en-US" altLang="zh-CN" sz="2193" dirty="0" err="1">
                <a:ln w="12700">
                  <a:noFill/>
                </a:ln>
                <a:solidFill>
                  <a:srgbClr val="262626">
                    <a:alpha val="100000"/>
                  </a:srgbClr>
                </a:solidFill>
                <a:latin typeface="poppins-bold"/>
                <a:ea typeface="poppins-bold"/>
                <a:cs typeface="poppins-bold"/>
              </a:rPr>
              <a:t>Responsabilidad</a:t>
            </a:r>
            <a:r>
              <a:rPr kumimoji="1" lang="en-US" altLang="zh-CN" sz="2193" dirty="0">
                <a:ln w="12700">
                  <a:noFill/>
                </a:ln>
                <a:solidFill>
                  <a:srgbClr val="262626">
                    <a:alpha val="100000"/>
                  </a:srgbClr>
                </a:solidFill>
                <a:latin typeface="poppins-bold"/>
                <a:ea typeface="poppins-bold"/>
                <a:cs typeface="poppins-bold"/>
              </a:rPr>
              <a:t> </a:t>
            </a:r>
            <a:r>
              <a:rPr kumimoji="1" lang="en-US" altLang="zh-CN" sz="2193" dirty="0" err="1">
                <a:ln w="12700">
                  <a:noFill/>
                </a:ln>
                <a:solidFill>
                  <a:srgbClr val="262626">
                    <a:alpha val="100000"/>
                  </a:srgbClr>
                </a:solidFill>
                <a:latin typeface="poppins-bold"/>
                <a:ea typeface="poppins-bold"/>
                <a:cs typeface="poppins-bold"/>
              </a:rPr>
              <a:t>Estratégica</a:t>
            </a:r>
            <a:r>
              <a:rPr kumimoji="1" lang="en-US" altLang="zh-CN" sz="2193" dirty="0">
                <a:ln w="12700">
                  <a:noFill/>
                </a:ln>
                <a:solidFill>
                  <a:srgbClr val="262626">
                    <a:alpha val="100000"/>
                  </a:srgbClr>
                </a:solidFill>
                <a:latin typeface="poppins-bold"/>
                <a:ea typeface="poppins-bold"/>
                <a:cs typeface="poppins-bold"/>
              </a:rPr>
              <a:t> del </a:t>
            </a:r>
          </a:p>
          <a:p>
            <a:pPr algn="l"/>
            <a:r>
              <a:rPr kumimoji="1" lang="en-US" altLang="zh-CN" sz="2193" dirty="0">
                <a:ln w="12700">
                  <a:noFill/>
                </a:ln>
                <a:solidFill>
                  <a:srgbClr val="262626">
                    <a:alpha val="100000"/>
                  </a:srgbClr>
                </a:solidFill>
                <a:latin typeface="poppins-bold"/>
                <a:ea typeface="poppins-bold"/>
                <a:cs typeface="poppins-bold"/>
              </a:rPr>
              <a:t>Administrador del Centro de </a:t>
            </a:r>
            <a:r>
              <a:rPr kumimoji="1" lang="en-US" altLang="zh-CN" sz="2193" dirty="0" err="1">
                <a:ln w="12700">
                  <a:noFill/>
                </a:ln>
                <a:solidFill>
                  <a:srgbClr val="262626">
                    <a:alpha val="100000"/>
                  </a:srgbClr>
                </a:solidFill>
                <a:latin typeface="poppins-bold"/>
                <a:ea typeface="poppins-bold"/>
                <a:cs typeface="poppins-bold"/>
              </a:rPr>
              <a:t>Cómputo</a:t>
            </a:r>
            <a:endParaRPr kumimoji="1" lang="zh-CN" altLang="en-US" dirty="0"/>
          </a:p>
        </p:txBody>
      </p:sp>
      <p:sp>
        <p:nvSpPr>
          <p:cNvPr id="9" name="标题 1"/>
          <p:cNvSpPr txBox="1"/>
          <p:nvPr/>
        </p:nvSpPr>
        <p:spPr>
          <a:xfrm>
            <a:off x="287184" y="506325"/>
            <a:ext cx="373216" cy="373216"/>
          </a:xfrm>
          <a:prstGeom prst="round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176249" y="421530"/>
            <a:ext cx="251319" cy="251319"/>
          </a:xfrm>
          <a:prstGeom prst="roundRect">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pic>
        <p:nvPicPr>
          <p:cNvPr id="12" name="Imagen 11">
            <a:extLst>
              <a:ext uri="{FF2B5EF4-FFF2-40B4-BE49-F238E27FC236}">
                <a16:creationId xmlns:a16="http://schemas.microsoft.com/office/drawing/2014/main" id="{76580A0E-2DCE-0BF2-3876-F85AC2038CE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标题 1"/>
          <p:cNvSpPr txBox="1"/>
          <p:nvPr/>
        </p:nvSpPr>
        <p:spPr>
          <a:xfrm>
            <a:off x="914399" y="1200625"/>
            <a:ext cx="8748461" cy="2881022"/>
          </a:xfrm>
          <a:prstGeom prst="rect">
            <a:avLst/>
          </a:prstGeom>
          <a:noFill/>
          <a:ln w="12700" cap="sq">
            <a:noFill/>
            <a:miter/>
          </a:ln>
        </p:spPr>
        <p:txBody>
          <a:bodyPr vert="horz" wrap="square" lIns="0" tIns="0" rIns="0" bIns="0" rtlCol="0" anchor="b"/>
          <a:lstStyle/>
          <a:p>
            <a:pPr algn="l"/>
            <a:r>
              <a:rPr kumimoji="1" lang="en-US" altLang="zh-CN" sz="4300">
                <a:ln w="12700">
                  <a:noFill/>
                </a:ln>
                <a:solidFill>
                  <a:srgbClr val="262626">
                    <a:alpha val="100000"/>
                  </a:srgbClr>
                </a:solidFill>
                <a:latin typeface="poppins-bold"/>
                <a:ea typeface="poppins-bold"/>
                <a:cs typeface="poppins-bold"/>
              </a:rPr>
              <a:t>Thanks</a:t>
            </a:r>
            <a:endParaRPr kumimoji="1" lang="zh-CN" altLang="en-US"/>
          </a:p>
        </p:txBody>
      </p:sp>
      <p:sp>
        <p:nvSpPr>
          <p:cNvPr id="7" name="标题 1"/>
          <p:cNvSpPr txBox="1"/>
          <p:nvPr/>
        </p:nvSpPr>
        <p:spPr>
          <a:xfrm>
            <a:off x="914401" y="4646065"/>
            <a:ext cx="6972300" cy="276999"/>
          </a:xfrm>
          <a:prstGeom prst="rect">
            <a:avLst/>
          </a:prstGeom>
          <a:noFill/>
          <a:ln>
            <a:noFill/>
          </a:ln>
        </p:spPr>
        <p:txBody>
          <a:bodyPr vert="horz" wrap="square" lIns="0" tIns="0" rIns="0" bIns="0" rtlCol="0" anchor="t">
            <a:spAutoFit/>
          </a:bodyPr>
          <a:lstStyle/>
          <a:p>
            <a:pPr algn="l"/>
            <a:r>
              <a:rPr kumimoji="1" lang="en-US" altLang="zh-CN" dirty="0">
                <a:ln w="12700">
                  <a:noFill/>
                </a:ln>
                <a:solidFill>
                  <a:srgbClr val="262626">
                    <a:alpha val="100000"/>
                  </a:srgbClr>
                </a:solidFill>
                <a:latin typeface="Poppins"/>
                <a:ea typeface="Poppins"/>
                <a:cs typeface="Poppins"/>
              </a:rPr>
              <a:t>MGS.</a:t>
            </a:r>
            <a:r>
              <a:rPr kumimoji="1" lang="en-US" altLang="zh-CN" sz="1800" dirty="0">
                <a:ln w="12700">
                  <a:noFill/>
                </a:ln>
                <a:solidFill>
                  <a:srgbClr val="262626">
                    <a:alpha val="100000"/>
                  </a:srgbClr>
                </a:solidFill>
                <a:latin typeface="Poppins"/>
                <a:ea typeface="Poppins"/>
                <a:cs typeface="Poppins"/>
              </a:rPr>
              <a:t> JOSE FRANCO LAMILLA</a:t>
            </a:r>
            <a:endParaRPr kumimoji="1" lang="zh-CN" altLang="en-US" dirty="0"/>
          </a:p>
        </p:txBody>
      </p:sp>
      <p:cxnSp>
        <p:nvCxnSpPr>
          <p:cNvPr id="8" name="标题 1"/>
          <p:cNvCxnSpPr/>
          <p:nvPr/>
        </p:nvCxnSpPr>
        <p:spPr>
          <a:xfrm>
            <a:off x="1065856" y="773905"/>
            <a:ext cx="0" cy="254795"/>
          </a:xfrm>
          <a:prstGeom prst="line">
            <a:avLst/>
          </a:prstGeom>
          <a:noFill/>
          <a:ln w="12700" cap="sq">
            <a:solidFill>
              <a:schemeClr val="tx1">
                <a:lumMod val="85000"/>
                <a:lumOff val="15000"/>
              </a:schemeClr>
            </a:solidFill>
            <a:miter/>
          </a:ln>
        </p:spPr>
      </p:cxnSp>
      <p:cxnSp>
        <p:nvCxnSpPr>
          <p:cNvPr id="9" name="标题 1"/>
          <p:cNvCxnSpPr/>
          <p:nvPr/>
        </p:nvCxnSpPr>
        <p:spPr>
          <a:xfrm>
            <a:off x="1621972" y="773905"/>
            <a:ext cx="0" cy="254795"/>
          </a:xfrm>
          <a:prstGeom prst="line">
            <a:avLst/>
          </a:prstGeom>
          <a:noFill/>
          <a:ln w="12700" cap="sq">
            <a:solidFill>
              <a:schemeClr val="tx1">
                <a:lumMod val="85000"/>
                <a:lumOff val="15000"/>
              </a:schemeClr>
            </a:solidFill>
            <a:miter/>
          </a:ln>
        </p:spPr>
      </p:cxnSp>
      <p:sp>
        <p:nvSpPr>
          <p:cNvPr id="10" name="标题 1"/>
          <p:cNvSpPr txBox="1"/>
          <p:nvPr/>
        </p:nvSpPr>
        <p:spPr>
          <a:xfrm>
            <a:off x="660400" y="773905"/>
            <a:ext cx="254795" cy="254795"/>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1216516" y="781228"/>
            <a:ext cx="254795" cy="240150"/>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1772651" y="773905"/>
            <a:ext cx="254757" cy="254795"/>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tx1">
              <a:lumMod val="85000"/>
              <a:lumOff val="15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0" y="0"/>
            <a:ext cx="482600" cy="6870700"/>
          </a:xfrm>
          <a:prstGeom prst="rect">
            <a:avLst/>
          </a:prstGeom>
          <a:solidFill>
            <a:srgbClr val="C53645">
              <a:alpha val="100000"/>
            </a:srgbClr>
          </a:solidFill>
        </p:spPr>
        <p:txBody>
          <a:bodyPr vert="horz" wrap="square" lIns="0" tIns="0" rIns="0" bIns="0" rtlCol="0" anchor="ctr"/>
          <a:lstStyle/>
          <a:p>
            <a:pPr algn="ctr"/>
            <a:endParaRPr kumimoji="1" lang="zh-CN" altLang="en-US"/>
          </a:p>
        </p:txBody>
      </p:sp>
      <p:pic>
        <p:nvPicPr>
          <p:cNvPr id="15" name="Imagen 14">
            <a:extLst>
              <a:ext uri="{FF2B5EF4-FFF2-40B4-BE49-F238E27FC236}">
                <a16:creationId xmlns:a16="http://schemas.microsoft.com/office/drawing/2014/main" id="{B1934BBE-9508-7073-A783-40D321D3D2C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A66AC"/>
      </a:dk2>
      <a:lt2>
        <a:srgbClr val="E0EBF6"/>
      </a:lt2>
      <a:accent1>
        <a:srgbClr val="C53645"/>
      </a:accent1>
      <a:accent2>
        <a:srgbClr val="30556B"/>
      </a:accent2>
      <a:accent3>
        <a:srgbClr val="095CB6"/>
      </a:accent3>
      <a:accent4>
        <a:srgbClr val="487ED7"/>
      </a:accent4>
      <a:accent5>
        <a:srgbClr val="909090"/>
      </a:accent5>
      <a:accent6>
        <a:srgbClr val="BEBEBE"/>
      </a:accent6>
      <a:hlink>
        <a:srgbClr val="000000"/>
      </a:hlink>
      <a:folHlink>
        <a:srgbClr val="0000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993</Words>
  <Application>Microsoft Office PowerPoint</Application>
  <PresentationFormat>Panorámica</PresentationFormat>
  <Paragraphs>107</Paragraphs>
  <Slides>20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20</vt:i4>
      </vt:variant>
    </vt:vector>
  </HeadingPairs>
  <TitlesOfParts>
    <vt:vector size="24" baseType="lpstr">
      <vt:lpstr>Arial</vt:lpstr>
      <vt:lpstr>Poppins</vt:lpstr>
      <vt:lpstr>poppins-bold</vt:lpstr>
      <vt:lpstr>Office 主题​​</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TICS</cp:lastModifiedBy>
  <cp:revision>1</cp:revision>
  <dcterms:modified xsi:type="dcterms:W3CDTF">2025-10-14T16:08:48Z</dcterms:modified>
</cp:coreProperties>
</file>
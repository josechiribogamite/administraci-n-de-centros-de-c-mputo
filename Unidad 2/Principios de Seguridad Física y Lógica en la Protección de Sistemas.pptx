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</p:embeddedFont>
    <p:embeddedFont>
      <p:font typeface="poppins-bold" panose="020B0604020202020204" charset="0"/>
      <p:regular r:id="rId23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5195" y="1417794"/>
            <a:ext cx="10858499" cy="306276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Principios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Seguridad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Física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Lógica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 </a:t>
            </a:r>
            <a:r>
              <a:rPr kumimoji="1" lang="en-US" altLang="zh-CN" sz="4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Protección</a:t>
            </a:r>
            <a:r>
              <a:rPr kumimoji="1" lang="en-US" altLang="zh-CN" sz="4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Sistemas</a:t>
            </a:r>
            <a:endParaRPr kumimoji="1" lang="zh-CN" altLang="en-US" dirty="0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351AEEC-62C3-3DE6-F2F0-12482BB559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642554"/>
            <a:ext cx="12192000" cy="215445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V="1">
            <a:off x="1097987" y="5321065"/>
            <a:ext cx="3196358" cy="2768174"/>
          </a:xfrm>
          <a:custGeom>
            <a:avLst/>
            <a:gdLst>
              <a:gd name="connsiteX0" fmla="*/ 3166461 w 3166460"/>
              <a:gd name="connsiteY0" fmla="*/ 0 h 2742282"/>
              <a:gd name="connsiteX1" fmla="*/ 1583230 w 3166460"/>
              <a:gd name="connsiteY1" fmla="*/ 2742282 h 2742282"/>
              <a:gd name="connsiteX2" fmla="*/ 0 w 3166460"/>
              <a:gd name="connsiteY2" fmla="*/ 0 h 2742282"/>
              <a:gd name="connsiteX3" fmla="*/ 3166461 w 3166460"/>
              <a:gd name="connsiteY3" fmla="*/ 0 h 2742282"/>
            </a:gdLst>
            <a:ahLst/>
            <a:cxnLst/>
            <a:rect l="l" t="t" r="r" b="b"/>
            <a:pathLst>
              <a:path w="3166460" h="2742282">
                <a:moveTo>
                  <a:pt x="3166461" y="0"/>
                </a:moveTo>
                <a:lnTo>
                  <a:pt x="1583230" y="2742282"/>
                </a:lnTo>
                <a:lnTo>
                  <a:pt x="0" y="0"/>
                </a:lnTo>
                <a:lnTo>
                  <a:pt x="3166461" y="0"/>
                </a:lnTo>
                <a:close/>
              </a:path>
            </a:pathLst>
          </a:custGeom>
          <a:solidFill>
            <a:schemeClr val="accent2"/>
          </a:solidFill>
          <a:ln w="5042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V="1">
            <a:off x="-1160542" y="4177545"/>
            <a:ext cx="4517058" cy="3911694"/>
          </a:xfrm>
          <a:custGeom>
            <a:avLst/>
            <a:gdLst>
              <a:gd name="connsiteX0" fmla="*/ 4474807 w 4474806"/>
              <a:gd name="connsiteY0" fmla="*/ 3875107 h 3875106"/>
              <a:gd name="connsiteX1" fmla="*/ 2237403 w 4474806"/>
              <a:gd name="connsiteY1" fmla="*/ 0 h 3875106"/>
              <a:gd name="connsiteX2" fmla="*/ 0 w 4474806"/>
              <a:gd name="connsiteY2" fmla="*/ 3875107 h 3875106"/>
              <a:gd name="connsiteX3" fmla="*/ 4474807 w 4474806"/>
              <a:gd name="connsiteY3" fmla="*/ 3875107 h 3875106"/>
            </a:gdLst>
            <a:ahLst/>
            <a:cxnLst/>
            <a:rect l="l" t="t" r="r" b="b"/>
            <a:pathLst>
              <a:path w="4474806" h="3875106">
                <a:moveTo>
                  <a:pt x="4474807" y="3875107"/>
                </a:moveTo>
                <a:lnTo>
                  <a:pt x="2237403" y="0"/>
                </a:lnTo>
                <a:lnTo>
                  <a:pt x="0" y="3875107"/>
                </a:lnTo>
                <a:lnTo>
                  <a:pt x="4474807" y="3875107"/>
                </a:lnTo>
                <a:close/>
              </a:path>
            </a:pathLst>
          </a:custGeom>
          <a:solidFill>
            <a:schemeClr val="accent1"/>
          </a:solidFill>
          <a:ln w="5042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-1036313" y="2735161"/>
            <a:ext cx="5255815" cy="4551680"/>
          </a:xfrm>
          <a:custGeom>
            <a:avLst/>
            <a:gdLst>
              <a:gd name="connsiteX0" fmla="*/ 5206654 w 5206653"/>
              <a:gd name="connsiteY0" fmla="*/ 4509106 h 4509105"/>
              <a:gd name="connsiteX1" fmla="*/ 2603075 w 5206653"/>
              <a:gd name="connsiteY1" fmla="*/ 0 h 4509105"/>
              <a:gd name="connsiteX2" fmla="*/ 0 w 5206653"/>
              <a:gd name="connsiteY2" fmla="*/ 4509106 h 4509105"/>
              <a:gd name="connsiteX3" fmla="*/ 5206654 w 5206653"/>
              <a:gd name="connsiteY3" fmla="*/ 4509106 h 4509105"/>
            </a:gdLst>
            <a:ahLst/>
            <a:cxnLst/>
            <a:rect l="l" t="t" r="r" b="b"/>
            <a:pathLst>
              <a:path w="5206653" h="4509105">
                <a:moveTo>
                  <a:pt x="5206654" y="4509106"/>
                </a:moveTo>
                <a:lnTo>
                  <a:pt x="2603075" y="0"/>
                </a:lnTo>
                <a:lnTo>
                  <a:pt x="0" y="4509106"/>
                </a:lnTo>
                <a:lnTo>
                  <a:pt x="5206654" y="4509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042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62253" y="2909841"/>
            <a:ext cx="4216377" cy="73866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kumimoji="1" lang="en-US" altLang="zh-CN" sz="4800" dirty="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</a:t>
            </a:r>
            <a:r>
              <a:rPr kumimoji="1" lang="en-US" altLang="zh-CN" sz="4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ONTENIDO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4937759" y="1757607"/>
            <a:ext cx="432000" cy="30649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30741" y="1766770"/>
            <a:ext cx="6088159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Controles de Acceso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937759" y="2737227"/>
            <a:ext cx="432000" cy="30649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430741" y="2746390"/>
            <a:ext cx="6088159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Protección de Hardware y Software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937759" y="3716847"/>
            <a:ext cx="432000" cy="30649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430741" y="3726010"/>
            <a:ext cx="6088159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Ejemplos de Incidentes de Seguridad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937759" y="4696467"/>
            <a:ext cx="432000" cy="30649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430741" y="4705630"/>
            <a:ext cx="6088159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Medidas Preventivas</a:t>
            </a:r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23C4C1-DA96-48A8-0A63-507909D64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Controles de Acceso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B787CE-4941-0811-D7E7-1A545238C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1694325"/>
            <a:ext cx="864000" cy="864000"/>
          </a:xfrm>
          <a:prstGeom prst="round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w="25400" cap="flat">
            <a:solidFill>
              <a:schemeClr val="bg1"/>
            </a:solidFill>
            <a:miter/>
          </a:ln>
          <a:effectLst>
            <a:outerShdw blurRad="381000" dist="127000" dir="30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60464" y="1947663"/>
            <a:ext cx="432000" cy="357324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2788135"/>
            <a:ext cx="3240000" cy="72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 de Acceso Físico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3548465"/>
            <a:ext cx="3240000" cy="2021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control de acceso físico se refiere a las medidas que protegen las instalaciones y los activos físicos, como puertas, cerraduras y sistemas de seguridad que restringen el ingreso a áreas sensibles.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467787" y="1694325"/>
            <a:ext cx="864000" cy="864000"/>
          </a:xfrm>
          <a:prstGeom prst="roundRect">
            <a:avLst/>
          </a:pr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3000000" scaled="0"/>
          </a:gradFill>
          <a:ln w="25400" cap="flat">
            <a:solidFill>
              <a:schemeClr val="bg1"/>
            </a:solidFill>
            <a:miter/>
          </a:ln>
          <a:effectLst>
            <a:outerShdw blurRad="381000" dist="127000" dir="3000000" algn="t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683787" y="1910325"/>
            <a:ext cx="432000" cy="43200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71513" y="2788135"/>
            <a:ext cx="3240000" cy="72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 de Acceso Lógico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471513" y="3548465"/>
            <a:ext cx="3240000" cy="2021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control de acceso lógico implica el uso de software y sistemas para restringir el acceso a datos y recursos electrónicos, asegurando que solo los usuarios autorizados puedan acceder a información crítica.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78900" y="1694325"/>
            <a:ext cx="864000" cy="864000"/>
          </a:xfrm>
          <a:prstGeom prst="round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w="25400" cap="flat">
            <a:solidFill>
              <a:schemeClr val="bg1"/>
            </a:solidFill>
            <a:miter/>
          </a:ln>
          <a:effectLst>
            <a:outerShdw blurRad="381000" dist="127000" dir="30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494900" y="1926510"/>
            <a:ext cx="432000" cy="399632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78900" y="2788135"/>
            <a:ext cx="3240000" cy="72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Autenticación y Autorización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278900" y="3548465"/>
            <a:ext cx="3240000" cy="2021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autenticación verifica la identidad del usuario a través de contraseñas o biometría, mientras que la autorización determina los recursos a los que ese usuario tiene acceso una vez autenticado.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Tipos de Controles de Acceso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D99A06C-471B-4497-BB87-A3D27B3582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552120">
            <a:off x="5515822" y="1290412"/>
            <a:ext cx="318332" cy="27741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552120">
            <a:off x="697064" y="3012282"/>
            <a:ext cx="318332" cy="27741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1383009"/>
            <a:ext cx="5211011" cy="1814094"/>
          </a:xfrm>
          <a:prstGeom prst="parallelogram">
            <a:avLst>
              <a:gd name="adj" fmla="val 2565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71074" y="1979490"/>
            <a:ext cx="4186989" cy="10595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06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políticas de seguridad establecen las normas y procedimientos que deben seguir los empleados para garantizar la protección de datos y activos dentro de la organización.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71074" y="1562753"/>
            <a:ext cx="4186989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Políticas de Seguridad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552120">
            <a:off x="5515822" y="3800198"/>
            <a:ext cx="318332" cy="27741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552120">
            <a:off x="697064" y="5522068"/>
            <a:ext cx="318332" cy="27741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400" y="3892795"/>
            <a:ext cx="5211011" cy="1814094"/>
          </a:xfrm>
          <a:prstGeom prst="parallelogram">
            <a:avLst>
              <a:gd name="adj" fmla="val 25651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171074" y="4489276"/>
            <a:ext cx="4186989" cy="10595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06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formación del personal es fundamental para concienciar a los empleados sobre la importancia de los controles de acceso y cómo aplicar las políticas de seguridad en su trabajo diario.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71074" y="4072539"/>
            <a:ext cx="4186989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Formación del Personal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552120">
            <a:off x="11139955" y="1290412"/>
            <a:ext cx="318332" cy="27741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552120">
            <a:off x="6321197" y="3012282"/>
            <a:ext cx="318332" cy="27741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284533" y="1383009"/>
            <a:ext cx="5211011" cy="1814094"/>
          </a:xfrm>
          <a:prstGeom prst="parallelogram">
            <a:avLst>
              <a:gd name="adj" fmla="val 2565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795207" y="1979490"/>
            <a:ext cx="4186989" cy="10595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06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 refiere a las soluciones tecnológicas, como sistemas de gestión de identidad y acceso, que facilitan la implementación de controles de acceso efectivos en las organizaciones.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795207" y="1562753"/>
            <a:ext cx="4186989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y Tecnología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Estrategias de Implementación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4CE2B00-6980-2961-7ABF-D48D43703B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1502876"/>
            <a:ext cx="12192000" cy="1293493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lumMod val="75000"/>
                </a:schemeClr>
              </a:gs>
            </a:gsLst>
            <a:lin ang="2700000" scaled="0"/>
          </a:gra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alphaModFix/>
          </a:blip>
          <a:srcRect l="2031" t="28000" b="50000"/>
          <a:stretch>
            <a:fillRect/>
          </a:stretch>
        </p:blipFill>
        <p:spPr>
          <a:xfrm>
            <a:off x="0" y="1502876"/>
            <a:ext cx="10867406" cy="1293493"/>
          </a:xfrm>
          <a:custGeom>
            <a:avLst/>
            <a:gdLst/>
            <a:ahLst/>
            <a:cxnLst/>
            <a:rect l="l" t="t" r="r" b="b"/>
            <a:pathLst>
              <a:path w="10867406" h="1293493">
                <a:moveTo>
                  <a:pt x="0" y="0"/>
                </a:moveTo>
                <a:lnTo>
                  <a:pt x="10867406" y="0"/>
                </a:lnTo>
                <a:lnTo>
                  <a:pt x="10867406" y="1293493"/>
                </a:lnTo>
                <a:lnTo>
                  <a:pt x="0" y="129349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660400" y="2995402"/>
            <a:ext cx="3240000" cy="756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Auditorías de Seguridad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1" y="1836419"/>
            <a:ext cx="1543777" cy="87924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1" y="3750239"/>
            <a:ext cx="3240000" cy="198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auditorías de seguridad permiten evaluar el cumplimiento de las políticas y detectar vulnerabilidades en el sistema de control de acceso, garantizando la mejora continua.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469650" y="2995402"/>
            <a:ext cx="3240000" cy="756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Pruebas de Penetración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69650" y="1836419"/>
            <a:ext cx="1543777" cy="87924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469650" y="3750239"/>
            <a:ext cx="3240000" cy="198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pruebas de penetración son simulaciones de ataques cibernéticos que evalúan la resistencia de los controles de acceso, ayudando a identificar y remediar debilidades en el sistema.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78899" y="2964118"/>
            <a:ext cx="3240000" cy="756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Monitoreo Continuo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278900" y="1805134"/>
            <a:ext cx="1543777" cy="87924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78900" y="3750239"/>
            <a:ext cx="3240000" cy="198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monitoreo continuo implica la vigilancia constante de los sistemas de seguridad para detectar actividades sospechosas o no autorizadas, lo que permite una respuesta rápida ante amenazas.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22996" y="4627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Evaluación de Efectividad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FDE51BC-1E4A-CE59-1501-AEF77ED1A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Protección de Hardware y Software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39EEB3B-CBC6-E3AE-6B64-32FB9EB8A5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75723" y="1889309"/>
            <a:ext cx="5774974" cy="2635316"/>
          </a:xfrm>
          <a:prstGeom prst="rect">
            <a:avLst/>
          </a:prstGeom>
          <a:blipFill>
            <a:blip r:embed="rId2"/>
            <a:srcRect/>
            <a:tile tx="0" ty="0" sx="100000" sy="100000" algn="tl"/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775721" y="4699000"/>
            <a:ext cx="5774975" cy="75379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911005" y="1991532"/>
            <a:ext cx="109075" cy="10907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911005" y="3351305"/>
            <a:ext cx="109075" cy="10907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911005" y="4634878"/>
            <a:ext cx="109075" cy="10907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133046" y="1895615"/>
            <a:ext cx="4483100" cy="3302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Cifrado de Datos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133046" y="2250733"/>
            <a:ext cx="4487454" cy="8435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5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cifrado de datos protege la información sensible convirtiéndola en un formato ilegible para aquellos que no tienen la clave adecuada, asegurando su confidencialidad.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133046" y="3571533"/>
            <a:ext cx="4487454" cy="8435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5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blindaje físico implica la instalación de medidas físicas, como cerraduras y sistemas de alarma, para proteger los dispositivos de acceso no autorizado y daños.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133046" y="3216415"/>
            <a:ext cx="4483100" cy="3302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Blindaje Físico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133046" y="4879633"/>
            <a:ext cx="4487454" cy="8435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5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control de acceso limita quién puede utilizar dispositivos específicos, asegurando que solo personal autorizado tenga acceso a información crítica y recursos.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133046" y="4524515"/>
            <a:ext cx="4483100" cy="3302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 de Acceso a Dispositivos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Medidas de Seguridad para Hardware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501B2EE-497E-F354-7415-E0B2561497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0402" y="1691455"/>
            <a:ext cx="9151197" cy="1236891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492500" y="1802522"/>
            <a:ext cx="56276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Actualizaciones y Parches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492500" y="2168112"/>
            <a:ext cx="5626100" cy="651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actualizaciones y parches son esenciales para corregir vulnerabilidades en software, asegurando que el sistema esté protegido contra amenazas emergentes.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826715" y="1637562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81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691441" y="2012705"/>
            <a:ext cx="613890" cy="61389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393847" y="1953155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20402" y="3239503"/>
            <a:ext cx="9151197" cy="1238242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492500" y="3352799"/>
            <a:ext cx="56261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Antivirus y Antimalware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492500" y="3715193"/>
            <a:ext cx="5626100" cy="651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programas antivirus y antimalware ayudan a detectar y eliminar software malicioso, protegiendo los sistemas contra infecciones y ataques cibernéticos.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26715" y="3186286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81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2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93847" y="3501204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520402" y="4790288"/>
            <a:ext cx="9151197" cy="1226894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492500" y="4922046"/>
            <a:ext cx="56261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Firewalls y Sistemas de Detección de Intrusos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492500" y="5284441"/>
            <a:ext cx="5626100" cy="684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firewalls regulan el tráfico de red y los sistemas de detección de intrusos identifican actividades sospechosas, trabajando juntos para proteger la infraestructura digital.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826715" y="4731397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3">
                <a:lumMod val="50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393847" y="5049252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679751" y="5143001"/>
            <a:ext cx="637271" cy="577760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668059" y="3600541"/>
            <a:ext cx="637272" cy="527114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ahLst/>
            <a:cxnLst/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264906" y="1953155"/>
            <a:ext cx="497048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228463" y="3501204"/>
            <a:ext cx="569934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228463" y="5049253"/>
            <a:ext cx="569934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Medidas de Seguridad para Software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C466B4D-A112-28CC-E145-F344EF3773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428018" y="2373980"/>
            <a:ext cx="2743198" cy="3353734"/>
          </a:xfrm>
          <a:prstGeom prst="round1Rect">
            <a:avLst/>
          </a:prstGeom>
          <a:solidFill>
            <a:schemeClr val="bg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602252" y="3883777"/>
            <a:ext cx="2294961" cy="3163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94293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Copias de Seguridad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413939" y="2831795"/>
            <a:ext cx="771354" cy="752901"/>
          </a:xfrm>
          <a:prstGeom prst="round1Rect">
            <a:avLst/>
          </a:prstGeom>
          <a:solidFill>
            <a:schemeClr val="accent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473320" y="2889755"/>
            <a:ext cx="652594" cy="636982"/>
          </a:xfrm>
          <a:prstGeom prst="round1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180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603070" y="3027156"/>
            <a:ext cx="391517" cy="362180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724402" y="2373980"/>
            <a:ext cx="2743198" cy="3353734"/>
          </a:xfrm>
          <a:prstGeom prst="round1Rect">
            <a:avLst/>
          </a:prstGeom>
          <a:solidFill>
            <a:schemeClr val="bg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898637" y="3718677"/>
            <a:ext cx="2294961" cy="4814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94293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de Licencias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710324" y="2831795"/>
            <a:ext cx="771354" cy="752901"/>
          </a:xfrm>
          <a:prstGeom prst="round1Rect">
            <a:avLst/>
          </a:prstGeom>
          <a:solidFill>
            <a:schemeClr val="accent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769704" y="2889755"/>
            <a:ext cx="652594" cy="636982"/>
          </a:xfrm>
          <a:prstGeom prst="round1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180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899454" y="3036862"/>
            <a:ext cx="391517" cy="342767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031044" y="1607612"/>
            <a:ext cx="2722682" cy="4120102"/>
          </a:xfrm>
          <a:prstGeom prst="round1Rect">
            <a:avLst/>
          </a:prstGeom>
          <a:solidFill>
            <a:schemeClr val="accent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020786" y="1607612"/>
            <a:ext cx="2743198" cy="4120102"/>
          </a:xfrm>
          <a:prstGeom prst="round1Rect">
            <a:avLst/>
          </a:prstGeom>
          <a:gradFill>
            <a:gsLst>
              <a:gs pos="0">
                <a:schemeClr val="bg1">
                  <a:alpha val="23000"/>
                </a:schemeClr>
              </a:gs>
              <a:gs pos="39000">
                <a:schemeClr val="bg1">
                  <a:alpha val="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195020" y="3883777"/>
            <a:ext cx="2294961" cy="3163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09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Monitoreo de Vulnerabilidades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006707" y="2831795"/>
            <a:ext cx="771354" cy="752901"/>
          </a:xfrm>
          <a:prstGeom prst="round1Rect">
            <a:avLst/>
          </a:prstGeom>
          <a:solidFill>
            <a:schemeClr val="bg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066087" y="2889755"/>
            <a:ext cx="652594" cy="636982"/>
          </a:xfrm>
          <a:prstGeom prst="round1Rect">
            <a:avLst/>
          </a:prstGeom>
          <a:solidFill>
            <a:schemeClr val="bg1"/>
          </a:solidFill>
          <a:ln w="9525" cap="flat">
            <a:solidFill>
              <a:schemeClr val="bg1"/>
            </a:solidFill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10881" y="3012487"/>
            <a:ext cx="361430" cy="391517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786751" y="4305971"/>
            <a:ext cx="2108200" cy="11423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9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copias de seguridad son fundamentales para garantizar la recuperación de datos en caso de pérdida, permitiendo restaurar información crítica sin interrupciones significativas.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093660" y="4305970"/>
            <a:ext cx="2082800" cy="11296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8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revisión de licencias asegura que todo el software utilizado esté debidamente autorizado, evitando problemas legales y garantizando el acceso a actualizaciones y soporte.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349769" y="4305970"/>
            <a:ext cx="2070100" cy="1167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54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monitoreo de vulnerabilidades implica la evaluación continua de sistemas y redes para detectar debilidades que puedan ser explotadas por atacantes, mejorando la seguridad general.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de la Seguridad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DF07EC3-AA49-A6EF-DD0C-903125C202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Ejemplos de Incidentes de Seguridad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282B343-72CB-0B35-5371-6A2E5780F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379650" y="3663521"/>
            <a:ext cx="3420000" cy="18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635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098899" y="3663521"/>
            <a:ext cx="3420000" cy="18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635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3663521"/>
            <a:ext cx="3420000" cy="18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635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86400" y="1910090"/>
            <a:ext cx="3168000" cy="342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505650" y="1910090"/>
            <a:ext cx="3168000" cy="342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224899" y="1910090"/>
            <a:ext cx="3168000" cy="342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96174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471826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175200" y="180087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ahLst/>
            <a:cxnLst/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90401" y="191589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815424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2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191076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2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894450" y="180087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ahLst/>
            <a:cxnLst/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009650" y="191589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534673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3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7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910325" y="1800878"/>
            <a:ext cx="172800" cy="115200"/>
          </a:xfrm>
          <a:custGeom>
            <a:avLst/>
            <a:gdLst>
              <a:gd name="connsiteX0" fmla="*/ 86400 w 172800"/>
              <a:gd name="connsiteY0" fmla="*/ 0 h 115200"/>
              <a:gd name="connsiteX1" fmla="*/ 86400 w 172800"/>
              <a:gd name="connsiteY1" fmla="*/ 0 h 115200"/>
              <a:gd name="connsiteX2" fmla="*/ 0 w 172800"/>
              <a:gd name="connsiteY2" fmla="*/ 86400 h 115200"/>
              <a:gd name="connsiteX3" fmla="*/ 0 w 172800"/>
              <a:gd name="connsiteY3" fmla="*/ 115200 h 115200"/>
              <a:gd name="connsiteX4" fmla="*/ 172800 w 172800"/>
              <a:gd name="connsiteY4" fmla="*/ 115200 h 115200"/>
              <a:gd name="connsiteX5" fmla="*/ 172800 w 172800"/>
              <a:gd name="connsiteY5" fmla="*/ 86400 h 115200"/>
              <a:gd name="connsiteX6" fmla="*/ 86400 w 172800"/>
              <a:gd name="connsiteY6" fmla="*/ 0 h 115200"/>
            </a:gdLst>
            <a:ahLst/>
            <a:cxnLst/>
            <a:rect l="l" t="t" r="r" b="b"/>
            <a:pathLst>
              <a:path w="172800" h="115200">
                <a:moveTo>
                  <a:pt x="86400" y="0"/>
                </a:moveTo>
                <a:lnTo>
                  <a:pt x="86400" y="0"/>
                </a:lnTo>
                <a:cubicBezTo>
                  <a:pt x="38681" y="0"/>
                  <a:pt x="0" y="38683"/>
                  <a:pt x="0" y="86400"/>
                </a:cubicBezTo>
                <a:lnTo>
                  <a:pt x="0" y="115200"/>
                </a:lnTo>
                <a:lnTo>
                  <a:pt x="172800" y="115200"/>
                </a:lnTo>
                <a:lnTo>
                  <a:pt x="172800" y="86400"/>
                </a:lnTo>
                <a:cubicBezTo>
                  <a:pt x="172800" y="38683"/>
                  <a:pt x="134119" y="0"/>
                  <a:pt x="86400" y="0"/>
                </a:cubicBezTo>
                <a:close/>
              </a:path>
            </a:pathLst>
          </a:custGeom>
          <a:solidFill>
            <a:schemeClr val="accent1"/>
          </a:soli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613699" y="1800878"/>
            <a:ext cx="2390400" cy="576000"/>
          </a:xfrm>
          <a:custGeom>
            <a:avLst/>
            <a:gdLst>
              <a:gd name="connsiteX0" fmla="*/ 2304000 w 2390400"/>
              <a:gd name="connsiteY0" fmla="*/ 0 h 576000"/>
              <a:gd name="connsiteX1" fmla="*/ 0 w 2390400"/>
              <a:gd name="connsiteY1" fmla="*/ 0 h 576000"/>
              <a:gd name="connsiteX2" fmla="*/ 86400 w 2390400"/>
              <a:gd name="connsiteY2" fmla="*/ 86400 h 576000"/>
              <a:gd name="connsiteX3" fmla="*/ 86400 w 2390400"/>
              <a:gd name="connsiteY3" fmla="*/ 460800 h 576000"/>
              <a:gd name="connsiteX4" fmla="*/ 201600 w 2390400"/>
              <a:gd name="connsiteY4" fmla="*/ 576000 h 576000"/>
              <a:gd name="connsiteX5" fmla="*/ 2188800 w 2390400"/>
              <a:gd name="connsiteY5" fmla="*/ 576000 h 576000"/>
              <a:gd name="connsiteX6" fmla="*/ 2304000 w 2390400"/>
              <a:gd name="connsiteY6" fmla="*/ 460800 h 576000"/>
              <a:gd name="connsiteX7" fmla="*/ 2304000 w 2390400"/>
              <a:gd name="connsiteY7" fmla="*/ 86400 h 576000"/>
              <a:gd name="connsiteX8" fmla="*/ 2390400 w 2390400"/>
              <a:gd name="connsiteY8" fmla="*/ 0 h 576000"/>
            </a:gdLst>
            <a:ahLst/>
            <a:cxnLst/>
            <a:rect l="l" t="t" r="r" b="b"/>
            <a:pathLst>
              <a:path w="2390400" h="576000">
                <a:moveTo>
                  <a:pt x="2304000" y="0"/>
                </a:moveTo>
                <a:lnTo>
                  <a:pt x="0" y="0"/>
                </a:lnTo>
                <a:cubicBezTo>
                  <a:pt x="47717" y="0"/>
                  <a:pt x="86400" y="38683"/>
                  <a:pt x="86400" y="86400"/>
                </a:cubicBezTo>
                <a:lnTo>
                  <a:pt x="86400" y="460800"/>
                </a:lnTo>
                <a:cubicBezTo>
                  <a:pt x="86400" y="524422"/>
                  <a:pt x="137977" y="576000"/>
                  <a:pt x="201600" y="576000"/>
                </a:cubicBezTo>
                <a:lnTo>
                  <a:pt x="2188800" y="576000"/>
                </a:lnTo>
                <a:cubicBezTo>
                  <a:pt x="2252422" y="576000"/>
                  <a:pt x="2304000" y="524422"/>
                  <a:pt x="2304000" y="460800"/>
                </a:cubicBezTo>
                <a:lnTo>
                  <a:pt x="2304000" y="86400"/>
                </a:lnTo>
                <a:cubicBezTo>
                  <a:pt x="2304000" y="38683"/>
                  <a:pt x="2342681" y="0"/>
                  <a:pt x="2390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728899" y="191589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30400" y="24384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Robo de Información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30400" y="31553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incidente en el que datos sensibles son sustraídos por atacantes, comprometiendo la privacidad y la integridad de la información de una organización.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649650" y="24384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Ataques de Ransomware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649650" y="31553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Infecciones de software malicioso que bloquean el acceso a datos hasta que se pague un rescate, afectando gravemente las operaciones de una empresa.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8368899" y="2438400"/>
            <a:ext cx="2880000" cy="61896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Accesos No Autorizados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368899" y="3155304"/>
            <a:ext cx="2880000" cy="19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Cuando un individuo entra a un sistema o red sin permiso, lo que puede resultar en daño o robo de información crítica.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Tipos Comunes de Incidentes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8A3DD65-2F0D-90D3-1735-3C841526A8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423112" y="1439538"/>
            <a:ext cx="1989221" cy="1968713"/>
          </a:xfrm>
          <a:prstGeom prst="uturnArrow">
            <a:avLst>
              <a:gd name="adj1" fmla="val 8191"/>
              <a:gd name="adj2" fmla="val 8387"/>
              <a:gd name="adj3" fmla="val 11024"/>
              <a:gd name="adj4" fmla="val 48237"/>
              <a:gd name="adj5" fmla="val 82452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47535" y="1744516"/>
            <a:ext cx="1337018" cy="1337018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4914" y="1439538"/>
            <a:ext cx="1989221" cy="1968713"/>
          </a:xfrm>
          <a:prstGeom prst="uturnArrow">
            <a:avLst>
              <a:gd name="adj1" fmla="val 8191"/>
              <a:gd name="adj2" fmla="val 8387"/>
              <a:gd name="adj3" fmla="val 11024"/>
              <a:gd name="adj4" fmla="val 48237"/>
              <a:gd name="adj5" fmla="val 8245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4913" y="4175925"/>
            <a:ext cx="3337591" cy="187074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Descripción detallada de un incidente real donde se comprometió la seguridad de datos, mostrando la naturaleza del ataque y las vulnerabilidades explotadas.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399" y="3526053"/>
            <a:ext cx="3337591" cy="57973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 de Brecha de Seguridad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31190" y="2234135"/>
            <a:ext cx="369709" cy="357781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05734" y="1744516"/>
            <a:ext cx="1337018" cy="1337018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423111" y="4175925"/>
            <a:ext cx="3337591" cy="18692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Impacto que tiene un incidente de seguridad en una organización, incluyendo pérdidas financieras, daño a la reputación y repercusiones legales.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418598" y="3526053"/>
            <a:ext cx="3337591" cy="57973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Consecuencias de un Incidente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212379" y="2228171"/>
            <a:ext cx="323729" cy="369709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463931" y="1744516"/>
            <a:ext cx="1337018" cy="1337018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181311" y="1439538"/>
            <a:ext cx="1989221" cy="1968713"/>
          </a:xfrm>
          <a:prstGeom prst="uturnArrow">
            <a:avLst>
              <a:gd name="adj1" fmla="val 8191"/>
              <a:gd name="adj2" fmla="val 8387"/>
              <a:gd name="adj3" fmla="val 11024"/>
              <a:gd name="adj4" fmla="val 48237"/>
              <a:gd name="adj5" fmla="val 8245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181309" y="4175925"/>
            <a:ext cx="3337591" cy="18692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Estrategias y acciones llevadas a cabo para mitigar los efectos de un incidente, restaurar operaciones y proteger la información en el futuro.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176795" y="3526053"/>
            <a:ext cx="3337591" cy="57973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Respuesta a la Incidencia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947586" y="2251188"/>
            <a:ext cx="369709" cy="323675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de Casos Reales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AD13340-195F-78CB-D7A3-5101287E07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 flipV="1">
            <a:off x="1125952" y="3530600"/>
            <a:ext cx="2980368" cy="439461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8890779">
            <a:off x="2024627" y="1890087"/>
            <a:ext cx="1183019" cy="1183019"/>
          </a:xfrm>
          <a:prstGeom prst="roundRect">
            <a:avLst>
              <a:gd name="adj" fmla="val 3487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8890779">
            <a:off x="1950924" y="1816383"/>
            <a:ext cx="1330426" cy="1330426"/>
          </a:xfrm>
          <a:prstGeom prst="roundRect">
            <a:avLst>
              <a:gd name="adj" fmla="val 348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9398" y="4093230"/>
            <a:ext cx="2993478" cy="16743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Cambios implementados en las políticas de seguridad para abordar las fallas identificadas en incidentes pasados, reforzando la protección contra futuros ataques.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38187" y="3588249"/>
            <a:ext cx="2755900" cy="3581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142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Mejora de Políticas de Seguridad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 flipV="1">
            <a:off x="4608723" y="3530600"/>
            <a:ext cx="2967668" cy="439461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 w="1905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8890779">
            <a:off x="5501047" y="1849461"/>
            <a:ext cx="1183019" cy="1183019"/>
          </a:xfrm>
          <a:prstGeom prst="roundRect">
            <a:avLst>
              <a:gd name="adj" fmla="val 3487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85000"/>
                  <a:lumOff val="15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2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8890779">
            <a:off x="5427344" y="1775757"/>
            <a:ext cx="1330426" cy="1330426"/>
          </a:xfrm>
          <a:prstGeom prst="roundRect">
            <a:avLst>
              <a:gd name="adj" fmla="val 3487"/>
            </a:avLst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40268" y="4093230"/>
            <a:ext cx="2904578" cy="16744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Actualizaciones y modificaciones en la infraestructura tecnológica utilizadas para mejorar la seguridad y prevenir el acceso no autorizado.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708257" y="3588249"/>
            <a:ext cx="2768600" cy="3581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Ajustes Tecnológicos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V="1">
            <a:off x="8113821" y="3530600"/>
            <a:ext cx="2942268" cy="439461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8890779">
            <a:off x="8993446" y="1873400"/>
            <a:ext cx="1183019" cy="1183019"/>
          </a:xfrm>
          <a:prstGeom prst="roundRect">
            <a:avLst>
              <a:gd name="adj" fmla="val 3487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18890779">
            <a:off x="8919742" y="1794281"/>
            <a:ext cx="1330426" cy="1330426"/>
          </a:xfrm>
          <a:prstGeom prst="roundRect">
            <a:avLst>
              <a:gd name="adj" fmla="val 348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139016" y="4093230"/>
            <a:ext cx="2891878" cy="16743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Importancia de formar al personal sobre la seguridad cibernética, fomentando una cultura de prevención y vigilancia constante frente a potenciales incidentes.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226055" y="3588249"/>
            <a:ext cx="2717800" cy="3581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28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Concientización del Personal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254187" y="2091951"/>
            <a:ext cx="723900" cy="673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679807" y="2091951"/>
            <a:ext cx="825500" cy="673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172205" y="2091951"/>
            <a:ext cx="825500" cy="673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Lecciones Aprendidas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1EC63E3-9205-944E-6301-02121404E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Medidas Preventivas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287711D-97B9-7D85-BACB-81E3A67E0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962505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709924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442201" y="2594610"/>
            <a:ext cx="2663591" cy="2579256"/>
          </a:xfrm>
          <a:prstGeom prst="roundRect">
            <a:avLst>
              <a:gd name="adj" fmla="val 4731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442201" y="1986900"/>
            <a:ext cx="2663591" cy="1027657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0714" y="1986900"/>
            <a:ext cx="2663591" cy="1027657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981656" y="1986900"/>
            <a:ext cx="2663591" cy="1027657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359448" y="2753777"/>
            <a:ext cx="558802" cy="558802"/>
          </a:xfrm>
          <a:prstGeom prst="ellipse">
            <a:avLst/>
          </a:prstGeom>
          <a:solidFill>
            <a:schemeClr val="accent2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37961" y="2753777"/>
            <a:ext cx="558802" cy="558802"/>
          </a:xfrm>
          <a:prstGeom prst="ellipse">
            <a:avLst/>
          </a:prstGeom>
          <a:solidFill>
            <a:schemeClr val="accent1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98903" y="2753777"/>
            <a:ext cx="558802" cy="558802"/>
          </a:xfrm>
          <a:prstGeom prst="ellipse">
            <a:avLst/>
          </a:prstGeom>
          <a:solidFill>
            <a:schemeClr val="accent2"/>
          </a:solidFill>
          <a:ln w="19050" cap="sq">
            <a:solidFill>
              <a:schemeClr val="bg1"/>
            </a:solidFill>
            <a:miter/>
          </a:ln>
          <a:effectLst>
            <a:outerShdw blurRad="381000" dist="63500" dir="10260000" algn="t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518556" y="2917936"/>
            <a:ext cx="240586" cy="230484"/>
          </a:xfrm>
          <a:custGeom>
            <a:avLst/>
            <a:gdLst>
              <a:gd name="connsiteX0" fmla="*/ 196501 w 467362"/>
              <a:gd name="connsiteY0" fmla="*/ 222283 h 447740"/>
              <a:gd name="connsiteX1" fmla="*/ 227171 w 467362"/>
              <a:gd name="connsiteY1" fmla="*/ 249334 h 447740"/>
              <a:gd name="connsiteX2" fmla="*/ 204216 w 467362"/>
              <a:gd name="connsiteY2" fmla="*/ 278671 h 447740"/>
              <a:gd name="connsiteX3" fmla="*/ 196501 w 467362"/>
              <a:gd name="connsiteY3" fmla="*/ 278671 h 447740"/>
              <a:gd name="connsiteX4" fmla="*/ 181356 w 467362"/>
              <a:gd name="connsiteY4" fmla="*/ 263526 h 447740"/>
              <a:gd name="connsiteX5" fmla="*/ 181356 w 467362"/>
              <a:gd name="connsiteY5" fmla="*/ 237523 h 447740"/>
              <a:gd name="connsiteX6" fmla="*/ 181356 w 467362"/>
              <a:gd name="connsiteY6" fmla="*/ 237428 h 447740"/>
              <a:gd name="connsiteX7" fmla="*/ 196501 w 467362"/>
              <a:gd name="connsiteY7" fmla="*/ 222283 h 447740"/>
              <a:gd name="connsiteX8" fmla="*/ 139827 w 467362"/>
              <a:gd name="connsiteY8" fmla="*/ 182183 h 447740"/>
              <a:gd name="connsiteX9" fmla="*/ 124777 w 467362"/>
              <a:gd name="connsiteY9" fmla="*/ 197233 h 447740"/>
              <a:gd name="connsiteX10" fmla="*/ 124777 w 467362"/>
              <a:gd name="connsiteY10" fmla="*/ 368683 h 447740"/>
              <a:gd name="connsiteX11" fmla="*/ 124777 w 467362"/>
              <a:gd name="connsiteY11" fmla="*/ 368686 h 447740"/>
              <a:gd name="connsiteX12" fmla="*/ 139636 w 467362"/>
              <a:gd name="connsiteY12" fmla="*/ 383923 h 447740"/>
              <a:gd name="connsiteX13" fmla="*/ 166497 w 467362"/>
              <a:gd name="connsiteY13" fmla="*/ 383923 h 447740"/>
              <a:gd name="connsiteX14" fmla="*/ 181547 w 467362"/>
              <a:gd name="connsiteY14" fmla="*/ 368873 h 447740"/>
              <a:gd name="connsiteX15" fmla="*/ 181547 w 467362"/>
              <a:gd name="connsiteY15" fmla="*/ 334202 h 447740"/>
              <a:gd name="connsiteX16" fmla="*/ 196691 w 467362"/>
              <a:gd name="connsiteY16" fmla="*/ 319058 h 447740"/>
              <a:gd name="connsiteX17" fmla="*/ 209836 w 467362"/>
              <a:gd name="connsiteY17" fmla="*/ 319058 h 447740"/>
              <a:gd name="connsiteX18" fmla="*/ 247936 w 467362"/>
              <a:gd name="connsiteY18" fmla="*/ 309533 h 447740"/>
              <a:gd name="connsiteX19" fmla="*/ 272986 w 467362"/>
              <a:gd name="connsiteY19" fmla="*/ 284101 h 447740"/>
              <a:gd name="connsiteX20" fmla="*/ 281273 w 467362"/>
              <a:gd name="connsiteY20" fmla="*/ 251049 h 447740"/>
              <a:gd name="connsiteX21" fmla="*/ 272606 w 467362"/>
              <a:gd name="connsiteY21" fmla="*/ 217235 h 447740"/>
              <a:gd name="connsiteX22" fmla="*/ 247650 w 467362"/>
              <a:gd name="connsiteY22" fmla="*/ 191899 h 447740"/>
              <a:gd name="connsiteX23" fmla="*/ 207550 w 467362"/>
              <a:gd name="connsiteY23" fmla="*/ 182183 h 447740"/>
              <a:gd name="connsiteX24" fmla="*/ 15049 w 467362"/>
              <a:gd name="connsiteY24" fmla="*/ 73884 h 447740"/>
              <a:gd name="connsiteX25" fmla="*/ 183451 w 467362"/>
              <a:gd name="connsiteY25" fmla="*/ 73884 h 447740"/>
              <a:gd name="connsiteX26" fmla="*/ 198215 w 467362"/>
              <a:gd name="connsiteY26" fmla="*/ 85314 h 447740"/>
              <a:gd name="connsiteX27" fmla="*/ 202978 w 467362"/>
              <a:gd name="connsiteY27" fmla="*/ 105983 h 447740"/>
              <a:gd name="connsiteX28" fmla="*/ 217742 w 467362"/>
              <a:gd name="connsiteY28" fmla="*/ 117699 h 447740"/>
              <a:gd name="connsiteX29" fmla="*/ 354140 w 467362"/>
              <a:gd name="connsiteY29" fmla="*/ 117699 h 447740"/>
              <a:gd name="connsiteX30" fmla="*/ 354235 w 467362"/>
              <a:gd name="connsiteY30" fmla="*/ 117699 h 447740"/>
              <a:gd name="connsiteX31" fmla="*/ 369284 w 467362"/>
              <a:gd name="connsiteY31" fmla="*/ 132749 h 447740"/>
              <a:gd name="connsiteX32" fmla="*/ 369284 w 467362"/>
              <a:gd name="connsiteY32" fmla="*/ 432596 h 447740"/>
              <a:gd name="connsiteX33" fmla="*/ 354140 w 467362"/>
              <a:gd name="connsiteY33" fmla="*/ 447740 h 447740"/>
              <a:gd name="connsiteX34" fmla="*/ 15049 w 467362"/>
              <a:gd name="connsiteY34" fmla="*/ 447740 h 447740"/>
              <a:gd name="connsiteX35" fmla="*/ 0 w 467362"/>
              <a:gd name="connsiteY35" fmla="*/ 432596 h 447740"/>
              <a:gd name="connsiteX36" fmla="*/ 0 w 467362"/>
              <a:gd name="connsiteY36" fmla="*/ 88934 h 447740"/>
              <a:gd name="connsiteX37" fmla="*/ 15049 w 467362"/>
              <a:gd name="connsiteY37" fmla="*/ 73884 h 447740"/>
              <a:gd name="connsiteX38" fmla="*/ 124778 w 467362"/>
              <a:gd name="connsiteY38" fmla="*/ 351 h 447740"/>
              <a:gd name="connsiteX39" fmla="*/ 455581 w 467362"/>
              <a:gd name="connsiteY39" fmla="*/ 74075 h 447740"/>
              <a:gd name="connsiteX40" fmla="*/ 467011 w 467362"/>
              <a:gd name="connsiteY40" fmla="*/ 91982 h 447740"/>
              <a:gd name="connsiteX41" fmla="*/ 400336 w 467362"/>
              <a:gd name="connsiteY41" fmla="*/ 399449 h 447740"/>
              <a:gd name="connsiteX42" fmla="*/ 399193 w 467362"/>
              <a:gd name="connsiteY42" fmla="*/ 399449 h 447740"/>
              <a:gd name="connsiteX43" fmla="*/ 387573 w 467362"/>
              <a:gd name="connsiteY43" fmla="*/ 384780 h 447740"/>
              <a:gd name="connsiteX44" fmla="*/ 387573 w 467362"/>
              <a:gd name="connsiteY44" fmla="*/ 114556 h 447740"/>
              <a:gd name="connsiteX45" fmla="*/ 372428 w 467362"/>
              <a:gd name="connsiteY45" fmla="*/ 99411 h 447740"/>
              <a:gd name="connsiteX46" fmla="*/ 235839 w 467362"/>
              <a:gd name="connsiteY46" fmla="*/ 99411 h 447740"/>
              <a:gd name="connsiteX47" fmla="*/ 221171 w 467362"/>
              <a:gd name="connsiteY47" fmla="*/ 87791 h 447740"/>
              <a:gd name="connsiteX48" fmla="*/ 216408 w 467362"/>
              <a:gd name="connsiteY48" fmla="*/ 67121 h 447740"/>
              <a:gd name="connsiteX49" fmla="*/ 201645 w 467362"/>
              <a:gd name="connsiteY49" fmla="*/ 55501 h 447740"/>
              <a:gd name="connsiteX50" fmla="*/ 115920 w 467362"/>
              <a:gd name="connsiteY50" fmla="*/ 55501 h 447740"/>
              <a:gd name="connsiteX51" fmla="*/ 112872 w 467362"/>
              <a:gd name="connsiteY51" fmla="*/ 55171 h 447740"/>
              <a:gd name="connsiteX52" fmla="*/ 101156 w 467362"/>
              <a:gd name="connsiteY52" fmla="*/ 37213 h 447740"/>
              <a:gd name="connsiteX53" fmla="*/ 106680 w 467362"/>
              <a:gd name="connsiteY53" fmla="*/ 11876 h 447740"/>
              <a:gd name="connsiteX54" fmla="*/ 124778 w 467362"/>
              <a:gd name="connsiteY54" fmla="*/ 351 h 447740"/>
            </a:gdLst>
            <a:ahLst/>
            <a:cxnLst/>
            <a:rect l="l" t="t" r="r" b="b"/>
            <a:pathLst>
              <a:path w="467362" h="447740">
                <a:moveTo>
                  <a:pt x="196501" y="222283"/>
                </a:moveTo>
                <a:cubicBezTo>
                  <a:pt x="216123" y="222791"/>
                  <a:pt x="226343" y="231808"/>
                  <a:pt x="227171" y="249334"/>
                </a:cubicBezTo>
                <a:cubicBezTo>
                  <a:pt x="226981" y="267813"/>
                  <a:pt x="219361" y="277528"/>
                  <a:pt x="204216" y="278671"/>
                </a:cubicBezTo>
                <a:lnTo>
                  <a:pt x="196501" y="278671"/>
                </a:lnTo>
                <a:cubicBezTo>
                  <a:pt x="188138" y="278671"/>
                  <a:pt x="181356" y="271890"/>
                  <a:pt x="181356" y="263526"/>
                </a:cubicBezTo>
                <a:lnTo>
                  <a:pt x="181356" y="237523"/>
                </a:lnTo>
                <a:cubicBezTo>
                  <a:pt x="181356" y="237492"/>
                  <a:pt x="181356" y="237459"/>
                  <a:pt x="181356" y="237428"/>
                </a:cubicBezTo>
                <a:cubicBezTo>
                  <a:pt x="181356" y="229063"/>
                  <a:pt x="188138" y="222283"/>
                  <a:pt x="196501" y="222283"/>
                </a:cubicBezTo>
                <a:close/>
                <a:moveTo>
                  <a:pt x="139827" y="182183"/>
                </a:moveTo>
                <a:cubicBezTo>
                  <a:pt x="131511" y="182183"/>
                  <a:pt x="124777" y="188921"/>
                  <a:pt x="124777" y="197233"/>
                </a:cubicBezTo>
                <a:lnTo>
                  <a:pt x="124777" y="368683"/>
                </a:lnTo>
                <a:cubicBezTo>
                  <a:pt x="124777" y="368684"/>
                  <a:pt x="124777" y="368685"/>
                  <a:pt x="124777" y="368686"/>
                </a:cubicBezTo>
                <a:cubicBezTo>
                  <a:pt x="124673" y="376996"/>
                  <a:pt x="131321" y="383818"/>
                  <a:pt x="139636" y="383923"/>
                </a:cubicBezTo>
                <a:lnTo>
                  <a:pt x="166497" y="383923"/>
                </a:lnTo>
                <a:cubicBezTo>
                  <a:pt x="174812" y="383923"/>
                  <a:pt x="181547" y="377185"/>
                  <a:pt x="181547" y="368873"/>
                </a:cubicBezTo>
                <a:lnTo>
                  <a:pt x="181547" y="334202"/>
                </a:lnTo>
                <a:cubicBezTo>
                  <a:pt x="181547" y="325838"/>
                  <a:pt x="188328" y="319058"/>
                  <a:pt x="196691" y="319058"/>
                </a:cubicBezTo>
                <a:lnTo>
                  <a:pt x="209836" y="319058"/>
                </a:lnTo>
                <a:cubicBezTo>
                  <a:pt x="223152" y="319298"/>
                  <a:pt x="236296" y="316011"/>
                  <a:pt x="247936" y="309533"/>
                </a:cubicBezTo>
                <a:cubicBezTo>
                  <a:pt x="258584" y="303672"/>
                  <a:pt x="267290" y="294834"/>
                  <a:pt x="272986" y="284101"/>
                </a:cubicBezTo>
                <a:cubicBezTo>
                  <a:pt x="278501" y="273963"/>
                  <a:pt x="281359" y="262590"/>
                  <a:pt x="281273" y="251049"/>
                </a:cubicBezTo>
                <a:cubicBezTo>
                  <a:pt x="281321" y="239223"/>
                  <a:pt x="278340" y="227581"/>
                  <a:pt x="272606" y="217235"/>
                </a:cubicBezTo>
                <a:cubicBezTo>
                  <a:pt x="266738" y="206686"/>
                  <a:pt x="258108" y="197929"/>
                  <a:pt x="247650" y="191899"/>
                </a:cubicBezTo>
                <a:cubicBezTo>
                  <a:pt x="235325" y="185300"/>
                  <a:pt x="221523" y="181956"/>
                  <a:pt x="207550" y="182183"/>
                </a:cubicBezTo>
                <a:close/>
                <a:moveTo>
                  <a:pt x="15049" y="73884"/>
                </a:moveTo>
                <a:lnTo>
                  <a:pt x="183451" y="73884"/>
                </a:lnTo>
                <a:cubicBezTo>
                  <a:pt x="190405" y="73880"/>
                  <a:pt x="196482" y="78582"/>
                  <a:pt x="198215" y="85314"/>
                </a:cubicBezTo>
                <a:lnTo>
                  <a:pt x="202978" y="105983"/>
                </a:lnTo>
                <a:cubicBezTo>
                  <a:pt x="204578" y="112848"/>
                  <a:pt x="210693" y="117705"/>
                  <a:pt x="217742" y="117699"/>
                </a:cubicBezTo>
                <a:lnTo>
                  <a:pt x="354140" y="117699"/>
                </a:lnTo>
                <a:cubicBezTo>
                  <a:pt x="354168" y="117699"/>
                  <a:pt x="354206" y="117699"/>
                  <a:pt x="354235" y="117699"/>
                </a:cubicBezTo>
                <a:cubicBezTo>
                  <a:pt x="362550" y="117699"/>
                  <a:pt x="369284" y="124437"/>
                  <a:pt x="369284" y="132749"/>
                </a:cubicBezTo>
                <a:lnTo>
                  <a:pt x="369284" y="432596"/>
                </a:lnTo>
                <a:cubicBezTo>
                  <a:pt x="369284" y="440959"/>
                  <a:pt x="362502" y="447740"/>
                  <a:pt x="354140" y="447740"/>
                </a:cubicBezTo>
                <a:lnTo>
                  <a:pt x="15049" y="447740"/>
                </a:lnTo>
                <a:cubicBezTo>
                  <a:pt x="6763" y="447688"/>
                  <a:pt x="0" y="440922"/>
                  <a:pt x="0" y="432596"/>
                </a:cubicBezTo>
                <a:lnTo>
                  <a:pt x="0" y="88934"/>
                </a:lnTo>
                <a:cubicBezTo>
                  <a:pt x="0" y="80622"/>
                  <a:pt x="6763" y="73884"/>
                  <a:pt x="15049" y="73884"/>
                </a:cubicBezTo>
                <a:close/>
                <a:moveTo>
                  <a:pt x="124778" y="351"/>
                </a:moveTo>
                <a:lnTo>
                  <a:pt x="455581" y="74075"/>
                </a:lnTo>
                <a:cubicBezTo>
                  <a:pt x="463678" y="75877"/>
                  <a:pt x="468783" y="83883"/>
                  <a:pt x="467011" y="91982"/>
                </a:cubicBezTo>
                <a:lnTo>
                  <a:pt x="400336" y="399449"/>
                </a:lnTo>
                <a:lnTo>
                  <a:pt x="399193" y="399449"/>
                </a:lnTo>
                <a:cubicBezTo>
                  <a:pt x="392364" y="397887"/>
                  <a:pt x="387535" y="391789"/>
                  <a:pt x="387573" y="384780"/>
                </a:cubicBezTo>
                <a:lnTo>
                  <a:pt x="387573" y="114556"/>
                </a:lnTo>
                <a:cubicBezTo>
                  <a:pt x="387573" y="106192"/>
                  <a:pt x="380791" y="99411"/>
                  <a:pt x="372428" y="99411"/>
                </a:cubicBezTo>
                <a:lnTo>
                  <a:pt x="235839" y="99411"/>
                </a:lnTo>
                <a:cubicBezTo>
                  <a:pt x="228838" y="99418"/>
                  <a:pt x="222762" y="94603"/>
                  <a:pt x="221171" y="87791"/>
                </a:cubicBezTo>
                <a:lnTo>
                  <a:pt x="216408" y="67121"/>
                </a:lnTo>
                <a:cubicBezTo>
                  <a:pt x="214742" y="60314"/>
                  <a:pt x="208655" y="55519"/>
                  <a:pt x="201645" y="55501"/>
                </a:cubicBezTo>
                <a:lnTo>
                  <a:pt x="115920" y="55501"/>
                </a:lnTo>
                <a:cubicBezTo>
                  <a:pt x="114872" y="55497"/>
                  <a:pt x="113824" y="55387"/>
                  <a:pt x="112872" y="55171"/>
                </a:cubicBezTo>
                <a:cubicBezTo>
                  <a:pt x="104680" y="53435"/>
                  <a:pt x="99442" y="45395"/>
                  <a:pt x="101156" y="37213"/>
                </a:cubicBezTo>
                <a:lnTo>
                  <a:pt x="106680" y="11876"/>
                </a:lnTo>
                <a:cubicBezTo>
                  <a:pt x="108490" y="3720"/>
                  <a:pt x="116606" y="-1424"/>
                  <a:pt x="124778" y="351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97069" y="2917373"/>
            <a:ext cx="240586" cy="231609"/>
          </a:xfrm>
          <a:custGeom>
            <a:avLst/>
            <a:gdLst>
              <a:gd name="connsiteX0" fmla="*/ 194024 w 465677"/>
              <a:gd name="connsiteY0" fmla="*/ 157258 h 448304"/>
              <a:gd name="connsiteX1" fmla="*/ 196023 w 465677"/>
              <a:gd name="connsiteY1" fmla="*/ 157258 h 448304"/>
              <a:gd name="connsiteX2" fmla="*/ 238410 w 465677"/>
              <a:gd name="connsiteY2" fmla="*/ 198691 h 448304"/>
              <a:gd name="connsiteX3" fmla="*/ 238410 w 465677"/>
              <a:gd name="connsiteY3" fmla="*/ 198791 h 448304"/>
              <a:gd name="connsiteX4" fmla="*/ 196023 w 465677"/>
              <a:gd name="connsiteY4" fmla="*/ 240220 h 448304"/>
              <a:gd name="connsiteX5" fmla="*/ 194024 w 465677"/>
              <a:gd name="connsiteY5" fmla="*/ 240220 h 448304"/>
              <a:gd name="connsiteX6" fmla="*/ 151733 w 465677"/>
              <a:gd name="connsiteY6" fmla="*/ 198691 h 448304"/>
              <a:gd name="connsiteX7" fmla="*/ 194024 w 465677"/>
              <a:gd name="connsiteY7" fmla="*/ 157258 h 448304"/>
              <a:gd name="connsiteX8" fmla="*/ 195263 w 465677"/>
              <a:gd name="connsiteY8" fmla="*/ 123824 h 448304"/>
              <a:gd name="connsiteX9" fmla="*/ 179737 w 465677"/>
              <a:gd name="connsiteY9" fmla="*/ 125062 h 448304"/>
              <a:gd name="connsiteX10" fmla="*/ 119729 w 465677"/>
              <a:gd name="connsiteY10" fmla="*/ 179831 h 448304"/>
              <a:gd name="connsiteX11" fmla="*/ 151734 w 465677"/>
              <a:gd name="connsiteY11" fmla="*/ 261937 h 448304"/>
              <a:gd name="connsiteX12" fmla="*/ 88488 w 465677"/>
              <a:gd name="connsiteY12" fmla="*/ 309562 h 448304"/>
              <a:gd name="connsiteX13" fmla="*/ 86582 w 465677"/>
              <a:gd name="connsiteY13" fmla="*/ 313303 h 448304"/>
              <a:gd name="connsiteX14" fmla="*/ 96107 w 465677"/>
              <a:gd name="connsiteY14" fmla="*/ 333374 h 448304"/>
              <a:gd name="connsiteX15" fmla="*/ 98298 w 465677"/>
              <a:gd name="connsiteY15" fmla="*/ 334231 h 448304"/>
              <a:gd name="connsiteX16" fmla="*/ 117348 w 465677"/>
              <a:gd name="connsiteY16" fmla="*/ 328135 h 448304"/>
              <a:gd name="connsiteX17" fmla="*/ 195167 w 465677"/>
              <a:gd name="connsiteY17" fmla="*/ 288892 h 448304"/>
              <a:gd name="connsiteX18" fmla="*/ 272987 w 465677"/>
              <a:gd name="connsiteY18" fmla="*/ 328135 h 448304"/>
              <a:gd name="connsiteX19" fmla="*/ 292037 w 465677"/>
              <a:gd name="connsiteY19" fmla="*/ 334231 h 448304"/>
              <a:gd name="connsiteX20" fmla="*/ 294228 w 465677"/>
              <a:gd name="connsiteY20" fmla="*/ 333374 h 448304"/>
              <a:gd name="connsiteX21" fmla="*/ 298038 w 465677"/>
              <a:gd name="connsiteY21" fmla="*/ 331430 h 448304"/>
              <a:gd name="connsiteX22" fmla="*/ 302038 w 465677"/>
              <a:gd name="connsiteY22" fmla="*/ 309562 h 448304"/>
              <a:gd name="connsiteX23" fmla="*/ 238791 w 465677"/>
              <a:gd name="connsiteY23" fmla="*/ 261937 h 448304"/>
              <a:gd name="connsiteX24" fmla="*/ 270796 w 465677"/>
              <a:gd name="connsiteY24" fmla="*/ 179831 h 448304"/>
              <a:gd name="connsiteX25" fmla="*/ 210788 w 465677"/>
              <a:gd name="connsiteY25" fmla="*/ 125062 h 448304"/>
              <a:gd name="connsiteX26" fmla="*/ 195263 w 465677"/>
              <a:gd name="connsiteY26" fmla="*/ 123824 h 448304"/>
              <a:gd name="connsiteX27" fmla="*/ 369285 w 465677"/>
              <a:gd name="connsiteY27" fmla="*/ 69717 h 448304"/>
              <a:gd name="connsiteX28" fmla="*/ 392811 w 465677"/>
              <a:gd name="connsiteY28" fmla="*/ 92677 h 448304"/>
              <a:gd name="connsiteX29" fmla="*/ 392811 w 465677"/>
              <a:gd name="connsiteY29" fmla="*/ 370903 h 448304"/>
              <a:gd name="connsiteX30" fmla="*/ 392811 w 465677"/>
              <a:gd name="connsiteY30" fmla="*/ 370906 h 448304"/>
              <a:gd name="connsiteX31" fmla="*/ 369380 w 465677"/>
              <a:gd name="connsiteY31" fmla="*/ 393763 h 448304"/>
              <a:gd name="connsiteX32" fmla="*/ 277559 w 465677"/>
              <a:gd name="connsiteY32" fmla="*/ 393763 h 448304"/>
              <a:gd name="connsiteX33" fmla="*/ 261461 w 465677"/>
              <a:gd name="connsiteY33" fmla="*/ 400049 h 448304"/>
              <a:gd name="connsiteX34" fmla="*/ 216217 w 465677"/>
              <a:gd name="connsiteY34" fmla="*/ 442054 h 448304"/>
              <a:gd name="connsiteX35" fmla="*/ 183356 w 465677"/>
              <a:gd name="connsiteY35" fmla="*/ 441388 h 448304"/>
              <a:gd name="connsiteX36" fmla="*/ 142684 w 465677"/>
              <a:gd name="connsiteY36" fmla="*/ 400621 h 448304"/>
              <a:gd name="connsiteX37" fmla="*/ 125920 w 465677"/>
              <a:gd name="connsiteY37" fmla="*/ 393763 h 448304"/>
              <a:gd name="connsiteX38" fmla="*/ 23336 w 465677"/>
              <a:gd name="connsiteY38" fmla="*/ 393763 h 448304"/>
              <a:gd name="connsiteX39" fmla="*/ 0 w 465677"/>
              <a:gd name="connsiteY39" fmla="*/ 370903 h 448304"/>
              <a:gd name="connsiteX40" fmla="*/ 0 w 465677"/>
              <a:gd name="connsiteY40" fmla="*/ 92677 h 448304"/>
              <a:gd name="connsiteX41" fmla="*/ 22956 w 465677"/>
              <a:gd name="connsiteY41" fmla="*/ 69722 h 448304"/>
              <a:gd name="connsiteX42" fmla="*/ 368999 w 465677"/>
              <a:gd name="connsiteY42" fmla="*/ 69722 h 448304"/>
              <a:gd name="connsiteX43" fmla="*/ 369285 w 465677"/>
              <a:gd name="connsiteY43" fmla="*/ 69717 h 448304"/>
              <a:gd name="connsiteX44" fmla="*/ 123825 w 465677"/>
              <a:gd name="connsiteY44" fmla="*/ 0 h 448304"/>
              <a:gd name="connsiteX45" fmla="*/ 445484 w 465677"/>
              <a:gd name="connsiteY45" fmla="*/ 0 h 448304"/>
              <a:gd name="connsiteX46" fmla="*/ 465677 w 465677"/>
              <a:gd name="connsiteY46" fmla="*/ 19810 h 448304"/>
              <a:gd name="connsiteX47" fmla="*/ 465677 w 465677"/>
              <a:gd name="connsiteY47" fmla="*/ 19812 h 448304"/>
              <a:gd name="connsiteX48" fmla="*/ 465677 w 465677"/>
              <a:gd name="connsiteY48" fmla="*/ 307753 h 448304"/>
              <a:gd name="connsiteX49" fmla="*/ 445866 w 465677"/>
              <a:gd name="connsiteY49" fmla="*/ 327565 h 448304"/>
              <a:gd name="connsiteX50" fmla="*/ 411384 w 465677"/>
              <a:gd name="connsiteY50" fmla="*/ 327565 h 448304"/>
              <a:gd name="connsiteX51" fmla="*/ 411384 w 465677"/>
              <a:gd name="connsiteY51" fmla="*/ 288512 h 448304"/>
              <a:gd name="connsiteX52" fmla="*/ 426244 w 465677"/>
              <a:gd name="connsiteY52" fmla="*/ 274037 h 448304"/>
              <a:gd name="connsiteX53" fmla="*/ 426244 w 465677"/>
              <a:gd name="connsiteY53" fmla="*/ 274034 h 448304"/>
              <a:gd name="connsiteX54" fmla="*/ 426244 w 465677"/>
              <a:gd name="connsiteY54" fmla="*/ 53626 h 448304"/>
              <a:gd name="connsiteX55" fmla="*/ 411479 w 465677"/>
              <a:gd name="connsiteY55" fmla="*/ 39051 h 448304"/>
              <a:gd name="connsiteX56" fmla="*/ 411384 w 465677"/>
              <a:gd name="connsiteY56" fmla="*/ 39052 h 448304"/>
              <a:gd name="connsiteX57" fmla="*/ 158782 w 465677"/>
              <a:gd name="connsiteY57" fmla="*/ 39052 h 448304"/>
              <a:gd name="connsiteX58" fmla="*/ 143922 w 465677"/>
              <a:gd name="connsiteY58" fmla="*/ 53529 h 448304"/>
              <a:gd name="connsiteX59" fmla="*/ 143922 w 465677"/>
              <a:gd name="connsiteY59" fmla="*/ 53626 h 448304"/>
              <a:gd name="connsiteX60" fmla="*/ 143922 w 465677"/>
              <a:gd name="connsiteY60" fmla="*/ 58007 h 448304"/>
              <a:gd name="connsiteX61" fmla="*/ 104013 w 465677"/>
              <a:gd name="connsiteY61" fmla="*/ 58007 h 448304"/>
              <a:gd name="connsiteX62" fmla="*/ 104013 w 465677"/>
              <a:gd name="connsiteY62" fmla="*/ 19907 h 448304"/>
              <a:gd name="connsiteX63" fmla="*/ 123825 w 465677"/>
              <a:gd name="connsiteY63" fmla="*/ 0 h 448304"/>
            </a:gdLst>
            <a:ahLst/>
            <a:cxnLst/>
            <a:rect l="l" t="t" r="r" b="b"/>
            <a:pathLst>
              <a:path w="465677" h="448304">
                <a:moveTo>
                  <a:pt x="194024" y="157258"/>
                </a:moveTo>
                <a:lnTo>
                  <a:pt x="196023" y="157258"/>
                </a:lnTo>
                <a:cubicBezTo>
                  <a:pt x="219170" y="156996"/>
                  <a:pt x="238124" y="175547"/>
                  <a:pt x="238410" y="198691"/>
                </a:cubicBezTo>
                <a:cubicBezTo>
                  <a:pt x="238410" y="198725"/>
                  <a:pt x="238410" y="198758"/>
                  <a:pt x="238410" y="198791"/>
                </a:cubicBezTo>
                <a:cubicBezTo>
                  <a:pt x="238124" y="221936"/>
                  <a:pt x="219170" y="240484"/>
                  <a:pt x="196023" y="240220"/>
                </a:cubicBezTo>
                <a:lnTo>
                  <a:pt x="194024" y="240220"/>
                </a:lnTo>
                <a:cubicBezTo>
                  <a:pt x="170877" y="240430"/>
                  <a:pt x="151923" y="221837"/>
                  <a:pt x="151733" y="198691"/>
                </a:cubicBezTo>
                <a:cubicBezTo>
                  <a:pt x="152018" y="175582"/>
                  <a:pt x="170877" y="157046"/>
                  <a:pt x="194024" y="157258"/>
                </a:cubicBezTo>
                <a:close/>
                <a:moveTo>
                  <a:pt x="195263" y="123824"/>
                </a:moveTo>
                <a:cubicBezTo>
                  <a:pt x="190023" y="123723"/>
                  <a:pt x="184881" y="124138"/>
                  <a:pt x="179737" y="125062"/>
                </a:cubicBezTo>
                <a:cubicBezTo>
                  <a:pt x="150685" y="129889"/>
                  <a:pt x="127159" y="151339"/>
                  <a:pt x="119729" y="179831"/>
                </a:cubicBezTo>
                <a:cubicBezTo>
                  <a:pt x="111442" y="211245"/>
                  <a:pt x="124397" y="244410"/>
                  <a:pt x="151734" y="261937"/>
                </a:cubicBezTo>
                <a:cubicBezTo>
                  <a:pt x="126111" y="270647"/>
                  <a:pt x="103918" y="287337"/>
                  <a:pt x="88488" y="309562"/>
                </a:cubicBezTo>
                <a:cubicBezTo>
                  <a:pt x="87725" y="310717"/>
                  <a:pt x="87059" y="311975"/>
                  <a:pt x="86582" y="313303"/>
                </a:cubicBezTo>
                <a:cubicBezTo>
                  <a:pt x="83630" y="321482"/>
                  <a:pt x="87916" y="330468"/>
                  <a:pt x="96107" y="333374"/>
                </a:cubicBezTo>
                <a:lnTo>
                  <a:pt x="98298" y="334231"/>
                </a:lnTo>
                <a:cubicBezTo>
                  <a:pt x="105252" y="336658"/>
                  <a:pt x="113062" y="334175"/>
                  <a:pt x="117348" y="328135"/>
                </a:cubicBezTo>
                <a:cubicBezTo>
                  <a:pt x="135255" y="303068"/>
                  <a:pt x="164402" y="288401"/>
                  <a:pt x="195167" y="288892"/>
                </a:cubicBezTo>
                <a:cubicBezTo>
                  <a:pt x="225933" y="288401"/>
                  <a:pt x="255080" y="303068"/>
                  <a:pt x="272987" y="328135"/>
                </a:cubicBezTo>
                <a:cubicBezTo>
                  <a:pt x="277273" y="334175"/>
                  <a:pt x="285084" y="336658"/>
                  <a:pt x="292037" y="334231"/>
                </a:cubicBezTo>
                <a:lnTo>
                  <a:pt x="294228" y="333374"/>
                </a:lnTo>
                <a:cubicBezTo>
                  <a:pt x="295561" y="332906"/>
                  <a:pt x="296895" y="332251"/>
                  <a:pt x="298038" y="331430"/>
                </a:cubicBezTo>
                <a:cubicBezTo>
                  <a:pt x="305182" y="326488"/>
                  <a:pt x="306991" y="316697"/>
                  <a:pt x="302038" y="309562"/>
                </a:cubicBezTo>
                <a:cubicBezTo>
                  <a:pt x="286607" y="287337"/>
                  <a:pt x="264414" y="270647"/>
                  <a:pt x="238791" y="261937"/>
                </a:cubicBezTo>
                <a:cubicBezTo>
                  <a:pt x="266128" y="244410"/>
                  <a:pt x="279083" y="211245"/>
                  <a:pt x="270796" y="179831"/>
                </a:cubicBezTo>
                <a:cubicBezTo>
                  <a:pt x="263367" y="151339"/>
                  <a:pt x="239840" y="129889"/>
                  <a:pt x="210788" y="125062"/>
                </a:cubicBezTo>
                <a:cubicBezTo>
                  <a:pt x="205645" y="124138"/>
                  <a:pt x="200502" y="123723"/>
                  <a:pt x="195263" y="123824"/>
                </a:cubicBezTo>
                <a:close/>
                <a:moveTo>
                  <a:pt x="369285" y="69717"/>
                </a:moveTo>
                <a:cubicBezTo>
                  <a:pt x="382143" y="69563"/>
                  <a:pt x="392620" y="79843"/>
                  <a:pt x="392811" y="92677"/>
                </a:cubicBezTo>
                <a:lnTo>
                  <a:pt x="392811" y="370903"/>
                </a:lnTo>
                <a:cubicBezTo>
                  <a:pt x="392811" y="370904"/>
                  <a:pt x="392811" y="370905"/>
                  <a:pt x="392811" y="370906"/>
                </a:cubicBezTo>
                <a:cubicBezTo>
                  <a:pt x="392620" y="383688"/>
                  <a:pt x="382143" y="393922"/>
                  <a:pt x="369380" y="393763"/>
                </a:cubicBezTo>
                <a:lnTo>
                  <a:pt x="277559" y="393763"/>
                </a:lnTo>
                <a:cubicBezTo>
                  <a:pt x="271558" y="393778"/>
                  <a:pt x="265843" y="396020"/>
                  <a:pt x="261461" y="400049"/>
                </a:cubicBezTo>
                <a:lnTo>
                  <a:pt x="216217" y="442054"/>
                </a:lnTo>
                <a:cubicBezTo>
                  <a:pt x="206883" y="450639"/>
                  <a:pt x="192405" y="450346"/>
                  <a:pt x="183356" y="441388"/>
                </a:cubicBezTo>
                <a:lnTo>
                  <a:pt x="142684" y="400621"/>
                </a:lnTo>
                <a:cubicBezTo>
                  <a:pt x="138208" y="396215"/>
                  <a:pt x="132207" y="393751"/>
                  <a:pt x="125920" y="393763"/>
                </a:cubicBezTo>
                <a:lnTo>
                  <a:pt x="23336" y="393763"/>
                </a:lnTo>
                <a:cubicBezTo>
                  <a:pt x="10573" y="393868"/>
                  <a:pt x="191" y="383648"/>
                  <a:pt x="0" y="370903"/>
                </a:cubicBezTo>
                <a:lnTo>
                  <a:pt x="0" y="92677"/>
                </a:lnTo>
                <a:cubicBezTo>
                  <a:pt x="96" y="80043"/>
                  <a:pt x="10287" y="69826"/>
                  <a:pt x="22956" y="69722"/>
                </a:cubicBezTo>
                <a:lnTo>
                  <a:pt x="368999" y="69722"/>
                </a:lnTo>
                <a:cubicBezTo>
                  <a:pt x="369094" y="69720"/>
                  <a:pt x="369189" y="69718"/>
                  <a:pt x="369285" y="69717"/>
                </a:cubicBezTo>
                <a:close/>
                <a:moveTo>
                  <a:pt x="123825" y="0"/>
                </a:moveTo>
                <a:lnTo>
                  <a:pt x="445484" y="0"/>
                </a:lnTo>
                <a:cubicBezTo>
                  <a:pt x="456534" y="-106"/>
                  <a:pt x="465582" y="8764"/>
                  <a:pt x="465677" y="19810"/>
                </a:cubicBezTo>
                <a:cubicBezTo>
                  <a:pt x="465677" y="19811"/>
                  <a:pt x="465677" y="19811"/>
                  <a:pt x="465677" y="19812"/>
                </a:cubicBezTo>
                <a:lnTo>
                  <a:pt x="465677" y="307753"/>
                </a:lnTo>
                <a:cubicBezTo>
                  <a:pt x="465582" y="318651"/>
                  <a:pt x="456723" y="327462"/>
                  <a:pt x="445866" y="327565"/>
                </a:cubicBezTo>
                <a:lnTo>
                  <a:pt x="411384" y="327565"/>
                </a:lnTo>
                <a:lnTo>
                  <a:pt x="411384" y="288512"/>
                </a:lnTo>
                <a:cubicBezTo>
                  <a:pt x="419481" y="288618"/>
                  <a:pt x="426148" y="282137"/>
                  <a:pt x="426244" y="274037"/>
                </a:cubicBezTo>
                <a:cubicBezTo>
                  <a:pt x="426244" y="274036"/>
                  <a:pt x="426244" y="274035"/>
                  <a:pt x="426244" y="274034"/>
                </a:cubicBezTo>
                <a:lnTo>
                  <a:pt x="426244" y="53626"/>
                </a:lnTo>
                <a:cubicBezTo>
                  <a:pt x="426148" y="45525"/>
                  <a:pt x="419576" y="39000"/>
                  <a:pt x="411479" y="39051"/>
                </a:cubicBezTo>
                <a:cubicBezTo>
                  <a:pt x="411479" y="39052"/>
                  <a:pt x="411384" y="39052"/>
                  <a:pt x="411384" y="39052"/>
                </a:cubicBezTo>
                <a:lnTo>
                  <a:pt x="158782" y="39052"/>
                </a:lnTo>
                <a:cubicBezTo>
                  <a:pt x="150685" y="38947"/>
                  <a:pt x="144018" y="45428"/>
                  <a:pt x="143922" y="53529"/>
                </a:cubicBezTo>
                <a:cubicBezTo>
                  <a:pt x="143922" y="53561"/>
                  <a:pt x="143922" y="53593"/>
                  <a:pt x="143922" y="53626"/>
                </a:cubicBezTo>
                <a:lnTo>
                  <a:pt x="143922" y="58007"/>
                </a:lnTo>
                <a:lnTo>
                  <a:pt x="104013" y="58007"/>
                </a:lnTo>
                <a:lnTo>
                  <a:pt x="104013" y="19907"/>
                </a:lnTo>
                <a:cubicBezTo>
                  <a:pt x="104109" y="8971"/>
                  <a:pt x="112871" y="104"/>
                  <a:pt x="123825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058011" y="2922510"/>
            <a:ext cx="240586" cy="221335"/>
          </a:xfrm>
          <a:custGeom>
            <a:avLst/>
            <a:gdLst>
              <a:gd name="connsiteX0" fmla="*/ 341095 w 461968"/>
              <a:gd name="connsiteY0" fmla="*/ 172695 h 425005"/>
              <a:gd name="connsiteX1" fmla="*/ 171074 w 461968"/>
              <a:gd name="connsiteY1" fmla="*/ 7 h 425005"/>
              <a:gd name="connsiteX2" fmla="*/ 1148 w 461968"/>
              <a:gd name="connsiteY2" fmla="*/ 172695 h 425005"/>
              <a:gd name="connsiteX3" fmla="*/ 32009 w 461968"/>
              <a:gd name="connsiteY3" fmla="*/ 272041 h 425005"/>
              <a:gd name="connsiteX4" fmla="*/ 25818 w 461968"/>
              <a:gd name="connsiteY4" fmla="*/ 297378 h 425005"/>
              <a:gd name="connsiteX5" fmla="*/ 38124 w 461968"/>
              <a:gd name="connsiteY5" fmla="*/ 317956 h 425005"/>
              <a:gd name="connsiteX6" fmla="*/ 43439 w 461968"/>
              <a:gd name="connsiteY6" fmla="*/ 318428 h 425005"/>
              <a:gd name="connsiteX7" fmla="*/ 76300 w 461968"/>
              <a:gd name="connsiteY7" fmla="*/ 316237 h 425005"/>
              <a:gd name="connsiteX8" fmla="*/ 171550 w 461968"/>
              <a:gd name="connsiteY8" fmla="*/ 345574 h 425005"/>
              <a:gd name="connsiteX9" fmla="*/ 341095 w 461968"/>
              <a:gd name="connsiteY9" fmla="*/ 172695 h 425005"/>
              <a:gd name="connsiteX10" fmla="*/ 249560 w 461968"/>
              <a:gd name="connsiteY10" fmla="*/ 150502 h 425005"/>
              <a:gd name="connsiteX11" fmla="*/ 271372 w 461968"/>
              <a:gd name="connsiteY11" fmla="*/ 172693 h 425005"/>
              <a:gd name="connsiteX12" fmla="*/ 271372 w 461968"/>
              <a:gd name="connsiteY12" fmla="*/ 172695 h 425005"/>
              <a:gd name="connsiteX13" fmla="*/ 249560 w 461968"/>
              <a:gd name="connsiteY13" fmla="*/ 194793 h 425005"/>
              <a:gd name="connsiteX14" fmla="*/ 227367 w 461968"/>
              <a:gd name="connsiteY14" fmla="*/ 172982 h 425005"/>
              <a:gd name="connsiteX15" fmla="*/ 227367 w 461968"/>
              <a:gd name="connsiteY15" fmla="*/ 172695 h 425005"/>
              <a:gd name="connsiteX16" fmla="*/ 249179 w 461968"/>
              <a:gd name="connsiteY16" fmla="*/ 150502 h 425005"/>
              <a:gd name="connsiteX17" fmla="*/ 249560 w 461968"/>
              <a:gd name="connsiteY17" fmla="*/ 150502 h 425005"/>
              <a:gd name="connsiteX18" fmla="*/ 92683 w 461968"/>
              <a:gd name="connsiteY18" fmla="*/ 194793 h 425005"/>
              <a:gd name="connsiteX19" fmla="*/ 70871 w 461968"/>
              <a:gd name="connsiteY19" fmla="*/ 172791 h 425005"/>
              <a:gd name="connsiteX20" fmla="*/ 70871 w 461968"/>
              <a:gd name="connsiteY20" fmla="*/ 172695 h 425005"/>
              <a:gd name="connsiteX21" fmla="*/ 92493 w 461968"/>
              <a:gd name="connsiteY21" fmla="*/ 150504 h 425005"/>
              <a:gd name="connsiteX22" fmla="*/ 92683 w 461968"/>
              <a:gd name="connsiteY22" fmla="*/ 150502 h 425005"/>
              <a:gd name="connsiteX23" fmla="*/ 114496 w 461968"/>
              <a:gd name="connsiteY23" fmla="*/ 172693 h 425005"/>
              <a:gd name="connsiteX24" fmla="*/ 114496 w 461968"/>
              <a:gd name="connsiteY24" fmla="*/ 172695 h 425005"/>
              <a:gd name="connsiteX25" fmla="*/ 92683 w 461968"/>
              <a:gd name="connsiteY25" fmla="*/ 194793 h 425005"/>
              <a:gd name="connsiteX26" fmla="*/ 149357 w 461968"/>
              <a:gd name="connsiteY26" fmla="*/ 172695 h 425005"/>
              <a:gd name="connsiteX27" fmla="*/ 170979 w 461968"/>
              <a:gd name="connsiteY27" fmla="*/ 150503 h 425005"/>
              <a:gd name="connsiteX28" fmla="*/ 171074 w 461968"/>
              <a:gd name="connsiteY28" fmla="*/ 150502 h 425005"/>
              <a:gd name="connsiteX29" fmla="*/ 192886 w 461968"/>
              <a:gd name="connsiteY29" fmla="*/ 172503 h 425005"/>
              <a:gd name="connsiteX30" fmla="*/ 192886 w 461968"/>
              <a:gd name="connsiteY30" fmla="*/ 172695 h 425005"/>
              <a:gd name="connsiteX31" fmla="*/ 171169 w 461968"/>
              <a:gd name="connsiteY31" fmla="*/ 194792 h 425005"/>
              <a:gd name="connsiteX32" fmla="*/ 171074 w 461968"/>
              <a:gd name="connsiteY32" fmla="*/ 194793 h 425005"/>
              <a:gd name="connsiteX33" fmla="*/ 149357 w 461968"/>
              <a:gd name="connsiteY33" fmla="*/ 172697 h 425005"/>
              <a:gd name="connsiteX34" fmla="*/ 149357 w 461968"/>
              <a:gd name="connsiteY34" fmla="*/ 172695 h 425005"/>
              <a:gd name="connsiteX35" fmla="*/ 463110 w 461968"/>
              <a:gd name="connsiteY35" fmla="*/ 252324 h 425005"/>
              <a:gd name="connsiteX36" fmla="*/ 349382 w 461968"/>
              <a:gd name="connsiteY36" fmla="*/ 89542 h 425005"/>
              <a:gd name="connsiteX37" fmla="*/ 367193 w 461968"/>
              <a:gd name="connsiteY37" fmla="*/ 172695 h 425005"/>
              <a:gd name="connsiteX38" fmla="*/ 171083 w 461968"/>
              <a:gd name="connsiteY38" fmla="*/ 371863 h 425005"/>
              <a:gd name="connsiteX39" fmla="*/ 171074 w 461968"/>
              <a:gd name="connsiteY39" fmla="*/ 371863 h 425005"/>
              <a:gd name="connsiteX40" fmla="*/ 171074 w 461968"/>
              <a:gd name="connsiteY40" fmla="*/ 371863 h 425005"/>
              <a:gd name="connsiteX41" fmla="*/ 293565 w 461968"/>
              <a:gd name="connsiteY41" fmla="*/ 425013 h 425005"/>
              <a:gd name="connsiteX42" fmla="*/ 386053 w 461968"/>
              <a:gd name="connsiteY42" fmla="*/ 397104 h 425005"/>
              <a:gd name="connsiteX43" fmla="*/ 417486 w 461968"/>
              <a:gd name="connsiteY43" fmla="*/ 401962 h 425005"/>
              <a:gd name="connsiteX44" fmla="*/ 434916 w 461968"/>
              <a:gd name="connsiteY44" fmla="*/ 389065 h 425005"/>
              <a:gd name="connsiteX45" fmla="*/ 434726 w 461968"/>
              <a:gd name="connsiteY45" fmla="*/ 383483 h 425005"/>
              <a:gd name="connsiteX46" fmla="*/ 428725 w 461968"/>
              <a:gd name="connsiteY46" fmla="*/ 356718 h 425005"/>
              <a:gd name="connsiteX47" fmla="*/ 463110 w 461968"/>
              <a:gd name="connsiteY47" fmla="*/ 252324 h 425005"/>
            </a:gdLst>
            <a:ahLst/>
            <a:cxnLst/>
            <a:rect l="l" t="t" r="r" b="b"/>
            <a:pathLst>
              <a:path w="461968" h="425005">
                <a:moveTo>
                  <a:pt x="341095" y="172695"/>
                </a:moveTo>
                <a:cubicBezTo>
                  <a:pt x="341781" y="78079"/>
                  <a:pt x="265686" y="793"/>
                  <a:pt x="171074" y="7"/>
                </a:cubicBezTo>
                <a:cubicBezTo>
                  <a:pt x="76500" y="845"/>
                  <a:pt x="462" y="78116"/>
                  <a:pt x="1148" y="172695"/>
                </a:cubicBezTo>
                <a:cubicBezTo>
                  <a:pt x="1081" y="208181"/>
                  <a:pt x="11844" y="242842"/>
                  <a:pt x="32009" y="272041"/>
                </a:cubicBezTo>
                <a:lnTo>
                  <a:pt x="25818" y="297378"/>
                </a:lnTo>
                <a:cubicBezTo>
                  <a:pt x="23531" y="306459"/>
                  <a:pt x="29047" y="315672"/>
                  <a:pt x="38124" y="317956"/>
                </a:cubicBezTo>
                <a:cubicBezTo>
                  <a:pt x="39858" y="318394"/>
                  <a:pt x="41658" y="318553"/>
                  <a:pt x="43439" y="318428"/>
                </a:cubicBezTo>
                <a:lnTo>
                  <a:pt x="76300" y="316237"/>
                </a:lnTo>
                <a:cubicBezTo>
                  <a:pt x="104322" y="335490"/>
                  <a:pt x="137555" y="345725"/>
                  <a:pt x="171550" y="345574"/>
                </a:cubicBezTo>
                <a:cubicBezTo>
                  <a:pt x="266057" y="344527"/>
                  <a:pt x="341886" y="267201"/>
                  <a:pt x="341095" y="172695"/>
                </a:cubicBezTo>
                <a:close/>
                <a:moveTo>
                  <a:pt x="249560" y="150502"/>
                </a:moveTo>
                <a:cubicBezTo>
                  <a:pt x="261714" y="150607"/>
                  <a:pt x="271477" y="160542"/>
                  <a:pt x="271372" y="172693"/>
                </a:cubicBezTo>
                <a:cubicBezTo>
                  <a:pt x="271372" y="172694"/>
                  <a:pt x="271372" y="172694"/>
                  <a:pt x="271372" y="172695"/>
                </a:cubicBezTo>
                <a:cubicBezTo>
                  <a:pt x="271429" y="184810"/>
                  <a:pt x="261675" y="194688"/>
                  <a:pt x="249560" y="194793"/>
                </a:cubicBezTo>
                <a:cubicBezTo>
                  <a:pt x="237406" y="194899"/>
                  <a:pt x="227471" y="185133"/>
                  <a:pt x="227367" y="172982"/>
                </a:cubicBezTo>
                <a:cubicBezTo>
                  <a:pt x="227367" y="172887"/>
                  <a:pt x="227367" y="172791"/>
                  <a:pt x="227367" y="172695"/>
                </a:cubicBezTo>
                <a:cubicBezTo>
                  <a:pt x="227262" y="160544"/>
                  <a:pt x="237025" y="150608"/>
                  <a:pt x="249179" y="150502"/>
                </a:cubicBezTo>
                <a:cubicBezTo>
                  <a:pt x="249302" y="150501"/>
                  <a:pt x="249436" y="150501"/>
                  <a:pt x="249560" y="150502"/>
                </a:cubicBezTo>
                <a:close/>
                <a:moveTo>
                  <a:pt x="92683" y="194793"/>
                </a:moveTo>
                <a:cubicBezTo>
                  <a:pt x="80587" y="194741"/>
                  <a:pt x="70814" y="184890"/>
                  <a:pt x="70871" y="172791"/>
                </a:cubicBezTo>
                <a:cubicBezTo>
                  <a:pt x="70871" y="172759"/>
                  <a:pt x="70871" y="172728"/>
                  <a:pt x="70871" y="172695"/>
                </a:cubicBezTo>
                <a:cubicBezTo>
                  <a:pt x="70709" y="160598"/>
                  <a:pt x="80396" y="150662"/>
                  <a:pt x="92493" y="150504"/>
                </a:cubicBezTo>
                <a:cubicBezTo>
                  <a:pt x="92550" y="150503"/>
                  <a:pt x="92617" y="150502"/>
                  <a:pt x="92683" y="150502"/>
                </a:cubicBezTo>
                <a:cubicBezTo>
                  <a:pt x="104837" y="150607"/>
                  <a:pt x="114600" y="160542"/>
                  <a:pt x="114496" y="172693"/>
                </a:cubicBezTo>
                <a:cubicBezTo>
                  <a:pt x="114496" y="172694"/>
                  <a:pt x="114496" y="172694"/>
                  <a:pt x="114496" y="172695"/>
                </a:cubicBezTo>
                <a:cubicBezTo>
                  <a:pt x="114552" y="184810"/>
                  <a:pt x="104799" y="194688"/>
                  <a:pt x="92683" y="194793"/>
                </a:cubicBezTo>
                <a:close/>
                <a:moveTo>
                  <a:pt x="149357" y="172695"/>
                </a:moveTo>
                <a:cubicBezTo>
                  <a:pt x="149195" y="160598"/>
                  <a:pt x="158882" y="150661"/>
                  <a:pt x="170979" y="150503"/>
                </a:cubicBezTo>
                <a:cubicBezTo>
                  <a:pt x="171007" y="150503"/>
                  <a:pt x="171045" y="150502"/>
                  <a:pt x="171074" y="150502"/>
                </a:cubicBezTo>
                <a:cubicBezTo>
                  <a:pt x="183170" y="150553"/>
                  <a:pt x="192943" y="160403"/>
                  <a:pt x="192886" y="172503"/>
                </a:cubicBezTo>
                <a:cubicBezTo>
                  <a:pt x="192886" y="172567"/>
                  <a:pt x="192886" y="172631"/>
                  <a:pt x="192886" y="172695"/>
                </a:cubicBezTo>
                <a:cubicBezTo>
                  <a:pt x="192991" y="184794"/>
                  <a:pt x="183266" y="194688"/>
                  <a:pt x="171169" y="194792"/>
                </a:cubicBezTo>
                <a:cubicBezTo>
                  <a:pt x="171140" y="194793"/>
                  <a:pt x="171103" y="194793"/>
                  <a:pt x="171074" y="194793"/>
                </a:cubicBezTo>
                <a:cubicBezTo>
                  <a:pt x="158977" y="194688"/>
                  <a:pt x="149252" y="184796"/>
                  <a:pt x="149357" y="172697"/>
                </a:cubicBezTo>
                <a:cubicBezTo>
                  <a:pt x="149357" y="172696"/>
                  <a:pt x="149357" y="172696"/>
                  <a:pt x="149357" y="172695"/>
                </a:cubicBezTo>
                <a:close/>
                <a:moveTo>
                  <a:pt x="463110" y="252324"/>
                </a:moveTo>
                <a:cubicBezTo>
                  <a:pt x="463367" y="179496"/>
                  <a:pt x="417857" y="114354"/>
                  <a:pt x="349382" y="89542"/>
                </a:cubicBezTo>
                <a:cubicBezTo>
                  <a:pt x="361164" y="115678"/>
                  <a:pt x="367241" y="144026"/>
                  <a:pt x="367193" y="172695"/>
                </a:cubicBezTo>
                <a:cubicBezTo>
                  <a:pt x="368041" y="281848"/>
                  <a:pt x="280240" y="371018"/>
                  <a:pt x="171083" y="371863"/>
                </a:cubicBezTo>
                <a:cubicBezTo>
                  <a:pt x="171083" y="371863"/>
                  <a:pt x="171074" y="371863"/>
                  <a:pt x="171074" y="371863"/>
                </a:cubicBezTo>
                <a:lnTo>
                  <a:pt x="171074" y="371863"/>
                </a:lnTo>
                <a:cubicBezTo>
                  <a:pt x="202792" y="405772"/>
                  <a:pt x="247140" y="425013"/>
                  <a:pt x="293565" y="425013"/>
                </a:cubicBezTo>
                <a:cubicBezTo>
                  <a:pt x="326465" y="425013"/>
                  <a:pt x="358640" y="415307"/>
                  <a:pt x="386053" y="397104"/>
                </a:cubicBezTo>
                <a:lnTo>
                  <a:pt x="417486" y="401962"/>
                </a:lnTo>
                <a:cubicBezTo>
                  <a:pt x="425858" y="403210"/>
                  <a:pt x="433668" y="397438"/>
                  <a:pt x="434916" y="389065"/>
                </a:cubicBezTo>
                <a:cubicBezTo>
                  <a:pt x="435192" y="387208"/>
                  <a:pt x="435135" y="385312"/>
                  <a:pt x="434726" y="383483"/>
                </a:cubicBezTo>
                <a:lnTo>
                  <a:pt x="428725" y="356718"/>
                </a:lnTo>
                <a:cubicBezTo>
                  <a:pt x="451204" y="326571"/>
                  <a:pt x="463272" y="289931"/>
                  <a:pt x="463110" y="252324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586631" y="3396414"/>
            <a:ext cx="2374729" cy="156928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capacitación del personal es fundamental para asegurar que todos los empleados comprendan los riesgos y sepan cómo actuar ante diversas situaciones de emergencia.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963831" y="3396414"/>
            <a:ext cx="2155775" cy="156928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3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simulacros de seguridad permiten a los empleados practicar procedimientos de evacuación y respuesta a incidentes, aumentando su confianza y preparación ante situaciones reales.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159759" y="3396414"/>
            <a:ext cx="2317706" cy="15743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Establecer políticas de uso aceptable garantiza que todos los miembros de la organización comprendan las normas de comportamiento y el uso adecuado de los recursos tecnológicos.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589172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Capacitación del Personal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67685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Simulacros de Seguridad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128627" y="2194142"/>
            <a:ext cx="2354580" cy="6557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Políticas de Uso Aceptable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Formación y Concientización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2D6B4CD-22D6-F87B-0E4F-49D448A0E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917486" y="1441701"/>
            <a:ext cx="1443038" cy="1901872"/>
          </a:xfrm>
          <a:custGeom>
            <a:avLst/>
            <a:gdLst>
              <a:gd name="connsiteX0" fmla="*/ 713270 w 1443038"/>
              <a:gd name="connsiteY0" fmla="*/ 0 h 1901872"/>
              <a:gd name="connsiteX1" fmla="*/ 1443038 w 1443038"/>
              <a:gd name="connsiteY1" fmla="*/ 655546 h 1901872"/>
              <a:gd name="connsiteX2" fmla="*/ 1150937 w 1443038"/>
              <a:gd name="connsiteY2" fmla="*/ 655546 h 1901872"/>
              <a:gd name="connsiteX3" fmla="*/ 1152058 w 1443038"/>
              <a:gd name="connsiteY3" fmla="*/ 1134545 h 1901872"/>
              <a:gd name="connsiteX4" fmla="*/ 1152469 w 1443038"/>
              <a:gd name="connsiteY4" fmla="*/ 1134545 h 1901872"/>
              <a:gd name="connsiteX5" fmla="*/ 1154265 w 1443038"/>
              <a:gd name="connsiteY5" fmla="*/ 1901872 h 1901872"/>
              <a:gd name="connsiteX6" fmla="*/ 309986 w 1443038"/>
              <a:gd name="connsiteY6" fmla="*/ 1901872 h 1901872"/>
              <a:gd name="connsiteX7" fmla="*/ 309986 w 1443038"/>
              <a:gd name="connsiteY7" fmla="*/ 1484541 h 1901872"/>
              <a:gd name="connsiteX8" fmla="*/ 308598 w 1443038"/>
              <a:gd name="connsiteY8" fmla="*/ 1484541 h 1901872"/>
              <a:gd name="connsiteX9" fmla="*/ 308598 w 1443038"/>
              <a:gd name="connsiteY9" fmla="*/ 655546 h 1901872"/>
              <a:gd name="connsiteX10" fmla="*/ 0 w 1443038"/>
              <a:gd name="connsiteY10" fmla="*/ 655546 h 1901872"/>
            </a:gdLst>
            <a:ahLst/>
            <a:cxnLst/>
            <a:rect l="l" t="t" r="r" b="b"/>
            <a:pathLst>
              <a:path w="1443038" h="1901872">
                <a:moveTo>
                  <a:pt x="713270" y="0"/>
                </a:moveTo>
                <a:lnTo>
                  <a:pt x="1443038" y="655546"/>
                </a:lnTo>
                <a:lnTo>
                  <a:pt x="1150937" y="655546"/>
                </a:lnTo>
                <a:lnTo>
                  <a:pt x="1152058" y="1134545"/>
                </a:lnTo>
                <a:lnTo>
                  <a:pt x="1152469" y="1134545"/>
                </a:lnTo>
                <a:lnTo>
                  <a:pt x="1154265" y="1901872"/>
                </a:lnTo>
                <a:lnTo>
                  <a:pt x="309986" y="1901872"/>
                </a:lnTo>
                <a:lnTo>
                  <a:pt x="309986" y="1484541"/>
                </a:lnTo>
                <a:lnTo>
                  <a:pt x="308598" y="1484541"/>
                </a:lnTo>
                <a:lnTo>
                  <a:pt x="308598" y="655546"/>
                </a:lnTo>
                <a:lnTo>
                  <a:pt x="0" y="655546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210757" y="2985645"/>
            <a:ext cx="291564" cy="360468"/>
          </a:xfrm>
          <a:custGeom>
            <a:avLst/>
            <a:gdLst>
              <a:gd name="T0" fmla="*/ 103 w 103"/>
              <a:gd name="T1" fmla="*/ 137 h 137"/>
              <a:gd name="T2" fmla="*/ 0 w 103"/>
              <a:gd name="T3" fmla="*/ 137 h 137"/>
              <a:gd name="T4" fmla="*/ 0 w 103"/>
              <a:gd name="T5" fmla="*/ 132 h 137"/>
              <a:gd name="T6" fmla="*/ 14 w 103"/>
              <a:gd name="T7" fmla="*/ 48 h 137"/>
              <a:gd name="T8" fmla="*/ 80 w 103"/>
              <a:gd name="T9" fmla="*/ 33 h 137"/>
              <a:gd name="T10" fmla="*/ 103 w 103"/>
              <a:gd name="T11" fmla="*/ 137 h 137"/>
            </a:gdLst>
            <a:ahLst/>
            <a:cxnLst/>
            <a:rect l="0" t="0" r="r" b="b"/>
            <a:pathLst>
              <a:path w="103" h="137">
                <a:moveTo>
                  <a:pt x="103" y="137"/>
                </a:moveTo>
                <a:cubicBezTo>
                  <a:pt x="0" y="137"/>
                  <a:pt x="0" y="137"/>
                  <a:pt x="0" y="137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00"/>
                  <a:pt x="5" y="70"/>
                  <a:pt x="14" y="48"/>
                </a:cubicBezTo>
                <a:cubicBezTo>
                  <a:pt x="27" y="14"/>
                  <a:pt x="58" y="0"/>
                  <a:pt x="80" y="33"/>
                </a:cubicBezTo>
                <a:cubicBezTo>
                  <a:pt x="94" y="54"/>
                  <a:pt x="102" y="92"/>
                  <a:pt x="103" y="13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171455" y="3022134"/>
            <a:ext cx="1186868" cy="1711267"/>
          </a:xfrm>
          <a:custGeom>
            <a:avLst/>
            <a:gdLst>
              <a:gd name="connsiteX0" fmla="*/ 144799 w 1186868"/>
              <a:gd name="connsiteY0" fmla="*/ 0 h 1711267"/>
              <a:gd name="connsiteX1" fmla="*/ 1186868 w 1186868"/>
              <a:gd name="connsiteY1" fmla="*/ 0 h 1711267"/>
              <a:gd name="connsiteX2" fmla="*/ 1042451 w 1186868"/>
              <a:gd name="connsiteY2" fmla="*/ 302627 h 1711267"/>
              <a:gd name="connsiteX3" fmla="*/ 1039301 w 1186868"/>
              <a:gd name="connsiteY3" fmla="*/ 1711267 h 1711267"/>
              <a:gd name="connsiteX4" fmla="*/ 0 w 1186868"/>
              <a:gd name="connsiteY4" fmla="*/ 1711267 h 1711267"/>
              <a:gd name="connsiteX5" fmla="*/ 0 w 1186868"/>
              <a:gd name="connsiteY5" fmla="*/ 756327 h 1711267"/>
              <a:gd name="connsiteX6" fmla="*/ 381 w 1186868"/>
              <a:gd name="connsiteY6" fmla="*/ 756327 h 1711267"/>
              <a:gd name="connsiteX7" fmla="*/ 381 w 1186868"/>
              <a:gd name="connsiteY7" fmla="*/ 715001 h 1711267"/>
              <a:gd name="connsiteX8" fmla="*/ 381 w 1186868"/>
              <a:gd name="connsiteY8" fmla="*/ 302627 h 1711267"/>
              <a:gd name="connsiteX9" fmla="*/ 144799 w 1186868"/>
              <a:gd name="connsiteY9" fmla="*/ 0 h 1711267"/>
              <a:gd name="connsiteX10" fmla="*/ 144799 w 1186868"/>
              <a:gd name="connsiteY10" fmla="*/ 0 h 1711267"/>
              <a:gd name="connsiteX11" fmla="*/ 144799 w 1186868"/>
              <a:gd name="connsiteY11" fmla="*/ 0 h 1711267"/>
            </a:gdLst>
            <a:ahLst/>
            <a:cxnLst/>
            <a:rect l="l" t="t" r="r" b="b"/>
            <a:pathLst>
              <a:path w="1186868" h="1711267">
                <a:moveTo>
                  <a:pt x="144799" y="0"/>
                </a:moveTo>
                <a:lnTo>
                  <a:pt x="1186868" y="0"/>
                </a:lnTo>
                <a:cubicBezTo>
                  <a:pt x="1107580" y="0"/>
                  <a:pt x="1042451" y="136840"/>
                  <a:pt x="1042451" y="302627"/>
                </a:cubicBezTo>
                <a:lnTo>
                  <a:pt x="1039301" y="1711267"/>
                </a:lnTo>
                <a:lnTo>
                  <a:pt x="0" y="1711267"/>
                </a:lnTo>
                <a:lnTo>
                  <a:pt x="0" y="756327"/>
                </a:lnTo>
                <a:lnTo>
                  <a:pt x="381" y="756327"/>
                </a:lnTo>
                <a:lnTo>
                  <a:pt x="381" y="715001"/>
                </a:lnTo>
                <a:lnTo>
                  <a:pt x="381" y="302627"/>
                </a:lnTo>
                <a:cubicBezTo>
                  <a:pt x="381" y="136840"/>
                  <a:pt x="65511" y="0"/>
                  <a:pt x="14479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533693" y="3348827"/>
            <a:ext cx="361778" cy="35010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45720" tIns="22860" rIns="45720" bIns="2286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458116" y="1995222"/>
            <a:ext cx="361778" cy="350106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45720" tIns="22860" rIns="45720" bIns="2286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440481" y="2125760"/>
            <a:ext cx="697682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Implementación de Inteligencia Artificial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40480" y="2496377"/>
            <a:ext cx="6976820" cy="769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implementación de inteligencia artificial puede optimizar la detección de amenazas y mejorar las medidas de seguridad al analizar patrones en tiempo real y responder a posibles incidentes.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720561" y="3901389"/>
            <a:ext cx="6976820" cy="769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sistemas de respuesta automática facilitan una reacción rápida y eficaz ante incidentes, minimizando el tiempo de respuesta y mejorando la seguridad general de la organización.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720562" y="3525613"/>
            <a:ext cx="697682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Sistemas de Respuesta Automática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686035" y="4922101"/>
            <a:ext cx="697682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de Comportamiento del Usuario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686034" y="5297877"/>
            <a:ext cx="6976820" cy="769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análisis del comportamiento del usuario permite identificar acciones inusuales que podrían indicar un riesgo, permitiendo tomar medidas preventivas antes de que se produzcan incidentes.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176230" y="4373137"/>
            <a:ext cx="291564" cy="360468"/>
          </a:xfrm>
          <a:custGeom>
            <a:avLst/>
            <a:gdLst>
              <a:gd name="T0" fmla="*/ 103 w 103"/>
              <a:gd name="T1" fmla="*/ 137 h 137"/>
              <a:gd name="T2" fmla="*/ 0 w 103"/>
              <a:gd name="T3" fmla="*/ 137 h 137"/>
              <a:gd name="T4" fmla="*/ 0 w 103"/>
              <a:gd name="T5" fmla="*/ 132 h 137"/>
              <a:gd name="T6" fmla="*/ 14 w 103"/>
              <a:gd name="T7" fmla="*/ 48 h 137"/>
              <a:gd name="T8" fmla="*/ 80 w 103"/>
              <a:gd name="T9" fmla="*/ 33 h 137"/>
              <a:gd name="T10" fmla="*/ 103 w 103"/>
              <a:gd name="T11" fmla="*/ 137 h 137"/>
            </a:gdLst>
            <a:ahLst/>
            <a:cxnLst/>
            <a:rect l="0" t="0" r="r" b="b"/>
            <a:pathLst>
              <a:path w="103" h="137">
                <a:moveTo>
                  <a:pt x="103" y="137"/>
                </a:moveTo>
                <a:cubicBezTo>
                  <a:pt x="0" y="137"/>
                  <a:pt x="0" y="137"/>
                  <a:pt x="0" y="137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00"/>
                  <a:pt x="5" y="70"/>
                  <a:pt x="14" y="48"/>
                </a:cubicBezTo>
                <a:cubicBezTo>
                  <a:pt x="27" y="14"/>
                  <a:pt x="58" y="0"/>
                  <a:pt x="80" y="33"/>
                </a:cubicBezTo>
                <a:cubicBezTo>
                  <a:pt x="94" y="54"/>
                  <a:pt x="102" y="92"/>
                  <a:pt x="103" y="13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6928" y="4409626"/>
            <a:ext cx="1186868" cy="1711267"/>
          </a:xfrm>
          <a:custGeom>
            <a:avLst/>
            <a:gdLst>
              <a:gd name="connsiteX0" fmla="*/ 144799 w 1186868"/>
              <a:gd name="connsiteY0" fmla="*/ 0 h 1711267"/>
              <a:gd name="connsiteX1" fmla="*/ 1186868 w 1186868"/>
              <a:gd name="connsiteY1" fmla="*/ 0 h 1711267"/>
              <a:gd name="connsiteX2" fmla="*/ 1042451 w 1186868"/>
              <a:gd name="connsiteY2" fmla="*/ 302627 h 1711267"/>
              <a:gd name="connsiteX3" fmla="*/ 1039301 w 1186868"/>
              <a:gd name="connsiteY3" fmla="*/ 1711267 h 1711267"/>
              <a:gd name="connsiteX4" fmla="*/ 0 w 1186868"/>
              <a:gd name="connsiteY4" fmla="*/ 1711267 h 1711267"/>
              <a:gd name="connsiteX5" fmla="*/ 0 w 1186868"/>
              <a:gd name="connsiteY5" fmla="*/ 756327 h 1711267"/>
              <a:gd name="connsiteX6" fmla="*/ 381 w 1186868"/>
              <a:gd name="connsiteY6" fmla="*/ 756327 h 1711267"/>
              <a:gd name="connsiteX7" fmla="*/ 381 w 1186868"/>
              <a:gd name="connsiteY7" fmla="*/ 715001 h 1711267"/>
              <a:gd name="connsiteX8" fmla="*/ 381 w 1186868"/>
              <a:gd name="connsiteY8" fmla="*/ 302627 h 1711267"/>
              <a:gd name="connsiteX9" fmla="*/ 144799 w 1186868"/>
              <a:gd name="connsiteY9" fmla="*/ 0 h 1711267"/>
              <a:gd name="connsiteX10" fmla="*/ 144799 w 1186868"/>
              <a:gd name="connsiteY10" fmla="*/ 0 h 1711267"/>
              <a:gd name="connsiteX11" fmla="*/ 144799 w 1186868"/>
              <a:gd name="connsiteY11" fmla="*/ 0 h 1711267"/>
            </a:gdLst>
            <a:ahLst/>
            <a:cxnLst/>
            <a:rect l="l" t="t" r="r" b="b"/>
            <a:pathLst>
              <a:path w="1186868" h="1711267">
                <a:moveTo>
                  <a:pt x="144799" y="0"/>
                </a:moveTo>
                <a:lnTo>
                  <a:pt x="1186868" y="0"/>
                </a:lnTo>
                <a:cubicBezTo>
                  <a:pt x="1107580" y="0"/>
                  <a:pt x="1042451" y="136840"/>
                  <a:pt x="1042451" y="302627"/>
                </a:cubicBezTo>
                <a:lnTo>
                  <a:pt x="1039301" y="1711267"/>
                </a:lnTo>
                <a:lnTo>
                  <a:pt x="0" y="1711267"/>
                </a:lnTo>
                <a:lnTo>
                  <a:pt x="0" y="756327"/>
                </a:lnTo>
                <a:lnTo>
                  <a:pt x="381" y="756327"/>
                </a:lnTo>
                <a:lnTo>
                  <a:pt x="381" y="715001"/>
                </a:lnTo>
                <a:lnTo>
                  <a:pt x="381" y="302627"/>
                </a:lnTo>
                <a:cubicBezTo>
                  <a:pt x="381" y="136840"/>
                  <a:pt x="65511" y="0"/>
                  <a:pt x="14479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499193" y="4730483"/>
            <a:ext cx="361725" cy="361778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45720" tIns="22860" rIns="45720" bIns="22860" rtlCol="0" anchor="t"/>
          <a:lstStyle/>
          <a:p>
            <a:pPr algn="l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Uso de Tecnología Avanzada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5A03AD5-5CF2-1D92-CEE9-0501FE14C5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95323" y="1432185"/>
            <a:ext cx="138025" cy="121118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5000"/>
                  <a:lumOff val="25000"/>
                </a:schemeClr>
              </a:gs>
              <a:gs pos="100000">
                <a:schemeClr val="accent1"/>
              </a:gs>
            </a:gsLst>
            <a:lin ang="108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33348" y="1432185"/>
            <a:ext cx="5949416" cy="12111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83412" y="1501594"/>
            <a:ext cx="572218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Evaluaciones Regulares de Riesgos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83412" y="1854212"/>
            <a:ext cx="5718738" cy="9242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16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Realizar evaluaciones regulares de riesgos asegura que la organización identifique y mitigue las amenazas potenciales de manera proactiva, mejorando su resiliencia ante incidentes.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95323" y="2925318"/>
            <a:ext cx="138025" cy="121118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5000"/>
                  <a:lumOff val="25000"/>
                </a:schemeClr>
              </a:gs>
              <a:gs pos="100000">
                <a:schemeClr val="accent1"/>
              </a:gs>
            </a:gsLst>
            <a:lin ang="108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33348" y="2925318"/>
            <a:ext cx="5949416" cy="12111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83412" y="2994727"/>
            <a:ext cx="572218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Actualización de Protocolos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83412" y="3347345"/>
            <a:ext cx="5718738" cy="9242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16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actualización constante de protocolos garantiza que las estrategias de seguridad se mantengan alineadas con las mejores prácticas y las nuevas tecnologías, mejorando la eficacia de las medidas adoptadas.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5323" y="4418451"/>
            <a:ext cx="138025" cy="121118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5000"/>
                  <a:lumOff val="25000"/>
                </a:schemeClr>
              </a:gs>
              <a:gs pos="100000">
                <a:schemeClr val="accent1"/>
              </a:gs>
            </a:gsLst>
            <a:lin ang="108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33348" y="4418451"/>
            <a:ext cx="5949416" cy="12111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83412" y="4487860"/>
            <a:ext cx="572218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Feedback Continuo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83412" y="4840478"/>
            <a:ext cx="5718738" cy="9242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916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Fomentar un sistema de feedback continuo permite a los empleados compartir sus experiencias y sugerencias sobre la seguridad, contribuyendo así a la mejora continua de las medidas preventivas implementadas.</a:t>
            </a:r>
            <a:endParaRPr kumimoji="1" lang="zh-CN" altLang="en-US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>
            <a:alphaModFix/>
          </a:blip>
          <a:srcRect l="28045" t="4302" r="15819" b="7101"/>
          <a:stretch>
            <a:fillRect/>
          </a:stretch>
        </p:blipFill>
        <p:spPr>
          <a:xfrm>
            <a:off x="7177148" y="1432185"/>
            <a:ext cx="4301080" cy="4197449"/>
          </a:xfrm>
          <a:custGeom>
            <a:avLst/>
            <a:gdLst/>
            <a:ahLst/>
            <a:cxnLst/>
            <a:rect l="l" t="t" r="r" b="b"/>
            <a:pathLst>
              <a:path w="4301080" h="4197449">
                <a:moveTo>
                  <a:pt x="0" y="0"/>
                </a:moveTo>
                <a:lnTo>
                  <a:pt x="4301080" y="0"/>
                </a:lnTo>
                <a:lnTo>
                  <a:pt x="4301080" y="4197449"/>
                </a:lnTo>
                <a:lnTo>
                  <a:pt x="0" y="419744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y Actualización Constante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03028" y="444500"/>
            <a:ext cx="424180" cy="4241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2029649">
            <a:off x="96519" y="544964"/>
            <a:ext cx="831617" cy="234415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AB18714-C120-8584-3FC6-CC5EEA80E0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4401" y="4646065"/>
            <a:ext cx="69723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 </a:t>
            </a:r>
            <a:r>
              <a:rPr kumimoji="1" lang="en-US" altLang="zh-CN" sz="1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JOSE FRANCO LAMILLA</a:t>
            </a:r>
            <a:endParaRPr kumimoji="1" lang="zh-CN" altLang="en-US" dirty="0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F637310-1B73-BC4E-ADD4-5661024B0F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C53645"/>
      </a:accent1>
      <a:accent2>
        <a:srgbClr val="30556B"/>
      </a:accent2>
      <a:accent3>
        <a:srgbClr val="095CB6"/>
      </a:accent3>
      <a:accent4>
        <a:srgbClr val="487ED7"/>
      </a:accent4>
      <a:accent5>
        <a:srgbClr val="909090"/>
      </a:accent5>
      <a:accent6>
        <a:srgbClr val="BEBEB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Microsoft Office PowerPoint</Application>
  <PresentationFormat>Panorámica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poppins-bold</vt:lpstr>
      <vt:lpstr>Poppins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1</cp:revision>
  <dcterms:modified xsi:type="dcterms:W3CDTF">2025-10-06T18:26:12Z</dcterms:modified>
</cp:coreProperties>
</file>
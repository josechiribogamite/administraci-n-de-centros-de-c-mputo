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81" r:id="rId4"/>
    <p:sldId id="282" r:id="rId5"/>
    <p:sldId id="283"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9144000"/>
  <p:embeddedFontLst>
    <p:embeddedFont>
      <p:font typeface="Poppins" panose="00000500000000000000" pitchFamily="2" charset="0"/>
      <p:regular r:id="rId30"/>
      <p:bold r:id="rId31"/>
      <p:italic r:id="rId32"/>
    </p:embeddedFont>
    <p:embeddedFont>
      <p:font typeface="poppins-bold" panose="020B0604020202020204" charset="0"/>
      <p:regular r:id="rId33"/>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914400" y="3595455"/>
            <a:ext cx="9597112" cy="716517"/>
          </a:xfrm>
          <a:custGeom>
            <a:avLst/>
            <a:gdLst>
              <a:gd name="connsiteX0" fmla="*/ 6532245 w 7601997"/>
              <a:gd name="connsiteY0" fmla="*/ 530923 h 530923"/>
              <a:gd name="connsiteX1" fmla="*/ 0 w 7601997"/>
              <a:gd name="connsiteY1" fmla="*/ 530923 h 530923"/>
              <a:gd name="connsiteX2" fmla="*/ 0 w 7601997"/>
              <a:gd name="connsiteY2" fmla="*/ 511969 h 530923"/>
              <a:gd name="connsiteX3" fmla="*/ 6532245 w 7601997"/>
              <a:gd name="connsiteY3" fmla="*/ 511969 h 530923"/>
              <a:gd name="connsiteX4" fmla="*/ 7235476 w 7601997"/>
              <a:gd name="connsiteY4" fmla="*/ 331280 h 530923"/>
              <a:gd name="connsiteX5" fmla="*/ 7585710 w 7601997"/>
              <a:gd name="connsiteY5" fmla="*/ 0 h 530923"/>
              <a:gd name="connsiteX6" fmla="*/ 7601998 w 7601997"/>
              <a:gd name="connsiteY6" fmla="*/ 9811 h 530923"/>
              <a:gd name="connsiteX7" fmla="*/ 7245001 w 7601997"/>
              <a:gd name="connsiteY7" fmla="*/ 347663 h 530923"/>
              <a:gd name="connsiteX8" fmla="*/ 6532245 w 7601997"/>
              <a:gd name="connsiteY8" fmla="*/ 530923 h 530923"/>
            </a:gdLst>
            <a:ahLst/>
            <a:cxnLst/>
            <a:rect l="l" t="t" r="r" b="b"/>
            <a:pathLst>
              <a:path w="7601997" h="530923">
                <a:moveTo>
                  <a:pt x="6532245" y="530923"/>
                </a:moveTo>
                <a:lnTo>
                  <a:pt x="0" y="530923"/>
                </a:lnTo>
                <a:lnTo>
                  <a:pt x="0" y="511969"/>
                </a:lnTo>
                <a:lnTo>
                  <a:pt x="6532245" y="511969"/>
                </a:lnTo>
                <a:cubicBezTo>
                  <a:pt x="6789420" y="511969"/>
                  <a:pt x="7032594" y="449485"/>
                  <a:pt x="7235476" y="331280"/>
                </a:cubicBezTo>
                <a:cubicBezTo>
                  <a:pt x="7390067" y="241173"/>
                  <a:pt x="7507891" y="129730"/>
                  <a:pt x="7585710" y="0"/>
                </a:cubicBezTo>
                <a:lnTo>
                  <a:pt x="7601998" y="9811"/>
                </a:lnTo>
                <a:cubicBezTo>
                  <a:pt x="7522464" y="142304"/>
                  <a:pt x="7402354" y="255937"/>
                  <a:pt x="7245001" y="347663"/>
                </a:cubicBezTo>
                <a:cubicBezTo>
                  <a:pt x="7039166" y="467487"/>
                  <a:pt x="6792754" y="530923"/>
                  <a:pt x="6532245" y="530923"/>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363422" y="2911658"/>
            <a:ext cx="533612" cy="688688"/>
          </a:xfrm>
          <a:custGeom>
            <a:avLst/>
            <a:gdLst>
              <a:gd name="connsiteX0" fmla="*/ 410865 w 422681"/>
              <a:gd name="connsiteY0" fmla="*/ 429526 h 510302"/>
              <a:gd name="connsiteX1" fmla="*/ 422676 w 422681"/>
              <a:gd name="connsiteY1" fmla="*/ 6711 h 510302"/>
              <a:gd name="connsiteX2" fmla="*/ 413913 w 422681"/>
              <a:gd name="connsiteY2" fmla="*/ 996 h 510302"/>
              <a:gd name="connsiteX3" fmla="*/ 6624 w 422681"/>
              <a:gd name="connsiteY3" fmla="*/ 293794 h 510302"/>
              <a:gd name="connsiteX4" fmla="*/ 11006 w 422681"/>
              <a:gd name="connsiteY4" fmla="*/ 323798 h 510302"/>
              <a:gd name="connsiteX5" fmla="*/ 125401 w 422681"/>
              <a:gd name="connsiteY5" fmla="*/ 359898 h 510302"/>
              <a:gd name="connsiteX6" fmla="*/ 363907 w 422681"/>
              <a:gd name="connsiteY6" fmla="*/ 102342 h 510302"/>
              <a:gd name="connsiteX7" fmla="*/ 171406 w 422681"/>
              <a:gd name="connsiteY7" fmla="*/ 382948 h 510302"/>
              <a:gd name="connsiteX8" fmla="*/ 179217 w 422681"/>
              <a:gd name="connsiteY8" fmla="*/ 494676 h 510302"/>
              <a:gd name="connsiteX9" fmla="*/ 206840 w 422681"/>
              <a:gd name="connsiteY9" fmla="*/ 501534 h 510302"/>
              <a:gd name="connsiteX10" fmla="*/ 252083 w 422681"/>
              <a:gd name="connsiteY10" fmla="*/ 401808 h 510302"/>
              <a:gd name="connsiteX11" fmla="*/ 392768 w 422681"/>
              <a:gd name="connsiteY11" fmla="*/ 444766 h 510302"/>
              <a:gd name="connsiteX12" fmla="*/ 410865 w 422681"/>
              <a:gd name="connsiteY12" fmla="*/ 429526 h 510302"/>
            </a:gdLst>
            <a:ahLst/>
            <a:cxnLst/>
            <a:rect l="l" t="t" r="r" b="b"/>
            <a:pathLst>
              <a:path w="422681" h="510302">
                <a:moveTo>
                  <a:pt x="410865" y="429526"/>
                </a:moveTo>
                <a:lnTo>
                  <a:pt x="422676" y="6711"/>
                </a:lnTo>
                <a:cubicBezTo>
                  <a:pt x="422867" y="1567"/>
                  <a:pt x="417819" y="-1767"/>
                  <a:pt x="413913" y="996"/>
                </a:cubicBezTo>
                <a:lnTo>
                  <a:pt x="6624" y="293794"/>
                </a:lnTo>
                <a:cubicBezTo>
                  <a:pt x="-4044" y="301414"/>
                  <a:pt x="-1281" y="319988"/>
                  <a:pt x="11006" y="323798"/>
                </a:cubicBezTo>
                <a:lnTo>
                  <a:pt x="125401" y="359898"/>
                </a:lnTo>
                <a:lnTo>
                  <a:pt x="363907" y="102342"/>
                </a:lnTo>
                <a:lnTo>
                  <a:pt x="171406" y="382948"/>
                </a:lnTo>
                <a:lnTo>
                  <a:pt x="179217" y="494676"/>
                </a:lnTo>
                <a:cubicBezTo>
                  <a:pt x="180360" y="511345"/>
                  <a:pt x="200077" y="516298"/>
                  <a:pt x="206840" y="501534"/>
                </a:cubicBezTo>
                <a:lnTo>
                  <a:pt x="252083" y="401808"/>
                </a:lnTo>
                <a:lnTo>
                  <a:pt x="392768" y="444766"/>
                </a:lnTo>
                <a:cubicBezTo>
                  <a:pt x="401721" y="447433"/>
                  <a:pt x="410484" y="440003"/>
                  <a:pt x="410865" y="429526"/>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914399" y="1200625"/>
            <a:ext cx="10137057" cy="2881022"/>
          </a:xfrm>
          <a:prstGeom prst="rect">
            <a:avLst/>
          </a:prstGeom>
          <a:noFill/>
          <a:ln w="12700" cap="sq">
            <a:noFill/>
            <a:miter/>
          </a:ln>
        </p:spPr>
        <p:txBody>
          <a:bodyPr vert="horz" wrap="square" lIns="0" tIns="0" rIns="0" bIns="0" rtlCol="0" anchor="b"/>
          <a:lstStyle/>
          <a:p>
            <a:pPr algn="l"/>
            <a:r>
              <a:rPr kumimoji="1" lang="en-US" altLang="zh-CN" sz="4300" dirty="0" err="1">
                <a:ln w="12700">
                  <a:noFill/>
                </a:ln>
                <a:solidFill>
                  <a:srgbClr val="262626">
                    <a:alpha val="100000"/>
                  </a:srgbClr>
                </a:solidFill>
                <a:latin typeface="Poppins"/>
                <a:ea typeface="Poppins"/>
                <a:cs typeface="Poppins"/>
              </a:rPr>
              <a:t>Indicadores</a:t>
            </a:r>
            <a:r>
              <a:rPr kumimoji="1" lang="en-US" altLang="zh-CN" sz="4300" dirty="0">
                <a:ln w="12700">
                  <a:noFill/>
                </a:ln>
                <a:solidFill>
                  <a:srgbClr val="262626">
                    <a:alpha val="100000"/>
                  </a:srgbClr>
                </a:solidFill>
                <a:latin typeface="Poppins"/>
                <a:ea typeface="Poppins"/>
                <a:cs typeface="Poppins"/>
              </a:rPr>
              <a:t> de </a:t>
            </a:r>
            <a:r>
              <a:rPr kumimoji="1" lang="en-US" altLang="zh-CN" sz="4300" dirty="0" err="1">
                <a:ln w="12700">
                  <a:noFill/>
                </a:ln>
                <a:solidFill>
                  <a:srgbClr val="262626">
                    <a:alpha val="100000"/>
                  </a:srgbClr>
                </a:solidFill>
                <a:latin typeface="Poppins"/>
                <a:ea typeface="Poppins"/>
                <a:cs typeface="Poppins"/>
              </a:rPr>
              <a:t>Gestión</a:t>
            </a:r>
            <a:r>
              <a:rPr kumimoji="1" lang="en-US" altLang="zh-CN" sz="4300" dirty="0">
                <a:ln w="12700">
                  <a:noFill/>
                </a:ln>
                <a:solidFill>
                  <a:srgbClr val="262626">
                    <a:alpha val="100000"/>
                  </a:srgbClr>
                </a:solidFill>
                <a:latin typeface="Poppins"/>
                <a:ea typeface="Poppins"/>
                <a:cs typeface="Poppins"/>
              </a:rPr>
              <a:t> (KPIs) </a:t>
            </a:r>
            <a:r>
              <a:rPr kumimoji="1" lang="en-US" altLang="zh-CN" sz="4300" dirty="0" err="1">
                <a:ln w="12700">
                  <a:noFill/>
                </a:ln>
                <a:solidFill>
                  <a:srgbClr val="262626">
                    <a:alpha val="100000"/>
                  </a:srgbClr>
                </a:solidFill>
                <a:latin typeface="Poppins"/>
                <a:ea typeface="Poppins"/>
                <a:cs typeface="Poppins"/>
              </a:rPr>
              <a:t>Aplicados</a:t>
            </a:r>
            <a:r>
              <a:rPr kumimoji="1" lang="en-US" altLang="zh-CN" sz="4300" dirty="0">
                <a:ln w="12700">
                  <a:noFill/>
                </a:ln>
                <a:solidFill>
                  <a:srgbClr val="262626">
                    <a:alpha val="100000"/>
                  </a:srgbClr>
                </a:solidFill>
                <a:latin typeface="Poppins"/>
                <a:ea typeface="Poppins"/>
                <a:cs typeface="Poppins"/>
              </a:rPr>
              <a:t> al Centro de </a:t>
            </a:r>
            <a:r>
              <a:rPr kumimoji="1" lang="en-US" altLang="zh-CN" sz="4300" dirty="0" err="1">
                <a:ln w="12700">
                  <a:noFill/>
                </a:ln>
                <a:solidFill>
                  <a:srgbClr val="262626">
                    <a:alpha val="100000"/>
                  </a:srgbClr>
                </a:solidFill>
                <a:latin typeface="Poppins"/>
                <a:ea typeface="Poppins"/>
                <a:cs typeface="Poppins"/>
              </a:rPr>
              <a:t>Cómputo</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15" name="Imagen 14">
            <a:extLst>
              <a:ext uri="{FF2B5EF4-FFF2-40B4-BE49-F238E27FC236}">
                <a16:creationId xmlns:a16="http://schemas.microsoft.com/office/drawing/2014/main" id="{62903075-6350-8259-FDA4-9489BF5A76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889000"/>
            <a:ext cx="1656000" cy="792000"/>
          </a:xfrm>
          <a:prstGeom prst="rect">
            <a:avLst/>
          </a:prstGeom>
          <a:solidFill>
            <a:schemeClr val="accent1"/>
          </a:solidFill>
          <a:ln w="9525"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811252" y="731872"/>
            <a:ext cx="6828648" cy="900000"/>
          </a:xfrm>
          <a:prstGeom prst="rect">
            <a:avLst/>
          </a:prstGeom>
          <a:noFill/>
          <a:ln>
            <a:noFill/>
          </a:ln>
        </p:spPr>
        <p:txBody>
          <a:bodyPr vert="horz" wrap="square" lIns="0" tIns="0" rIns="0" bIns="0" rtlCol="0" anchor="b"/>
          <a:lstStyle/>
          <a:p>
            <a:pPr algn="l"/>
            <a:r>
              <a:rPr kumimoji="1" lang="en-US" altLang="zh-CN" sz="4800" dirty="0" err="1">
                <a:ln w="12700">
                  <a:noFill/>
                </a:ln>
                <a:solidFill>
                  <a:srgbClr val="C53645">
                    <a:alpha val="100000"/>
                  </a:srgbClr>
                </a:solidFill>
                <a:latin typeface="poppins-bold"/>
                <a:ea typeface="poppins-bold"/>
                <a:cs typeface="poppins-bold"/>
              </a:rPr>
              <a:t>C</a:t>
            </a:r>
            <a:r>
              <a:rPr kumimoji="1" lang="en-US" altLang="zh-CN" sz="4800" dirty="0" err="1">
                <a:ln w="12700">
                  <a:noFill/>
                </a:ln>
                <a:solidFill>
                  <a:srgbClr val="262626">
                    <a:alpha val="100000"/>
                  </a:srgbClr>
                </a:solidFill>
                <a:latin typeface="poppins-bold"/>
                <a:ea typeface="poppins-bold"/>
                <a:cs typeface="poppins-bold"/>
              </a:rPr>
              <a:t>ontenido</a:t>
            </a:r>
            <a:endParaRPr kumimoji="1" lang="zh-CN" altLang="en-US" dirty="0"/>
          </a:p>
        </p:txBody>
      </p:sp>
      <p:sp>
        <p:nvSpPr>
          <p:cNvPr id="5" name="标题 1"/>
          <p:cNvSpPr txBox="1"/>
          <p:nvPr/>
        </p:nvSpPr>
        <p:spPr>
          <a:xfrm>
            <a:off x="2243052" y="47704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Interpretación de Métricas: Más Allá del Número</a:t>
            </a:r>
            <a:endParaRPr kumimoji="1" lang="zh-CN" altLang="en-US"/>
          </a:p>
        </p:txBody>
      </p:sp>
      <p:sp>
        <p:nvSpPr>
          <p:cNvPr id="6" name="标题 1"/>
          <p:cNvSpPr txBox="1"/>
          <p:nvPr/>
        </p:nvSpPr>
        <p:spPr>
          <a:xfrm>
            <a:off x="1811252" y="47704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C53645">
                    <a:alpha val="100000"/>
                  </a:srgbClr>
                </a:solidFill>
                <a:latin typeface="poppins-bold"/>
                <a:ea typeface="poppins-bold"/>
                <a:cs typeface="poppins-bold"/>
              </a:rPr>
              <a:t>5.</a:t>
            </a:r>
            <a:endParaRPr kumimoji="1" lang="zh-CN" altLang="en-US"/>
          </a:p>
        </p:txBody>
      </p:sp>
      <p:sp>
        <p:nvSpPr>
          <p:cNvPr id="7" name="标题 1"/>
          <p:cNvSpPr txBox="1"/>
          <p:nvPr/>
        </p:nvSpPr>
        <p:spPr>
          <a:xfrm>
            <a:off x="7640552" y="47704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Mejora Continua Basada en Indicadores</a:t>
            </a:r>
            <a:endParaRPr kumimoji="1" lang="zh-CN" altLang="en-US"/>
          </a:p>
        </p:txBody>
      </p:sp>
      <p:sp>
        <p:nvSpPr>
          <p:cNvPr id="8" name="标题 1"/>
          <p:cNvSpPr txBox="1"/>
          <p:nvPr/>
        </p:nvSpPr>
        <p:spPr>
          <a:xfrm>
            <a:off x="7208752" y="47704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C53645">
                    <a:alpha val="100000"/>
                  </a:srgbClr>
                </a:solidFill>
                <a:latin typeface="poppins-bold"/>
                <a:ea typeface="poppins-bold"/>
                <a:cs typeface="poppins-bold"/>
              </a:rPr>
              <a:t>6.</a:t>
            </a:r>
            <a:endParaRPr kumimoji="1" lang="zh-CN" altLang="en-US"/>
          </a:p>
        </p:txBody>
      </p:sp>
      <p:sp>
        <p:nvSpPr>
          <p:cNvPr id="9" name="标题 1"/>
          <p:cNvSpPr txBox="1"/>
          <p:nvPr/>
        </p:nvSpPr>
        <p:spPr>
          <a:xfrm>
            <a:off x="2243052" y="353222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Utilización de Recursos de TI</a:t>
            </a:r>
            <a:endParaRPr kumimoji="1" lang="zh-CN" altLang="en-US"/>
          </a:p>
        </p:txBody>
      </p:sp>
      <p:sp>
        <p:nvSpPr>
          <p:cNvPr id="10" name="标题 1"/>
          <p:cNvSpPr txBox="1"/>
          <p:nvPr/>
        </p:nvSpPr>
        <p:spPr>
          <a:xfrm>
            <a:off x="1811252" y="353222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C53645">
                    <a:alpha val="100000"/>
                  </a:srgbClr>
                </a:solidFill>
                <a:latin typeface="poppins-bold"/>
                <a:ea typeface="poppins-bold"/>
                <a:cs typeface="poppins-bold"/>
              </a:rPr>
              <a:t>3.</a:t>
            </a:r>
            <a:endParaRPr kumimoji="1" lang="zh-CN" altLang="en-US"/>
          </a:p>
        </p:txBody>
      </p:sp>
      <p:sp>
        <p:nvSpPr>
          <p:cNvPr id="11" name="标题 1"/>
          <p:cNvSpPr txBox="1"/>
          <p:nvPr/>
        </p:nvSpPr>
        <p:spPr>
          <a:xfrm>
            <a:off x="7640552" y="353222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Rendimiento del Servicio (Nivel de Servicio)</a:t>
            </a:r>
            <a:endParaRPr kumimoji="1" lang="zh-CN" altLang="en-US"/>
          </a:p>
        </p:txBody>
      </p:sp>
      <p:sp>
        <p:nvSpPr>
          <p:cNvPr id="12" name="标题 1"/>
          <p:cNvSpPr txBox="1"/>
          <p:nvPr/>
        </p:nvSpPr>
        <p:spPr>
          <a:xfrm>
            <a:off x="7208752" y="353222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C53645">
                    <a:alpha val="100000"/>
                  </a:srgbClr>
                </a:solidFill>
                <a:latin typeface="poppins-bold"/>
                <a:ea typeface="poppins-bold"/>
                <a:cs typeface="poppins-bold"/>
              </a:rPr>
              <a:t>4.</a:t>
            </a:r>
            <a:endParaRPr kumimoji="1" lang="zh-CN" altLang="en-US"/>
          </a:p>
        </p:txBody>
      </p:sp>
      <p:sp>
        <p:nvSpPr>
          <p:cNvPr id="13" name="标题 1"/>
          <p:cNvSpPr txBox="1"/>
          <p:nvPr/>
        </p:nvSpPr>
        <p:spPr>
          <a:xfrm>
            <a:off x="2243052" y="2293972"/>
            <a:ext cx="3894948" cy="900000"/>
          </a:xfrm>
          <a:prstGeom prst="rect">
            <a:avLst/>
          </a:prstGeom>
          <a:noFill/>
          <a:ln>
            <a:noFill/>
          </a:ln>
        </p:spPr>
        <p:txBody>
          <a:bodyPr vert="horz" wrap="square" lIns="0" tIns="0" rIns="0" bIns="0" rtlCol="0" anchor="t"/>
          <a:lstStyle/>
          <a:p>
            <a:pPr algn="l"/>
            <a:r>
              <a:rPr kumimoji="1" lang="en-US" altLang="zh-CN" sz="2200" dirty="0" err="1">
                <a:ln w="12700">
                  <a:noFill/>
                </a:ln>
                <a:solidFill>
                  <a:srgbClr val="262626">
                    <a:alpha val="100000"/>
                  </a:srgbClr>
                </a:solidFill>
                <a:latin typeface="Poppins"/>
                <a:ea typeface="Poppins"/>
                <a:cs typeface="Poppins"/>
              </a:rPr>
              <a:t>Disponibilidad</a:t>
            </a:r>
            <a:r>
              <a:rPr kumimoji="1" lang="en-US" altLang="zh-CN" sz="2200" dirty="0">
                <a:ln w="12700">
                  <a:noFill/>
                </a:ln>
                <a:solidFill>
                  <a:srgbClr val="262626">
                    <a:alpha val="100000"/>
                  </a:srgbClr>
                </a:solidFill>
                <a:latin typeface="Poppins"/>
                <a:ea typeface="Poppins"/>
                <a:cs typeface="Poppins"/>
              </a:rPr>
              <a:t> y </a:t>
            </a:r>
            <a:r>
              <a:rPr kumimoji="1" lang="en-US" altLang="zh-CN" sz="2200" dirty="0" err="1">
                <a:ln w="12700">
                  <a:noFill/>
                </a:ln>
                <a:solidFill>
                  <a:srgbClr val="262626">
                    <a:alpha val="100000"/>
                  </a:srgbClr>
                </a:solidFill>
                <a:latin typeface="Poppins"/>
                <a:ea typeface="Poppins"/>
                <a:cs typeface="Poppins"/>
              </a:rPr>
              <a:t>Confiabilidad</a:t>
            </a:r>
            <a:endParaRPr kumimoji="1" lang="zh-CN" altLang="en-US" dirty="0"/>
          </a:p>
        </p:txBody>
      </p:sp>
      <p:sp>
        <p:nvSpPr>
          <p:cNvPr id="14" name="标题 1"/>
          <p:cNvSpPr txBox="1"/>
          <p:nvPr/>
        </p:nvSpPr>
        <p:spPr>
          <a:xfrm>
            <a:off x="1811252" y="2293972"/>
            <a:ext cx="491348" cy="569800"/>
          </a:xfrm>
          <a:prstGeom prst="rect">
            <a:avLst/>
          </a:prstGeom>
          <a:noFill/>
          <a:ln>
            <a:noFill/>
          </a:ln>
        </p:spPr>
        <p:txBody>
          <a:bodyPr vert="horz" wrap="square" lIns="0" tIns="0" rIns="0" bIns="0" rtlCol="0" anchor="t"/>
          <a:lstStyle/>
          <a:p>
            <a:pPr algn="l"/>
            <a:r>
              <a:rPr kumimoji="1" lang="en-US" altLang="zh-CN" sz="2200" dirty="0">
                <a:ln w="12700">
                  <a:noFill/>
                </a:ln>
                <a:solidFill>
                  <a:srgbClr val="C53645">
                    <a:alpha val="100000"/>
                  </a:srgbClr>
                </a:solidFill>
                <a:latin typeface="poppins-bold"/>
                <a:ea typeface="poppins-bold"/>
                <a:cs typeface="poppins-bold"/>
              </a:rPr>
              <a:t>1.</a:t>
            </a:r>
            <a:endParaRPr kumimoji="1" lang="zh-CN" altLang="en-US" dirty="0"/>
          </a:p>
        </p:txBody>
      </p:sp>
      <p:sp>
        <p:nvSpPr>
          <p:cNvPr id="15" name="标题 1"/>
          <p:cNvSpPr txBox="1"/>
          <p:nvPr/>
        </p:nvSpPr>
        <p:spPr>
          <a:xfrm>
            <a:off x="7640552" y="2293972"/>
            <a:ext cx="3894948" cy="900000"/>
          </a:xfrm>
          <a:prstGeom prst="rect">
            <a:avLst/>
          </a:prstGeom>
          <a:noFill/>
          <a:ln>
            <a:noFill/>
          </a:ln>
        </p:spPr>
        <p:txBody>
          <a:bodyPr vert="horz" wrap="square" lIns="0" tIns="0" rIns="0" bIns="0" rtlCol="0" anchor="t"/>
          <a:lstStyle/>
          <a:p>
            <a:pPr algn="l"/>
            <a:r>
              <a:rPr kumimoji="1" lang="en-US" altLang="zh-CN" sz="2200">
                <a:ln w="12700">
                  <a:noFill/>
                </a:ln>
                <a:solidFill>
                  <a:srgbClr val="262626">
                    <a:alpha val="100000"/>
                  </a:srgbClr>
                </a:solidFill>
                <a:latin typeface="Poppins"/>
                <a:ea typeface="Poppins"/>
                <a:cs typeface="Poppins"/>
              </a:rPr>
              <a:t>Eficiencia Operativa y Energética</a:t>
            </a:r>
            <a:endParaRPr kumimoji="1" lang="zh-CN" altLang="en-US"/>
          </a:p>
        </p:txBody>
      </p:sp>
      <p:sp>
        <p:nvSpPr>
          <p:cNvPr id="16" name="标题 1"/>
          <p:cNvSpPr txBox="1"/>
          <p:nvPr/>
        </p:nvSpPr>
        <p:spPr>
          <a:xfrm>
            <a:off x="7208752" y="2293972"/>
            <a:ext cx="491348" cy="569800"/>
          </a:xfrm>
          <a:prstGeom prst="rect">
            <a:avLst/>
          </a:prstGeom>
          <a:noFill/>
          <a:ln>
            <a:noFill/>
          </a:ln>
        </p:spPr>
        <p:txBody>
          <a:bodyPr vert="horz" wrap="square" lIns="0" tIns="0" rIns="0" bIns="0" rtlCol="0" anchor="t"/>
          <a:lstStyle/>
          <a:p>
            <a:pPr algn="l"/>
            <a:r>
              <a:rPr kumimoji="1" lang="en-US" altLang="zh-CN" sz="2200">
                <a:ln w="12700">
                  <a:noFill/>
                </a:ln>
                <a:solidFill>
                  <a:srgbClr val="C53645">
                    <a:alpha val="100000"/>
                  </a:srgbClr>
                </a:solidFill>
                <a:latin typeface="poppins-bold"/>
                <a:ea typeface="poppins-bold"/>
                <a:cs typeface="poppins-bold"/>
              </a:rPr>
              <a:t>2.</a:t>
            </a:r>
            <a:endParaRPr kumimoji="1" lang="zh-CN" altLang="en-US"/>
          </a:p>
        </p:txBody>
      </p:sp>
      <p:pic>
        <p:nvPicPr>
          <p:cNvPr id="17" name="Imagen 16">
            <a:extLst>
              <a:ext uri="{FF2B5EF4-FFF2-40B4-BE49-F238E27FC236}">
                <a16:creationId xmlns:a16="http://schemas.microsoft.com/office/drawing/2014/main" id="{6DE6D72C-8F8A-2E47-C63A-6EDACF0F361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567503" y="3279778"/>
            <a:ext cx="7549891" cy="2020369"/>
          </a:xfrm>
          <a:prstGeom prst="rect">
            <a:avLst/>
          </a:prstGeom>
          <a:noFill/>
          <a:ln w="12700" cap="sq">
            <a:noFill/>
            <a:miter/>
          </a:ln>
        </p:spPr>
        <p:txBody>
          <a:bodyPr vert="horz" wrap="square" lIns="0" tIns="0" rIns="0" bIns="0" rtlCol="0" anchor="t"/>
          <a:lstStyle/>
          <a:p>
            <a:pPr algn="l"/>
            <a:r>
              <a:rPr kumimoji="1" lang="en-US" altLang="zh-CN" sz="2400" dirty="0" err="1">
                <a:ln w="12700">
                  <a:noFill/>
                </a:ln>
                <a:solidFill>
                  <a:srgbClr val="262626">
                    <a:alpha val="100000"/>
                  </a:srgbClr>
                </a:solidFill>
                <a:latin typeface="poppins-bold"/>
                <a:ea typeface="poppins-bold"/>
                <a:cs typeface="poppins-bold"/>
              </a:rPr>
              <a:t>Introducción</a:t>
            </a:r>
            <a:r>
              <a:rPr kumimoji="1" lang="en-US" altLang="zh-CN" sz="2400" dirty="0">
                <a:ln w="12700">
                  <a:noFill/>
                </a:ln>
                <a:solidFill>
                  <a:srgbClr val="262626">
                    <a:alpha val="100000"/>
                  </a:srgbClr>
                </a:solidFill>
                <a:latin typeface="poppins-bold"/>
                <a:ea typeface="poppins-bold"/>
                <a:cs typeface="poppins-bold"/>
              </a:rPr>
              <a:t> a </a:t>
            </a:r>
            <a:r>
              <a:rPr kumimoji="1" lang="en-US" altLang="zh-CN" sz="2400" dirty="0" err="1">
                <a:ln w="12700">
                  <a:noFill/>
                </a:ln>
                <a:solidFill>
                  <a:srgbClr val="262626">
                    <a:alpha val="100000"/>
                  </a:srgbClr>
                </a:solidFill>
                <a:latin typeface="poppins-bold"/>
                <a:ea typeface="poppins-bold"/>
                <a:cs typeface="poppins-bold"/>
              </a:rPr>
              <a:t>los</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Indicadores</a:t>
            </a:r>
            <a:r>
              <a:rPr kumimoji="1" lang="en-US" altLang="zh-CN" sz="2400" dirty="0">
                <a:ln w="12700">
                  <a:noFill/>
                </a:ln>
                <a:solidFill>
                  <a:srgbClr val="262626">
                    <a:alpha val="100000"/>
                  </a:srgbClr>
                </a:solidFill>
                <a:latin typeface="poppins-bold"/>
                <a:ea typeface="poppins-bold"/>
                <a:cs typeface="poppins-bold"/>
              </a:rPr>
              <a:t> de </a:t>
            </a:r>
            <a:r>
              <a:rPr kumimoji="1" lang="en-US" altLang="zh-CN" sz="2400" dirty="0" err="1">
                <a:ln w="12700">
                  <a:noFill/>
                </a:ln>
                <a:solidFill>
                  <a:srgbClr val="262626">
                    <a:alpha val="100000"/>
                  </a:srgbClr>
                </a:solidFill>
                <a:latin typeface="poppins-bold"/>
                <a:ea typeface="poppins-bold"/>
                <a:cs typeface="poppins-bold"/>
              </a:rPr>
              <a:t>Gestión</a:t>
            </a:r>
            <a:endParaRPr kumimoji="1" lang="zh-CN" altLang="en-US" dirty="0"/>
          </a:p>
        </p:txBody>
      </p:sp>
      <p:sp>
        <p:nvSpPr>
          <p:cNvPr id="10" name="标题 1">
            <a:extLst>
              <a:ext uri="{FF2B5EF4-FFF2-40B4-BE49-F238E27FC236}">
                <a16:creationId xmlns:a16="http://schemas.microsoft.com/office/drawing/2014/main" id="{685BEAE9-AD06-8D87-9D26-4989DA40F659}"/>
              </a:ext>
            </a:extLst>
          </p:cNvPr>
          <p:cNvSpPr txBox="1"/>
          <p:nvPr/>
        </p:nvSpPr>
        <p:spPr>
          <a:xfrm>
            <a:off x="1967848" y="1139408"/>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1" name="Imagen 10">
            <a:extLst>
              <a:ext uri="{FF2B5EF4-FFF2-40B4-BE49-F238E27FC236}">
                <a16:creationId xmlns:a16="http://schemas.microsoft.com/office/drawing/2014/main" id="{AE077B22-096B-5674-74D0-780FB19B82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401048" y="1547639"/>
            <a:ext cx="4320000" cy="4169122"/>
          </a:xfrm>
          <a:prstGeom prst="roundRect">
            <a:avLst>
              <a:gd name="adj" fmla="val 4833"/>
            </a:avLst>
          </a:prstGeom>
          <a:gradFill>
            <a:gsLst>
              <a:gs pos="18000">
                <a:schemeClr val="accent1">
                  <a:lumMod val="74000"/>
                  <a:lumOff val="26000"/>
                </a:schemeClr>
              </a:gs>
              <a:gs pos="93000">
                <a:schemeClr val="accent1"/>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3" name="标题 1"/>
          <p:cNvSpPr txBox="1"/>
          <p:nvPr/>
        </p:nvSpPr>
        <p:spPr>
          <a:xfrm>
            <a:off x="1581048" y="2784928"/>
            <a:ext cx="3960000" cy="784326"/>
          </a:xfrm>
          <a:prstGeom prst="rect">
            <a:avLst/>
          </a:prstGeom>
          <a:noFill/>
          <a:ln>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Importancia de los KPIs en el centro de cómputo</a:t>
            </a:r>
            <a:endParaRPr kumimoji="1" lang="zh-CN" altLang="en-US"/>
          </a:p>
        </p:txBody>
      </p:sp>
      <p:sp>
        <p:nvSpPr>
          <p:cNvPr id="4" name="标题 1"/>
          <p:cNvSpPr txBox="1"/>
          <p:nvPr/>
        </p:nvSpPr>
        <p:spPr>
          <a:xfrm>
            <a:off x="1581048" y="3883886"/>
            <a:ext cx="3960000" cy="1544579"/>
          </a:xfrm>
          <a:prstGeom prst="rect">
            <a:avLst/>
          </a:prstGeom>
          <a:noFill/>
          <a:ln>
            <a:noFill/>
          </a:ln>
        </p:spPr>
        <p:txBody>
          <a:bodyPr vert="horz" wrap="square" lIns="0" tIns="0" rIns="0" bIns="0" rtlCol="0" anchor="t"/>
          <a:lstStyle/>
          <a:p>
            <a:pPr algn="ctr"/>
            <a:r>
              <a:rPr kumimoji="1" lang="en-US" altLang="zh-CN" sz="1400">
                <a:ln w="12700">
                  <a:noFill/>
                </a:ln>
                <a:solidFill>
                  <a:srgbClr val="FFFFFF">
                    <a:alpha val="100000"/>
                  </a:srgbClr>
                </a:solidFill>
                <a:latin typeface="Poppins"/>
                <a:ea typeface="Poppins"/>
                <a:cs typeface="Poppins"/>
              </a:rPr>
              <a:t>Los KPIs son fundamentales para medir la efectividad de las operaciones en un centro de cómputo, proporcionando métricas clave que ayudan a optimizar recursos y mejorar la eficiencia.</a:t>
            </a:r>
            <a:endParaRPr kumimoji="1" lang="zh-CN" altLang="en-US"/>
          </a:p>
        </p:txBody>
      </p:sp>
      <p:sp>
        <p:nvSpPr>
          <p:cNvPr id="5" name="标题 1"/>
          <p:cNvSpPr txBox="1"/>
          <p:nvPr/>
        </p:nvSpPr>
        <p:spPr>
          <a:xfrm>
            <a:off x="3168884" y="1866336"/>
            <a:ext cx="784328" cy="784328"/>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cxnSp>
        <p:nvCxnSpPr>
          <p:cNvPr id="6" name="标题 1"/>
          <p:cNvCxnSpPr/>
          <p:nvPr/>
        </p:nvCxnSpPr>
        <p:spPr>
          <a:xfrm>
            <a:off x="3252999" y="3632182"/>
            <a:ext cx="616098" cy="0"/>
          </a:xfrm>
          <a:prstGeom prst="line">
            <a:avLst/>
          </a:prstGeom>
          <a:noFill/>
          <a:ln w="38100" cap="sq">
            <a:solidFill>
              <a:schemeClr val="bg1"/>
            </a:solidFill>
            <a:miter/>
          </a:ln>
        </p:spPr>
      </p:cxnSp>
      <p:sp>
        <p:nvSpPr>
          <p:cNvPr id="7" name="标题 1"/>
          <p:cNvSpPr txBox="1"/>
          <p:nvPr/>
        </p:nvSpPr>
        <p:spPr>
          <a:xfrm>
            <a:off x="6458252" y="1547639"/>
            <a:ext cx="4320000" cy="4169122"/>
          </a:xfrm>
          <a:prstGeom prst="roundRect">
            <a:avLst>
              <a:gd name="adj" fmla="val 4833"/>
            </a:avLst>
          </a:prstGeom>
          <a:solidFill>
            <a:schemeClr val="bg1"/>
          </a:solidFill>
          <a:ln w="12700" cap="flat">
            <a:solidFill>
              <a:schemeClr val="accent1"/>
            </a:solidFill>
            <a:miter/>
          </a:ln>
          <a:effectLst>
            <a:outerShdw blurRad="139700" dist="38100" dir="2700000" algn="tl" rotWithShape="0">
              <a:schemeClr val="accent1">
                <a:alpha val="20000"/>
              </a:schemeClr>
            </a:outerShdw>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6638252" y="2784928"/>
            <a:ext cx="3960000" cy="784328"/>
          </a:xfrm>
          <a:prstGeom prst="rect">
            <a:avLst/>
          </a:prstGeom>
          <a:noFill/>
          <a:ln>
            <a:noFill/>
          </a:ln>
        </p:spPr>
        <p:txBody>
          <a:bodyPr vert="horz" wrap="square" lIns="91440" tIns="45720" rIns="91440" bIns="45720" rtlCol="0" anchor="ctr"/>
          <a:lstStyle/>
          <a:p>
            <a:pPr algn="ctr"/>
            <a:r>
              <a:rPr kumimoji="1" lang="en-US" altLang="zh-CN" sz="1600">
                <a:ln w="12700">
                  <a:noFill/>
                </a:ln>
                <a:gradFill>
                  <a:gsLst>
                    <a:gs pos="0">
                      <a:schemeClr val="accent1"/>
                    </a:gs>
                    <a:gs pos="100000">
                      <a:schemeClr val="accent1">
                        <a:lumMod val="75000"/>
                      </a:schemeClr>
                    </a:gs>
                  </a:gsLst>
                  <a:lin ang="2700000" scaled="0"/>
                </a:gradFill>
                <a:latin typeface="poppins-bold"/>
                <a:ea typeface="poppins-bold"/>
                <a:cs typeface="poppins-bold"/>
              </a:rPr>
              <a:t>Tipos de KPIs relevantes</a:t>
            </a:r>
            <a:endParaRPr kumimoji="1" lang="zh-CN" altLang="en-US"/>
          </a:p>
        </p:txBody>
      </p:sp>
      <p:sp>
        <p:nvSpPr>
          <p:cNvPr id="9" name="标题 1"/>
          <p:cNvSpPr txBox="1"/>
          <p:nvPr/>
        </p:nvSpPr>
        <p:spPr>
          <a:xfrm>
            <a:off x="6638252" y="3883886"/>
            <a:ext cx="3960000" cy="1544579"/>
          </a:xfrm>
          <a:prstGeom prst="rect">
            <a:avLst/>
          </a:prstGeom>
          <a:noFill/>
          <a:ln>
            <a:noFill/>
          </a:ln>
        </p:spPr>
        <p:txBody>
          <a:bodyPr vert="horz" wrap="square" lIns="0" tIns="0" rIns="0" bIns="0" rtlCol="0" anchor="t"/>
          <a:lstStyle/>
          <a:p>
            <a:pPr algn="ctr"/>
            <a:r>
              <a:rPr kumimoji="1" lang="en-US" altLang="zh-CN" sz="1400">
                <a:ln w="12700">
                  <a:noFill/>
                </a:ln>
                <a:solidFill>
                  <a:srgbClr val="0D0D0D">
                    <a:alpha val="100000"/>
                  </a:srgbClr>
                </a:solidFill>
                <a:latin typeface="Poppins"/>
                <a:ea typeface="Poppins"/>
                <a:cs typeface="Poppins"/>
              </a:rPr>
              <a:t>Existen varios tipos de KPIs, incluyendo indicadores de rendimiento operativo, financieros y de satisfacción del cliente, cada uno aportando una perspectiva diferente sobre el éxito organizacional.</a:t>
            </a:r>
            <a:endParaRPr kumimoji="1" lang="zh-CN" altLang="en-US"/>
          </a:p>
        </p:txBody>
      </p:sp>
      <p:sp>
        <p:nvSpPr>
          <p:cNvPr id="10" name="标题 1"/>
          <p:cNvSpPr txBox="1"/>
          <p:nvPr/>
        </p:nvSpPr>
        <p:spPr>
          <a:xfrm>
            <a:off x="8213015" y="1866336"/>
            <a:ext cx="810474" cy="78432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cxnSp>
        <p:nvCxnSpPr>
          <p:cNvPr id="11" name="标题 1"/>
          <p:cNvCxnSpPr/>
          <p:nvPr/>
        </p:nvCxnSpPr>
        <p:spPr>
          <a:xfrm>
            <a:off x="8310203" y="3632182"/>
            <a:ext cx="616098" cy="0"/>
          </a:xfrm>
          <a:prstGeom prst="line">
            <a:avLst/>
          </a:prstGeom>
          <a:noFill/>
          <a:ln w="38100" cap="sq">
            <a:solidFill>
              <a:schemeClr val="accent1"/>
            </a:solidFill>
            <a:miter/>
          </a:ln>
        </p:spPr>
      </p:cxnSp>
      <p:sp>
        <p:nvSpPr>
          <p:cNvPr id="12" name="标题 1"/>
          <p:cNvSpPr txBox="1"/>
          <p:nvPr/>
        </p:nvSpPr>
        <p:spPr>
          <a:xfrm>
            <a:off x="428625" y="243654"/>
            <a:ext cx="7743824" cy="700599"/>
          </a:xfrm>
          <a:prstGeom prst="rect">
            <a:avLst/>
          </a:prstGeom>
          <a:gradFill>
            <a:gsLst>
              <a:gs pos="0">
                <a:schemeClr val="accent1">
                  <a:lumMod val="40000"/>
                  <a:lumOff val="60000"/>
                </a:schemeClr>
              </a:gs>
              <a:gs pos="100000">
                <a:schemeClr val="bg1">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685800" y="347557"/>
            <a:ext cx="7486649" cy="492792"/>
          </a:xfrm>
          <a:prstGeom prst="rect">
            <a:avLst/>
          </a:prstGeom>
          <a:noFill/>
          <a:ln>
            <a:noFill/>
          </a:ln>
        </p:spPr>
        <p:txBody>
          <a:bodyPr vert="horz" wrap="square" lIns="0" tIns="0" rIns="0" bIns="0" rtlCol="0" anchor="ctr"/>
          <a:lstStyle/>
          <a:p>
            <a:pPr algn="l"/>
            <a:r>
              <a:rPr kumimoji="1" lang="en-US" altLang="zh-CN" sz="2500">
                <a:ln w="12700">
                  <a:noFill/>
                </a:ln>
                <a:solidFill>
                  <a:srgbClr val="000000">
                    <a:alpha val="100000"/>
                  </a:srgbClr>
                </a:solidFill>
                <a:latin typeface="poppins-bold"/>
                <a:ea typeface="poppins-bold"/>
                <a:cs typeface="poppins-bold"/>
              </a:rPr>
              <a:t>Definición de KPIs</a:t>
            </a:r>
            <a:endParaRPr kumimoji="1" lang="zh-CN" altLang="en-US"/>
          </a:p>
        </p:txBody>
      </p:sp>
      <p:sp>
        <p:nvSpPr>
          <p:cNvPr id="14" name="标题 1"/>
          <p:cNvSpPr txBox="1"/>
          <p:nvPr/>
        </p:nvSpPr>
        <p:spPr>
          <a:xfrm>
            <a:off x="361950" y="243654"/>
            <a:ext cx="85725" cy="70059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rot="2700000">
            <a:off x="378644" y="72428"/>
            <a:ext cx="138062" cy="579007"/>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1B692BB9-2FFA-DECA-307E-732578D84E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5988601"/>
            <a:ext cx="12192000" cy="710536"/>
          </a:xfrm>
          <a:custGeom>
            <a:avLst/>
            <a:gdLst>
              <a:gd name="connsiteX0" fmla="*/ 0 w 12192000"/>
              <a:gd name="connsiteY0" fmla="*/ 0 h 2548005"/>
              <a:gd name="connsiteX1" fmla="*/ 168614 w 12192000"/>
              <a:gd name="connsiteY1" fmla="*/ 119903 h 2548005"/>
              <a:gd name="connsiteX2" fmla="*/ 6096001 w 12192000"/>
              <a:gd name="connsiteY2" fmla="*/ 1930469 h 2548005"/>
              <a:gd name="connsiteX3" fmla="*/ 12023389 w 12192000"/>
              <a:gd name="connsiteY3" fmla="*/ 119903 h 2548005"/>
              <a:gd name="connsiteX4" fmla="*/ 12192000 w 12192000"/>
              <a:gd name="connsiteY4" fmla="*/ 1 h 2548005"/>
              <a:gd name="connsiteX5" fmla="*/ 12192000 w 12192000"/>
              <a:gd name="connsiteY5" fmla="*/ 2548005 h 2548005"/>
              <a:gd name="connsiteX6" fmla="*/ 0 w 12192000"/>
              <a:gd name="connsiteY6" fmla="*/ 2548005 h 2548005"/>
            </a:gdLst>
            <a:ahLst/>
            <a:cxnLst/>
            <a:rect l="l" t="t" r="r" b="b"/>
            <a:pathLst>
              <a:path w="12192000" h="2548005">
                <a:moveTo>
                  <a:pt x="0" y="0"/>
                </a:moveTo>
                <a:lnTo>
                  <a:pt x="168614" y="119903"/>
                </a:lnTo>
                <a:cubicBezTo>
                  <a:pt x="1860621" y="1263000"/>
                  <a:pt x="3900363" y="1930469"/>
                  <a:pt x="6096001" y="1930469"/>
                </a:cubicBezTo>
                <a:cubicBezTo>
                  <a:pt x="8291639" y="1930469"/>
                  <a:pt x="10331382" y="1263000"/>
                  <a:pt x="12023389" y="119903"/>
                </a:cubicBezTo>
                <a:lnTo>
                  <a:pt x="12192000" y="1"/>
                </a:lnTo>
                <a:lnTo>
                  <a:pt x="12192000" y="2548005"/>
                </a:lnTo>
                <a:lnTo>
                  <a:pt x="0" y="2548005"/>
                </a:lnTo>
                <a:close/>
              </a:path>
            </a:pathLst>
          </a:cu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0" y="6149231"/>
            <a:ext cx="12192000" cy="710537"/>
          </a:xfrm>
          <a:custGeom>
            <a:avLst/>
            <a:gdLst>
              <a:gd name="connsiteX0" fmla="*/ 0 w 12192000"/>
              <a:gd name="connsiteY0" fmla="*/ 0 h 2548005"/>
              <a:gd name="connsiteX1" fmla="*/ 168614 w 12192000"/>
              <a:gd name="connsiteY1" fmla="*/ 119903 h 2548005"/>
              <a:gd name="connsiteX2" fmla="*/ 6096001 w 12192000"/>
              <a:gd name="connsiteY2" fmla="*/ 1930469 h 2548005"/>
              <a:gd name="connsiteX3" fmla="*/ 12023389 w 12192000"/>
              <a:gd name="connsiteY3" fmla="*/ 119903 h 2548005"/>
              <a:gd name="connsiteX4" fmla="*/ 12192000 w 12192000"/>
              <a:gd name="connsiteY4" fmla="*/ 1 h 2548005"/>
              <a:gd name="connsiteX5" fmla="*/ 12192000 w 12192000"/>
              <a:gd name="connsiteY5" fmla="*/ 2548005 h 2548005"/>
              <a:gd name="connsiteX6" fmla="*/ 0 w 12192000"/>
              <a:gd name="connsiteY6" fmla="*/ 2548005 h 2548005"/>
            </a:gdLst>
            <a:ahLst/>
            <a:cxnLst/>
            <a:rect l="l" t="t" r="r" b="b"/>
            <a:pathLst>
              <a:path w="12192000" h="2548005">
                <a:moveTo>
                  <a:pt x="0" y="0"/>
                </a:moveTo>
                <a:lnTo>
                  <a:pt x="168614" y="119903"/>
                </a:lnTo>
                <a:cubicBezTo>
                  <a:pt x="1860621" y="1263000"/>
                  <a:pt x="3900363" y="1930469"/>
                  <a:pt x="6096001" y="1930469"/>
                </a:cubicBezTo>
                <a:cubicBezTo>
                  <a:pt x="8291639" y="1930469"/>
                  <a:pt x="10331382" y="1263000"/>
                  <a:pt x="12023389" y="119903"/>
                </a:cubicBezTo>
                <a:lnTo>
                  <a:pt x="12192000" y="1"/>
                </a:lnTo>
                <a:lnTo>
                  <a:pt x="12192000" y="2548005"/>
                </a:lnTo>
                <a:lnTo>
                  <a:pt x="0" y="2548005"/>
                </a:lnTo>
                <a:close/>
              </a:path>
            </a:pathLst>
          </a:custGeom>
          <a:gradFill>
            <a:gsLst>
              <a:gs pos="0">
                <a:schemeClr val="accent1">
                  <a:lumMod val="60000"/>
                  <a:lumOff val="40000"/>
                </a:schemeClr>
              </a:gs>
              <a:gs pos="53000">
                <a:schemeClr val="accent1">
                  <a:lumMod val="80000"/>
                  <a:lumOff val="20000"/>
                </a:schemeClr>
              </a:gs>
              <a:gs pos="100000">
                <a:schemeClr val="accent1">
                  <a:lumMod val="90000"/>
                  <a:lumOff val="10000"/>
                </a:schemeClr>
              </a:gs>
            </a:gsLst>
            <a:lin ang="10800000" scaled="0"/>
          </a:gra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1917637" y="1427202"/>
            <a:ext cx="3356463" cy="4465598"/>
          </a:xfrm>
          <a:prstGeom prst="roundRect">
            <a:avLst>
              <a:gd name="adj" fmla="val 3013"/>
            </a:avLst>
          </a:prstGeom>
          <a:solidFill>
            <a:schemeClr val="bg1"/>
          </a:solidFill>
          <a:ln w="12700" cap="sq">
            <a:solidFill>
              <a:schemeClr val="bg1">
                <a:lumMod val="95000"/>
              </a:schemeClr>
            </a:solidFill>
            <a:miter/>
          </a:ln>
          <a:effectLst>
            <a:outerShdw blurRad="228600" sx="98000" sy="98000" algn="ctr" rotWithShape="0">
              <a:schemeClr val="tx1">
                <a:lumMod val="75000"/>
                <a:lumOff val="25000"/>
                <a:alpha val="29000"/>
              </a:schemeClr>
            </a:outerShdw>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1917637" y="1423361"/>
            <a:ext cx="3356463" cy="910783"/>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2110948" y="1503220"/>
            <a:ext cx="2954948" cy="759844"/>
          </a:xfrm>
          <a:prstGeom prst="rect">
            <a:avLst/>
          </a:prstGeom>
          <a:noFill/>
          <a:ln>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Facilitación de la evaluación del desempeño</a:t>
            </a:r>
            <a:endParaRPr kumimoji="1" lang="zh-CN" altLang="en-US"/>
          </a:p>
        </p:txBody>
      </p:sp>
      <p:sp>
        <p:nvSpPr>
          <p:cNvPr id="7" name="标题 1"/>
          <p:cNvSpPr txBox="1"/>
          <p:nvPr/>
        </p:nvSpPr>
        <p:spPr>
          <a:xfrm>
            <a:off x="2214350" y="4178629"/>
            <a:ext cx="2763036" cy="1526271"/>
          </a:xfrm>
          <a:prstGeom prst="rect">
            <a:avLst/>
          </a:prstGeom>
          <a:noFill/>
          <a:ln>
            <a:noFill/>
          </a:ln>
        </p:spPr>
        <p:txBody>
          <a:bodyPr vert="horz" wrap="square" lIns="0" tIns="0" rIns="0" bIns="0" rtlCol="0" anchor="t"/>
          <a:lstStyle/>
          <a:p>
            <a:pPr algn="ctr"/>
            <a:r>
              <a:rPr kumimoji="1" lang="en-US" altLang="zh-CN" sz="1180">
                <a:ln w="12700">
                  <a:noFill/>
                </a:ln>
                <a:solidFill>
                  <a:srgbClr val="404040">
                    <a:alpha val="100000"/>
                  </a:srgbClr>
                </a:solidFill>
                <a:latin typeface="Poppins"/>
                <a:ea typeface="Poppins"/>
                <a:cs typeface="Poppins"/>
              </a:rPr>
              <a:t>Los KPIs permiten una evaluación clara del desempeño del personal y de los procesos, lo que facilita identificar áreas de mejora y logros significativos dentro de la organización.</a:t>
            </a:r>
            <a:endParaRPr kumimoji="1" lang="zh-CN" altLang="en-US"/>
          </a:p>
        </p:txBody>
      </p:sp>
      <p:cxnSp>
        <p:nvCxnSpPr>
          <p:cNvPr id="8" name="标题 1"/>
          <p:cNvCxnSpPr/>
          <p:nvPr/>
        </p:nvCxnSpPr>
        <p:spPr>
          <a:xfrm>
            <a:off x="2214350" y="4031846"/>
            <a:ext cx="2763036" cy="0"/>
          </a:xfrm>
          <a:prstGeom prst="line">
            <a:avLst/>
          </a:prstGeom>
          <a:noFill/>
          <a:ln w="12700" cap="rnd">
            <a:solidFill>
              <a:schemeClr val="accent1"/>
            </a:solidFill>
            <a:miter/>
          </a:ln>
        </p:spPr>
      </p:cxnSp>
      <p:sp>
        <p:nvSpPr>
          <p:cNvPr id="9" name="标题 1"/>
          <p:cNvSpPr txBox="1"/>
          <p:nvPr/>
        </p:nvSpPr>
        <p:spPr>
          <a:xfrm>
            <a:off x="2991014" y="2583928"/>
            <a:ext cx="1209710" cy="1209710"/>
          </a:xfrm>
          <a:prstGeom prst="ellipse">
            <a:avLst/>
          </a:prstGeom>
          <a:gradFill>
            <a:gsLst>
              <a:gs pos="23000">
                <a:schemeClr val="bg1"/>
              </a:gs>
              <a:gs pos="100000">
                <a:schemeClr val="accent1">
                  <a:lumMod val="20000"/>
                  <a:lumOff val="80000"/>
                </a:schemeClr>
              </a:gs>
            </a:gsLst>
            <a:lin ang="2700000" scaled="0"/>
          </a:gradFill>
          <a:ln w="12700" cap="sq">
            <a:noFill/>
            <a:miter/>
          </a:ln>
          <a:effectLst>
            <a:outerShdw blurRad="114300" dist="38100" dir="2700000" algn="tl" rotWithShape="0">
              <a:schemeClr val="tx1">
                <a:lumMod val="75000"/>
                <a:lumOff val="25000"/>
                <a:alpha val="22000"/>
              </a:schemeClr>
            </a:outerShdw>
          </a:effectLst>
        </p:spPr>
        <p:txBody>
          <a:bodyPr vert="horz" wrap="none" lIns="0" tIns="0" rIns="0" bIns="0" rtlCol="0" anchor="ctr"/>
          <a:lstStyle/>
          <a:p>
            <a:pPr algn="ctr"/>
            <a:endParaRPr kumimoji="1" lang="zh-CN" altLang="en-US"/>
          </a:p>
        </p:txBody>
      </p:sp>
      <p:sp>
        <p:nvSpPr>
          <p:cNvPr id="10" name="标题 1"/>
          <p:cNvSpPr txBox="1"/>
          <p:nvPr/>
        </p:nvSpPr>
        <p:spPr>
          <a:xfrm>
            <a:off x="6905200" y="1427202"/>
            <a:ext cx="3356463" cy="4464637"/>
          </a:xfrm>
          <a:prstGeom prst="roundRect">
            <a:avLst>
              <a:gd name="adj" fmla="val 3013"/>
            </a:avLst>
          </a:prstGeom>
          <a:solidFill>
            <a:schemeClr val="bg1"/>
          </a:solidFill>
          <a:ln w="12700" cap="sq">
            <a:solidFill>
              <a:schemeClr val="bg1">
                <a:lumMod val="95000"/>
              </a:schemeClr>
            </a:solidFill>
            <a:miter/>
          </a:ln>
          <a:effectLst>
            <a:outerShdw blurRad="228600" sx="98000" sy="98000" algn="ctr" rotWithShape="0">
              <a:schemeClr val="tx1">
                <a:lumMod val="75000"/>
                <a:lumOff val="25000"/>
                <a:alpha val="29000"/>
              </a:schemeClr>
            </a:outerShdw>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6905200" y="1423361"/>
            <a:ext cx="3356463" cy="913439"/>
          </a:xfrm>
          <a:custGeom>
            <a:avLst/>
            <a:gdLst>
              <a:gd name="connsiteX0" fmla="*/ 104959 w 3483534"/>
              <a:gd name="connsiteY0" fmla="*/ 0 h 697102"/>
              <a:gd name="connsiteX1" fmla="*/ 3378575 w 3483534"/>
              <a:gd name="connsiteY1" fmla="*/ 0 h 697102"/>
              <a:gd name="connsiteX2" fmla="*/ 3483534 w 3483534"/>
              <a:gd name="connsiteY2" fmla="*/ 104959 h 697102"/>
              <a:gd name="connsiteX3" fmla="*/ 3483534 w 3483534"/>
              <a:gd name="connsiteY3" fmla="*/ 697102 h 697102"/>
              <a:gd name="connsiteX4" fmla="*/ 0 w 3483534"/>
              <a:gd name="connsiteY4" fmla="*/ 697102 h 697102"/>
              <a:gd name="connsiteX5" fmla="*/ 0 w 3483534"/>
              <a:gd name="connsiteY5" fmla="*/ 104959 h 697102"/>
              <a:gd name="connsiteX6" fmla="*/ 104959 w 3483534"/>
              <a:gd name="connsiteY6" fmla="*/ 0 h 697102"/>
            </a:gdLst>
            <a:ahLst/>
            <a:cxnLst/>
            <a:rect l="l" t="t" r="r" b="b"/>
            <a:pathLst>
              <a:path w="3483534" h="697102">
                <a:moveTo>
                  <a:pt x="104959" y="0"/>
                </a:moveTo>
                <a:lnTo>
                  <a:pt x="3378575" y="0"/>
                </a:lnTo>
                <a:cubicBezTo>
                  <a:pt x="3436542" y="0"/>
                  <a:pt x="3483534" y="46992"/>
                  <a:pt x="3483534" y="104959"/>
                </a:cubicBezTo>
                <a:lnTo>
                  <a:pt x="3483534" y="697102"/>
                </a:lnTo>
                <a:lnTo>
                  <a:pt x="0" y="697102"/>
                </a:lnTo>
                <a:lnTo>
                  <a:pt x="0" y="104959"/>
                </a:lnTo>
                <a:cubicBezTo>
                  <a:pt x="0" y="46992"/>
                  <a:pt x="46992" y="0"/>
                  <a:pt x="104959"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7098511" y="1503220"/>
            <a:ext cx="2954948" cy="759844"/>
          </a:xfrm>
          <a:prstGeom prst="rect">
            <a:avLst/>
          </a:prstGeom>
          <a:noFill/>
          <a:ln>
            <a:noFill/>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Apoyo en la planificación estratégica</a:t>
            </a:r>
            <a:endParaRPr kumimoji="1" lang="zh-CN" altLang="en-US"/>
          </a:p>
        </p:txBody>
      </p:sp>
      <p:sp>
        <p:nvSpPr>
          <p:cNvPr id="13" name="标题 1"/>
          <p:cNvSpPr txBox="1"/>
          <p:nvPr/>
        </p:nvSpPr>
        <p:spPr>
          <a:xfrm>
            <a:off x="7201913" y="4178629"/>
            <a:ext cx="2763036" cy="1523671"/>
          </a:xfrm>
          <a:prstGeom prst="rect">
            <a:avLst/>
          </a:prstGeom>
          <a:noFill/>
          <a:ln>
            <a:noFill/>
          </a:ln>
        </p:spPr>
        <p:txBody>
          <a:bodyPr vert="horz" wrap="square" lIns="0" tIns="0" rIns="0" bIns="0" rtlCol="0" anchor="t"/>
          <a:lstStyle/>
          <a:p>
            <a:pPr algn="ctr"/>
            <a:r>
              <a:rPr kumimoji="1" lang="en-US" altLang="zh-CN" sz="1180">
                <a:ln w="12700">
                  <a:noFill/>
                </a:ln>
                <a:solidFill>
                  <a:srgbClr val="404040">
                    <a:alpha val="100000"/>
                  </a:srgbClr>
                </a:solidFill>
                <a:latin typeface="Poppins"/>
                <a:ea typeface="Poppins"/>
                <a:cs typeface="Poppins"/>
              </a:rPr>
              <a:t>Los KPIs son herramientas esenciales en la planificación estratégica, ya que ayudan a alinear los objetivos de negocio con las acciones necesarias para alcanzarlos, asegurando el seguimiento y ajuste continuo.</a:t>
            </a:r>
            <a:endParaRPr kumimoji="1" lang="zh-CN" altLang="en-US"/>
          </a:p>
        </p:txBody>
      </p:sp>
      <p:cxnSp>
        <p:nvCxnSpPr>
          <p:cNvPr id="14" name="标题 1"/>
          <p:cNvCxnSpPr/>
          <p:nvPr/>
        </p:nvCxnSpPr>
        <p:spPr>
          <a:xfrm>
            <a:off x="7201913" y="4031846"/>
            <a:ext cx="2763036" cy="0"/>
          </a:xfrm>
          <a:prstGeom prst="line">
            <a:avLst/>
          </a:prstGeom>
          <a:noFill/>
          <a:ln w="12700" cap="rnd">
            <a:solidFill>
              <a:schemeClr val="accent1"/>
            </a:solidFill>
            <a:miter/>
          </a:ln>
        </p:spPr>
      </p:cxnSp>
      <p:sp>
        <p:nvSpPr>
          <p:cNvPr id="15" name="标题 1"/>
          <p:cNvSpPr txBox="1"/>
          <p:nvPr/>
        </p:nvSpPr>
        <p:spPr>
          <a:xfrm>
            <a:off x="7978577" y="2583928"/>
            <a:ext cx="1209710" cy="1209710"/>
          </a:xfrm>
          <a:prstGeom prst="ellipse">
            <a:avLst/>
          </a:prstGeom>
          <a:gradFill>
            <a:gsLst>
              <a:gs pos="23000">
                <a:schemeClr val="bg1"/>
              </a:gs>
              <a:gs pos="100000">
                <a:schemeClr val="accent1">
                  <a:lumMod val="20000"/>
                  <a:lumOff val="80000"/>
                </a:schemeClr>
              </a:gs>
            </a:gsLst>
            <a:lin ang="2700000" scaled="0"/>
          </a:gradFill>
          <a:ln w="12700" cap="sq">
            <a:noFill/>
            <a:miter/>
          </a:ln>
          <a:effectLst>
            <a:outerShdw blurRad="114300" dist="38100" dir="2700000" algn="tl" rotWithShape="0">
              <a:schemeClr val="tx1">
                <a:lumMod val="75000"/>
                <a:lumOff val="25000"/>
                <a:alpha val="22000"/>
              </a:schemeClr>
            </a:outerShdw>
          </a:effectLst>
        </p:spPr>
        <p:txBody>
          <a:bodyPr vert="horz" wrap="none" lIns="0" tIns="0" rIns="0" bIns="0" rtlCol="0" anchor="ctr"/>
          <a:lstStyle/>
          <a:p>
            <a:pPr algn="ctr"/>
            <a:endParaRPr kumimoji="1" lang="zh-CN" altLang="en-US"/>
          </a:p>
        </p:txBody>
      </p:sp>
      <p:sp>
        <p:nvSpPr>
          <p:cNvPr id="16" name="标题 1"/>
          <p:cNvSpPr txBox="1"/>
          <p:nvPr/>
        </p:nvSpPr>
        <p:spPr>
          <a:xfrm>
            <a:off x="3390391" y="2954121"/>
            <a:ext cx="410955" cy="469324"/>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17" name="标题 1"/>
          <p:cNvSpPr txBox="1"/>
          <p:nvPr/>
        </p:nvSpPr>
        <p:spPr>
          <a:xfrm>
            <a:off x="8348770" y="2976035"/>
            <a:ext cx="469324" cy="425496"/>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accent1"/>
          </a:solidFill>
          <a:ln cap="sq">
            <a:noFill/>
          </a:ln>
        </p:spPr>
        <p:txBody>
          <a:bodyPr vert="horz" wrap="square" lIns="91440" tIns="45720" rIns="91440" bIns="45720" rtlCol="0" anchor="t"/>
          <a:lstStyle/>
          <a:p>
            <a:pPr algn="l"/>
            <a:endParaRPr kumimoji="1" lang="zh-CN" altLang="en-US"/>
          </a:p>
        </p:txBody>
      </p:sp>
      <p:sp>
        <p:nvSpPr>
          <p:cNvPr id="18" name="标题 1"/>
          <p:cNvSpPr txBox="1"/>
          <p:nvPr/>
        </p:nvSpPr>
        <p:spPr>
          <a:xfrm>
            <a:off x="428625" y="243654"/>
            <a:ext cx="7743824" cy="700599"/>
          </a:xfrm>
          <a:prstGeom prst="rect">
            <a:avLst/>
          </a:prstGeom>
          <a:gradFill>
            <a:gsLst>
              <a:gs pos="0">
                <a:schemeClr val="accent1">
                  <a:lumMod val="40000"/>
                  <a:lumOff val="60000"/>
                </a:schemeClr>
              </a:gs>
              <a:gs pos="100000">
                <a:schemeClr val="bg1">
                  <a:alpha val="0"/>
                </a:schemeClr>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685800" y="347557"/>
            <a:ext cx="7486649" cy="492792"/>
          </a:xfrm>
          <a:prstGeom prst="rect">
            <a:avLst/>
          </a:prstGeom>
          <a:noFill/>
          <a:ln>
            <a:noFill/>
          </a:ln>
        </p:spPr>
        <p:txBody>
          <a:bodyPr vert="horz" wrap="square" lIns="0" tIns="0" rIns="0" bIns="0" rtlCol="0" anchor="ctr"/>
          <a:lstStyle/>
          <a:p>
            <a:pPr algn="l"/>
            <a:r>
              <a:rPr kumimoji="1" lang="en-US" altLang="zh-CN" sz="2500">
                <a:ln w="12700">
                  <a:noFill/>
                </a:ln>
                <a:solidFill>
                  <a:srgbClr val="000000">
                    <a:alpha val="100000"/>
                  </a:srgbClr>
                </a:solidFill>
                <a:latin typeface="poppins-bold"/>
                <a:ea typeface="poppins-bold"/>
                <a:cs typeface="poppins-bold"/>
              </a:rPr>
              <a:t>Rol de los KPIs en la toma de decisiones</a:t>
            </a:r>
            <a:endParaRPr kumimoji="1" lang="zh-CN" altLang="en-US"/>
          </a:p>
        </p:txBody>
      </p:sp>
      <p:sp>
        <p:nvSpPr>
          <p:cNvPr id="20" name="标题 1"/>
          <p:cNvSpPr txBox="1"/>
          <p:nvPr/>
        </p:nvSpPr>
        <p:spPr>
          <a:xfrm>
            <a:off x="361950" y="243654"/>
            <a:ext cx="85725" cy="700599"/>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rot="2700000">
            <a:off x="378644" y="72428"/>
            <a:ext cx="138062" cy="579007"/>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22" name="Imagen 21">
            <a:extLst>
              <a:ext uri="{FF2B5EF4-FFF2-40B4-BE49-F238E27FC236}">
                <a16:creationId xmlns:a16="http://schemas.microsoft.com/office/drawing/2014/main" id="{724E37C0-6DE3-2479-8AF3-F83EA8447A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01</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Disponibilidad y Confiabilidad</a:t>
            </a:r>
            <a:endParaRPr kumimoji="1" lang="zh-CN" altLang="en-US"/>
          </a:p>
        </p:txBody>
      </p:sp>
      <p:pic>
        <p:nvPicPr>
          <p:cNvPr id="2" name="Imagen 1">
            <a:extLst>
              <a:ext uri="{FF2B5EF4-FFF2-40B4-BE49-F238E27FC236}">
                <a16:creationId xmlns:a16="http://schemas.microsoft.com/office/drawing/2014/main" id="{F95523BF-228F-0A7E-E73D-89249A21B3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5482829" y="3592568"/>
            <a:ext cx="1295674" cy="1347290"/>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accent1"/>
          </a:solidFill>
          <a:ln cap="sq">
            <a:noFill/>
          </a:ln>
        </p:spPr>
        <p:txBody>
          <a:bodyPr vert="horz" wrap="square" lIns="91440" tIns="45720" rIns="91440" bIns="45720" rtlCol="0" anchor="ctr"/>
          <a:lstStyle/>
          <a:p>
            <a:pPr algn="ctr"/>
            <a:endParaRPr kumimoji="1" lang="zh-CN" altLang="en-US"/>
          </a:p>
        </p:txBody>
      </p:sp>
      <p:sp>
        <p:nvSpPr>
          <p:cNvPr id="3" name="标题 1"/>
          <p:cNvSpPr txBox="1"/>
          <p:nvPr/>
        </p:nvSpPr>
        <p:spPr>
          <a:xfrm>
            <a:off x="4445002" y="3901969"/>
            <a:ext cx="3068138" cy="1719813"/>
          </a:xfrm>
          <a:custGeom>
            <a:avLst/>
            <a:gdLst>
              <a:gd name="T0" fmla="*/ 289 w 526"/>
              <a:gd name="T1" fmla="*/ 240 h 295"/>
              <a:gd name="T2" fmla="*/ 109 w 526"/>
              <a:gd name="T3" fmla="*/ 85 h 295"/>
              <a:gd name="T4" fmla="*/ 108 w 526"/>
              <a:gd name="T5" fmla="*/ 80 h 295"/>
              <a:gd name="T6" fmla="*/ 154 w 526"/>
              <a:gd name="T7" fmla="*/ 85 h 295"/>
              <a:gd name="T8" fmla="*/ 116 w 526"/>
              <a:gd name="T9" fmla="*/ 39 h 295"/>
              <a:gd name="T10" fmla="*/ 116 w 526"/>
              <a:gd name="T11" fmla="*/ 39 h 295"/>
              <a:gd name="T12" fmla="*/ 85 w 526"/>
              <a:gd name="T13" fmla="*/ 0 h 295"/>
              <a:gd name="T14" fmla="*/ 0 w 526"/>
              <a:gd name="T15" fmla="*/ 68 h 295"/>
              <a:gd name="T16" fmla="*/ 52 w 526"/>
              <a:gd name="T17" fmla="*/ 74 h 295"/>
              <a:gd name="T18" fmla="*/ 53 w 526"/>
              <a:gd name="T19" fmla="*/ 77 h 295"/>
              <a:gd name="T20" fmla="*/ 289 w 526"/>
              <a:gd name="T21" fmla="*/ 295 h 295"/>
              <a:gd name="T22" fmla="*/ 526 w 526"/>
              <a:gd name="T23" fmla="*/ 65 h 295"/>
              <a:gd name="T24" fmla="*/ 502 w 526"/>
              <a:gd name="T25" fmla="*/ 96 h 295"/>
              <a:gd name="T26" fmla="*/ 498 w 526"/>
              <a:gd name="T27" fmla="*/ 98 h 295"/>
              <a:gd name="T28" fmla="*/ 498 w 526"/>
              <a:gd name="T29" fmla="*/ 98 h 295"/>
              <a:gd name="T30" fmla="*/ 496 w 526"/>
              <a:gd name="T31" fmla="*/ 97 h 295"/>
              <a:gd name="T32" fmla="*/ 496 w 526"/>
              <a:gd name="T33" fmla="*/ 97 h 295"/>
              <a:gd name="T34" fmla="*/ 494 w 526"/>
              <a:gd name="T35" fmla="*/ 97 h 295"/>
              <a:gd name="T36" fmla="*/ 470 w 526"/>
              <a:gd name="T37" fmla="*/ 77 h 295"/>
              <a:gd name="T38" fmla="*/ 289 w 526"/>
              <a:gd name="T39" fmla="*/ 240 h 295"/>
            </a:gdLst>
            <a:ahLst/>
            <a:cxnLst/>
            <a:rect l="0" t="0" r="r" b="b"/>
            <a:pathLst>
              <a:path w="526" h="295">
                <a:moveTo>
                  <a:pt x="289" y="240"/>
                </a:moveTo>
                <a:cubicBezTo>
                  <a:pt x="200" y="240"/>
                  <a:pt x="122" y="174"/>
                  <a:pt x="109" y="85"/>
                </a:cubicBezTo>
                <a:cubicBezTo>
                  <a:pt x="108" y="80"/>
                  <a:pt x="108" y="80"/>
                  <a:pt x="108" y="80"/>
                </a:cubicBezTo>
                <a:cubicBezTo>
                  <a:pt x="154" y="85"/>
                  <a:pt x="154" y="85"/>
                  <a:pt x="154" y="85"/>
                </a:cubicBezTo>
                <a:cubicBezTo>
                  <a:pt x="116" y="39"/>
                  <a:pt x="116" y="39"/>
                  <a:pt x="116" y="39"/>
                </a:cubicBezTo>
                <a:cubicBezTo>
                  <a:pt x="116" y="39"/>
                  <a:pt x="116" y="39"/>
                  <a:pt x="116" y="39"/>
                </a:cubicBezTo>
                <a:cubicBezTo>
                  <a:pt x="85" y="0"/>
                  <a:pt x="85" y="0"/>
                  <a:pt x="85" y="0"/>
                </a:cubicBezTo>
                <a:cubicBezTo>
                  <a:pt x="0" y="68"/>
                  <a:pt x="0" y="68"/>
                  <a:pt x="0" y="68"/>
                </a:cubicBezTo>
                <a:cubicBezTo>
                  <a:pt x="52" y="74"/>
                  <a:pt x="52" y="74"/>
                  <a:pt x="52" y="74"/>
                </a:cubicBezTo>
                <a:cubicBezTo>
                  <a:pt x="53" y="77"/>
                  <a:pt x="53" y="77"/>
                  <a:pt x="53" y="77"/>
                </a:cubicBezTo>
                <a:cubicBezTo>
                  <a:pt x="63" y="200"/>
                  <a:pt x="166" y="295"/>
                  <a:pt x="289" y="295"/>
                </a:cubicBezTo>
                <a:cubicBezTo>
                  <a:pt x="417" y="295"/>
                  <a:pt x="522" y="193"/>
                  <a:pt x="526" y="65"/>
                </a:cubicBezTo>
                <a:cubicBezTo>
                  <a:pt x="502" y="96"/>
                  <a:pt x="502" y="96"/>
                  <a:pt x="502" y="96"/>
                </a:cubicBezTo>
                <a:cubicBezTo>
                  <a:pt x="501" y="97"/>
                  <a:pt x="499" y="98"/>
                  <a:pt x="498" y="98"/>
                </a:cubicBezTo>
                <a:cubicBezTo>
                  <a:pt x="498" y="98"/>
                  <a:pt x="498" y="98"/>
                  <a:pt x="498" y="98"/>
                </a:cubicBezTo>
                <a:cubicBezTo>
                  <a:pt x="497" y="98"/>
                  <a:pt x="497" y="98"/>
                  <a:pt x="496" y="97"/>
                </a:cubicBezTo>
                <a:cubicBezTo>
                  <a:pt x="496" y="97"/>
                  <a:pt x="496" y="97"/>
                  <a:pt x="496" y="97"/>
                </a:cubicBezTo>
                <a:cubicBezTo>
                  <a:pt x="495" y="97"/>
                  <a:pt x="495" y="97"/>
                  <a:pt x="494" y="97"/>
                </a:cubicBezTo>
                <a:cubicBezTo>
                  <a:pt x="470" y="77"/>
                  <a:pt x="470" y="77"/>
                  <a:pt x="470" y="77"/>
                </a:cubicBezTo>
                <a:cubicBezTo>
                  <a:pt x="460" y="169"/>
                  <a:pt x="382" y="240"/>
                  <a:pt x="289" y="240"/>
                </a:cubicBezTo>
                <a:close/>
              </a:path>
            </a:pathLst>
          </a:custGeom>
          <a:solidFill>
            <a:schemeClr val="tx2">
              <a:alpha val="15000"/>
            </a:schemeClr>
          </a:solidFill>
          <a:ln w="12700" cap="sq">
            <a:noFill/>
            <a:miter/>
          </a:ln>
        </p:spPr>
        <p:txBody>
          <a:bodyPr vert="horz" wrap="square" lIns="180000" tIns="46800" rIns="180000" bIns="46800" rtlCol="0" anchor="ctr"/>
          <a:lstStyle/>
          <a:p>
            <a:pPr algn="ctr"/>
            <a:endParaRPr kumimoji="1" lang="zh-CN" altLang="en-US"/>
          </a:p>
        </p:txBody>
      </p:sp>
      <p:sp>
        <p:nvSpPr>
          <p:cNvPr id="4" name="标题 1"/>
          <p:cNvSpPr txBox="1"/>
          <p:nvPr/>
        </p:nvSpPr>
        <p:spPr>
          <a:xfrm>
            <a:off x="4771994" y="2835106"/>
            <a:ext cx="2975007" cy="1556317"/>
          </a:xfrm>
          <a:custGeom>
            <a:avLst/>
            <a:gdLst>
              <a:gd name="T0" fmla="*/ 233 w 510"/>
              <a:gd name="T1" fmla="*/ 55 h 267"/>
              <a:gd name="T2" fmla="*/ 408 w 510"/>
              <a:gd name="T3" fmla="*/ 188 h 267"/>
              <a:gd name="T4" fmla="*/ 410 w 510"/>
              <a:gd name="T5" fmla="*/ 193 h 267"/>
              <a:gd name="T6" fmla="*/ 356 w 510"/>
              <a:gd name="T7" fmla="*/ 199 h 267"/>
              <a:gd name="T8" fmla="*/ 407 w 510"/>
              <a:gd name="T9" fmla="*/ 240 h 267"/>
              <a:gd name="T10" fmla="*/ 407 w 510"/>
              <a:gd name="T11" fmla="*/ 240 h 267"/>
              <a:gd name="T12" fmla="*/ 441 w 510"/>
              <a:gd name="T13" fmla="*/ 267 h 267"/>
              <a:gd name="T14" fmla="*/ 510 w 510"/>
              <a:gd name="T15" fmla="*/ 182 h 267"/>
              <a:gd name="T16" fmla="*/ 465 w 510"/>
              <a:gd name="T17" fmla="*/ 187 h 267"/>
              <a:gd name="T18" fmla="*/ 464 w 510"/>
              <a:gd name="T19" fmla="*/ 183 h 267"/>
              <a:gd name="T20" fmla="*/ 233 w 510"/>
              <a:gd name="T21" fmla="*/ 0 h 267"/>
              <a:gd name="T22" fmla="*/ 0 w 510"/>
              <a:gd name="T23" fmla="*/ 191 h 267"/>
              <a:gd name="T24" fmla="*/ 26 w 510"/>
              <a:gd name="T25" fmla="*/ 170 h 267"/>
              <a:gd name="T26" fmla="*/ 30 w 510"/>
              <a:gd name="T27" fmla="*/ 169 h 267"/>
              <a:gd name="T28" fmla="*/ 34 w 510"/>
              <a:gd name="T29" fmla="*/ 171 h 267"/>
              <a:gd name="T30" fmla="*/ 55 w 510"/>
              <a:gd name="T31" fmla="*/ 198 h 267"/>
              <a:gd name="T32" fmla="*/ 233 w 510"/>
              <a:gd name="T33" fmla="*/ 55 h 267"/>
            </a:gdLst>
            <a:ahLst/>
            <a:cxnLst/>
            <a:rect l="0" t="0" r="r" b="b"/>
            <a:pathLst>
              <a:path w="510" h="267">
                <a:moveTo>
                  <a:pt x="233" y="55"/>
                </a:moveTo>
                <a:cubicBezTo>
                  <a:pt x="314" y="55"/>
                  <a:pt x="387" y="110"/>
                  <a:pt x="408" y="188"/>
                </a:cubicBezTo>
                <a:cubicBezTo>
                  <a:pt x="410" y="193"/>
                  <a:pt x="410" y="193"/>
                  <a:pt x="410" y="193"/>
                </a:cubicBezTo>
                <a:cubicBezTo>
                  <a:pt x="356" y="199"/>
                  <a:pt x="356" y="199"/>
                  <a:pt x="356" y="199"/>
                </a:cubicBezTo>
                <a:cubicBezTo>
                  <a:pt x="407" y="240"/>
                  <a:pt x="407" y="240"/>
                  <a:pt x="407" y="240"/>
                </a:cubicBezTo>
                <a:cubicBezTo>
                  <a:pt x="407" y="240"/>
                  <a:pt x="407" y="240"/>
                  <a:pt x="407" y="240"/>
                </a:cubicBezTo>
                <a:cubicBezTo>
                  <a:pt x="441" y="267"/>
                  <a:pt x="441" y="267"/>
                  <a:pt x="441" y="267"/>
                </a:cubicBezTo>
                <a:cubicBezTo>
                  <a:pt x="510" y="182"/>
                  <a:pt x="510" y="182"/>
                  <a:pt x="510" y="182"/>
                </a:cubicBezTo>
                <a:cubicBezTo>
                  <a:pt x="465" y="187"/>
                  <a:pt x="465" y="187"/>
                  <a:pt x="465" y="187"/>
                </a:cubicBezTo>
                <a:cubicBezTo>
                  <a:pt x="464" y="183"/>
                  <a:pt x="464" y="183"/>
                  <a:pt x="464" y="183"/>
                </a:cubicBezTo>
                <a:cubicBezTo>
                  <a:pt x="439" y="75"/>
                  <a:pt x="344" y="0"/>
                  <a:pt x="233" y="0"/>
                </a:cubicBezTo>
                <a:cubicBezTo>
                  <a:pt x="120" y="0"/>
                  <a:pt x="22" y="81"/>
                  <a:pt x="0" y="191"/>
                </a:cubicBezTo>
                <a:cubicBezTo>
                  <a:pt x="26" y="170"/>
                  <a:pt x="26" y="170"/>
                  <a:pt x="26" y="170"/>
                </a:cubicBezTo>
                <a:cubicBezTo>
                  <a:pt x="27" y="169"/>
                  <a:pt x="29" y="169"/>
                  <a:pt x="30" y="169"/>
                </a:cubicBezTo>
                <a:cubicBezTo>
                  <a:pt x="32" y="169"/>
                  <a:pt x="33" y="170"/>
                  <a:pt x="34" y="171"/>
                </a:cubicBezTo>
                <a:cubicBezTo>
                  <a:pt x="55" y="198"/>
                  <a:pt x="55" y="198"/>
                  <a:pt x="55" y="198"/>
                </a:cubicBezTo>
                <a:cubicBezTo>
                  <a:pt x="74" y="115"/>
                  <a:pt x="147" y="55"/>
                  <a:pt x="233" y="55"/>
                </a:cubicBezTo>
                <a:close/>
              </a:path>
            </a:pathLst>
          </a:custGeom>
          <a:solidFill>
            <a:schemeClr val="tx2">
              <a:alpha val="15000"/>
            </a:schemeClr>
          </a:solidFill>
          <a:ln w="12700" cap="sq">
            <a:noFill/>
            <a:miter/>
          </a:ln>
        </p:spPr>
        <p:txBody>
          <a:bodyPr vert="horz" wrap="square" lIns="180000" tIns="46800" rIns="180000" bIns="46800" rtlCol="0" anchor="ctr"/>
          <a:lstStyle/>
          <a:p>
            <a:pPr algn="ctr"/>
            <a:endParaRPr kumimoji="1" lang="zh-CN" altLang="en-US"/>
          </a:p>
        </p:txBody>
      </p:sp>
      <p:sp>
        <p:nvSpPr>
          <p:cNvPr id="5" name="标题 1"/>
          <p:cNvSpPr txBox="1"/>
          <p:nvPr/>
        </p:nvSpPr>
        <p:spPr>
          <a:xfrm>
            <a:off x="8048234" y="3609675"/>
            <a:ext cx="3470666" cy="1172797"/>
          </a:xfrm>
          <a:prstGeom prst="roundRect">
            <a:avLst>
              <a:gd name="adj" fmla="val 0"/>
            </a:avLst>
          </a:prstGeom>
          <a:solidFill>
            <a:schemeClr val="tx2">
              <a:alpha val="15000"/>
            </a:schemeClr>
          </a:solidFill>
          <a:ln w="605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8145273" y="3832982"/>
            <a:ext cx="3373627" cy="890732"/>
          </a:xfrm>
          <a:prstGeom prst="rect">
            <a:avLst/>
          </a:prstGeom>
          <a:noFill/>
          <a:ln w="12700" cap="sq">
            <a:noFill/>
            <a:miter/>
          </a:ln>
        </p:spPr>
        <p:txBody>
          <a:bodyPr vert="horz" wrap="square" lIns="91440" tIns="45720" rIns="91440" bIns="45720" rtlCol="0" anchor="t"/>
          <a:lstStyle/>
          <a:p>
            <a:pPr algn="l"/>
            <a:r>
              <a:rPr kumimoji="1" lang="en-US" altLang="zh-CN" sz="1400">
                <a:ln w="12700">
                  <a:noFill/>
                </a:ln>
                <a:solidFill>
                  <a:srgbClr val="404040">
                    <a:alpha val="100000"/>
                  </a:srgbClr>
                </a:solidFill>
                <a:latin typeface="Poppins"/>
                <a:ea typeface="Poppins"/>
                <a:cs typeface="Poppins"/>
              </a:rPr>
              <a:t>Generalmente se mide en porcentaje (ej. 99.99%, conocido como "cuatro nueves").</a:t>
            </a:r>
            <a:endParaRPr kumimoji="1" lang="zh-CN" altLang="en-US"/>
          </a:p>
        </p:txBody>
      </p:sp>
      <p:sp>
        <p:nvSpPr>
          <p:cNvPr id="7" name="标题 1"/>
          <p:cNvSpPr txBox="1"/>
          <p:nvPr/>
        </p:nvSpPr>
        <p:spPr>
          <a:xfrm>
            <a:off x="8243919" y="3317494"/>
            <a:ext cx="481369" cy="481369"/>
          </a:xfrm>
          <a:prstGeom prst="roundRect">
            <a:avLst>
              <a:gd name="adj" fmla="val 50000"/>
            </a:avLst>
          </a:prstGeom>
          <a:solidFill>
            <a:schemeClr val="accent2"/>
          </a:solidFill>
          <a:ln>
            <a:noFill/>
          </a:ln>
        </p:spPr>
        <p:txBody>
          <a:bodyPr vert="horz" wrap="none" lIns="108000" tIns="108000" rIns="108000" bIns="108000" rtlCol="0" anchor="ctr"/>
          <a:lstStyle/>
          <a:p>
            <a:pPr algn="ctr"/>
            <a:endParaRPr kumimoji="1" lang="zh-CN" altLang="en-US"/>
          </a:p>
        </p:txBody>
      </p:sp>
      <p:sp>
        <p:nvSpPr>
          <p:cNvPr id="8" name="标题 1"/>
          <p:cNvSpPr txBox="1"/>
          <p:nvPr/>
        </p:nvSpPr>
        <p:spPr>
          <a:xfrm>
            <a:off x="8366141" y="3446525"/>
            <a:ext cx="236925" cy="22330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670024" y="2646351"/>
            <a:ext cx="3470666" cy="1172796"/>
          </a:xfrm>
          <a:prstGeom prst="roundRect">
            <a:avLst>
              <a:gd name="adj" fmla="val 0"/>
            </a:avLst>
          </a:prstGeom>
          <a:solidFill>
            <a:schemeClr val="tx2">
              <a:alpha val="15000"/>
            </a:schemeClr>
          </a:solidFill>
          <a:ln w="6055"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767063" y="2869657"/>
            <a:ext cx="3373627" cy="890732"/>
          </a:xfrm>
          <a:prstGeom prst="rect">
            <a:avLst/>
          </a:prstGeom>
          <a:noFill/>
          <a:ln w="12700" cap="sq">
            <a:noFill/>
            <a:miter/>
          </a:ln>
        </p:spPr>
        <p:txBody>
          <a:bodyPr vert="horz" wrap="square" lIns="91440" tIns="45720" rIns="91440" bIns="45720" rtlCol="0" anchor="t"/>
          <a:lstStyle/>
          <a:p>
            <a:pPr algn="l"/>
            <a:r>
              <a:rPr kumimoji="1" lang="en-US" altLang="zh-CN" sz="1400">
                <a:ln w="12700">
                  <a:noFill/>
                </a:ln>
                <a:solidFill>
                  <a:srgbClr val="404040">
                    <a:alpha val="100000"/>
                  </a:srgbClr>
                </a:solidFill>
                <a:latin typeface="Poppins"/>
                <a:ea typeface="Poppins"/>
                <a:cs typeface="Poppins"/>
              </a:rPr>
              <a:t>Es el KPI más crítico.</a:t>
            </a:r>
            <a:endParaRPr kumimoji="1" lang="zh-CN" altLang="en-US"/>
          </a:p>
        </p:txBody>
      </p:sp>
      <p:sp>
        <p:nvSpPr>
          <p:cNvPr id="11" name="标题 1"/>
          <p:cNvSpPr txBox="1"/>
          <p:nvPr/>
        </p:nvSpPr>
        <p:spPr>
          <a:xfrm>
            <a:off x="865709" y="2354169"/>
            <a:ext cx="481369" cy="481369"/>
          </a:xfrm>
          <a:prstGeom prst="roundRect">
            <a:avLst>
              <a:gd name="adj" fmla="val 50000"/>
            </a:avLst>
          </a:prstGeom>
          <a:solidFill>
            <a:schemeClr val="accent1"/>
          </a:solidFill>
          <a:ln>
            <a:noFill/>
          </a:ln>
        </p:spPr>
        <p:txBody>
          <a:bodyPr vert="horz" wrap="none" lIns="108000" tIns="108000" rIns="108000" bIns="108000" rtlCol="0" anchor="ctr"/>
          <a:lstStyle/>
          <a:p>
            <a:pPr algn="ctr"/>
            <a:endParaRPr kumimoji="1" lang="zh-CN" altLang="en-US"/>
          </a:p>
        </p:txBody>
      </p:sp>
      <p:sp>
        <p:nvSpPr>
          <p:cNvPr id="12" name="标题 1"/>
          <p:cNvSpPr txBox="1"/>
          <p:nvPr/>
        </p:nvSpPr>
        <p:spPr>
          <a:xfrm>
            <a:off x="983641" y="2472102"/>
            <a:ext cx="245504" cy="245504"/>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670024" y="4573001"/>
            <a:ext cx="3470666" cy="1172797"/>
          </a:xfrm>
          <a:prstGeom prst="roundRect">
            <a:avLst>
              <a:gd name="adj" fmla="val 0"/>
            </a:avLst>
          </a:prstGeom>
          <a:solidFill>
            <a:schemeClr val="tx2">
              <a:alpha val="15000"/>
            </a:schemeClr>
          </a:solidFill>
          <a:ln w="6055"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67063" y="4796308"/>
            <a:ext cx="3373627" cy="890732"/>
          </a:xfrm>
          <a:prstGeom prst="rect">
            <a:avLst/>
          </a:prstGeom>
          <a:noFill/>
          <a:ln w="12700" cap="sq">
            <a:noFill/>
            <a:miter/>
          </a:ln>
        </p:spPr>
        <p:txBody>
          <a:bodyPr vert="horz" wrap="square" lIns="91440" tIns="45720" rIns="91440" bIns="45720" rtlCol="0" anchor="t"/>
          <a:lstStyle/>
          <a:p>
            <a:pPr algn="l"/>
            <a:r>
              <a:rPr kumimoji="1" lang="en-US" altLang="zh-CN" sz="1400">
                <a:ln w="12700">
                  <a:noFill/>
                </a:ln>
                <a:solidFill>
                  <a:srgbClr val="404040">
                    <a:alpha val="100000"/>
                  </a:srgbClr>
                </a:solidFill>
                <a:latin typeface="Poppins"/>
                <a:ea typeface="Poppins"/>
                <a:cs typeface="Poppins"/>
              </a:rPr>
              <a:t>Mide el tiempo total que los sistemas y servicios están operativos según lo prometido.</a:t>
            </a:r>
            <a:endParaRPr kumimoji="1" lang="zh-CN" altLang="en-US"/>
          </a:p>
        </p:txBody>
      </p:sp>
      <p:sp>
        <p:nvSpPr>
          <p:cNvPr id="15" name="标题 1"/>
          <p:cNvSpPr txBox="1"/>
          <p:nvPr/>
        </p:nvSpPr>
        <p:spPr>
          <a:xfrm>
            <a:off x="865709" y="4280820"/>
            <a:ext cx="481369" cy="481369"/>
          </a:xfrm>
          <a:prstGeom prst="roundRect">
            <a:avLst>
              <a:gd name="adj" fmla="val 50000"/>
            </a:avLst>
          </a:prstGeom>
          <a:solidFill>
            <a:schemeClr val="accent1"/>
          </a:solidFill>
          <a:ln>
            <a:noFill/>
          </a:ln>
        </p:spPr>
        <p:txBody>
          <a:bodyPr vert="horz" wrap="none" lIns="108000" tIns="108000" rIns="108000" bIns="108000" rtlCol="0" anchor="ctr"/>
          <a:lstStyle/>
          <a:p>
            <a:pPr algn="ctr"/>
            <a:endParaRPr kumimoji="1" lang="zh-CN" altLang="en-US"/>
          </a:p>
        </p:txBody>
      </p:sp>
      <p:sp>
        <p:nvSpPr>
          <p:cNvPr id="16" name="标题 1"/>
          <p:cNvSpPr txBox="1"/>
          <p:nvPr/>
        </p:nvSpPr>
        <p:spPr>
          <a:xfrm>
            <a:off x="987125" y="4406084"/>
            <a:ext cx="238536" cy="230840"/>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1166223" y="1317785"/>
            <a:ext cx="9846853" cy="864000"/>
          </a:xfrm>
          <a:prstGeom prst="rect">
            <a:avLst/>
          </a:prstGeom>
          <a:noFill/>
          <a:ln>
            <a:noFill/>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Definición y Importancia</a:t>
            </a:r>
            <a:endParaRPr kumimoji="1" lang="zh-CN" altLang="en-US"/>
          </a:p>
        </p:txBody>
      </p:sp>
      <p:sp>
        <p:nvSpPr>
          <p:cNvPr id="18"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Tiempo de Actividad (Uptime)</a:t>
            </a:r>
            <a:endParaRPr kumimoji="1" lang="zh-CN" altLang="en-US"/>
          </a:p>
        </p:txBody>
      </p:sp>
      <p:sp>
        <p:nvSpPr>
          <p:cNvPr id="21"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22" name="Imagen 21">
            <a:extLst>
              <a:ext uri="{FF2B5EF4-FFF2-40B4-BE49-F238E27FC236}">
                <a16:creationId xmlns:a16="http://schemas.microsoft.com/office/drawing/2014/main" id="{EDECE953-7C5C-CBD6-D387-2DE6AB4E26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2760617" y="1328287"/>
            <a:ext cx="9431382" cy="1492890"/>
          </a:xfrm>
          <a:prstGeom prst="round1Rect">
            <a:avLst/>
          </a:prstGeom>
          <a:gradFill>
            <a:gsLst>
              <a:gs pos="0">
                <a:schemeClr val="accent1">
                  <a:lumMod val="60000"/>
                  <a:lumOff val="40000"/>
                </a:schemeClr>
              </a:gs>
              <a:gs pos="100000">
                <a:schemeClr val="accent1"/>
              </a:gs>
            </a:gsLst>
            <a:lin ang="2700000" scaled="0"/>
          </a:gradFill>
          <a:ln w="12700" cap="sq">
            <a:noFill/>
            <a:miter/>
          </a:ln>
          <a:effectLst>
            <a:outerShdw blurRad="190500" dist="190500" dir="8100000" algn="tr" rotWithShape="0">
              <a:schemeClr val="tx1">
                <a:alpha val="10000"/>
              </a:schemeClr>
            </a:outerShdw>
          </a:effectLst>
        </p:spPr>
        <p:txBody>
          <a:bodyPr vert="horz" wrap="square" lIns="91440" tIns="45720" rIns="91440" bIns="45720" rtlCol="0" anchor="ctr"/>
          <a:lstStyle/>
          <a:p>
            <a:pPr algn="ctr"/>
            <a:endParaRPr kumimoji="1" lang="zh-CN" altLang="en-US"/>
          </a:p>
        </p:txBody>
      </p:sp>
      <p:sp>
        <p:nvSpPr>
          <p:cNvPr id="3" name="标题 1"/>
          <p:cNvSpPr txBox="1"/>
          <p:nvPr/>
        </p:nvSpPr>
        <p:spPr>
          <a:xfrm>
            <a:off x="7861335" y="4131690"/>
            <a:ext cx="3263865" cy="174841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Un MTBF alto indica alta confiabilidad.</a:t>
            </a:r>
            <a:endParaRPr kumimoji="1" lang="zh-CN" altLang="en-US"/>
          </a:p>
        </p:txBody>
      </p:sp>
      <p:sp>
        <p:nvSpPr>
          <p:cNvPr id="4" name="标题 1"/>
          <p:cNvSpPr txBox="1"/>
          <p:nvPr/>
        </p:nvSpPr>
        <p:spPr>
          <a:xfrm>
            <a:off x="7874197" y="3212265"/>
            <a:ext cx="762000" cy="762000"/>
          </a:xfrm>
          <a:prstGeom prst="roundRect">
            <a:avLst>
              <a:gd name="adj" fmla="val 6500"/>
            </a:avLst>
          </a:prstGeom>
          <a:solidFill>
            <a:schemeClr val="accent2"/>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8026727" y="3364764"/>
            <a:ext cx="456937" cy="457004"/>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rgbClr val="FFFFFF">
              <a:alpha val="100000"/>
            </a:srgbClr>
          </a:solidFill>
          <a:ln cap="sq">
            <a:noFill/>
          </a:ln>
        </p:spPr>
        <p:txBody>
          <a:bodyPr vert="horz" wrap="square" lIns="91440" tIns="45720" rIns="91440" bIns="45720" rtlCol="0" anchor="t"/>
          <a:lstStyle/>
          <a:p>
            <a:pPr algn="l"/>
            <a:endParaRPr kumimoji="1" lang="zh-CN" altLang="en-US"/>
          </a:p>
        </p:txBody>
      </p:sp>
      <p:sp>
        <p:nvSpPr>
          <p:cNvPr id="6" name="标题 1"/>
          <p:cNvSpPr txBox="1"/>
          <p:nvPr/>
        </p:nvSpPr>
        <p:spPr>
          <a:xfrm>
            <a:off x="3913600" y="4131690"/>
            <a:ext cx="3411909" cy="1748410"/>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El tiempo promedio que un componente (como un servidor o un SAI/UPS) opera antes de fallar.</a:t>
            </a:r>
            <a:endParaRPr kumimoji="1" lang="zh-CN" altLang="en-US"/>
          </a:p>
        </p:txBody>
      </p:sp>
      <p:sp>
        <p:nvSpPr>
          <p:cNvPr id="7" name="标题 1"/>
          <p:cNvSpPr txBox="1"/>
          <p:nvPr/>
        </p:nvSpPr>
        <p:spPr>
          <a:xfrm>
            <a:off x="3905230" y="3203798"/>
            <a:ext cx="762000" cy="762000"/>
          </a:xfrm>
          <a:prstGeom prst="roundRect">
            <a:avLst>
              <a:gd name="adj" fmla="val 6500"/>
            </a:avLst>
          </a:prstGeom>
          <a:solidFill>
            <a:schemeClr val="accent1"/>
          </a:solidFill>
          <a:ln w="12700" cap="rnd">
            <a:noFill/>
            <a:round/>
            <a:headEnd/>
            <a:tailEnd/>
          </a:ln>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4057727" y="3363667"/>
            <a:ext cx="457006" cy="442262"/>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rgbClr val="FFFFFF">
              <a:alpha val="100000"/>
            </a:srgbClr>
          </a:solidFill>
          <a:ln cap="sq">
            <a:noFill/>
          </a:ln>
        </p:spPr>
        <p:txBody>
          <a:bodyPr vert="horz" wrap="square" lIns="91440" tIns="45720" rIns="91440" bIns="45720" rtlCol="0" anchor="t"/>
          <a:lstStyle/>
          <a:p>
            <a:pPr algn="l"/>
            <a:endParaRPr kumimoji="1" lang="zh-CN" altLang="en-US"/>
          </a:p>
        </p:txBody>
      </p:sp>
      <p:sp>
        <p:nvSpPr>
          <p:cNvPr id="9" name="标题 1"/>
          <p:cNvSpPr txBox="1"/>
          <p:nvPr/>
        </p:nvSpPr>
        <p:spPr>
          <a:xfrm>
            <a:off x="809897" y="6134539"/>
            <a:ext cx="2458868" cy="208633"/>
          </a:xfrm>
          <a:prstGeom prst="ellipse">
            <a:avLst/>
          </a:prstGeom>
          <a:gradFill>
            <a:gsLst>
              <a:gs pos="10000">
                <a:schemeClr val="tx1">
                  <a:alpha val="30000"/>
                </a:schemeClr>
              </a:gs>
              <a:gs pos="100000">
                <a:schemeClr val="bg1">
                  <a:alpha val="0"/>
                </a:schemeClr>
              </a:gs>
            </a:gsLst>
            <a:path path="circle">
              <a:fillToRect l="50000" t="50000" r="50000" b="50000"/>
            </a:path>
            <a:tileRect/>
          </a:gradFill>
          <a:ln w="12700" cap="flat">
            <a:noFill/>
            <a:miter/>
          </a:ln>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3905230" y="1565714"/>
            <a:ext cx="7215614" cy="1018037"/>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Definición y Objetivo</a:t>
            </a:r>
            <a:endParaRPr kumimoji="1" lang="zh-CN" altLang="en-US"/>
          </a:p>
        </p:txBody>
      </p:sp>
      <p:pic>
        <p:nvPicPr>
          <p:cNvPr id="11" name="Imagen 10"/>
          <p:cNvPicPr>
            <a:picLocks noChangeAspect="1"/>
          </p:cNvPicPr>
          <p:nvPr/>
        </p:nvPicPr>
        <p:blipFill>
          <a:blip r:embed="rId2">
            <a:alphaModFix/>
          </a:blip>
          <a:srcRect l="36667" t="1476" r="29311" b="1510"/>
          <a:stretch>
            <a:fillRect/>
          </a:stretch>
        </p:blipFill>
        <p:spPr>
          <a:xfrm>
            <a:off x="598350" y="1334800"/>
            <a:ext cx="2880000" cy="4620200"/>
          </a:xfrm>
          <a:custGeom>
            <a:avLst/>
            <a:gdLst/>
            <a:ahLst/>
            <a:cxnLst/>
            <a:rect l="l" t="t" r="r" b="b"/>
            <a:pathLst>
              <a:path w="2880000" h="4620200">
                <a:moveTo>
                  <a:pt x="288288" y="0"/>
                </a:moveTo>
                <a:lnTo>
                  <a:pt x="2591712" y="0"/>
                </a:lnTo>
                <a:cubicBezTo>
                  <a:pt x="2750929" y="0"/>
                  <a:pt x="2880000" y="129071"/>
                  <a:pt x="2880000" y="288288"/>
                </a:cubicBezTo>
                <a:lnTo>
                  <a:pt x="2880000" y="4331912"/>
                </a:lnTo>
                <a:cubicBezTo>
                  <a:pt x="2880000" y="4491129"/>
                  <a:pt x="2750929" y="4620200"/>
                  <a:pt x="2591712" y="4620200"/>
                </a:cubicBezTo>
                <a:lnTo>
                  <a:pt x="288288" y="4620200"/>
                </a:lnTo>
                <a:cubicBezTo>
                  <a:pt x="129071" y="4620200"/>
                  <a:pt x="0" y="4491129"/>
                  <a:pt x="0" y="4331912"/>
                </a:cubicBezTo>
                <a:lnTo>
                  <a:pt x="0" y="288288"/>
                </a:lnTo>
                <a:cubicBezTo>
                  <a:pt x="0" y="129071"/>
                  <a:pt x="129071" y="0"/>
                  <a:pt x="288288" y="0"/>
                </a:cubicBezTo>
                <a:close/>
              </a:path>
            </a:pathLst>
          </a:custGeom>
          <a:noFill/>
          <a:ln>
            <a:noFill/>
          </a:ln>
        </p:spPr>
      </p:pic>
      <p:sp>
        <p:nvSpPr>
          <p:cNvPr id="12"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Tiempo Medio Entre Fallos (MTBF)</a:t>
            </a:r>
            <a:endParaRPr kumimoji="1" lang="zh-CN" altLang="en-US"/>
          </a:p>
        </p:txBody>
      </p:sp>
      <p:sp>
        <p:nvSpPr>
          <p:cNvPr id="15"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16" name="Imagen 15">
            <a:extLst>
              <a:ext uri="{FF2B5EF4-FFF2-40B4-BE49-F238E27FC236}">
                <a16:creationId xmlns:a16="http://schemas.microsoft.com/office/drawing/2014/main" id="{A1B2E8CB-4AE8-322A-461D-6065B2D7C6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838325" y="-1107290"/>
            <a:ext cx="9350376" cy="9350372"/>
          </a:xfrm>
          <a:prstGeom prst="arc">
            <a:avLst>
              <a:gd name="adj1" fmla="val 18716968"/>
              <a:gd name="adj2" fmla="val 2846181"/>
            </a:avLst>
          </a:prstGeom>
          <a:noFill/>
          <a:ln w="12700" cap="sq">
            <a:gradFill>
              <a:gsLst>
                <a:gs pos="0">
                  <a:schemeClr val="accent1">
                    <a:alpha val="0"/>
                  </a:schemeClr>
                </a:gs>
                <a:gs pos="50000">
                  <a:schemeClr val="accent1"/>
                </a:gs>
                <a:gs pos="100000">
                  <a:schemeClr val="accent1">
                    <a:alpha val="0"/>
                  </a:schemeClr>
                </a:gs>
              </a:gsLst>
              <a:lin ang="5400000" scaled="0"/>
            </a:grad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1311274" y="-580238"/>
            <a:ext cx="8296274" cy="8296270"/>
          </a:xfrm>
          <a:prstGeom prst="arc">
            <a:avLst>
              <a:gd name="adj1" fmla="val 19465670"/>
              <a:gd name="adj2" fmla="val 2211151"/>
            </a:avLst>
          </a:prstGeom>
          <a:noFill/>
          <a:ln w="12700" cap="sq">
            <a:gradFill>
              <a:gsLst>
                <a:gs pos="0">
                  <a:schemeClr val="accent1">
                    <a:alpha val="0"/>
                  </a:schemeClr>
                </a:gs>
                <a:gs pos="50000">
                  <a:schemeClr val="accent1"/>
                </a:gs>
                <a:gs pos="100000">
                  <a:schemeClr val="accent1">
                    <a:alpha val="0"/>
                  </a:schemeClr>
                </a:gs>
              </a:gsLst>
              <a:lin ang="5400000" scaled="0"/>
            </a:grad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0" y="1829582"/>
            <a:ext cx="6486182" cy="3490914"/>
          </a:xfrm>
          <a:custGeom>
            <a:avLst/>
            <a:gdLst>
              <a:gd name="connsiteX0" fmla="*/ 0 w 6486182"/>
              <a:gd name="connsiteY0" fmla="*/ 0 h 3490914"/>
              <a:gd name="connsiteX1" fmla="*/ 4740726 w 6486182"/>
              <a:gd name="connsiteY1" fmla="*/ 0 h 3490914"/>
              <a:gd name="connsiteX2" fmla="*/ 6486182 w 6486182"/>
              <a:gd name="connsiteY2" fmla="*/ 1745457 h 3490914"/>
              <a:gd name="connsiteX3" fmla="*/ 6486181 w 6486182"/>
              <a:gd name="connsiteY3" fmla="*/ 1745457 h 3490914"/>
              <a:gd name="connsiteX4" fmla="*/ 4740724 w 6486182"/>
              <a:gd name="connsiteY4" fmla="*/ 3490914 h 3490914"/>
              <a:gd name="connsiteX5" fmla="*/ 0 w 6486182"/>
              <a:gd name="connsiteY5" fmla="*/ 3490913 h 3490914"/>
            </a:gdLst>
            <a:ahLst/>
            <a:cxnLst/>
            <a:rect l="l" t="t" r="r" b="b"/>
            <a:pathLst>
              <a:path w="6486182" h="3490914">
                <a:moveTo>
                  <a:pt x="0" y="0"/>
                </a:moveTo>
                <a:lnTo>
                  <a:pt x="4740726" y="0"/>
                </a:lnTo>
                <a:cubicBezTo>
                  <a:pt x="5704714" y="0"/>
                  <a:pt x="6486182" y="781468"/>
                  <a:pt x="6486182" y="1745457"/>
                </a:cubicBezTo>
                <a:lnTo>
                  <a:pt x="6486181" y="1745457"/>
                </a:lnTo>
                <a:cubicBezTo>
                  <a:pt x="6486181" y="2709446"/>
                  <a:pt x="5704713" y="3490914"/>
                  <a:pt x="4740724" y="3490914"/>
                </a:cubicBezTo>
                <a:lnTo>
                  <a:pt x="0" y="3490913"/>
                </a:lnTo>
                <a:close/>
              </a:path>
            </a:pathLst>
          </a:custGeom>
          <a:gradFill>
            <a:gsLst>
              <a:gs pos="0">
                <a:schemeClr val="accent1"/>
              </a:gs>
              <a:gs pos="100000">
                <a:schemeClr val="accent1">
                  <a:lumMod val="90000"/>
                </a:schemeClr>
              </a:gs>
            </a:gsLst>
            <a:lin ang="2700000" scaled="0"/>
          </a:gra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7001588" y="1860108"/>
            <a:ext cx="744810" cy="851280"/>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alpha val="20000"/>
                </a:schemeClr>
              </a:gs>
              <a:gs pos="100000">
                <a:schemeClr val="accent1">
                  <a:lumMod val="98000"/>
                  <a:lumOff val="2000"/>
                </a:schemeClr>
              </a:gs>
            </a:gsLst>
            <a:lin ang="5400000" scaled="0"/>
          </a:gradFill>
          <a:ln cap="sq">
            <a:noFill/>
          </a:ln>
          <a:effectLst>
            <a:outerShdw blurRad="330200" dist="203200" dir="5400000" sx="90000" sy="90000" algn="t" rotWithShape="0">
              <a:schemeClr val="accent1">
                <a:lumMod val="50000"/>
                <a:alpha val="65000"/>
              </a:schemeClr>
            </a:outerShdw>
          </a:effectLst>
        </p:spPr>
        <p:txBody>
          <a:bodyPr vert="horz" wrap="square" lIns="91440" tIns="45720" rIns="91440" bIns="45720" rtlCol="0" anchor="t"/>
          <a:lstStyle/>
          <a:p>
            <a:pPr algn="l"/>
            <a:endParaRPr kumimoji="1" lang="zh-CN" altLang="en-US"/>
          </a:p>
        </p:txBody>
      </p:sp>
      <p:sp>
        <p:nvSpPr>
          <p:cNvPr id="6" name="标题 1"/>
          <p:cNvSpPr txBox="1"/>
          <p:nvPr/>
        </p:nvSpPr>
        <p:spPr>
          <a:xfrm>
            <a:off x="7050728" y="1916272"/>
            <a:ext cx="646527" cy="738949"/>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gs>
              <a:gs pos="100000">
                <a:schemeClr val="accent1">
                  <a:lumMod val="80000"/>
                  <a:lumOff val="20000"/>
                </a:schemeClr>
              </a:gs>
            </a:gsLst>
            <a:lin ang="2700000" scaled="0"/>
          </a:gradFill>
          <a:ln cap="sq">
            <a:noFill/>
          </a:ln>
          <a:effectLst/>
        </p:spPr>
        <p:txBody>
          <a:bodyPr vert="horz" wrap="square" lIns="91440" tIns="45720" rIns="91440" bIns="45720" rtlCol="0" anchor="t"/>
          <a:lstStyle/>
          <a:p>
            <a:pPr algn="l"/>
            <a:endParaRPr kumimoji="1" lang="zh-CN" altLang="en-US"/>
          </a:p>
        </p:txBody>
      </p:sp>
      <p:sp>
        <p:nvSpPr>
          <p:cNvPr id="7" name="标题 1"/>
          <p:cNvSpPr txBox="1"/>
          <p:nvPr/>
        </p:nvSpPr>
        <p:spPr>
          <a:xfrm>
            <a:off x="7239462" y="2141805"/>
            <a:ext cx="269061" cy="269101"/>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7885028" y="1868428"/>
            <a:ext cx="3530876" cy="1546176"/>
          </a:xfrm>
          <a:prstGeom prst="rect">
            <a:avLst/>
          </a:prstGeom>
          <a:noFill/>
          <a:ln cap="sq">
            <a:noFill/>
          </a:ln>
          <a:effectLst/>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El tiempo promedio que se tarda en reparar un sistema y devolverlo a operación después de un fallo.</a:t>
            </a:r>
            <a:endParaRPr kumimoji="1" lang="zh-CN" altLang="en-US"/>
          </a:p>
        </p:txBody>
      </p:sp>
      <p:sp>
        <p:nvSpPr>
          <p:cNvPr id="9" name="标题 1"/>
          <p:cNvSpPr txBox="1"/>
          <p:nvPr/>
        </p:nvSpPr>
        <p:spPr>
          <a:xfrm>
            <a:off x="7001588" y="4175502"/>
            <a:ext cx="744810" cy="851280"/>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2">
                  <a:alpha val="20000"/>
                </a:schemeClr>
              </a:gs>
              <a:gs pos="100000">
                <a:schemeClr val="accent2">
                  <a:lumMod val="60000"/>
                  <a:lumOff val="40000"/>
                </a:schemeClr>
              </a:gs>
            </a:gsLst>
            <a:lin ang="5400000" scaled="0"/>
          </a:gradFill>
          <a:ln cap="sq">
            <a:noFill/>
          </a:ln>
          <a:effectLst>
            <a:outerShdw blurRad="330200" dist="203200" dir="5400000" sx="90000" sy="90000" algn="t" rotWithShape="0">
              <a:schemeClr val="accent2">
                <a:lumMod val="50000"/>
                <a:alpha val="65000"/>
              </a:schemeClr>
            </a:outerShdw>
          </a:effectLst>
        </p:spPr>
        <p:txBody>
          <a:bodyPr vert="horz" wrap="square" lIns="91440" tIns="45720" rIns="91440" bIns="45720" rtlCol="0" anchor="t"/>
          <a:lstStyle/>
          <a:p>
            <a:pPr algn="l"/>
            <a:endParaRPr kumimoji="1" lang="zh-CN" altLang="en-US"/>
          </a:p>
        </p:txBody>
      </p:sp>
      <p:sp>
        <p:nvSpPr>
          <p:cNvPr id="10" name="标题 1"/>
          <p:cNvSpPr txBox="1"/>
          <p:nvPr/>
        </p:nvSpPr>
        <p:spPr>
          <a:xfrm>
            <a:off x="7050728" y="4231668"/>
            <a:ext cx="646527" cy="738949"/>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2"/>
              </a:gs>
              <a:gs pos="100000">
                <a:schemeClr val="accent2">
                  <a:lumMod val="80000"/>
                  <a:lumOff val="20000"/>
                </a:schemeClr>
              </a:gs>
            </a:gsLst>
            <a:lin ang="2700000" scaled="0"/>
          </a:gradFill>
          <a:ln cap="sq">
            <a:noFill/>
          </a:ln>
          <a:effectLst/>
        </p:spPr>
        <p:txBody>
          <a:bodyPr vert="horz" wrap="square" lIns="91440" tIns="45720" rIns="91440" bIns="45720" rtlCol="0" anchor="t"/>
          <a:lstStyle/>
          <a:p>
            <a:pPr algn="l"/>
            <a:endParaRPr kumimoji="1" lang="zh-CN" altLang="en-US"/>
          </a:p>
        </p:txBody>
      </p:sp>
      <p:sp>
        <p:nvSpPr>
          <p:cNvPr id="11" name="标题 1"/>
          <p:cNvSpPr txBox="1"/>
          <p:nvPr/>
        </p:nvSpPr>
        <p:spPr>
          <a:xfrm>
            <a:off x="7239441" y="4467281"/>
            <a:ext cx="269101" cy="248936"/>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7885028" y="4173741"/>
            <a:ext cx="3532272" cy="1660476"/>
          </a:xfrm>
          <a:prstGeom prst="rect">
            <a:avLst/>
          </a:prstGeom>
          <a:noFill/>
          <a:ln cap="sq">
            <a:noFill/>
          </a:ln>
          <a:effectLst/>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Un MTTR bajo es el objetivo.</a:t>
            </a:r>
            <a:endParaRPr kumimoji="1" lang="zh-CN" altLang="en-US"/>
          </a:p>
        </p:txBody>
      </p:sp>
      <p:sp>
        <p:nvSpPr>
          <p:cNvPr id="13" name="标题 1"/>
          <p:cNvSpPr txBox="1"/>
          <p:nvPr/>
        </p:nvSpPr>
        <p:spPr>
          <a:xfrm>
            <a:off x="660400" y="2359161"/>
            <a:ext cx="5201557" cy="2431757"/>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Definición y Objetivo</a:t>
            </a:r>
            <a:endParaRPr kumimoji="1" lang="zh-CN" altLang="en-US"/>
          </a:p>
        </p:txBody>
      </p:sp>
      <p:sp>
        <p:nvSpPr>
          <p:cNvPr id="14"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Tiempo Medio de Reparación (MTTR)</a:t>
            </a:r>
            <a:endParaRPr kumimoji="1" lang="zh-CN" altLang="en-US"/>
          </a:p>
        </p:txBody>
      </p:sp>
      <p:sp>
        <p:nvSpPr>
          <p:cNvPr id="17"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02</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Eficiencia Operativa y Energética</a:t>
            </a:r>
            <a:endParaRPr kumimoji="1" lang="zh-CN" altLang="en-US"/>
          </a:p>
        </p:txBody>
      </p:sp>
      <p:pic>
        <p:nvPicPr>
          <p:cNvPr id="2" name="Imagen 1">
            <a:extLst>
              <a:ext uri="{FF2B5EF4-FFF2-40B4-BE49-F238E27FC236}">
                <a16:creationId xmlns:a16="http://schemas.microsoft.com/office/drawing/2014/main" id="{010D8FCD-7A80-8445-B760-C4C583A17A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838325" y="-1107290"/>
            <a:ext cx="9350376" cy="9350372"/>
          </a:xfrm>
          <a:prstGeom prst="arc">
            <a:avLst>
              <a:gd name="adj1" fmla="val 18716968"/>
              <a:gd name="adj2" fmla="val 2846181"/>
            </a:avLst>
          </a:prstGeom>
          <a:noFill/>
          <a:ln w="12700" cap="sq">
            <a:gradFill>
              <a:gsLst>
                <a:gs pos="0">
                  <a:schemeClr val="accent1">
                    <a:alpha val="0"/>
                  </a:schemeClr>
                </a:gs>
                <a:gs pos="50000">
                  <a:schemeClr val="accent1"/>
                </a:gs>
                <a:gs pos="100000">
                  <a:schemeClr val="accent1">
                    <a:alpha val="0"/>
                  </a:schemeClr>
                </a:gs>
              </a:gsLst>
              <a:lin ang="5400000" scaled="0"/>
            </a:grad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0" y="1829582"/>
            <a:ext cx="6486182" cy="3490914"/>
          </a:xfrm>
          <a:custGeom>
            <a:avLst/>
            <a:gdLst>
              <a:gd name="connsiteX0" fmla="*/ 0 w 6486182"/>
              <a:gd name="connsiteY0" fmla="*/ 0 h 3490914"/>
              <a:gd name="connsiteX1" fmla="*/ 4740726 w 6486182"/>
              <a:gd name="connsiteY1" fmla="*/ 0 h 3490914"/>
              <a:gd name="connsiteX2" fmla="*/ 6486182 w 6486182"/>
              <a:gd name="connsiteY2" fmla="*/ 1745457 h 3490914"/>
              <a:gd name="connsiteX3" fmla="*/ 6486181 w 6486182"/>
              <a:gd name="connsiteY3" fmla="*/ 1745457 h 3490914"/>
              <a:gd name="connsiteX4" fmla="*/ 4740724 w 6486182"/>
              <a:gd name="connsiteY4" fmla="*/ 3490914 h 3490914"/>
              <a:gd name="connsiteX5" fmla="*/ 0 w 6486182"/>
              <a:gd name="connsiteY5" fmla="*/ 3490913 h 3490914"/>
            </a:gdLst>
            <a:ahLst/>
            <a:cxnLst/>
            <a:rect l="l" t="t" r="r" b="b"/>
            <a:pathLst>
              <a:path w="6486182" h="3490914">
                <a:moveTo>
                  <a:pt x="0" y="0"/>
                </a:moveTo>
                <a:lnTo>
                  <a:pt x="4740726" y="0"/>
                </a:lnTo>
                <a:cubicBezTo>
                  <a:pt x="5704714" y="0"/>
                  <a:pt x="6486182" y="781468"/>
                  <a:pt x="6486182" y="1745457"/>
                </a:cubicBezTo>
                <a:lnTo>
                  <a:pt x="6486181" y="1745457"/>
                </a:lnTo>
                <a:cubicBezTo>
                  <a:pt x="6486181" y="2709446"/>
                  <a:pt x="5704713" y="3490914"/>
                  <a:pt x="4740724" y="3490914"/>
                </a:cubicBezTo>
                <a:lnTo>
                  <a:pt x="0" y="3490913"/>
                </a:lnTo>
                <a:close/>
              </a:path>
            </a:pathLst>
          </a:custGeom>
          <a:gradFill>
            <a:gsLst>
              <a:gs pos="0">
                <a:schemeClr val="accent1"/>
              </a:gs>
              <a:gs pos="100000">
                <a:schemeClr val="accent1">
                  <a:lumMod val="90000"/>
                </a:schemeClr>
              </a:gs>
            </a:gsLst>
            <a:lin ang="2700000" scaled="0"/>
          </a:gra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6862976" y="1555308"/>
            <a:ext cx="744810" cy="851280"/>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alpha val="20000"/>
                </a:schemeClr>
              </a:gs>
              <a:gs pos="100000">
                <a:schemeClr val="accent1">
                  <a:lumMod val="98000"/>
                  <a:lumOff val="2000"/>
                </a:schemeClr>
              </a:gs>
            </a:gsLst>
            <a:lin ang="5400000" scaled="0"/>
          </a:gradFill>
          <a:ln cap="sq">
            <a:noFill/>
          </a:ln>
          <a:effectLst>
            <a:outerShdw blurRad="330200" dist="203200" dir="5400000" sx="90000" sy="90000" algn="t" rotWithShape="0">
              <a:schemeClr val="accent1">
                <a:lumMod val="50000"/>
                <a:alpha val="65000"/>
              </a:schemeClr>
            </a:outerShdw>
          </a:effectLst>
        </p:spPr>
        <p:txBody>
          <a:bodyPr vert="horz" wrap="square" lIns="91440" tIns="45720" rIns="91440" bIns="45720" rtlCol="0" anchor="t"/>
          <a:lstStyle/>
          <a:p>
            <a:pPr algn="l"/>
            <a:endParaRPr kumimoji="1" lang="zh-CN" altLang="en-US"/>
          </a:p>
        </p:txBody>
      </p:sp>
      <p:sp>
        <p:nvSpPr>
          <p:cNvPr id="5" name="标题 1"/>
          <p:cNvSpPr txBox="1"/>
          <p:nvPr/>
        </p:nvSpPr>
        <p:spPr>
          <a:xfrm>
            <a:off x="6912116" y="1611472"/>
            <a:ext cx="646527" cy="738949"/>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gs>
              <a:gs pos="100000">
                <a:schemeClr val="accent1">
                  <a:lumMod val="80000"/>
                  <a:lumOff val="20000"/>
                </a:schemeClr>
              </a:gs>
            </a:gsLst>
            <a:lin ang="2700000" scaled="0"/>
          </a:gradFill>
          <a:ln cap="sq">
            <a:noFill/>
          </a:ln>
          <a:effectLst/>
        </p:spPr>
        <p:txBody>
          <a:bodyPr vert="horz" wrap="square" lIns="91440" tIns="45720" rIns="91440" bIns="45720" rtlCol="0" anchor="t"/>
          <a:lstStyle/>
          <a:p>
            <a:pPr algn="l"/>
            <a:endParaRPr kumimoji="1" lang="zh-CN" altLang="en-US"/>
          </a:p>
        </p:txBody>
      </p:sp>
      <p:sp>
        <p:nvSpPr>
          <p:cNvPr id="6" name="标题 1"/>
          <p:cNvSpPr txBox="1"/>
          <p:nvPr/>
        </p:nvSpPr>
        <p:spPr>
          <a:xfrm>
            <a:off x="7100850" y="1837005"/>
            <a:ext cx="269061" cy="269101"/>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7746416" y="1563628"/>
            <a:ext cx="3340376" cy="822276"/>
          </a:xfrm>
          <a:prstGeom prst="rect">
            <a:avLst/>
          </a:prstGeom>
          <a:noFill/>
          <a:ln cap="sq">
            <a:noFill/>
          </a:ln>
          <a:effectLst/>
        </p:spPr>
        <p:txBody>
          <a:bodyPr vert="horz" wrap="square" lIns="0" tIns="0" rIns="0" bIns="0" rtlCol="0" anchor="t"/>
          <a:lstStyle/>
          <a:p>
            <a:pPr algn="l"/>
            <a:r>
              <a:rPr kumimoji="1" lang="en-US" altLang="zh-CN" sz="1400" dirty="0">
                <a:ln w="12700">
                  <a:noFill/>
                </a:ln>
                <a:solidFill>
                  <a:srgbClr val="262626">
                    <a:alpha val="100000"/>
                  </a:srgbClr>
                </a:solidFill>
                <a:latin typeface="Poppins"/>
                <a:ea typeface="Poppins"/>
                <a:cs typeface="Poppins"/>
              </a:rPr>
              <a:t>Es </a:t>
            </a:r>
            <a:r>
              <a:rPr kumimoji="1" lang="en-US" altLang="zh-CN" sz="1400" dirty="0" err="1">
                <a:ln w="12700">
                  <a:noFill/>
                </a:ln>
                <a:solidFill>
                  <a:srgbClr val="262626">
                    <a:alpha val="100000"/>
                  </a:srgbClr>
                </a:solidFill>
                <a:latin typeface="Poppins"/>
                <a:ea typeface="Poppins"/>
                <a:cs typeface="Poppins"/>
              </a:rPr>
              <a:t>el</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estándar</a:t>
            </a:r>
            <a:r>
              <a:rPr kumimoji="1" lang="en-US" altLang="zh-CN" sz="1400" dirty="0">
                <a:ln w="12700">
                  <a:noFill/>
                </a:ln>
                <a:solidFill>
                  <a:srgbClr val="262626">
                    <a:alpha val="100000"/>
                  </a:srgbClr>
                </a:solidFill>
                <a:latin typeface="Poppins"/>
                <a:ea typeface="Poppins"/>
                <a:cs typeface="Poppins"/>
              </a:rPr>
              <a:t> de la </a:t>
            </a:r>
            <a:r>
              <a:rPr kumimoji="1" lang="en-US" altLang="zh-CN" sz="1400" dirty="0" err="1">
                <a:ln w="12700">
                  <a:noFill/>
                </a:ln>
                <a:solidFill>
                  <a:srgbClr val="262626">
                    <a:alpha val="100000"/>
                  </a:srgbClr>
                </a:solidFill>
                <a:latin typeface="Poppins"/>
                <a:ea typeface="Poppins"/>
                <a:cs typeface="Poppins"/>
              </a:rPr>
              <a:t>industria</a:t>
            </a:r>
            <a:r>
              <a:rPr kumimoji="1" lang="en-US" altLang="zh-CN" sz="1400" dirty="0">
                <a:ln w="12700">
                  <a:noFill/>
                </a:ln>
                <a:solidFill>
                  <a:srgbClr val="262626">
                    <a:alpha val="100000"/>
                  </a:srgbClr>
                </a:solidFill>
                <a:latin typeface="Poppins"/>
                <a:ea typeface="Poppins"/>
                <a:cs typeface="Poppins"/>
              </a:rPr>
              <a:t>.</a:t>
            </a:r>
            <a:endParaRPr kumimoji="1" lang="zh-CN" altLang="en-US" dirty="0"/>
          </a:p>
        </p:txBody>
      </p:sp>
      <p:sp>
        <p:nvSpPr>
          <p:cNvPr id="8" name="标题 1"/>
          <p:cNvSpPr txBox="1"/>
          <p:nvPr/>
        </p:nvSpPr>
        <p:spPr>
          <a:xfrm>
            <a:off x="7239462" y="3155046"/>
            <a:ext cx="744810" cy="851280"/>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2">
                  <a:alpha val="20000"/>
                </a:schemeClr>
              </a:gs>
              <a:gs pos="100000">
                <a:schemeClr val="accent2">
                  <a:lumMod val="60000"/>
                  <a:lumOff val="40000"/>
                </a:schemeClr>
              </a:gs>
            </a:gsLst>
            <a:lin ang="5400000" scaled="0"/>
          </a:gradFill>
          <a:ln cap="sq">
            <a:noFill/>
          </a:ln>
          <a:effectLst>
            <a:outerShdw blurRad="330200" dist="203200" dir="5400000" sx="90000" sy="90000" algn="t" rotWithShape="0">
              <a:schemeClr val="accent2">
                <a:lumMod val="50000"/>
                <a:alpha val="65000"/>
              </a:schemeClr>
            </a:outerShdw>
          </a:effectLst>
        </p:spPr>
        <p:txBody>
          <a:bodyPr vert="horz" wrap="square" lIns="91440" tIns="45720" rIns="91440" bIns="45720" rtlCol="0" anchor="t"/>
          <a:lstStyle/>
          <a:p>
            <a:pPr algn="l"/>
            <a:endParaRPr kumimoji="1" lang="zh-CN" altLang="en-US"/>
          </a:p>
        </p:txBody>
      </p:sp>
      <p:sp>
        <p:nvSpPr>
          <p:cNvPr id="9" name="标题 1"/>
          <p:cNvSpPr txBox="1"/>
          <p:nvPr/>
        </p:nvSpPr>
        <p:spPr>
          <a:xfrm>
            <a:off x="7288601" y="3211214"/>
            <a:ext cx="646527" cy="738949"/>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2"/>
              </a:gs>
              <a:gs pos="100000">
                <a:schemeClr val="accent2">
                  <a:lumMod val="80000"/>
                  <a:lumOff val="20000"/>
                </a:schemeClr>
              </a:gs>
            </a:gsLst>
            <a:lin ang="2700000" scaled="0"/>
          </a:gradFill>
          <a:ln cap="sq">
            <a:noFill/>
          </a:ln>
          <a:effectLst/>
        </p:spPr>
        <p:txBody>
          <a:bodyPr vert="horz" wrap="square" lIns="91440" tIns="45720" rIns="91440" bIns="45720" rtlCol="0" anchor="t"/>
          <a:lstStyle/>
          <a:p>
            <a:pPr algn="l"/>
            <a:endParaRPr kumimoji="1" lang="zh-CN" altLang="en-US"/>
          </a:p>
        </p:txBody>
      </p:sp>
      <p:sp>
        <p:nvSpPr>
          <p:cNvPr id="10" name="标题 1"/>
          <p:cNvSpPr txBox="1"/>
          <p:nvPr/>
        </p:nvSpPr>
        <p:spPr>
          <a:xfrm>
            <a:off x="7477315" y="3446825"/>
            <a:ext cx="269101" cy="248936"/>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8122902" y="2910348"/>
            <a:ext cx="3340376" cy="1445341"/>
          </a:xfrm>
          <a:prstGeom prst="rect">
            <a:avLst/>
          </a:prstGeom>
          <a:noFill/>
          <a:ln cap="sq">
            <a:noFill/>
          </a:ln>
          <a:effectLst/>
        </p:spPr>
        <p:txBody>
          <a:bodyPr vert="horz" wrap="square" lIns="0" tIns="0" rIns="0" bIns="0" rtlCol="0" anchor="t"/>
          <a:lstStyle/>
          <a:p>
            <a:pPr algn="l"/>
            <a:r>
              <a:rPr kumimoji="1" lang="en-US" altLang="zh-CN" sz="1085" dirty="0">
                <a:ln w="12700">
                  <a:noFill/>
                </a:ln>
                <a:solidFill>
                  <a:srgbClr val="262626">
                    <a:alpha val="100000"/>
                  </a:srgbClr>
                </a:solidFill>
                <a:latin typeface="Poppins"/>
                <a:ea typeface="Poppins"/>
                <a:cs typeface="Poppins"/>
              </a:rPr>
              <a:t>Mide </a:t>
            </a:r>
            <a:r>
              <a:rPr kumimoji="1" lang="en-US" altLang="zh-CN" sz="1085" dirty="0" err="1">
                <a:ln w="12700">
                  <a:noFill/>
                </a:ln>
                <a:solidFill>
                  <a:srgbClr val="262626">
                    <a:alpha val="100000"/>
                  </a:srgbClr>
                </a:solidFill>
                <a:latin typeface="Poppins"/>
                <a:ea typeface="Poppins"/>
                <a:cs typeface="Poppins"/>
              </a:rPr>
              <a:t>cuánta</a:t>
            </a:r>
            <a:r>
              <a:rPr kumimoji="1" lang="en-US" altLang="zh-CN" sz="1085" dirty="0">
                <a:ln w="12700">
                  <a:noFill/>
                </a:ln>
                <a:solidFill>
                  <a:srgbClr val="262626">
                    <a:alpha val="100000"/>
                  </a:srgbClr>
                </a:solidFill>
                <a:latin typeface="Poppins"/>
                <a:ea typeface="Poppins"/>
                <a:cs typeface="Poppins"/>
              </a:rPr>
              <a:t> </a:t>
            </a:r>
            <a:r>
              <a:rPr kumimoji="1" lang="en-US" altLang="zh-CN" sz="1085" dirty="0" err="1">
                <a:ln w="12700">
                  <a:noFill/>
                </a:ln>
                <a:solidFill>
                  <a:srgbClr val="262626">
                    <a:alpha val="100000"/>
                  </a:srgbClr>
                </a:solidFill>
                <a:latin typeface="Poppins"/>
                <a:ea typeface="Poppins"/>
                <a:cs typeface="Poppins"/>
              </a:rPr>
              <a:t>energía</a:t>
            </a:r>
            <a:r>
              <a:rPr kumimoji="1" lang="en-US" altLang="zh-CN" sz="1085" dirty="0">
                <a:ln w="12700">
                  <a:noFill/>
                </a:ln>
                <a:solidFill>
                  <a:srgbClr val="262626">
                    <a:alpha val="100000"/>
                  </a:srgbClr>
                </a:solidFill>
                <a:latin typeface="Poppins"/>
                <a:ea typeface="Poppins"/>
                <a:cs typeface="Poppins"/>
              </a:rPr>
              <a:t> consume la </a:t>
            </a:r>
            <a:r>
              <a:rPr kumimoji="1" lang="en-US" altLang="zh-CN" sz="1085" dirty="0" err="1">
                <a:ln w="12700">
                  <a:noFill/>
                </a:ln>
                <a:solidFill>
                  <a:srgbClr val="262626">
                    <a:alpha val="100000"/>
                  </a:srgbClr>
                </a:solidFill>
                <a:latin typeface="Poppins"/>
                <a:ea typeface="Poppins"/>
                <a:cs typeface="Poppins"/>
              </a:rPr>
              <a:t>instalación</a:t>
            </a:r>
            <a:r>
              <a:rPr kumimoji="1" lang="en-US" altLang="zh-CN" sz="1085" dirty="0">
                <a:ln w="12700">
                  <a:noFill/>
                </a:ln>
                <a:solidFill>
                  <a:srgbClr val="262626">
                    <a:alpha val="100000"/>
                  </a:srgbClr>
                </a:solidFill>
                <a:latin typeface="Poppins"/>
                <a:ea typeface="Poppins"/>
                <a:cs typeface="Poppins"/>
              </a:rPr>
              <a:t> total (luces, </a:t>
            </a:r>
            <a:r>
              <a:rPr kumimoji="1" lang="en-US" altLang="zh-CN" sz="1085" dirty="0" err="1">
                <a:ln w="12700">
                  <a:noFill/>
                </a:ln>
                <a:solidFill>
                  <a:srgbClr val="262626">
                    <a:alpha val="100000"/>
                  </a:srgbClr>
                </a:solidFill>
                <a:latin typeface="Poppins"/>
                <a:ea typeface="Poppins"/>
                <a:cs typeface="Poppins"/>
              </a:rPr>
              <a:t>refrigeración</a:t>
            </a:r>
            <a:r>
              <a:rPr kumimoji="1" lang="en-US" altLang="zh-CN" sz="1085" dirty="0">
                <a:ln w="12700">
                  <a:noFill/>
                </a:ln>
                <a:solidFill>
                  <a:srgbClr val="262626">
                    <a:alpha val="100000"/>
                  </a:srgbClr>
                </a:solidFill>
                <a:latin typeface="Poppins"/>
                <a:ea typeface="Poppins"/>
                <a:cs typeface="Poppins"/>
              </a:rPr>
              <a:t>) </a:t>
            </a:r>
            <a:r>
              <a:rPr kumimoji="1" lang="en-US" altLang="zh-CN" sz="1085" dirty="0" err="1">
                <a:ln w="12700">
                  <a:noFill/>
                </a:ln>
                <a:solidFill>
                  <a:srgbClr val="262626">
                    <a:alpha val="100000"/>
                  </a:srgbClr>
                </a:solidFill>
                <a:latin typeface="Poppins"/>
                <a:ea typeface="Poppins"/>
                <a:cs typeface="Poppins"/>
              </a:rPr>
              <a:t>en</a:t>
            </a:r>
            <a:r>
              <a:rPr kumimoji="1" lang="en-US" altLang="zh-CN" sz="1085" dirty="0">
                <a:ln w="12700">
                  <a:noFill/>
                </a:ln>
                <a:solidFill>
                  <a:srgbClr val="262626">
                    <a:alpha val="100000"/>
                  </a:srgbClr>
                </a:solidFill>
                <a:latin typeface="Poppins"/>
                <a:ea typeface="Poppins"/>
                <a:cs typeface="Poppins"/>
              </a:rPr>
              <a:t> </a:t>
            </a:r>
            <a:r>
              <a:rPr kumimoji="1" lang="en-US" altLang="zh-CN" sz="1085" dirty="0" err="1">
                <a:ln w="12700">
                  <a:noFill/>
                </a:ln>
                <a:solidFill>
                  <a:srgbClr val="262626">
                    <a:alpha val="100000"/>
                  </a:srgbClr>
                </a:solidFill>
                <a:latin typeface="Poppins"/>
                <a:ea typeface="Poppins"/>
                <a:cs typeface="Poppins"/>
              </a:rPr>
              <a:t>comparación</a:t>
            </a:r>
            <a:r>
              <a:rPr kumimoji="1" lang="en-US" altLang="zh-CN" sz="1085" dirty="0">
                <a:ln w="12700">
                  <a:noFill/>
                </a:ln>
                <a:solidFill>
                  <a:srgbClr val="262626">
                    <a:alpha val="100000"/>
                  </a:srgbClr>
                </a:solidFill>
                <a:latin typeface="Poppins"/>
                <a:ea typeface="Poppins"/>
                <a:cs typeface="Poppins"/>
              </a:rPr>
              <a:t> con la </a:t>
            </a:r>
            <a:r>
              <a:rPr kumimoji="1" lang="en-US" altLang="zh-CN" sz="1085" dirty="0" err="1">
                <a:ln w="12700">
                  <a:noFill/>
                </a:ln>
                <a:solidFill>
                  <a:srgbClr val="262626">
                    <a:alpha val="100000"/>
                  </a:srgbClr>
                </a:solidFill>
                <a:latin typeface="Poppins"/>
                <a:ea typeface="Poppins"/>
                <a:cs typeface="Poppins"/>
              </a:rPr>
              <a:t>energía</a:t>
            </a:r>
            <a:r>
              <a:rPr kumimoji="1" lang="en-US" altLang="zh-CN" sz="1085" dirty="0">
                <a:ln w="12700">
                  <a:noFill/>
                </a:ln>
                <a:solidFill>
                  <a:srgbClr val="262626">
                    <a:alpha val="100000"/>
                  </a:srgbClr>
                </a:solidFill>
                <a:latin typeface="Poppins"/>
                <a:ea typeface="Poppins"/>
                <a:cs typeface="Poppins"/>
              </a:rPr>
              <a:t> </a:t>
            </a:r>
            <a:r>
              <a:rPr kumimoji="1" lang="en-US" altLang="zh-CN" sz="1085" dirty="0" err="1">
                <a:ln w="12700">
                  <a:noFill/>
                </a:ln>
                <a:solidFill>
                  <a:srgbClr val="262626">
                    <a:alpha val="100000"/>
                  </a:srgbClr>
                </a:solidFill>
                <a:latin typeface="Poppins"/>
                <a:ea typeface="Poppins"/>
                <a:cs typeface="Poppins"/>
              </a:rPr>
              <a:t>que</a:t>
            </a:r>
            <a:r>
              <a:rPr kumimoji="1" lang="en-US" altLang="zh-CN" sz="1085" dirty="0">
                <a:ln w="12700">
                  <a:noFill/>
                </a:ln>
                <a:solidFill>
                  <a:srgbClr val="262626">
                    <a:alpha val="100000"/>
                  </a:srgbClr>
                </a:solidFill>
                <a:latin typeface="Poppins"/>
                <a:ea typeface="Poppins"/>
                <a:cs typeface="Poppins"/>
              </a:rPr>
              <a:t> consume solo </a:t>
            </a:r>
            <a:r>
              <a:rPr kumimoji="1" lang="en-US" altLang="zh-CN" sz="1085" dirty="0" err="1">
                <a:ln w="12700">
                  <a:noFill/>
                </a:ln>
                <a:solidFill>
                  <a:srgbClr val="262626">
                    <a:alpha val="100000"/>
                  </a:srgbClr>
                </a:solidFill>
                <a:latin typeface="Poppins"/>
                <a:ea typeface="Poppins"/>
                <a:cs typeface="Poppins"/>
              </a:rPr>
              <a:t>el</a:t>
            </a:r>
            <a:r>
              <a:rPr kumimoji="1" lang="en-US" altLang="zh-CN" sz="1085" dirty="0">
                <a:ln w="12700">
                  <a:noFill/>
                </a:ln>
                <a:solidFill>
                  <a:srgbClr val="262626">
                    <a:alpha val="100000"/>
                  </a:srgbClr>
                </a:solidFill>
                <a:latin typeface="Poppins"/>
                <a:ea typeface="Poppins"/>
                <a:cs typeface="Poppins"/>
              </a:rPr>
              <a:t> </a:t>
            </a:r>
            <a:r>
              <a:rPr kumimoji="1" lang="en-US" altLang="zh-CN" sz="1085" dirty="0" err="1">
                <a:ln w="12700">
                  <a:noFill/>
                </a:ln>
                <a:solidFill>
                  <a:srgbClr val="262626">
                    <a:alpha val="100000"/>
                  </a:srgbClr>
                </a:solidFill>
                <a:latin typeface="Poppins"/>
                <a:ea typeface="Poppins"/>
                <a:cs typeface="Poppins"/>
              </a:rPr>
              <a:t>equipo</a:t>
            </a:r>
            <a:r>
              <a:rPr kumimoji="1" lang="en-US" altLang="zh-CN" sz="1085" dirty="0">
                <a:ln w="12700">
                  <a:noFill/>
                </a:ln>
                <a:solidFill>
                  <a:srgbClr val="262626">
                    <a:alpha val="100000"/>
                  </a:srgbClr>
                </a:solidFill>
                <a:latin typeface="Poppins"/>
                <a:ea typeface="Poppins"/>
                <a:cs typeface="Poppins"/>
              </a:rPr>
              <a:t> de TI.</a:t>
            </a:r>
          </a:p>
          <a:p>
            <a:pPr algn="l"/>
            <a:endParaRPr kumimoji="1" lang="en-US" altLang="zh-CN" sz="1085" dirty="0">
              <a:ln w="12700">
                <a:noFill/>
              </a:ln>
              <a:solidFill>
                <a:srgbClr val="262626">
                  <a:alpha val="100000"/>
                </a:srgbClr>
              </a:solidFill>
              <a:latin typeface="Poppins"/>
              <a:cs typeface="Poppins"/>
            </a:endParaRPr>
          </a:p>
          <a:p>
            <a:r>
              <a:rPr kumimoji="1" lang="es-ES" altLang="zh-CN" sz="1085" dirty="0">
                <a:ln w="12700">
                  <a:noFill/>
                </a:ln>
                <a:solidFill>
                  <a:srgbClr val="262626">
                    <a:alpha val="100000"/>
                  </a:srgbClr>
                </a:solidFill>
                <a:latin typeface="Poppins"/>
                <a:cs typeface="Poppins"/>
              </a:rPr>
              <a:t>PUE = Energía Total de la Instalación \Energía del Equipo de TI</a:t>
            </a:r>
            <a:endParaRPr kumimoji="1" lang="zh-CN" altLang="en-US" sz="1085" dirty="0">
              <a:ln w="12700">
                <a:noFill/>
              </a:ln>
              <a:solidFill>
                <a:srgbClr val="262626">
                  <a:alpha val="100000"/>
                </a:srgbClr>
              </a:solidFill>
              <a:latin typeface="Poppins"/>
              <a:cs typeface="Poppins"/>
            </a:endParaRPr>
          </a:p>
        </p:txBody>
      </p:sp>
      <p:sp>
        <p:nvSpPr>
          <p:cNvPr id="12" name="标题 1"/>
          <p:cNvSpPr txBox="1"/>
          <p:nvPr/>
        </p:nvSpPr>
        <p:spPr>
          <a:xfrm>
            <a:off x="-1311274" y="-580238"/>
            <a:ext cx="8296274" cy="8296270"/>
          </a:xfrm>
          <a:prstGeom prst="arc">
            <a:avLst>
              <a:gd name="adj1" fmla="val 19465670"/>
              <a:gd name="adj2" fmla="val 2211151"/>
            </a:avLst>
          </a:prstGeom>
          <a:noFill/>
          <a:ln w="12700" cap="sq">
            <a:gradFill>
              <a:gsLst>
                <a:gs pos="0">
                  <a:schemeClr val="accent1">
                    <a:alpha val="0"/>
                  </a:schemeClr>
                </a:gs>
                <a:gs pos="50000">
                  <a:schemeClr val="accent1"/>
                </a:gs>
                <a:gs pos="100000">
                  <a:schemeClr val="accent1">
                    <a:alpha val="0"/>
                  </a:schemeClr>
                </a:gs>
              </a:gsLst>
              <a:lin ang="5400000" scaled="0"/>
            </a:grad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660400" y="3133861"/>
            <a:ext cx="5087257" cy="882357"/>
          </a:xfrm>
          <a:prstGeom prst="rect">
            <a:avLst/>
          </a:prstGeom>
          <a:noFill/>
          <a:ln cap="sq">
            <a:noFill/>
          </a:ln>
          <a:effectLst/>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Definición y Medición</a:t>
            </a:r>
            <a:endParaRPr kumimoji="1" lang="zh-CN" altLang="en-US"/>
          </a:p>
        </p:txBody>
      </p:sp>
      <p:sp>
        <p:nvSpPr>
          <p:cNvPr id="14" name="标题 1"/>
          <p:cNvSpPr txBox="1"/>
          <p:nvPr/>
        </p:nvSpPr>
        <p:spPr>
          <a:xfrm>
            <a:off x="7746416" y="4742942"/>
            <a:ext cx="3340376" cy="822276"/>
          </a:xfrm>
          <a:prstGeom prst="rect">
            <a:avLst/>
          </a:prstGeom>
          <a:noFill/>
          <a:ln cap="sq">
            <a:noFill/>
          </a:ln>
          <a:effectLst/>
        </p:spPr>
        <p:txBody>
          <a:bodyPr vert="horz" wrap="square" lIns="0" tIns="0" rIns="0" bIns="0" rtlCol="0" anchor="t"/>
          <a:lstStyle/>
          <a:p>
            <a:r>
              <a:rPr kumimoji="1" lang="es-ES" sz="1085" dirty="0">
                <a:ln w="12700">
                  <a:noFill/>
                </a:ln>
                <a:solidFill>
                  <a:srgbClr val="262626">
                    <a:alpha val="100000"/>
                  </a:srgbClr>
                </a:solidFill>
                <a:latin typeface="Poppins"/>
                <a:cs typeface="Poppins"/>
              </a:rPr>
              <a:t>Un PUE de 1.0 sería el ideal (toda la energía va al TI). Un PUE de 1.8 significa que por cada vatio usado por TI, se usan 0.8 vatios en soporte (refrigeración, etc.). El objetivo es reducirlo lo más posible.</a:t>
            </a:r>
            <a:endParaRPr kumimoji="1" lang="zh-CN" altLang="en-US" sz="1085" dirty="0">
              <a:ln w="12700">
                <a:noFill/>
              </a:ln>
              <a:solidFill>
                <a:srgbClr val="262626">
                  <a:alpha val="100000"/>
                </a:srgbClr>
              </a:solidFill>
              <a:latin typeface="Poppins"/>
              <a:cs typeface="Poppins"/>
            </a:endParaRPr>
          </a:p>
        </p:txBody>
      </p:sp>
      <p:sp>
        <p:nvSpPr>
          <p:cNvPr id="15" name="标题 1"/>
          <p:cNvSpPr txBox="1"/>
          <p:nvPr/>
        </p:nvSpPr>
        <p:spPr>
          <a:xfrm>
            <a:off x="6862976" y="4734622"/>
            <a:ext cx="744810" cy="851280"/>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alpha val="20000"/>
                </a:schemeClr>
              </a:gs>
              <a:gs pos="100000">
                <a:schemeClr val="accent1">
                  <a:lumMod val="98000"/>
                  <a:lumOff val="2000"/>
                </a:schemeClr>
              </a:gs>
            </a:gsLst>
            <a:lin ang="5400000" scaled="0"/>
          </a:gradFill>
          <a:ln cap="sq">
            <a:noFill/>
          </a:ln>
          <a:effectLst>
            <a:outerShdw blurRad="330200" dist="203200" dir="5400000" sx="90000" sy="90000" algn="t" rotWithShape="0">
              <a:schemeClr val="accent1">
                <a:lumMod val="50000"/>
                <a:alpha val="65000"/>
              </a:schemeClr>
            </a:outerShdw>
          </a:effectLst>
        </p:spPr>
        <p:txBody>
          <a:bodyPr vert="horz" wrap="square" lIns="91440" tIns="45720" rIns="91440" bIns="45720" rtlCol="0" anchor="t"/>
          <a:lstStyle/>
          <a:p>
            <a:pPr algn="l"/>
            <a:endParaRPr kumimoji="1" lang="zh-CN" altLang="en-US"/>
          </a:p>
        </p:txBody>
      </p:sp>
      <p:sp>
        <p:nvSpPr>
          <p:cNvPr id="16" name="标题 1"/>
          <p:cNvSpPr txBox="1"/>
          <p:nvPr/>
        </p:nvSpPr>
        <p:spPr>
          <a:xfrm>
            <a:off x="6912116" y="4790786"/>
            <a:ext cx="646527" cy="738949"/>
          </a:xfrm>
          <a:custGeom>
            <a:avLst/>
            <a:gdLst>
              <a:gd name="T0" fmla="*/ 626 w 644"/>
              <a:gd name="T1" fmla="*/ 172 h 736"/>
              <a:gd name="T2" fmla="*/ 340 w 644"/>
              <a:gd name="T3" fmla="*/ 6 h 736"/>
              <a:gd name="T4" fmla="*/ 304 w 644"/>
              <a:gd name="T5" fmla="*/ 6 h 736"/>
              <a:gd name="T6" fmla="*/ 18 w 644"/>
              <a:gd name="T7" fmla="*/ 172 h 736"/>
              <a:gd name="T8" fmla="*/ 0 w 644"/>
              <a:gd name="T9" fmla="*/ 203 h 736"/>
              <a:gd name="T10" fmla="*/ 0 w 644"/>
              <a:gd name="T11" fmla="*/ 533 h 736"/>
              <a:gd name="T12" fmla="*/ 18 w 644"/>
              <a:gd name="T13" fmla="*/ 564 h 736"/>
              <a:gd name="T14" fmla="*/ 304 w 644"/>
              <a:gd name="T15" fmla="*/ 730 h 736"/>
              <a:gd name="T16" fmla="*/ 340 w 644"/>
              <a:gd name="T17" fmla="*/ 730 h 736"/>
              <a:gd name="T18" fmla="*/ 626 w 644"/>
              <a:gd name="T19" fmla="*/ 564 h 736"/>
              <a:gd name="T20" fmla="*/ 644 w 644"/>
              <a:gd name="T21" fmla="*/ 533 h 736"/>
              <a:gd name="T22" fmla="*/ 644 w 644"/>
              <a:gd name="T23" fmla="*/ 203 h 736"/>
              <a:gd name="T24" fmla="*/ 626 w 644"/>
              <a:gd name="T25" fmla="*/ 172 h 736"/>
            </a:gdLst>
            <a:ahLst/>
            <a:cxnLst/>
            <a:rect l="0" t="0" r="r" b="b"/>
            <a:pathLst>
              <a:path w="644" h="736">
                <a:moveTo>
                  <a:pt x="626" y="172"/>
                </a:moveTo>
                <a:cubicBezTo>
                  <a:pt x="340" y="6"/>
                  <a:pt x="340" y="6"/>
                  <a:pt x="340" y="6"/>
                </a:cubicBezTo>
                <a:cubicBezTo>
                  <a:pt x="329" y="0"/>
                  <a:pt x="315" y="0"/>
                  <a:pt x="304" y="6"/>
                </a:cubicBezTo>
                <a:cubicBezTo>
                  <a:pt x="18" y="172"/>
                  <a:pt x="18" y="172"/>
                  <a:pt x="18" y="172"/>
                </a:cubicBezTo>
                <a:cubicBezTo>
                  <a:pt x="7" y="178"/>
                  <a:pt x="0" y="190"/>
                  <a:pt x="0" y="203"/>
                </a:cubicBezTo>
                <a:cubicBezTo>
                  <a:pt x="0" y="533"/>
                  <a:pt x="0" y="533"/>
                  <a:pt x="0" y="533"/>
                </a:cubicBezTo>
                <a:cubicBezTo>
                  <a:pt x="0" y="546"/>
                  <a:pt x="7" y="558"/>
                  <a:pt x="18" y="564"/>
                </a:cubicBezTo>
                <a:cubicBezTo>
                  <a:pt x="304" y="730"/>
                  <a:pt x="304" y="730"/>
                  <a:pt x="304" y="730"/>
                </a:cubicBezTo>
                <a:cubicBezTo>
                  <a:pt x="315" y="736"/>
                  <a:pt x="329" y="736"/>
                  <a:pt x="340" y="730"/>
                </a:cubicBezTo>
                <a:cubicBezTo>
                  <a:pt x="626" y="564"/>
                  <a:pt x="626" y="564"/>
                  <a:pt x="626" y="564"/>
                </a:cubicBezTo>
                <a:cubicBezTo>
                  <a:pt x="637" y="558"/>
                  <a:pt x="644" y="546"/>
                  <a:pt x="644" y="533"/>
                </a:cubicBezTo>
                <a:cubicBezTo>
                  <a:pt x="644" y="203"/>
                  <a:pt x="644" y="203"/>
                  <a:pt x="644" y="203"/>
                </a:cubicBezTo>
                <a:cubicBezTo>
                  <a:pt x="644" y="190"/>
                  <a:pt x="637" y="178"/>
                  <a:pt x="626" y="172"/>
                </a:cubicBezTo>
                <a:close/>
              </a:path>
            </a:pathLst>
          </a:custGeom>
          <a:gradFill>
            <a:gsLst>
              <a:gs pos="0">
                <a:schemeClr val="accent1"/>
              </a:gs>
              <a:gs pos="100000">
                <a:schemeClr val="accent1">
                  <a:lumMod val="80000"/>
                  <a:lumOff val="20000"/>
                </a:schemeClr>
              </a:gs>
            </a:gsLst>
            <a:lin ang="2700000" scaled="0"/>
          </a:gradFill>
          <a:ln cap="sq">
            <a:noFill/>
          </a:ln>
          <a:effectLst/>
        </p:spPr>
        <p:txBody>
          <a:bodyPr vert="horz" wrap="square" lIns="91440" tIns="45720" rIns="91440" bIns="45720" rtlCol="0" anchor="t"/>
          <a:lstStyle/>
          <a:p>
            <a:pPr algn="l"/>
            <a:endParaRPr kumimoji="1" lang="zh-CN" altLang="en-US"/>
          </a:p>
        </p:txBody>
      </p:sp>
      <p:sp>
        <p:nvSpPr>
          <p:cNvPr id="17" name="标题 1"/>
          <p:cNvSpPr txBox="1"/>
          <p:nvPr/>
        </p:nvSpPr>
        <p:spPr>
          <a:xfrm>
            <a:off x="7091379" y="5004274"/>
            <a:ext cx="288000" cy="311972"/>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Eficacia del Uso de la Energía (PUE)</a:t>
            </a:r>
            <a:endParaRPr kumimoji="1" lang="zh-CN" altLang="en-US"/>
          </a:p>
        </p:txBody>
      </p:sp>
      <p:pic>
        <p:nvPicPr>
          <p:cNvPr id="22" name="Imagen 21">
            <a:extLst>
              <a:ext uri="{FF2B5EF4-FFF2-40B4-BE49-F238E27FC236}">
                <a16:creationId xmlns:a16="http://schemas.microsoft.com/office/drawing/2014/main" id="{28F1C9DD-7126-1E06-BEE2-DCB14E68E4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2894699" y="931460"/>
            <a:ext cx="1909082" cy="1645474"/>
          </a:xfrm>
          <a:prstGeom prst="rect">
            <a:avLst/>
          </a:prstGeom>
          <a:noFill/>
          <a:ln>
            <a:noFill/>
          </a:ln>
        </p:spPr>
        <p:txBody>
          <a:bodyPr vert="horz" wrap="square" lIns="0" tIns="0" rIns="0" bIns="0" rtlCol="0" anchor="b"/>
          <a:lstStyle/>
          <a:p>
            <a:pPr algn="l"/>
            <a:r>
              <a:rPr kumimoji="1" lang="en-US" altLang="zh-CN" sz="6600">
                <a:ln w="12700">
                  <a:noFill/>
                </a:ln>
                <a:gradFill>
                  <a:gsLst>
                    <a:gs pos="0">
                      <a:schemeClr val="accent1">
                        <a:lumMod val="75000"/>
                      </a:schemeClr>
                    </a:gs>
                    <a:gs pos="87000">
                      <a:schemeClr val="accent1">
                        <a:lumMod val="20000"/>
                        <a:lumOff val="80000"/>
                        <a:alpha val="0"/>
                      </a:schemeClr>
                    </a:gs>
                  </a:gsLst>
                  <a:lin ang="5400000" scaled="0"/>
                </a:gradFill>
                <a:latin typeface="poppins-bold"/>
                <a:ea typeface="poppins-bold"/>
                <a:cs typeface="poppins-bold"/>
              </a:rPr>
              <a:t>01</a:t>
            </a:r>
            <a:endParaRPr kumimoji="1" lang="zh-CN" altLang="en-US"/>
          </a:p>
        </p:txBody>
      </p:sp>
      <p:sp>
        <p:nvSpPr>
          <p:cNvPr id="4" name="标题 1"/>
          <p:cNvSpPr txBox="1"/>
          <p:nvPr/>
        </p:nvSpPr>
        <p:spPr>
          <a:xfrm>
            <a:off x="2802579" y="1866737"/>
            <a:ext cx="4002405" cy="2106708"/>
          </a:xfrm>
          <a:prstGeom prst="rightArrow">
            <a:avLst>
              <a:gd name="adj1" fmla="val 49947"/>
              <a:gd name="adj2" fmla="val 41174"/>
            </a:avLst>
          </a:prstGeom>
          <a:solidFill>
            <a:schemeClr val="accent1">
              <a:lumMod val="75000"/>
            </a:schemeClr>
          </a:solidFill>
          <a:ln w="12700" cap="sq">
            <a:noFill/>
            <a:miter/>
          </a:ln>
        </p:spPr>
        <p:txBody>
          <a:bodyPr vert="horz" wrap="square" lIns="0" tIns="0" rIns="0" bIns="0" rtlCol="0" anchor="ctr"/>
          <a:lstStyle/>
          <a:p>
            <a:pPr algn="ctr"/>
            <a:endParaRPr kumimoji="1" lang="zh-CN" altLang="en-US"/>
          </a:p>
        </p:txBody>
      </p:sp>
      <p:sp>
        <p:nvSpPr>
          <p:cNvPr id="5" name="标题 1"/>
          <p:cNvSpPr txBox="1"/>
          <p:nvPr/>
        </p:nvSpPr>
        <p:spPr>
          <a:xfrm>
            <a:off x="2805055" y="2964178"/>
            <a:ext cx="50291" cy="3578136"/>
          </a:xfrm>
          <a:prstGeom prst="rect">
            <a:avLst/>
          </a:prstGeom>
          <a:solidFill>
            <a:schemeClr val="accent1">
              <a:lumMod val="75000"/>
            </a:schemeClr>
          </a:solidFill>
          <a:ln w="12700" cap="sq">
            <a:noFill/>
            <a:miter/>
          </a:ln>
        </p:spPr>
        <p:txBody>
          <a:bodyPr vert="horz" wrap="square" lIns="0" tIns="0" rIns="0" bIns="0" rtlCol="0" anchor="ctr"/>
          <a:lstStyle/>
          <a:p>
            <a:pPr algn="ctr"/>
            <a:endParaRPr kumimoji="1" lang="zh-CN" altLang="en-US"/>
          </a:p>
        </p:txBody>
      </p:sp>
      <p:sp>
        <p:nvSpPr>
          <p:cNvPr id="6" name="标题 1"/>
          <p:cNvSpPr txBox="1"/>
          <p:nvPr/>
        </p:nvSpPr>
        <p:spPr>
          <a:xfrm>
            <a:off x="3035464" y="2510421"/>
            <a:ext cx="2624937" cy="79031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Definición</a:t>
            </a:r>
            <a:endParaRPr kumimoji="1" lang="zh-CN" altLang="en-US"/>
          </a:p>
        </p:txBody>
      </p:sp>
      <p:sp>
        <p:nvSpPr>
          <p:cNvPr id="7" name="标题 1"/>
          <p:cNvSpPr txBox="1"/>
          <p:nvPr/>
        </p:nvSpPr>
        <p:spPr>
          <a:xfrm>
            <a:off x="2978544" y="3597575"/>
            <a:ext cx="2903929" cy="2106708"/>
          </a:xfrm>
          <a:prstGeom prst="rect">
            <a:avLst/>
          </a:prstGeom>
          <a:noFill/>
          <a:ln>
            <a:noFill/>
          </a:ln>
        </p:spPr>
        <p:txBody>
          <a:bodyPr vert="horz" wrap="square" lIns="0" tIns="0" rIns="0" bIns="0" rtlCol="0" anchor="t"/>
          <a:lstStyle/>
          <a:p>
            <a:pPr algn="l"/>
            <a:r>
              <a:rPr kumimoji="1" lang="en-US" altLang="zh-CN" sz="1750">
                <a:ln w="12700">
                  <a:noFill/>
                </a:ln>
                <a:solidFill>
                  <a:srgbClr val="262626">
                    <a:alpha val="100000"/>
                  </a:srgbClr>
                </a:solidFill>
                <a:latin typeface="Poppins"/>
                <a:ea typeface="Poppins"/>
                <a:cs typeface="Poppins"/>
              </a:rPr>
              <a:t>Mide la huella de carbono del centro de cómputo.</a:t>
            </a:r>
            <a:endParaRPr kumimoji="1" lang="zh-CN" altLang="en-US"/>
          </a:p>
        </p:txBody>
      </p:sp>
      <p:sp>
        <p:nvSpPr>
          <p:cNvPr id="10" name="标题 1"/>
          <p:cNvSpPr txBox="1"/>
          <p:nvPr/>
        </p:nvSpPr>
        <p:spPr>
          <a:xfrm>
            <a:off x="153201" y="3987199"/>
            <a:ext cx="2075004" cy="1092200"/>
          </a:xfrm>
          <a:prstGeom prst="rightArrow">
            <a:avLst>
              <a:gd name="adj1" fmla="val 49947"/>
              <a:gd name="adj2" fmla="val 41174"/>
            </a:avLst>
          </a:prstGeom>
          <a:solidFill>
            <a:schemeClr val="accent1">
              <a:lumMod val="20000"/>
              <a:lumOff val="80000"/>
            </a:schemeClr>
          </a:solidFill>
          <a:ln w="12700" cap="sq">
            <a:noFill/>
            <a:miter/>
          </a:ln>
        </p:spPr>
        <p:txBody>
          <a:bodyPr vert="horz" wrap="square" lIns="0" tIns="0" rIns="0" bIns="0" rtlCol="0" anchor="ctr"/>
          <a:lstStyle/>
          <a:p>
            <a:pPr algn="ctr"/>
            <a:endParaRPr kumimoji="1" lang="zh-CN" altLang="en-US"/>
          </a:p>
        </p:txBody>
      </p:sp>
      <p:sp>
        <p:nvSpPr>
          <p:cNvPr id="13"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Eficacia en el Uso del Carbono (CUE)</a:t>
            </a:r>
            <a:endParaRPr kumimoji="1" lang="zh-CN" altLang="en-US"/>
          </a:p>
        </p:txBody>
      </p:sp>
      <p:sp>
        <p:nvSpPr>
          <p:cNvPr id="18" name="CuadroTexto 17">
            <a:extLst>
              <a:ext uri="{FF2B5EF4-FFF2-40B4-BE49-F238E27FC236}">
                <a16:creationId xmlns:a16="http://schemas.microsoft.com/office/drawing/2014/main" id="{AF757CD5-14A9-84E9-E219-231783BC9ADC}"/>
              </a:ext>
            </a:extLst>
          </p:cNvPr>
          <p:cNvSpPr txBox="1"/>
          <p:nvPr/>
        </p:nvSpPr>
        <p:spPr>
          <a:xfrm>
            <a:off x="6797475" y="1608328"/>
            <a:ext cx="5139043" cy="2862322"/>
          </a:xfrm>
          <a:prstGeom prst="rect">
            <a:avLst/>
          </a:prstGeom>
          <a:noFill/>
        </p:spPr>
        <p:txBody>
          <a:bodyPr wrap="square">
            <a:spAutoFit/>
          </a:bodyPr>
          <a:lstStyle/>
          <a:p>
            <a:pPr>
              <a:buNone/>
            </a:pPr>
            <a:r>
              <a:rPr lang="es-ES" dirty="0"/>
              <a:t>A diferencia del PUE, que solo mide la </a:t>
            </a:r>
            <a:r>
              <a:rPr lang="es-ES" i="1" dirty="0"/>
              <a:t>eficiencia energética</a:t>
            </a:r>
            <a:r>
              <a:rPr lang="es-ES" dirty="0"/>
              <a:t>, el CUE mide la </a:t>
            </a:r>
            <a:r>
              <a:rPr lang="es-ES" b="1" dirty="0"/>
              <a:t>eficiencia del carbono</a:t>
            </a:r>
            <a:r>
              <a:rPr lang="es-ES" dirty="0"/>
              <a:t>. Es decir, cuántas emisiones de dióxido de carbono (CO₂) se liberan por cada unidad de energía que consume el equipamiento de TI.</a:t>
            </a:r>
          </a:p>
          <a:p>
            <a:pPr>
              <a:buNone/>
            </a:pPr>
            <a:r>
              <a:rPr lang="es-ES" dirty="0"/>
              <a:t>El objetivo del CUE es tener un número </a:t>
            </a:r>
            <a:r>
              <a:rPr lang="es-ES" b="1" dirty="0"/>
              <a:t>lo más bajo posible</a:t>
            </a:r>
            <a:r>
              <a:rPr lang="es-ES" dirty="0"/>
              <a:t>. Un CUE ideal sería de </a:t>
            </a:r>
            <a:r>
              <a:rPr lang="es-ES" b="1" dirty="0"/>
              <a:t>0.0</a:t>
            </a:r>
            <a:r>
              <a:rPr lang="es-ES" dirty="0"/>
              <a:t>, lo que representaría un centro de cómputo con cero emisiones de carbono (totalmente neutro en carbono).</a:t>
            </a:r>
          </a:p>
        </p:txBody>
      </p:sp>
      <p:pic>
        <p:nvPicPr>
          <p:cNvPr id="9" name="Imagen 8">
            <a:extLst>
              <a:ext uri="{FF2B5EF4-FFF2-40B4-BE49-F238E27FC236}">
                <a16:creationId xmlns:a16="http://schemas.microsoft.com/office/drawing/2014/main" id="{40359707-6C79-E3F2-0FEE-AFF4FA010D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03</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Utilización de Recursos de TI</a:t>
            </a:r>
            <a:endParaRPr kumimoji="1" lang="zh-CN" altLang="en-US"/>
          </a:p>
        </p:txBody>
      </p:sp>
      <p:pic>
        <p:nvPicPr>
          <p:cNvPr id="2" name="Imagen 1">
            <a:extLst>
              <a:ext uri="{FF2B5EF4-FFF2-40B4-BE49-F238E27FC236}">
                <a16:creationId xmlns:a16="http://schemas.microsoft.com/office/drawing/2014/main" id="{9B30000B-3A48-D349-D36B-902459355D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57447" t="4870" r="6517" b="7349"/>
          <a:stretch>
            <a:fillRect/>
          </a:stretch>
        </p:blipFill>
        <p:spPr>
          <a:xfrm>
            <a:off x="7879744" y="1130301"/>
            <a:ext cx="3651857" cy="5003799"/>
          </a:xfrm>
          <a:custGeom>
            <a:avLst/>
            <a:gdLst/>
            <a:ahLst/>
            <a:cxnLst/>
            <a:rect l="l" t="t" r="r" b="b"/>
            <a:pathLst>
              <a:path w="3651857" h="5003799">
                <a:moveTo>
                  <a:pt x="0" y="0"/>
                </a:moveTo>
                <a:lnTo>
                  <a:pt x="3651857" y="0"/>
                </a:lnTo>
                <a:lnTo>
                  <a:pt x="3651857" y="5003799"/>
                </a:lnTo>
                <a:lnTo>
                  <a:pt x="0" y="5003799"/>
                </a:lnTo>
                <a:lnTo>
                  <a:pt x="0" y="0"/>
                </a:lnTo>
                <a:close/>
              </a:path>
            </a:pathLst>
          </a:custGeom>
          <a:noFill/>
          <a:ln>
            <a:noFill/>
          </a:ln>
        </p:spPr>
      </p:pic>
      <p:sp>
        <p:nvSpPr>
          <p:cNvPr id="3" name="标题 1"/>
          <p:cNvSpPr txBox="1"/>
          <p:nvPr/>
        </p:nvSpPr>
        <p:spPr>
          <a:xfrm>
            <a:off x="660400" y="2259957"/>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732400" y="2457957"/>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01</a:t>
            </a:r>
            <a:endParaRPr kumimoji="1" lang="zh-CN" altLang="en-US"/>
          </a:p>
        </p:txBody>
      </p:sp>
      <p:sp>
        <p:nvSpPr>
          <p:cNvPr id="5" name="标题 1"/>
          <p:cNvSpPr txBox="1"/>
          <p:nvPr/>
        </p:nvSpPr>
        <p:spPr>
          <a:xfrm>
            <a:off x="1527551" y="2259957"/>
            <a:ext cx="5868000" cy="1080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Porcentaje de capacidad de procesamiento y memoria que se utiliza.</a:t>
            </a:r>
            <a:endParaRPr kumimoji="1" lang="zh-CN" altLang="en-US"/>
          </a:p>
        </p:txBody>
      </p:sp>
      <p:sp>
        <p:nvSpPr>
          <p:cNvPr id="6" name="标题 1"/>
          <p:cNvSpPr txBox="1"/>
          <p:nvPr/>
        </p:nvSpPr>
        <p:spPr>
          <a:xfrm>
            <a:off x="660400" y="3635341"/>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732400" y="3833341"/>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02</a:t>
            </a:r>
            <a:endParaRPr kumimoji="1" lang="zh-CN" altLang="en-US"/>
          </a:p>
        </p:txBody>
      </p:sp>
      <p:sp>
        <p:nvSpPr>
          <p:cNvPr id="8" name="标题 1"/>
          <p:cNvSpPr txBox="1"/>
          <p:nvPr/>
        </p:nvSpPr>
        <p:spPr>
          <a:xfrm>
            <a:off x="1527551" y="3635341"/>
            <a:ext cx="5868000" cy="1080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Una utilización demasiado baja (ej. 10%) indica desperdicio de capital (servidores inactivos).</a:t>
            </a:r>
            <a:endParaRPr kumimoji="1" lang="zh-CN" altLang="en-US"/>
          </a:p>
        </p:txBody>
      </p:sp>
      <p:sp>
        <p:nvSpPr>
          <p:cNvPr id="9" name="标题 1"/>
          <p:cNvSpPr txBox="1"/>
          <p:nvPr/>
        </p:nvSpPr>
        <p:spPr>
          <a:xfrm>
            <a:off x="660401" y="1130300"/>
            <a:ext cx="6735150" cy="808990"/>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Medición y Objetivo</a:t>
            </a:r>
            <a:endParaRPr kumimoji="1" lang="zh-CN" altLang="en-US"/>
          </a:p>
        </p:txBody>
      </p:sp>
      <p:sp>
        <p:nvSpPr>
          <p:cNvPr id="10" name="标题 1"/>
          <p:cNvSpPr txBox="1"/>
          <p:nvPr/>
        </p:nvSpPr>
        <p:spPr>
          <a:xfrm>
            <a:off x="660400" y="5010724"/>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732400" y="5208724"/>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03</a:t>
            </a:r>
            <a:endParaRPr kumimoji="1" lang="zh-CN" altLang="en-US"/>
          </a:p>
        </p:txBody>
      </p:sp>
      <p:sp>
        <p:nvSpPr>
          <p:cNvPr id="12" name="标题 1"/>
          <p:cNvSpPr txBox="1"/>
          <p:nvPr/>
        </p:nvSpPr>
        <p:spPr>
          <a:xfrm>
            <a:off x="1527551" y="5010724"/>
            <a:ext cx="5868000" cy="1080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Una utilización demasiado alta (ej. 95% constante) indica riesgo de cuellos de botella y lentitud.</a:t>
            </a:r>
            <a:endParaRPr kumimoji="1" lang="zh-CN" altLang="en-US"/>
          </a:p>
        </p:txBody>
      </p:sp>
      <p:sp>
        <p:nvSpPr>
          <p:cNvPr id="13"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Utilización de CPU y Memoria</a:t>
            </a:r>
            <a:endParaRPr kumimoji="1" lang="zh-CN" altLang="en-US"/>
          </a:p>
        </p:txBody>
      </p:sp>
      <p:sp>
        <p:nvSpPr>
          <p:cNvPr id="16"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6681468" y="888522"/>
            <a:ext cx="5453148" cy="5453148"/>
          </a:xfrm>
          <a:prstGeom prst="arc">
            <a:avLst>
              <a:gd name="adj1" fmla="val 18633812"/>
              <a:gd name="adj2" fmla="val 3033281"/>
            </a:avLst>
          </a:prstGeom>
          <a:noFill/>
          <a:ln w="6350" cap="sq">
            <a:solidFill>
              <a:schemeClr val="bg1">
                <a:lumMod val="75000"/>
              </a:schemeClr>
            </a:solidFill>
            <a:miter/>
            <a:headEnd type="oval"/>
            <a:tailEnd type="oval"/>
          </a:ln>
        </p:spPr>
        <p:txBody>
          <a:bodyPr vert="horz" wrap="square" lIns="91440" tIns="45720" rIns="91440" bIns="45720" rtlCol="0" anchor="ctr"/>
          <a:lstStyle/>
          <a:p>
            <a:pPr algn="ctr"/>
            <a:endParaRPr kumimoji="1" lang="zh-CN" altLang="en-US"/>
          </a:p>
        </p:txBody>
      </p:sp>
      <p:sp>
        <p:nvSpPr>
          <p:cNvPr id="3" name="标题 1"/>
          <p:cNvSpPr txBox="1"/>
          <p:nvPr/>
        </p:nvSpPr>
        <p:spPr>
          <a:xfrm flipH="1">
            <a:off x="915981" y="1805486"/>
            <a:ext cx="5472000" cy="1733487"/>
          </a:xfrm>
          <a:prstGeom prst="roundRect">
            <a:avLst>
              <a:gd name="adj" fmla="val 50000"/>
            </a:avLst>
          </a:prstGeom>
          <a:solidFill>
            <a:schemeClr val="bg1">
              <a:lumMod val="95000"/>
            </a:schemeClr>
          </a:solidFill>
          <a:ln w="57150" cap="rnd">
            <a:noFill/>
            <a:round/>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5464899" y="2312228"/>
            <a:ext cx="720000" cy="720000"/>
          </a:xfrm>
          <a:prstGeom prst="ellipse">
            <a:avLst/>
          </a:prstGeom>
          <a:gradFill>
            <a:gsLst>
              <a:gs pos="0">
                <a:schemeClr val="accent1">
                  <a:lumMod val="60000"/>
                  <a:lumOff val="40000"/>
                  <a:alpha val="100000"/>
                </a:schemeClr>
              </a:gs>
              <a:gs pos="100000">
                <a:schemeClr val="accent1">
                  <a:alpha val="100000"/>
                </a:schemeClr>
              </a:gs>
            </a:gsLst>
            <a:lin ang="2700000" scaled="0"/>
          </a:gradFill>
          <a:ln w="57150" cap="rnd">
            <a:noFill/>
            <a:round/>
          </a:ln>
          <a:effectLst>
            <a:outerShdw blurRad="254000" dist="127000" dir="5400000" algn="t" rotWithShape="0">
              <a:schemeClr val="tx1">
                <a:lumMod val="65000"/>
                <a:lumOff val="35000"/>
                <a:alpha val="30000"/>
              </a:schemeClr>
            </a:outerShdw>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1345628" y="2138829"/>
            <a:ext cx="3848100" cy="266700"/>
          </a:xfrm>
          <a:prstGeom prst="rect">
            <a:avLst/>
          </a:prstGeom>
          <a:noFill/>
          <a:ln>
            <a:noFill/>
          </a:ln>
        </p:spPr>
        <p:txBody>
          <a:bodyPr vert="horz" wrap="square" lIns="0" tIns="0" rIns="0" bIns="0" rtlCol="0" anchor="ctr">
            <a:spAutoFit/>
          </a:bodyPr>
          <a:lstStyle/>
          <a:p>
            <a:pPr algn="l"/>
            <a:r>
              <a:rPr kumimoji="1" lang="en-US" altLang="zh-CN" sz="1386">
                <a:ln w="12700">
                  <a:noFill/>
                </a:ln>
                <a:solidFill>
                  <a:srgbClr val="595959">
                    <a:alpha val="100000"/>
                  </a:srgbClr>
                </a:solidFill>
                <a:latin typeface="Poppins"/>
                <a:ea typeface="Poppins"/>
                <a:cs typeface="Poppins"/>
              </a:rPr>
              <a:t>Cuánto espacio de disco se está utilizando.</a:t>
            </a:r>
            <a:endParaRPr kumimoji="1" lang="zh-CN" altLang="en-US"/>
          </a:p>
        </p:txBody>
      </p:sp>
      <p:sp>
        <p:nvSpPr>
          <p:cNvPr id="6" name="标题 1"/>
          <p:cNvSpPr txBox="1"/>
          <p:nvPr/>
        </p:nvSpPr>
        <p:spPr>
          <a:xfrm>
            <a:off x="5644897" y="2492229"/>
            <a:ext cx="360004" cy="360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9525"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flipH="1">
            <a:off x="915981" y="3725428"/>
            <a:ext cx="5472000" cy="1733487"/>
          </a:xfrm>
          <a:prstGeom prst="roundRect">
            <a:avLst>
              <a:gd name="adj" fmla="val 50000"/>
            </a:avLst>
          </a:prstGeom>
          <a:solidFill>
            <a:schemeClr val="bg1">
              <a:lumMod val="95000"/>
            </a:schemeClr>
          </a:solidFill>
          <a:ln w="57150" cap="rnd">
            <a:noFill/>
            <a:round/>
          </a:ln>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5464899" y="4232170"/>
            <a:ext cx="720000" cy="720000"/>
          </a:xfrm>
          <a:prstGeom prst="ellipse">
            <a:avLst/>
          </a:prstGeom>
          <a:gradFill>
            <a:gsLst>
              <a:gs pos="0">
                <a:schemeClr val="accent1">
                  <a:lumMod val="60000"/>
                  <a:lumOff val="40000"/>
                  <a:alpha val="100000"/>
                </a:schemeClr>
              </a:gs>
              <a:gs pos="100000">
                <a:schemeClr val="accent1">
                  <a:alpha val="100000"/>
                </a:schemeClr>
              </a:gs>
            </a:gsLst>
            <a:lin ang="2700000" scaled="0"/>
          </a:gradFill>
          <a:ln w="57150" cap="rnd">
            <a:noFill/>
            <a:round/>
          </a:ln>
          <a:effectLst>
            <a:outerShdw blurRad="254000" dist="127000" dir="5400000" algn="t" rotWithShape="0">
              <a:schemeClr val="tx1">
                <a:lumMod val="65000"/>
                <a:lumOff val="35000"/>
                <a:alpha val="30000"/>
              </a:scheme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1345628" y="4058771"/>
            <a:ext cx="3848100" cy="203200"/>
          </a:xfrm>
          <a:prstGeom prst="rect">
            <a:avLst/>
          </a:prstGeom>
          <a:noFill/>
          <a:ln>
            <a:noFill/>
          </a:ln>
        </p:spPr>
        <p:txBody>
          <a:bodyPr vert="horz" wrap="square" lIns="0" tIns="0" rIns="0" bIns="0" rtlCol="0" anchor="ctr">
            <a:spAutoFit/>
          </a:bodyPr>
          <a:lstStyle/>
          <a:p>
            <a:pPr algn="l"/>
            <a:r>
              <a:rPr kumimoji="1" lang="en-US" altLang="zh-CN" sz="1058">
                <a:ln w="12700">
                  <a:noFill/>
                </a:ln>
                <a:solidFill>
                  <a:srgbClr val="595959">
                    <a:alpha val="100000"/>
                  </a:srgbClr>
                </a:solidFill>
                <a:latin typeface="Poppins"/>
                <a:ea typeface="Poppins"/>
                <a:cs typeface="Poppins"/>
              </a:rPr>
              <a:t>Tasa de crecimientocuándo se necesitará comprar más.</a:t>
            </a:r>
            <a:endParaRPr kumimoji="1" lang="zh-CN" altLang="en-US"/>
          </a:p>
        </p:txBody>
      </p:sp>
      <p:sp>
        <p:nvSpPr>
          <p:cNvPr id="10" name="标题 1"/>
          <p:cNvSpPr txBox="1"/>
          <p:nvPr/>
        </p:nvSpPr>
        <p:spPr>
          <a:xfrm>
            <a:off x="5644899" y="4443286"/>
            <a:ext cx="360000" cy="297770"/>
          </a:xfrm>
          <a:custGeom>
            <a:avLst/>
            <a:gdLst>
              <a:gd name="connsiteX0" fmla="*/ 153878 w 870468"/>
              <a:gd name="connsiteY0" fmla="*/ 353026 h 720000"/>
              <a:gd name="connsiteX1" fmla="*/ 449972 w 870468"/>
              <a:gd name="connsiteY1" fmla="*/ 353026 h 720000"/>
              <a:gd name="connsiteX2" fmla="*/ 489985 w 870468"/>
              <a:gd name="connsiteY2" fmla="*/ 393039 h 720000"/>
              <a:gd name="connsiteX3" fmla="*/ 449972 w 870468"/>
              <a:gd name="connsiteY3" fmla="*/ 433051 h 720000"/>
              <a:gd name="connsiteX4" fmla="*/ 153878 w 870468"/>
              <a:gd name="connsiteY4" fmla="*/ 433051 h 720000"/>
              <a:gd name="connsiteX5" fmla="*/ 113865 w 870468"/>
              <a:gd name="connsiteY5" fmla="*/ 393039 h 720000"/>
              <a:gd name="connsiteX6" fmla="*/ 153878 w 870468"/>
              <a:gd name="connsiteY6" fmla="*/ 353026 h 720000"/>
              <a:gd name="connsiteX7" fmla="*/ 68708 w 870468"/>
              <a:gd name="connsiteY7" fmla="*/ 275858 h 720000"/>
              <a:gd name="connsiteX8" fmla="*/ 68708 w 870468"/>
              <a:gd name="connsiteY8" fmla="*/ 603735 h 720000"/>
              <a:gd name="connsiteX9" fmla="*/ 116266 w 870468"/>
              <a:gd name="connsiteY9" fmla="*/ 651293 h 720000"/>
              <a:gd name="connsiteX10" fmla="*/ 598821 w 870468"/>
              <a:gd name="connsiteY10" fmla="*/ 651293 h 720000"/>
              <a:gd name="connsiteX11" fmla="*/ 754317 w 870468"/>
              <a:gd name="connsiteY11" fmla="*/ 651293 h 720000"/>
              <a:gd name="connsiteX12" fmla="*/ 801875 w 870468"/>
              <a:gd name="connsiteY12" fmla="*/ 603735 h 720000"/>
              <a:gd name="connsiteX13" fmla="*/ 801875 w 870468"/>
              <a:gd name="connsiteY13" fmla="*/ 275858 h 720000"/>
              <a:gd name="connsiteX14" fmla="*/ 598821 w 870468"/>
              <a:gd name="connsiteY14" fmla="*/ 275858 h 720000"/>
              <a:gd name="connsiteX15" fmla="*/ 116266 w 870468"/>
              <a:gd name="connsiteY15" fmla="*/ 68593 h 720000"/>
              <a:gd name="connsiteX16" fmla="*/ 68708 w 870468"/>
              <a:gd name="connsiteY16" fmla="*/ 116151 h 720000"/>
              <a:gd name="connsiteX17" fmla="*/ 68708 w 870468"/>
              <a:gd name="connsiteY17" fmla="*/ 207265 h 720000"/>
              <a:gd name="connsiteX18" fmla="*/ 598821 w 870468"/>
              <a:gd name="connsiteY18" fmla="*/ 207265 h 720000"/>
              <a:gd name="connsiteX19" fmla="*/ 801875 w 870468"/>
              <a:gd name="connsiteY19" fmla="*/ 207265 h 720000"/>
              <a:gd name="connsiteX20" fmla="*/ 801875 w 870468"/>
              <a:gd name="connsiteY20" fmla="*/ 116151 h 720000"/>
              <a:gd name="connsiteX21" fmla="*/ 754317 w 870468"/>
              <a:gd name="connsiteY21" fmla="*/ 68593 h 720000"/>
              <a:gd name="connsiteX22" fmla="*/ 598821 w 870468"/>
              <a:gd name="connsiteY22" fmla="*/ 68593 h 720000"/>
              <a:gd name="connsiteX23" fmla="*/ 116266 w 870468"/>
              <a:gd name="connsiteY23" fmla="*/ 0 h 720000"/>
              <a:gd name="connsiteX24" fmla="*/ 598821 w 870468"/>
              <a:gd name="connsiteY24" fmla="*/ 0 h 720000"/>
              <a:gd name="connsiteX25" fmla="*/ 754317 w 870468"/>
              <a:gd name="connsiteY25" fmla="*/ 0 h 720000"/>
              <a:gd name="connsiteX26" fmla="*/ 870468 w 870468"/>
              <a:gd name="connsiteY26" fmla="*/ 116151 h 720000"/>
              <a:gd name="connsiteX27" fmla="*/ 870468 w 870468"/>
              <a:gd name="connsiteY27" fmla="*/ 241562 h 720000"/>
              <a:gd name="connsiteX28" fmla="*/ 870468 w 870468"/>
              <a:gd name="connsiteY28" fmla="*/ 603735 h 720000"/>
              <a:gd name="connsiteX29" fmla="*/ 754317 w 870468"/>
              <a:gd name="connsiteY29" fmla="*/ 720000 h 720000"/>
              <a:gd name="connsiteX30" fmla="*/ 598821 w 870468"/>
              <a:gd name="connsiteY30" fmla="*/ 720000 h 720000"/>
              <a:gd name="connsiteX31" fmla="*/ 116266 w 870468"/>
              <a:gd name="connsiteY31" fmla="*/ 720000 h 720000"/>
              <a:gd name="connsiteX32" fmla="*/ 115 w 870468"/>
              <a:gd name="connsiteY32" fmla="*/ 603849 h 720000"/>
              <a:gd name="connsiteX33" fmla="*/ 115 w 870468"/>
              <a:gd name="connsiteY33" fmla="*/ 241841 h 720000"/>
              <a:gd name="connsiteX34" fmla="*/ 0 w 870468"/>
              <a:gd name="connsiteY34" fmla="*/ 241562 h 720000"/>
              <a:gd name="connsiteX35" fmla="*/ 115 w 870468"/>
              <a:gd name="connsiteY35" fmla="*/ 241284 h 720000"/>
              <a:gd name="connsiteX36" fmla="*/ 115 w 870468"/>
              <a:gd name="connsiteY36" fmla="*/ 116151 h 720000"/>
              <a:gd name="connsiteX37" fmla="*/ 116266 w 870468"/>
              <a:gd name="connsiteY37" fmla="*/ 0 h 720000"/>
            </a:gdLst>
            <a:ahLst/>
            <a:cxnLst/>
            <a:rect l="l" t="t" r="r" b="b"/>
            <a:pathLst>
              <a:path w="870468" h="720000">
                <a:moveTo>
                  <a:pt x="153878" y="353026"/>
                </a:moveTo>
                <a:lnTo>
                  <a:pt x="449972" y="353026"/>
                </a:lnTo>
                <a:cubicBezTo>
                  <a:pt x="472036" y="353026"/>
                  <a:pt x="489985" y="370975"/>
                  <a:pt x="489985" y="393039"/>
                </a:cubicBezTo>
                <a:cubicBezTo>
                  <a:pt x="489985" y="415103"/>
                  <a:pt x="472150" y="433051"/>
                  <a:pt x="449972" y="433051"/>
                </a:cubicBezTo>
                <a:lnTo>
                  <a:pt x="153878" y="433051"/>
                </a:lnTo>
                <a:cubicBezTo>
                  <a:pt x="131814" y="433051"/>
                  <a:pt x="113865" y="415103"/>
                  <a:pt x="113865" y="393039"/>
                </a:cubicBezTo>
                <a:cubicBezTo>
                  <a:pt x="113865" y="370975"/>
                  <a:pt x="131814" y="353026"/>
                  <a:pt x="153878" y="353026"/>
                </a:cubicBezTo>
                <a:close/>
                <a:moveTo>
                  <a:pt x="68708" y="275858"/>
                </a:moveTo>
                <a:lnTo>
                  <a:pt x="68708" y="603735"/>
                </a:lnTo>
                <a:cubicBezTo>
                  <a:pt x="68708" y="630029"/>
                  <a:pt x="90087" y="651293"/>
                  <a:pt x="116266" y="651293"/>
                </a:cubicBezTo>
                <a:lnTo>
                  <a:pt x="598821" y="651293"/>
                </a:lnTo>
                <a:lnTo>
                  <a:pt x="754317" y="651293"/>
                </a:lnTo>
                <a:cubicBezTo>
                  <a:pt x="780611" y="651293"/>
                  <a:pt x="801875" y="629915"/>
                  <a:pt x="801875" y="603735"/>
                </a:cubicBezTo>
                <a:lnTo>
                  <a:pt x="801875" y="275858"/>
                </a:lnTo>
                <a:lnTo>
                  <a:pt x="598821" y="275858"/>
                </a:lnTo>
                <a:close/>
                <a:moveTo>
                  <a:pt x="116266" y="68593"/>
                </a:moveTo>
                <a:cubicBezTo>
                  <a:pt x="89972" y="68593"/>
                  <a:pt x="68708" y="89972"/>
                  <a:pt x="68708" y="116151"/>
                </a:cubicBezTo>
                <a:lnTo>
                  <a:pt x="68708" y="207265"/>
                </a:lnTo>
                <a:lnTo>
                  <a:pt x="598821" y="207265"/>
                </a:lnTo>
                <a:lnTo>
                  <a:pt x="801875" y="207265"/>
                </a:lnTo>
                <a:lnTo>
                  <a:pt x="801875" y="116151"/>
                </a:lnTo>
                <a:cubicBezTo>
                  <a:pt x="801875" y="89857"/>
                  <a:pt x="780497" y="68593"/>
                  <a:pt x="754317" y="68593"/>
                </a:cubicBezTo>
                <a:lnTo>
                  <a:pt x="598821" y="68593"/>
                </a:lnTo>
                <a:close/>
                <a:moveTo>
                  <a:pt x="116266" y="0"/>
                </a:moveTo>
                <a:lnTo>
                  <a:pt x="598821" y="0"/>
                </a:lnTo>
                <a:lnTo>
                  <a:pt x="754317" y="0"/>
                </a:lnTo>
                <a:cubicBezTo>
                  <a:pt x="818338" y="0"/>
                  <a:pt x="870468" y="52131"/>
                  <a:pt x="870468" y="116151"/>
                </a:cubicBezTo>
                <a:lnTo>
                  <a:pt x="870468" y="241562"/>
                </a:lnTo>
                <a:lnTo>
                  <a:pt x="870468" y="603735"/>
                </a:lnTo>
                <a:cubicBezTo>
                  <a:pt x="870468" y="667869"/>
                  <a:pt x="818338" y="720000"/>
                  <a:pt x="754317" y="720000"/>
                </a:cubicBezTo>
                <a:lnTo>
                  <a:pt x="598821" y="720000"/>
                </a:lnTo>
                <a:lnTo>
                  <a:pt x="116266" y="720000"/>
                </a:lnTo>
                <a:cubicBezTo>
                  <a:pt x="52246" y="720000"/>
                  <a:pt x="115" y="667869"/>
                  <a:pt x="115" y="603849"/>
                </a:cubicBezTo>
                <a:lnTo>
                  <a:pt x="115" y="241841"/>
                </a:lnTo>
                <a:lnTo>
                  <a:pt x="0" y="241562"/>
                </a:lnTo>
                <a:lnTo>
                  <a:pt x="115" y="241284"/>
                </a:lnTo>
                <a:lnTo>
                  <a:pt x="115" y="116151"/>
                </a:lnTo>
                <a:cubicBezTo>
                  <a:pt x="115" y="52131"/>
                  <a:pt x="52246" y="0"/>
                  <a:pt x="116266" y="0"/>
                </a:cubicBezTo>
                <a:close/>
              </a:path>
            </a:pathLst>
          </a:custGeom>
          <a:solidFill>
            <a:schemeClr val="bg1"/>
          </a:solidFill>
          <a:ln w="9525"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7179900" y="2278387"/>
            <a:ext cx="4300900" cy="2707626"/>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Medición y Planificación</a:t>
            </a:r>
            <a:endParaRPr kumimoji="1" lang="zh-CN" altLang="en-US"/>
          </a:p>
        </p:txBody>
      </p:sp>
      <p:sp>
        <p:nvSpPr>
          <p:cNvPr id="12"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Utilización del Almacenamiento</a:t>
            </a:r>
            <a:endParaRPr kumimoji="1" lang="zh-CN" altLang="en-US"/>
          </a:p>
        </p:txBody>
      </p:sp>
      <p:sp>
        <p:nvSpPr>
          <p:cNvPr id="15" name="标题 1"/>
          <p:cNvSpPr txBox="1"/>
          <p:nvPr/>
        </p:nvSpPr>
        <p:spPr>
          <a:xfrm flipH="1">
            <a:off x="11148696" y="78250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pic>
        <p:nvPicPr>
          <p:cNvPr id="16" name="Imagen 15">
            <a:extLst>
              <a:ext uri="{FF2B5EF4-FFF2-40B4-BE49-F238E27FC236}">
                <a16:creationId xmlns:a16="http://schemas.microsoft.com/office/drawing/2014/main" id="{BF826D71-A938-871B-0487-3D155BCD43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2209612" y="3311404"/>
            <a:ext cx="5804088" cy="1112158"/>
          </a:xfrm>
          <a:prstGeom prst="rect">
            <a:avLst/>
          </a:prstGeom>
          <a:noFill/>
          <a:ln w="12700" cap="sq">
            <a:noFill/>
            <a:miter/>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El ancho de banda consumido.</a:t>
            </a:r>
            <a:endParaRPr kumimoji="1" lang="zh-CN" altLang="en-US"/>
          </a:p>
        </p:txBody>
      </p:sp>
      <p:sp>
        <p:nvSpPr>
          <p:cNvPr id="4" name="标题 1"/>
          <p:cNvSpPr txBox="1"/>
          <p:nvPr/>
        </p:nvSpPr>
        <p:spPr>
          <a:xfrm>
            <a:off x="1518513" y="3286004"/>
            <a:ext cx="540000" cy="540000"/>
          </a:xfrm>
          <a:prstGeom prst="roundRect">
            <a:avLst>
              <a:gd name="adj" fmla="val 50000"/>
            </a:avLst>
          </a:prstGeom>
          <a:solidFill>
            <a:schemeClr val="accent1"/>
          </a:solidFill>
          <a:ln>
            <a:noFill/>
          </a:ln>
        </p:spPr>
        <p:txBody>
          <a:bodyPr vert="horz" wrap="none" lIns="91440" tIns="45720" rIns="91440" bIns="45720" rtlCol="0" anchor="ctr"/>
          <a:lstStyle/>
          <a:p>
            <a:pPr algn="ctr"/>
            <a:endParaRPr kumimoji="1" lang="zh-CN" altLang="en-US"/>
          </a:p>
        </p:txBody>
      </p:sp>
      <p:sp>
        <p:nvSpPr>
          <p:cNvPr id="5" name="标题 1"/>
          <p:cNvSpPr txBox="1"/>
          <p:nvPr/>
        </p:nvSpPr>
        <p:spPr>
          <a:xfrm>
            <a:off x="2209612" y="4591624"/>
            <a:ext cx="5804088" cy="1201058"/>
          </a:xfrm>
          <a:prstGeom prst="rect">
            <a:avLst/>
          </a:prstGeom>
          <a:noFill/>
          <a:ln w="12700" cap="sq">
            <a:noFill/>
            <a:miter/>
          </a:ln>
        </p:spPr>
        <p:txBody>
          <a:bodyPr vert="horz" wrap="square" lIns="0" tIns="0" rIns="0" bIns="0" rtlCol="0" anchor="t"/>
          <a:lstStyle/>
          <a:p>
            <a:pPr algn="l"/>
            <a:r>
              <a:rPr kumimoji="1" lang="en-US" altLang="zh-CN" sz="1400">
                <a:ln w="12700">
                  <a:noFill/>
                </a:ln>
                <a:solidFill>
                  <a:srgbClr val="000000">
                    <a:alpha val="100000"/>
                  </a:srgbClr>
                </a:solidFill>
                <a:latin typeface="Poppins"/>
                <a:ea typeface="Poppins"/>
                <a:cs typeface="Poppins"/>
              </a:rPr>
              <a:t>Ayuda a planificar la capacidad y detectar tráfico anómalo.</a:t>
            </a:r>
            <a:endParaRPr kumimoji="1" lang="zh-CN" altLang="en-US"/>
          </a:p>
        </p:txBody>
      </p:sp>
      <p:sp>
        <p:nvSpPr>
          <p:cNvPr id="6" name="标题 1"/>
          <p:cNvSpPr txBox="1"/>
          <p:nvPr/>
        </p:nvSpPr>
        <p:spPr>
          <a:xfrm>
            <a:off x="1518513" y="4566224"/>
            <a:ext cx="540000" cy="540000"/>
          </a:xfrm>
          <a:prstGeom prst="roundRect">
            <a:avLst>
              <a:gd name="adj" fmla="val 50000"/>
            </a:avLst>
          </a:prstGeom>
          <a:solidFill>
            <a:schemeClr val="accent1"/>
          </a:solidFill>
          <a:ln>
            <a:noFill/>
          </a:ln>
        </p:spPr>
        <p:txBody>
          <a:bodyPr vert="horz" wrap="none" lIns="91440" tIns="45720" rIns="91440" bIns="45720" rtlCol="0" anchor="ctr"/>
          <a:lstStyle/>
          <a:p>
            <a:pPr algn="ctr"/>
            <a:endParaRPr kumimoji="1" lang="zh-CN" altLang="en-US"/>
          </a:p>
        </p:txBody>
      </p:sp>
      <p:sp>
        <p:nvSpPr>
          <p:cNvPr id="7" name="标题 1"/>
          <p:cNvSpPr txBox="1"/>
          <p:nvPr/>
        </p:nvSpPr>
        <p:spPr>
          <a:xfrm>
            <a:off x="1520905" y="1424227"/>
            <a:ext cx="6493487" cy="1574238"/>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Medición y Planificación</a:t>
            </a:r>
            <a:endParaRPr kumimoji="1" lang="zh-CN" altLang="en-US"/>
          </a:p>
        </p:txBody>
      </p:sp>
      <p:sp>
        <p:nvSpPr>
          <p:cNvPr id="8" name="标题 1"/>
          <p:cNvSpPr txBox="1"/>
          <p:nvPr/>
        </p:nvSpPr>
        <p:spPr>
          <a:xfrm>
            <a:off x="843277" y="1366139"/>
            <a:ext cx="476250" cy="37795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1"/>
          </a:solidFill>
          <a:ln w="6055"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1447612" y="3374904"/>
            <a:ext cx="685988" cy="350158"/>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01</a:t>
            </a:r>
            <a:endParaRPr kumimoji="1" lang="zh-CN" altLang="en-US"/>
          </a:p>
        </p:txBody>
      </p:sp>
      <p:sp>
        <p:nvSpPr>
          <p:cNvPr id="11" name="标题 1"/>
          <p:cNvSpPr txBox="1"/>
          <p:nvPr/>
        </p:nvSpPr>
        <p:spPr>
          <a:xfrm>
            <a:off x="1447612" y="4657604"/>
            <a:ext cx="685988" cy="350158"/>
          </a:xfrm>
          <a:prstGeom prst="rect">
            <a:avLst/>
          </a:prstGeom>
          <a:noFill/>
          <a:ln w="12700" cap="sq">
            <a:noFill/>
            <a:miter/>
          </a:ln>
        </p:spPr>
        <p:txBody>
          <a:bodyPr vert="horz" wrap="square" lIns="0" tIns="0" rIns="0" bIns="0" rtlCol="0" anchor="ctr"/>
          <a:lstStyle/>
          <a:p>
            <a:pPr algn="ctr"/>
            <a:r>
              <a:rPr kumimoji="1" lang="en-US" altLang="zh-CN" sz="1800">
                <a:ln w="12700">
                  <a:noFill/>
                </a:ln>
                <a:solidFill>
                  <a:srgbClr val="FFFFFF">
                    <a:alpha val="100000"/>
                  </a:srgbClr>
                </a:solidFill>
                <a:latin typeface="poppins-bold"/>
                <a:ea typeface="poppins-bold"/>
                <a:cs typeface="poppins-bold"/>
              </a:rPr>
              <a:t>02</a:t>
            </a:r>
            <a:endParaRPr kumimoji="1" lang="zh-CN" altLang="en-US"/>
          </a:p>
        </p:txBody>
      </p:sp>
      <p:sp>
        <p:nvSpPr>
          <p:cNvPr id="13"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Utilización de la Red</a:t>
            </a:r>
            <a:endParaRPr kumimoji="1" lang="zh-CN" altLang="en-US"/>
          </a:p>
        </p:txBody>
      </p:sp>
      <p:pic>
        <p:nvPicPr>
          <p:cNvPr id="17" name="Imagen 16">
            <a:extLst>
              <a:ext uri="{FF2B5EF4-FFF2-40B4-BE49-F238E27FC236}">
                <a16:creationId xmlns:a16="http://schemas.microsoft.com/office/drawing/2014/main" id="{8962EEB5-3FFB-C8EC-5F83-7D607C36EA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5537200" y="2584037"/>
            <a:ext cx="5203029" cy="531018"/>
          </a:xfrm>
          <a:custGeom>
            <a:avLst/>
            <a:gdLst>
              <a:gd name="connsiteX0" fmla="*/ 3412998 w 3429190"/>
              <a:gd name="connsiteY0" fmla="*/ 0 h 531018"/>
              <a:gd name="connsiteX1" fmla="*/ 3062859 w 3429190"/>
              <a:gd name="connsiteY1" fmla="*/ 331280 h 531018"/>
              <a:gd name="connsiteX2" fmla="*/ 2359533 w 3429190"/>
              <a:gd name="connsiteY2" fmla="*/ 512064 h 531018"/>
              <a:gd name="connsiteX3" fmla="*/ 0 w 3429190"/>
              <a:gd name="connsiteY3" fmla="*/ 512064 h 531018"/>
              <a:gd name="connsiteX4" fmla="*/ 381 w 3429190"/>
              <a:gd name="connsiteY4" fmla="*/ 519112 h 531018"/>
              <a:gd name="connsiteX5" fmla="*/ 1238 w 3429190"/>
              <a:gd name="connsiteY5" fmla="*/ 531019 h 531018"/>
              <a:gd name="connsiteX6" fmla="*/ 2359438 w 3429190"/>
              <a:gd name="connsiteY6" fmla="*/ 531019 h 531018"/>
              <a:gd name="connsiteX7" fmla="*/ 3072194 w 3429190"/>
              <a:gd name="connsiteY7" fmla="*/ 347758 h 531018"/>
              <a:gd name="connsiteX8" fmla="*/ 3429191 w 3429190"/>
              <a:gd name="connsiteY8" fmla="*/ 9811 h 531018"/>
              <a:gd name="connsiteX9" fmla="*/ 3412998 w 3429190"/>
              <a:gd name="connsiteY9" fmla="*/ 0 h 531018"/>
            </a:gdLst>
            <a:ahLst/>
            <a:cxnLst/>
            <a:rect l="l" t="t" r="r" b="b"/>
            <a:pathLst>
              <a:path w="3429190" h="531018">
                <a:moveTo>
                  <a:pt x="3412998" y="0"/>
                </a:moveTo>
                <a:cubicBezTo>
                  <a:pt x="3335179" y="129730"/>
                  <a:pt x="3217355" y="241173"/>
                  <a:pt x="3062859" y="331280"/>
                </a:cubicBezTo>
                <a:cubicBezTo>
                  <a:pt x="2859881" y="449580"/>
                  <a:pt x="2616708" y="512064"/>
                  <a:pt x="2359533" y="512064"/>
                </a:cubicBezTo>
                <a:lnTo>
                  <a:pt x="0" y="512064"/>
                </a:lnTo>
                <a:cubicBezTo>
                  <a:pt x="191" y="514445"/>
                  <a:pt x="381" y="516731"/>
                  <a:pt x="381" y="519112"/>
                </a:cubicBezTo>
                <a:cubicBezTo>
                  <a:pt x="953" y="523113"/>
                  <a:pt x="1238" y="527018"/>
                  <a:pt x="1238" y="531019"/>
                </a:cubicBezTo>
                <a:lnTo>
                  <a:pt x="2359438" y="531019"/>
                </a:lnTo>
                <a:cubicBezTo>
                  <a:pt x="2619851" y="531019"/>
                  <a:pt x="2866454" y="467582"/>
                  <a:pt x="3072194" y="347758"/>
                </a:cubicBezTo>
                <a:cubicBezTo>
                  <a:pt x="3229547" y="256032"/>
                  <a:pt x="3349657" y="142303"/>
                  <a:pt x="3429191" y="9811"/>
                </a:cubicBezTo>
                <a:lnTo>
                  <a:pt x="3412998" y="0"/>
                </a:lnTo>
                <a:close/>
              </a:path>
            </a:pathLst>
          </a:custGeom>
          <a:solidFill>
            <a:schemeClr val="accent1"/>
          </a:solidFill>
          <a:ln w="28575"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707753" y="2164061"/>
            <a:ext cx="305938" cy="378832"/>
          </a:xfrm>
          <a:custGeom>
            <a:avLst/>
            <a:gdLst>
              <a:gd name="connsiteX0" fmla="*/ 303938 w 305938"/>
              <a:gd name="connsiteY0" fmla="*/ 316058 h 378832"/>
              <a:gd name="connsiteX1" fmla="*/ 305939 w 305938"/>
              <a:gd name="connsiteY1" fmla="*/ 4876 h 378832"/>
              <a:gd name="connsiteX2" fmla="*/ 299462 w 305938"/>
              <a:gd name="connsiteY2" fmla="*/ 780 h 378832"/>
              <a:gd name="connsiteX3" fmla="*/ 4663 w 305938"/>
              <a:gd name="connsiteY3" fmla="*/ 222618 h 378832"/>
              <a:gd name="connsiteX4" fmla="*/ 8378 w 305938"/>
              <a:gd name="connsiteY4" fmla="*/ 244620 h 378832"/>
              <a:gd name="connsiteX5" fmla="*/ 93055 w 305938"/>
              <a:gd name="connsiteY5" fmla="*/ 269385 h 378832"/>
              <a:gd name="connsiteX6" fmla="*/ 264314 w 305938"/>
              <a:gd name="connsiteY6" fmla="*/ 76123 h 378832"/>
              <a:gd name="connsiteX7" fmla="*/ 127154 w 305938"/>
              <a:gd name="connsiteY7" fmla="*/ 285578 h 378832"/>
              <a:gd name="connsiteX8" fmla="*/ 134679 w 305938"/>
              <a:gd name="connsiteY8" fmla="*/ 367588 h 378832"/>
              <a:gd name="connsiteX9" fmla="*/ 155063 w 305938"/>
              <a:gd name="connsiteY9" fmla="*/ 372160 h 378832"/>
              <a:gd name="connsiteX10" fmla="*/ 186781 w 305938"/>
              <a:gd name="connsiteY10" fmla="*/ 298056 h 378832"/>
              <a:gd name="connsiteX11" fmla="*/ 290984 w 305938"/>
              <a:gd name="connsiteY11" fmla="*/ 327393 h 378832"/>
              <a:gd name="connsiteX12" fmla="*/ 303938 w 305938"/>
              <a:gd name="connsiteY12" fmla="*/ 316058 h 378832"/>
            </a:gdLst>
            <a:ahLst/>
            <a:cxnLst/>
            <a:rect l="l" t="t" r="r" b="b"/>
            <a:pathLst>
              <a:path w="305938" h="378832">
                <a:moveTo>
                  <a:pt x="303938" y="316058"/>
                </a:moveTo>
                <a:lnTo>
                  <a:pt x="305939" y="4876"/>
                </a:lnTo>
                <a:cubicBezTo>
                  <a:pt x="305939" y="1066"/>
                  <a:pt x="302224" y="-1315"/>
                  <a:pt x="299462" y="780"/>
                </a:cubicBezTo>
                <a:lnTo>
                  <a:pt x="4663" y="222618"/>
                </a:lnTo>
                <a:cubicBezTo>
                  <a:pt x="-3052" y="228428"/>
                  <a:pt x="-766" y="241953"/>
                  <a:pt x="8378" y="244620"/>
                </a:cubicBezTo>
                <a:lnTo>
                  <a:pt x="93055" y="269385"/>
                </a:lnTo>
                <a:lnTo>
                  <a:pt x="264314" y="76123"/>
                </a:lnTo>
                <a:lnTo>
                  <a:pt x="127154" y="285578"/>
                </a:lnTo>
                <a:lnTo>
                  <a:pt x="134679" y="367588"/>
                </a:lnTo>
                <a:cubicBezTo>
                  <a:pt x="135822" y="379875"/>
                  <a:pt x="150395" y="383114"/>
                  <a:pt x="155063" y="372160"/>
                </a:cubicBezTo>
                <a:lnTo>
                  <a:pt x="186781" y="298056"/>
                </a:lnTo>
                <a:lnTo>
                  <a:pt x="290984" y="327393"/>
                </a:lnTo>
                <a:cubicBezTo>
                  <a:pt x="297557" y="329393"/>
                  <a:pt x="303843" y="323868"/>
                  <a:pt x="303938" y="31605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04</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Rendimiento del Servicio (Nivel de Servicio)</a:t>
            </a:r>
            <a:endParaRPr kumimoji="1" lang="zh-CN" altLang="en-US"/>
          </a:p>
        </p:txBody>
      </p:sp>
      <p:pic>
        <p:nvPicPr>
          <p:cNvPr id="12" name="Imagen 11">
            <a:extLst>
              <a:ext uri="{FF2B5EF4-FFF2-40B4-BE49-F238E27FC236}">
                <a16:creationId xmlns:a16="http://schemas.microsoft.com/office/drawing/2014/main" id="{50187289-F523-1085-AB8B-EBFE429CDE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4381896"/>
            <a:ext cx="12192000" cy="2411252"/>
          </a:xfrm>
          <a:custGeom>
            <a:avLst/>
            <a:gdLst>
              <a:gd name="connsiteX0" fmla="*/ 10318457 w 12192000"/>
              <a:gd name="connsiteY0" fmla="*/ 535 h 2067243"/>
              <a:gd name="connsiteX1" fmla="*/ 12156431 w 12192000"/>
              <a:gd name="connsiteY1" fmla="*/ 396648 h 2067243"/>
              <a:gd name="connsiteX2" fmla="*/ 12192000 w 12192000"/>
              <a:gd name="connsiteY2" fmla="*/ 406783 h 2067243"/>
              <a:gd name="connsiteX3" fmla="*/ 12192000 w 12192000"/>
              <a:gd name="connsiteY3" fmla="*/ 968592 h 2067243"/>
              <a:gd name="connsiteX4" fmla="*/ 12187171 w 12192000"/>
              <a:gd name="connsiteY4" fmla="*/ 964624 h 2067243"/>
              <a:gd name="connsiteX5" fmla="*/ 10086228 w 12192000"/>
              <a:gd name="connsiteY5" fmla="*/ 635374 h 2067243"/>
              <a:gd name="connsiteX6" fmla="*/ 7713850 w 12192000"/>
              <a:gd name="connsiteY6" fmla="*/ 2042542 h 2067243"/>
              <a:gd name="connsiteX7" fmla="*/ 4561446 w 12192000"/>
              <a:gd name="connsiteY7" fmla="*/ 1561098 h 2067243"/>
              <a:gd name="connsiteX8" fmla="*/ 2628571 w 12192000"/>
              <a:gd name="connsiteY8" fmla="*/ 1937479 h 2067243"/>
              <a:gd name="connsiteX9" fmla="*/ 880755 w 12192000"/>
              <a:gd name="connsiteY9" fmla="*/ 1723559 h 2067243"/>
              <a:gd name="connsiteX10" fmla="*/ 67615 w 12192000"/>
              <a:gd name="connsiteY10" fmla="*/ 1887123 h 2067243"/>
              <a:gd name="connsiteX11" fmla="*/ 0 w 12192000"/>
              <a:gd name="connsiteY11" fmla="*/ 1911682 h 2067243"/>
              <a:gd name="connsiteX12" fmla="*/ 0 w 12192000"/>
              <a:gd name="connsiteY12" fmla="*/ 1697758 h 2067243"/>
              <a:gd name="connsiteX13" fmla="*/ 67615 w 12192000"/>
              <a:gd name="connsiteY13" fmla="*/ 1673199 h 2067243"/>
              <a:gd name="connsiteX14" fmla="*/ 706583 w 12192000"/>
              <a:gd name="connsiteY14" fmla="*/ 1582206 h 2067243"/>
              <a:gd name="connsiteX15" fmla="*/ 2483428 w 12192000"/>
              <a:gd name="connsiteY15" fmla="*/ 1738069 h 2067243"/>
              <a:gd name="connsiteX16" fmla="*/ 4488874 w 12192000"/>
              <a:gd name="connsiteY16" fmla="*/ 1260088 h 2067243"/>
              <a:gd name="connsiteX17" fmla="*/ 7554192 w 12192000"/>
              <a:gd name="connsiteY17" fmla="*/ 1436733 h 2067243"/>
              <a:gd name="connsiteX18" fmla="*/ 10006446 w 12192000"/>
              <a:gd name="connsiteY18" fmla="*/ 33960 h 2067243"/>
              <a:gd name="connsiteX19" fmla="*/ 10318457 w 12192000"/>
              <a:gd name="connsiteY19" fmla="*/ 535 h 2067243"/>
            </a:gdLst>
            <a:ahLst/>
            <a:cxnLst/>
            <a:rect l="l" t="t" r="r" b="b"/>
            <a:pathLst>
              <a:path w="12192000" h="2067243">
                <a:moveTo>
                  <a:pt x="10318457" y="535"/>
                </a:moveTo>
                <a:cubicBezTo>
                  <a:pt x="10962775" y="-13794"/>
                  <a:pt x="11706943" y="262905"/>
                  <a:pt x="12156431" y="396648"/>
                </a:cubicBezTo>
                <a:lnTo>
                  <a:pt x="12192000" y="406783"/>
                </a:lnTo>
                <a:lnTo>
                  <a:pt x="12192000" y="968592"/>
                </a:lnTo>
                <a:lnTo>
                  <a:pt x="12187171" y="964624"/>
                </a:lnTo>
                <a:cubicBezTo>
                  <a:pt x="11688137" y="747530"/>
                  <a:pt x="10839261" y="486271"/>
                  <a:pt x="10086228" y="635374"/>
                </a:cubicBezTo>
                <a:cubicBezTo>
                  <a:pt x="9340960" y="840169"/>
                  <a:pt x="8634647" y="1888255"/>
                  <a:pt x="7713850" y="2042542"/>
                </a:cubicBezTo>
                <a:cubicBezTo>
                  <a:pt x="6793053" y="2196829"/>
                  <a:pt x="5408992" y="1578608"/>
                  <a:pt x="4561446" y="1561098"/>
                </a:cubicBezTo>
                <a:cubicBezTo>
                  <a:pt x="3713900" y="1543588"/>
                  <a:pt x="3242019" y="1910402"/>
                  <a:pt x="2628571" y="1937479"/>
                </a:cubicBezTo>
                <a:cubicBezTo>
                  <a:pt x="2015123" y="1964556"/>
                  <a:pt x="1307581" y="1731952"/>
                  <a:pt x="880755" y="1723559"/>
                </a:cubicBezTo>
                <a:cubicBezTo>
                  <a:pt x="453929" y="1715166"/>
                  <a:pt x="250827" y="1833749"/>
                  <a:pt x="67615" y="1887123"/>
                </a:cubicBezTo>
                <a:lnTo>
                  <a:pt x="0" y="1911682"/>
                </a:lnTo>
                <a:lnTo>
                  <a:pt x="0" y="1697758"/>
                </a:lnTo>
                <a:lnTo>
                  <a:pt x="67615" y="1673199"/>
                </a:lnTo>
                <a:cubicBezTo>
                  <a:pt x="250827" y="1619825"/>
                  <a:pt x="469998" y="1602315"/>
                  <a:pt x="706583" y="1582206"/>
                </a:cubicBezTo>
                <a:cubicBezTo>
                  <a:pt x="1179754" y="1541989"/>
                  <a:pt x="1853046" y="1791755"/>
                  <a:pt x="2483428" y="1738069"/>
                </a:cubicBezTo>
                <a:cubicBezTo>
                  <a:pt x="3113810" y="1684383"/>
                  <a:pt x="3643747" y="1310311"/>
                  <a:pt x="4488874" y="1260088"/>
                </a:cubicBezTo>
                <a:cubicBezTo>
                  <a:pt x="5334002" y="1209865"/>
                  <a:pt x="6634597" y="1641088"/>
                  <a:pt x="7554192" y="1436733"/>
                </a:cubicBezTo>
                <a:cubicBezTo>
                  <a:pt x="8473787" y="1232378"/>
                  <a:pt x="9206346" y="198483"/>
                  <a:pt x="10006446" y="33960"/>
                </a:cubicBezTo>
                <a:cubicBezTo>
                  <a:pt x="10106459" y="13395"/>
                  <a:pt x="10211071" y="2923"/>
                  <a:pt x="10318457" y="535"/>
                </a:cubicBezTo>
                <a:close/>
              </a:path>
            </a:pathLst>
          </a:custGeom>
          <a:gradFill>
            <a:gsLst>
              <a:gs pos="14000">
                <a:schemeClr val="accent1">
                  <a:lumMod val="60000"/>
                  <a:lumOff val="40000"/>
                </a:schemeClr>
              </a:gs>
              <a:gs pos="100000">
                <a:schemeClr val="accent1">
                  <a:lumMod val="75000"/>
                </a:schemeClr>
              </a:gs>
            </a:gsLst>
            <a:lin ang="3600000" scaled="0"/>
          </a:gradFill>
          <a:ln w="12700" cap="sq">
            <a:noFill/>
            <a:miter/>
          </a:ln>
        </p:spPr>
        <p:txBody>
          <a:bodyPr vert="horz" wrap="square" lIns="0" tIns="0" rIns="0" bIns="0" rtlCol="0" anchor="ctr"/>
          <a:lstStyle/>
          <a:p>
            <a:pPr algn="ctr"/>
            <a:endParaRPr kumimoji="1" lang="zh-CN" altLang="en-US"/>
          </a:p>
        </p:txBody>
      </p:sp>
      <p:sp>
        <p:nvSpPr>
          <p:cNvPr id="3" name="标题 1"/>
          <p:cNvSpPr txBox="1"/>
          <p:nvPr/>
        </p:nvSpPr>
        <p:spPr>
          <a:xfrm>
            <a:off x="2894699" y="931460"/>
            <a:ext cx="1909082" cy="1645474"/>
          </a:xfrm>
          <a:prstGeom prst="rect">
            <a:avLst/>
          </a:prstGeom>
          <a:noFill/>
          <a:ln>
            <a:noFill/>
          </a:ln>
        </p:spPr>
        <p:txBody>
          <a:bodyPr vert="horz" wrap="square" lIns="0" tIns="0" rIns="0" bIns="0" rtlCol="0" anchor="b"/>
          <a:lstStyle/>
          <a:p>
            <a:pPr algn="l"/>
            <a:r>
              <a:rPr kumimoji="1" lang="en-US" altLang="zh-CN" sz="6600">
                <a:ln w="12700">
                  <a:noFill/>
                </a:ln>
                <a:gradFill>
                  <a:gsLst>
                    <a:gs pos="0">
                      <a:schemeClr val="accent1">
                        <a:lumMod val="75000"/>
                      </a:schemeClr>
                    </a:gs>
                    <a:gs pos="87000">
                      <a:schemeClr val="accent1">
                        <a:lumMod val="20000"/>
                        <a:lumOff val="80000"/>
                        <a:alpha val="0"/>
                      </a:schemeClr>
                    </a:gs>
                  </a:gsLst>
                  <a:lin ang="5400000" scaled="0"/>
                </a:gradFill>
                <a:latin typeface="poppins-bold"/>
                <a:ea typeface="poppins-bold"/>
                <a:cs typeface="poppins-bold"/>
              </a:rPr>
              <a:t>01</a:t>
            </a:r>
            <a:endParaRPr kumimoji="1" lang="zh-CN" altLang="en-US"/>
          </a:p>
        </p:txBody>
      </p:sp>
      <p:sp>
        <p:nvSpPr>
          <p:cNvPr id="4" name="标题 1"/>
          <p:cNvSpPr txBox="1"/>
          <p:nvPr/>
        </p:nvSpPr>
        <p:spPr>
          <a:xfrm>
            <a:off x="2802579" y="1866737"/>
            <a:ext cx="4002405" cy="2106708"/>
          </a:xfrm>
          <a:prstGeom prst="rightArrow">
            <a:avLst>
              <a:gd name="adj1" fmla="val 49947"/>
              <a:gd name="adj2" fmla="val 41174"/>
            </a:avLst>
          </a:prstGeom>
          <a:solidFill>
            <a:schemeClr val="accent1">
              <a:lumMod val="75000"/>
            </a:schemeClr>
          </a:solidFill>
          <a:ln w="12700" cap="sq">
            <a:noFill/>
            <a:miter/>
          </a:ln>
        </p:spPr>
        <p:txBody>
          <a:bodyPr vert="horz" wrap="square" lIns="0" tIns="0" rIns="0" bIns="0" rtlCol="0" anchor="ctr"/>
          <a:lstStyle/>
          <a:p>
            <a:pPr algn="ctr"/>
            <a:endParaRPr kumimoji="1" lang="zh-CN" altLang="en-US"/>
          </a:p>
        </p:txBody>
      </p:sp>
      <p:sp>
        <p:nvSpPr>
          <p:cNvPr id="5" name="标题 1"/>
          <p:cNvSpPr txBox="1"/>
          <p:nvPr/>
        </p:nvSpPr>
        <p:spPr>
          <a:xfrm>
            <a:off x="2805055" y="2964178"/>
            <a:ext cx="50291" cy="3578136"/>
          </a:xfrm>
          <a:prstGeom prst="rect">
            <a:avLst/>
          </a:prstGeom>
          <a:solidFill>
            <a:schemeClr val="accent1">
              <a:lumMod val="75000"/>
            </a:schemeClr>
          </a:solidFill>
          <a:ln w="12700" cap="sq">
            <a:noFill/>
            <a:miter/>
          </a:ln>
        </p:spPr>
        <p:txBody>
          <a:bodyPr vert="horz" wrap="square" lIns="0" tIns="0" rIns="0" bIns="0" rtlCol="0" anchor="ctr"/>
          <a:lstStyle/>
          <a:p>
            <a:pPr algn="ctr"/>
            <a:endParaRPr kumimoji="1" lang="zh-CN" altLang="en-US"/>
          </a:p>
        </p:txBody>
      </p:sp>
      <p:sp>
        <p:nvSpPr>
          <p:cNvPr id="6" name="标题 1"/>
          <p:cNvSpPr txBox="1"/>
          <p:nvPr/>
        </p:nvSpPr>
        <p:spPr>
          <a:xfrm>
            <a:off x="3035464" y="2510421"/>
            <a:ext cx="2624937" cy="790312"/>
          </a:xfrm>
          <a:prstGeom prst="rect">
            <a:avLst/>
          </a:prstGeom>
          <a:noFill/>
          <a:ln>
            <a:noFill/>
          </a:ln>
        </p:spPr>
        <p:txBody>
          <a:bodyPr vert="horz" wrap="square" lIns="0" tIns="0" rIns="0" bIns="0" rtlCol="0" anchor="ctr"/>
          <a:lstStyle/>
          <a:p>
            <a:pPr algn="l"/>
            <a:r>
              <a:rPr kumimoji="1" lang="en-US" altLang="zh-CN" sz="1600">
                <a:ln w="12700">
                  <a:noFill/>
                </a:ln>
                <a:solidFill>
                  <a:srgbClr val="FFFFFF">
                    <a:alpha val="100000"/>
                  </a:srgbClr>
                </a:solidFill>
                <a:latin typeface="poppins-bold"/>
                <a:ea typeface="poppins-bold"/>
                <a:cs typeface="poppins-bold"/>
              </a:rPr>
              <a:t>Definición y Medición</a:t>
            </a:r>
            <a:endParaRPr kumimoji="1" lang="zh-CN" altLang="en-US"/>
          </a:p>
        </p:txBody>
      </p:sp>
      <p:sp>
        <p:nvSpPr>
          <p:cNvPr id="7" name="标题 1"/>
          <p:cNvSpPr txBox="1"/>
          <p:nvPr/>
        </p:nvSpPr>
        <p:spPr>
          <a:xfrm>
            <a:off x="2978544" y="3597575"/>
            <a:ext cx="2903929" cy="2106708"/>
          </a:xfrm>
          <a:prstGeom prst="rect">
            <a:avLst/>
          </a:prstGeom>
          <a:noFill/>
          <a:ln>
            <a:noFill/>
          </a:ln>
        </p:spPr>
        <p:txBody>
          <a:bodyPr vert="horz" wrap="square" lIns="0" tIns="0" rIns="0" bIns="0" rtlCol="0" anchor="t"/>
          <a:lstStyle/>
          <a:p>
            <a:pPr algn="l"/>
            <a:r>
              <a:rPr kumimoji="1" lang="en-US" altLang="zh-CN" sz="1498">
                <a:ln w="12700">
                  <a:noFill/>
                </a:ln>
                <a:solidFill>
                  <a:srgbClr val="262626">
                    <a:alpha val="100000"/>
                  </a:srgbClr>
                </a:solidFill>
                <a:latin typeface="Poppins"/>
                <a:ea typeface="Poppins"/>
                <a:cs typeface="Poppins"/>
              </a:rPr>
              <a:t>Porcentaje de veces que se cumplieron las promesas de servicio (ej. tiempo de actividad del 99.9%, tiempo de respuesta de una aplicación).</a:t>
            </a:r>
            <a:endParaRPr kumimoji="1" lang="zh-CN" altLang="en-US"/>
          </a:p>
        </p:txBody>
      </p:sp>
      <p:sp>
        <p:nvSpPr>
          <p:cNvPr id="8" name="标题 1"/>
          <p:cNvSpPr txBox="1"/>
          <p:nvPr/>
        </p:nvSpPr>
        <p:spPr>
          <a:xfrm>
            <a:off x="0" y="4726902"/>
            <a:ext cx="12192000" cy="2067243"/>
          </a:xfrm>
          <a:custGeom>
            <a:avLst/>
            <a:gdLst>
              <a:gd name="connsiteX0" fmla="*/ 10318457 w 12192000"/>
              <a:gd name="connsiteY0" fmla="*/ 535 h 2067243"/>
              <a:gd name="connsiteX1" fmla="*/ 12156431 w 12192000"/>
              <a:gd name="connsiteY1" fmla="*/ 396648 h 2067243"/>
              <a:gd name="connsiteX2" fmla="*/ 12192000 w 12192000"/>
              <a:gd name="connsiteY2" fmla="*/ 406783 h 2067243"/>
              <a:gd name="connsiteX3" fmla="*/ 12192000 w 12192000"/>
              <a:gd name="connsiteY3" fmla="*/ 968592 h 2067243"/>
              <a:gd name="connsiteX4" fmla="*/ 12187171 w 12192000"/>
              <a:gd name="connsiteY4" fmla="*/ 964624 h 2067243"/>
              <a:gd name="connsiteX5" fmla="*/ 10086228 w 12192000"/>
              <a:gd name="connsiteY5" fmla="*/ 635374 h 2067243"/>
              <a:gd name="connsiteX6" fmla="*/ 7713850 w 12192000"/>
              <a:gd name="connsiteY6" fmla="*/ 2042542 h 2067243"/>
              <a:gd name="connsiteX7" fmla="*/ 4561446 w 12192000"/>
              <a:gd name="connsiteY7" fmla="*/ 1561098 h 2067243"/>
              <a:gd name="connsiteX8" fmla="*/ 2628571 w 12192000"/>
              <a:gd name="connsiteY8" fmla="*/ 1937479 h 2067243"/>
              <a:gd name="connsiteX9" fmla="*/ 880755 w 12192000"/>
              <a:gd name="connsiteY9" fmla="*/ 1723559 h 2067243"/>
              <a:gd name="connsiteX10" fmla="*/ 67615 w 12192000"/>
              <a:gd name="connsiteY10" fmla="*/ 1887123 h 2067243"/>
              <a:gd name="connsiteX11" fmla="*/ 0 w 12192000"/>
              <a:gd name="connsiteY11" fmla="*/ 1911682 h 2067243"/>
              <a:gd name="connsiteX12" fmla="*/ 0 w 12192000"/>
              <a:gd name="connsiteY12" fmla="*/ 1697758 h 2067243"/>
              <a:gd name="connsiteX13" fmla="*/ 67615 w 12192000"/>
              <a:gd name="connsiteY13" fmla="*/ 1673199 h 2067243"/>
              <a:gd name="connsiteX14" fmla="*/ 706583 w 12192000"/>
              <a:gd name="connsiteY14" fmla="*/ 1582206 h 2067243"/>
              <a:gd name="connsiteX15" fmla="*/ 2483428 w 12192000"/>
              <a:gd name="connsiteY15" fmla="*/ 1738069 h 2067243"/>
              <a:gd name="connsiteX16" fmla="*/ 4488874 w 12192000"/>
              <a:gd name="connsiteY16" fmla="*/ 1260088 h 2067243"/>
              <a:gd name="connsiteX17" fmla="*/ 7554192 w 12192000"/>
              <a:gd name="connsiteY17" fmla="*/ 1436733 h 2067243"/>
              <a:gd name="connsiteX18" fmla="*/ 10006446 w 12192000"/>
              <a:gd name="connsiteY18" fmla="*/ 33960 h 2067243"/>
              <a:gd name="connsiteX19" fmla="*/ 10318457 w 12192000"/>
              <a:gd name="connsiteY19" fmla="*/ 535 h 2067243"/>
            </a:gdLst>
            <a:ahLst/>
            <a:cxnLst/>
            <a:rect l="l" t="t" r="r" b="b"/>
            <a:pathLst>
              <a:path w="12192000" h="2067243">
                <a:moveTo>
                  <a:pt x="10318457" y="535"/>
                </a:moveTo>
                <a:cubicBezTo>
                  <a:pt x="10962775" y="-13794"/>
                  <a:pt x="11706943" y="262905"/>
                  <a:pt x="12156431" y="396648"/>
                </a:cubicBezTo>
                <a:lnTo>
                  <a:pt x="12192000" y="406783"/>
                </a:lnTo>
                <a:lnTo>
                  <a:pt x="12192000" y="968592"/>
                </a:lnTo>
                <a:lnTo>
                  <a:pt x="12187171" y="964624"/>
                </a:lnTo>
                <a:cubicBezTo>
                  <a:pt x="11688137" y="747530"/>
                  <a:pt x="10839261" y="486271"/>
                  <a:pt x="10086228" y="635374"/>
                </a:cubicBezTo>
                <a:cubicBezTo>
                  <a:pt x="9340960" y="840169"/>
                  <a:pt x="8634647" y="1888255"/>
                  <a:pt x="7713850" y="2042542"/>
                </a:cubicBezTo>
                <a:cubicBezTo>
                  <a:pt x="6793053" y="2196829"/>
                  <a:pt x="5408992" y="1578608"/>
                  <a:pt x="4561446" y="1561098"/>
                </a:cubicBezTo>
                <a:cubicBezTo>
                  <a:pt x="3713900" y="1543588"/>
                  <a:pt x="3242019" y="1910402"/>
                  <a:pt x="2628571" y="1937479"/>
                </a:cubicBezTo>
                <a:cubicBezTo>
                  <a:pt x="2015123" y="1964556"/>
                  <a:pt x="1307581" y="1731952"/>
                  <a:pt x="880755" y="1723559"/>
                </a:cubicBezTo>
                <a:cubicBezTo>
                  <a:pt x="453929" y="1715166"/>
                  <a:pt x="250827" y="1833749"/>
                  <a:pt x="67615" y="1887123"/>
                </a:cubicBezTo>
                <a:lnTo>
                  <a:pt x="0" y="1911682"/>
                </a:lnTo>
                <a:lnTo>
                  <a:pt x="0" y="1697758"/>
                </a:lnTo>
                <a:lnTo>
                  <a:pt x="67615" y="1673199"/>
                </a:lnTo>
                <a:cubicBezTo>
                  <a:pt x="250827" y="1619825"/>
                  <a:pt x="469998" y="1602315"/>
                  <a:pt x="706583" y="1582206"/>
                </a:cubicBezTo>
                <a:cubicBezTo>
                  <a:pt x="1179754" y="1541989"/>
                  <a:pt x="1853046" y="1791755"/>
                  <a:pt x="2483428" y="1738069"/>
                </a:cubicBezTo>
                <a:cubicBezTo>
                  <a:pt x="3113810" y="1684383"/>
                  <a:pt x="3643747" y="1310311"/>
                  <a:pt x="4488874" y="1260088"/>
                </a:cubicBezTo>
                <a:cubicBezTo>
                  <a:pt x="5334002" y="1209865"/>
                  <a:pt x="6634597" y="1641088"/>
                  <a:pt x="7554192" y="1436733"/>
                </a:cubicBezTo>
                <a:cubicBezTo>
                  <a:pt x="8473787" y="1232378"/>
                  <a:pt x="9206346" y="198483"/>
                  <a:pt x="10006446" y="33960"/>
                </a:cubicBezTo>
                <a:cubicBezTo>
                  <a:pt x="10106459" y="13395"/>
                  <a:pt x="10211071" y="2923"/>
                  <a:pt x="10318457" y="535"/>
                </a:cubicBezTo>
                <a:close/>
              </a:path>
            </a:pathLst>
          </a:custGeom>
          <a:gradFill>
            <a:gsLst>
              <a:gs pos="14000">
                <a:schemeClr val="accent1">
                  <a:lumMod val="60000"/>
                  <a:lumOff val="40000"/>
                </a:schemeClr>
              </a:gs>
              <a:gs pos="100000">
                <a:schemeClr val="accent1">
                  <a:lumMod val="50000"/>
                </a:schemeClr>
              </a:gs>
            </a:gsLst>
            <a:lin ang="3600000" scaled="0"/>
          </a:gradFill>
          <a:ln w="12700" cap="sq">
            <a:noFill/>
            <a:miter/>
          </a:ln>
        </p:spPr>
        <p:txBody>
          <a:bodyPr vert="horz" wrap="square" lIns="0" tIns="0" rIns="0" bIns="0" rtlCol="0" anchor="ctr"/>
          <a:lstStyle/>
          <a:p>
            <a:pPr algn="ctr"/>
            <a:endParaRPr kumimoji="1" lang="zh-CN" altLang="en-US"/>
          </a:p>
        </p:txBody>
      </p:sp>
      <p:sp>
        <p:nvSpPr>
          <p:cNvPr id="9" name="标题 1"/>
          <p:cNvSpPr txBox="1"/>
          <p:nvPr/>
        </p:nvSpPr>
        <p:spPr>
          <a:xfrm rot="5400000">
            <a:off x="10661223" y="3330263"/>
            <a:ext cx="851783" cy="1477248"/>
          </a:xfrm>
          <a:custGeom>
            <a:avLst/>
            <a:gdLst>
              <a:gd name="connsiteX0" fmla="*/ 0 w 812409"/>
              <a:gd name="connsiteY0" fmla="*/ 1532499 h 1564151"/>
              <a:gd name="connsiteX1" fmla="*/ 31653 w 812409"/>
              <a:gd name="connsiteY1" fmla="*/ 1564151 h 1564151"/>
              <a:gd name="connsiteX2" fmla="*/ 63304 w 812409"/>
              <a:gd name="connsiteY2" fmla="*/ 1532499 h 1564151"/>
              <a:gd name="connsiteX3" fmla="*/ 31653 w 812409"/>
              <a:gd name="connsiteY3" fmla="*/ 1500847 h 1564151"/>
              <a:gd name="connsiteX4" fmla="*/ 0 w 812409"/>
              <a:gd name="connsiteY4" fmla="*/ 1532499 h 1564151"/>
              <a:gd name="connsiteX5" fmla="*/ 187276 w 812409"/>
              <a:gd name="connsiteY5" fmla="*/ 1532499 h 1564151"/>
              <a:gd name="connsiteX6" fmla="*/ 218929 w 812409"/>
              <a:gd name="connsiteY6" fmla="*/ 1564151 h 1564151"/>
              <a:gd name="connsiteX7" fmla="*/ 250581 w 812409"/>
              <a:gd name="connsiteY7" fmla="*/ 1532499 h 1564151"/>
              <a:gd name="connsiteX8" fmla="*/ 218929 w 812409"/>
              <a:gd name="connsiteY8" fmla="*/ 1500847 h 1564151"/>
              <a:gd name="connsiteX9" fmla="*/ 187276 w 812409"/>
              <a:gd name="connsiteY9" fmla="*/ 1532499 h 1564151"/>
              <a:gd name="connsiteX10" fmla="*/ 374553 w 812409"/>
              <a:gd name="connsiteY10" fmla="*/ 1532499 h 1564151"/>
              <a:gd name="connsiteX11" fmla="*/ 406204 w 812409"/>
              <a:gd name="connsiteY11" fmla="*/ 1564151 h 1564151"/>
              <a:gd name="connsiteX12" fmla="*/ 437857 w 812409"/>
              <a:gd name="connsiteY12" fmla="*/ 1532499 h 1564151"/>
              <a:gd name="connsiteX13" fmla="*/ 406204 w 812409"/>
              <a:gd name="connsiteY13" fmla="*/ 1500847 h 1564151"/>
              <a:gd name="connsiteX14" fmla="*/ 374553 w 812409"/>
              <a:gd name="connsiteY14" fmla="*/ 1532499 h 1564151"/>
              <a:gd name="connsiteX15" fmla="*/ 561829 w 812409"/>
              <a:gd name="connsiteY15" fmla="*/ 1532499 h 1564151"/>
              <a:gd name="connsiteX16" fmla="*/ 593481 w 812409"/>
              <a:gd name="connsiteY16" fmla="*/ 1564151 h 1564151"/>
              <a:gd name="connsiteX17" fmla="*/ 625133 w 812409"/>
              <a:gd name="connsiteY17" fmla="*/ 1532499 h 1564151"/>
              <a:gd name="connsiteX18" fmla="*/ 593481 w 812409"/>
              <a:gd name="connsiteY18" fmla="*/ 1500847 h 1564151"/>
              <a:gd name="connsiteX19" fmla="*/ 561829 w 812409"/>
              <a:gd name="connsiteY19" fmla="*/ 1532499 h 1564151"/>
              <a:gd name="connsiteX20" fmla="*/ 749104 w 812409"/>
              <a:gd name="connsiteY20" fmla="*/ 1532499 h 1564151"/>
              <a:gd name="connsiteX21" fmla="*/ 780757 w 812409"/>
              <a:gd name="connsiteY21" fmla="*/ 1564151 h 1564151"/>
              <a:gd name="connsiteX22" fmla="*/ 812410 w 812409"/>
              <a:gd name="connsiteY22" fmla="*/ 1532499 h 1564151"/>
              <a:gd name="connsiteX23" fmla="*/ 780757 w 812409"/>
              <a:gd name="connsiteY23" fmla="*/ 1500847 h 1564151"/>
              <a:gd name="connsiteX24" fmla="*/ 749104 w 812409"/>
              <a:gd name="connsiteY24" fmla="*/ 1532499 h 1564151"/>
              <a:gd name="connsiteX25" fmla="*/ 187276 w 812409"/>
              <a:gd name="connsiteY25" fmla="*/ 1345223 h 1564151"/>
              <a:gd name="connsiteX26" fmla="*/ 218929 w 812409"/>
              <a:gd name="connsiteY26" fmla="*/ 1376875 h 1564151"/>
              <a:gd name="connsiteX27" fmla="*/ 250581 w 812409"/>
              <a:gd name="connsiteY27" fmla="*/ 1345223 h 1564151"/>
              <a:gd name="connsiteX28" fmla="*/ 218929 w 812409"/>
              <a:gd name="connsiteY28" fmla="*/ 1313571 h 1564151"/>
              <a:gd name="connsiteX29" fmla="*/ 187276 w 812409"/>
              <a:gd name="connsiteY29" fmla="*/ 1345223 h 1564151"/>
              <a:gd name="connsiteX30" fmla="*/ 374553 w 812409"/>
              <a:gd name="connsiteY30" fmla="*/ 1345223 h 1564151"/>
              <a:gd name="connsiteX31" fmla="*/ 406204 w 812409"/>
              <a:gd name="connsiteY31" fmla="*/ 1376875 h 1564151"/>
              <a:gd name="connsiteX32" fmla="*/ 437857 w 812409"/>
              <a:gd name="connsiteY32" fmla="*/ 1345223 h 1564151"/>
              <a:gd name="connsiteX33" fmla="*/ 406204 w 812409"/>
              <a:gd name="connsiteY33" fmla="*/ 1313571 h 1564151"/>
              <a:gd name="connsiteX34" fmla="*/ 374553 w 812409"/>
              <a:gd name="connsiteY34" fmla="*/ 1345223 h 1564151"/>
              <a:gd name="connsiteX35" fmla="*/ 561829 w 812409"/>
              <a:gd name="connsiteY35" fmla="*/ 1345223 h 1564151"/>
              <a:gd name="connsiteX36" fmla="*/ 593481 w 812409"/>
              <a:gd name="connsiteY36" fmla="*/ 1376875 h 1564151"/>
              <a:gd name="connsiteX37" fmla="*/ 625133 w 812409"/>
              <a:gd name="connsiteY37" fmla="*/ 1345223 h 1564151"/>
              <a:gd name="connsiteX38" fmla="*/ 593481 w 812409"/>
              <a:gd name="connsiteY38" fmla="*/ 1313571 h 1564151"/>
              <a:gd name="connsiteX39" fmla="*/ 561829 w 812409"/>
              <a:gd name="connsiteY39" fmla="*/ 1345223 h 1564151"/>
              <a:gd name="connsiteX40" fmla="*/ 749104 w 812409"/>
              <a:gd name="connsiteY40" fmla="*/ 1345223 h 1564151"/>
              <a:gd name="connsiteX41" fmla="*/ 780757 w 812409"/>
              <a:gd name="connsiteY41" fmla="*/ 1376875 h 1564151"/>
              <a:gd name="connsiteX42" fmla="*/ 812410 w 812409"/>
              <a:gd name="connsiteY42" fmla="*/ 1345223 h 1564151"/>
              <a:gd name="connsiteX43" fmla="*/ 780757 w 812409"/>
              <a:gd name="connsiteY43" fmla="*/ 1313571 h 1564151"/>
              <a:gd name="connsiteX44" fmla="*/ 749104 w 812409"/>
              <a:gd name="connsiteY44" fmla="*/ 1345223 h 1564151"/>
              <a:gd name="connsiteX45" fmla="*/ 187276 w 812409"/>
              <a:gd name="connsiteY45" fmla="*/ 1157947 h 1564151"/>
              <a:gd name="connsiteX46" fmla="*/ 218929 w 812409"/>
              <a:gd name="connsiteY46" fmla="*/ 1189599 h 1564151"/>
              <a:gd name="connsiteX47" fmla="*/ 250581 w 812409"/>
              <a:gd name="connsiteY47" fmla="*/ 1157947 h 1564151"/>
              <a:gd name="connsiteX48" fmla="*/ 218929 w 812409"/>
              <a:gd name="connsiteY48" fmla="*/ 1126295 h 1564151"/>
              <a:gd name="connsiteX49" fmla="*/ 187276 w 812409"/>
              <a:gd name="connsiteY49" fmla="*/ 1157947 h 1564151"/>
              <a:gd name="connsiteX50" fmla="*/ 374553 w 812409"/>
              <a:gd name="connsiteY50" fmla="*/ 1157947 h 1564151"/>
              <a:gd name="connsiteX51" fmla="*/ 406204 w 812409"/>
              <a:gd name="connsiteY51" fmla="*/ 1189599 h 1564151"/>
              <a:gd name="connsiteX52" fmla="*/ 437857 w 812409"/>
              <a:gd name="connsiteY52" fmla="*/ 1157947 h 1564151"/>
              <a:gd name="connsiteX53" fmla="*/ 406204 w 812409"/>
              <a:gd name="connsiteY53" fmla="*/ 1126295 h 1564151"/>
              <a:gd name="connsiteX54" fmla="*/ 374553 w 812409"/>
              <a:gd name="connsiteY54" fmla="*/ 1157947 h 1564151"/>
              <a:gd name="connsiteX55" fmla="*/ 561829 w 812409"/>
              <a:gd name="connsiteY55" fmla="*/ 1157947 h 1564151"/>
              <a:gd name="connsiteX56" fmla="*/ 593481 w 812409"/>
              <a:gd name="connsiteY56" fmla="*/ 1189599 h 1564151"/>
              <a:gd name="connsiteX57" fmla="*/ 625133 w 812409"/>
              <a:gd name="connsiteY57" fmla="*/ 1157947 h 1564151"/>
              <a:gd name="connsiteX58" fmla="*/ 593481 w 812409"/>
              <a:gd name="connsiteY58" fmla="*/ 1126295 h 1564151"/>
              <a:gd name="connsiteX59" fmla="*/ 561829 w 812409"/>
              <a:gd name="connsiteY59" fmla="*/ 1157947 h 1564151"/>
              <a:gd name="connsiteX60" fmla="*/ 749104 w 812409"/>
              <a:gd name="connsiteY60" fmla="*/ 1157947 h 1564151"/>
              <a:gd name="connsiteX61" fmla="*/ 780757 w 812409"/>
              <a:gd name="connsiteY61" fmla="*/ 1189599 h 1564151"/>
              <a:gd name="connsiteX62" fmla="*/ 812410 w 812409"/>
              <a:gd name="connsiteY62" fmla="*/ 1157947 h 1564151"/>
              <a:gd name="connsiteX63" fmla="*/ 780757 w 812409"/>
              <a:gd name="connsiteY63" fmla="*/ 1126295 h 1564151"/>
              <a:gd name="connsiteX64" fmla="*/ 749104 w 812409"/>
              <a:gd name="connsiteY64" fmla="*/ 1157947 h 1564151"/>
              <a:gd name="connsiteX65" fmla="*/ 187276 w 812409"/>
              <a:gd name="connsiteY65" fmla="*/ 970670 h 1564151"/>
              <a:gd name="connsiteX66" fmla="*/ 218929 w 812409"/>
              <a:gd name="connsiteY66" fmla="*/ 1002323 h 1564151"/>
              <a:gd name="connsiteX67" fmla="*/ 250581 w 812409"/>
              <a:gd name="connsiteY67" fmla="*/ 970670 h 1564151"/>
              <a:gd name="connsiteX68" fmla="*/ 218929 w 812409"/>
              <a:gd name="connsiteY68" fmla="*/ 939018 h 1564151"/>
              <a:gd name="connsiteX69" fmla="*/ 187276 w 812409"/>
              <a:gd name="connsiteY69" fmla="*/ 970670 h 1564151"/>
              <a:gd name="connsiteX70" fmla="*/ 374553 w 812409"/>
              <a:gd name="connsiteY70" fmla="*/ 970670 h 1564151"/>
              <a:gd name="connsiteX71" fmla="*/ 406204 w 812409"/>
              <a:gd name="connsiteY71" fmla="*/ 1002323 h 1564151"/>
              <a:gd name="connsiteX72" fmla="*/ 437857 w 812409"/>
              <a:gd name="connsiteY72" fmla="*/ 970670 h 1564151"/>
              <a:gd name="connsiteX73" fmla="*/ 406204 w 812409"/>
              <a:gd name="connsiteY73" fmla="*/ 939018 h 1564151"/>
              <a:gd name="connsiteX74" fmla="*/ 374553 w 812409"/>
              <a:gd name="connsiteY74" fmla="*/ 970670 h 1564151"/>
              <a:gd name="connsiteX75" fmla="*/ 561829 w 812409"/>
              <a:gd name="connsiteY75" fmla="*/ 970670 h 1564151"/>
              <a:gd name="connsiteX76" fmla="*/ 593481 w 812409"/>
              <a:gd name="connsiteY76" fmla="*/ 1002323 h 1564151"/>
              <a:gd name="connsiteX77" fmla="*/ 625133 w 812409"/>
              <a:gd name="connsiteY77" fmla="*/ 970670 h 1564151"/>
              <a:gd name="connsiteX78" fmla="*/ 593481 w 812409"/>
              <a:gd name="connsiteY78" fmla="*/ 939018 h 1564151"/>
              <a:gd name="connsiteX79" fmla="*/ 561829 w 812409"/>
              <a:gd name="connsiteY79" fmla="*/ 970670 h 1564151"/>
              <a:gd name="connsiteX80" fmla="*/ 749104 w 812409"/>
              <a:gd name="connsiteY80" fmla="*/ 970670 h 1564151"/>
              <a:gd name="connsiteX81" fmla="*/ 780757 w 812409"/>
              <a:gd name="connsiteY81" fmla="*/ 1002323 h 1564151"/>
              <a:gd name="connsiteX82" fmla="*/ 812410 w 812409"/>
              <a:gd name="connsiteY82" fmla="*/ 970670 h 1564151"/>
              <a:gd name="connsiteX83" fmla="*/ 780757 w 812409"/>
              <a:gd name="connsiteY83" fmla="*/ 939018 h 1564151"/>
              <a:gd name="connsiteX84" fmla="*/ 749104 w 812409"/>
              <a:gd name="connsiteY84" fmla="*/ 970670 h 1564151"/>
              <a:gd name="connsiteX85" fmla="*/ 187276 w 812409"/>
              <a:gd name="connsiteY85" fmla="*/ 783395 h 1564151"/>
              <a:gd name="connsiteX86" fmla="*/ 218929 w 812409"/>
              <a:gd name="connsiteY86" fmla="*/ 815047 h 1564151"/>
              <a:gd name="connsiteX87" fmla="*/ 250581 w 812409"/>
              <a:gd name="connsiteY87" fmla="*/ 783395 h 1564151"/>
              <a:gd name="connsiteX88" fmla="*/ 218929 w 812409"/>
              <a:gd name="connsiteY88" fmla="*/ 751742 h 1564151"/>
              <a:gd name="connsiteX89" fmla="*/ 187276 w 812409"/>
              <a:gd name="connsiteY89" fmla="*/ 783395 h 1564151"/>
              <a:gd name="connsiteX90" fmla="*/ 374553 w 812409"/>
              <a:gd name="connsiteY90" fmla="*/ 783395 h 1564151"/>
              <a:gd name="connsiteX91" fmla="*/ 406204 w 812409"/>
              <a:gd name="connsiteY91" fmla="*/ 815047 h 1564151"/>
              <a:gd name="connsiteX92" fmla="*/ 437857 w 812409"/>
              <a:gd name="connsiteY92" fmla="*/ 783395 h 1564151"/>
              <a:gd name="connsiteX93" fmla="*/ 406204 w 812409"/>
              <a:gd name="connsiteY93" fmla="*/ 751742 h 1564151"/>
              <a:gd name="connsiteX94" fmla="*/ 374553 w 812409"/>
              <a:gd name="connsiteY94" fmla="*/ 783395 h 1564151"/>
              <a:gd name="connsiteX95" fmla="*/ 561829 w 812409"/>
              <a:gd name="connsiteY95" fmla="*/ 783395 h 1564151"/>
              <a:gd name="connsiteX96" fmla="*/ 593481 w 812409"/>
              <a:gd name="connsiteY96" fmla="*/ 815047 h 1564151"/>
              <a:gd name="connsiteX97" fmla="*/ 625133 w 812409"/>
              <a:gd name="connsiteY97" fmla="*/ 783395 h 1564151"/>
              <a:gd name="connsiteX98" fmla="*/ 593481 w 812409"/>
              <a:gd name="connsiteY98" fmla="*/ 751742 h 1564151"/>
              <a:gd name="connsiteX99" fmla="*/ 561829 w 812409"/>
              <a:gd name="connsiteY99" fmla="*/ 783395 h 1564151"/>
              <a:gd name="connsiteX100" fmla="*/ 749104 w 812409"/>
              <a:gd name="connsiteY100" fmla="*/ 783395 h 1564151"/>
              <a:gd name="connsiteX101" fmla="*/ 780757 w 812409"/>
              <a:gd name="connsiteY101" fmla="*/ 815047 h 1564151"/>
              <a:gd name="connsiteX102" fmla="*/ 812410 w 812409"/>
              <a:gd name="connsiteY102" fmla="*/ 783395 h 1564151"/>
              <a:gd name="connsiteX103" fmla="*/ 780757 w 812409"/>
              <a:gd name="connsiteY103" fmla="*/ 751742 h 1564151"/>
              <a:gd name="connsiteX104" fmla="*/ 749104 w 812409"/>
              <a:gd name="connsiteY104" fmla="*/ 783395 h 1564151"/>
              <a:gd name="connsiteX105" fmla="*/ 187276 w 812409"/>
              <a:gd name="connsiteY105" fmla="*/ 596118 h 1564151"/>
              <a:gd name="connsiteX106" fmla="*/ 218929 w 812409"/>
              <a:gd name="connsiteY106" fmla="*/ 627770 h 1564151"/>
              <a:gd name="connsiteX107" fmla="*/ 250581 w 812409"/>
              <a:gd name="connsiteY107" fmla="*/ 596118 h 1564151"/>
              <a:gd name="connsiteX108" fmla="*/ 218929 w 812409"/>
              <a:gd name="connsiteY108" fmla="*/ 564466 h 1564151"/>
              <a:gd name="connsiteX109" fmla="*/ 187276 w 812409"/>
              <a:gd name="connsiteY109" fmla="*/ 596118 h 1564151"/>
              <a:gd name="connsiteX110" fmla="*/ 374553 w 812409"/>
              <a:gd name="connsiteY110" fmla="*/ 596118 h 1564151"/>
              <a:gd name="connsiteX111" fmla="*/ 406204 w 812409"/>
              <a:gd name="connsiteY111" fmla="*/ 627770 h 1564151"/>
              <a:gd name="connsiteX112" fmla="*/ 437857 w 812409"/>
              <a:gd name="connsiteY112" fmla="*/ 596118 h 1564151"/>
              <a:gd name="connsiteX113" fmla="*/ 406204 w 812409"/>
              <a:gd name="connsiteY113" fmla="*/ 564466 h 1564151"/>
              <a:gd name="connsiteX114" fmla="*/ 374553 w 812409"/>
              <a:gd name="connsiteY114" fmla="*/ 596118 h 1564151"/>
              <a:gd name="connsiteX115" fmla="*/ 561829 w 812409"/>
              <a:gd name="connsiteY115" fmla="*/ 596118 h 1564151"/>
              <a:gd name="connsiteX116" fmla="*/ 593481 w 812409"/>
              <a:gd name="connsiteY116" fmla="*/ 627770 h 1564151"/>
              <a:gd name="connsiteX117" fmla="*/ 625133 w 812409"/>
              <a:gd name="connsiteY117" fmla="*/ 596118 h 1564151"/>
              <a:gd name="connsiteX118" fmla="*/ 593481 w 812409"/>
              <a:gd name="connsiteY118" fmla="*/ 564466 h 1564151"/>
              <a:gd name="connsiteX119" fmla="*/ 561829 w 812409"/>
              <a:gd name="connsiteY119" fmla="*/ 596118 h 1564151"/>
              <a:gd name="connsiteX120" fmla="*/ 749104 w 812409"/>
              <a:gd name="connsiteY120" fmla="*/ 596118 h 1564151"/>
              <a:gd name="connsiteX121" fmla="*/ 780757 w 812409"/>
              <a:gd name="connsiteY121" fmla="*/ 627770 h 1564151"/>
              <a:gd name="connsiteX122" fmla="*/ 812410 w 812409"/>
              <a:gd name="connsiteY122" fmla="*/ 596118 h 1564151"/>
              <a:gd name="connsiteX123" fmla="*/ 780757 w 812409"/>
              <a:gd name="connsiteY123" fmla="*/ 564466 h 1564151"/>
              <a:gd name="connsiteX124" fmla="*/ 749104 w 812409"/>
              <a:gd name="connsiteY124" fmla="*/ 596118 h 1564151"/>
              <a:gd name="connsiteX125" fmla="*/ 187276 w 812409"/>
              <a:gd name="connsiteY125" fmla="*/ 408842 h 1564151"/>
              <a:gd name="connsiteX126" fmla="*/ 218929 w 812409"/>
              <a:gd name="connsiteY126" fmla="*/ 440495 h 1564151"/>
              <a:gd name="connsiteX127" fmla="*/ 250581 w 812409"/>
              <a:gd name="connsiteY127" fmla="*/ 408842 h 1564151"/>
              <a:gd name="connsiteX128" fmla="*/ 218929 w 812409"/>
              <a:gd name="connsiteY128" fmla="*/ 377190 h 1564151"/>
              <a:gd name="connsiteX129" fmla="*/ 187276 w 812409"/>
              <a:gd name="connsiteY129" fmla="*/ 408842 h 1564151"/>
              <a:gd name="connsiteX130" fmla="*/ 374553 w 812409"/>
              <a:gd name="connsiteY130" fmla="*/ 408842 h 1564151"/>
              <a:gd name="connsiteX131" fmla="*/ 406204 w 812409"/>
              <a:gd name="connsiteY131" fmla="*/ 440495 h 1564151"/>
              <a:gd name="connsiteX132" fmla="*/ 437857 w 812409"/>
              <a:gd name="connsiteY132" fmla="*/ 408842 h 1564151"/>
              <a:gd name="connsiteX133" fmla="*/ 406204 w 812409"/>
              <a:gd name="connsiteY133" fmla="*/ 377190 h 1564151"/>
              <a:gd name="connsiteX134" fmla="*/ 374553 w 812409"/>
              <a:gd name="connsiteY134" fmla="*/ 408842 h 1564151"/>
              <a:gd name="connsiteX135" fmla="*/ 561829 w 812409"/>
              <a:gd name="connsiteY135" fmla="*/ 408842 h 1564151"/>
              <a:gd name="connsiteX136" fmla="*/ 593481 w 812409"/>
              <a:gd name="connsiteY136" fmla="*/ 440495 h 1564151"/>
              <a:gd name="connsiteX137" fmla="*/ 625133 w 812409"/>
              <a:gd name="connsiteY137" fmla="*/ 408842 h 1564151"/>
              <a:gd name="connsiteX138" fmla="*/ 593481 w 812409"/>
              <a:gd name="connsiteY138" fmla="*/ 377190 h 1564151"/>
              <a:gd name="connsiteX139" fmla="*/ 561829 w 812409"/>
              <a:gd name="connsiteY139" fmla="*/ 408842 h 1564151"/>
              <a:gd name="connsiteX140" fmla="*/ 749104 w 812409"/>
              <a:gd name="connsiteY140" fmla="*/ 408842 h 1564151"/>
              <a:gd name="connsiteX141" fmla="*/ 780757 w 812409"/>
              <a:gd name="connsiteY141" fmla="*/ 440495 h 1564151"/>
              <a:gd name="connsiteX142" fmla="*/ 812410 w 812409"/>
              <a:gd name="connsiteY142" fmla="*/ 408842 h 1564151"/>
              <a:gd name="connsiteX143" fmla="*/ 780757 w 812409"/>
              <a:gd name="connsiteY143" fmla="*/ 377190 h 1564151"/>
              <a:gd name="connsiteX144" fmla="*/ 749104 w 812409"/>
              <a:gd name="connsiteY144" fmla="*/ 408842 h 1564151"/>
              <a:gd name="connsiteX145" fmla="*/ 187276 w 812409"/>
              <a:gd name="connsiteY145" fmla="*/ 218928 h 1564151"/>
              <a:gd name="connsiteX146" fmla="*/ 218929 w 812409"/>
              <a:gd name="connsiteY146" fmla="*/ 250581 h 1564151"/>
              <a:gd name="connsiteX147" fmla="*/ 250581 w 812409"/>
              <a:gd name="connsiteY147" fmla="*/ 218928 h 1564151"/>
              <a:gd name="connsiteX148" fmla="*/ 218929 w 812409"/>
              <a:gd name="connsiteY148" fmla="*/ 187276 h 1564151"/>
              <a:gd name="connsiteX149" fmla="*/ 187276 w 812409"/>
              <a:gd name="connsiteY149" fmla="*/ 218928 h 1564151"/>
              <a:gd name="connsiteX150" fmla="*/ 374553 w 812409"/>
              <a:gd name="connsiteY150" fmla="*/ 218928 h 1564151"/>
              <a:gd name="connsiteX151" fmla="*/ 406204 w 812409"/>
              <a:gd name="connsiteY151" fmla="*/ 250581 h 1564151"/>
              <a:gd name="connsiteX152" fmla="*/ 437857 w 812409"/>
              <a:gd name="connsiteY152" fmla="*/ 218928 h 1564151"/>
              <a:gd name="connsiteX153" fmla="*/ 406204 w 812409"/>
              <a:gd name="connsiteY153" fmla="*/ 187276 h 1564151"/>
              <a:gd name="connsiteX154" fmla="*/ 374553 w 812409"/>
              <a:gd name="connsiteY154" fmla="*/ 218928 h 1564151"/>
              <a:gd name="connsiteX155" fmla="*/ 561829 w 812409"/>
              <a:gd name="connsiteY155" fmla="*/ 218928 h 1564151"/>
              <a:gd name="connsiteX156" fmla="*/ 593481 w 812409"/>
              <a:gd name="connsiteY156" fmla="*/ 250581 h 1564151"/>
              <a:gd name="connsiteX157" fmla="*/ 625133 w 812409"/>
              <a:gd name="connsiteY157" fmla="*/ 218928 h 1564151"/>
              <a:gd name="connsiteX158" fmla="*/ 593481 w 812409"/>
              <a:gd name="connsiteY158" fmla="*/ 187276 h 1564151"/>
              <a:gd name="connsiteX159" fmla="*/ 561829 w 812409"/>
              <a:gd name="connsiteY159" fmla="*/ 218928 h 1564151"/>
              <a:gd name="connsiteX160" fmla="*/ 749104 w 812409"/>
              <a:gd name="connsiteY160" fmla="*/ 218928 h 1564151"/>
              <a:gd name="connsiteX161" fmla="*/ 780757 w 812409"/>
              <a:gd name="connsiteY161" fmla="*/ 250581 h 1564151"/>
              <a:gd name="connsiteX162" fmla="*/ 812410 w 812409"/>
              <a:gd name="connsiteY162" fmla="*/ 218928 h 1564151"/>
              <a:gd name="connsiteX163" fmla="*/ 780757 w 812409"/>
              <a:gd name="connsiteY163" fmla="*/ 187276 h 1564151"/>
              <a:gd name="connsiteX164" fmla="*/ 749104 w 812409"/>
              <a:gd name="connsiteY164" fmla="*/ 218928 h 1564151"/>
              <a:gd name="connsiteX165" fmla="*/ 187276 w 812409"/>
              <a:gd name="connsiteY165" fmla="*/ 31652 h 1564151"/>
              <a:gd name="connsiteX166" fmla="*/ 218929 w 812409"/>
              <a:gd name="connsiteY166" fmla="*/ 63304 h 1564151"/>
              <a:gd name="connsiteX167" fmla="*/ 250581 w 812409"/>
              <a:gd name="connsiteY167" fmla="*/ 31652 h 1564151"/>
              <a:gd name="connsiteX168" fmla="*/ 218929 w 812409"/>
              <a:gd name="connsiteY168" fmla="*/ 0 h 1564151"/>
              <a:gd name="connsiteX169" fmla="*/ 187276 w 812409"/>
              <a:gd name="connsiteY169" fmla="*/ 31652 h 1564151"/>
              <a:gd name="connsiteX170" fmla="*/ 374553 w 812409"/>
              <a:gd name="connsiteY170" fmla="*/ 31652 h 1564151"/>
              <a:gd name="connsiteX171" fmla="*/ 406204 w 812409"/>
              <a:gd name="connsiteY171" fmla="*/ 63304 h 1564151"/>
              <a:gd name="connsiteX172" fmla="*/ 437857 w 812409"/>
              <a:gd name="connsiteY172" fmla="*/ 31652 h 1564151"/>
              <a:gd name="connsiteX173" fmla="*/ 406204 w 812409"/>
              <a:gd name="connsiteY173" fmla="*/ 0 h 1564151"/>
              <a:gd name="connsiteX174" fmla="*/ 374553 w 812409"/>
              <a:gd name="connsiteY174" fmla="*/ 31652 h 1564151"/>
              <a:gd name="connsiteX175" fmla="*/ 561829 w 812409"/>
              <a:gd name="connsiteY175" fmla="*/ 31652 h 1564151"/>
              <a:gd name="connsiteX176" fmla="*/ 593481 w 812409"/>
              <a:gd name="connsiteY176" fmla="*/ 63304 h 1564151"/>
              <a:gd name="connsiteX177" fmla="*/ 625133 w 812409"/>
              <a:gd name="connsiteY177" fmla="*/ 31652 h 1564151"/>
              <a:gd name="connsiteX178" fmla="*/ 593481 w 812409"/>
              <a:gd name="connsiteY178" fmla="*/ 0 h 1564151"/>
              <a:gd name="connsiteX179" fmla="*/ 561829 w 812409"/>
              <a:gd name="connsiteY179" fmla="*/ 31652 h 1564151"/>
              <a:gd name="connsiteX180" fmla="*/ 749104 w 812409"/>
              <a:gd name="connsiteY180" fmla="*/ 31652 h 1564151"/>
              <a:gd name="connsiteX181" fmla="*/ 780757 w 812409"/>
              <a:gd name="connsiteY181" fmla="*/ 63304 h 1564151"/>
              <a:gd name="connsiteX182" fmla="*/ 812410 w 812409"/>
              <a:gd name="connsiteY182" fmla="*/ 31652 h 1564151"/>
              <a:gd name="connsiteX183" fmla="*/ 780757 w 812409"/>
              <a:gd name="connsiteY183" fmla="*/ 0 h 1564151"/>
              <a:gd name="connsiteX184" fmla="*/ 749104 w 812409"/>
              <a:gd name="connsiteY184" fmla="*/ 31652 h 1564151"/>
              <a:gd name="connsiteX185" fmla="*/ 31653 w 812409"/>
              <a:gd name="connsiteY185" fmla="*/ 1379513 h 1564151"/>
              <a:gd name="connsiteX186" fmla="*/ 63304 w 812409"/>
              <a:gd name="connsiteY186" fmla="*/ 1347861 h 1564151"/>
              <a:gd name="connsiteX187" fmla="*/ 31653 w 812409"/>
              <a:gd name="connsiteY187" fmla="*/ 1316208 h 1564151"/>
              <a:gd name="connsiteX188" fmla="*/ 0 w 812409"/>
              <a:gd name="connsiteY188" fmla="*/ 1347861 h 1564151"/>
              <a:gd name="connsiteX189" fmla="*/ 31653 w 812409"/>
              <a:gd name="connsiteY189" fmla="*/ 1379513 h 1564151"/>
              <a:gd name="connsiteX190" fmla="*/ 31653 w 812409"/>
              <a:gd name="connsiteY190" fmla="*/ 1189599 h 1564151"/>
              <a:gd name="connsiteX191" fmla="*/ 63304 w 812409"/>
              <a:gd name="connsiteY191" fmla="*/ 1157947 h 1564151"/>
              <a:gd name="connsiteX192" fmla="*/ 31653 w 812409"/>
              <a:gd name="connsiteY192" fmla="*/ 1126295 h 1564151"/>
              <a:gd name="connsiteX193" fmla="*/ 0 w 812409"/>
              <a:gd name="connsiteY193" fmla="*/ 1157947 h 1564151"/>
              <a:gd name="connsiteX194" fmla="*/ 31653 w 812409"/>
              <a:gd name="connsiteY194" fmla="*/ 1189599 h 1564151"/>
              <a:gd name="connsiteX195" fmla="*/ 31653 w 812409"/>
              <a:gd name="connsiteY195" fmla="*/ 1002323 h 1564151"/>
              <a:gd name="connsiteX196" fmla="*/ 63304 w 812409"/>
              <a:gd name="connsiteY196" fmla="*/ 970670 h 1564151"/>
              <a:gd name="connsiteX197" fmla="*/ 31653 w 812409"/>
              <a:gd name="connsiteY197" fmla="*/ 939018 h 1564151"/>
              <a:gd name="connsiteX198" fmla="*/ 0 w 812409"/>
              <a:gd name="connsiteY198" fmla="*/ 970670 h 1564151"/>
              <a:gd name="connsiteX199" fmla="*/ 31653 w 812409"/>
              <a:gd name="connsiteY199" fmla="*/ 1002323 h 1564151"/>
              <a:gd name="connsiteX200" fmla="*/ 31653 w 812409"/>
              <a:gd name="connsiteY200" fmla="*/ 815047 h 1564151"/>
              <a:gd name="connsiteX201" fmla="*/ 63304 w 812409"/>
              <a:gd name="connsiteY201" fmla="*/ 783395 h 1564151"/>
              <a:gd name="connsiteX202" fmla="*/ 31653 w 812409"/>
              <a:gd name="connsiteY202" fmla="*/ 751742 h 1564151"/>
              <a:gd name="connsiteX203" fmla="*/ 0 w 812409"/>
              <a:gd name="connsiteY203" fmla="*/ 783395 h 1564151"/>
              <a:gd name="connsiteX204" fmla="*/ 31653 w 812409"/>
              <a:gd name="connsiteY204" fmla="*/ 815047 h 1564151"/>
              <a:gd name="connsiteX205" fmla="*/ 31653 w 812409"/>
              <a:gd name="connsiteY205" fmla="*/ 627770 h 1564151"/>
              <a:gd name="connsiteX206" fmla="*/ 63304 w 812409"/>
              <a:gd name="connsiteY206" fmla="*/ 596118 h 1564151"/>
              <a:gd name="connsiteX207" fmla="*/ 31653 w 812409"/>
              <a:gd name="connsiteY207" fmla="*/ 564466 h 1564151"/>
              <a:gd name="connsiteX208" fmla="*/ 0 w 812409"/>
              <a:gd name="connsiteY208" fmla="*/ 596118 h 1564151"/>
              <a:gd name="connsiteX209" fmla="*/ 31653 w 812409"/>
              <a:gd name="connsiteY209" fmla="*/ 627770 h 1564151"/>
              <a:gd name="connsiteX210" fmla="*/ 31653 w 812409"/>
              <a:gd name="connsiteY210" fmla="*/ 440495 h 1564151"/>
              <a:gd name="connsiteX211" fmla="*/ 63304 w 812409"/>
              <a:gd name="connsiteY211" fmla="*/ 408842 h 1564151"/>
              <a:gd name="connsiteX212" fmla="*/ 31653 w 812409"/>
              <a:gd name="connsiteY212" fmla="*/ 377190 h 1564151"/>
              <a:gd name="connsiteX213" fmla="*/ 0 w 812409"/>
              <a:gd name="connsiteY213" fmla="*/ 408842 h 1564151"/>
              <a:gd name="connsiteX214" fmla="*/ 31653 w 812409"/>
              <a:gd name="connsiteY214" fmla="*/ 440495 h 1564151"/>
              <a:gd name="connsiteX215" fmla="*/ 31653 w 812409"/>
              <a:gd name="connsiteY215" fmla="*/ 253218 h 1564151"/>
              <a:gd name="connsiteX216" fmla="*/ 63304 w 812409"/>
              <a:gd name="connsiteY216" fmla="*/ 221566 h 1564151"/>
              <a:gd name="connsiteX217" fmla="*/ 31653 w 812409"/>
              <a:gd name="connsiteY217" fmla="*/ 189914 h 1564151"/>
              <a:gd name="connsiteX218" fmla="*/ 0 w 812409"/>
              <a:gd name="connsiteY218" fmla="*/ 221566 h 1564151"/>
              <a:gd name="connsiteX219" fmla="*/ 31653 w 812409"/>
              <a:gd name="connsiteY219" fmla="*/ 253218 h 1564151"/>
              <a:gd name="connsiteX220" fmla="*/ 31653 w 812409"/>
              <a:gd name="connsiteY220" fmla="*/ 65942 h 1564151"/>
              <a:gd name="connsiteX221" fmla="*/ 63304 w 812409"/>
              <a:gd name="connsiteY221" fmla="*/ 34290 h 1564151"/>
              <a:gd name="connsiteX222" fmla="*/ 31653 w 812409"/>
              <a:gd name="connsiteY222" fmla="*/ 2637 h 1564151"/>
              <a:gd name="connsiteX223" fmla="*/ 0 w 812409"/>
              <a:gd name="connsiteY223" fmla="*/ 34290 h 1564151"/>
              <a:gd name="connsiteX224" fmla="*/ 31653 w 812409"/>
              <a:gd name="connsiteY224" fmla="*/ 65942 h 1564151"/>
            </a:gdLst>
            <a:ahLst/>
            <a:cxnLst/>
            <a:rect l="l" t="t" r="r" b="b"/>
            <a:pathLst>
              <a:path w="812409" h="1564151">
                <a:moveTo>
                  <a:pt x="0" y="1532499"/>
                </a:moveTo>
                <a:cubicBezTo>
                  <a:pt x="0" y="1550963"/>
                  <a:pt x="15826" y="1564151"/>
                  <a:pt x="31653" y="1564151"/>
                </a:cubicBezTo>
                <a:cubicBezTo>
                  <a:pt x="50116" y="1564151"/>
                  <a:pt x="63304" y="1548325"/>
                  <a:pt x="63304" y="1532499"/>
                </a:cubicBezTo>
                <a:cubicBezTo>
                  <a:pt x="63304" y="1516673"/>
                  <a:pt x="47479" y="1500847"/>
                  <a:pt x="31653" y="1500847"/>
                </a:cubicBezTo>
                <a:cubicBezTo>
                  <a:pt x="13188" y="1500847"/>
                  <a:pt x="0" y="1516673"/>
                  <a:pt x="0" y="1532499"/>
                </a:cubicBezTo>
                <a:close/>
                <a:moveTo>
                  <a:pt x="187276" y="1532499"/>
                </a:moveTo>
                <a:cubicBezTo>
                  <a:pt x="187276" y="1550963"/>
                  <a:pt x="203103" y="1564151"/>
                  <a:pt x="218929" y="1564151"/>
                </a:cubicBezTo>
                <a:cubicBezTo>
                  <a:pt x="237392" y="1564151"/>
                  <a:pt x="250581" y="1548325"/>
                  <a:pt x="250581" y="1532499"/>
                </a:cubicBezTo>
                <a:cubicBezTo>
                  <a:pt x="250581" y="1516673"/>
                  <a:pt x="234754" y="1500847"/>
                  <a:pt x="218929" y="1500847"/>
                </a:cubicBezTo>
                <a:cubicBezTo>
                  <a:pt x="200465" y="1500847"/>
                  <a:pt x="187276" y="1516673"/>
                  <a:pt x="187276" y="1532499"/>
                </a:cubicBezTo>
                <a:close/>
                <a:moveTo>
                  <a:pt x="374553" y="1532499"/>
                </a:moveTo>
                <a:cubicBezTo>
                  <a:pt x="374553" y="1550963"/>
                  <a:pt x="390379" y="1564151"/>
                  <a:pt x="406204" y="1564151"/>
                </a:cubicBezTo>
                <a:cubicBezTo>
                  <a:pt x="424669" y="1564151"/>
                  <a:pt x="437857" y="1548325"/>
                  <a:pt x="437857" y="1532499"/>
                </a:cubicBezTo>
                <a:cubicBezTo>
                  <a:pt x="437857" y="1516673"/>
                  <a:pt x="422031" y="1500847"/>
                  <a:pt x="406204" y="1500847"/>
                </a:cubicBezTo>
                <a:cubicBezTo>
                  <a:pt x="387741" y="1500847"/>
                  <a:pt x="374553" y="1516673"/>
                  <a:pt x="374553" y="1532499"/>
                </a:cubicBezTo>
                <a:close/>
                <a:moveTo>
                  <a:pt x="561829" y="1532499"/>
                </a:moveTo>
                <a:cubicBezTo>
                  <a:pt x="561829" y="1550963"/>
                  <a:pt x="577654" y="1564151"/>
                  <a:pt x="593481" y="1564151"/>
                </a:cubicBezTo>
                <a:cubicBezTo>
                  <a:pt x="611945" y="1564151"/>
                  <a:pt x="625133" y="1548325"/>
                  <a:pt x="625133" y="1532499"/>
                </a:cubicBezTo>
                <a:cubicBezTo>
                  <a:pt x="625133" y="1516673"/>
                  <a:pt x="609307" y="1500847"/>
                  <a:pt x="593481" y="1500847"/>
                </a:cubicBezTo>
                <a:cubicBezTo>
                  <a:pt x="575017" y="1500847"/>
                  <a:pt x="561829" y="1516673"/>
                  <a:pt x="561829" y="1532499"/>
                </a:cubicBezTo>
                <a:close/>
                <a:moveTo>
                  <a:pt x="749104" y="1532499"/>
                </a:moveTo>
                <a:cubicBezTo>
                  <a:pt x="749104" y="1550963"/>
                  <a:pt x="764931" y="1564151"/>
                  <a:pt x="780757" y="1564151"/>
                </a:cubicBezTo>
                <a:cubicBezTo>
                  <a:pt x="799221" y="1564151"/>
                  <a:pt x="812410" y="1548325"/>
                  <a:pt x="812410" y="1532499"/>
                </a:cubicBezTo>
                <a:cubicBezTo>
                  <a:pt x="812410" y="1516673"/>
                  <a:pt x="796583" y="1500847"/>
                  <a:pt x="780757" y="1500847"/>
                </a:cubicBezTo>
                <a:cubicBezTo>
                  <a:pt x="764931" y="1500847"/>
                  <a:pt x="749104" y="1516673"/>
                  <a:pt x="749104" y="1532499"/>
                </a:cubicBezTo>
                <a:close/>
                <a:moveTo>
                  <a:pt x="187276" y="1345223"/>
                </a:moveTo>
                <a:cubicBezTo>
                  <a:pt x="187276" y="1363687"/>
                  <a:pt x="203103" y="1376875"/>
                  <a:pt x="218929" y="1376875"/>
                </a:cubicBezTo>
                <a:cubicBezTo>
                  <a:pt x="237392" y="1376875"/>
                  <a:pt x="250581" y="1361049"/>
                  <a:pt x="250581" y="1345223"/>
                </a:cubicBezTo>
                <a:cubicBezTo>
                  <a:pt x="250581" y="1326759"/>
                  <a:pt x="234754" y="1313571"/>
                  <a:pt x="218929" y="1313571"/>
                </a:cubicBezTo>
                <a:cubicBezTo>
                  <a:pt x="200465" y="1313571"/>
                  <a:pt x="187276" y="1326759"/>
                  <a:pt x="187276" y="1345223"/>
                </a:cubicBezTo>
                <a:close/>
                <a:moveTo>
                  <a:pt x="374553" y="1345223"/>
                </a:moveTo>
                <a:cubicBezTo>
                  <a:pt x="374553" y="1363687"/>
                  <a:pt x="390379" y="1376875"/>
                  <a:pt x="406204" y="1376875"/>
                </a:cubicBezTo>
                <a:cubicBezTo>
                  <a:pt x="424669" y="1376875"/>
                  <a:pt x="437857" y="1361049"/>
                  <a:pt x="437857" y="1345223"/>
                </a:cubicBezTo>
                <a:cubicBezTo>
                  <a:pt x="437857" y="1326759"/>
                  <a:pt x="422031" y="1313571"/>
                  <a:pt x="406204" y="1313571"/>
                </a:cubicBezTo>
                <a:cubicBezTo>
                  <a:pt x="387741" y="1313571"/>
                  <a:pt x="374553" y="1326759"/>
                  <a:pt x="374553" y="1345223"/>
                </a:cubicBezTo>
                <a:close/>
                <a:moveTo>
                  <a:pt x="561829" y="1345223"/>
                </a:moveTo>
                <a:cubicBezTo>
                  <a:pt x="561829" y="1363687"/>
                  <a:pt x="577654" y="1376875"/>
                  <a:pt x="593481" y="1376875"/>
                </a:cubicBezTo>
                <a:cubicBezTo>
                  <a:pt x="611945" y="1376875"/>
                  <a:pt x="625133" y="1361049"/>
                  <a:pt x="625133" y="1345223"/>
                </a:cubicBezTo>
                <a:cubicBezTo>
                  <a:pt x="625133" y="1326759"/>
                  <a:pt x="609307" y="1313571"/>
                  <a:pt x="593481" y="1313571"/>
                </a:cubicBezTo>
                <a:cubicBezTo>
                  <a:pt x="575017" y="1313571"/>
                  <a:pt x="561829" y="1326759"/>
                  <a:pt x="561829" y="1345223"/>
                </a:cubicBezTo>
                <a:close/>
                <a:moveTo>
                  <a:pt x="749104" y="1345223"/>
                </a:moveTo>
                <a:cubicBezTo>
                  <a:pt x="749104" y="1363687"/>
                  <a:pt x="764931" y="1376875"/>
                  <a:pt x="780757" y="1376875"/>
                </a:cubicBezTo>
                <a:cubicBezTo>
                  <a:pt x="799221" y="1376875"/>
                  <a:pt x="812410" y="1361049"/>
                  <a:pt x="812410" y="1345223"/>
                </a:cubicBezTo>
                <a:cubicBezTo>
                  <a:pt x="812410" y="1326759"/>
                  <a:pt x="796583" y="1313571"/>
                  <a:pt x="780757" y="1313571"/>
                </a:cubicBezTo>
                <a:cubicBezTo>
                  <a:pt x="764931" y="1313571"/>
                  <a:pt x="749104" y="1326759"/>
                  <a:pt x="749104" y="1345223"/>
                </a:cubicBezTo>
                <a:close/>
                <a:moveTo>
                  <a:pt x="187276" y="1157947"/>
                </a:moveTo>
                <a:cubicBezTo>
                  <a:pt x="187276" y="1176411"/>
                  <a:pt x="203103" y="1189599"/>
                  <a:pt x="218929" y="1189599"/>
                </a:cubicBezTo>
                <a:cubicBezTo>
                  <a:pt x="237392" y="1189599"/>
                  <a:pt x="250581" y="1173773"/>
                  <a:pt x="250581" y="1157947"/>
                </a:cubicBezTo>
                <a:cubicBezTo>
                  <a:pt x="250581" y="1139483"/>
                  <a:pt x="234754" y="1126295"/>
                  <a:pt x="218929" y="1126295"/>
                </a:cubicBezTo>
                <a:cubicBezTo>
                  <a:pt x="200465" y="1126295"/>
                  <a:pt x="187276" y="1139483"/>
                  <a:pt x="187276" y="1157947"/>
                </a:cubicBezTo>
                <a:close/>
                <a:moveTo>
                  <a:pt x="374553" y="1157947"/>
                </a:moveTo>
                <a:cubicBezTo>
                  <a:pt x="374553" y="1176411"/>
                  <a:pt x="390379" y="1189599"/>
                  <a:pt x="406204" y="1189599"/>
                </a:cubicBezTo>
                <a:cubicBezTo>
                  <a:pt x="424669" y="1189599"/>
                  <a:pt x="437857" y="1173773"/>
                  <a:pt x="437857" y="1157947"/>
                </a:cubicBezTo>
                <a:cubicBezTo>
                  <a:pt x="437857" y="1139483"/>
                  <a:pt x="422031" y="1126295"/>
                  <a:pt x="406204" y="1126295"/>
                </a:cubicBezTo>
                <a:cubicBezTo>
                  <a:pt x="387741" y="1126295"/>
                  <a:pt x="374553" y="1139483"/>
                  <a:pt x="374553" y="1157947"/>
                </a:cubicBezTo>
                <a:close/>
                <a:moveTo>
                  <a:pt x="561829" y="1157947"/>
                </a:moveTo>
                <a:cubicBezTo>
                  <a:pt x="561829" y="1176411"/>
                  <a:pt x="577654" y="1189599"/>
                  <a:pt x="593481" y="1189599"/>
                </a:cubicBezTo>
                <a:cubicBezTo>
                  <a:pt x="611945" y="1189599"/>
                  <a:pt x="625133" y="1173773"/>
                  <a:pt x="625133" y="1157947"/>
                </a:cubicBezTo>
                <a:cubicBezTo>
                  <a:pt x="625133" y="1139483"/>
                  <a:pt x="609307" y="1126295"/>
                  <a:pt x="593481" y="1126295"/>
                </a:cubicBezTo>
                <a:cubicBezTo>
                  <a:pt x="575017" y="1126295"/>
                  <a:pt x="561829" y="1139483"/>
                  <a:pt x="561829" y="1157947"/>
                </a:cubicBezTo>
                <a:close/>
                <a:moveTo>
                  <a:pt x="749104" y="1157947"/>
                </a:moveTo>
                <a:cubicBezTo>
                  <a:pt x="749104" y="1176411"/>
                  <a:pt x="764931" y="1189599"/>
                  <a:pt x="780757" y="1189599"/>
                </a:cubicBezTo>
                <a:cubicBezTo>
                  <a:pt x="799221" y="1189599"/>
                  <a:pt x="812410" y="1173773"/>
                  <a:pt x="812410" y="1157947"/>
                </a:cubicBezTo>
                <a:cubicBezTo>
                  <a:pt x="812410" y="1139483"/>
                  <a:pt x="796583" y="1126295"/>
                  <a:pt x="780757" y="1126295"/>
                </a:cubicBezTo>
                <a:cubicBezTo>
                  <a:pt x="764931" y="1126295"/>
                  <a:pt x="749104" y="1139483"/>
                  <a:pt x="749104" y="1157947"/>
                </a:cubicBezTo>
                <a:close/>
                <a:moveTo>
                  <a:pt x="187276" y="970670"/>
                </a:moveTo>
                <a:cubicBezTo>
                  <a:pt x="187276" y="989135"/>
                  <a:pt x="203103" y="1002323"/>
                  <a:pt x="218929" y="1002323"/>
                </a:cubicBezTo>
                <a:cubicBezTo>
                  <a:pt x="237392" y="1002323"/>
                  <a:pt x="250581" y="986497"/>
                  <a:pt x="250581" y="970670"/>
                </a:cubicBezTo>
                <a:cubicBezTo>
                  <a:pt x="250581" y="952207"/>
                  <a:pt x="234754" y="939018"/>
                  <a:pt x="218929" y="939018"/>
                </a:cubicBezTo>
                <a:cubicBezTo>
                  <a:pt x="200465" y="939018"/>
                  <a:pt x="187276" y="952207"/>
                  <a:pt x="187276" y="970670"/>
                </a:cubicBezTo>
                <a:close/>
                <a:moveTo>
                  <a:pt x="374553" y="970670"/>
                </a:moveTo>
                <a:cubicBezTo>
                  <a:pt x="374553" y="989135"/>
                  <a:pt x="390379" y="1002323"/>
                  <a:pt x="406204" y="1002323"/>
                </a:cubicBezTo>
                <a:cubicBezTo>
                  <a:pt x="424669" y="1002323"/>
                  <a:pt x="437857" y="986497"/>
                  <a:pt x="437857" y="970670"/>
                </a:cubicBezTo>
                <a:cubicBezTo>
                  <a:pt x="437857" y="952207"/>
                  <a:pt x="422031" y="939018"/>
                  <a:pt x="406204" y="939018"/>
                </a:cubicBezTo>
                <a:cubicBezTo>
                  <a:pt x="387741" y="939018"/>
                  <a:pt x="374553" y="952207"/>
                  <a:pt x="374553" y="970670"/>
                </a:cubicBezTo>
                <a:close/>
                <a:moveTo>
                  <a:pt x="561829" y="970670"/>
                </a:moveTo>
                <a:cubicBezTo>
                  <a:pt x="561829" y="989135"/>
                  <a:pt x="577654" y="1002323"/>
                  <a:pt x="593481" y="1002323"/>
                </a:cubicBezTo>
                <a:cubicBezTo>
                  <a:pt x="611945" y="1002323"/>
                  <a:pt x="625133" y="986497"/>
                  <a:pt x="625133" y="970670"/>
                </a:cubicBezTo>
                <a:cubicBezTo>
                  <a:pt x="625133" y="952207"/>
                  <a:pt x="609307" y="939018"/>
                  <a:pt x="593481" y="939018"/>
                </a:cubicBezTo>
                <a:cubicBezTo>
                  <a:pt x="575017" y="939018"/>
                  <a:pt x="561829" y="952207"/>
                  <a:pt x="561829" y="970670"/>
                </a:cubicBezTo>
                <a:close/>
                <a:moveTo>
                  <a:pt x="749104" y="970670"/>
                </a:moveTo>
                <a:cubicBezTo>
                  <a:pt x="749104" y="989135"/>
                  <a:pt x="764931" y="1002323"/>
                  <a:pt x="780757" y="1002323"/>
                </a:cubicBezTo>
                <a:cubicBezTo>
                  <a:pt x="799221" y="1002323"/>
                  <a:pt x="812410" y="986497"/>
                  <a:pt x="812410" y="970670"/>
                </a:cubicBezTo>
                <a:cubicBezTo>
                  <a:pt x="812410" y="952207"/>
                  <a:pt x="796583" y="939018"/>
                  <a:pt x="780757" y="939018"/>
                </a:cubicBezTo>
                <a:cubicBezTo>
                  <a:pt x="764931" y="939018"/>
                  <a:pt x="749104" y="952207"/>
                  <a:pt x="749104" y="970670"/>
                </a:cubicBezTo>
                <a:close/>
                <a:moveTo>
                  <a:pt x="187276" y="783395"/>
                </a:moveTo>
                <a:cubicBezTo>
                  <a:pt x="187276" y="801858"/>
                  <a:pt x="203103" y="815047"/>
                  <a:pt x="218929" y="815047"/>
                </a:cubicBezTo>
                <a:cubicBezTo>
                  <a:pt x="237392" y="815047"/>
                  <a:pt x="250581" y="799220"/>
                  <a:pt x="250581" y="783395"/>
                </a:cubicBezTo>
                <a:cubicBezTo>
                  <a:pt x="250581" y="764931"/>
                  <a:pt x="234754" y="751742"/>
                  <a:pt x="218929" y="751742"/>
                </a:cubicBezTo>
                <a:cubicBezTo>
                  <a:pt x="200465" y="751742"/>
                  <a:pt x="187276" y="764931"/>
                  <a:pt x="187276" y="783395"/>
                </a:cubicBezTo>
                <a:close/>
                <a:moveTo>
                  <a:pt x="374553" y="783395"/>
                </a:moveTo>
                <a:cubicBezTo>
                  <a:pt x="374553" y="801858"/>
                  <a:pt x="390379" y="815047"/>
                  <a:pt x="406204" y="815047"/>
                </a:cubicBezTo>
                <a:cubicBezTo>
                  <a:pt x="424669" y="815047"/>
                  <a:pt x="437857" y="799220"/>
                  <a:pt x="437857" y="783395"/>
                </a:cubicBezTo>
                <a:cubicBezTo>
                  <a:pt x="437857" y="764931"/>
                  <a:pt x="422031" y="751742"/>
                  <a:pt x="406204" y="751742"/>
                </a:cubicBezTo>
                <a:cubicBezTo>
                  <a:pt x="387741" y="751742"/>
                  <a:pt x="374553" y="764931"/>
                  <a:pt x="374553" y="783395"/>
                </a:cubicBezTo>
                <a:close/>
                <a:moveTo>
                  <a:pt x="561829" y="783395"/>
                </a:moveTo>
                <a:cubicBezTo>
                  <a:pt x="561829" y="801858"/>
                  <a:pt x="577654" y="815047"/>
                  <a:pt x="593481" y="815047"/>
                </a:cubicBezTo>
                <a:cubicBezTo>
                  <a:pt x="611945" y="815047"/>
                  <a:pt x="625133" y="799220"/>
                  <a:pt x="625133" y="783395"/>
                </a:cubicBezTo>
                <a:cubicBezTo>
                  <a:pt x="625133" y="764931"/>
                  <a:pt x="609307" y="751742"/>
                  <a:pt x="593481" y="751742"/>
                </a:cubicBezTo>
                <a:cubicBezTo>
                  <a:pt x="575017" y="751742"/>
                  <a:pt x="561829" y="764931"/>
                  <a:pt x="561829" y="783395"/>
                </a:cubicBezTo>
                <a:close/>
                <a:moveTo>
                  <a:pt x="749104" y="783395"/>
                </a:moveTo>
                <a:cubicBezTo>
                  <a:pt x="749104" y="801858"/>
                  <a:pt x="764931" y="815047"/>
                  <a:pt x="780757" y="815047"/>
                </a:cubicBezTo>
                <a:cubicBezTo>
                  <a:pt x="799221" y="815047"/>
                  <a:pt x="812410" y="799220"/>
                  <a:pt x="812410" y="783395"/>
                </a:cubicBezTo>
                <a:cubicBezTo>
                  <a:pt x="812410" y="764931"/>
                  <a:pt x="796583" y="751742"/>
                  <a:pt x="780757" y="751742"/>
                </a:cubicBezTo>
                <a:cubicBezTo>
                  <a:pt x="764931" y="751742"/>
                  <a:pt x="749104" y="764931"/>
                  <a:pt x="749104" y="783395"/>
                </a:cubicBezTo>
                <a:close/>
                <a:moveTo>
                  <a:pt x="187276" y="596118"/>
                </a:moveTo>
                <a:cubicBezTo>
                  <a:pt x="187276" y="614582"/>
                  <a:pt x="203103" y="627770"/>
                  <a:pt x="218929" y="627770"/>
                </a:cubicBezTo>
                <a:cubicBezTo>
                  <a:pt x="237392" y="627770"/>
                  <a:pt x="250581" y="611945"/>
                  <a:pt x="250581" y="596118"/>
                </a:cubicBezTo>
                <a:cubicBezTo>
                  <a:pt x="250581" y="580292"/>
                  <a:pt x="234754" y="564466"/>
                  <a:pt x="218929" y="564466"/>
                </a:cubicBezTo>
                <a:cubicBezTo>
                  <a:pt x="200465" y="561828"/>
                  <a:pt x="187276" y="577654"/>
                  <a:pt x="187276" y="596118"/>
                </a:cubicBezTo>
                <a:close/>
                <a:moveTo>
                  <a:pt x="374553" y="596118"/>
                </a:moveTo>
                <a:cubicBezTo>
                  <a:pt x="374553" y="614582"/>
                  <a:pt x="390379" y="627770"/>
                  <a:pt x="406204" y="627770"/>
                </a:cubicBezTo>
                <a:cubicBezTo>
                  <a:pt x="424669" y="627770"/>
                  <a:pt x="437857" y="611945"/>
                  <a:pt x="437857" y="596118"/>
                </a:cubicBezTo>
                <a:cubicBezTo>
                  <a:pt x="437857" y="580292"/>
                  <a:pt x="422031" y="564466"/>
                  <a:pt x="406204" y="564466"/>
                </a:cubicBezTo>
                <a:cubicBezTo>
                  <a:pt x="387741" y="561828"/>
                  <a:pt x="374553" y="577654"/>
                  <a:pt x="374553" y="596118"/>
                </a:cubicBezTo>
                <a:close/>
                <a:moveTo>
                  <a:pt x="561829" y="596118"/>
                </a:moveTo>
                <a:cubicBezTo>
                  <a:pt x="561829" y="614582"/>
                  <a:pt x="577654" y="627770"/>
                  <a:pt x="593481" y="627770"/>
                </a:cubicBezTo>
                <a:cubicBezTo>
                  <a:pt x="611945" y="627770"/>
                  <a:pt x="625133" y="611945"/>
                  <a:pt x="625133" y="596118"/>
                </a:cubicBezTo>
                <a:cubicBezTo>
                  <a:pt x="625133" y="580292"/>
                  <a:pt x="609307" y="564466"/>
                  <a:pt x="593481" y="564466"/>
                </a:cubicBezTo>
                <a:cubicBezTo>
                  <a:pt x="575017" y="561828"/>
                  <a:pt x="561829" y="577654"/>
                  <a:pt x="561829" y="596118"/>
                </a:cubicBezTo>
                <a:close/>
                <a:moveTo>
                  <a:pt x="749104" y="596118"/>
                </a:moveTo>
                <a:cubicBezTo>
                  <a:pt x="749104" y="614582"/>
                  <a:pt x="764931" y="627770"/>
                  <a:pt x="780757" y="627770"/>
                </a:cubicBezTo>
                <a:cubicBezTo>
                  <a:pt x="799221" y="627770"/>
                  <a:pt x="812410" y="611945"/>
                  <a:pt x="812410" y="596118"/>
                </a:cubicBezTo>
                <a:cubicBezTo>
                  <a:pt x="812410" y="580292"/>
                  <a:pt x="796583" y="564466"/>
                  <a:pt x="780757" y="564466"/>
                </a:cubicBezTo>
                <a:cubicBezTo>
                  <a:pt x="764931" y="561828"/>
                  <a:pt x="749104" y="577654"/>
                  <a:pt x="749104" y="596118"/>
                </a:cubicBezTo>
                <a:close/>
                <a:moveTo>
                  <a:pt x="187276" y="408842"/>
                </a:moveTo>
                <a:cubicBezTo>
                  <a:pt x="187276" y="427306"/>
                  <a:pt x="203103" y="440495"/>
                  <a:pt x="218929" y="440495"/>
                </a:cubicBezTo>
                <a:cubicBezTo>
                  <a:pt x="237392" y="440495"/>
                  <a:pt x="250581" y="424668"/>
                  <a:pt x="250581" y="408842"/>
                </a:cubicBezTo>
                <a:cubicBezTo>
                  <a:pt x="250581" y="390378"/>
                  <a:pt x="234754" y="377190"/>
                  <a:pt x="218929" y="377190"/>
                </a:cubicBezTo>
                <a:cubicBezTo>
                  <a:pt x="200465" y="374552"/>
                  <a:pt x="187276" y="390378"/>
                  <a:pt x="187276" y="408842"/>
                </a:cubicBezTo>
                <a:close/>
                <a:moveTo>
                  <a:pt x="374553" y="408842"/>
                </a:moveTo>
                <a:cubicBezTo>
                  <a:pt x="374553" y="427306"/>
                  <a:pt x="390379" y="440495"/>
                  <a:pt x="406204" y="440495"/>
                </a:cubicBezTo>
                <a:cubicBezTo>
                  <a:pt x="424669" y="440495"/>
                  <a:pt x="437857" y="424668"/>
                  <a:pt x="437857" y="408842"/>
                </a:cubicBezTo>
                <a:cubicBezTo>
                  <a:pt x="437857" y="390378"/>
                  <a:pt x="422031" y="377190"/>
                  <a:pt x="406204" y="377190"/>
                </a:cubicBezTo>
                <a:cubicBezTo>
                  <a:pt x="387741" y="374552"/>
                  <a:pt x="374553" y="390378"/>
                  <a:pt x="374553" y="408842"/>
                </a:cubicBezTo>
                <a:close/>
                <a:moveTo>
                  <a:pt x="561829" y="408842"/>
                </a:moveTo>
                <a:cubicBezTo>
                  <a:pt x="561829" y="427306"/>
                  <a:pt x="577654" y="440495"/>
                  <a:pt x="593481" y="440495"/>
                </a:cubicBezTo>
                <a:cubicBezTo>
                  <a:pt x="611945" y="440495"/>
                  <a:pt x="625133" y="424668"/>
                  <a:pt x="625133" y="408842"/>
                </a:cubicBezTo>
                <a:cubicBezTo>
                  <a:pt x="625133" y="390378"/>
                  <a:pt x="609307" y="377190"/>
                  <a:pt x="593481" y="377190"/>
                </a:cubicBezTo>
                <a:cubicBezTo>
                  <a:pt x="575017" y="374552"/>
                  <a:pt x="561829" y="390378"/>
                  <a:pt x="561829" y="408842"/>
                </a:cubicBezTo>
                <a:close/>
                <a:moveTo>
                  <a:pt x="749104" y="408842"/>
                </a:moveTo>
                <a:cubicBezTo>
                  <a:pt x="749104" y="427306"/>
                  <a:pt x="764931" y="440495"/>
                  <a:pt x="780757" y="440495"/>
                </a:cubicBezTo>
                <a:cubicBezTo>
                  <a:pt x="799221" y="440495"/>
                  <a:pt x="812410" y="424668"/>
                  <a:pt x="812410" y="408842"/>
                </a:cubicBezTo>
                <a:cubicBezTo>
                  <a:pt x="812410" y="390378"/>
                  <a:pt x="796583" y="377190"/>
                  <a:pt x="780757" y="377190"/>
                </a:cubicBezTo>
                <a:cubicBezTo>
                  <a:pt x="764931" y="374552"/>
                  <a:pt x="749104" y="390378"/>
                  <a:pt x="749104" y="408842"/>
                </a:cubicBezTo>
                <a:close/>
                <a:moveTo>
                  <a:pt x="187276" y="218928"/>
                </a:moveTo>
                <a:cubicBezTo>
                  <a:pt x="187276" y="237392"/>
                  <a:pt x="203103" y="250581"/>
                  <a:pt x="218929" y="250581"/>
                </a:cubicBezTo>
                <a:cubicBezTo>
                  <a:pt x="237392" y="250581"/>
                  <a:pt x="250581" y="234754"/>
                  <a:pt x="250581" y="218928"/>
                </a:cubicBezTo>
                <a:cubicBezTo>
                  <a:pt x="250581" y="200464"/>
                  <a:pt x="234754" y="187276"/>
                  <a:pt x="218929" y="187276"/>
                </a:cubicBezTo>
                <a:cubicBezTo>
                  <a:pt x="200465" y="187276"/>
                  <a:pt x="187276" y="203102"/>
                  <a:pt x="187276" y="218928"/>
                </a:cubicBezTo>
                <a:close/>
                <a:moveTo>
                  <a:pt x="374553" y="218928"/>
                </a:moveTo>
                <a:cubicBezTo>
                  <a:pt x="374553" y="237392"/>
                  <a:pt x="390379" y="250581"/>
                  <a:pt x="406204" y="250581"/>
                </a:cubicBezTo>
                <a:cubicBezTo>
                  <a:pt x="424669" y="250581"/>
                  <a:pt x="437857" y="234754"/>
                  <a:pt x="437857" y="218928"/>
                </a:cubicBezTo>
                <a:cubicBezTo>
                  <a:pt x="437857" y="200464"/>
                  <a:pt x="422031" y="187276"/>
                  <a:pt x="406204" y="187276"/>
                </a:cubicBezTo>
                <a:cubicBezTo>
                  <a:pt x="387741" y="187276"/>
                  <a:pt x="374553" y="203102"/>
                  <a:pt x="374553" y="218928"/>
                </a:cubicBezTo>
                <a:close/>
                <a:moveTo>
                  <a:pt x="561829" y="218928"/>
                </a:moveTo>
                <a:cubicBezTo>
                  <a:pt x="561829" y="237392"/>
                  <a:pt x="577654" y="250581"/>
                  <a:pt x="593481" y="250581"/>
                </a:cubicBezTo>
                <a:cubicBezTo>
                  <a:pt x="611945" y="250581"/>
                  <a:pt x="625133" y="234754"/>
                  <a:pt x="625133" y="218928"/>
                </a:cubicBezTo>
                <a:cubicBezTo>
                  <a:pt x="625133" y="200464"/>
                  <a:pt x="609307" y="187276"/>
                  <a:pt x="593481" y="187276"/>
                </a:cubicBezTo>
                <a:cubicBezTo>
                  <a:pt x="575017" y="187276"/>
                  <a:pt x="561829" y="203102"/>
                  <a:pt x="561829" y="218928"/>
                </a:cubicBezTo>
                <a:close/>
                <a:moveTo>
                  <a:pt x="749104" y="218928"/>
                </a:moveTo>
                <a:cubicBezTo>
                  <a:pt x="749104" y="237392"/>
                  <a:pt x="764931" y="250581"/>
                  <a:pt x="780757" y="250581"/>
                </a:cubicBezTo>
                <a:cubicBezTo>
                  <a:pt x="799221" y="250581"/>
                  <a:pt x="812410" y="234754"/>
                  <a:pt x="812410" y="218928"/>
                </a:cubicBezTo>
                <a:cubicBezTo>
                  <a:pt x="812410" y="200464"/>
                  <a:pt x="796583" y="187276"/>
                  <a:pt x="780757" y="187276"/>
                </a:cubicBezTo>
                <a:cubicBezTo>
                  <a:pt x="764931" y="187276"/>
                  <a:pt x="749104" y="203102"/>
                  <a:pt x="749104" y="218928"/>
                </a:cubicBezTo>
                <a:close/>
                <a:moveTo>
                  <a:pt x="187276" y="31652"/>
                </a:moveTo>
                <a:cubicBezTo>
                  <a:pt x="187276" y="50116"/>
                  <a:pt x="203103" y="63304"/>
                  <a:pt x="218929" y="63304"/>
                </a:cubicBezTo>
                <a:cubicBezTo>
                  <a:pt x="237392" y="63304"/>
                  <a:pt x="250581" y="47478"/>
                  <a:pt x="250581" y="31652"/>
                </a:cubicBezTo>
                <a:cubicBezTo>
                  <a:pt x="250581" y="15826"/>
                  <a:pt x="234754" y="0"/>
                  <a:pt x="218929" y="0"/>
                </a:cubicBezTo>
                <a:cubicBezTo>
                  <a:pt x="200465" y="0"/>
                  <a:pt x="187276" y="15826"/>
                  <a:pt x="187276" y="31652"/>
                </a:cubicBezTo>
                <a:close/>
                <a:moveTo>
                  <a:pt x="374553" y="31652"/>
                </a:moveTo>
                <a:cubicBezTo>
                  <a:pt x="374553" y="50116"/>
                  <a:pt x="390379" y="63304"/>
                  <a:pt x="406204" y="63304"/>
                </a:cubicBezTo>
                <a:cubicBezTo>
                  <a:pt x="424669" y="63304"/>
                  <a:pt x="437857" y="47478"/>
                  <a:pt x="437857" y="31652"/>
                </a:cubicBezTo>
                <a:cubicBezTo>
                  <a:pt x="437857" y="15826"/>
                  <a:pt x="422031" y="0"/>
                  <a:pt x="406204" y="0"/>
                </a:cubicBezTo>
                <a:cubicBezTo>
                  <a:pt x="387741" y="0"/>
                  <a:pt x="374553" y="15826"/>
                  <a:pt x="374553" y="31652"/>
                </a:cubicBezTo>
                <a:close/>
                <a:moveTo>
                  <a:pt x="561829" y="31652"/>
                </a:moveTo>
                <a:cubicBezTo>
                  <a:pt x="561829" y="50116"/>
                  <a:pt x="577654" y="63304"/>
                  <a:pt x="593481" y="63304"/>
                </a:cubicBezTo>
                <a:cubicBezTo>
                  <a:pt x="611945" y="63304"/>
                  <a:pt x="625133" y="47478"/>
                  <a:pt x="625133" y="31652"/>
                </a:cubicBezTo>
                <a:cubicBezTo>
                  <a:pt x="625133" y="15826"/>
                  <a:pt x="609307" y="0"/>
                  <a:pt x="593481" y="0"/>
                </a:cubicBezTo>
                <a:cubicBezTo>
                  <a:pt x="575017" y="0"/>
                  <a:pt x="561829" y="15826"/>
                  <a:pt x="561829" y="31652"/>
                </a:cubicBezTo>
                <a:close/>
                <a:moveTo>
                  <a:pt x="749104" y="31652"/>
                </a:moveTo>
                <a:cubicBezTo>
                  <a:pt x="749104" y="50116"/>
                  <a:pt x="764931" y="63304"/>
                  <a:pt x="780757" y="63304"/>
                </a:cubicBezTo>
                <a:cubicBezTo>
                  <a:pt x="799221" y="63304"/>
                  <a:pt x="812410" y="47478"/>
                  <a:pt x="812410" y="31652"/>
                </a:cubicBezTo>
                <a:cubicBezTo>
                  <a:pt x="812410" y="15826"/>
                  <a:pt x="796583" y="0"/>
                  <a:pt x="780757" y="0"/>
                </a:cubicBezTo>
                <a:cubicBezTo>
                  <a:pt x="764931" y="0"/>
                  <a:pt x="749104" y="15826"/>
                  <a:pt x="749104" y="31652"/>
                </a:cubicBezTo>
                <a:close/>
                <a:moveTo>
                  <a:pt x="31653" y="1379513"/>
                </a:moveTo>
                <a:cubicBezTo>
                  <a:pt x="50116" y="1379513"/>
                  <a:pt x="63304" y="1363687"/>
                  <a:pt x="63304" y="1347861"/>
                </a:cubicBezTo>
                <a:cubicBezTo>
                  <a:pt x="63304" y="1329397"/>
                  <a:pt x="47479" y="1316208"/>
                  <a:pt x="31653" y="1316208"/>
                </a:cubicBezTo>
                <a:cubicBezTo>
                  <a:pt x="13188" y="1316208"/>
                  <a:pt x="0" y="1332035"/>
                  <a:pt x="0" y="1347861"/>
                </a:cubicBezTo>
                <a:cubicBezTo>
                  <a:pt x="0" y="1363687"/>
                  <a:pt x="13188" y="1379513"/>
                  <a:pt x="31653" y="1379513"/>
                </a:cubicBezTo>
                <a:close/>
                <a:moveTo>
                  <a:pt x="31653" y="1189599"/>
                </a:moveTo>
                <a:cubicBezTo>
                  <a:pt x="50116" y="1189599"/>
                  <a:pt x="63304" y="1173773"/>
                  <a:pt x="63304" y="1157947"/>
                </a:cubicBezTo>
                <a:cubicBezTo>
                  <a:pt x="63304" y="1139483"/>
                  <a:pt x="47479" y="1126295"/>
                  <a:pt x="31653" y="1126295"/>
                </a:cubicBezTo>
                <a:cubicBezTo>
                  <a:pt x="13188" y="1126295"/>
                  <a:pt x="0" y="1142121"/>
                  <a:pt x="0" y="1157947"/>
                </a:cubicBezTo>
                <a:cubicBezTo>
                  <a:pt x="0" y="1176411"/>
                  <a:pt x="13188" y="1189599"/>
                  <a:pt x="31653" y="1189599"/>
                </a:cubicBezTo>
                <a:close/>
                <a:moveTo>
                  <a:pt x="31653" y="1002323"/>
                </a:moveTo>
                <a:cubicBezTo>
                  <a:pt x="50116" y="1002323"/>
                  <a:pt x="63304" y="986497"/>
                  <a:pt x="63304" y="970670"/>
                </a:cubicBezTo>
                <a:cubicBezTo>
                  <a:pt x="63304" y="952207"/>
                  <a:pt x="47479" y="939018"/>
                  <a:pt x="31653" y="939018"/>
                </a:cubicBezTo>
                <a:cubicBezTo>
                  <a:pt x="13188" y="939018"/>
                  <a:pt x="0" y="954845"/>
                  <a:pt x="0" y="970670"/>
                </a:cubicBezTo>
                <a:cubicBezTo>
                  <a:pt x="0" y="989135"/>
                  <a:pt x="13188" y="1002323"/>
                  <a:pt x="31653" y="1002323"/>
                </a:cubicBezTo>
                <a:close/>
                <a:moveTo>
                  <a:pt x="31653" y="815047"/>
                </a:moveTo>
                <a:cubicBezTo>
                  <a:pt x="50116" y="815047"/>
                  <a:pt x="63304" y="799220"/>
                  <a:pt x="63304" y="783395"/>
                </a:cubicBezTo>
                <a:cubicBezTo>
                  <a:pt x="63304" y="764931"/>
                  <a:pt x="47479" y="751742"/>
                  <a:pt x="31653" y="751742"/>
                </a:cubicBezTo>
                <a:cubicBezTo>
                  <a:pt x="13188" y="751742"/>
                  <a:pt x="0" y="767568"/>
                  <a:pt x="0" y="783395"/>
                </a:cubicBezTo>
                <a:cubicBezTo>
                  <a:pt x="0" y="801858"/>
                  <a:pt x="13188" y="815047"/>
                  <a:pt x="31653" y="815047"/>
                </a:cubicBezTo>
                <a:close/>
                <a:moveTo>
                  <a:pt x="31653" y="627770"/>
                </a:moveTo>
                <a:cubicBezTo>
                  <a:pt x="50116" y="627770"/>
                  <a:pt x="63304" y="611945"/>
                  <a:pt x="63304" y="596118"/>
                </a:cubicBezTo>
                <a:cubicBezTo>
                  <a:pt x="63304" y="580292"/>
                  <a:pt x="47479" y="564466"/>
                  <a:pt x="31653" y="564466"/>
                </a:cubicBezTo>
                <a:cubicBezTo>
                  <a:pt x="13188" y="564466"/>
                  <a:pt x="0" y="580292"/>
                  <a:pt x="0" y="596118"/>
                </a:cubicBezTo>
                <a:cubicBezTo>
                  <a:pt x="0" y="611945"/>
                  <a:pt x="13188" y="627770"/>
                  <a:pt x="31653" y="627770"/>
                </a:cubicBezTo>
                <a:close/>
                <a:moveTo>
                  <a:pt x="31653" y="440495"/>
                </a:moveTo>
                <a:cubicBezTo>
                  <a:pt x="50116" y="440495"/>
                  <a:pt x="63304" y="424668"/>
                  <a:pt x="63304" y="408842"/>
                </a:cubicBezTo>
                <a:cubicBezTo>
                  <a:pt x="63304" y="390378"/>
                  <a:pt x="47479" y="377190"/>
                  <a:pt x="31653" y="377190"/>
                </a:cubicBezTo>
                <a:cubicBezTo>
                  <a:pt x="13188" y="377190"/>
                  <a:pt x="0" y="393016"/>
                  <a:pt x="0" y="408842"/>
                </a:cubicBezTo>
                <a:cubicBezTo>
                  <a:pt x="0" y="424668"/>
                  <a:pt x="13188" y="440495"/>
                  <a:pt x="31653" y="440495"/>
                </a:cubicBezTo>
                <a:close/>
                <a:moveTo>
                  <a:pt x="31653" y="253218"/>
                </a:moveTo>
                <a:cubicBezTo>
                  <a:pt x="50116" y="253218"/>
                  <a:pt x="63304" y="237392"/>
                  <a:pt x="63304" y="221566"/>
                </a:cubicBezTo>
                <a:cubicBezTo>
                  <a:pt x="63304" y="203102"/>
                  <a:pt x="47479" y="189914"/>
                  <a:pt x="31653" y="189914"/>
                </a:cubicBezTo>
                <a:cubicBezTo>
                  <a:pt x="13188" y="189914"/>
                  <a:pt x="0" y="205740"/>
                  <a:pt x="0" y="221566"/>
                </a:cubicBezTo>
                <a:cubicBezTo>
                  <a:pt x="0" y="237392"/>
                  <a:pt x="13188" y="253218"/>
                  <a:pt x="31653" y="253218"/>
                </a:cubicBezTo>
                <a:close/>
                <a:moveTo>
                  <a:pt x="31653" y="65942"/>
                </a:moveTo>
                <a:cubicBezTo>
                  <a:pt x="50116" y="65942"/>
                  <a:pt x="63304" y="50116"/>
                  <a:pt x="63304" y="34290"/>
                </a:cubicBezTo>
                <a:cubicBezTo>
                  <a:pt x="63304" y="18464"/>
                  <a:pt x="47479" y="2637"/>
                  <a:pt x="31653" y="2637"/>
                </a:cubicBezTo>
                <a:cubicBezTo>
                  <a:pt x="13188" y="2637"/>
                  <a:pt x="0" y="18464"/>
                  <a:pt x="0" y="34290"/>
                </a:cubicBezTo>
                <a:cubicBezTo>
                  <a:pt x="0" y="50116"/>
                  <a:pt x="13188" y="65942"/>
                  <a:pt x="31653" y="65942"/>
                </a:cubicBezTo>
                <a:close/>
              </a:path>
            </a:pathLst>
          </a:custGeom>
          <a:gradFill>
            <a:gsLst>
              <a:gs pos="0">
                <a:schemeClr val="accent1"/>
              </a:gs>
              <a:gs pos="100000">
                <a:schemeClr val="accent1">
                  <a:alpha val="0"/>
                </a:schemeClr>
              </a:gs>
            </a:gsLst>
            <a:lin ang="2700000" scaled="0"/>
          </a:gradFill>
          <a:ln w="26366" cap="flat">
            <a:noFill/>
            <a:miter/>
          </a:ln>
        </p:spPr>
        <p:txBody>
          <a:bodyPr vert="horz" wrap="square" lIns="0" tIns="0" rIns="0" bIns="0" rtlCol="0" anchor="ctr"/>
          <a:lstStyle/>
          <a:p>
            <a:pPr algn="l"/>
            <a:endParaRPr kumimoji="1" lang="zh-CN" altLang="en-US"/>
          </a:p>
        </p:txBody>
      </p:sp>
      <p:sp>
        <p:nvSpPr>
          <p:cNvPr id="10" name="标题 1"/>
          <p:cNvSpPr txBox="1"/>
          <p:nvPr/>
        </p:nvSpPr>
        <p:spPr>
          <a:xfrm>
            <a:off x="153201" y="3987199"/>
            <a:ext cx="2075004" cy="1092200"/>
          </a:xfrm>
          <a:prstGeom prst="rightArrow">
            <a:avLst>
              <a:gd name="adj1" fmla="val 49947"/>
              <a:gd name="adj2" fmla="val 41174"/>
            </a:avLst>
          </a:prstGeom>
          <a:solidFill>
            <a:schemeClr val="accent1">
              <a:lumMod val="20000"/>
              <a:lumOff val="80000"/>
            </a:schemeClr>
          </a:solidFill>
          <a:ln w="12700" cap="sq">
            <a:noFill/>
            <a:miter/>
          </a:ln>
        </p:spPr>
        <p:txBody>
          <a:bodyPr vert="horz" wrap="square" lIns="0" tIns="0" rIns="0" bIns="0" rtlCol="0" anchor="ctr"/>
          <a:lstStyle/>
          <a:p>
            <a:pPr algn="ctr"/>
            <a:endParaRPr kumimoji="1" lang="zh-CN" altLang="en-US"/>
          </a:p>
        </p:txBody>
      </p:sp>
      <p:sp>
        <p:nvSpPr>
          <p:cNvPr id="11" name="标题 1"/>
          <p:cNvSpPr txBox="1"/>
          <p:nvPr/>
        </p:nvSpPr>
        <p:spPr>
          <a:xfrm>
            <a:off x="8157637" y="1754197"/>
            <a:ext cx="1567565" cy="825104"/>
          </a:xfrm>
          <a:prstGeom prst="rightArrow">
            <a:avLst>
              <a:gd name="adj1" fmla="val 49947"/>
              <a:gd name="adj2" fmla="val 41174"/>
            </a:avLst>
          </a:prstGeom>
          <a:solidFill>
            <a:schemeClr val="accent1">
              <a:lumMod val="40000"/>
              <a:lumOff val="60000"/>
            </a:schemeClr>
          </a:solidFill>
          <a:ln w="12700" cap="sq">
            <a:noFill/>
            <a:miter/>
          </a:ln>
        </p:spPr>
        <p:txBody>
          <a:bodyPr vert="horz" wrap="square" lIns="0" tIns="0" rIns="0" bIns="0" rtlCol="0" anchor="ctr"/>
          <a:lstStyle/>
          <a:p>
            <a:pPr algn="ctr"/>
            <a:endParaRPr kumimoji="1" lang="zh-CN" altLang="en-US"/>
          </a:p>
        </p:txBody>
      </p:sp>
      <p:sp>
        <p:nvSpPr>
          <p:cNvPr id="12" name="标题 1"/>
          <p:cNvSpPr txBox="1"/>
          <p:nvPr/>
        </p:nvSpPr>
        <p:spPr>
          <a:xfrm>
            <a:off x="7181221" y="3917649"/>
            <a:ext cx="1760199" cy="926499"/>
          </a:xfrm>
          <a:prstGeom prst="rightArrow">
            <a:avLst>
              <a:gd name="adj1" fmla="val 49947"/>
              <a:gd name="adj2" fmla="val 56252"/>
            </a:avLst>
          </a:prstGeom>
          <a:solidFill>
            <a:schemeClr val="accent1">
              <a:lumMod val="20000"/>
              <a:lumOff val="80000"/>
            </a:schemeClr>
          </a:solidFill>
          <a:ln w="12700" cap="sq">
            <a:noFill/>
            <a:miter/>
          </a:ln>
        </p:spPr>
        <p:txBody>
          <a:bodyPr vert="horz" wrap="square" lIns="0" tIns="0" rIns="0" bIns="0" rtlCol="0" anchor="ctr"/>
          <a:lstStyle/>
          <a:p>
            <a:pPr algn="ctr"/>
            <a:endParaRPr kumimoji="1" lang="zh-CN" altLang="en-US"/>
          </a:p>
        </p:txBody>
      </p:sp>
      <p:sp>
        <p:nvSpPr>
          <p:cNvPr id="13"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250">
                <a:ln w="12700">
                  <a:noFill/>
                </a:ln>
                <a:solidFill>
                  <a:srgbClr val="000000">
                    <a:alpha val="100000"/>
                  </a:srgbClr>
                </a:solidFill>
                <a:latin typeface="poppins-bold"/>
                <a:ea typeface="poppins-bold"/>
                <a:cs typeface="poppins-bold"/>
              </a:rPr>
              <a:t>Cumplimiento de Acuerdos de Nivel de Servicio (SLA)</a:t>
            </a:r>
            <a:endParaRPr kumimoji="1" lang="zh-CN" altLang="en-US"/>
          </a:p>
        </p:txBody>
      </p:sp>
      <p:pic>
        <p:nvPicPr>
          <p:cNvPr id="17" name="Imagen 16">
            <a:extLst>
              <a:ext uri="{FF2B5EF4-FFF2-40B4-BE49-F238E27FC236}">
                <a16:creationId xmlns:a16="http://schemas.microsoft.com/office/drawing/2014/main" id="{1E3D99BB-AB88-538D-0543-80D08CCA5A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880267" y="1721395"/>
            <a:ext cx="6888163" cy="1703698"/>
          </a:xfrm>
          <a:prstGeom prst="rect">
            <a:avLst/>
          </a:prstGeom>
          <a:solidFill>
            <a:schemeClr val="bg1"/>
          </a:solidFill>
          <a:ln w="3175" cap="sq">
            <a:solidFill>
              <a:schemeClr val="accent1"/>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cxnSp>
        <p:nvCxnSpPr>
          <p:cNvPr id="4" name="标题 1"/>
          <p:cNvCxnSpPr/>
          <p:nvPr/>
        </p:nvCxnSpPr>
        <p:spPr>
          <a:xfrm>
            <a:off x="903535" y="1721394"/>
            <a:ext cx="0" cy="1703698"/>
          </a:xfrm>
          <a:prstGeom prst="line">
            <a:avLst/>
          </a:prstGeom>
          <a:noFill/>
          <a:ln w="50800" cap="sq">
            <a:solidFill>
              <a:schemeClr val="accent1"/>
            </a:solidFill>
            <a:miter/>
          </a:ln>
        </p:spPr>
      </p:cxnSp>
      <p:sp>
        <p:nvSpPr>
          <p:cNvPr id="5" name="标题 1"/>
          <p:cNvSpPr txBox="1"/>
          <p:nvPr/>
        </p:nvSpPr>
        <p:spPr>
          <a:xfrm>
            <a:off x="880267" y="3701375"/>
            <a:ext cx="3964541" cy="2097826"/>
          </a:xfrm>
          <a:prstGeom prst="rect">
            <a:avLst/>
          </a:prstGeom>
          <a:solidFill>
            <a:schemeClr val="bg1"/>
          </a:solidFill>
          <a:ln w="3175" cap="sq">
            <a:solidFill>
              <a:schemeClr val="accent1">
                <a:lumMod val="60000"/>
                <a:lumOff val="4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sp>
        <p:nvSpPr>
          <p:cNvPr id="6" name="标题 1"/>
          <p:cNvSpPr txBox="1"/>
          <p:nvPr/>
        </p:nvSpPr>
        <p:spPr>
          <a:xfrm>
            <a:off x="5438711" y="3701375"/>
            <a:ext cx="3964541" cy="2097826"/>
          </a:xfrm>
          <a:prstGeom prst="rect">
            <a:avLst/>
          </a:prstGeom>
          <a:solidFill>
            <a:schemeClr val="bg1"/>
          </a:solidFill>
          <a:ln w="3175" cap="sq">
            <a:solidFill>
              <a:schemeClr val="accent1">
                <a:lumMod val="60000"/>
                <a:lumOff val="4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sp>
        <p:nvSpPr>
          <p:cNvPr id="7" name="标题 1"/>
          <p:cNvSpPr txBox="1"/>
          <p:nvPr/>
        </p:nvSpPr>
        <p:spPr>
          <a:xfrm>
            <a:off x="1117600" y="1910667"/>
            <a:ext cx="6413500" cy="1325155"/>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Definición y Importancia</a:t>
            </a:r>
            <a:endParaRPr kumimoji="1" lang="zh-CN" altLang="en-US"/>
          </a:p>
        </p:txBody>
      </p:sp>
      <p:cxnSp>
        <p:nvCxnSpPr>
          <p:cNvPr id="8" name="标题 1"/>
          <p:cNvCxnSpPr/>
          <p:nvPr/>
        </p:nvCxnSpPr>
        <p:spPr>
          <a:xfrm>
            <a:off x="2752251" y="4406244"/>
            <a:ext cx="220573" cy="0"/>
          </a:xfrm>
          <a:prstGeom prst="line">
            <a:avLst/>
          </a:prstGeom>
          <a:noFill/>
          <a:ln w="34925" cap="rnd">
            <a:solidFill>
              <a:schemeClr val="accent1"/>
            </a:solidFill>
            <a:round/>
          </a:ln>
        </p:spPr>
      </p:cxnSp>
      <p:cxnSp>
        <p:nvCxnSpPr>
          <p:cNvPr id="9" name="标题 1"/>
          <p:cNvCxnSpPr/>
          <p:nvPr/>
        </p:nvCxnSpPr>
        <p:spPr>
          <a:xfrm>
            <a:off x="7310695" y="4406244"/>
            <a:ext cx="220573" cy="0"/>
          </a:xfrm>
          <a:prstGeom prst="line">
            <a:avLst/>
          </a:prstGeom>
          <a:noFill/>
          <a:ln w="34925" cap="rnd">
            <a:solidFill>
              <a:schemeClr val="accent1"/>
            </a:solidFill>
            <a:round/>
          </a:ln>
        </p:spPr>
      </p:cxnSp>
      <p:sp>
        <p:nvSpPr>
          <p:cNvPr id="10" name="标题 1"/>
          <p:cNvSpPr txBox="1"/>
          <p:nvPr/>
        </p:nvSpPr>
        <p:spPr>
          <a:xfrm>
            <a:off x="2425559" y="3900783"/>
            <a:ext cx="876300" cy="355600"/>
          </a:xfrm>
          <a:prstGeom prst="rect">
            <a:avLst/>
          </a:prstGeom>
          <a:noFill/>
          <a:ln>
            <a:noFill/>
          </a:ln>
        </p:spPr>
        <p:txBody>
          <a:bodyPr vert="horz" wrap="square" lIns="0" tIns="0" rIns="0" bIns="0" rtlCol="0" anchor="t">
            <a:spAutoFit/>
          </a:bodyPr>
          <a:lstStyle/>
          <a:p>
            <a:pPr algn="ctr"/>
            <a:r>
              <a:rPr kumimoji="1" lang="en-US" altLang="zh-CN" sz="2800">
                <a:ln w="12700">
                  <a:noFill/>
                </a:ln>
                <a:solidFill>
                  <a:srgbClr val="D9D9D9">
                    <a:alpha val="100000"/>
                  </a:srgbClr>
                </a:solidFill>
                <a:latin typeface="poppins-bold"/>
                <a:ea typeface="poppins-bold"/>
                <a:cs typeface="poppins-bold"/>
              </a:rPr>
              <a:t>01</a:t>
            </a:r>
            <a:endParaRPr kumimoji="1" lang="zh-CN" altLang="en-US"/>
          </a:p>
        </p:txBody>
      </p:sp>
      <p:sp>
        <p:nvSpPr>
          <p:cNvPr id="11" name="标题 1"/>
          <p:cNvSpPr txBox="1"/>
          <p:nvPr/>
        </p:nvSpPr>
        <p:spPr>
          <a:xfrm>
            <a:off x="6984003" y="3900783"/>
            <a:ext cx="876300" cy="355600"/>
          </a:xfrm>
          <a:prstGeom prst="rect">
            <a:avLst/>
          </a:prstGeom>
          <a:noFill/>
          <a:ln>
            <a:noFill/>
          </a:ln>
        </p:spPr>
        <p:txBody>
          <a:bodyPr vert="horz" wrap="square" lIns="0" tIns="0" rIns="0" bIns="0" rtlCol="0" anchor="t">
            <a:spAutoFit/>
          </a:bodyPr>
          <a:lstStyle/>
          <a:p>
            <a:pPr algn="ctr"/>
            <a:r>
              <a:rPr kumimoji="1" lang="en-US" altLang="zh-CN" sz="2800">
                <a:ln w="12700">
                  <a:noFill/>
                </a:ln>
                <a:solidFill>
                  <a:srgbClr val="D9D9D9">
                    <a:alpha val="100000"/>
                  </a:srgbClr>
                </a:solidFill>
                <a:latin typeface="poppins-bold"/>
                <a:ea typeface="poppins-bold"/>
                <a:cs typeface="poppins-bold"/>
              </a:rPr>
              <a:t>02</a:t>
            </a:r>
            <a:endParaRPr kumimoji="1" lang="zh-CN" altLang="en-US"/>
          </a:p>
        </p:txBody>
      </p:sp>
      <p:sp>
        <p:nvSpPr>
          <p:cNvPr id="12" name="标题 1"/>
          <p:cNvSpPr txBox="1"/>
          <p:nvPr/>
        </p:nvSpPr>
        <p:spPr>
          <a:xfrm>
            <a:off x="1003300" y="4476067"/>
            <a:ext cx="3759200" cy="1185455"/>
          </a:xfrm>
          <a:prstGeom prst="rect">
            <a:avLst/>
          </a:prstGeom>
          <a:noFill/>
          <a:ln>
            <a:noFill/>
          </a:ln>
        </p:spPr>
        <p:txBody>
          <a:bodyPr vert="horz" wrap="square" lIns="0" tIns="0" rIns="0" bIns="0" rtlCol="0" anchor="ctr"/>
          <a:lstStyle/>
          <a:p>
            <a:pPr algn="ctr"/>
            <a:r>
              <a:rPr kumimoji="1" lang="en-US" altLang="zh-CN" sz="1400">
                <a:ln w="12700">
                  <a:noFill/>
                </a:ln>
                <a:solidFill>
                  <a:srgbClr val="262626">
                    <a:alpha val="100000"/>
                  </a:srgbClr>
                </a:solidFill>
                <a:latin typeface="Poppins"/>
                <a:ea typeface="Poppins"/>
                <a:cs typeface="Poppins"/>
              </a:rPr>
              <a:t>El tiempo (en milisegundos) que tarda un paquete de datos en ir y volver.</a:t>
            </a:r>
            <a:endParaRPr kumimoji="1" lang="zh-CN" altLang="en-US"/>
          </a:p>
        </p:txBody>
      </p:sp>
      <p:sp>
        <p:nvSpPr>
          <p:cNvPr id="13" name="标题 1"/>
          <p:cNvSpPr txBox="1"/>
          <p:nvPr/>
        </p:nvSpPr>
        <p:spPr>
          <a:xfrm>
            <a:off x="5537200" y="4476067"/>
            <a:ext cx="3759200" cy="1185455"/>
          </a:xfrm>
          <a:prstGeom prst="rect">
            <a:avLst/>
          </a:prstGeom>
          <a:noFill/>
          <a:ln>
            <a:noFill/>
          </a:ln>
        </p:spPr>
        <p:txBody>
          <a:bodyPr vert="horz" wrap="square" lIns="0" tIns="0" rIns="0" bIns="0" rtlCol="0" anchor="ctr"/>
          <a:lstStyle/>
          <a:p>
            <a:pPr algn="ctr"/>
            <a:r>
              <a:rPr kumimoji="1" lang="en-US" altLang="zh-CN" sz="1400">
                <a:ln w="12700">
                  <a:noFill/>
                </a:ln>
                <a:solidFill>
                  <a:srgbClr val="262626">
                    <a:alpha val="100000"/>
                  </a:srgbClr>
                </a:solidFill>
                <a:latin typeface="Poppins"/>
                <a:ea typeface="Poppins"/>
                <a:cs typeface="Poppins"/>
              </a:rPr>
              <a:t>Crucial para aplicaciones sensibles al tiempo real.</a:t>
            </a:r>
            <a:endParaRPr kumimoji="1" lang="zh-CN" altLang="en-US"/>
          </a:p>
        </p:txBody>
      </p:sp>
      <p:sp>
        <p:nvSpPr>
          <p:cNvPr id="14"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Latencia</a:t>
            </a:r>
            <a:endParaRPr kumimoji="1" lang="zh-CN" altLang="en-US"/>
          </a:p>
        </p:txBody>
      </p:sp>
      <p:pic>
        <p:nvPicPr>
          <p:cNvPr id="18" name="Imagen 17">
            <a:extLst>
              <a:ext uri="{FF2B5EF4-FFF2-40B4-BE49-F238E27FC236}">
                <a16:creationId xmlns:a16="http://schemas.microsoft.com/office/drawing/2014/main" id="{5A9F3434-575C-9FB2-0415-350CA2BBFD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57447" t="4870" r="6517" b="7349"/>
          <a:stretch>
            <a:fillRect/>
          </a:stretch>
        </p:blipFill>
        <p:spPr>
          <a:xfrm>
            <a:off x="7879744" y="1130301"/>
            <a:ext cx="3651857" cy="5003799"/>
          </a:xfrm>
          <a:custGeom>
            <a:avLst/>
            <a:gdLst/>
            <a:ahLst/>
            <a:cxnLst/>
            <a:rect l="l" t="t" r="r" b="b"/>
            <a:pathLst>
              <a:path w="3651857" h="5003799">
                <a:moveTo>
                  <a:pt x="0" y="0"/>
                </a:moveTo>
                <a:lnTo>
                  <a:pt x="3651857" y="0"/>
                </a:lnTo>
                <a:lnTo>
                  <a:pt x="3651857" y="5003799"/>
                </a:lnTo>
                <a:lnTo>
                  <a:pt x="0" y="5003799"/>
                </a:lnTo>
                <a:lnTo>
                  <a:pt x="0" y="0"/>
                </a:lnTo>
                <a:close/>
              </a:path>
            </a:pathLst>
          </a:custGeom>
          <a:noFill/>
          <a:ln>
            <a:noFill/>
          </a:ln>
        </p:spPr>
      </p:pic>
      <p:sp>
        <p:nvSpPr>
          <p:cNvPr id="3" name="标题 1"/>
          <p:cNvSpPr txBox="1"/>
          <p:nvPr/>
        </p:nvSpPr>
        <p:spPr>
          <a:xfrm>
            <a:off x="1527551" y="2824258"/>
            <a:ext cx="5868000" cy="1272776"/>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Aplicado al help desk del centro de cómputo.</a:t>
            </a:r>
            <a:endParaRPr kumimoji="1" lang="zh-CN" altLang="en-US"/>
          </a:p>
        </p:txBody>
      </p:sp>
      <p:sp>
        <p:nvSpPr>
          <p:cNvPr id="4" name="标题 1"/>
          <p:cNvSpPr txBox="1"/>
          <p:nvPr/>
        </p:nvSpPr>
        <p:spPr>
          <a:xfrm>
            <a:off x="1527551" y="4501506"/>
            <a:ext cx="5868000" cy="1272776"/>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Qué porcentaje de problemas se resuelven en el primer contacto del usuario.</a:t>
            </a:r>
            <a:endParaRPr kumimoji="1" lang="zh-CN" altLang="en-US"/>
          </a:p>
        </p:txBody>
      </p:sp>
      <p:sp>
        <p:nvSpPr>
          <p:cNvPr id="5" name="标题 1"/>
          <p:cNvSpPr txBox="1"/>
          <p:nvPr/>
        </p:nvSpPr>
        <p:spPr>
          <a:xfrm>
            <a:off x="660401" y="1490118"/>
            <a:ext cx="6735150" cy="808990"/>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Definición y Medición</a:t>
            </a:r>
            <a:endParaRPr kumimoji="1" lang="zh-CN" altLang="en-US"/>
          </a:p>
        </p:txBody>
      </p:sp>
      <p:sp>
        <p:nvSpPr>
          <p:cNvPr id="6" name="标题 1"/>
          <p:cNvSpPr txBox="1"/>
          <p:nvPr/>
        </p:nvSpPr>
        <p:spPr>
          <a:xfrm>
            <a:off x="660400" y="2824258"/>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732400" y="3022258"/>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01</a:t>
            </a:r>
            <a:endParaRPr kumimoji="1" lang="zh-CN" altLang="en-US"/>
          </a:p>
        </p:txBody>
      </p:sp>
      <p:sp>
        <p:nvSpPr>
          <p:cNvPr id="8" name="标题 1"/>
          <p:cNvSpPr txBox="1"/>
          <p:nvPr/>
        </p:nvSpPr>
        <p:spPr>
          <a:xfrm>
            <a:off x="660400" y="4501506"/>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732400" y="4699506"/>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02</a:t>
            </a:r>
            <a:endParaRPr kumimoji="1" lang="zh-CN" altLang="en-US"/>
          </a:p>
        </p:txBody>
      </p:sp>
      <p:sp>
        <p:nvSpPr>
          <p:cNvPr id="10"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460">
                <a:ln w="12700">
                  <a:noFill/>
                </a:ln>
                <a:solidFill>
                  <a:srgbClr val="000000">
                    <a:alpha val="100000"/>
                  </a:srgbClr>
                </a:solidFill>
                <a:latin typeface="poppins-bold"/>
                <a:ea typeface="poppins-bold"/>
                <a:cs typeface="poppins-bold"/>
              </a:rPr>
              <a:t>Tasa de Resolución en la Primera Llamada (FCR)</a:t>
            </a:r>
            <a:endParaRPr kumimoji="1" lang="zh-CN" altLang="en-US"/>
          </a:p>
        </p:txBody>
      </p:sp>
      <p:pic>
        <p:nvPicPr>
          <p:cNvPr id="15" name="Imagen 14">
            <a:extLst>
              <a:ext uri="{FF2B5EF4-FFF2-40B4-BE49-F238E27FC236}">
                <a16:creationId xmlns:a16="http://schemas.microsoft.com/office/drawing/2014/main" id="{305FEA77-BCE8-BD35-75D2-8DE233AB42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5537200" y="2584037"/>
            <a:ext cx="5203029" cy="531018"/>
          </a:xfrm>
          <a:custGeom>
            <a:avLst/>
            <a:gdLst>
              <a:gd name="connsiteX0" fmla="*/ 3412998 w 3429190"/>
              <a:gd name="connsiteY0" fmla="*/ 0 h 531018"/>
              <a:gd name="connsiteX1" fmla="*/ 3062859 w 3429190"/>
              <a:gd name="connsiteY1" fmla="*/ 331280 h 531018"/>
              <a:gd name="connsiteX2" fmla="*/ 2359533 w 3429190"/>
              <a:gd name="connsiteY2" fmla="*/ 512064 h 531018"/>
              <a:gd name="connsiteX3" fmla="*/ 0 w 3429190"/>
              <a:gd name="connsiteY3" fmla="*/ 512064 h 531018"/>
              <a:gd name="connsiteX4" fmla="*/ 381 w 3429190"/>
              <a:gd name="connsiteY4" fmla="*/ 519112 h 531018"/>
              <a:gd name="connsiteX5" fmla="*/ 1238 w 3429190"/>
              <a:gd name="connsiteY5" fmla="*/ 531019 h 531018"/>
              <a:gd name="connsiteX6" fmla="*/ 2359438 w 3429190"/>
              <a:gd name="connsiteY6" fmla="*/ 531019 h 531018"/>
              <a:gd name="connsiteX7" fmla="*/ 3072194 w 3429190"/>
              <a:gd name="connsiteY7" fmla="*/ 347758 h 531018"/>
              <a:gd name="connsiteX8" fmla="*/ 3429191 w 3429190"/>
              <a:gd name="connsiteY8" fmla="*/ 9811 h 531018"/>
              <a:gd name="connsiteX9" fmla="*/ 3412998 w 3429190"/>
              <a:gd name="connsiteY9" fmla="*/ 0 h 531018"/>
            </a:gdLst>
            <a:ahLst/>
            <a:cxnLst/>
            <a:rect l="l" t="t" r="r" b="b"/>
            <a:pathLst>
              <a:path w="3429190" h="531018">
                <a:moveTo>
                  <a:pt x="3412998" y="0"/>
                </a:moveTo>
                <a:cubicBezTo>
                  <a:pt x="3335179" y="129730"/>
                  <a:pt x="3217355" y="241173"/>
                  <a:pt x="3062859" y="331280"/>
                </a:cubicBezTo>
                <a:cubicBezTo>
                  <a:pt x="2859881" y="449580"/>
                  <a:pt x="2616708" y="512064"/>
                  <a:pt x="2359533" y="512064"/>
                </a:cubicBezTo>
                <a:lnTo>
                  <a:pt x="0" y="512064"/>
                </a:lnTo>
                <a:cubicBezTo>
                  <a:pt x="191" y="514445"/>
                  <a:pt x="381" y="516731"/>
                  <a:pt x="381" y="519112"/>
                </a:cubicBezTo>
                <a:cubicBezTo>
                  <a:pt x="953" y="523113"/>
                  <a:pt x="1238" y="527018"/>
                  <a:pt x="1238" y="531019"/>
                </a:cubicBezTo>
                <a:lnTo>
                  <a:pt x="2359438" y="531019"/>
                </a:lnTo>
                <a:cubicBezTo>
                  <a:pt x="2619851" y="531019"/>
                  <a:pt x="2866454" y="467582"/>
                  <a:pt x="3072194" y="347758"/>
                </a:cubicBezTo>
                <a:cubicBezTo>
                  <a:pt x="3229547" y="256032"/>
                  <a:pt x="3349657" y="142303"/>
                  <a:pt x="3429191" y="9811"/>
                </a:cubicBezTo>
                <a:lnTo>
                  <a:pt x="3412998" y="0"/>
                </a:lnTo>
                <a:close/>
              </a:path>
            </a:pathLst>
          </a:custGeom>
          <a:solidFill>
            <a:schemeClr val="accent1"/>
          </a:solidFill>
          <a:ln w="28575"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707753" y="2164061"/>
            <a:ext cx="305938" cy="378832"/>
          </a:xfrm>
          <a:custGeom>
            <a:avLst/>
            <a:gdLst>
              <a:gd name="connsiteX0" fmla="*/ 303938 w 305938"/>
              <a:gd name="connsiteY0" fmla="*/ 316058 h 378832"/>
              <a:gd name="connsiteX1" fmla="*/ 305939 w 305938"/>
              <a:gd name="connsiteY1" fmla="*/ 4876 h 378832"/>
              <a:gd name="connsiteX2" fmla="*/ 299462 w 305938"/>
              <a:gd name="connsiteY2" fmla="*/ 780 h 378832"/>
              <a:gd name="connsiteX3" fmla="*/ 4663 w 305938"/>
              <a:gd name="connsiteY3" fmla="*/ 222618 h 378832"/>
              <a:gd name="connsiteX4" fmla="*/ 8378 w 305938"/>
              <a:gd name="connsiteY4" fmla="*/ 244620 h 378832"/>
              <a:gd name="connsiteX5" fmla="*/ 93055 w 305938"/>
              <a:gd name="connsiteY5" fmla="*/ 269385 h 378832"/>
              <a:gd name="connsiteX6" fmla="*/ 264314 w 305938"/>
              <a:gd name="connsiteY6" fmla="*/ 76123 h 378832"/>
              <a:gd name="connsiteX7" fmla="*/ 127154 w 305938"/>
              <a:gd name="connsiteY7" fmla="*/ 285578 h 378832"/>
              <a:gd name="connsiteX8" fmla="*/ 134679 w 305938"/>
              <a:gd name="connsiteY8" fmla="*/ 367588 h 378832"/>
              <a:gd name="connsiteX9" fmla="*/ 155063 w 305938"/>
              <a:gd name="connsiteY9" fmla="*/ 372160 h 378832"/>
              <a:gd name="connsiteX10" fmla="*/ 186781 w 305938"/>
              <a:gd name="connsiteY10" fmla="*/ 298056 h 378832"/>
              <a:gd name="connsiteX11" fmla="*/ 290984 w 305938"/>
              <a:gd name="connsiteY11" fmla="*/ 327393 h 378832"/>
              <a:gd name="connsiteX12" fmla="*/ 303938 w 305938"/>
              <a:gd name="connsiteY12" fmla="*/ 316058 h 378832"/>
            </a:gdLst>
            <a:ahLst/>
            <a:cxnLst/>
            <a:rect l="l" t="t" r="r" b="b"/>
            <a:pathLst>
              <a:path w="305938" h="378832">
                <a:moveTo>
                  <a:pt x="303938" y="316058"/>
                </a:moveTo>
                <a:lnTo>
                  <a:pt x="305939" y="4876"/>
                </a:lnTo>
                <a:cubicBezTo>
                  <a:pt x="305939" y="1066"/>
                  <a:pt x="302224" y="-1315"/>
                  <a:pt x="299462" y="780"/>
                </a:cubicBezTo>
                <a:lnTo>
                  <a:pt x="4663" y="222618"/>
                </a:lnTo>
                <a:cubicBezTo>
                  <a:pt x="-3052" y="228428"/>
                  <a:pt x="-766" y="241953"/>
                  <a:pt x="8378" y="244620"/>
                </a:cubicBezTo>
                <a:lnTo>
                  <a:pt x="93055" y="269385"/>
                </a:lnTo>
                <a:lnTo>
                  <a:pt x="264314" y="76123"/>
                </a:lnTo>
                <a:lnTo>
                  <a:pt x="127154" y="285578"/>
                </a:lnTo>
                <a:lnTo>
                  <a:pt x="134679" y="367588"/>
                </a:lnTo>
                <a:cubicBezTo>
                  <a:pt x="135822" y="379875"/>
                  <a:pt x="150395" y="383114"/>
                  <a:pt x="155063" y="372160"/>
                </a:cubicBezTo>
                <a:lnTo>
                  <a:pt x="186781" y="298056"/>
                </a:lnTo>
                <a:lnTo>
                  <a:pt x="290984" y="327393"/>
                </a:lnTo>
                <a:cubicBezTo>
                  <a:pt x="297557" y="329393"/>
                  <a:pt x="303843" y="323868"/>
                  <a:pt x="303938" y="31605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05</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Interpretación de Métricas: Más Allá del Número</a:t>
            </a:r>
            <a:endParaRPr kumimoji="1" lang="zh-CN" altLang="en-US"/>
          </a:p>
        </p:txBody>
      </p:sp>
      <p:sp>
        <p:nvSpPr>
          <p:cNvPr id="9" name="标题 1"/>
          <p:cNvSpPr txBox="1"/>
          <p:nvPr/>
        </p:nvSpPr>
        <p:spPr>
          <a:xfrm>
            <a:off x="10980186" y="638212"/>
            <a:ext cx="537267" cy="390488"/>
          </a:xfrm>
          <a:custGeom>
            <a:avLst/>
            <a:gdLst/>
            <a:ahLst/>
            <a:cxnLst/>
            <a:rect l="l" t="t" r="r" b="b"/>
            <a:pathLst>
              <a:path w="537267" h="390488">
                <a:moveTo>
                  <a:pt x="474259" y="272460"/>
                </a:moveTo>
                <a:cubicBezTo>
                  <a:pt x="461854" y="272289"/>
                  <a:pt x="453511" y="275831"/>
                  <a:pt x="449231" y="283086"/>
                </a:cubicBezTo>
                <a:cubicBezTo>
                  <a:pt x="444952" y="290341"/>
                  <a:pt x="442960" y="302334"/>
                  <a:pt x="443255" y="319065"/>
                </a:cubicBezTo>
                <a:cubicBezTo>
                  <a:pt x="442960" y="335947"/>
                  <a:pt x="444952" y="347890"/>
                  <a:pt x="449231" y="354895"/>
                </a:cubicBezTo>
                <a:cubicBezTo>
                  <a:pt x="453511" y="361900"/>
                  <a:pt x="461854" y="365292"/>
                  <a:pt x="474259" y="365071"/>
                </a:cubicBezTo>
                <a:cubicBezTo>
                  <a:pt x="486761" y="365292"/>
                  <a:pt x="495162" y="361900"/>
                  <a:pt x="499462" y="354895"/>
                </a:cubicBezTo>
                <a:cubicBezTo>
                  <a:pt x="503763" y="347890"/>
                  <a:pt x="505763" y="335947"/>
                  <a:pt x="505463" y="319065"/>
                </a:cubicBezTo>
                <a:cubicBezTo>
                  <a:pt x="505763" y="302334"/>
                  <a:pt x="503763" y="290341"/>
                  <a:pt x="499462" y="283086"/>
                </a:cubicBezTo>
                <a:cubicBezTo>
                  <a:pt x="495162" y="275831"/>
                  <a:pt x="486761" y="272289"/>
                  <a:pt x="474259" y="272460"/>
                </a:cubicBezTo>
                <a:close/>
                <a:moveTo>
                  <a:pt x="178984" y="272460"/>
                </a:moveTo>
                <a:cubicBezTo>
                  <a:pt x="166579" y="272289"/>
                  <a:pt x="158236" y="275831"/>
                  <a:pt x="153956" y="283086"/>
                </a:cubicBezTo>
                <a:cubicBezTo>
                  <a:pt x="149677" y="290341"/>
                  <a:pt x="147685" y="302334"/>
                  <a:pt x="147980" y="319065"/>
                </a:cubicBezTo>
                <a:cubicBezTo>
                  <a:pt x="147685" y="335947"/>
                  <a:pt x="149677" y="347890"/>
                  <a:pt x="153956" y="354895"/>
                </a:cubicBezTo>
                <a:cubicBezTo>
                  <a:pt x="158236" y="361900"/>
                  <a:pt x="166579" y="365292"/>
                  <a:pt x="178984" y="365071"/>
                </a:cubicBezTo>
                <a:cubicBezTo>
                  <a:pt x="191486" y="365292"/>
                  <a:pt x="199887" y="361900"/>
                  <a:pt x="204188" y="354895"/>
                </a:cubicBezTo>
                <a:cubicBezTo>
                  <a:pt x="208488" y="347890"/>
                  <a:pt x="210488" y="335947"/>
                  <a:pt x="210188" y="319065"/>
                </a:cubicBezTo>
                <a:cubicBezTo>
                  <a:pt x="210488" y="302334"/>
                  <a:pt x="208488" y="290341"/>
                  <a:pt x="204188" y="283086"/>
                </a:cubicBezTo>
                <a:cubicBezTo>
                  <a:pt x="199887" y="275831"/>
                  <a:pt x="191486" y="272289"/>
                  <a:pt x="178984" y="272460"/>
                </a:cubicBezTo>
                <a:close/>
                <a:moveTo>
                  <a:pt x="15002" y="249657"/>
                </a:moveTo>
                <a:lnTo>
                  <a:pt x="45406" y="249657"/>
                </a:lnTo>
                <a:lnTo>
                  <a:pt x="45406" y="362071"/>
                </a:lnTo>
                <a:lnTo>
                  <a:pt x="100613" y="362071"/>
                </a:lnTo>
                <a:lnTo>
                  <a:pt x="100613" y="388474"/>
                </a:lnTo>
                <a:lnTo>
                  <a:pt x="15002" y="388474"/>
                </a:lnTo>
                <a:close/>
                <a:moveTo>
                  <a:pt x="474259" y="247656"/>
                </a:moveTo>
                <a:cubicBezTo>
                  <a:pt x="487883" y="247490"/>
                  <a:pt x="499374" y="249468"/>
                  <a:pt x="508730" y="253591"/>
                </a:cubicBezTo>
                <a:cubicBezTo>
                  <a:pt x="518087" y="257713"/>
                  <a:pt x="525177" y="264981"/>
                  <a:pt x="530000" y="275393"/>
                </a:cubicBezTo>
                <a:cubicBezTo>
                  <a:pt x="534822" y="285806"/>
                  <a:pt x="537245" y="300363"/>
                  <a:pt x="537267" y="319065"/>
                </a:cubicBezTo>
                <a:cubicBezTo>
                  <a:pt x="537245" y="337768"/>
                  <a:pt x="534822" y="352325"/>
                  <a:pt x="530000" y="362737"/>
                </a:cubicBezTo>
                <a:cubicBezTo>
                  <a:pt x="525177" y="373150"/>
                  <a:pt x="518087" y="380417"/>
                  <a:pt x="508730" y="384540"/>
                </a:cubicBezTo>
                <a:cubicBezTo>
                  <a:pt x="499374" y="388663"/>
                  <a:pt x="487883" y="390641"/>
                  <a:pt x="474259" y="390474"/>
                </a:cubicBezTo>
                <a:cubicBezTo>
                  <a:pt x="460824" y="390641"/>
                  <a:pt x="449423" y="388663"/>
                  <a:pt x="440055" y="384540"/>
                </a:cubicBezTo>
                <a:cubicBezTo>
                  <a:pt x="430687" y="380417"/>
                  <a:pt x="423553" y="373150"/>
                  <a:pt x="418652" y="362737"/>
                </a:cubicBezTo>
                <a:cubicBezTo>
                  <a:pt x="413752" y="352325"/>
                  <a:pt x="411285" y="337768"/>
                  <a:pt x="411251" y="319065"/>
                </a:cubicBezTo>
                <a:cubicBezTo>
                  <a:pt x="411285" y="300363"/>
                  <a:pt x="413752" y="285806"/>
                  <a:pt x="418652" y="275393"/>
                </a:cubicBezTo>
                <a:cubicBezTo>
                  <a:pt x="423553" y="264981"/>
                  <a:pt x="430687" y="257713"/>
                  <a:pt x="440055" y="253591"/>
                </a:cubicBezTo>
                <a:cubicBezTo>
                  <a:pt x="449423" y="249468"/>
                  <a:pt x="460824" y="247490"/>
                  <a:pt x="474259" y="247656"/>
                </a:cubicBezTo>
                <a:close/>
                <a:moveTo>
                  <a:pt x="337785" y="247656"/>
                </a:moveTo>
                <a:cubicBezTo>
                  <a:pt x="344682" y="247665"/>
                  <a:pt x="351541" y="248098"/>
                  <a:pt x="358363" y="248957"/>
                </a:cubicBezTo>
                <a:cubicBezTo>
                  <a:pt x="365184" y="249815"/>
                  <a:pt x="370793" y="251049"/>
                  <a:pt x="375190" y="252657"/>
                </a:cubicBezTo>
                <a:lnTo>
                  <a:pt x="375190" y="279260"/>
                </a:lnTo>
                <a:cubicBezTo>
                  <a:pt x="369931" y="277364"/>
                  <a:pt x="364297" y="275956"/>
                  <a:pt x="358288" y="275035"/>
                </a:cubicBezTo>
                <a:cubicBezTo>
                  <a:pt x="352279" y="274114"/>
                  <a:pt x="346245" y="273656"/>
                  <a:pt x="340185" y="273660"/>
                </a:cubicBezTo>
                <a:cubicBezTo>
                  <a:pt x="326938" y="273351"/>
                  <a:pt x="317178" y="276518"/>
                  <a:pt x="310907" y="283161"/>
                </a:cubicBezTo>
                <a:cubicBezTo>
                  <a:pt x="304635" y="289803"/>
                  <a:pt x="301526" y="301772"/>
                  <a:pt x="301581" y="319065"/>
                </a:cubicBezTo>
                <a:cubicBezTo>
                  <a:pt x="301536" y="331218"/>
                  <a:pt x="302736" y="340629"/>
                  <a:pt x="305181" y="347299"/>
                </a:cubicBezTo>
                <a:cubicBezTo>
                  <a:pt x="307626" y="353969"/>
                  <a:pt x="311582" y="358594"/>
                  <a:pt x="317049" y="361174"/>
                </a:cubicBezTo>
                <a:cubicBezTo>
                  <a:pt x="322517" y="363755"/>
                  <a:pt x="329762" y="364987"/>
                  <a:pt x="338785" y="364871"/>
                </a:cubicBezTo>
                <a:cubicBezTo>
                  <a:pt x="341565" y="364884"/>
                  <a:pt x="344157" y="364809"/>
                  <a:pt x="346561" y="364646"/>
                </a:cubicBezTo>
                <a:cubicBezTo>
                  <a:pt x="348966" y="364484"/>
                  <a:pt x="351308" y="364159"/>
                  <a:pt x="353587" y="363671"/>
                </a:cubicBezTo>
                <a:lnTo>
                  <a:pt x="353587" y="333667"/>
                </a:lnTo>
                <a:lnTo>
                  <a:pt x="329984" y="333667"/>
                </a:lnTo>
                <a:lnTo>
                  <a:pt x="329984" y="308264"/>
                </a:lnTo>
                <a:lnTo>
                  <a:pt x="381791" y="308264"/>
                </a:lnTo>
                <a:lnTo>
                  <a:pt x="381791" y="384274"/>
                </a:lnTo>
                <a:cubicBezTo>
                  <a:pt x="376452" y="386020"/>
                  <a:pt x="369827" y="387478"/>
                  <a:pt x="361913" y="388649"/>
                </a:cubicBezTo>
                <a:cubicBezTo>
                  <a:pt x="354000" y="389820"/>
                  <a:pt x="345624" y="390428"/>
                  <a:pt x="336785" y="390474"/>
                </a:cubicBezTo>
                <a:cubicBezTo>
                  <a:pt x="322528" y="390671"/>
                  <a:pt x="310304" y="388811"/>
                  <a:pt x="300114" y="384896"/>
                </a:cubicBezTo>
                <a:cubicBezTo>
                  <a:pt x="289924" y="380981"/>
                  <a:pt x="282100" y="373831"/>
                  <a:pt x="276644" y="363449"/>
                </a:cubicBezTo>
                <a:cubicBezTo>
                  <a:pt x="271188" y="353066"/>
                  <a:pt x="268432" y="338271"/>
                  <a:pt x="268376" y="319065"/>
                </a:cubicBezTo>
                <a:cubicBezTo>
                  <a:pt x="268437" y="301308"/>
                  <a:pt x="271250" y="287195"/>
                  <a:pt x="276815" y="276727"/>
                </a:cubicBezTo>
                <a:cubicBezTo>
                  <a:pt x="282379" y="266259"/>
                  <a:pt x="290334" y="258769"/>
                  <a:pt x="300677" y="254257"/>
                </a:cubicBezTo>
                <a:cubicBezTo>
                  <a:pt x="311020" y="249746"/>
                  <a:pt x="323390" y="247545"/>
                  <a:pt x="337785" y="247656"/>
                </a:cubicBezTo>
                <a:close/>
                <a:moveTo>
                  <a:pt x="178984" y="247656"/>
                </a:moveTo>
                <a:cubicBezTo>
                  <a:pt x="192608" y="247490"/>
                  <a:pt x="204099" y="249468"/>
                  <a:pt x="213455" y="253591"/>
                </a:cubicBezTo>
                <a:cubicBezTo>
                  <a:pt x="222812" y="257713"/>
                  <a:pt x="229902" y="264981"/>
                  <a:pt x="234725" y="275393"/>
                </a:cubicBezTo>
                <a:cubicBezTo>
                  <a:pt x="239547" y="285806"/>
                  <a:pt x="241970" y="300363"/>
                  <a:pt x="241992" y="319065"/>
                </a:cubicBezTo>
                <a:cubicBezTo>
                  <a:pt x="241970" y="337768"/>
                  <a:pt x="239547" y="352325"/>
                  <a:pt x="234725" y="362737"/>
                </a:cubicBezTo>
                <a:cubicBezTo>
                  <a:pt x="229902" y="373150"/>
                  <a:pt x="222812" y="380417"/>
                  <a:pt x="213455" y="384540"/>
                </a:cubicBezTo>
                <a:cubicBezTo>
                  <a:pt x="204099" y="388663"/>
                  <a:pt x="192608" y="390641"/>
                  <a:pt x="178984" y="390474"/>
                </a:cubicBezTo>
                <a:cubicBezTo>
                  <a:pt x="165549" y="390641"/>
                  <a:pt x="154148" y="388663"/>
                  <a:pt x="144780" y="384540"/>
                </a:cubicBezTo>
                <a:cubicBezTo>
                  <a:pt x="135412" y="380417"/>
                  <a:pt x="128278" y="373150"/>
                  <a:pt x="123377" y="362737"/>
                </a:cubicBezTo>
                <a:cubicBezTo>
                  <a:pt x="118477" y="352325"/>
                  <a:pt x="116010" y="337768"/>
                  <a:pt x="115976" y="319065"/>
                </a:cubicBezTo>
                <a:cubicBezTo>
                  <a:pt x="116010" y="300363"/>
                  <a:pt x="118477" y="285806"/>
                  <a:pt x="123377" y="275393"/>
                </a:cubicBezTo>
                <a:cubicBezTo>
                  <a:pt x="128278" y="264981"/>
                  <a:pt x="135412" y="257713"/>
                  <a:pt x="144780" y="253591"/>
                </a:cubicBezTo>
                <a:cubicBezTo>
                  <a:pt x="154148" y="249468"/>
                  <a:pt x="165549" y="247490"/>
                  <a:pt x="178984" y="247656"/>
                </a:cubicBezTo>
                <a:close/>
                <a:moveTo>
                  <a:pt x="421729" y="13608"/>
                </a:moveTo>
                <a:lnTo>
                  <a:pt x="421729" y="71215"/>
                </a:lnTo>
                <a:lnTo>
                  <a:pt x="438931" y="71215"/>
                </a:lnTo>
                <a:cubicBezTo>
                  <a:pt x="449042" y="71205"/>
                  <a:pt x="456957" y="70514"/>
                  <a:pt x="462675" y="69141"/>
                </a:cubicBezTo>
                <a:cubicBezTo>
                  <a:pt x="468393" y="67768"/>
                  <a:pt x="472455" y="64973"/>
                  <a:pt x="474862" y="60755"/>
                </a:cubicBezTo>
                <a:cubicBezTo>
                  <a:pt x="477268" y="56537"/>
                  <a:pt x="478560" y="50156"/>
                  <a:pt x="478736" y="41612"/>
                </a:cubicBezTo>
                <a:cubicBezTo>
                  <a:pt x="478678" y="30406"/>
                  <a:pt x="475694" y="22913"/>
                  <a:pt x="469785" y="19134"/>
                </a:cubicBezTo>
                <a:cubicBezTo>
                  <a:pt x="463876" y="15354"/>
                  <a:pt x="453591" y="13512"/>
                  <a:pt x="438931" y="13608"/>
                </a:cubicBezTo>
                <a:close/>
                <a:moveTo>
                  <a:pt x="186909" y="11608"/>
                </a:moveTo>
                <a:cubicBezTo>
                  <a:pt x="175218" y="11787"/>
                  <a:pt x="166130" y="13829"/>
                  <a:pt x="159646" y="17735"/>
                </a:cubicBezTo>
                <a:cubicBezTo>
                  <a:pt x="153163" y="21640"/>
                  <a:pt x="148624" y="27935"/>
                  <a:pt x="146030" y="36618"/>
                </a:cubicBezTo>
                <a:cubicBezTo>
                  <a:pt x="143436" y="45302"/>
                  <a:pt x="142127" y="56901"/>
                  <a:pt x="142104" y="71415"/>
                </a:cubicBezTo>
                <a:cubicBezTo>
                  <a:pt x="141770" y="93160"/>
                  <a:pt x="144837" y="108628"/>
                  <a:pt x="151305" y="117821"/>
                </a:cubicBezTo>
                <a:cubicBezTo>
                  <a:pt x="157772" y="127014"/>
                  <a:pt x="169640" y="131481"/>
                  <a:pt x="186909" y="131223"/>
                </a:cubicBezTo>
                <a:cubicBezTo>
                  <a:pt x="198601" y="131059"/>
                  <a:pt x="207688" y="129076"/>
                  <a:pt x="214172" y="125274"/>
                </a:cubicBezTo>
                <a:cubicBezTo>
                  <a:pt x="220655" y="121472"/>
                  <a:pt x="225194" y="115237"/>
                  <a:pt x="227788" y="106568"/>
                </a:cubicBezTo>
                <a:cubicBezTo>
                  <a:pt x="230382" y="97899"/>
                  <a:pt x="231691" y="86181"/>
                  <a:pt x="231715" y="71415"/>
                </a:cubicBezTo>
                <a:cubicBezTo>
                  <a:pt x="231691" y="56835"/>
                  <a:pt x="230382" y="45191"/>
                  <a:pt x="227788" y="36485"/>
                </a:cubicBezTo>
                <a:cubicBezTo>
                  <a:pt x="225194" y="27779"/>
                  <a:pt x="220655" y="21484"/>
                  <a:pt x="214172" y="17601"/>
                </a:cubicBezTo>
                <a:cubicBezTo>
                  <a:pt x="207688" y="13718"/>
                  <a:pt x="198601" y="11720"/>
                  <a:pt x="186909" y="11608"/>
                </a:cubicBezTo>
                <a:close/>
                <a:moveTo>
                  <a:pt x="408527" y="2007"/>
                </a:moveTo>
                <a:lnTo>
                  <a:pt x="439131" y="2007"/>
                </a:lnTo>
                <a:cubicBezTo>
                  <a:pt x="452492" y="2051"/>
                  <a:pt x="462997" y="3251"/>
                  <a:pt x="470646" y="5607"/>
                </a:cubicBezTo>
                <a:cubicBezTo>
                  <a:pt x="478295" y="7963"/>
                  <a:pt x="483733" y="12008"/>
                  <a:pt x="486959" y="17742"/>
                </a:cubicBezTo>
                <a:cubicBezTo>
                  <a:pt x="490186" y="23476"/>
                  <a:pt x="491845" y="31433"/>
                  <a:pt x="491938" y="41612"/>
                </a:cubicBezTo>
                <a:cubicBezTo>
                  <a:pt x="492009" y="53596"/>
                  <a:pt x="489717" y="62681"/>
                  <a:pt x="485062" y="68865"/>
                </a:cubicBezTo>
                <a:cubicBezTo>
                  <a:pt x="480407" y="75049"/>
                  <a:pt x="472964" y="79033"/>
                  <a:pt x="462734" y="80817"/>
                </a:cubicBezTo>
                <a:lnTo>
                  <a:pt x="505139" y="140824"/>
                </a:lnTo>
                <a:lnTo>
                  <a:pt x="489337" y="140824"/>
                </a:lnTo>
                <a:lnTo>
                  <a:pt x="449132" y="82417"/>
                </a:lnTo>
                <a:cubicBezTo>
                  <a:pt x="448224" y="82513"/>
                  <a:pt x="446990" y="82571"/>
                  <a:pt x="445432" y="82592"/>
                </a:cubicBezTo>
                <a:cubicBezTo>
                  <a:pt x="443873" y="82613"/>
                  <a:pt x="442040" y="82621"/>
                  <a:pt x="439931" y="82617"/>
                </a:cubicBezTo>
                <a:lnTo>
                  <a:pt x="421729" y="82617"/>
                </a:lnTo>
                <a:lnTo>
                  <a:pt x="421729" y="140824"/>
                </a:lnTo>
                <a:lnTo>
                  <a:pt x="408527" y="140824"/>
                </a:lnTo>
                <a:close/>
                <a:moveTo>
                  <a:pt x="274377" y="2007"/>
                </a:moveTo>
                <a:lnTo>
                  <a:pt x="287579" y="2007"/>
                </a:lnTo>
                <a:lnTo>
                  <a:pt x="287579" y="92218"/>
                </a:lnTo>
                <a:cubicBezTo>
                  <a:pt x="287408" y="106961"/>
                  <a:pt x="290150" y="117179"/>
                  <a:pt x="295805" y="122872"/>
                </a:cubicBezTo>
                <a:cubicBezTo>
                  <a:pt x="301460" y="128564"/>
                  <a:pt x="311053" y="131281"/>
                  <a:pt x="324583" y="131023"/>
                </a:cubicBezTo>
                <a:cubicBezTo>
                  <a:pt x="338752" y="131281"/>
                  <a:pt x="348620" y="128564"/>
                  <a:pt x="354187" y="122872"/>
                </a:cubicBezTo>
                <a:cubicBezTo>
                  <a:pt x="359755" y="117179"/>
                  <a:pt x="362422" y="106961"/>
                  <a:pt x="362188" y="92218"/>
                </a:cubicBezTo>
                <a:lnTo>
                  <a:pt x="362188" y="2007"/>
                </a:lnTo>
                <a:lnTo>
                  <a:pt x="375190" y="2007"/>
                </a:lnTo>
                <a:lnTo>
                  <a:pt x="375190" y="96218"/>
                </a:lnTo>
                <a:cubicBezTo>
                  <a:pt x="375223" y="112512"/>
                  <a:pt x="371056" y="124380"/>
                  <a:pt x="362688" y="131823"/>
                </a:cubicBezTo>
                <a:cubicBezTo>
                  <a:pt x="354321" y="139266"/>
                  <a:pt x="341552" y="142933"/>
                  <a:pt x="324383" y="142824"/>
                </a:cubicBezTo>
                <a:cubicBezTo>
                  <a:pt x="307248" y="142970"/>
                  <a:pt x="294613" y="139378"/>
                  <a:pt x="286479" y="132048"/>
                </a:cubicBezTo>
                <a:cubicBezTo>
                  <a:pt x="278344" y="124718"/>
                  <a:pt x="274311" y="112775"/>
                  <a:pt x="274377" y="96218"/>
                </a:cubicBezTo>
                <a:close/>
                <a:moveTo>
                  <a:pt x="0" y="2007"/>
                </a:moveTo>
                <a:lnTo>
                  <a:pt x="15202" y="2007"/>
                </a:lnTo>
                <a:lnTo>
                  <a:pt x="55207" y="67215"/>
                </a:lnTo>
                <a:lnTo>
                  <a:pt x="56407" y="67215"/>
                </a:lnTo>
                <a:lnTo>
                  <a:pt x="95812" y="2007"/>
                </a:lnTo>
                <a:lnTo>
                  <a:pt x="110614" y="2007"/>
                </a:lnTo>
                <a:lnTo>
                  <a:pt x="61808" y="79416"/>
                </a:lnTo>
                <a:lnTo>
                  <a:pt x="61808" y="140824"/>
                </a:lnTo>
                <a:lnTo>
                  <a:pt x="48406" y="140824"/>
                </a:lnTo>
                <a:lnTo>
                  <a:pt x="48406" y="79616"/>
                </a:lnTo>
                <a:close/>
                <a:moveTo>
                  <a:pt x="186909" y="6"/>
                </a:moveTo>
                <a:cubicBezTo>
                  <a:pt x="200290" y="-123"/>
                  <a:pt x="211311" y="2003"/>
                  <a:pt x="219972" y="6385"/>
                </a:cubicBezTo>
                <a:cubicBezTo>
                  <a:pt x="228634" y="10767"/>
                  <a:pt x="235062" y="18183"/>
                  <a:pt x="239256" y="28632"/>
                </a:cubicBezTo>
                <a:cubicBezTo>
                  <a:pt x="243451" y="39082"/>
                  <a:pt x="245537" y="53343"/>
                  <a:pt x="245516" y="71415"/>
                </a:cubicBezTo>
                <a:cubicBezTo>
                  <a:pt x="245537" y="89488"/>
                  <a:pt x="243451" y="103749"/>
                  <a:pt x="239256" y="114198"/>
                </a:cubicBezTo>
                <a:cubicBezTo>
                  <a:pt x="235062" y="124648"/>
                  <a:pt x="228634" y="132064"/>
                  <a:pt x="219972" y="136446"/>
                </a:cubicBezTo>
                <a:cubicBezTo>
                  <a:pt x="211311" y="140828"/>
                  <a:pt x="200290" y="142954"/>
                  <a:pt x="186909" y="142824"/>
                </a:cubicBezTo>
                <a:cubicBezTo>
                  <a:pt x="173284" y="142776"/>
                  <a:pt x="162174" y="140605"/>
                  <a:pt x="153579" y="136312"/>
                </a:cubicBezTo>
                <a:cubicBezTo>
                  <a:pt x="144984" y="132019"/>
                  <a:pt x="138645" y="124692"/>
                  <a:pt x="134562" y="114332"/>
                </a:cubicBezTo>
                <a:cubicBezTo>
                  <a:pt x="130479" y="103971"/>
                  <a:pt x="128392" y="89666"/>
                  <a:pt x="128302" y="71415"/>
                </a:cubicBezTo>
                <a:cubicBezTo>
                  <a:pt x="128273" y="53343"/>
                  <a:pt x="130330" y="39082"/>
                  <a:pt x="134473" y="28632"/>
                </a:cubicBezTo>
                <a:cubicBezTo>
                  <a:pt x="138615" y="18183"/>
                  <a:pt x="145014" y="10767"/>
                  <a:pt x="153668" y="6385"/>
                </a:cubicBezTo>
                <a:cubicBezTo>
                  <a:pt x="162322" y="2003"/>
                  <a:pt x="173402" y="-123"/>
                  <a:pt x="186909" y="6"/>
                </a:cubicBezTo>
                <a:close/>
              </a:path>
            </a:pathLst>
          </a:custGeom>
          <a:solidFill>
            <a:schemeClr val="tx1">
              <a:lumMod val="85000"/>
              <a:lumOff val="15000"/>
            </a:schemeClr>
          </a:solidFill>
          <a:ln cap="sq">
            <a:noFill/>
          </a:ln>
          <a:effectLst/>
        </p:spPr>
        <p:txBody>
          <a:bodyPr vert="horz" wrap="square" lIns="91440" tIns="45720" rIns="91440" bIns="45720" rtlCol="0" anchor="t"/>
          <a:lstStyle/>
          <a:p>
            <a:pPr algn="l"/>
            <a:endParaRPr kumimoji="1" lang="zh-CN" altLang="en-US"/>
          </a:p>
        </p:txBody>
      </p:sp>
      <p:pic>
        <p:nvPicPr>
          <p:cNvPr id="10" name="Imagen 9">
            <a:extLst>
              <a:ext uri="{FF2B5EF4-FFF2-40B4-BE49-F238E27FC236}">
                <a16:creationId xmlns:a16="http://schemas.microsoft.com/office/drawing/2014/main" id="{682B0F23-7A56-1B32-7CF9-6B56CFB2C5E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095999" y="4470544"/>
            <a:ext cx="5400000" cy="1152000"/>
          </a:xfrm>
          <a:prstGeom prst="roundRect">
            <a:avLst>
              <a:gd name="adj" fmla="val 50000"/>
            </a:avLst>
          </a:prstGeom>
          <a:solidFill>
            <a:schemeClr val="bg1"/>
          </a:solidFill>
          <a:ln w="3175" cap="sq">
            <a:solidFill>
              <a:schemeClr val="accent1"/>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sp>
        <p:nvSpPr>
          <p:cNvPr id="4" name="标题 1"/>
          <p:cNvSpPr txBox="1"/>
          <p:nvPr/>
        </p:nvSpPr>
        <p:spPr>
          <a:xfrm>
            <a:off x="6095999" y="3075120"/>
            <a:ext cx="5400000" cy="1152000"/>
          </a:xfrm>
          <a:prstGeom prst="roundRect">
            <a:avLst>
              <a:gd name="adj" fmla="val 50000"/>
            </a:avLst>
          </a:prstGeom>
          <a:solidFill>
            <a:schemeClr val="bg1"/>
          </a:solidFill>
          <a:ln w="3175" cap="sq">
            <a:solidFill>
              <a:schemeClr val="accent1"/>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sp>
        <p:nvSpPr>
          <p:cNvPr id="5" name="标题 1"/>
          <p:cNvSpPr txBox="1"/>
          <p:nvPr/>
        </p:nvSpPr>
        <p:spPr>
          <a:xfrm>
            <a:off x="6523891" y="3380020"/>
            <a:ext cx="4660900" cy="215444"/>
          </a:xfrm>
          <a:prstGeom prst="rect">
            <a:avLst/>
          </a:prstGeom>
          <a:noFill/>
          <a:ln>
            <a:noFill/>
          </a:ln>
        </p:spPr>
        <p:txBody>
          <a:bodyPr vert="horz" wrap="square" lIns="0" tIns="0" rIns="0" bIns="0" rtlCol="0" anchor="t">
            <a:spAutoFit/>
          </a:bodyPr>
          <a:lstStyle/>
          <a:p>
            <a:r>
              <a:rPr lang="es-EC" sz="1400" kern="100" dirty="0">
                <a:latin typeface="Calibri" panose="020F0502020204030204" pitchFamily="34" charset="0"/>
                <a:ea typeface="Calibri" panose="020F0502020204030204" pitchFamily="34" charset="0"/>
                <a:cs typeface="Times New Roman" panose="02020603050405020304" pitchFamily="18" charset="0"/>
              </a:rPr>
              <a:t>¿Cuál es el PUE </a:t>
            </a:r>
            <a:r>
              <a:rPr lang="es-EC" sz="1400" i="1" kern="100" dirty="0">
                <a:latin typeface="Calibri" panose="020F0502020204030204" pitchFamily="34" charset="0"/>
                <a:ea typeface="Calibri" panose="020F0502020204030204" pitchFamily="34" charset="0"/>
                <a:cs typeface="Times New Roman" panose="02020603050405020304" pitchFamily="18" charset="0"/>
              </a:rPr>
              <a:t>normal</a:t>
            </a:r>
            <a:r>
              <a:rPr lang="es-EC" sz="1400" kern="100" dirty="0">
                <a:latin typeface="Calibri" panose="020F0502020204030204" pitchFamily="34" charset="0"/>
                <a:ea typeface="Calibri" panose="020F0502020204030204" pitchFamily="34" charset="0"/>
                <a:cs typeface="Times New Roman" panose="02020603050405020304" pitchFamily="18" charset="0"/>
              </a:rPr>
              <a:t> en verano vs. invierno?</a:t>
            </a:r>
            <a:endParaRPr kumimoji="1" lang="zh-CN" altLang="en-US" dirty="0"/>
          </a:p>
        </p:txBody>
      </p:sp>
      <p:sp>
        <p:nvSpPr>
          <p:cNvPr id="6" name="标题 1"/>
          <p:cNvSpPr txBox="1"/>
          <p:nvPr/>
        </p:nvSpPr>
        <p:spPr>
          <a:xfrm>
            <a:off x="6523891" y="1984597"/>
            <a:ext cx="4660900" cy="430887"/>
          </a:xfrm>
          <a:prstGeom prst="rect">
            <a:avLst/>
          </a:prstGeom>
          <a:noFill/>
          <a:ln>
            <a:noFill/>
          </a:ln>
        </p:spPr>
        <p:txBody>
          <a:bodyPr vert="horz" wrap="square" lIns="0" tIns="0" rIns="0" bIns="0" rtlCol="0" anchor="t">
            <a:spAutoFit/>
          </a:bodyPr>
          <a:lstStyle/>
          <a:p>
            <a:r>
              <a:rPr lang="es-EC" sz="1400" kern="100" dirty="0">
                <a:latin typeface="Calibri" panose="020F0502020204030204" pitchFamily="34" charset="0"/>
                <a:ea typeface="Calibri" panose="020F0502020204030204" pitchFamily="34" charset="0"/>
                <a:cs typeface="Times New Roman" panose="02020603050405020304" pitchFamily="18" charset="0"/>
              </a:rPr>
              <a:t>Antes de medir el "éxito", se debe ,</a:t>
            </a:r>
            <a:r>
              <a:rPr lang="en-US" sz="1400" kern="100" dirty="0" err="1">
                <a:latin typeface="Calibri" panose="020F0502020204030204" pitchFamily="34" charset="0"/>
                <a:ea typeface="Calibri" panose="020F0502020204030204" pitchFamily="34" charset="0"/>
                <a:cs typeface="Times New Roman" panose="02020603050405020304" pitchFamily="18" charset="0"/>
              </a:rPr>
              <a:t>m</a:t>
            </a:r>
            <a:r>
              <a:rPr lang="en-US" altLang="zh-CN" sz="1400" kern="100" dirty="0" err="1">
                <a:latin typeface="Calibri" panose="020F0502020204030204" pitchFamily="34" charset="0"/>
                <a:ea typeface="Calibri" panose="020F0502020204030204" pitchFamily="34" charset="0"/>
                <a:cs typeface="Times New Roman" panose="02020603050405020304" pitchFamily="18" charset="0"/>
              </a:rPr>
              <a:t>edir</a:t>
            </a:r>
            <a:r>
              <a:rPr lang="en-US" altLang="zh-CN" sz="1400" kern="100" dirty="0">
                <a:latin typeface="Calibri" panose="020F0502020204030204" pitchFamily="34" charset="0"/>
                <a:ea typeface="Calibri" panose="020F0502020204030204" pitchFamily="34" charset="0"/>
                <a:cs typeface="Times New Roman" panose="02020603050405020304" pitchFamily="18" charset="0"/>
              </a:rPr>
              <a:t> </a:t>
            </a:r>
            <a:r>
              <a:rPr lang="en-US" altLang="zh-CN" sz="1400" kern="100" dirty="0" err="1">
                <a:latin typeface="Calibri" panose="020F0502020204030204" pitchFamily="34" charset="0"/>
                <a:ea typeface="Calibri" panose="020F0502020204030204" pitchFamily="34" charset="0"/>
                <a:cs typeface="Times New Roman" panose="02020603050405020304" pitchFamily="18" charset="0"/>
              </a:rPr>
              <a:t>el</a:t>
            </a:r>
            <a:r>
              <a:rPr lang="en-US" altLang="zh-CN" sz="1400" kern="100" dirty="0">
                <a:latin typeface="Calibri" panose="020F0502020204030204" pitchFamily="34" charset="0"/>
                <a:ea typeface="Calibri" panose="020F0502020204030204" pitchFamily="34" charset="0"/>
                <a:cs typeface="Times New Roman" panose="02020603050405020304" pitchFamily="18" charset="0"/>
              </a:rPr>
              <a:t> </a:t>
            </a:r>
            <a:r>
              <a:rPr lang="en-US" altLang="zh-CN" sz="1400" kern="100" dirty="0" err="1">
                <a:latin typeface="Calibri" panose="020F0502020204030204" pitchFamily="34" charset="0"/>
                <a:ea typeface="Calibri" panose="020F0502020204030204" pitchFamily="34" charset="0"/>
                <a:cs typeface="Times New Roman" panose="02020603050405020304" pitchFamily="18" charset="0"/>
              </a:rPr>
              <a:t>comportamiento</a:t>
            </a:r>
            <a:r>
              <a:rPr lang="en-US" altLang="zh-CN" sz="1400" kern="100" dirty="0">
                <a:latin typeface="Calibri" panose="020F0502020204030204" pitchFamily="34" charset="0"/>
                <a:ea typeface="Calibri" panose="020F0502020204030204" pitchFamily="34" charset="0"/>
                <a:cs typeface="Times New Roman" panose="02020603050405020304" pitchFamily="18" charset="0"/>
              </a:rPr>
              <a:t> normal.</a:t>
            </a:r>
            <a:endParaRPr lang="zh-CN" altLang="en-US" sz="1400" kern="100" dirty="0">
              <a:latin typeface="Calibri" panose="020F0502020204030204" pitchFamily="34" charset="0"/>
              <a:cs typeface="Times New Roman" panose="02020603050405020304" pitchFamily="18" charset="0"/>
            </a:endParaRPr>
          </a:p>
        </p:txBody>
      </p:sp>
      <p:sp>
        <p:nvSpPr>
          <p:cNvPr id="7" name="标题 1"/>
          <p:cNvSpPr txBox="1"/>
          <p:nvPr/>
        </p:nvSpPr>
        <p:spPr>
          <a:xfrm>
            <a:off x="6523891" y="4775444"/>
            <a:ext cx="4660900" cy="430887"/>
          </a:xfrm>
          <a:prstGeom prst="rect">
            <a:avLst/>
          </a:prstGeom>
          <a:noFill/>
          <a:ln>
            <a:noFill/>
          </a:ln>
        </p:spPr>
        <p:txBody>
          <a:bodyPr vert="horz" wrap="square" lIns="0" tIns="0" rIns="0" bIns="0" rtlCol="0" anchor="t">
            <a:spAutoFit/>
          </a:bodyPr>
          <a:lstStyle/>
          <a:p>
            <a:r>
              <a:rPr lang="es-EC" sz="1400" kern="100" dirty="0">
                <a:latin typeface="Calibri" panose="020F0502020204030204" pitchFamily="34" charset="0"/>
                <a:ea typeface="Calibri" panose="020F0502020204030204" pitchFamily="34" charset="0"/>
                <a:cs typeface="Times New Roman" panose="02020603050405020304" pitchFamily="18" charset="0"/>
              </a:rPr>
              <a:t>¿Cuál es el tráfico de red </a:t>
            </a:r>
            <a:r>
              <a:rPr lang="es-EC" sz="1400" i="1" kern="100" dirty="0">
                <a:latin typeface="Calibri" panose="020F0502020204030204" pitchFamily="34" charset="0"/>
                <a:ea typeface="Calibri" panose="020F0502020204030204" pitchFamily="34" charset="0"/>
                <a:cs typeface="Times New Roman" panose="02020603050405020304" pitchFamily="18" charset="0"/>
              </a:rPr>
              <a:t>normal</a:t>
            </a:r>
            <a:r>
              <a:rPr lang="es-EC" sz="1400" kern="100" dirty="0">
                <a:latin typeface="Calibri" panose="020F0502020204030204" pitchFamily="34" charset="0"/>
                <a:ea typeface="Calibri" panose="020F0502020204030204" pitchFamily="34" charset="0"/>
                <a:cs typeface="Times New Roman" panose="02020603050405020304" pitchFamily="18" charset="0"/>
              </a:rPr>
              <a:t> un fin de mes? La línea base es tu punto de comparación.</a:t>
            </a:r>
            <a:endParaRPr kumimoji="1" lang="zh-CN" altLang="en-US" dirty="0"/>
          </a:p>
        </p:txBody>
      </p:sp>
      <p:sp>
        <p:nvSpPr>
          <p:cNvPr id="8" name="标题 1"/>
          <p:cNvSpPr txBox="1"/>
          <p:nvPr/>
        </p:nvSpPr>
        <p:spPr>
          <a:xfrm>
            <a:off x="5587544" y="2080687"/>
            <a:ext cx="350020" cy="350020"/>
          </a:xfrm>
          <a:prstGeom prst="ellipse">
            <a:avLst/>
          </a:prstGeom>
          <a:solidFill>
            <a:schemeClr val="accent1"/>
          </a:solidFill>
          <a:ln w="3175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5587544" y="3476110"/>
            <a:ext cx="350020" cy="350020"/>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5587544" y="4871534"/>
            <a:ext cx="350020" cy="350020"/>
          </a:xfrm>
          <a:prstGeom prst="ellipse">
            <a:avLst/>
          </a:prstGeom>
          <a:solidFill>
            <a:schemeClr val="accent1">
              <a:lumMod val="20000"/>
              <a:lumOff val="80000"/>
            </a:schemeClr>
          </a:solidFill>
          <a:ln w="3175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660399" y="2228663"/>
            <a:ext cx="4468949" cy="2807074"/>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Establecer Líneas Base (Baselines)</a:t>
            </a:r>
            <a:endParaRPr kumimoji="1" lang="zh-CN" altLang="en-US"/>
          </a:p>
        </p:txBody>
      </p:sp>
      <p:sp>
        <p:nvSpPr>
          <p:cNvPr id="12"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Clave: Contexto y Tendencias</a:t>
            </a:r>
            <a:endParaRPr kumimoji="1" lang="zh-CN" altLang="en-US"/>
          </a:p>
        </p:txBody>
      </p:sp>
      <p:pic>
        <p:nvPicPr>
          <p:cNvPr id="20" name="Imagen 19">
            <a:extLst>
              <a:ext uri="{FF2B5EF4-FFF2-40B4-BE49-F238E27FC236}">
                <a16:creationId xmlns:a16="http://schemas.microsoft.com/office/drawing/2014/main" id="{28F8A9A9-4BCB-3B1D-FD77-895E6EC84A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363492" y="1549400"/>
            <a:ext cx="3491208" cy="2828581"/>
          </a:xfrm>
          <a:prstGeom prst="round2DiagRect">
            <a:avLst>
              <a:gd name="adj1" fmla="val 29083"/>
              <a:gd name="adj2" fmla="val 0"/>
            </a:avLst>
          </a:prstGeom>
          <a:solidFill>
            <a:schemeClr val="tx1">
              <a:lumMod val="25000"/>
              <a:lumOff val="75000"/>
              <a:alpha val="20000"/>
            </a:schemeClr>
          </a:solidFill>
          <a:ln w="6055" cap="flat">
            <a:noFill/>
            <a:miter/>
          </a:ln>
        </p:spPr>
        <p:txBody>
          <a:bodyPr vert="horz" wrap="square" lIns="91440" tIns="45720" rIns="91440" bIns="45720" rtlCol="0" anchor="ctr"/>
          <a:lstStyle/>
          <a:p>
            <a:pPr algn="l"/>
            <a:endParaRPr kumimoji="1" lang="zh-CN" altLang="en-US"/>
          </a:p>
        </p:txBody>
      </p:sp>
      <p:sp>
        <p:nvSpPr>
          <p:cNvPr id="3" name="标题 1"/>
          <p:cNvSpPr txBox="1"/>
          <p:nvPr/>
        </p:nvSpPr>
        <p:spPr>
          <a:xfrm>
            <a:off x="2708271" y="1978184"/>
            <a:ext cx="2873477" cy="2073116"/>
          </a:xfrm>
          <a:prstGeom prst="rect">
            <a:avLst/>
          </a:prstGeom>
          <a:noFill/>
          <a:ln w="12700" cap="sq">
            <a:noFill/>
            <a:miter/>
          </a:ln>
        </p:spPr>
        <p:txBody>
          <a:bodyPr vert="horz" wrap="square" lIns="91440" tIns="45720" rIns="91440" bIns="45720" rtlCol="0" anchor="t"/>
          <a:lstStyle/>
          <a:p>
            <a:pPr algn="l"/>
            <a:r>
              <a:rPr kumimoji="1" lang="en-US" altLang="zh-CN" sz="1400" dirty="0">
                <a:ln w="12700">
                  <a:noFill/>
                </a:ln>
                <a:solidFill>
                  <a:srgbClr val="404040">
                    <a:alpha val="100000"/>
                  </a:srgbClr>
                </a:solidFill>
                <a:latin typeface="Poppins"/>
                <a:ea typeface="Poppins"/>
                <a:cs typeface="Poppins"/>
              </a:rPr>
              <a:t>Foto </a:t>
            </a:r>
            <a:r>
              <a:rPr kumimoji="1" lang="en-US" altLang="zh-CN" sz="1400" dirty="0" err="1">
                <a:ln w="12700">
                  <a:noFill/>
                </a:ln>
                <a:solidFill>
                  <a:srgbClr val="404040">
                    <a:alpha val="100000"/>
                  </a:srgbClr>
                </a:solidFill>
                <a:latin typeface="Poppins"/>
                <a:ea typeface="Poppins"/>
                <a:cs typeface="Poppins"/>
              </a:rPr>
              <a:t>fija"El</a:t>
            </a:r>
            <a:r>
              <a:rPr kumimoji="1" lang="en-US" altLang="zh-CN" sz="1400" dirty="0">
                <a:ln w="12700">
                  <a:noFill/>
                </a:ln>
                <a:solidFill>
                  <a:srgbClr val="404040">
                    <a:alpha val="100000"/>
                  </a:srgbClr>
                </a:solidFill>
                <a:latin typeface="Poppins"/>
                <a:ea typeface="Poppins"/>
                <a:cs typeface="Poppins"/>
              </a:rPr>
              <a:t> MTTR de </a:t>
            </a:r>
            <a:r>
              <a:rPr kumimoji="1" lang="en-US" altLang="zh-CN" sz="1400" dirty="0" err="1">
                <a:ln w="12700">
                  <a:noFill/>
                </a:ln>
                <a:solidFill>
                  <a:srgbClr val="404040">
                    <a:alpha val="100000"/>
                  </a:srgbClr>
                </a:solidFill>
                <a:latin typeface="Poppins"/>
                <a:ea typeface="Poppins"/>
                <a:cs typeface="Poppins"/>
              </a:rPr>
              <a:t>este</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mes</a:t>
            </a:r>
            <a:r>
              <a:rPr kumimoji="1" lang="en-US" altLang="zh-CN" sz="1400" dirty="0">
                <a:ln w="12700">
                  <a:noFill/>
                </a:ln>
                <a:solidFill>
                  <a:srgbClr val="404040">
                    <a:alpha val="100000"/>
                  </a:srgbClr>
                </a:solidFill>
                <a:latin typeface="Poppins"/>
                <a:ea typeface="Poppins"/>
                <a:cs typeface="Poppins"/>
              </a:rPr>
              <a:t> </a:t>
            </a:r>
            <a:r>
              <a:rPr kumimoji="1" lang="en-US" altLang="zh-CN" sz="1400" dirty="0" err="1">
                <a:ln w="12700">
                  <a:noFill/>
                </a:ln>
                <a:solidFill>
                  <a:srgbClr val="404040">
                    <a:alpha val="100000"/>
                  </a:srgbClr>
                </a:solidFill>
                <a:latin typeface="Poppins"/>
                <a:ea typeface="Poppins"/>
                <a:cs typeface="Poppins"/>
              </a:rPr>
              <a:t>fue</a:t>
            </a:r>
            <a:r>
              <a:rPr kumimoji="1" lang="en-US" altLang="zh-CN" sz="1400" dirty="0">
                <a:ln w="12700">
                  <a:noFill/>
                </a:ln>
                <a:solidFill>
                  <a:srgbClr val="404040">
                    <a:alpha val="100000"/>
                  </a:srgbClr>
                </a:solidFill>
                <a:latin typeface="Poppins"/>
                <a:ea typeface="Poppins"/>
                <a:cs typeface="Poppins"/>
              </a:rPr>
              <a:t> de 4 horas".</a:t>
            </a:r>
            <a:endParaRPr kumimoji="1" lang="zh-CN" altLang="en-US" dirty="0"/>
          </a:p>
        </p:txBody>
      </p:sp>
      <p:sp>
        <p:nvSpPr>
          <p:cNvPr id="4" name="标题 1"/>
          <p:cNvSpPr txBox="1"/>
          <p:nvPr/>
        </p:nvSpPr>
        <p:spPr>
          <a:xfrm>
            <a:off x="2138023" y="1895443"/>
            <a:ext cx="474393" cy="474393"/>
          </a:xfrm>
          <a:prstGeom prst="roundRect">
            <a:avLst/>
          </a:prstGeom>
          <a:solidFill>
            <a:schemeClr val="accent1"/>
          </a:solidFill>
          <a:ln>
            <a:noFill/>
          </a:ln>
        </p:spPr>
        <p:txBody>
          <a:bodyPr vert="horz" wrap="none" lIns="108000" tIns="108000" rIns="108000" bIns="108000" rtlCol="0" anchor="ctr"/>
          <a:lstStyle/>
          <a:p>
            <a:pPr algn="ctr"/>
            <a:endParaRPr kumimoji="1" lang="zh-CN" altLang="en-US"/>
          </a:p>
        </p:txBody>
      </p:sp>
      <p:sp>
        <p:nvSpPr>
          <p:cNvPr id="5" name="标题 1"/>
          <p:cNvSpPr txBox="1"/>
          <p:nvPr/>
        </p:nvSpPr>
        <p:spPr>
          <a:xfrm>
            <a:off x="6918361" y="1555422"/>
            <a:ext cx="3554716" cy="2783661"/>
          </a:xfrm>
          <a:prstGeom prst="round2DiagRect">
            <a:avLst>
              <a:gd name="adj1" fmla="val 29083"/>
              <a:gd name="adj2" fmla="val 0"/>
            </a:avLst>
          </a:prstGeom>
          <a:solidFill>
            <a:schemeClr val="accent1">
              <a:alpha val="10000"/>
            </a:schemeClr>
          </a:solidFill>
          <a:ln w="605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7263140" y="1981200"/>
            <a:ext cx="3013177" cy="2067379"/>
          </a:xfrm>
          <a:prstGeom prst="rect">
            <a:avLst/>
          </a:prstGeom>
          <a:noFill/>
          <a:ln w="12700" cap="sq">
            <a:noFill/>
            <a:miter/>
          </a:ln>
        </p:spPr>
        <p:txBody>
          <a:bodyPr vert="horz" wrap="square" lIns="91440" tIns="45720" rIns="91440" bIns="45720" rtlCol="0" anchor="t"/>
          <a:lstStyle/>
          <a:p>
            <a:pPr algn="l"/>
            <a:r>
              <a:rPr kumimoji="1" lang="en-US" altLang="zh-CN" sz="1400">
                <a:ln w="12700">
                  <a:noFill/>
                </a:ln>
                <a:solidFill>
                  <a:srgbClr val="404040">
                    <a:alpha val="100000"/>
                  </a:srgbClr>
                </a:solidFill>
                <a:latin typeface="Poppins"/>
                <a:ea typeface="Poppins"/>
                <a:cs typeface="Poppins"/>
              </a:rPr>
              <a:t>Tendencia"El MTTR ha aumentado de 1.5 horas a 4 horas en los últimos 6 meses".</a:t>
            </a:r>
            <a:endParaRPr kumimoji="1" lang="zh-CN" altLang="en-US"/>
          </a:p>
        </p:txBody>
      </p:sp>
      <p:sp>
        <p:nvSpPr>
          <p:cNvPr id="7" name="标题 1"/>
          <p:cNvSpPr txBox="1"/>
          <p:nvPr/>
        </p:nvSpPr>
        <p:spPr>
          <a:xfrm>
            <a:off x="6692892" y="1856545"/>
            <a:ext cx="474393" cy="474393"/>
          </a:xfrm>
          <a:prstGeom prst="roundRect">
            <a:avLst/>
          </a:prstGeom>
          <a:solidFill>
            <a:schemeClr val="accent1"/>
          </a:solidFill>
          <a:ln>
            <a:noFill/>
          </a:ln>
        </p:spPr>
        <p:txBody>
          <a:bodyPr vert="horz" wrap="none" lIns="108000" tIns="108000" rIns="108000" bIns="108000" rtlCol="0" anchor="ctr"/>
          <a:lstStyle/>
          <a:p>
            <a:pPr algn="ctr"/>
            <a:endParaRPr kumimoji="1" lang="zh-CN" altLang="en-US"/>
          </a:p>
        </p:txBody>
      </p:sp>
      <p:sp>
        <p:nvSpPr>
          <p:cNvPr id="8" name="标题 1"/>
          <p:cNvSpPr txBox="1"/>
          <p:nvPr/>
        </p:nvSpPr>
        <p:spPr>
          <a:xfrm>
            <a:off x="1284717" y="5302578"/>
            <a:ext cx="8991600" cy="1098866"/>
          </a:xfrm>
          <a:prstGeom prst="rect">
            <a:avLst/>
          </a:prstGeom>
          <a:noFill/>
          <a:ln cap="sq">
            <a:noFill/>
          </a:ln>
          <a:effectLst/>
        </p:spPr>
        <p:txBody>
          <a:bodyPr vert="horz" wrap="square" lIns="64008" tIns="32004" rIns="64008" bIns="32004" rtlCol="0" anchor="t"/>
          <a:lstStyle/>
          <a:p>
            <a:pPr algn="ctr"/>
            <a:r>
              <a:rPr kumimoji="1" lang="es-MX" altLang="zh-CN" sz="1400" dirty="0">
                <a:ln w="12700">
                  <a:noFill/>
                </a:ln>
                <a:solidFill>
                  <a:srgbClr val="404040">
                    <a:alpha val="100000"/>
                  </a:srgbClr>
                </a:solidFill>
                <a:latin typeface="Poppins"/>
                <a:cs typeface="Poppins"/>
              </a:rPr>
              <a:t>Un solo punto de datos es una anécdota. Una tendencia es una historia.</a:t>
            </a:r>
            <a:endParaRPr kumimoji="1" lang="zh-CN" altLang="en-US" sz="1400" dirty="0">
              <a:ln w="12700">
                <a:noFill/>
              </a:ln>
              <a:solidFill>
                <a:srgbClr val="404040">
                  <a:alpha val="100000"/>
                </a:srgbClr>
              </a:solidFill>
              <a:latin typeface="Poppins"/>
              <a:cs typeface="Poppins"/>
            </a:endParaRPr>
          </a:p>
        </p:txBody>
      </p:sp>
      <p:sp>
        <p:nvSpPr>
          <p:cNvPr id="10" name="标题 1"/>
          <p:cNvSpPr txBox="1"/>
          <p:nvPr/>
        </p:nvSpPr>
        <p:spPr>
          <a:xfrm>
            <a:off x="2067526" y="1931392"/>
            <a:ext cx="629992" cy="364217"/>
          </a:xfrm>
          <a:prstGeom prst="rect">
            <a:avLst/>
          </a:prstGeom>
          <a:noFill/>
          <a:ln w="12700" cap="sq">
            <a:noFill/>
            <a:miter/>
          </a:ln>
        </p:spPr>
        <p:txBody>
          <a:bodyPr vert="horz" wrap="square" lIns="91440" tIns="45720" rIns="91440" bIns="45720" rtlCol="0" anchor="ctr"/>
          <a:lstStyle/>
          <a:p>
            <a:pPr algn="ctr"/>
            <a:r>
              <a:rPr kumimoji="1" lang="en-US" altLang="zh-CN" sz="2000">
                <a:ln w="12700">
                  <a:noFill/>
                </a:ln>
                <a:solidFill>
                  <a:srgbClr val="FFFFFF">
                    <a:alpha val="100000"/>
                  </a:srgbClr>
                </a:solidFill>
                <a:latin typeface="poppins-bold"/>
                <a:ea typeface="poppins-bold"/>
                <a:cs typeface="poppins-bold"/>
              </a:rPr>
              <a:t>01</a:t>
            </a:r>
            <a:endParaRPr kumimoji="1" lang="zh-CN" altLang="en-US"/>
          </a:p>
        </p:txBody>
      </p:sp>
      <p:sp>
        <p:nvSpPr>
          <p:cNvPr id="11" name="标题 1"/>
          <p:cNvSpPr txBox="1"/>
          <p:nvPr/>
        </p:nvSpPr>
        <p:spPr>
          <a:xfrm>
            <a:off x="6639526" y="1918692"/>
            <a:ext cx="629992" cy="364217"/>
          </a:xfrm>
          <a:prstGeom prst="rect">
            <a:avLst/>
          </a:prstGeom>
          <a:noFill/>
          <a:ln w="12700" cap="sq">
            <a:noFill/>
            <a:miter/>
          </a:ln>
        </p:spPr>
        <p:txBody>
          <a:bodyPr vert="horz" wrap="square" lIns="91440" tIns="45720" rIns="91440" bIns="45720" rtlCol="0" anchor="ctr"/>
          <a:lstStyle/>
          <a:p>
            <a:pPr algn="ctr"/>
            <a:r>
              <a:rPr kumimoji="1" lang="en-US" altLang="zh-CN" sz="2000">
                <a:ln w="12700">
                  <a:noFill/>
                </a:ln>
                <a:solidFill>
                  <a:srgbClr val="FFFFFF">
                    <a:alpha val="100000"/>
                  </a:srgbClr>
                </a:solidFill>
                <a:latin typeface="poppins-bold"/>
                <a:ea typeface="poppins-bold"/>
                <a:cs typeface="poppins-bold"/>
              </a:rPr>
              <a:t>02</a:t>
            </a:r>
            <a:endParaRPr kumimoji="1" lang="zh-CN" altLang="en-US"/>
          </a:p>
        </p:txBody>
      </p:sp>
      <p:sp>
        <p:nvSpPr>
          <p:cNvPr id="12"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Analizar Tendencias, no Fotos Fijas</a:t>
            </a:r>
            <a:endParaRPr kumimoji="1" lang="zh-CN" altLang="en-US"/>
          </a:p>
        </p:txBody>
      </p:sp>
      <p:pic>
        <p:nvPicPr>
          <p:cNvPr id="16" name="Imagen 15">
            <a:extLst>
              <a:ext uri="{FF2B5EF4-FFF2-40B4-BE49-F238E27FC236}">
                <a16:creationId xmlns:a16="http://schemas.microsoft.com/office/drawing/2014/main" id="{11B82452-01C0-C0A2-1366-DB33F72E14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60400" y="2521640"/>
            <a:ext cx="5220000" cy="3420000"/>
          </a:xfrm>
          <a:prstGeom prst="rect">
            <a:avLst/>
          </a:prstGeom>
          <a:solidFill>
            <a:schemeClr val="bg1">
              <a:lumMod val="95000"/>
            </a:schemeClr>
          </a:solidFill>
          <a:ln w="12700" cap="sq">
            <a:noFill/>
            <a:miter/>
          </a:ln>
        </p:spPr>
        <p:txBody>
          <a:bodyPr vert="horz" wrap="square" lIns="0" tIns="0" rIns="0" bIns="0" rtlCol="0" anchor="ctr"/>
          <a:lstStyle/>
          <a:p>
            <a:pPr algn="ctr"/>
            <a:endParaRPr kumimoji="1" lang="zh-CN" altLang="en-US"/>
          </a:p>
        </p:txBody>
      </p:sp>
      <p:sp>
        <p:nvSpPr>
          <p:cNvPr id="3" name="标题 1"/>
          <p:cNvSpPr txBox="1"/>
          <p:nvPr/>
        </p:nvSpPr>
        <p:spPr>
          <a:xfrm>
            <a:off x="1074400" y="2751566"/>
            <a:ext cx="4392000" cy="2669256"/>
          </a:xfrm>
          <a:prstGeom prst="rect">
            <a:avLst/>
          </a:prstGeom>
          <a:noFill/>
          <a:ln w="12700" cap="sq">
            <a:noFill/>
            <a:miter/>
          </a:ln>
        </p:spPr>
        <p:txBody>
          <a:bodyPr vert="horz" wrap="square" lIns="0" tIns="0" rIns="0" bIns="0" rtlCol="0" anchor="t"/>
          <a:lstStyle/>
          <a:p>
            <a:pPr algn="l"/>
            <a:r>
              <a:rPr kumimoji="1" lang="en-US" altLang="zh-CN" sz="1500">
                <a:ln w="12700">
                  <a:noFill/>
                </a:ln>
                <a:solidFill>
                  <a:srgbClr val="404040">
                    <a:alpha val="100000"/>
                  </a:srgbClr>
                </a:solidFill>
                <a:latin typeface="Poppins"/>
                <a:ea typeface="Poppins"/>
                <a:cs typeface="Poppins"/>
              </a:rPr>
              <a:t>Si el KPI "Tiempo de Actividad" baja, mirar el "MTBF" y el "MTTR".</a:t>
            </a:r>
            <a:endParaRPr kumimoji="1" lang="zh-CN" altLang="en-US"/>
          </a:p>
        </p:txBody>
      </p:sp>
      <p:sp>
        <p:nvSpPr>
          <p:cNvPr id="4" name="标题 1"/>
          <p:cNvSpPr txBox="1"/>
          <p:nvPr/>
        </p:nvSpPr>
        <p:spPr>
          <a:xfrm>
            <a:off x="6298900" y="2521640"/>
            <a:ext cx="5220000" cy="3420000"/>
          </a:xfrm>
          <a:prstGeom prst="rect">
            <a:avLst/>
          </a:prstGeom>
          <a:solidFill>
            <a:schemeClr val="bg1">
              <a:lumMod val="95000"/>
            </a:schemeClr>
          </a:solidFill>
          <a:ln w="12700" cap="sq">
            <a:noFill/>
            <a:miter/>
          </a:ln>
        </p:spPr>
        <p:txBody>
          <a:bodyPr vert="horz" wrap="square" lIns="0" tIns="0" rIns="0" bIns="0" rtlCol="0" anchor="ctr"/>
          <a:lstStyle/>
          <a:p>
            <a:pPr algn="ctr"/>
            <a:endParaRPr kumimoji="1" lang="zh-CN" altLang="en-US"/>
          </a:p>
        </p:txBody>
      </p:sp>
      <p:sp>
        <p:nvSpPr>
          <p:cNvPr id="5" name="标题 1"/>
          <p:cNvSpPr txBox="1"/>
          <p:nvPr/>
        </p:nvSpPr>
        <p:spPr>
          <a:xfrm>
            <a:off x="6712900" y="2751566"/>
            <a:ext cx="4392000" cy="2669256"/>
          </a:xfrm>
          <a:prstGeom prst="rect">
            <a:avLst/>
          </a:prstGeom>
          <a:noFill/>
          <a:ln w="12700" cap="sq">
            <a:noFill/>
            <a:miter/>
          </a:ln>
        </p:spPr>
        <p:txBody>
          <a:bodyPr vert="horz" wrap="square" lIns="0" tIns="0" rIns="0" bIns="0" rtlCol="0" anchor="t"/>
          <a:lstStyle/>
          <a:p>
            <a:pPr algn="l"/>
            <a:r>
              <a:rPr kumimoji="1" lang="en-US" altLang="zh-CN" sz="1500">
                <a:ln w="12700">
                  <a:noFill/>
                </a:ln>
                <a:solidFill>
                  <a:srgbClr val="404040">
                    <a:alpha val="100000"/>
                  </a:srgbClr>
                </a:solidFill>
                <a:latin typeface="Poppins"/>
                <a:ea typeface="Poppins"/>
                <a:cs typeface="Poppins"/>
              </a:rPr>
              <a:t>Si la "Latencia de Red" sube, correlacionar con la "Utilización de Ancho de Banda".</a:t>
            </a:r>
            <a:endParaRPr kumimoji="1" lang="zh-CN" altLang="en-US"/>
          </a:p>
        </p:txBody>
      </p:sp>
      <p:sp>
        <p:nvSpPr>
          <p:cNvPr id="6" name="标题 1"/>
          <p:cNvSpPr txBox="1"/>
          <p:nvPr/>
        </p:nvSpPr>
        <p:spPr>
          <a:xfrm>
            <a:off x="10392937"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10944315"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4731230"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5282608"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660400" y="2369022"/>
            <a:ext cx="5220000" cy="152218"/>
          </a:xfrm>
          <a:custGeom>
            <a:avLst/>
            <a:gdLst>
              <a:gd name="connsiteX0" fmla="*/ 145681 w 5220000"/>
              <a:gd name="connsiteY0" fmla="*/ 0 h 152218"/>
              <a:gd name="connsiteX1" fmla="*/ 1032979 w 5220000"/>
              <a:gd name="connsiteY1" fmla="*/ 0 h 152218"/>
              <a:gd name="connsiteX2" fmla="*/ 1958383 w 5220000"/>
              <a:gd name="connsiteY2" fmla="*/ 0 h 152218"/>
              <a:gd name="connsiteX3" fmla="*/ 2374319 w 5220000"/>
              <a:gd name="connsiteY3" fmla="*/ 0 h 152218"/>
              <a:gd name="connsiteX4" fmla="*/ 2845681 w 5220000"/>
              <a:gd name="connsiteY4" fmla="*/ 0 h 152218"/>
              <a:gd name="connsiteX5" fmla="*/ 3261617 w 5220000"/>
              <a:gd name="connsiteY5" fmla="*/ 0 h 152218"/>
              <a:gd name="connsiteX6" fmla="*/ 4187021 w 5220000"/>
              <a:gd name="connsiteY6" fmla="*/ 0 h 152218"/>
              <a:gd name="connsiteX7" fmla="*/ 5074319 w 5220000"/>
              <a:gd name="connsiteY7" fmla="*/ 0 h 152218"/>
              <a:gd name="connsiteX8" fmla="*/ 5220000 w 5220000"/>
              <a:gd name="connsiteY8" fmla="*/ 145681 h 152218"/>
              <a:gd name="connsiteX9" fmla="*/ 5220000 w 5220000"/>
              <a:gd name="connsiteY9" fmla="*/ 152218 h 152218"/>
              <a:gd name="connsiteX10" fmla="*/ 4332702 w 5220000"/>
              <a:gd name="connsiteY10" fmla="*/ 152218 h 152218"/>
              <a:gd name="connsiteX11" fmla="*/ 3407298 w 5220000"/>
              <a:gd name="connsiteY11" fmla="*/ 152218 h 152218"/>
              <a:gd name="connsiteX12" fmla="*/ 2700000 w 5220000"/>
              <a:gd name="connsiteY12" fmla="*/ 152218 h 152218"/>
              <a:gd name="connsiteX13" fmla="*/ 2520000 w 5220000"/>
              <a:gd name="connsiteY13" fmla="*/ 152218 h 152218"/>
              <a:gd name="connsiteX14" fmla="*/ 1812702 w 5220000"/>
              <a:gd name="connsiteY14" fmla="*/ 152218 h 152218"/>
              <a:gd name="connsiteX15" fmla="*/ 887298 w 5220000"/>
              <a:gd name="connsiteY15" fmla="*/ 152218 h 152218"/>
              <a:gd name="connsiteX16" fmla="*/ 0 w 5220000"/>
              <a:gd name="connsiteY16" fmla="*/ 152218 h 152218"/>
              <a:gd name="connsiteX17" fmla="*/ 0 w 5220000"/>
              <a:gd name="connsiteY17" fmla="*/ 145681 h 152218"/>
              <a:gd name="connsiteX18" fmla="*/ 145681 w 5220000"/>
              <a:gd name="connsiteY18" fmla="*/ 0 h 152218"/>
            </a:gdLst>
            <a:ahLst/>
            <a:cxnLst/>
            <a:rect l="l" t="t" r="r" b="b"/>
            <a:pathLst>
              <a:path w="5220000" h="152218">
                <a:moveTo>
                  <a:pt x="145681" y="0"/>
                </a:moveTo>
                <a:lnTo>
                  <a:pt x="1032979" y="0"/>
                </a:lnTo>
                <a:lnTo>
                  <a:pt x="1958383" y="0"/>
                </a:lnTo>
                <a:lnTo>
                  <a:pt x="2374319" y="0"/>
                </a:lnTo>
                <a:lnTo>
                  <a:pt x="2845681" y="0"/>
                </a:lnTo>
                <a:lnTo>
                  <a:pt x="3261617" y="0"/>
                </a:lnTo>
                <a:lnTo>
                  <a:pt x="4187021" y="0"/>
                </a:lnTo>
                <a:lnTo>
                  <a:pt x="5074319" y="0"/>
                </a:lnTo>
                <a:cubicBezTo>
                  <a:pt x="5154776" y="0"/>
                  <a:pt x="5220000" y="65224"/>
                  <a:pt x="5220000" y="145681"/>
                </a:cubicBezTo>
                <a:lnTo>
                  <a:pt x="5220000" y="152218"/>
                </a:lnTo>
                <a:lnTo>
                  <a:pt x="4332702" y="152218"/>
                </a:lnTo>
                <a:lnTo>
                  <a:pt x="3407298" y="152218"/>
                </a:lnTo>
                <a:lnTo>
                  <a:pt x="2700000" y="152218"/>
                </a:lnTo>
                <a:lnTo>
                  <a:pt x="2520000" y="152218"/>
                </a:lnTo>
                <a:lnTo>
                  <a:pt x="1812702" y="152218"/>
                </a:lnTo>
                <a:lnTo>
                  <a:pt x="887298" y="152218"/>
                </a:lnTo>
                <a:lnTo>
                  <a:pt x="0" y="152218"/>
                </a:lnTo>
                <a:lnTo>
                  <a:pt x="0" y="145681"/>
                </a:lnTo>
                <a:cubicBezTo>
                  <a:pt x="0" y="65224"/>
                  <a:pt x="65224" y="0"/>
                  <a:pt x="145681" y="0"/>
                </a:cubicBezTo>
                <a:close/>
              </a:path>
            </a:pathLst>
          </a:custGeom>
          <a:solidFill>
            <a:schemeClr val="accent1"/>
          </a:solidFill>
          <a:ln w="12700" cap="sq">
            <a:noFill/>
            <a:miter/>
          </a:ln>
        </p:spPr>
        <p:txBody>
          <a:bodyPr vert="horz" wrap="square" lIns="0" tIns="0" rIns="0" bIns="0" rtlCol="0" anchor="ctr"/>
          <a:lstStyle/>
          <a:p>
            <a:pPr algn="ctr"/>
            <a:endParaRPr kumimoji="1" lang="zh-CN" altLang="en-US"/>
          </a:p>
        </p:txBody>
      </p:sp>
      <p:sp>
        <p:nvSpPr>
          <p:cNvPr id="11" name="标题 1"/>
          <p:cNvSpPr txBox="1"/>
          <p:nvPr/>
        </p:nvSpPr>
        <p:spPr>
          <a:xfrm>
            <a:off x="6311602" y="2369022"/>
            <a:ext cx="5220000" cy="152218"/>
          </a:xfrm>
          <a:custGeom>
            <a:avLst/>
            <a:gdLst>
              <a:gd name="connsiteX0" fmla="*/ 145681 w 5220000"/>
              <a:gd name="connsiteY0" fmla="*/ 0 h 152218"/>
              <a:gd name="connsiteX1" fmla="*/ 1032979 w 5220000"/>
              <a:gd name="connsiteY1" fmla="*/ 0 h 152218"/>
              <a:gd name="connsiteX2" fmla="*/ 1958383 w 5220000"/>
              <a:gd name="connsiteY2" fmla="*/ 0 h 152218"/>
              <a:gd name="connsiteX3" fmla="*/ 2374319 w 5220000"/>
              <a:gd name="connsiteY3" fmla="*/ 0 h 152218"/>
              <a:gd name="connsiteX4" fmla="*/ 2845681 w 5220000"/>
              <a:gd name="connsiteY4" fmla="*/ 0 h 152218"/>
              <a:gd name="connsiteX5" fmla="*/ 3261617 w 5220000"/>
              <a:gd name="connsiteY5" fmla="*/ 0 h 152218"/>
              <a:gd name="connsiteX6" fmla="*/ 4187021 w 5220000"/>
              <a:gd name="connsiteY6" fmla="*/ 0 h 152218"/>
              <a:gd name="connsiteX7" fmla="*/ 5074319 w 5220000"/>
              <a:gd name="connsiteY7" fmla="*/ 0 h 152218"/>
              <a:gd name="connsiteX8" fmla="*/ 5220000 w 5220000"/>
              <a:gd name="connsiteY8" fmla="*/ 145681 h 152218"/>
              <a:gd name="connsiteX9" fmla="*/ 5220000 w 5220000"/>
              <a:gd name="connsiteY9" fmla="*/ 152218 h 152218"/>
              <a:gd name="connsiteX10" fmla="*/ 4332702 w 5220000"/>
              <a:gd name="connsiteY10" fmla="*/ 152218 h 152218"/>
              <a:gd name="connsiteX11" fmla="*/ 3407298 w 5220000"/>
              <a:gd name="connsiteY11" fmla="*/ 152218 h 152218"/>
              <a:gd name="connsiteX12" fmla="*/ 2700000 w 5220000"/>
              <a:gd name="connsiteY12" fmla="*/ 152218 h 152218"/>
              <a:gd name="connsiteX13" fmla="*/ 2520000 w 5220000"/>
              <a:gd name="connsiteY13" fmla="*/ 152218 h 152218"/>
              <a:gd name="connsiteX14" fmla="*/ 1812702 w 5220000"/>
              <a:gd name="connsiteY14" fmla="*/ 152218 h 152218"/>
              <a:gd name="connsiteX15" fmla="*/ 887298 w 5220000"/>
              <a:gd name="connsiteY15" fmla="*/ 152218 h 152218"/>
              <a:gd name="connsiteX16" fmla="*/ 0 w 5220000"/>
              <a:gd name="connsiteY16" fmla="*/ 152218 h 152218"/>
              <a:gd name="connsiteX17" fmla="*/ 0 w 5220000"/>
              <a:gd name="connsiteY17" fmla="*/ 145681 h 152218"/>
              <a:gd name="connsiteX18" fmla="*/ 145681 w 5220000"/>
              <a:gd name="connsiteY18" fmla="*/ 0 h 152218"/>
            </a:gdLst>
            <a:ahLst/>
            <a:cxnLst/>
            <a:rect l="l" t="t" r="r" b="b"/>
            <a:pathLst>
              <a:path w="5220000" h="152218">
                <a:moveTo>
                  <a:pt x="145681" y="0"/>
                </a:moveTo>
                <a:lnTo>
                  <a:pt x="1032979" y="0"/>
                </a:lnTo>
                <a:lnTo>
                  <a:pt x="1958383" y="0"/>
                </a:lnTo>
                <a:lnTo>
                  <a:pt x="2374319" y="0"/>
                </a:lnTo>
                <a:lnTo>
                  <a:pt x="2845681" y="0"/>
                </a:lnTo>
                <a:lnTo>
                  <a:pt x="3261617" y="0"/>
                </a:lnTo>
                <a:lnTo>
                  <a:pt x="4187021" y="0"/>
                </a:lnTo>
                <a:lnTo>
                  <a:pt x="5074319" y="0"/>
                </a:lnTo>
                <a:cubicBezTo>
                  <a:pt x="5154776" y="0"/>
                  <a:pt x="5220000" y="65224"/>
                  <a:pt x="5220000" y="145681"/>
                </a:cubicBezTo>
                <a:lnTo>
                  <a:pt x="5220000" y="152218"/>
                </a:lnTo>
                <a:lnTo>
                  <a:pt x="4332702" y="152218"/>
                </a:lnTo>
                <a:lnTo>
                  <a:pt x="3407298" y="152218"/>
                </a:lnTo>
                <a:lnTo>
                  <a:pt x="2700000" y="152218"/>
                </a:lnTo>
                <a:lnTo>
                  <a:pt x="2520000" y="152218"/>
                </a:lnTo>
                <a:lnTo>
                  <a:pt x="1812702" y="152218"/>
                </a:lnTo>
                <a:lnTo>
                  <a:pt x="887298" y="152218"/>
                </a:lnTo>
                <a:lnTo>
                  <a:pt x="0" y="152218"/>
                </a:lnTo>
                <a:lnTo>
                  <a:pt x="0" y="145681"/>
                </a:lnTo>
                <a:cubicBezTo>
                  <a:pt x="0" y="65224"/>
                  <a:pt x="65224" y="0"/>
                  <a:pt x="145681" y="0"/>
                </a:cubicBezTo>
                <a:close/>
              </a:path>
            </a:pathLst>
          </a:custGeom>
          <a:solidFill>
            <a:schemeClr val="accent1"/>
          </a:solidFill>
          <a:ln w="12700" cap="sq">
            <a:noFill/>
            <a:miter/>
          </a:ln>
        </p:spPr>
        <p:txBody>
          <a:bodyPr vert="horz" wrap="square" lIns="0" tIns="0" rIns="0" bIns="0" rtlCol="0" anchor="ctr"/>
          <a:lstStyle/>
          <a:p>
            <a:pPr algn="ctr"/>
            <a:endParaRPr kumimoji="1" lang="zh-CN" altLang="en-US"/>
          </a:p>
        </p:txBody>
      </p:sp>
      <p:sp>
        <p:nvSpPr>
          <p:cNvPr id="12" name="标题 1"/>
          <p:cNvSpPr txBox="1"/>
          <p:nvPr/>
        </p:nvSpPr>
        <p:spPr>
          <a:xfrm>
            <a:off x="751850" y="1130301"/>
            <a:ext cx="10560050" cy="999400"/>
          </a:xfrm>
          <a:prstGeom prst="rect">
            <a:avLst/>
          </a:prstGeom>
          <a:noFill/>
          <a:ln w="12700" cap="sq">
            <a:noFill/>
            <a:miter/>
          </a:ln>
        </p:spPr>
        <p:txBody>
          <a:bodyPr vert="horz" wrap="square" lIns="0" tIns="0" rIns="0" bIns="0" rtlCol="0" anchor="ctr"/>
          <a:lstStyle/>
          <a:p>
            <a:pPr lvl="0"/>
            <a:r>
              <a:rPr lang="es-EC" dirty="0"/>
              <a:t>Los indicadores no viven solos. A menudo, uno impacta a otro.</a:t>
            </a:r>
          </a:p>
        </p:txBody>
      </p:sp>
      <p:sp>
        <p:nvSpPr>
          <p:cNvPr id="13"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Correlacionar Métricas</a:t>
            </a:r>
            <a:endParaRPr kumimoji="1" lang="zh-CN" altLang="en-US"/>
          </a:p>
        </p:txBody>
      </p:sp>
      <p:pic>
        <p:nvPicPr>
          <p:cNvPr id="17" name="Imagen 16">
            <a:extLst>
              <a:ext uri="{FF2B5EF4-FFF2-40B4-BE49-F238E27FC236}">
                <a16:creationId xmlns:a16="http://schemas.microsoft.com/office/drawing/2014/main" id="{1A005858-64DE-E622-58D2-12DF0E3567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660400" y="2521640"/>
            <a:ext cx="5220000" cy="3420000"/>
          </a:xfrm>
          <a:prstGeom prst="rect">
            <a:avLst/>
          </a:prstGeom>
          <a:solidFill>
            <a:schemeClr val="bg1">
              <a:lumMod val="95000"/>
            </a:schemeClr>
          </a:solidFill>
          <a:ln w="12700" cap="sq">
            <a:noFill/>
            <a:miter/>
          </a:ln>
        </p:spPr>
        <p:txBody>
          <a:bodyPr vert="horz" wrap="square" lIns="0" tIns="0" rIns="0" bIns="0" rtlCol="0" anchor="ctr"/>
          <a:lstStyle/>
          <a:p>
            <a:pPr algn="ctr"/>
            <a:endParaRPr kumimoji="1" lang="zh-CN" altLang="en-US"/>
          </a:p>
        </p:txBody>
      </p:sp>
      <p:sp>
        <p:nvSpPr>
          <p:cNvPr id="3" name="标题 1"/>
          <p:cNvSpPr txBox="1"/>
          <p:nvPr/>
        </p:nvSpPr>
        <p:spPr>
          <a:xfrm>
            <a:off x="1074400" y="2751566"/>
            <a:ext cx="4392000" cy="2669256"/>
          </a:xfrm>
          <a:prstGeom prst="rect">
            <a:avLst/>
          </a:prstGeom>
          <a:noFill/>
          <a:ln w="12700" cap="sq">
            <a:noFill/>
            <a:miter/>
          </a:ln>
        </p:spPr>
        <p:txBody>
          <a:bodyPr vert="horz" wrap="square" lIns="0" tIns="0" rIns="0" bIns="0" rtlCol="0" anchor="t"/>
          <a:lstStyle/>
          <a:p>
            <a:pPr algn="l"/>
            <a:r>
              <a:rPr kumimoji="1" lang="en-US" altLang="zh-CN" sz="1500">
                <a:ln w="12700">
                  <a:noFill/>
                </a:ln>
                <a:solidFill>
                  <a:srgbClr val="404040">
                    <a:alpha val="100000"/>
                  </a:srgbClr>
                </a:solidFill>
                <a:latin typeface="Poppins"/>
                <a:ea typeface="Poppins"/>
                <a:cs typeface="Poppins"/>
              </a:rPr>
              <a:t>Alerta Amarilla (Advertencia)Ej. Utilización de disco al 80%.</a:t>
            </a:r>
            <a:endParaRPr kumimoji="1" lang="zh-CN" altLang="en-US"/>
          </a:p>
        </p:txBody>
      </p:sp>
      <p:sp>
        <p:nvSpPr>
          <p:cNvPr id="4" name="标题 1"/>
          <p:cNvSpPr txBox="1"/>
          <p:nvPr/>
        </p:nvSpPr>
        <p:spPr>
          <a:xfrm>
            <a:off x="6298900" y="2521640"/>
            <a:ext cx="5220000" cy="3420000"/>
          </a:xfrm>
          <a:prstGeom prst="rect">
            <a:avLst/>
          </a:prstGeom>
          <a:solidFill>
            <a:schemeClr val="bg1">
              <a:lumMod val="95000"/>
            </a:schemeClr>
          </a:solidFill>
          <a:ln w="12700" cap="sq">
            <a:noFill/>
            <a:miter/>
          </a:ln>
        </p:spPr>
        <p:txBody>
          <a:bodyPr vert="horz" wrap="square" lIns="0" tIns="0" rIns="0" bIns="0" rtlCol="0" anchor="ctr"/>
          <a:lstStyle/>
          <a:p>
            <a:pPr algn="ctr"/>
            <a:endParaRPr kumimoji="1" lang="zh-CN" altLang="en-US"/>
          </a:p>
        </p:txBody>
      </p:sp>
      <p:sp>
        <p:nvSpPr>
          <p:cNvPr id="5" name="标题 1"/>
          <p:cNvSpPr txBox="1"/>
          <p:nvPr/>
        </p:nvSpPr>
        <p:spPr>
          <a:xfrm>
            <a:off x="6712900" y="2751566"/>
            <a:ext cx="4392000" cy="2669256"/>
          </a:xfrm>
          <a:prstGeom prst="rect">
            <a:avLst/>
          </a:prstGeom>
          <a:noFill/>
          <a:ln w="12700" cap="sq">
            <a:noFill/>
            <a:miter/>
          </a:ln>
        </p:spPr>
        <p:txBody>
          <a:bodyPr vert="horz" wrap="square" lIns="0" tIns="0" rIns="0" bIns="0" rtlCol="0" anchor="t"/>
          <a:lstStyle/>
          <a:p>
            <a:pPr algn="l"/>
            <a:r>
              <a:rPr kumimoji="1" lang="en-US" altLang="zh-CN" sz="1500">
                <a:ln w="12700">
                  <a:noFill/>
                </a:ln>
                <a:solidFill>
                  <a:srgbClr val="404040">
                    <a:alpha val="100000"/>
                  </a:srgbClr>
                </a:solidFill>
                <a:latin typeface="Poppins"/>
                <a:ea typeface="Poppins"/>
                <a:cs typeface="Poppins"/>
              </a:rPr>
              <a:t>Alerta Roja (Crítica)Ej. Utilización de disco al 95%.</a:t>
            </a:r>
            <a:endParaRPr kumimoji="1" lang="zh-CN" altLang="en-US"/>
          </a:p>
        </p:txBody>
      </p:sp>
      <p:sp>
        <p:nvSpPr>
          <p:cNvPr id="6" name="标题 1"/>
          <p:cNvSpPr txBox="1"/>
          <p:nvPr/>
        </p:nvSpPr>
        <p:spPr>
          <a:xfrm>
            <a:off x="10392937"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10944315"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4731230"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5282608" y="4997968"/>
            <a:ext cx="367585" cy="729289"/>
          </a:xfrm>
          <a:custGeom>
            <a:avLst/>
            <a:gdLst>
              <a:gd name="connsiteX0" fmla="*/ 0 w 190500"/>
              <a:gd name="connsiteY0" fmla="*/ 0 h 377952"/>
              <a:gd name="connsiteX1" fmla="*/ 0 w 190500"/>
              <a:gd name="connsiteY1" fmla="*/ 190500 h 377952"/>
              <a:gd name="connsiteX2" fmla="*/ 108680 w 190500"/>
              <a:gd name="connsiteY2" fmla="*/ 190500 h 377952"/>
              <a:gd name="connsiteX3" fmla="*/ 0 w 190500"/>
              <a:gd name="connsiteY3" fmla="*/ 296228 h 377952"/>
              <a:gd name="connsiteX4" fmla="*/ 0 w 190500"/>
              <a:gd name="connsiteY4" fmla="*/ 377952 h 377952"/>
              <a:gd name="connsiteX5" fmla="*/ 190500 w 190500"/>
              <a:gd name="connsiteY5" fmla="*/ 190500 h 377952"/>
              <a:gd name="connsiteX6" fmla="*/ 190500 w 190500"/>
              <a:gd name="connsiteY6" fmla="*/ 190500 h 377952"/>
              <a:gd name="connsiteX7" fmla="*/ 190500 w 190500"/>
              <a:gd name="connsiteY7" fmla="*/ 0 h 377952"/>
            </a:gdLst>
            <a:ahLst/>
            <a:cxnLst/>
            <a:rect l="l" t="t" r="r" b="b"/>
            <a:pathLst>
              <a:path w="190500" h="377952">
                <a:moveTo>
                  <a:pt x="0" y="0"/>
                </a:moveTo>
                <a:lnTo>
                  <a:pt x="0" y="190500"/>
                </a:lnTo>
                <a:lnTo>
                  <a:pt x="108680" y="190500"/>
                </a:lnTo>
                <a:cubicBezTo>
                  <a:pt x="107031" y="249344"/>
                  <a:pt x="58867" y="296199"/>
                  <a:pt x="0" y="296228"/>
                </a:cubicBezTo>
                <a:lnTo>
                  <a:pt x="0" y="377952"/>
                </a:lnTo>
                <a:cubicBezTo>
                  <a:pt x="104031" y="377965"/>
                  <a:pt x="188835" y="294518"/>
                  <a:pt x="190500" y="190500"/>
                </a:cubicBezTo>
                <a:lnTo>
                  <a:pt x="190500" y="190500"/>
                </a:lnTo>
                <a:lnTo>
                  <a:pt x="190500" y="0"/>
                </a:lnTo>
                <a:close/>
              </a:path>
            </a:pathLst>
          </a:custGeom>
          <a:solidFill>
            <a:schemeClr val="bg1">
              <a:lumMod val="85000"/>
              <a:alpha val="50000"/>
            </a:schemeClr>
          </a:solidFill>
          <a:ln w="6055"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660400" y="2369022"/>
            <a:ext cx="5220000" cy="152218"/>
          </a:xfrm>
          <a:custGeom>
            <a:avLst/>
            <a:gdLst>
              <a:gd name="connsiteX0" fmla="*/ 145681 w 5220000"/>
              <a:gd name="connsiteY0" fmla="*/ 0 h 152218"/>
              <a:gd name="connsiteX1" fmla="*/ 1032979 w 5220000"/>
              <a:gd name="connsiteY1" fmla="*/ 0 h 152218"/>
              <a:gd name="connsiteX2" fmla="*/ 1958383 w 5220000"/>
              <a:gd name="connsiteY2" fmla="*/ 0 h 152218"/>
              <a:gd name="connsiteX3" fmla="*/ 2374319 w 5220000"/>
              <a:gd name="connsiteY3" fmla="*/ 0 h 152218"/>
              <a:gd name="connsiteX4" fmla="*/ 2845681 w 5220000"/>
              <a:gd name="connsiteY4" fmla="*/ 0 h 152218"/>
              <a:gd name="connsiteX5" fmla="*/ 3261617 w 5220000"/>
              <a:gd name="connsiteY5" fmla="*/ 0 h 152218"/>
              <a:gd name="connsiteX6" fmla="*/ 4187021 w 5220000"/>
              <a:gd name="connsiteY6" fmla="*/ 0 h 152218"/>
              <a:gd name="connsiteX7" fmla="*/ 5074319 w 5220000"/>
              <a:gd name="connsiteY7" fmla="*/ 0 h 152218"/>
              <a:gd name="connsiteX8" fmla="*/ 5220000 w 5220000"/>
              <a:gd name="connsiteY8" fmla="*/ 145681 h 152218"/>
              <a:gd name="connsiteX9" fmla="*/ 5220000 w 5220000"/>
              <a:gd name="connsiteY9" fmla="*/ 152218 h 152218"/>
              <a:gd name="connsiteX10" fmla="*/ 4332702 w 5220000"/>
              <a:gd name="connsiteY10" fmla="*/ 152218 h 152218"/>
              <a:gd name="connsiteX11" fmla="*/ 3407298 w 5220000"/>
              <a:gd name="connsiteY11" fmla="*/ 152218 h 152218"/>
              <a:gd name="connsiteX12" fmla="*/ 2700000 w 5220000"/>
              <a:gd name="connsiteY12" fmla="*/ 152218 h 152218"/>
              <a:gd name="connsiteX13" fmla="*/ 2520000 w 5220000"/>
              <a:gd name="connsiteY13" fmla="*/ 152218 h 152218"/>
              <a:gd name="connsiteX14" fmla="*/ 1812702 w 5220000"/>
              <a:gd name="connsiteY14" fmla="*/ 152218 h 152218"/>
              <a:gd name="connsiteX15" fmla="*/ 887298 w 5220000"/>
              <a:gd name="connsiteY15" fmla="*/ 152218 h 152218"/>
              <a:gd name="connsiteX16" fmla="*/ 0 w 5220000"/>
              <a:gd name="connsiteY16" fmla="*/ 152218 h 152218"/>
              <a:gd name="connsiteX17" fmla="*/ 0 w 5220000"/>
              <a:gd name="connsiteY17" fmla="*/ 145681 h 152218"/>
              <a:gd name="connsiteX18" fmla="*/ 145681 w 5220000"/>
              <a:gd name="connsiteY18" fmla="*/ 0 h 152218"/>
            </a:gdLst>
            <a:ahLst/>
            <a:cxnLst/>
            <a:rect l="l" t="t" r="r" b="b"/>
            <a:pathLst>
              <a:path w="5220000" h="152218">
                <a:moveTo>
                  <a:pt x="145681" y="0"/>
                </a:moveTo>
                <a:lnTo>
                  <a:pt x="1032979" y="0"/>
                </a:lnTo>
                <a:lnTo>
                  <a:pt x="1958383" y="0"/>
                </a:lnTo>
                <a:lnTo>
                  <a:pt x="2374319" y="0"/>
                </a:lnTo>
                <a:lnTo>
                  <a:pt x="2845681" y="0"/>
                </a:lnTo>
                <a:lnTo>
                  <a:pt x="3261617" y="0"/>
                </a:lnTo>
                <a:lnTo>
                  <a:pt x="4187021" y="0"/>
                </a:lnTo>
                <a:lnTo>
                  <a:pt x="5074319" y="0"/>
                </a:lnTo>
                <a:cubicBezTo>
                  <a:pt x="5154776" y="0"/>
                  <a:pt x="5220000" y="65224"/>
                  <a:pt x="5220000" y="145681"/>
                </a:cubicBezTo>
                <a:lnTo>
                  <a:pt x="5220000" y="152218"/>
                </a:lnTo>
                <a:lnTo>
                  <a:pt x="4332702" y="152218"/>
                </a:lnTo>
                <a:lnTo>
                  <a:pt x="3407298" y="152218"/>
                </a:lnTo>
                <a:lnTo>
                  <a:pt x="2700000" y="152218"/>
                </a:lnTo>
                <a:lnTo>
                  <a:pt x="2520000" y="152218"/>
                </a:lnTo>
                <a:lnTo>
                  <a:pt x="1812702" y="152218"/>
                </a:lnTo>
                <a:lnTo>
                  <a:pt x="887298" y="152218"/>
                </a:lnTo>
                <a:lnTo>
                  <a:pt x="0" y="152218"/>
                </a:lnTo>
                <a:lnTo>
                  <a:pt x="0" y="145681"/>
                </a:lnTo>
                <a:cubicBezTo>
                  <a:pt x="0" y="65224"/>
                  <a:pt x="65224" y="0"/>
                  <a:pt x="145681" y="0"/>
                </a:cubicBezTo>
                <a:close/>
              </a:path>
            </a:pathLst>
          </a:custGeom>
          <a:solidFill>
            <a:schemeClr val="accent1"/>
          </a:solidFill>
          <a:ln w="12700" cap="sq">
            <a:noFill/>
            <a:miter/>
          </a:ln>
        </p:spPr>
        <p:txBody>
          <a:bodyPr vert="horz" wrap="square" lIns="0" tIns="0" rIns="0" bIns="0" rtlCol="0" anchor="ctr"/>
          <a:lstStyle/>
          <a:p>
            <a:pPr algn="ctr"/>
            <a:endParaRPr kumimoji="1" lang="zh-CN" altLang="en-US"/>
          </a:p>
        </p:txBody>
      </p:sp>
      <p:sp>
        <p:nvSpPr>
          <p:cNvPr id="11" name="标题 1"/>
          <p:cNvSpPr txBox="1"/>
          <p:nvPr/>
        </p:nvSpPr>
        <p:spPr>
          <a:xfrm>
            <a:off x="6311602" y="2369022"/>
            <a:ext cx="5220000" cy="152218"/>
          </a:xfrm>
          <a:custGeom>
            <a:avLst/>
            <a:gdLst>
              <a:gd name="connsiteX0" fmla="*/ 145681 w 5220000"/>
              <a:gd name="connsiteY0" fmla="*/ 0 h 152218"/>
              <a:gd name="connsiteX1" fmla="*/ 1032979 w 5220000"/>
              <a:gd name="connsiteY1" fmla="*/ 0 h 152218"/>
              <a:gd name="connsiteX2" fmla="*/ 1958383 w 5220000"/>
              <a:gd name="connsiteY2" fmla="*/ 0 h 152218"/>
              <a:gd name="connsiteX3" fmla="*/ 2374319 w 5220000"/>
              <a:gd name="connsiteY3" fmla="*/ 0 h 152218"/>
              <a:gd name="connsiteX4" fmla="*/ 2845681 w 5220000"/>
              <a:gd name="connsiteY4" fmla="*/ 0 h 152218"/>
              <a:gd name="connsiteX5" fmla="*/ 3261617 w 5220000"/>
              <a:gd name="connsiteY5" fmla="*/ 0 h 152218"/>
              <a:gd name="connsiteX6" fmla="*/ 4187021 w 5220000"/>
              <a:gd name="connsiteY6" fmla="*/ 0 h 152218"/>
              <a:gd name="connsiteX7" fmla="*/ 5074319 w 5220000"/>
              <a:gd name="connsiteY7" fmla="*/ 0 h 152218"/>
              <a:gd name="connsiteX8" fmla="*/ 5220000 w 5220000"/>
              <a:gd name="connsiteY8" fmla="*/ 145681 h 152218"/>
              <a:gd name="connsiteX9" fmla="*/ 5220000 w 5220000"/>
              <a:gd name="connsiteY9" fmla="*/ 152218 h 152218"/>
              <a:gd name="connsiteX10" fmla="*/ 4332702 w 5220000"/>
              <a:gd name="connsiteY10" fmla="*/ 152218 h 152218"/>
              <a:gd name="connsiteX11" fmla="*/ 3407298 w 5220000"/>
              <a:gd name="connsiteY11" fmla="*/ 152218 h 152218"/>
              <a:gd name="connsiteX12" fmla="*/ 2700000 w 5220000"/>
              <a:gd name="connsiteY12" fmla="*/ 152218 h 152218"/>
              <a:gd name="connsiteX13" fmla="*/ 2520000 w 5220000"/>
              <a:gd name="connsiteY13" fmla="*/ 152218 h 152218"/>
              <a:gd name="connsiteX14" fmla="*/ 1812702 w 5220000"/>
              <a:gd name="connsiteY14" fmla="*/ 152218 h 152218"/>
              <a:gd name="connsiteX15" fmla="*/ 887298 w 5220000"/>
              <a:gd name="connsiteY15" fmla="*/ 152218 h 152218"/>
              <a:gd name="connsiteX16" fmla="*/ 0 w 5220000"/>
              <a:gd name="connsiteY16" fmla="*/ 152218 h 152218"/>
              <a:gd name="connsiteX17" fmla="*/ 0 w 5220000"/>
              <a:gd name="connsiteY17" fmla="*/ 145681 h 152218"/>
              <a:gd name="connsiteX18" fmla="*/ 145681 w 5220000"/>
              <a:gd name="connsiteY18" fmla="*/ 0 h 152218"/>
            </a:gdLst>
            <a:ahLst/>
            <a:cxnLst/>
            <a:rect l="l" t="t" r="r" b="b"/>
            <a:pathLst>
              <a:path w="5220000" h="152218">
                <a:moveTo>
                  <a:pt x="145681" y="0"/>
                </a:moveTo>
                <a:lnTo>
                  <a:pt x="1032979" y="0"/>
                </a:lnTo>
                <a:lnTo>
                  <a:pt x="1958383" y="0"/>
                </a:lnTo>
                <a:lnTo>
                  <a:pt x="2374319" y="0"/>
                </a:lnTo>
                <a:lnTo>
                  <a:pt x="2845681" y="0"/>
                </a:lnTo>
                <a:lnTo>
                  <a:pt x="3261617" y="0"/>
                </a:lnTo>
                <a:lnTo>
                  <a:pt x="4187021" y="0"/>
                </a:lnTo>
                <a:lnTo>
                  <a:pt x="5074319" y="0"/>
                </a:lnTo>
                <a:cubicBezTo>
                  <a:pt x="5154776" y="0"/>
                  <a:pt x="5220000" y="65224"/>
                  <a:pt x="5220000" y="145681"/>
                </a:cubicBezTo>
                <a:lnTo>
                  <a:pt x="5220000" y="152218"/>
                </a:lnTo>
                <a:lnTo>
                  <a:pt x="4332702" y="152218"/>
                </a:lnTo>
                <a:lnTo>
                  <a:pt x="3407298" y="152218"/>
                </a:lnTo>
                <a:lnTo>
                  <a:pt x="2700000" y="152218"/>
                </a:lnTo>
                <a:lnTo>
                  <a:pt x="2520000" y="152218"/>
                </a:lnTo>
                <a:lnTo>
                  <a:pt x="1812702" y="152218"/>
                </a:lnTo>
                <a:lnTo>
                  <a:pt x="887298" y="152218"/>
                </a:lnTo>
                <a:lnTo>
                  <a:pt x="0" y="152218"/>
                </a:lnTo>
                <a:lnTo>
                  <a:pt x="0" y="145681"/>
                </a:lnTo>
                <a:cubicBezTo>
                  <a:pt x="0" y="65224"/>
                  <a:pt x="65224" y="0"/>
                  <a:pt x="145681" y="0"/>
                </a:cubicBezTo>
                <a:close/>
              </a:path>
            </a:pathLst>
          </a:custGeom>
          <a:solidFill>
            <a:schemeClr val="accent1"/>
          </a:solidFill>
          <a:ln w="12700" cap="sq">
            <a:noFill/>
            <a:miter/>
          </a:ln>
        </p:spPr>
        <p:txBody>
          <a:bodyPr vert="horz" wrap="square" lIns="0" tIns="0" rIns="0" bIns="0" rtlCol="0" anchor="ctr"/>
          <a:lstStyle/>
          <a:p>
            <a:pPr algn="ctr"/>
            <a:endParaRPr kumimoji="1" lang="zh-CN" altLang="en-US"/>
          </a:p>
        </p:txBody>
      </p:sp>
      <p:sp>
        <p:nvSpPr>
          <p:cNvPr id="12" name="标题 1"/>
          <p:cNvSpPr txBox="1"/>
          <p:nvPr/>
        </p:nvSpPr>
        <p:spPr>
          <a:xfrm>
            <a:off x="800100" y="1153822"/>
            <a:ext cx="10560050" cy="999400"/>
          </a:xfrm>
          <a:prstGeom prst="rect">
            <a:avLst/>
          </a:prstGeom>
          <a:noFill/>
          <a:ln w="12700" cap="sq">
            <a:noFill/>
            <a:miter/>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Definición y Ejemplos</a:t>
            </a:r>
            <a:endParaRPr kumimoji="1" lang="zh-CN" altLang="en-US"/>
          </a:p>
        </p:txBody>
      </p:sp>
      <p:sp>
        <p:nvSpPr>
          <p:cNvPr id="13"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800">
                <a:ln w="12700">
                  <a:noFill/>
                </a:ln>
                <a:solidFill>
                  <a:srgbClr val="000000">
                    <a:alpha val="100000"/>
                  </a:srgbClr>
                </a:solidFill>
                <a:latin typeface="poppins-bold"/>
                <a:ea typeface="poppins-bold"/>
                <a:cs typeface="poppins-bold"/>
              </a:rPr>
              <a:t>Establecer Umbrales (Thresholds)</a:t>
            </a:r>
            <a:endParaRPr kumimoji="1" lang="zh-CN" altLang="en-US"/>
          </a:p>
        </p:txBody>
      </p:sp>
      <p:pic>
        <p:nvPicPr>
          <p:cNvPr id="17" name="Imagen 16">
            <a:extLst>
              <a:ext uri="{FF2B5EF4-FFF2-40B4-BE49-F238E27FC236}">
                <a16:creationId xmlns:a16="http://schemas.microsoft.com/office/drawing/2014/main" id="{0C07ACEE-BC29-ED8B-EB6F-3D58FEAE1B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305035" y="519976"/>
            <a:ext cx="1651390" cy="165139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5537200" y="2584037"/>
            <a:ext cx="5203029" cy="531018"/>
          </a:xfrm>
          <a:custGeom>
            <a:avLst/>
            <a:gdLst>
              <a:gd name="connsiteX0" fmla="*/ 3412998 w 3429190"/>
              <a:gd name="connsiteY0" fmla="*/ 0 h 531018"/>
              <a:gd name="connsiteX1" fmla="*/ 3062859 w 3429190"/>
              <a:gd name="connsiteY1" fmla="*/ 331280 h 531018"/>
              <a:gd name="connsiteX2" fmla="*/ 2359533 w 3429190"/>
              <a:gd name="connsiteY2" fmla="*/ 512064 h 531018"/>
              <a:gd name="connsiteX3" fmla="*/ 0 w 3429190"/>
              <a:gd name="connsiteY3" fmla="*/ 512064 h 531018"/>
              <a:gd name="connsiteX4" fmla="*/ 381 w 3429190"/>
              <a:gd name="connsiteY4" fmla="*/ 519112 h 531018"/>
              <a:gd name="connsiteX5" fmla="*/ 1238 w 3429190"/>
              <a:gd name="connsiteY5" fmla="*/ 531019 h 531018"/>
              <a:gd name="connsiteX6" fmla="*/ 2359438 w 3429190"/>
              <a:gd name="connsiteY6" fmla="*/ 531019 h 531018"/>
              <a:gd name="connsiteX7" fmla="*/ 3072194 w 3429190"/>
              <a:gd name="connsiteY7" fmla="*/ 347758 h 531018"/>
              <a:gd name="connsiteX8" fmla="*/ 3429191 w 3429190"/>
              <a:gd name="connsiteY8" fmla="*/ 9811 h 531018"/>
              <a:gd name="connsiteX9" fmla="*/ 3412998 w 3429190"/>
              <a:gd name="connsiteY9" fmla="*/ 0 h 531018"/>
            </a:gdLst>
            <a:ahLst/>
            <a:cxnLst/>
            <a:rect l="l" t="t" r="r" b="b"/>
            <a:pathLst>
              <a:path w="3429190" h="531018">
                <a:moveTo>
                  <a:pt x="3412998" y="0"/>
                </a:moveTo>
                <a:cubicBezTo>
                  <a:pt x="3335179" y="129730"/>
                  <a:pt x="3217355" y="241173"/>
                  <a:pt x="3062859" y="331280"/>
                </a:cubicBezTo>
                <a:cubicBezTo>
                  <a:pt x="2859881" y="449580"/>
                  <a:pt x="2616708" y="512064"/>
                  <a:pt x="2359533" y="512064"/>
                </a:cubicBezTo>
                <a:lnTo>
                  <a:pt x="0" y="512064"/>
                </a:lnTo>
                <a:cubicBezTo>
                  <a:pt x="191" y="514445"/>
                  <a:pt x="381" y="516731"/>
                  <a:pt x="381" y="519112"/>
                </a:cubicBezTo>
                <a:cubicBezTo>
                  <a:pt x="953" y="523113"/>
                  <a:pt x="1238" y="527018"/>
                  <a:pt x="1238" y="531019"/>
                </a:cubicBezTo>
                <a:lnTo>
                  <a:pt x="2359438" y="531019"/>
                </a:lnTo>
                <a:cubicBezTo>
                  <a:pt x="2619851" y="531019"/>
                  <a:pt x="2866454" y="467582"/>
                  <a:pt x="3072194" y="347758"/>
                </a:cubicBezTo>
                <a:cubicBezTo>
                  <a:pt x="3229547" y="256032"/>
                  <a:pt x="3349657" y="142303"/>
                  <a:pt x="3429191" y="9811"/>
                </a:cubicBezTo>
                <a:lnTo>
                  <a:pt x="3412998" y="0"/>
                </a:lnTo>
                <a:close/>
              </a:path>
            </a:pathLst>
          </a:custGeom>
          <a:solidFill>
            <a:schemeClr val="accent1"/>
          </a:solidFill>
          <a:ln w="28575"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0707753" y="2164061"/>
            <a:ext cx="305938" cy="378832"/>
          </a:xfrm>
          <a:custGeom>
            <a:avLst/>
            <a:gdLst>
              <a:gd name="connsiteX0" fmla="*/ 303938 w 305938"/>
              <a:gd name="connsiteY0" fmla="*/ 316058 h 378832"/>
              <a:gd name="connsiteX1" fmla="*/ 305939 w 305938"/>
              <a:gd name="connsiteY1" fmla="*/ 4876 h 378832"/>
              <a:gd name="connsiteX2" fmla="*/ 299462 w 305938"/>
              <a:gd name="connsiteY2" fmla="*/ 780 h 378832"/>
              <a:gd name="connsiteX3" fmla="*/ 4663 w 305938"/>
              <a:gd name="connsiteY3" fmla="*/ 222618 h 378832"/>
              <a:gd name="connsiteX4" fmla="*/ 8378 w 305938"/>
              <a:gd name="connsiteY4" fmla="*/ 244620 h 378832"/>
              <a:gd name="connsiteX5" fmla="*/ 93055 w 305938"/>
              <a:gd name="connsiteY5" fmla="*/ 269385 h 378832"/>
              <a:gd name="connsiteX6" fmla="*/ 264314 w 305938"/>
              <a:gd name="connsiteY6" fmla="*/ 76123 h 378832"/>
              <a:gd name="connsiteX7" fmla="*/ 127154 w 305938"/>
              <a:gd name="connsiteY7" fmla="*/ 285578 h 378832"/>
              <a:gd name="connsiteX8" fmla="*/ 134679 w 305938"/>
              <a:gd name="connsiteY8" fmla="*/ 367588 h 378832"/>
              <a:gd name="connsiteX9" fmla="*/ 155063 w 305938"/>
              <a:gd name="connsiteY9" fmla="*/ 372160 h 378832"/>
              <a:gd name="connsiteX10" fmla="*/ 186781 w 305938"/>
              <a:gd name="connsiteY10" fmla="*/ 298056 h 378832"/>
              <a:gd name="connsiteX11" fmla="*/ 290984 w 305938"/>
              <a:gd name="connsiteY11" fmla="*/ 327393 h 378832"/>
              <a:gd name="connsiteX12" fmla="*/ 303938 w 305938"/>
              <a:gd name="connsiteY12" fmla="*/ 316058 h 378832"/>
            </a:gdLst>
            <a:ahLst/>
            <a:cxnLst/>
            <a:rect l="l" t="t" r="r" b="b"/>
            <a:pathLst>
              <a:path w="305938" h="378832">
                <a:moveTo>
                  <a:pt x="303938" y="316058"/>
                </a:moveTo>
                <a:lnTo>
                  <a:pt x="305939" y="4876"/>
                </a:lnTo>
                <a:cubicBezTo>
                  <a:pt x="305939" y="1066"/>
                  <a:pt x="302224" y="-1315"/>
                  <a:pt x="299462" y="780"/>
                </a:cubicBezTo>
                <a:lnTo>
                  <a:pt x="4663" y="222618"/>
                </a:lnTo>
                <a:cubicBezTo>
                  <a:pt x="-3052" y="228428"/>
                  <a:pt x="-766" y="241953"/>
                  <a:pt x="8378" y="244620"/>
                </a:cubicBezTo>
                <a:lnTo>
                  <a:pt x="93055" y="269385"/>
                </a:lnTo>
                <a:lnTo>
                  <a:pt x="264314" y="76123"/>
                </a:lnTo>
                <a:lnTo>
                  <a:pt x="127154" y="285578"/>
                </a:lnTo>
                <a:lnTo>
                  <a:pt x="134679" y="367588"/>
                </a:lnTo>
                <a:cubicBezTo>
                  <a:pt x="135822" y="379875"/>
                  <a:pt x="150395" y="383114"/>
                  <a:pt x="155063" y="372160"/>
                </a:cubicBezTo>
                <a:lnTo>
                  <a:pt x="186781" y="298056"/>
                </a:lnTo>
                <a:lnTo>
                  <a:pt x="290984" y="327393"/>
                </a:lnTo>
                <a:cubicBezTo>
                  <a:pt x="297557" y="329393"/>
                  <a:pt x="303843" y="323868"/>
                  <a:pt x="303938" y="316058"/>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5605670" y="1831259"/>
            <a:ext cx="1755485" cy="1117115"/>
          </a:xfrm>
          <a:prstGeom prst="rect">
            <a:avLst/>
          </a:prstGeom>
          <a:noFill/>
          <a:ln w="12700" cap="sq">
            <a:noFill/>
            <a:miter/>
          </a:ln>
        </p:spPr>
        <p:txBody>
          <a:bodyPr vert="horz" wrap="square" lIns="0" tIns="0" rIns="0" bIns="0" rtlCol="0" anchor="ctr"/>
          <a:lstStyle/>
          <a:p>
            <a:pPr algn="l"/>
            <a:r>
              <a:rPr kumimoji="1" lang="en-US" altLang="zh-CN" sz="8000">
                <a:ln w="12700">
                  <a:noFill/>
                </a:ln>
                <a:solidFill>
                  <a:srgbClr val="262626">
                    <a:alpha val="100000"/>
                  </a:srgbClr>
                </a:solidFill>
                <a:latin typeface="poppins-bold"/>
                <a:ea typeface="poppins-bold"/>
                <a:cs typeface="poppins-bold"/>
              </a:rPr>
              <a:t> 06</a:t>
            </a:r>
            <a:endParaRPr kumimoji="1" lang="zh-CN" altLang="en-US"/>
          </a:p>
        </p:txBody>
      </p:sp>
      <p:sp>
        <p:nvSpPr>
          <p:cNvPr id="7" name="标题 1"/>
          <p:cNvSpPr txBox="1"/>
          <p:nvPr/>
        </p:nvSpPr>
        <p:spPr>
          <a:xfrm>
            <a:off x="5605670" y="3309275"/>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Mejora Continua Basada en Indicadores</a:t>
            </a:r>
            <a:endParaRPr kumimoji="1" lang="zh-CN" altLang="en-US"/>
          </a:p>
        </p:txBody>
      </p:sp>
      <p:pic>
        <p:nvPicPr>
          <p:cNvPr id="10" name="Imagen 9">
            <a:extLst>
              <a:ext uri="{FF2B5EF4-FFF2-40B4-BE49-F238E27FC236}">
                <a16:creationId xmlns:a16="http://schemas.microsoft.com/office/drawing/2014/main" id="{D088A26B-0378-73BC-3270-5ACFBC90BC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2700000">
            <a:off x="549890" y="304069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 name="标题 1"/>
          <p:cNvSpPr txBox="1"/>
          <p:nvPr/>
        </p:nvSpPr>
        <p:spPr>
          <a:xfrm rot="-2699514">
            <a:off x="209833" y="386095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rot="-2699514">
            <a:off x="808350" y="304029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rot="-2700000">
            <a:off x="467606" y="3861097"/>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rot="-2700000">
            <a:off x="1066104" y="304044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rot="-2699514">
            <a:off x="726054" y="386072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rot="-2700000">
            <a:off x="1323815" y="3040710"/>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rot="-2699514">
            <a:off x="983780" y="3860984"/>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rot="-2699514">
            <a:off x="1582296" y="3040326"/>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rot="-2700000">
            <a:off x="1241531" y="3861108"/>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rot="-2700000">
            <a:off x="1840018" y="304044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rot="-2699514">
            <a:off x="1500001" y="386075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rot="-2700000">
            <a:off x="2097728" y="3040710"/>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rot="-2699514">
            <a:off x="1757727" y="3861018"/>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rot="-2699514">
            <a:off x="2356243" y="304035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rot="-2700000">
            <a:off x="2015455" y="3861108"/>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rot="-2700000">
            <a:off x="2613942" y="3040461"/>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9" name="标题 1"/>
          <p:cNvSpPr txBox="1"/>
          <p:nvPr/>
        </p:nvSpPr>
        <p:spPr>
          <a:xfrm rot="-2699514">
            <a:off x="2273948" y="3860787"/>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rot="-2700000">
            <a:off x="2871653" y="3040721"/>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rot="-2699514">
            <a:off x="2531674" y="386105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2" name="标题 1"/>
          <p:cNvSpPr txBox="1"/>
          <p:nvPr/>
        </p:nvSpPr>
        <p:spPr>
          <a:xfrm rot="-2699514">
            <a:off x="3130190" y="304039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rot="-2700000">
            <a:off x="2789369" y="3861119"/>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4" name="标题 1"/>
          <p:cNvSpPr txBox="1"/>
          <p:nvPr/>
        </p:nvSpPr>
        <p:spPr>
          <a:xfrm rot="-2700000">
            <a:off x="3387856" y="304047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5" name="标题 1"/>
          <p:cNvSpPr txBox="1"/>
          <p:nvPr/>
        </p:nvSpPr>
        <p:spPr>
          <a:xfrm rot="-2699514">
            <a:off x="3047906" y="386082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6" name="标题 1"/>
          <p:cNvSpPr txBox="1"/>
          <p:nvPr/>
        </p:nvSpPr>
        <p:spPr>
          <a:xfrm rot="-2700000">
            <a:off x="3645567" y="3040721"/>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7" name="标题 1"/>
          <p:cNvSpPr txBox="1"/>
          <p:nvPr/>
        </p:nvSpPr>
        <p:spPr>
          <a:xfrm rot="-2699514">
            <a:off x="3305620" y="3861084"/>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8" name="标题 1"/>
          <p:cNvSpPr txBox="1"/>
          <p:nvPr/>
        </p:nvSpPr>
        <p:spPr>
          <a:xfrm rot="-2700000">
            <a:off x="4161781" y="304047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29" name="标题 1"/>
          <p:cNvSpPr txBox="1"/>
          <p:nvPr/>
        </p:nvSpPr>
        <p:spPr>
          <a:xfrm rot="-2699514">
            <a:off x="3821853" y="386085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0" name="标题 1"/>
          <p:cNvSpPr txBox="1"/>
          <p:nvPr/>
        </p:nvSpPr>
        <p:spPr>
          <a:xfrm rot="-2700000">
            <a:off x="4419491" y="304073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1" name="标题 1"/>
          <p:cNvSpPr txBox="1"/>
          <p:nvPr/>
        </p:nvSpPr>
        <p:spPr>
          <a:xfrm rot="-2699514">
            <a:off x="4079567" y="3861128"/>
            <a:ext cx="768389" cy="88447"/>
          </a:xfrm>
          <a:custGeom>
            <a:avLst/>
            <a:gdLst>
              <a:gd name="connsiteX0" fmla="*/ 0 w 768389"/>
              <a:gd name="connsiteY0" fmla="*/ 0 h 88447"/>
              <a:gd name="connsiteX1" fmla="*/ 768390 w 768389"/>
              <a:gd name="connsiteY1" fmla="*/ 0 h 88447"/>
              <a:gd name="connsiteX2" fmla="*/ 768390 w 768389"/>
              <a:gd name="connsiteY2" fmla="*/ 88448 h 88447"/>
              <a:gd name="connsiteX3" fmla="*/ 0 w 768389"/>
              <a:gd name="connsiteY3" fmla="*/ 88448 h 88447"/>
            </a:gdLst>
            <a:ahLst/>
            <a:cxnLst/>
            <a:rect l="l" t="t" r="r" b="b"/>
            <a:pathLst>
              <a:path w="768389" h="88447">
                <a:moveTo>
                  <a:pt x="0" y="0"/>
                </a:moveTo>
                <a:lnTo>
                  <a:pt x="768390" y="0"/>
                </a:lnTo>
                <a:lnTo>
                  <a:pt x="768390"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2" name="标题 1"/>
          <p:cNvSpPr txBox="1"/>
          <p:nvPr/>
        </p:nvSpPr>
        <p:spPr>
          <a:xfrm rot="-2699514">
            <a:off x="4678084" y="304046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3" name="标题 1"/>
          <p:cNvSpPr txBox="1"/>
          <p:nvPr/>
        </p:nvSpPr>
        <p:spPr>
          <a:xfrm rot="-2700000">
            <a:off x="4337207" y="386113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4" name="标题 1"/>
          <p:cNvSpPr txBox="1"/>
          <p:nvPr/>
        </p:nvSpPr>
        <p:spPr>
          <a:xfrm rot="-2700000">
            <a:off x="4935694" y="304048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5" name="标题 1"/>
          <p:cNvSpPr txBox="1"/>
          <p:nvPr/>
        </p:nvSpPr>
        <p:spPr>
          <a:xfrm rot="-2699514">
            <a:off x="4595800" y="3860886"/>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6" name="标题 1"/>
          <p:cNvSpPr txBox="1"/>
          <p:nvPr/>
        </p:nvSpPr>
        <p:spPr>
          <a:xfrm rot="-2700000">
            <a:off x="5193405" y="304073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7" name="标题 1"/>
          <p:cNvSpPr txBox="1"/>
          <p:nvPr/>
        </p:nvSpPr>
        <p:spPr>
          <a:xfrm rot="-2699514">
            <a:off x="4853525" y="3861161"/>
            <a:ext cx="768389" cy="88447"/>
          </a:xfrm>
          <a:custGeom>
            <a:avLst/>
            <a:gdLst>
              <a:gd name="connsiteX0" fmla="*/ 0 w 768389"/>
              <a:gd name="connsiteY0" fmla="*/ 0 h 88447"/>
              <a:gd name="connsiteX1" fmla="*/ 768390 w 768389"/>
              <a:gd name="connsiteY1" fmla="*/ 0 h 88447"/>
              <a:gd name="connsiteX2" fmla="*/ 768390 w 768389"/>
              <a:gd name="connsiteY2" fmla="*/ 88448 h 88447"/>
              <a:gd name="connsiteX3" fmla="*/ 0 w 768389"/>
              <a:gd name="connsiteY3" fmla="*/ 88448 h 88447"/>
            </a:gdLst>
            <a:ahLst/>
            <a:cxnLst/>
            <a:rect l="l" t="t" r="r" b="b"/>
            <a:pathLst>
              <a:path w="768389" h="88447">
                <a:moveTo>
                  <a:pt x="0" y="0"/>
                </a:moveTo>
                <a:lnTo>
                  <a:pt x="768390" y="0"/>
                </a:lnTo>
                <a:lnTo>
                  <a:pt x="768390"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8" name="标题 1"/>
          <p:cNvSpPr txBox="1"/>
          <p:nvPr/>
        </p:nvSpPr>
        <p:spPr>
          <a:xfrm rot="-2699514">
            <a:off x="5452042" y="304050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39" name="标题 1"/>
          <p:cNvSpPr txBox="1"/>
          <p:nvPr/>
        </p:nvSpPr>
        <p:spPr>
          <a:xfrm rot="-2700000">
            <a:off x="5111132" y="386113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0" name="标题 1"/>
          <p:cNvSpPr txBox="1"/>
          <p:nvPr/>
        </p:nvSpPr>
        <p:spPr>
          <a:xfrm rot="-2700000">
            <a:off x="5709619" y="304048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1" name="标题 1"/>
          <p:cNvSpPr txBox="1"/>
          <p:nvPr/>
        </p:nvSpPr>
        <p:spPr>
          <a:xfrm rot="-2699514">
            <a:off x="5369747" y="3860919"/>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2" name="标题 1"/>
          <p:cNvSpPr txBox="1"/>
          <p:nvPr/>
        </p:nvSpPr>
        <p:spPr>
          <a:xfrm rot="-2700000">
            <a:off x="5967330" y="304074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3" name="标题 1"/>
          <p:cNvSpPr txBox="1"/>
          <p:nvPr/>
        </p:nvSpPr>
        <p:spPr>
          <a:xfrm rot="-2699514">
            <a:off x="5627472" y="3861194"/>
            <a:ext cx="768389" cy="88447"/>
          </a:xfrm>
          <a:custGeom>
            <a:avLst/>
            <a:gdLst>
              <a:gd name="connsiteX0" fmla="*/ 0 w 768389"/>
              <a:gd name="connsiteY0" fmla="*/ 0 h 88447"/>
              <a:gd name="connsiteX1" fmla="*/ 768390 w 768389"/>
              <a:gd name="connsiteY1" fmla="*/ 0 h 88447"/>
              <a:gd name="connsiteX2" fmla="*/ 768390 w 768389"/>
              <a:gd name="connsiteY2" fmla="*/ 88448 h 88447"/>
              <a:gd name="connsiteX3" fmla="*/ 0 w 768389"/>
              <a:gd name="connsiteY3" fmla="*/ 88448 h 88447"/>
            </a:gdLst>
            <a:ahLst/>
            <a:cxnLst/>
            <a:rect l="l" t="t" r="r" b="b"/>
            <a:pathLst>
              <a:path w="768389" h="88447">
                <a:moveTo>
                  <a:pt x="0" y="0"/>
                </a:moveTo>
                <a:lnTo>
                  <a:pt x="768390" y="0"/>
                </a:lnTo>
                <a:lnTo>
                  <a:pt x="768390"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4" name="标题 1"/>
          <p:cNvSpPr txBox="1"/>
          <p:nvPr/>
        </p:nvSpPr>
        <p:spPr>
          <a:xfrm rot="-2699514">
            <a:off x="6225989" y="3040536"/>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5" name="标题 1"/>
          <p:cNvSpPr txBox="1"/>
          <p:nvPr/>
        </p:nvSpPr>
        <p:spPr>
          <a:xfrm rot="-2700000">
            <a:off x="5885046" y="386114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6" name="标题 1"/>
          <p:cNvSpPr txBox="1"/>
          <p:nvPr/>
        </p:nvSpPr>
        <p:spPr>
          <a:xfrm rot="-2700000">
            <a:off x="6741243" y="304074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7" name="标题 1"/>
          <p:cNvSpPr txBox="1"/>
          <p:nvPr/>
        </p:nvSpPr>
        <p:spPr>
          <a:xfrm rot="-2699514">
            <a:off x="6401419" y="3861228"/>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8" name="标题 1"/>
          <p:cNvSpPr txBox="1"/>
          <p:nvPr/>
        </p:nvSpPr>
        <p:spPr>
          <a:xfrm rot="-2699514">
            <a:off x="6999935" y="304056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49" name="标题 1"/>
          <p:cNvSpPr txBox="1"/>
          <p:nvPr/>
        </p:nvSpPr>
        <p:spPr>
          <a:xfrm rot="-2700000">
            <a:off x="6658971" y="386114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0" name="标题 1"/>
          <p:cNvSpPr txBox="1"/>
          <p:nvPr/>
        </p:nvSpPr>
        <p:spPr>
          <a:xfrm rot="-2700000">
            <a:off x="7257458" y="3040494"/>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1" name="标题 1"/>
          <p:cNvSpPr txBox="1"/>
          <p:nvPr/>
        </p:nvSpPr>
        <p:spPr>
          <a:xfrm rot="-2699514">
            <a:off x="6917640" y="3860997"/>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2" name="标题 1"/>
          <p:cNvSpPr txBox="1"/>
          <p:nvPr/>
        </p:nvSpPr>
        <p:spPr>
          <a:xfrm rot="-2700000">
            <a:off x="7515168" y="3040754"/>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3" name="标题 1"/>
          <p:cNvSpPr txBox="1"/>
          <p:nvPr/>
        </p:nvSpPr>
        <p:spPr>
          <a:xfrm rot="-2699514">
            <a:off x="7175366" y="386126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4" name="标题 1"/>
          <p:cNvSpPr txBox="1"/>
          <p:nvPr/>
        </p:nvSpPr>
        <p:spPr>
          <a:xfrm rot="-2699514">
            <a:off x="7773882" y="304060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5" name="标题 1"/>
          <p:cNvSpPr txBox="1"/>
          <p:nvPr/>
        </p:nvSpPr>
        <p:spPr>
          <a:xfrm rot="-2700000">
            <a:off x="7432884" y="3861152"/>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6" name="标题 1"/>
          <p:cNvSpPr txBox="1"/>
          <p:nvPr/>
        </p:nvSpPr>
        <p:spPr>
          <a:xfrm rot="-2700000">
            <a:off x="8289082" y="3040754"/>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7" name="标题 1"/>
          <p:cNvSpPr txBox="1"/>
          <p:nvPr/>
        </p:nvSpPr>
        <p:spPr>
          <a:xfrm rot="-2699514">
            <a:off x="7949312" y="3861294"/>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8" name="标题 1"/>
          <p:cNvSpPr txBox="1"/>
          <p:nvPr/>
        </p:nvSpPr>
        <p:spPr>
          <a:xfrm rot="-2699514">
            <a:off x="8547829" y="304063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59" name="标题 1"/>
          <p:cNvSpPr txBox="1"/>
          <p:nvPr/>
        </p:nvSpPr>
        <p:spPr>
          <a:xfrm rot="-2700000">
            <a:off x="8206809" y="3861152"/>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0" name="标题 1"/>
          <p:cNvSpPr txBox="1"/>
          <p:nvPr/>
        </p:nvSpPr>
        <p:spPr>
          <a:xfrm rot="-2700000">
            <a:off x="8805296" y="304050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1" name="标题 1"/>
          <p:cNvSpPr txBox="1"/>
          <p:nvPr/>
        </p:nvSpPr>
        <p:spPr>
          <a:xfrm rot="-2699514">
            <a:off x="8465545" y="386106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2" name="标题 1"/>
          <p:cNvSpPr txBox="1"/>
          <p:nvPr/>
        </p:nvSpPr>
        <p:spPr>
          <a:xfrm rot="-2699514">
            <a:off x="9321776" y="3040668"/>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3" name="标题 1"/>
          <p:cNvSpPr txBox="1"/>
          <p:nvPr/>
        </p:nvSpPr>
        <p:spPr>
          <a:xfrm rot="-2700000">
            <a:off x="8980723" y="386116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4" name="标题 1"/>
          <p:cNvSpPr txBox="1"/>
          <p:nvPr/>
        </p:nvSpPr>
        <p:spPr>
          <a:xfrm rot="-2700000">
            <a:off x="9579210" y="304050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5" name="标题 1"/>
          <p:cNvSpPr txBox="1"/>
          <p:nvPr/>
        </p:nvSpPr>
        <p:spPr>
          <a:xfrm rot="-2699514">
            <a:off x="9239492" y="3861096"/>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6" name="标题 1"/>
          <p:cNvSpPr txBox="1"/>
          <p:nvPr/>
        </p:nvSpPr>
        <p:spPr>
          <a:xfrm rot="-2700000">
            <a:off x="9836931" y="304076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7" name="标题 1"/>
          <p:cNvSpPr txBox="1"/>
          <p:nvPr/>
        </p:nvSpPr>
        <p:spPr>
          <a:xfrm rot="-2699514">
            <a:off x="9497217" y="386136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8" name="标题 1"/>
          <p:cNvSpPr txBox="1"/>
          <p:nvPr/>
        </p:nvSpPr>
        <p:spPr>
          <a:xfrm rot="-2700000">
            <a:off x="10093186" y="304018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69" name="标题 1"/>
          <p:cNvSpPr txBox="1"/>
          <p:nvPr/>
        </p:nvSpPr>
        <p:spPr>
          <a:xfrm rot="-2699514">
            <a:off x="9752693" y="3861574"/>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0" name="标题 1"/>
          <p:cNvSpPr txBox="1"/>
          <p:nvPr/>
        </p:nvSpPr>
        <p:spPr>
          <a:xfrm rot="-2700000">
            <a:off x="10348658" y="3040381"/>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1" name="标题 1"/>
          <p:cNvSpPr txBox="1"/>
          <p:nvPr/>
        </p:nvSpPr>
        <p:spPr>
          <a:xfrm rot="-2699514">
            <a:off x="10008180" y="3861776"/>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2" name="标题 1"/>
          <p:cNvSpPr txBox="1"/>
          <p:nvPr/>
        </p:nvSpPr>
        <p:spPr>
          <a:xfrm rot="-2700000">
            <a:off x="10604131" y="3040580"/>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3" name="标题 1"/>
          <p:cNvSpPr txBox="1"/>
          <p:nvPr/>
        </p:nvSpPr>
        <p:spPr>
          <a:xfrm rot="-2699514">
            <a:off x="10264449" y="3861208"/>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4" name="标题 1"/>
          <p:cNvSpPr txBox="1"/>
          <p:nvPr/>
        </p:nvSpPr>
        <p:spPr>
          <a:xfrm rot="-2700000">
            <a:off x="10859604" y="304077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5" name="标题 1"/>
          <p:cNvSpPr txBox="1"/>
          <p:nvPr/>
        </p:nvSpPr>
        <p:spPr>
          <a:xfrm rot="-2699514">
            <a:off x="10519926" y="386141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6" name="标题 1"/>
          <p:cNvSpPr txBox="1"/>
          <p:nvPr/>
        </p:nvSpPr>
        <p:spPr>
          <a:xfrm rot="-2700000">
            <a:off x="11115858" y="304018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7" name="标题 1"/>
          <p:cNvSpPr txBox="1"/>
          <p:nvPr/>
        </p:nvSpPr>
        <p:spPr>
          <a:xfrm rot="-2699514">
            <a:off x="10775413" y="3861612"/>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8" name="标题 1"/>
          <p:cNvSpPr txBox="1"/>
          <p:nvPr/>
        </p:nvSpPr>
        <p:spPr>
          <a:xfrm rot="-2700000">
            <a:off x="11371331" y="3040384"/>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79" name="标题 1"/>
          <p:cNvSpPr txBox="1"/>
          <p:nvPr/>
        </p:nvSpPr>
        <p:spPr>
          <a:xfrm rot="-2699514">
            <a:off x="11030900" y="3861826"/>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0" name="标题 1"/>
          <p:cNvSpPr txBox="1"/>
          <p:nvPr/>
        </p:nvSpPr>
        <p:spPr>
          <a:xfrm rot="-2700000">
            <a:off x="11626815" y="304058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1" name="标题 1"/>
          <p:cNvSpPr txBox="1"/>
          <p:nvPr/>
        </p:nvSpPr>
        <p:spPr>
          <a:xfrm rot="-2699514">
            <a:off x="11287169" y="3861246"/>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2" name="标题 1"/>
          <p:cNvSpPr txBox="1"/>
          <p:nvPr/>
        </p:nvSpPr>
        <p:spPr>
          <a:xfrm rot="-2699514">
            <a:off x="10095723" y="3040702"/>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3" name="标题 1"/>
          <p:cNvSpPr txBox="1"/>
          <p:nvPr/>
        </p:nvSpPr>
        <p:spPr>
          <a:xfrm rot="-2700000">
            <a:off x="9754647" y="386116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4" name="标题 1"/>
          <p:cNvSpPr txBox="1"/>
          <p:nvPr/>
        </p:nvSpPr>
        <p:spPr>
          <a:xfrm rot="-2699514">
            <a:off x="3904137" y="304655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5" name="标题 1"/>
          <p:cNvSpPr txBox="1"/>
          <p:nvPr/>
        </p:nvSpPr>
        <p:spPr>
          <a:xfrm rot="-2700000">
            <a:off x="3563294" y="3867247"/>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6" name="标题 1"/>
          <p:cNvSpPr txBox="1"/>
          <p:nvPr/>
        </p:nvSpPr>
        <p:spPr>
          <a:xfrm rot="-2700000">
            <a:off x="6483533" y="3046611"/>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7" name="标题 1"/>
          <p:cNvSpPr txBox="1"/>
          <p:nvPr/>
        </p:nvSpPr>
        <p:spPr>
          <a:xfrm rot="-2699514">
            <a:off x="6143693" y="3867080"/>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8" name="标题 1"/>
          <p:cNvSpPr txBox="1"/>
          <p:nvPr/>
        </p:nvSpPr>
        <p:spPr>
          <a:xfrm rot="-2700000">
            <a:off x="8017782" y="304689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89" name="标题 1"/>
          <p:cNvSpPr txBox="1"/>
          <p:nvPr/>
        </p:nvSpPr>
        <p:spPr>
          <a:xfrm rot="-2699514">
            <a:off x="7678034" y="3867455"/>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90" name="标题 1"/>
          <p:cNvSpPr txBox="1"/>
          <p:nvPr/>
        </p:nvSpPr>
        <p:spPr>
          <a:xfrm>
            <a:off x="6756999" y="1222082"/>
            <a:ext cx="2524671" cy="532755"/>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Verificar (Check)</a:t>
            </a:r>
            <a:endParaRPr kumimoji="1" lang="zh-CN" altLang="en-US"/>
          </a:p>
        </p:txBody>
      </p:sp>
      <p:sp>
        <p:nvSpPr>
          <p:cNvPr id="91" name="标题 1"/>
          <p:cNvSpPr txBox="1"/>
          <p:nvPr/>
        </p:nvSpPr>
        <p:spPr>
          <a:xfrm>
            <a:off x="6757001" y="1812989"/>
            <a:ext cx="2524671" cy="1107233"/>
          </a:xfrm>
          <a:prstGeom prst="rect">
            <a:avLst/>
          </a:prstGeom>
          <a:noFill/>
          <a:ln>
            <a:noFill/>
          </a:ln>
        </p:spPr>
        <p:txBody>
          <a:bodyPr vert="horz" wrap="square" lIns="0" tIns="0" rIns="0" bIns="0" rtlCol="0" anchor="t"/>
          <a:lstStyle/>
          <a:p>
            <a:pPr algn="l"/>
            <a:r>
              <a:rPr kumimoji="1" lang="en-US" altLang="zh-CN" sz="1200">
                <a:ln w="12700">
                  <a:noFill/>
                </a:ln>
                <a:solidFill>
                  <a:srgbClr val="000000">
                    <a:alpha val="100000"/>
                  </a:srgbClr>
                </a:solidFill>
                <a:latin typeface="Poppins"/>
                <a:ea typeface="Poppins"/>
                <a:cs typeface="Poppins"/>
              </a:rPr>
              <a:t>Medir el resultado (usando los mismos KPIs).
Verificación"El PUE ha bajado a 1.72".</a:t>
            </a:r>
            <a:endParaRPr kumimoji="1" lang="zh-CN" altLang="en-US"/>
          </a:p>
        </p:txBody>
      </p:sp>
      <p:sp>
        <p:nvSpPr>
          <p:cNvPr id="92" name="标题 1"/>
          <p:cNvSpPr txBox="1"/>
          <p:nvPr/>
        </p:nvSpPr>
        <p:spPr>
          <a:xfrm>
            <a:off x="4129958" y="4348498"/>
            <a:ext cx="2524671" cy="532755"/>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Hacer (Do)</a:t>
            </a:r>
            <a:endParaRPr kumimoji="1" lang="zh-CN" altLang="en-US"/>
          </a:p>
        </p:txBody>
      </p:sp>
      <p:sp>
        <p:nvSpPr>
          <p:cNvPr id="93" name="标题 1"/>
          <p:cNvSpPr txBox="1"/>
          <p:nvPr/>
        </p:nvSpPr>
        <p:spPr>
          <a:xfrm>
            <a:off x="4129957" y="4939405"/>
            <a:ext cx="2524671" cy="1107233"/>
          </a:xfrm>
          <a:prstGeom prst="rect">
            <a:avLst/>
          </a:prstGeom>
          <a:noFill/>
          <a:ln>
            <a:noFill/>
          </a:ln>
        </p:spPr>
        <p:txBody>
          <a:bodyPr vert="horz" wrap="square" lIns="0" tIns="0" rIns="0" bIns="0" rtlCol="0" anchor="t"/>
          <a:lstStyle/>
          <a:p>
            <a:pPr algn="l"/>
            <a:r>
              <a:rPr kumimoji="1" lang="en-US" altLang="zh-CN" sz="1200">
                <a:ln w="12700">
                  <a:noFill/>
                </a:ln>
                <a:solidFill>
                  <a:srgbClr val="000000">
                    <a:alpha val="100000"/>
                  </a:srgbClr>
                </a:solidFill>
                <a:latin typeface="Poppins"/>
                <a:ea typeface="Poppins"/>
                <a:cs typeface="Poppins"/>
              </a:rPr>
              <a:t>Ejecutar el plan.
Implementar la solución diseñada (instalar barreras físicas en los racks para separar el aire frío del caliente).</a:t>
            </a:r>
            <a:endParaRPr kumimoji="1" lang="zh-CN" altLang="en-US"/>
          </a:p>
        </p:txBody>
      </p:sp>
      <p:sp>
        <p:nvSpPr>
          <p:cNvPr id="94" name="标题 1"/>
          <p:cNvSpPr txBox="1"/>
          <p:nvPr/>
        </p:nvSpPr>
        <p:spPr>
          <a:xfrm>
            <a:off x="8994229" y="4348498"/>
            <a:ext cx="2524671" cy="532755"/>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Actuar (Act)</a:t>
            </a:r>
            <a:endParaRPr kumimoji="1" lang="zh-CN" altLang="en-US"/>
          </a:p>
        </p:txBody>
      </p:sp>
      <p:sp>
        <p:nvSpPr>
          <p:cNvPr id="95" name="标题 1"/>
          <p:cNvSpPr txBox="1"/>
          <p:nvPr/>
        </p:nvSpPr>
        <p:spPr>
          <a:xfrm>
            <a:off x="1898463" y="1222082"/>
            <a:ext cx="2524671" cy="532755"/>
          </a:xfrm>
          <a:prstGeom prst="rect">
            <a:avLst/>
          </a:prstGeom>
          <a:noFill/>
          <a:ln>
            <a:noFill/>
          </a:ln>
        </p:spPr>
        <p:txBody>
          <a:bodyPr vert="horz" wrap="square" lIns="0" tIns="0" rIns="0" bIns="0" rtlCol="0" anchor="b"/>
          <a:lstStyle/>
          <a:p>
            <a:pPr algn="l"/>
            <a:r>
              <a:rPr kumimoji="1" lang="en-US" altLang="zh-CN" sz="1600">
                <a:ln w="12700">
                  <a:noFill/>
                </a:ln>
                <a:solidFill>
                  <a:srgbClr val="000000">
                    <a:alpha val="100000"/>
                  </a:srgbClr>
                </a:solidFill>
                <a:latin typeface="poppins-bold"/>
                <a:ea typeface="poppins-bold"/>
                <a:cs typeface="poppins-bold"/>
              </a:rPr>
              <a:t>Planificar (Plan)</a:t>
            </a:r>
            <a:endParaRPr kumimoji="1" lang="zh-CN" altLang="en-US"/>
          </a:p>
        </p:txBody>
      </p:sp>
      <p:sp>
        <p:nvSpPr>
          <p:cNvPr id="96" name="标题 1"/>
          <p:cNvSpPr txBox="1"/>
          <p:nvPr/>
        </p:nvSpPr>
        <p:spPr>
          <a:xfrm>
            <a:off x="1898465" y="1812989"/>
            <a:ext cx="2524671" cy="1107233"/>
          </a:xfrm>
          <a:prstGeom prst="rect">
            <a:avLst/>
          </a:prstGeom>
          <a:noFill/>
          <a:ln>
            <a:noFill/>
          </a:ln>
        </p:spPr>
        <p:txBody>
          <a:bodyPr vert="horz" wrap="square" lIns="0" tIns="0" rIns="0" bIns="0" rtlCol="0" anchor="t"/>
          <a:lstStyle/>
          <a:p>
            <a:pPr algn="l"/>
            <a:r>
              <a:rPr kumimoji="1" lang="en-US" altLang="zh-CN" sz="783">
                <a:ln w="12700">
                  <a:noFill/>
                </a:ln>
                <a:solidFill>
                  <a:srgbClr val="000000">
                    <a:alpha val="100000"/>
                  </a:srgbClr>
                </a:solidFill>
                <a:latin typeface="Poppins"/>
                <a:ea typeface="Poppins"/>
                <a:cs typeface="Poppins"/>
              </a:rPr>
              <a:t>Identificar la Oportunidad (gracias a los KPIs).
Interpretación"Nuestro PUE es de 2.0, muy por encima del promedio de la industria (1.5)".
Plan: Implementar un proyecto de "contención de pasillo frío" para mejorar la eficiencia del aire acondicionado.
Objetivo (KPI): Reducir el PUE a 1.7 en los próximos 6 meses.</a:t>
            </a:r>
            <a:endParaRPr kumimoji="1" lang="zh-CN" altLang="en-US"/>
          </a:p>
        </p:txBody>
      </p:sp>
      <p:sp>
        <p:nvSpPr>
          <p:cNvPr id="97" name="标题 1"/>
          <p:cNvSpPr txBox="1"/>
          <p:nvPr/>
        </p:nvSpPr>
        <p:spPr>
          <a:xfrm>
            <a:off x="8994228" y="4939405"/>
            <a:ext cx="2524671" cy="1107233"/>
          </a:xfrm>
          <a:prstGeom prst="rect">
            <a:avLst/>
          </a:prstGeom>
          <a:noFill/>
          <a:ln>
            <a:noFill/>
          </a:ln>
        </p:spPr>
        <p:txBody>
          <a:bodyPr vert="horz" wrap="square" lIns="0" tIns="0" rIns="0" bIns="0" rtlCol="0" anchor="t"/>
          <a:lstStyle/>
          <a:p>
            <a:pPr algn="l"/>
            <a:r>
              <a:rPr kumimoji="1" lang="en-US" altLang="zh-CN" sz="883">
                <a:ln w="12700">
                  <a:noFill/>
                </a:ln>
                <a:solidFill>
                  <a:srgbClr val="000000">
                    <a:alpha val="100000"/>
                  </a:srgbClr>
                </a:solidFill>
                <a:latin typeface="Poppins"/>
                <a:ea typeface="Poppins"/>
                <a:cs typeface="Poppins"/>
              </a:rPr>
              <a:t>Estandarizar el éxito o aprender del fracaso.
Si se logró el objetivoContención de pasillo frío se convierte en el nuevo estándar.
Si no se logró el objetivo: Reajustar el plan y volver a "Hacer".</a:t>
            </a:r>
            <a:endParaRPr kumimoji="1" lang="zh-CN" altLang="en-US"/>
          </a:p>
        </p:txBody>
      </p:sp>
      <p:sp>
        <p:nvSpPr>
          <p:cNvPr id="98" name="标题 1"/>
          <p:cNvSpPr txBox="1"/>
          <p:nvPr/>
        </p:nvSpPr>
        <p:spPr>
          <a:xfrm rot="-2700000">
            <a:off x="9058156" y="3040505"/>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99" name="标题 1"/>
          <p:cNvSpPr txBox="1"/>
          <p:nvPr/>
        </p:nvSpPr>
        <p:spPr>
          <a:xfrm rot="-2699514">
            <a:off x="8718405" y="3861063"/>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bg1">
              <a:lumMod val="95000"/>
            </a:schemeClr>
          </a:solidFill>
          <a:ln w="110507" cap="flat">
            <a:noFill/>
            <a:miter/>
          </a:ln>
        </p:spPr>
        <p:txBody>
          <a:bodyPr vert="horz" wrap="square" lIns="91440" tIns="45720" rIns="91440" bIns="45720" rtlCol="0" anchor="ctr"/>
          <a:lstStyle/>
          <a:p>
            <a:pPr algn="l"/>
            <a:endParaRPr kumimoji="1" lang="zh-CN" altLang="en-US"/>
          </a:p>
        </p:txBody>
      </p:sp>
      <p:sp>
        <p:nvSpPr>
          <p:cNvPr id="100" name="标题 1"/>
          <p:cNvSpPr txBox="1"/>
          <p:nvPr/>
        </p:nvSpPr>
        <p:spPr>
          <a:xfrm>
            <a:off x="0" y="2758501"/>
            <a:ext cx="11916229" cy="609189"/>
          </a:xfrm>
          <a:custGeom>
            <a:avLst/>
            <a:gdLst>
              <a:gd name="connsiteX0" fmla="*/ 0 w 11916229"/>
              <a:gd name="connsiteY0" fmla="*/ 0 h 609189"/>
              <a:gd name="connsiteX1" fmla="*/ 11916230 w 11916229"/>
              <a:gd name="connsiteY1" fmla="*/ 0 h 609189"/>
              <a:gd name="connsiteX2" fmla="*/ 11916230 w 11916229"/>
              <a:gd name="connsiteY2" fmla="*/ 609189 h 609189"/>
              <a:gd name="connsiteX3" fmla="*/ 0 w 11916229"/>
              <a:gd name="connsiteY3" fmla="*/ 609189 h 609189"/>
            </a:gdLst>
            <a:ahLst/>
            <a:cxnLst/>
            <a:rect l="l" t="t" r="r" b="b"/>
            <a:pathLst>
              <a:path w="11916229" h="609189">
                <a:moveTo>
                  <a:pt x="0" y="0"/>
                </a:moveTo>
                <a:lnTo>
                  <a:pt x="11916230" y="0"/>
                </a:lnTo>
                <a:lnTo>
                  <a:pt x="11916230" y="609189"/>
                </a:lnTo>
                <a:lnTo>
                  <a:pt x="0" y="609189"/>
                </a:lnTo>
                <a:close/>
              </a:path>
            </a:pathLst>
          </a:custGeom>
          <a:solidFill>
            <a:srgbClr val="FFFFFF">
              <a:alpha val="100000"/>
            </a:srgbClr>
          </a:solidFill>
          <a:ln w="110508" cap="flat">
            <a:noFill/>
            <a:miter/>
          </a:ln>
          <a:effectLst/>
        </p:spPr>
        <p:txBody>
          <a:bodyPr vert="horz" wrap="square" lIns="91440" tIns="45720" rIns="91440" bIns="45720" rtlCol="0" anchor="ctr"/>
          <a:lstStyle/>
          <a:p>
            <a:pPr algn="l"/>
            <a:endParaRPr kumimoji="1" lang="zh-CN" altLang="en-US"/>
          </a:p>
        </p:txBody>
      </p:sp>
      <p:sp>
        <p:nvSpPr>
          <p:cNvPr id="101" name="标题 1"/>
          <p:cNvSpPr txBox="1"/>
          <p:nvPr/>
        </p:nvSpPr>
        <p:spPr>
          <a:xfrm>
            <a:off x="0" y="3974668"/>
            <a:ext cx="11916229" cy="609189"/>
          </a:xfrm>
          <a:custGeom>
            <a:avLst/>
            <a:gdLst>
              <a:gd name="connsiteX0" fmla="*/ 0 w 11916229"/>
              <a:gd name="connsiteY0" fmla="*/ 0 h 609189"/>
              <a:gd name="connsiteX1" fmla="*/ 11916230 w 11916229"/>
              <a:gd name="connsiteY1" fmla="*/ 0 h 609189"/>
              <a:gd name="connsiteX2" fmla="*/ 11916230 w 11916229"/>
              <a:gd name="connsiteY2" fmla="*/ 609189 h 609189"/>
              <a:gd name="connsiteX3" fmla="*/ 0 w 11916229"/>
              <a:gd name="connsiteY3" fmla="*/ 609189 h 609189"/>
            </a:gdLst>
            <a:ahLst/>
            <a:cxnLst/>
            <a:rect l="l" t="t" r="r" b="b"/>
            <a:pathLst>
              <a:path w="11916229" h="609189">
                <a:moveTo>
                  <a:pt x="0" y="0"/>
                </a:moveTo>
                <a:lnTo>
                  <a:pt x="11916230" y="0"/>
                </a:lnTo>
                <a:lnTo>
                  <a:pt x="11916230" y="609189"/>
                </a:lnTo>
                <a:lnTo>
                  <a:pt x="0" y="609189"/>
                </a:lnTo>
                <a:close/>
              </a:path>
            </a:pathLst>
          </a:custGeom>
          <a:solidFill>
            <a:srgbClr val="FFFFFF">
              <a:alpha val="100000"/>
            </a:srgbClr>
          </a:solidFill>
          <a:ln w="110508" cap="flat">
            <a:noFill/>
            <a:miter/>
          </a:ln>
          <a:effectLst/>
        </p:spPr>
        <p:txBody>
          <a:bodyPr vert="horz" wrap="square" lIns="91440" tIns="45720" rIns="91440" bIns="45720" rtlCol="0" anchor="ctr"/>
          <a:lstStyle/>
          <a:p>
            <a:pPr algn="l"/>
            <a:endParaRPr kumimoji="1" lang="zh-CN" altLang="en-US"/>
          </a:p>
        </p:txBody>
      </p:sp>
      <p:sp>
        <p:nvSpPr>
          <p:cNvPr id="102" name="标题 1"/>
          <p:cNvSpPr txBox="1"/>
          <p:nvPr/>
        </p:nvSpPr>
        <p:spPr>
          <a:xfrm rot="-2699514">
            <a:off x="1066351" y="3035233"/>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accent3"/>
          </a:solidFill>
          <a:ln w="110507" cap="flat">
            <a:noFill/>
            <a:miter/>
          </a:ln>
        </p:spPr>
        <p:txBody>
          <a:bodyPr vert="horz" wrap="square" lIns="91440" tIns="45720" rIns="91440" bIns="45720" rtlCol="0" anchor="ctr"/>
          <a:lstStyle/>
          <a:p>
            <a:pPr algn="l"/>
            <a:endParaRPr kumimoji="1" lang="zh-CN" altLang="en-US"/>
          </a:p>
        </p:txBody>
      </p:sp>
      <p:sp>
        <p:nvSpPr>
          <p:cNvPr id="103" name="标题 1"/>
          <p:cNvSpPr txBox="1"/>
          <p:nvPr/>
        </p:nvSpPr>
        <p:spPr>
          <a:xfrm rot="-2700000">
            <a:off x="725508" y="3855927"/>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accent3"/>
          </a:solidFill>
          <a:ln w="110507" cap="flat">
            <a:noFill/>
            <a:miter/>
          </a:ln>
        </p:spPr>
        <p:txBody>
          <a:bodyPr vert="horz" wrap="square" lIns="91440" tIns="45720" rIns="91440" bIns="45720" rtlCol="0" anchor="ctr"/>
          <a:lstStyle/>
          <a:p>
            <a:pPr algn="l"/>
            <a:endParaRPr kumimoji="1" lang="zh-CN" altLang="en-US"/>
          </a:p>
        </p:txBody>
      </p:sp>
      <p:sp>
        <p:nvSpPr>
          <p:cNvPr id="104" name="标题 1"/>
          <p:cNvSpPr txBox="1"/>
          <p:nvPr/>
        </p:nvSpPr>
        <p:spPr>
          <a:xfrm rot="-2700000">
            <a:off x="5962108" y="3039936"/>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accent1"/>
          </a:solidFill>
          <a:ln w="110507" cap="flat">
            <a:noFill/>
            <a:miter/>
          </a:ln>
        </p:spPr>
        <p:txBody>
          <a:bodyPr vert="horz" wrap="square" lIns="91440" tIns="45720" rIns="91440" bIns="45720" rtlCol="0" anchor="ctr"/>
          <a:lstStyle/>
          <a:p>
            <a:pPr algn="l"/>
            <a:endParaRPr kumimoji="1" lang="zh-CN" altLang="en-US"/>
          </a:p>
        </p:txBody>
      </p:sp>
      <p:sp>
        <p:nvSpPr>
          <p:cNvPr id="105" name="标题 1"/>
          <p:cNvSpPr txBox="1"/>
          <p:nvPr/>
        </p:nvSpPr>
        <p:spPr>
          <a:xfrm rot="-2699514">
            <a:off x="5622268" y="3860405"/>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accent1"/>
          </a:solidFill>
          <a:ln w="110507" cap="flat">
            <a:noFill/>
            <a:miter/>
          </a:ln>
        </p:spPr>
        <p:txBody>
          <a:bodyPr vert="horz" wrap="square" lIns="91440" tIns="45720" rIns="91440" bIns="45720" rtlCol="0" anchor="ctr"/>
          <a:lstStyle/>
          <a:p>
            <a:pPr algn="l"/>
            <a:endParaRPr kumimoji="1" lang="zh-CN" altLang="en-US"/>
          </a:p>
        </p:txBody>
      </p:sp>
      <p:sp>
        <p:nvSpPr>
          <p:cNvPr id="106" name="标题 1"/>
          <p:cNvSpPr txBox="1"/>
          <p:nvPr/>
        </p:nvSpPr>
        <p:spPr>
          <a:xfrm rot="-2700000">
            <a:off x="8272111" y="3035299"/>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accent3"/>
          </a:solidFill>
          <a:ln w="110507" cap="flat">
            <a:noFill/>
            <a:miter/>
          </a:ln>
        </p:spPr>
        <p:txBody>
          <a:bodyPr vert="horz" wrap="square" lIns="91440" tIns="45720" rIns="91440" bIns="45720" rtlCol="0" anchor="ctr"/>
          <a:lstStyle/>
          <a:p>
            <a:pPr algn="l"/>
            <a:endParaRPr kumimoji="1" lang="zh-CN" altLang="en-US"/>
          </a:p>
        </p:txBody>
      </p:sp>
      <p:sp>
        <p:nvSpPr>
          <p:cNvPr id="107" name="标题 1"/>
          <p:cNvSpPr txBox="1"/>
          <p:nvPr/>
        </p:nvSpPr>
        <p:spPr>
          <a:xfrm rot="-2699514">
            <a:off x="7932363" y="3855861"/>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accent3"/>
          </a:solidFill>
          <a:ln w="110507" cap="flat">
            <a:noFill/>
            <a:miter/>
          </a:ln>
        </p:spPr>
        <p:txBody>
          <a:bodyPr vert="horz" wrap="square" lIns="91440" tIns="45720" rIns="91440" bIns="45720" rtlCol="0" anchor="ctr"/>
          <a:lstStyle/>
          <a:p>
            <a:pPr algn="l"/>
            <a:endParaRPr kumimoji="1" lang="zh-CN" altLang="en-US"/>
          </a:p>
        </p:txBody>
      </p:sp>
      <p:sp>
        <p:nvSpPr>
          <p:cNvPr id="108" name="标题 1"/>
          <p:cNvSpPr txBox="1"/>
          <p:nvPr/>
        </p:nvSpPr>
        <p:spPr>
          <a:xfrm rot="-2700000">
            <a:off x="3386106" y="3039936"/>
            <a:ext cx="88447" cy="768389"/>
          </a:xfrm>
          <a:custGeom>
            <a:avLst/>
            <a:gdLst>
              <a:gd name="connsiteX0" fmla="*/ 0 w 88447"/>
              <a:gd name="connsiteY0" fmla="*/ 0 h 768389"/>
              <a:gd name="connsiteX1" fmla="*/ 88448 w 88447"/>
              <a:gd name="connsiteY1" fmla="*/ 0 h 768389"/>
              <a:gd name="connsiteX2" fmla="*/ 88448 w 88447"/>
              <a:gd name="connsiteY2" fmla="*/ 768389 h 768389"/>
              <a:gd name="connsiteX3" fmla="*/ 0 w 88447"/>
              <a:gd name="connsiteY3" fmla="*/ 768389 h 768389"/>
            </a:gdLst>
            <a:ahLst/>
            <a:cxnLst/>
            <a:rect l="l" t="t" r="r" b="b"/>
            <a:pathLst>
              <a:path w="88447" h="768389">
                <a:moveTo>
                  <a:pt x="0" y="0"/>
                </a:moveTo>
                <a:lnTo>
                  <a:pt x="88448" y="0"/>
                </a:lnTo>
                <a:lnTo>
                  <a:pt x="88448" y="768389"/>
                </a:lnTo>
                <a:lnTo>
                  <a:pt x="0" y="768389"/>
                </a:lnTo>
                <a:close/>
              </a:path>
            </a:pathLst>
          </a:custGeom>
          <a:solidFill>
            <a:schemeClr val="accent1">
              <a:lumMod val="60000"/>
              <a:lumOff val="40000"/>
            </a:schemeClr>
          </a:solidFill>
          <a:ln w="110507" cap="flat">
            <a:noFill/>
            <a:miter/>
          </a:ln>
        </p:spPr>
        <p:txBody>
          <a:bodyPr vert="horz" wrap="square" lIns="91440" tIns="45720" rIns="91440" bIns="45720" rtlCol="0" anchor="ctr"/>
          <a:lstStyle/>
          <a:p>
            <a:pPr algn="l"/>
            <a:endParaRPr kumimoji="1" lang="zh-CN" altLang="en-US"/>
          </a:p>
        </p:txBody>
      </p:sp>
      <p:sp>
        <p:nvSpPr>
          <p:cNvPr id="109" name="标题 1"/>
          <p:cNvSpPr txBox="1"/>
          <p:nvPr/>
        </p:nvSpPr>
        <p:spPr>
          <a:xfrm rot="-2699514">
            <a:off x="3046266" y="3860405"/>
            <a:ext cx="768389" cy="88447"/>
          </a:xfrm>
          <a:custGeom>
            <a:avLst/>
            <a:gdLst>
              <a:gd name="connsiteX0" fmla="*/ 0 w 768389"/>
              <a:gd name="connsiteY0" fmla="*/ 0 h 88447"/>
              <a:gd name="connsiteX1" fmla="*/ 768389 w 768389"/>
              <a:gd name="connsiteY1" fmla="*/ 0 h 88447"/>
              <a:gd name="connsiteX2" fmla="*/ 768389 w 768389"/>
              <a:gd name="connsiteY2" fmla="*/ 88448 h 88447"/>
              <a:gd name="connsiteX3" fmla="*/ 0 w 768389"/>
              <a:gd name="connsiteY3" fmla="*/ 88448 h 88447"/>
            </a:gdLst>
            <a:ahLst/>
            <a:cxnLst/>
            <a:rect l="l" t="t" r="r" b="b"/>
            <a:pathLst>
              <a:path w="768389" h="88447">
                <a:moveTo>
                  <a:pt x="0" y="0"/>
                </a:moveTo>
                <a:lnTo>
                  <a:pt x="768389" y="0"/>
                </a:lnTo>
                <a:lnTo>
                  <a:pt x="768389" y="88448"/>
                </a:lnTo>
                <a:lnTo>
                  <a:pt x="0" y="88448"/>
                </a:lnTo>
                <a:close/>
              </a:path>
            </a:pathLst>
          </a:custGeom>
          <a:solidFill>
            <a:schemeClr val="accent1">
              <a:lumMod val="60000"/>
              <a:lumOff val="40000"/>
            </a:schemeClr>
          </a:solidFill>
          <a:ln w="110507" cap="flat">
            <a:noFill/>
            <a:miter/>
          </a:ln>
        </p:spPr>
        <p:txBody>
          <a:bodyPr vert="horz" wrap="square" lIns="91440" tIns="45720" rIns="91440" bIns="45720" rtlCol="0" anchor="ctr"/>
          <a:lstStyle/>
          <a:p>
            <a:pPr algn="l"/>
            <a:endParaRPr kumimoji="1" lang="zh-CN" altLang="en-US"/>
          </a:p>
        </p:txBody>
      </p:sp>
      <p:sp>
        <p:nvSpPr>
          <p:cNvPr id="110" name="标题 1"/>
          <p:cNvSpPr txBox="1"/>
          <p:nvPr/>
        </p:nvSpPr>
        <p:spPr>
          <a:xfrm>
            <a:off x="3313959" y="4781295"/>
            <a:ext cx="375030" cy="328333"/>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accent2"/>
          </a:solidFill>
          <a:ln w="110508" cap="flat">
            <a:noFill/>
            <a:miter/>
          </a:ln>
        </p:spPr>
        <p:txBody>
          <a:bodyPr vert="horz" wrap="square" lIns="91440" tIns="45720" rIns="91440" bIns="45720" rtlCol="0" anchor="ctr"/>
          <a:lstStyle/>
          <a:p>
            <a:pPr algn="l"/>
            <a:endParaRPr kumimoji="1" lang="zh-CN" altLang="en-US"/>
          </a:p>
        </p:txBody>
      </p:sp>
      <p:sp>
        <p:nvSpPr>
          <p:cNvPr id="111" name="标题 1"/>
          <p:cNvSpPr txBox="1"/>
          <p:nvPr/>
        </p:nvSpPr>
        <p:spPr>
          <a:xfrm>
            <a:off x="824018" y="1524213"/>
            <a:ext cx="906866" cy="626679"/>
          </a:xfrm>
          <a:custGeom>
            <a:avLst/>
            <a:gdLst>
              <a:gd name="connsiteX0" fmla="*/ 919865 w 1406331"/>
              <a:gd name="connsiteY0" fmla="*/ 971828 h 971828"/>
              <a:gd name="connsiteX1" fmla="*/ 486467 w 1406331"/>
              <a:gd name="connsiteY1" fmla="*/ 971828 h 971828"/>
              <a:gd name="connsiteX2" fmla="*/ 0 w 1406331"/>
              <a:gd name="connsiteY2" fmla="*/ 486467 h 971828"/>
              <a:gd name="connsiteX3" fmla="*/ 486467 w 1406331"/>
              <a:gd name="connsiteY3" fmla="*/ 0 h 971828"/>
              <a:gd name="connsiteX4" fmla="*/ 919865 w 1406331"/>
              <a:gd name="connsiteY4" fmla="*/ 0 h 971828"/>
              <a:gd name="connsiteX5" fmla="*/ 1406332 w 1406331"/>
              <a:gd name="connsiteY5" fmla="*/ 486467 h 971828"/>
              <a:gd name="connsiteX6" fmla="*/ 919865 w 1406331"/>
              <a:gd name="connsiteY6" fmla="*/ 971828 h 971828"/>
              <a:gd name="connsiteX7" fmla="*/ 486467 w 1406331"/>
              <a:gd name="connsiteY7" fmla="*/ 44224 h 971828"/>
              <a:gd name="connsiteX8" fmla="*/ 45330 w 1406331"/>
              <a:gd name="connsiteY8" fmla="*/ 486467 h 971828"/>
              <a:gd name="connsiteX9" fmla="*/ 486467 w 1406331"/>
              <a:gd name="connsiteY9" fmla="*/ 927604 h 971828"/>
              <a:gd name="connsiteX10" fmla="*/ 919865 w 1406331"/>
              <a:gd name="connsiteY10" fmla="*/ 927604 h 971828"/>
              <a:gd name="connsiteX11" fmla="*/ 1361002 w 1406331"/>
              <a:gd name="connsiteY11" fmla="*/ 486467 h 971828"/>
              <a:gd name="connsiteX12" fmla="*/ 919865 w 1406331"/>
              <a:gd name="connsiteY12" fmla="*/ 44224 h 971828"/>
              <a:gd name="connsiteX13" fmla="*/ 486467 w 1406331"/>
              <a:gd name="connsiteY13" fmla="*/ 44224 h 971828"/>
            </a:gdLst>
            <a:ahLst/>
            <a:cxnLst/>
            <a:rect l="l" t="t" r="r" b="b"/>
            <a:pathLst>
              <a:path w="1406331" h="971828">
                <a:moveTo>
                  <a:pt x="919865" y="971828"/>
                </a:moveTo>
                <a:lnTo>
                  <a:pt x="486467" y="971828"/>
                </a:lnTo>
                <a:cubicBezTo>
                  <a:pt x="218910" y="971828"/>
                  <a:pt x="0" y="754024"/>
                  <a:pt x="0" y="486467"/>
                </a:cubicBezTo>
                <a:cubicBezTo>
                  <a:pt x="0" y="218910"/>
                  <a:pt x="217804" y="0"/>
                  <a:pt x="486467" y="0"/>
                </a:cubicBezTo>
                <a:lnTo>
                  <a:pt x="919865" y="0"/>
                </a:lnTo>
                <a:cubicBezTo>
                  <a:pt x="1187421" y="0"/>
                  <a:pt x="1406332" y="217805"/>
                  <a:pt x="1406332" y="486467"/>
                </a:cubicBezTo>
                <a:cubicBezTo>
                  <a:pt x="1406332" y="754024"/>
                  <a:pt x="1187421" y="971828"/>
                  <a:pt x="919865" y="971828"/>
                </a:cubicBezTo>
                <a:close/>
                <a:moveTo>
                  <a:pt x="486467" y="44224"/>
                </a:moveTo>
                <a:cubicBezTo>
                  <a:pt x="243234" y="44224"/>
                  <a:pt x="45330" y="242128"/>
                  <a:pt x="45330" y="486467"/>
                </a:cubicBezTo>
                <a:cubicBezTo>
                  <a:pt x="45330" y="729701"/>
                  <a:pt x="243234" y="927604"/>
                  <a:pt x="486467" y="927604"/>
                </a:cubicBezTo>
                <a:lnTo>
                  <a:pt x="919865" y="927604"/>
                </a:lnTo>
                <a:cubicBezTo>
                  <a:pt x="1163098" y="927604"/>
                  <a:pt x="1361002" y="729701"/>
                  <a:pt x="1361002" y="486467"/>
                </a:cubicBezTo>
                <a:cubicBezTo>
                  <a:pt x="1361002" y="243234"/>
                  <a:pt x="1163098" y="44224"/>
                  <a:pt x="919865" y="44224"/>
                </a:cubicBezTo>
                <a:lnTo>
                  <a:pt x="486467" y="44224"/>
                </a:lnTo>
                <a:close/>
              </a:path>
            </a:pathLst>
          </a:custGeom>
          <a:solidFill>
            <a:schemeClr val="accent3"/>
          </a:solidFill>
          <a:ln w="110508" cap="flat">
            <a:noFill/>
            <a:miter/>
          </a:ln>
        </p:spPr>
        <p:txBody>
          <a:bodyPr vert="horz" wrap="square" lIns="91440" tIns="45720" rIns="91440" bIns="45720" rtlCol="0" anchor="ctr"/>
          <a:lstStyle/>
          <a:p>
            <a:pPr algn="l"/>
            <a:endParaRPr kumimoji="1" lang="zh-CN" altLang="en-US"/>
          </a:p>
        </p:txBody>
      </p:sp>
      <p:sp>
        <p:nvSpPr>
          <p:cNvPr id="112" name="标题 1"/>
          <p:cNvSpPr txBox="1"/>
          <p:nvPr/>
        </p:nvSpPr>
        <p:spPr>
          <a:xfrm>
            <a:off x="1089936" y="1664087"/>
            <a:ext cx="375030" cy="346929"/>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accent3"/>
          </a:solidFill>
          <a:ln w="110508" cap="flat">
            <a:noFill/>
            <a:miter/>
          </a:ln>
        </p:spPr>
        <p:txBody>
          <a:bodyPr vert="horz" wrap="square" lIns="91440" tIns="45720" rIns="91440" bIns="45720" rtlCol="0" anchor="ctr"/>
          <a:lstStyle/>
          <a:p>
            <a:pPr algn="l"/>
            <a:endParaRPr kumimoji="1" lang="zh-CN" altLang="en-US"/>
          </a:p>
        </p:txBody>
      </p:sp>
      <p:sp>
        <p:nvSpPr>
          <p:cNvPr id="113" name="标题 1"/>
          <p:cNvSpPr txBox="1"/>
          <p:nvPr/>
        </p:nvSpPr>
        <p:spPr>
          <a:xfrm>
            <a:off x="5682556" y="1524213"/>
            <a:ext cx="906866" cy="626679"/>
          </a:xfrm>
          <a:custGeom>
            <a:avLst/>
            <a:gdLst>
              <a:gd name="connsiteX0" fmla="*/ 919865 w 1406331"/>
              <a:gd name="connsiteY0" fmla="*/ 971828 h 971828"/>
              <a:gd name="connsiteX1" fmla="*/ 486467 w 1406331"/>
              <a:gd name="connsiteY1" fmla="*/ 971828 h 971828"/>
              <a:gd name="connsiteX2" fmla="*/ 0 w 1406331"/>
              <a:gd name="connsiteY2" fmla="*/ 486467 h 971828"/>
              <a:gd name="connsiteX3" fmla="*/ 486467 w 1406331"/>
              <a:gd name="connsiteY3" fmla="*/ 0 h 971828"/>
              <a:gd name="connsiteX4" fmla="*/ 919865 w 1406331"/>
              <a:gd name="connsiteY4" fmla="*/ 0 h 971828"/>
              <a:gd name="connsiteX5" fmla="*/ 1406332 w 1406331"/>
              <a:gd name="connsiteY5" fmla="*/ 486467 h 971828"/>
              <a:gd name="connsiteX6" fmla="*/ 919865 w 1406331"/>
              <a:gd name="connsiteY6" fmla="*/ 971828 h 971828"/>
              <a:gd name="connsiteX7" fmla="*/ 486467 w 1406331"/>
              <a:gd name="connsiteY7" fmla="*/ 44224 h 971828"/>
              <a:gd name="connsiteX8" fmla="*/ 45330 w 1406331"/>
              <a:gd name="connsiteY8" fmla="*/ 486467 h 971828"/>
              <a:gd name="connsiteX9" fmla="*/ 486467 w 1406331"/>
              <a:gd name="connsiteY9" fmla="*/ 927604 h 971828"/>
              <a:gd name="connsiteX10" fmla="*/ 919865 w 1406331"/>
              <a:gd name="connsiteY10" fmla="*/ 927604 h 971828"/>
              <a:gd name="connsiteX11" fmla="*/ 1361002 w 1406331"/>
              <a:gd name="connsiteY11" fmla="*/ 486467 h 971828"/>
              <a:gd name="connsiteX12" fmla="*/ 919865 w 1406331"/>
              <a:gd name="connsiteY12" fmla="*/ 44224 h 971828"/>
              <a:gd name="connsiteX13" fmla="*/ 486467 w 1406331"/>
              <a:gd name="connsiteY13" fmla="*/ 44224 h 971828"/>
            </a:gdLst>
            <a:ahLst/>
            <a:cxnLst/>
            <a:rect l="l" t="t" r="r" b="b"/>
            <a:pathLst>
              <a:path w="1406331" h="971828">
                <a:moveTo>
                  <a:pt x="919865" y="971828"/>
                </a:moveTo>
                <a:lnTo>
                  <a:pt x="486467" y="971828"/>
                </a:lnTo>
                <a:cubicBezTo>
                  <a:pt x="218910" y="971828"/>
                  <a:pt x="0" y="754024"/>
                  <a:pt x="0" y="486467"/>
                </a:cubicBezTo>
                <a:cubicBezTo>
                  <a:pt x="0" y="218910"/>
                  <a:pt x="217804" y="0"/>
                  <a:pt x="486467" y="0"/>
                </a:cubicBezTo>
                <a:lnTo>
                  <a:pt x="919865" y="0"/>
                </a:lnTo>
                <a:cubicBezTo>
                  <a:pt x="1187421" y="0"/>
                  <a:pt x="1406332" y="217805"/>
                  <a:pt x="1406332" y="486467"/>
                </a:cubicBezTo>
                <a:cubicBezTo>
                  <a:pt x="1406332" y="754024"/>
                  <a:pt x="1187421" y="971828"/>
                  <a:pt x="919865" y="971828"/>
                </a:cubicBezTo>
                <a:close/>
                <a:moveTo>
                  <a:pt x="486467" y="44224"/>
                </a:moveTo>
                <a:cubicBezTo>
                  <a:pt x="243234" y="44224"/>
                  <a:pt x="45330" y="242128"/>
                  <a:pt x="45330" y="486467"/>
                </a:cubicBezTo>
                <a:cubicBezTo>
                  <a:pt x="45330" y="729701"/>
                  <a:pt x="243234" y="927604"/>
                  <a:pt x="486467" y="927604"/>
                </a:cubicBezTo>
                <a:lnTo>
                  <a:pt x="919865" y="927604"/>
                </a:lnTo>
                <a:cubicBezTo>
                  <a:pt x="1163098" y="927604"/>
                  <a:pt x="1361002" y="729701"/>
                  <a:pt x="1361002" y="486467"/>
                </a:cubicBezTo>
                <a:cubicBezTo>
                  <a:pt x="1361002" y="243234"/>
                  <a:pt x="1163098" y="44224"/>
                  <a:pt x="919865" y="44224"/>
                </a:cubicBezTo>
                <a:lnTo>
                  <a:pt x="486467" y="44224"/>
                </a:lnTo>
                <a:close/>
              </a:path>
            </a:pathLst>
          </a:custGeom>
          <a:solidFill>
            <a:schemeClr val="accent1"/>
          </a:solidFill>
          <a:ln w="110508" cap="flat">
            <a:noFill/>
            <a:miter/>
          </a:ln>
        </p:spPr>
        <p:txBody>
          <a:bodyPr vert="horz" wrap="square" lIns="91440" tIns="45720" rIns="91440" bIns="45720" rtlCol="0" anchor="ctr"/>
          <a:lstStyle/>
          <a:p>
            <a:pPr algn="l"/>
            <a:endParaRPr kumimoji="1" lang="zh-CN" altLang="en-US"/>
          </a:p>
        </p:txBody>
      </p:sp>
      <p:sp>
        <p:nvSpPr>
          <p:cNvPr id="114" name="标题 1"/>
          <p:cNvSpPr txBox="1"/>
          <p:nvPr/>
        </p:nvSpPr>
        <p:spPr>
          <a:xfrm>
            <a:off x="5948485" y="1667548"/>
            <a:ext cx="375030" cy="340008"/>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accent1"/>
          </a:solidFill>
          <a:ln w="110508" cap="flat">
            <a:noFill/>
            <a:miter/>
          </a:ln>
        </p:spPr>
        <p:txBody>
          <a:bodyPr vert="horz" wrap="square" lIns="91440" tIns="45720" rIns="91440" bIns="45720" rtlCol="0" anchor="ctr"/>
          <a:lstStyle/>
          <a:p>
            <a:pPr algn="l"/>
            <a:endParaRPr kumimoji="1" lang="zh-CN" altLang="en-US"/>
          </a:p>
        </p:txBody>
      </p:sp>
      <p:sp>
        <p:nvSpPr>
          <p:cNvPr id="115" name="标题 1"/>
          <p:cNvSpPr txBox="1"/>
          <p:nvPr/>
        </p:nvSpPr>
        <p:spPr>
          <a:xfrm>
            <a:off x="7911510" y="4636162"/>
            <a:ext cx="906866" cy="626679"/>
          </a:xfrm>
          <a:custGeom>
            <a:avLst/>
            <a:gdLst>
              <a:gd name="connsiteX0" fmla="*/ 919865 w 1406331"/>
              <a:gd name="connsiteY0" fmla="*/ 971828 h 971828"/>
              <a:gd name="connsiteX1" fmla="*/ 486467 w 1406331"/>
              <a:gd name="connsiteY1" fmla="*/ 971828 h 971828"/>
              <a:gd name="connsiteX2" fmla="*/ 0 w 1406331"/>
              <a:gd name="connsiteY2" fmla="*/ 486467 h 971828"/>
              <a:gd name="connsiteX3" fmla="*/ 486467 w 1406331"/>
              <a:gd name="connsiteY3" fmla="*/ 0 h 971828"/>
              <a:gd name="connsiteX4" fmla="*/ 919865 w 1406331"/>
              <a:gd name="connsiteY4" fmla="*/ 0 h 971828"/>
              <a:gd name="connsiteX5" fmla="*/ 1406332 w 1406331"/>
              <a:gd name="connsiteY5" fmla="*/ 486467 h 971828"/>
              <a:gd name="connsiteX6" fmla="*/ 919865 w 1406331"/>
              <a:gd name="connsiteY6" fmla="*/ 971828 h 971828"/>
              <a:gd name="connsiteX7" fmla="*/ 486467 w 1406331"/>
              <a:gd name="connsiteY7" fmla="*/ 44224 h 971828"/>
              <a:gd name="connsiteX8" fmla="*/ 45330 w 1406331"/>
              <a:gd name="connsiteY8" fmla="*/ 486467 h 971828"/>
              <a:gd name="connsiteX9" fmla="*/ 486467 w 1406331"/>
              <a:gd name="connsiteY9" fmla="*/ 927604 h 971828"/>
              <a:gd name="connsiteX10" fmla="*/ 919865 w 1406331"/>
              <a:gd name="connsiteY10" fmla="*/ 927604 h 971828"/>
              <a:gd name="connsiteX11" fmla="*/ 1361002 w 1406331"/>
              <a:gd name="connsiteY11" fmla="*/ 486467 h 971828"/>
              <a:gd name="connsiteX12" fmla="*/ 919865 w 1406331"/>
              <a:gd name="connsiteY12" fmla="*/ 44224 h 971828"/>
              <a:gd name="connsiteX13" fmla="*/ 486467 w 1406331"/>
              <a:gd name="connsiteY13" fmla="*/ 44224 h 971828"/>
            </a:gdLst>
            <a:ahLst/>
            <a:cxnLst/>
            <a:rect l="l" t="t" r="r" b="b"/>
            <a:pathLst>
              <a:path w="1406331" h="971828">
                <a:moveTo>
                  <a:pt x="919865" y="971828"/>
                </a:moveTo>
                <a:lnTo>
                  <a:pt x="486467" y="971828"/>
                </a:lnTo>
                <a:cubicBezTo>
                  <a:pt x="218910" y="971828"/>
                  <a:pt x="0" y="754024"/>
                  <a:pt x="0" y="486467"/>
                </a:cubicBezTo>
                <a:cubicBezTo>
                  <a:pt x="0" y="218910"/>
                  <a:pt x="217804" y="0"/>
                  <a:pt x="486467" y="0"/>
                </a:cubicBezTo>
                <a:lnTo>
                  <a:pt x="919865" y="0"/>
                </a:lnTo>
                <a:cubicBezTo>
                  <a:pt x="1187421" y="0"/>
                  <a:pt x="1406332" y="217805"/>
                  <a:pt x="1406332" y="486467"/>
                </a:cubicBezTo>
                <a:cubicBezTo>
                  <a:pt x="1406332" y="754024"/>
                  <a:pt x="1187421" y="971828"/>
                  <a:pt x="919865" y="971828"/>
                </a:cubicBezTo>
                <a:close/>
                <a:moveTo>
                  <a:pt x="486467" y="44224"/>
                </a:moveTo>
                <a:cubicBezTo>
                  <a:pt x="243234" y="44224"/>
                  <a:pt x="45330" y="242128"/>
                  <a:pt x="45330" y="486467"/>
                </a:cubicBezTo>
                <a:cubicBezTo>
                  <a:pt x="45330" y="729701"/>
                  <a:pt x="243234" y="927604"/>
                  <a:pt x="486467" y="927604"/>
                </a:cubicBezTo>
                <a:lnTo>
                  <a:pt x="919865" y="927604"/>
                </a:lnTo>
                <a:cubicBezTo>
                  <a:pt x="1163098" y="927604"/>
                  <a:pt x="1361002" y="729701"/>
                  <a:pt x="1361002" y="486467"/>
                </a:cubicBezTo>
                <a:cubicBezTo>
                  <a:pt x="1361002" y="243234"/>
                  <a:pt x="1163098" y="44224"/>
                  <a:pt x="919865" y="44224"/>
                </a:cubicBezTo>
                <a:lnTo>
                  <a:pt x="486467" y="44224"/>
                </a:lnTo>
                <a:close/>
              </a:path>
            </a:pathLst>
          </a:custGeom>
          <a:solidFill>
            <a:schemeClr val="accent3"/>
          </a:solidFill>
          <a:ln w="110508" cap="flat">
            <a:noFill/>
            <a:miter/>
          </a:ln>
        </p:spPr>
        <p:txBody>
          <a:bodyPr vert="horz" wrap="square" lIns="91440" tIns="45720" rIns="91440" bIns="45720" rtlCol="0" anchor="ctr"/>
          <a:lstStyle/>
          <a:p>
            <a:pPr algn="l"/>
            <a:endParaRPr kumimoji="1" lang="zh-CN" altLang="en-US"/>
          </a:p>
        </p:txBody>
      </p:sp>
      <p:sp>
        <p:nvSpPr>
          <p:cNvPr id="116" name="标题 1"/>
          <p:cNvSpPr txBox="1"/>
          <p:nvPr/>
        </p:nvSpPr>
        <p:spPr>
          <a:xfrm>
            <a:off x="8177439" y="4772764"/>
            <a:ext cx="375030" cy="353474"/>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accent3"/>
          </a:solidFill>
          <a:ln w="110508" cap="flat">
            <a:noFill/>
            <a:miter/>
          </a:ln>
        </p:spPr>
        <p:txBody>
          <a:bodyPr vert="horz" wrap="square" lIns="91440" tIns="45720" rIns="91440" bIns="45720" rtlCol="0" anchor="ctr"/>
          <a:lstStyle/>
          <a:p>
            <a:pPr algn="l"/>
            <a:endParaRPr kumimoji="1" lang="zh-CN" altLang="en-US"/>
          </a:p>
        </p:txBody>
      </p:sp>
      <p:sp>
        <p:nvSpPr>
          <p:cNvPr id="117" name="标题 1"/>
          <p:cNvSpPr txBox="1"/>
          <p:nvPr/>
        </p:nvSpPr>
        <p:spPr>
          <a:xfrm rot="10800000">
            <a:off x="660399" y="158962"/>
            <a:ext cx="10858499" cy="971338"/>
          </a:xfrm>
          <a:prstGeom prst="roundRect">
            <a:avLst/>
          </a:prstGeom>
          <a:gradFill>
            <a:gsLst>
              <a:gs pos="0">
                <a:schemeClr val="bg1">
                  <a:alpha val="0"/>
                </a:schemeClr>
              </a:gs>
              <a:gs pos="60000">
                <a:schemeClr val="accent1">
                  <a:lumMod val="20000"/>
                  <a:lumOff val="80000"/>
                </a:schemeClr>
              </a:gs>
              <a:gs pos="100000">
                <a:schemeClr val="bg1"/>
              </a:gs>
            </a:gsLst>
            <a:lin ang="16200000" scaled="0"/>
          </a:gradFill>
          <a:ln w="12700" cap="sq">
            <a:noFill/>
            <a:miter/>
          </a:ln>
        </p:spPr>
        <p:txBody>
          <a:bodyPr vert="horz" wrap="square" lIns="91440" tIns="45720" rIns="91440" bIns="45720" rtlCol="0" anchor="ctr"/>
          <a:lstStyle/>
          <a:p>
            <a:pPr algn="ctr"/>
            <a:endParaRPr kumimoji="1" lang="zh-CN" altLang="en-US"/>
          </a:p>
        </p:txBody>
      </p:sp>
      <p:sp>
        <p:nvSpPr>
          <p:cNvPr id="118" name="标题 1"/>
          <p:cNvSpPr txBox="1"/>
          <p:nvPr/>
        </p:nvSpPr>
        <p:spPr>
          <a:xfrm flipH="1">
            <a:off x="139042" y="296832"/>
            <a:ext cx="765810" cy="347799"/>
          </a:xfrm>
          <a:custGeom>
            <a:avLst/>
            <a:gdLst>
              <a:gd name="connsiteX0" fmla="*/ 651510 w 765810"/>
              <a:gd name="connsiteY0" fmla="*/ 253093 h 347799"/>
              <a:gd name="connsiteX1" fmla="*/ 543741 w 765810"/>
              <a:gd name="connsiteY1" fmla="*/ 318407 h 347799"/>
              <a:gd name="connsiteX2" fmla="*/ 435973 w 765810"/>
              <a:gd name="connsiteY2" fmla="*/ 253093 h 347799"/>
              <a:gd name="connsiteX3" fmla="*/ 329837 w 765810"/>
              <a:gd name="connsiteY3" fmla="*/ 318407 h 347799"/>
              <a:gd name="connsiteX4" fmla="*/ 222069 w 765810"/>
              <a:gd name="connsiteY4" fmla="*/ 253093 h 347799"/>
              <a:gd name="connsiteX5" fmla="*/ 114300 w 765810"/>
              <a:gd name="connsiteY5" fmla="*/ 318407 h 347799"/>
              <a:gd name="connsiteX6" fmla="*/ 13063 w 765810"/>
              <a:gd name="connsiteY6" fmla="*/ 256358 h 347799"/>
              <a:gd name="connsiteX7" fmla="*/ 0 w 765810"/>
              <a:gd name="connsiteY7" fmla="*/ 277586 h 347799"/>
              <a:gd name="connsiteX8" fmla="*/ 114300 w 765810"/>
              <a:gd name="connsiteY8" fmla="*/ 347799 h 347799"/>
              <a:gd name="connsiteX9" fmla="*/ 222069 w 765810"/>
              <a:gd name="connsiteY9" fmla="*/ 282484 h 347799"/>
              <a:gd name="connsiteX10" fmla="*/ 329837 w 765810"/>
              <a:gd name="connsiteY10" fmla="*/ 347799 h 347799"/>
              <a:gd name="connsiteX11" fmla="*/ 435973 w 765810"/>
              <a:gd name="connsiteY11" fmla="*/ 282484 h 347799"/>
              <a:gd name="connsiteX12" fmla="*/ 543741 w 765810"/>
              <a:gd name="connsiteY12" fmla="*/ 347799 h 347799"/>
              <a:gd name="connsiteX13" fmla="*/ 651510 w 765810"/>
              <a:gd name="connsiteY13" fmla="*/ 282484 h 347799"/>
              <a:gd name="connsiteX14" fmla="*/ 752747 w 765810"/>
              <a:gd name="connsiteY14" fmla="*/ 342900 h 347799"/>
              <a:gd name="connsiteX15" fmla="*/ 765810 w 765810"/>
              <a:gd name="connsiteY15" fmla="*/ 321673 h 347799"/>
              <a:gd name="connsiteX16" fmla="*/ 651510 w 765810"/>
              <a:gd name="connsiteY16" fmla="*/ 125730 h 347799"/>
              <a:gd name="connsiteX17" fmla="*/ 543741 w 765810"/>
              <a:gd name="connsiteY17" fmla="*/ 191044 h 347799"/>
              <a:gd name="connsiteX18" fmla="*/ 435973 w 765810"/>
              <a:gd name="connsiteY18" fmla="*/ 125730 h 347799"/>
              <a:gd name="connsiteX19" fmla="*/ 329837 w 765810"/>
              <a:gd name="connsiteY19" fmla="*/ 191044 h 347799"/>
              <a:gd name="connsiteX20" fmla="*/ 222069 w 765810"/>
              <a:gd name="connsiteY20" fmla="*/ 125730 h 347799"/>
              <a:gd name="connsiteX21" fmla="*/ 114300 w 765810"/>
              <a:gd name="connsiteY21" fmla="*/ 191044 h 347799"/>
              <a:gd name="connsiteX22" fmla="*/ 13063 w 765810"/>
              <a:gd name="connsiteY22" fmla="*/ 130629 h 347799"/>
              <a:gd name="connsiteX23" fmla="*/ 0 w 765810"/>
              <a:gd name="connsiteY23" fmla="*/ 151856 h 347799"/>
              <a:gd name="connsiteX24" fmla="*/ 114300 w 765810"/>
              <a:gd name="connsiteY24" fmla="*/ 220436 h 347799"/>
              <a:gd name="connsiteX25" fmla="*/ 222069 w 765810"/>
              <a:gd name="connsiteY25" fmla="*/ 155122 h 347799"/>
              <a:gd name="connsiteX26" fmla="*/ 329837 w 765810"/>
              <a:gd name="connsiteY26" fmla="*/ 220436 h 347799"/>
              <a:gd name="connsiteX27" fmla="*/ 435973 w 765810"/>
              <a:gd name="connsiteY27" fmla="*/ 155122 h 347799"/>
              <a:gd name="connsiteX28" fmla="*/ 543741 w 765810"/>
              <a:gd name="connsiteY28" fmla="*/ 220436 h 347799"/>
              <a:gd name="connsiteX29" fmla="*/ 651510 w 765810"/>
              <a:gd name="connsiteY29" fmla="*/ 155122 h 347799"/>
              <a:gd name="connsiteX30" fmla="*/ 752747 w 765810"/>
              <a:gd name="connsiteY30" fmla="*/ 217170 h 347799"/>
              <a:gd name="connsiteX31" fmla="*/ 765810 w 765810"/>
              <a:gd name="connsiteY31" fmla="*/ 195943 h 347799"/>
              <a:gd name="connsiteX32" fmla="*/ 651510 w 765810"/>
              <a:gd name="connsiteY32" fmla="*/ 0 h 347799"/>
              <a:gd name="connsiteX33" fmla="*/ 543741 w 765810"/>
              <a:gd name="connsiteY33" fmla="*/ 65314 h 347799"/>
              <a:gd name="connsiteX34" fmla="*/ 435973 w 765810"/>
              <a:gd name="connsiteY34" fmla="*/ 0 h 347799"/>
              <a:gd name="connsiteX35" fmla="*/ 329837 w 765810"/>
              <a:gd name="connsiteY35" fmla="*/ 65314 h 347799"/>
              <a:gd name="connsiteX36" fmla="*/ 222069 w 765810"/>
              <a:gd name="connsiteY36" fmla="*/ 0 h 347799"/>
              <a:gd name="connsiteX37" fmla="*/ 114300 w 765810"/>
              <a:gd name="connsiteY37" fmla="*/ 65314 h 347799"/>
              <a:gd name="connsiteX38" fmla="*/ 13063 w 765810"/>
              <a:gd name="connsiteY38" fmla="*/ 3265 h 347799"/>
              <a:gd name="connsiteX39" fmla="*/ 0 w 765810"/>
              <a:gd name="connsiteY39" fmla="*/ 24493 h 347799"/>
              <a:gd name="connsiteX40" fmla="*/ 114300 w 765810"/>
              <a:gd name="connsiteY40" fmla="*/ 93073 h 347799"/>
              <a:gd name="connsiteX41" fmla="*/ 222069 w 765810"/>
              <a:gd name="connsiteY41" fmla="*/ 27758 h 347799"/>
              <a:gd name="connsiteX42" fmla="*/ 329837 w 765810"/>
              <a:gd name="connsiteY42" fmla="*/ 93073 h 347799"/>
              <a:gd name="connsiteX43" fmla="*/ 435973 w 765810"/>
              <a:gd name="connsiteY43" fmla="*/ 27758 h 347799"/>
              <a:gd name="connsiteX44" fmla="*/ 543741 w 765810"/>
              <a:gd name="connsiteY44" fmla="*/ 93073 h 347799"/>
              <a:gd name="connsiteX45" fmla="*/ 651510 w 765810"/>
              <a:gd name="connsiteY45" fmla="*/ 27758 h 347799"/>
              <a:gd name="connsiteX46" fmla="*/ 752747 w 765810"/>
              <a:gd name="connsiteY46" fmla="*/ 89807 h 347799"/>
              <a:gd name="connsiteX47" fmla="*/ 765810 w 765810"/>
              <a:gd name="connsiteY47" fmla="*/ 68580 h 347799"/>
            </a:gdLst>
            <a:ahLst/>
            <a:cxnLst/>
            <a:rect l="l" t="t" r="r" b="b"/>
            <a:pathLst>
              <a:path w="765810" h="347799">
                <a:moveTo>
                  <a:pt x="651510" y="253093"/>
                </a:moveTo>
                <a:lnTo>
                  <a:pt x="543741" y="318407"/>
                </a:lnTo>
                <a:lnTo>
                  <a:pt x="435973" y="253093"/>
                </a:lnTo>
                <a:lnTo>
                  <a:pt x="329837" y="318407"/>
                </a:lnTo>
                <a:lnTo>
                  <a:pt x="222069" y="253093"/>
                </a:lnTo>
                <a:lnTo>
                  <a:pt x="114300" y="318407"/>
                </a:lnTo>
                <a:lnTo>
                  <a:pt x="13063" y="256358"/>
                </a:lnTo>
                <a:lnTo>
                  <a:pt x="0" y="277586"/>
                </a:lnTo>
                <a:lnTo>
                  <a:pt x="114300" y="347799"/>
                </a:lnTo>
                <a:lnTo>
                  <a:pt x="222069" y="282484"/>
                </a:lnTo>
                <a:lnTo>
                  <a:pt x="329837" y="347799"/>
                </a:lnTo>
                <a:lnTo>
                  <a:pt x="435973" y="282484"/>
                </a:lnTo>
                <a:lnTo>
                  <a:pt x="543741" y="347799"/>
                </a:lnTo>
                <a:lnTo>
                  <a:pt x="651510" y="282484"/>
                </a:lnTo>
                <a:lnTo>
                  <a:pt x="752747" y="342900"/>
                </a:lnTo>
                <a:lnTo>
                  <a:pt x="765810" y="321673"/>
                </a:lnTo>
                <a:close/>
                <a:moveTo>
                  <a:pt x="651510" y="125730"/>
                </a:moveTo>
                <a:lnTo>
                  <a:pt x="543741" y="191044"/>
                </a:lnTo>
                <a:lnTo>
                  <a:pt x="435973" y="125730"/>
                </a:lnTo>
                <a:lnTo>
                  <a:pt x="329837" y="191044"/>
                </a:lnTo>
                <a:lnTo>
                  <a:pt x="222069" y="125730"/>
                </a:lnTo>
                <a:lnTo>
                  <a:pt x="114300" y="191044"/>
                </a:lnTo>
                <a:lnTo>
                  <a:pt x="13063" y="130629"/>
                </a:lnTo>
                <a:lnTo>
                  <a:pt x="0" y="151856"/>
                </a:lnTo>
                <a:lnTo>
                  <a:pt x="114300" y="220436"/>
                </a:lnTo>
                <a:lnTo>
                  <a:pt x="222069" y="155122"/>
                </a:lnTo>
                <a:lnTo>
                  <a:pt x="329837" y="220436"/>
                </a:lnTo>
                <a:lnTo>
                  <a:pt x="435973" y="155122"/>
                </a:lnTo>
                <a:lnTo>
                  <a:pt x="543741" y="220436"/>
                </a:lnTo>
                <a:lnTo>
                  <a:pt x="651510" y="155122"/>
                </a:lnTo>
                <a:lnTo>
                  <a:pt x="752747" y="217170"/>
                </a:lnTo>
                <a:lnTo>
                  <a:pt x="765810" y="195943"/>
                </a:lnTo>
                <a:close/>
                <a:moveTo>
                  <a:pt x="651510" y="0"/>
                </a:moveTo>
                <a:lnTo>
                  <a:pt x="543741" y="65314"/>
                </a:lnTo>
                <a:lnTo>
                  <a:pt x="435973" y="0"/>
                </a:lnTo>
                <a:lnTo>
                  <a:pt x="329837" y="65314"/>
                </a:lnTo>
                <a:lnTo>
                  <a:pt x="222069" y="0"/>
                </a:lnTo>
                <a:lnTo>
                  <a:pt x="114300" y="65314"/>
                </a:lnTo>
                <a:lnTo>
                  <a:pt x="13063" y="3265"/>
                </a:lnTo>
                <a:lnTo>
                  <a:pt x="0" y="24493"/>
                </a:lnTo>
                <a:lnTo>
                  <a:pt x="114300" y="93073"/>
                </a:lnTo>
                <a:lnTo>
                  <a:pt x="222069" y="27758"/>
                </a:lnTo>
                <a:lnTo>
                  <a:pt x="329837" y="93073"/>
                </a:lnTo>
                <a:lnTo>
                  <a:pt x="435973" y="27758"/>
                </a:lnTo>
                <a:lnTo>
                  <a:pt x="543741" y="93073"/>
                </a:lnTo>
                <a:lnTo>
                  <a:pt x="651510" y="27758"/>
                </a:lnTo>
                <a:lnTo>
                  <a:pt x="752747" y="89807"/>
                </a:lnTo>
                <a:lnTo>
                  <a:pt x="765810" y="68580"/>
                </a:lnTo>
                <a:close/>
              </a:path>
            </a:pathLst>
          </a:custGeom>
          <a:solidFill>
            <a:schemeClr val="accent1">
              <a:lumMod val="60000"/>
              <a:lumOff val="40000"/>
            </a:schemeClr>
          </a:solidFill>
          <a:ln w="16329" cap="flat">
            <a:noFill/>
            <a:miter/>
          </a:ln>
        </p:spPr>
        <p:txBody>
          <a:bodyPr vert="horz" wrap="square" lIns="91440" tIns="45720" rIns="91440" bIns="45720" rtlCol="0" anchor="ctr"/>
          <a:lstStyle/>
          <a:p>
            <a:pPr algn="l"/>
            <a:endParaRPr kumimoji="1" lang="zh-CN" altLang="en-US"/>
          </a:p>
        </p:txBody>
      </p:sp>
      <p:sp>
        <p:nvSpPr>
          <p:cNvPr id="119" name="标题 1"/>
          <p:cNvSpPr txBox="1"/>
          <p:nvPr/>
        </p:nvSpPr>
        <p:spPr>
          <a:xfrm>
            <a:off x="1201552" y="346492"/>
            <a:ext cx="8209148" cy="596278"/>
          </a:xfrm>
          <a:prstGeom prst="rect">
            <a:avLst/>
          </a:prstGeom>
          <a:noFill/>
          <a:ln>
            <a:noFill/>
          </a:ln>
        </p:spPr>
        <p:txBody>
          <a:bodyPr vert="horz" wrap="square" lIns="0" tIns="0" rIns="0" bIns="0" rtlCol="0" anchor="ctr"/>
          <a:lstStyle/>
          <a:p>
            <a:pPr algn="l"/>
            <a:r>
              <a:rPr kumimoji="1" lang="en-US" altLang="zh-CN" sz="2558">
                <a:ln w="12700">
                  <a:noFill/>
                </a:ln>
                <a:solidFill>
                  <a:srgbClr val="000000">
                    <a:alpha val="100000"/>
                  </a:srgbClr>
                </a:solidFill>
                <a:latin typeface="poppins-bold"/>
                <a:ea typeface="poppins-bold"/>
                <a:cs typeface="poppins-bold"/>
              </a:rPr>
              <a:t>Ciclo PDCA (Planificar-Hacer-Verificar-Actuar)</a:t>
            </a:r>
            <a:endParaRPr kumimoji="1" lang="zh-CN" altLang="en-US"/>
          </a:p>
        </p:txBody>
      </p:sp>
      <p:pic>
        <p:nvPicPr>
          <p:cNvPr id="121" name="Imagen 120">
            <a:extLst>
              <a:ext uri="{FF2B5EF4-FFF2-40B4-BE49-F238E27FC236}">
                <a16:creationId xmlns:a16="http://schemas.microsoft.com/office/drawing/2014/main" id="{65CA4C56-C15F-82BA-5E8B-960024D504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bold"/>
                <a:ea typeface="poppins-bold"/>
                <a:cs typeface="poppins-bold"/>
              </a:rPr>
              <a:t>Thanks</a:t>
            </a:r>
            <a:endParaRPr kumimoji="1" lang="zh-CN" altLang="en-US"/>
          </a:p>
        </p:txBody>
      </p:sp>
      <p:sp>
        <p:nvSpPr>
          <p:cNvPr id="7" name="标题 1"/>
          <p:cNvSpPr txBox="1"/>
          <p:nvPr/>
        </p:nvSpPr>
        <p:spPr>
          <a:xfrm>
            <a:off x="914401" y="4646065"/>
            <a:ext cx="6972300" cy="276999"/>
          </a:xfrm>
          <a:prstGeom prst="rect">
            <a:avLst/>
          </a:prstGeom>
          <a:noFill/>
          <a:ln>
            <a:noFill/>
          </a:ln>
        </p:spPr>
        <p:txBody>
          <a:bodyPr vert="horz" wrap="square" lIns="0" tIns="0" rIns="0" bIns="0" rtlCol="0" anchor="t">
            <a:spAutoFit/>
          </a:bodyPr>
          <a:lstStyle/>
          <a:p>
            <a:pPr algn="l"/>
            <a:r>
              <a:rPr kumimoji="1" lang="en-US" altLang="zh-CN" dirty="0">
                <a:ln w="12700">
                  <a:noFill/>
                </a:ln>
                <a:solidFill>
                  <a:srgbClr val="262626">
                    <a:alpha val="100000"/>
                  </a:srgbClr>
                </a:solidFill>
                <a:latin typeface="Poppins"/>
                <a:ea typeface="Poppins"/>
                <a:cs typeface="Poppins"/>
              </a:rPr>
              <a:t>MGS. </a:t>
            </a:r>
            <a:r>
              <a:rPr kumimoji="1" lang="en-US" altLang="zh-CN" sz="1800" dirty="0">
                <a:ln w="12700">
                  <a:noFill/>
                </a:ln>
                <a:solidFill>
                  <a:srgbClr val="262626">
                    <a:alpha val="100000"/>
                  </a:srgbClr>
                </a:solidFill>
                <a:latin typeface="Poppins"/>
                <a:ea typeface="Poppins"/>
                <a:cs typeface="Poppins"/>
              </a:rPr>
              <a:t>JOSE FRANCO LAMILLA</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15" name="Imagen 14">
            <a:extLst>
              <a:ext uri="{FF2B5EF4-FFF2-40B4-BE49-F238E27FC236}">
                <a16:creationId xmlns:a16="http://schemas.microsoft.com/office/drawing/2014/main" id="{8034BF69-FCF0-9D56-CAA3-61C3308216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C53645"/>
      </a:accent1>
      <a:accent2>
        <a:srgbClr val="30556B"/>
      </a:accent2>
      <a:accent3>
        <a:srgbClr val="095CB6"/>
      </a:accent3>
      <a:accent4>
        <a:srgbClr val="487ED7"/>
      </a:accent4>
      <a:accent5>
        <a:srgbClr val="909090"/>
      </a:accent5>
      <a:accent6>
        <a:srgbClr val="BEBEBE"/>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1191</Words>
  <Application>Microsoft Office PowerPoint</Application>
  <PresentationFormat>Panorámica</PresentationFormat>
  <Paragraphs>127</Paragraphs>
  <Slides>28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poppins-bold</vt:lpstr>
      <vt:lpstr>Poppins</vt:lpstr>
      <vt:lpstr>Calibri</vt:lpstr>
      <vt:lpstr>Arial</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11</cp:revision>
  <dcterms:modified xsi:type="dcterms:W3CDTF">2025-11-11T17:28:20Z</dcterms:modified>
</cp:coreProperties>
</file>
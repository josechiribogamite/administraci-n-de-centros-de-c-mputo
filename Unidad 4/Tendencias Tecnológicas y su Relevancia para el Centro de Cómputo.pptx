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embeddedFontLs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-bold" panose="020B0604020202020204" charset="0"/>
      <p:regular r:id="rId34"/>
    </p:embeddedFont>
  </p:embeddedFontLst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914400" y="3595455"/>
            <a:ext cx="9597112" cy="716517"/>
          </a:xfrm>
          <a:custGeom>
            <a:avLst/>
            <a:gdLst>
              <a:gd name="connsiteX0" fmla="*/ 6532245 w 7601997"/>
              <a:gd name="connsiteY0" fmla="*/ 530923 h 530923"/>
              <a:gd name="connsiteX1" fmla="*/ 0 w 7601997"/>
              <a:gd name="connsiteY1" fmla="*/ 530923 h 530923"/>
              <a:gd name="connsiteX2" fmla="*/ 0 w 7601997"/>
              <a:gd name="connsiteY2" fmla="*/ 511969 h 530923"/>
              <a:gd name="connsiteX3" fmla="*/ 6532245 w 7601997"/>
              <a:gd name="connsiteY3" fmla="*/ 511969 h 530923"/>
              <a:gd name="connsiteX4" fmla="*/ 7235476 w 7601997"/>
              <a:gd name="connsiteY4" fmla="*/ 331280 h 530923"/>
              <a:gd name="connsiteX5" fmla="*/ 7585710 w 7601997"/>
              <a:gd name="connsiteY5" fmla="*/ 0 h 530923"/>
              <a:gd name="connsiteX6" fmla="*/ 7601998 w 7601997"/>
              <a:gd name="connsiteY6" fmla="*/ 9811 h 530923"/>
              <a:gd name="connsiteX7" fmla="*/ 7245001 w 7601997"/>
              <a:gd name="connsiteY7" fmla="*/ 347663 h 530923"/>
              <a:gd name="connsiteX8" fmla="*/ 6532245 w 7601997"/>
              <a:gd name="connsiteY8" fmla="*/ 530923 h 530923"/>
            </a:gdLst>
            <a:ahLst/>
            <a:cxnLst/>
            <a:rect l="l" t="t" r="r" b="b"/>
            <a:pathLst>
              <a:path w="7601997" h="530923">
                <a:moveTo>
                  <a:pt x="6532245" y="530923"/>
                </a:moveTo>
                <a:lnTo>
                  <a:pt x="0" y="530923"/>
                </a:lnTo>
                <a:lnTo>
                  <a:pt x="0" y="511969"/>
                </a:lnTo>
                <a:lnTo>
                  <a:pt x="6532245" y="511969"/>
                </a:lnTo>
                <a:cubicBezTo>
                  <a:pt x="6789420" y="511969"/>
                  <a:pt x="7032594" y="449485"/>
                  <a:pt x="7235476" y="331280"/>
                </a:cubicBezTo>
                <a:cubicBezTo>
                  <a:pt x="7390067" y="241173"/>
                  <a:pt x="7507891" y="129730"/>
                  <a:pt x="7585710" y="0"/>
                </a:cubicBezTo>
                <a:lnTo>
                  <a:pt x="7601998" y="9811"/>
                </a:lnTo>
                <a:cubicBezTo>
                  <a:pt x="7522464" y="142304"/>
                  <a:pt x="7402354" y="255937"/>
                  <a:pt x="7245001" y="347663"/>
                </a:cubicBezTo>
                <a:cubicBezTo>
                  <a:pt x="7039166" y="467487"/>
                  <a:pt x="6792754" y="530923"/>
                  <a:pt x="6532245" y="53092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363422" y="2911658"/>
            <a:ext cx="533612" cy="688688"/>
          </a:xfrm>
          <a:custGeom>
            <a:avLst/>
            <a:gdLst>
              <a:gd name="connsiteX0" fmla="*/ 410865 w 422681"/>
              <a:gd name="connsiteY0" fmla="*/ 429526 h 510302"/>
              <a:gd name="connsiteX1" fmla="*/ 422676 w 422681"/>
              <a:gd name="connsiteY1" fmla="*/ 6711 h 510302"/>
              <a:gd name="connsiteX2" fmla="*/ 413913 w 422681"/>
              <a:gd name="connsiteY2" fmla="*/ 996 h 510302"/>
              <a:gd name="connsiteX3" fmla="*/ 6624 w 422681"/>
              <a:gd name="connsiteY3" fmla="*/ 293794 h 510302"/>
              <a:gd name="connsiteX4" fmla="*/ 11006 w 422681"/>
              <a:gd name="connsiteY4" fmla="*/ 323798 h 510302"/>
              <a:gd name="connsiteX5" fmla="*/ 125401 w 422681"/>
              <a:gd name="connsiteY5" fmla="*/ 359898 h 510302"/>
              <a:gd name="connsiteX6" fmla="*/ 363907 w 422681"/>
              <a:gd name="connsiteY6" fmla="*/ 102342 h 510302"/>
              <a:gd name="connsiteX7" fmla="*/ 171406 w 422681"/>
              <a:gd name="connsiteY7" fmla="*/ 382948 h 510302"/>
              <a:gd name="connsiteX8" fmla="*/ 179217 w 422681"/>
              <a:gd name="connsiteY8" fmla="*/ 494676 h 510302"/>
              <a:gd name="connsiteX9" fmla="*/ 206840 w 422681"/>
              <a:gd name="connsiteY9" fmla="*/ 501534 h 510302"/>
              <a:gd name="connsiteX10" fmla="*/ 252083 w 422681"/>
              <a:gd name="connsiteY10" fmla="*/ 401808 h 510302"/>
              <a:gd name="connsiteX11" fmla="*/ 392768 w 422681"/>
              <a:gd name="connsiteY11" fmla="*/ 444766 h 510302"/>
              <a:gd name="connsiteX12" fmla="*/ 410865 w 422681"/>
              <a:gd name="connsiteY12" fmla="*/ 429526 h 510302"/>
            </a:gdLst>
            <a:ahLst/>
            <a:cxnLst/>
            <a:rect l="l" t="t" r="r" b="b"/>
            <a:pathLst>
              <a:path w="422681" h="510302">
                <a:moveTo>
                  <a:pt x="410865" y="429526"/>
                </a:moveTo>
                <a:lnTo>
                  <a:pt x="422676" y="6711"/>
                </a:lnTo>
                <a:cubicBezTo>
                  <a:pt x="422867" y="1567"/>
                  <a:pt x="417819" y="-1767"/>
                  <a:pt x="413913" y="996"/>
                </a:cubicBezTo>
                <a:lnTo>
                  <a:pt x="6624" y="293794"/>
                </a:lnTo>
                <a:cubicBezTo>
                  <a:pt x="-4044" y="301414"/>
                  <a:pt x="-1281" y="319988"/>
                  <a:pt x="11006" y="323798"/>
                </a:cubicBezTo>
                <a:lnTo>
                  <a:pt x="125401" y="359898"/>
                </a:lnTo>
                <a:lnTo>
                  <a:pt x="363907" y="102342"/>
                </a:lnTo>
                <a:lnTo>
                  <a:pt x="171406" y="382948"/>
                </a:lnTo>
                <a:lnTo>
                  <a:pt x="179217" y="494676"/>
                </a:lnTo>
                <a:cubicBezTo>
                  <a:pt x="180360" y="511345"/>
                  <a:pt x="200077" y="516298"/>
                  <a:pt x="206840" y="501534"/>
                </a:cubicBezTo>
                <a:lnTo>
                  <a:pt x="252083" y="401808"/>
                </a:lnTo>
                <a:lnTo>
                  <a:pt x="392768" y="444766"/>
                </a:lnTo>
                <a:cubicBezTo>
                  <a:pt x="401721" y="447433"/>
                  <a:pt x="410484" y="440003"/>
                  <a:pt x="410865" y="429526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14399" y="1200625"/>
            <a:ext cx="8748461" cy="288102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41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Tendencias Tecnológicas y su Relevancia para el Centro de Cómputo</a:t>
            </a:r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>
            <a:off x="1065856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cxnSp>
        <p:nvCxnSpPr>
          <p:cNvPr id="9" name="标题 1"/>
          <p:cNvCxnSpPr/>
          <p:nvPr/>
        </p:nvCxnSpPr>
        <p:spPr>
          <a:xfrm>
            <a:off x="1621972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0" name="标题 1"/>
          <p:cNvSpPr txBox="1"/>
          <p:nvPr/>
        </p:nvSpPr>
        <p:spPr>
          <a:xfrm>
            <a:off x="660400" y="773905"/>
            <a:ext cx="254795" cy="254795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6516" y="781228"/>
            <a:ext cx="254795" cy="24015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72651" y="773905"/>
            <a:ext cx="254757" cy="254795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0" y="0"/>
            <a:ext cx="482600" cy="6870700"/>
          </a:xfrm>
          <a:prstGeom prst="rect">
            <a:avLst/>
          </a:prstGeom>
          <a:solidFill>
            <a:srgbClr val="C53645">
              <a:alpha val="100000"/>
            </a:srgbClr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081E165-BB93-275D-47D1-09817E6F15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0" y="6340616"/>
            <a:ext cx="12192000" cy="517385"/>
          </a:xfrm>
          <a:custGeom>
            <a:avLst/>
            <a:gdLst>
              <a:gd name="connsiteX0" fmla="*/ 0 w 12192000"/>
              <a:gd name="connsiteY0" fmla="*/ 0 h 517385"/>
              <a:gd name="connsiteX1" fmla="*/ 12192000 w 12192000"/>
              <a:gd name="connsiteY1" fmla="*/ 0 h 517385"/>
              <a:gd name="connsiteX2" fmla="*/ 12192000 w 12192000"/>
              <a:gd name="connsiteY2" fmla="*/ 517385 h 517385"/>
              <a:gd name="connsiteX3" fmla="*/ 0 w 12192000"/>
              <a:gd name="connsiteY3" fmla="*/ 517385 h 517385"/>
            </a:gdLst>
            <a:ahLst/>
            <a:cxnLst/>
            <a:rect l="l" t="t" r="r" b="b"/>
            <a:pathLst>
              <a:path w="12192000" h="517385">
                <a:moveTo>
                  <a:pt x="0" y="0"/>
                </a:moveTo>
                <a:lnTo>
                  <a:pt x="12192000" y="0"/>
                </a:lnTo>
                <a:lnTo>
                  <a:pt x="12192000" y="517385"/>
                </a:lnTo>
                <a:lnTo>
                  <a:pt x="0" y="51738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720953" y="6514915"/>
            <a:ext cx="889512" cy="168786"/>
          </a:xfrm>
          <a:custGeom>
            <a:avLst/>
            <a:gdLst>
              <a:gd name="connsiteX0" fmla="*/ 789672 w 889512"/>
              <a:gd name="connsiteY0" fmla="*/ 29484 h 168786"/>
              <a:gd name="connsiteX1" fmla="*/ 784655 w 889512"/>
              <a:gd name="connsiteY1" fmla="*/ 31570 h 168786"/>
              <a:gd name="connsiteX2" fmla="*/ 784655 w 889512"/>
              <a:gd name="connsiteY2" fmla="*/ 41624 h 168786"/>
              <a:gd name="connsiteX3" fmla="*/ 827443 w 889512"/>
              <a:gd name="connsiteY3" fmla="*/ 84431 h 168786"/>
              <a:gd name="connsiteX4" fmla="*/ 784655 w 889512"/>
              <a:gd name="connsiteY4" fmla="*/ 127200 h 168786"/>
              <a:gd name="connsiteX5" fmla="*/ 782569 w 889512"/>
              <a:gd name="connsiteY5" fmla="*/ 132218 h 168786"/>
              <a:gd name="connsiteX6" fmla="*/ 784655 w 889512"/>
              <a:gd name="connsiteY6" fmla="*/ 137235 h 168786"/>
              <a:gd name="connsiteX7" fmla="*/ 794708 w 889512"/>
              <a:gd name="connsiteY7" fmla="*/ 137235 h 168786"/>
              <a:gd name="connsiteX8" fmla="*/ 842514 w 889512"/>
              <a:gd name="connsiteY8" fmla="*/ 89429 h 168786"/>
              <a:gd name="connsiteX9" fmla="*/ 844581 w 889512"/>
              <a:gd name="connsiteY9" fmla="*/ 84393 h 168786"/>
              <a:gd name="connsiteX10" fmla="*/ 842495 w 889512"/>
              <a:gd name="connsiteY10" fmla="*/ 79376 h 168786"/>
              <a:gd name="connsiteX11" fmla="*/ 794690 w 889512"/>
              <a:gd name="connsiteY11" fmla="*/ 31570 h 168786"/>
              <a:gd name="connsiteX12" fmla="*/ 789672 w 889512"/>
              <a:gd name="connsiteY12" fmla="*/ 29484 h 168786"/>
              <a:gd name="connsiteX13" fmla="*/ 429309 w 889512"/>
              <a:gd name="connsiteY13" fmla="*/ 29484 h 168786"/>
              <a:gd name="connsiteX14" fmla="*/ 424292 w 889512"/>
              <a:gd name="connsiteY14" fmla="*/ 31570 h 168786"/>
              <a:gd name="connsiteX15" fmla="*/ 424292 w 889512"/>
              <a:gd name="connsiteY15" fmla="*/ 41624 h 168786"/>
              <a:gd name="connsiteX16" fmla="*/ 467080 w 889512"/>
              <a:gd name="connsiteY16" fmla="*/ 84431 h 168786"/>
              <a:gd name="connsiteX17" fmla="*/ 424292 w 889512"/>
              <a:gd name="connsiteY17" fmla="*/ 127200 h 168786"/>
              <a:gd name="connsiteX18" fmla="*/ 422206 w 889512"/>
              <a:gd name="connsiteY18" fmla="*/ 132218 h 168786"/>
              <a:gd name="connsiteX19" fmla="*/ 424292 w 889512"/>
              <a:gd name="connsiteY19" fmla="*/ 137235 h 168786"/>
              <a:gd name="connsiteX20" fmla="*/ 434345 w 889512"/>
              <a:gd name="connsiteY20" fmla="*/ 137235 h 168786"/>
              <a:gd name="connsiteX21" fmla="*/ 482151 w 889512"/>
              <a:gd name="connsiteY21" fmla="*/ 89429 h 168786"/>
              <a:gd name="connsiteX22" fmla="*/ 484218 w 889512"/>
              <a:gd name="connsiteY22" fmla="*/ 84393 h 168786"/>
              <a:gd name="connsiteX23" fmla="*/ 482132 w 889512"/>
              <a:gd name="connsiteY23" fmla="*/ 79376 h 168786"/>
              <a:gd name="connsiteX24" fmla="*/ 434327 w 889512"/>
              <a:gd name="connsiteY24" fmla="*/ 31570 h 168786"/>
              <a:gd name="connsiteX25" fmla="*/ 429309 w 889512"/>
              <a:gd name="connsiteY25" fmla="*/ 29484 h 168786"/>
              <a:gd name="connsiteX26" fmla="*/ 68946 w 889512"/>
              <a:gd name="connsiteY26" fmla="*/ 29484 h 168786"/>
              <a:gd name="connsiteX27" fmla="*/ 63929 w 889512"/>
              <a:gd name="connsiteY27" fmla="*/ 31570 h 168786"/>
              <a:gd name="connsiteX28" fmla="*/ 63929 w 889512"/>
              <a:gd name="connsiteY28" fmla="*/ 41624 h 168786"/>
              <a:gd name="connsiteX29" fmla="*/ 106717 w 889512"/>
              <a:gd name="connsiteY29" fmla="*/ 84431 h 168786"/>
              <a:gd name="connsiteX30" fmla="*/ 63929 w 889512"/>
              <a:gd name="connsiteY30" fmla="*/ 127200 h 168786"/>
              <a:gd name="connsiteX31" fmla="*/ 61843 w 889512"/>
              <a:gd name="connsiteY31" fmla="*/ 132218 h 168786"/>
              <a:gd name="connsiteX32" fmla="*/ 63929 w 889512"/>
              <a:gd name="connsiteY32" fmla="*/ 137235 h 168786"/>
              <a:gd name="connsiteX33" fmla="*/ 73982 w 889512"/>
              <a:gd name="connsiteY33" fmla="*/ 137235 h 168786"/>
              <a:gd name="connsiteX34" fmla="*/ 121788 w 889512"/>
              <a:gd name="connsiteY34" fmla="*/ 89429 h 168786"/>
              <a:gd name="connsiteX35" fmla="*/ 123855 w 889512"/>
              <a:gd name="connsiteY35" fmla="*/ 84393 h 168786"/>
              <a:gd name="connsiteX36" fmla="*/ 121769 w 889512"/>
              <a:gd name="connsiteY36" fmla="*/ 79376 h 168786"/>
              <a:gd name="connsiteX37" fmla="*/ 73964 w 889512"/>
              <a:gd name="connsiteY37" fmla="*/ 31570 h 168786"/>
              <a:gd name="connsiteX38" fmla="*/ 68946 w 889512"/>
              <a:gd name="connsiteY38" fmla="*/ 29484 h 168786"/>
              <a:gd name="connsiteX39" fmla="*/ 805119 w 889512"/>
              <a:gd name="connsiteY39" fmla="*/ 0 h 168786"/>
              <a:gd name="connsiteX40" fmla="*/ 889512 w 889512"/>
              <a:gd name="connsiteY40" fmla="*/ 84393 h 168786"/>
              <a:gd name="connsiteX41" fmla="*/ 805119 w 889512"/>
              <a:gd name="connsiteY41" fmla="*/ 168786 h 168786"/>
              <a:gd name="connsiteX42" fmla="*/ 720726 w 889512"/>
              <a:gd name="connsiteY42" fmla="*/ 84393 h 168786"/>
              <a:gd name="connsiteX43" fmla="*/ 805119 w 889512"/>
              <a:gd name="connsiteY43" fmla="*/ 0 h 168786"/>
              <a:gd name="connsiteX44" fmla="*/ 444756 w 889512"/>
              <a:gd name="connsiteY44" fmla="*/ 0 h 168786"/>
              <a:gd name="connsiteX45" fmla="*/ 529149 w 889512"/>
              <a:gd name="connsiteY45" fmla="*/ 84393 h 168786"/>
              <a:gd name="connsiteX46" fmla="*/ 444756 w 889512"/>
              <a:gd name="connsiteY46" fmla="*/ 168786 h 168786"/>
              <a:gd name="connsiteX47" fmla="*/ 360363 w 889512"/>
              <a:gd name="connsiteY47" fmla="*/ 84393 h 168786"/>
              <a:gd name="connsiteX48" fmla="*/ 444756 w 889512"/>
              <a:gd name="connsiteY48" fmla="*/ 0 h 168786"/>
              <a:gd name="connsiteX49" fmla="*/ 84393 w 889512"/>
              <a:gd name="connsiteY49" fmla="*/ 0 h 168786"/>
              <a:gd name="connsiteX50" fmla="*/ 168786 w 889512"/>
              <a:gd name="connsiteY50" fmla="*/ 84393 h 168786"/>
              <a:gd name="connsiteX51" fmla="*/ 84393 w 889512"/>
              <a:gd name="connsiteY51" fmla="*/ 168786 h 168786"/>
              <a:gd name="connsiteX52" fmla="*/ 0 w 889512"/>
              <a:gd name="connsiteY52" fmla="*/ 84393 h 168786"/>
              <a:gd name="connsiteX53" fmla="*/ 84393 w 889512"/>
              <a:gd name="connsiteY53" fmla="*/ 0 h 168786"/>
            </a:gdLst>
            <a:ahLst/>
            <a:cxnLst/>
            <a:rect l="l" t="t" r="r" b="b"/>
            <a:pathLst>
              <a:path w="889512" h="168786">
                <a:moveTo>
                  <a:pt x="789672" y="29484"/>
                </a:moveTo>
                <a:cubicBezTo>
                  <a:pt x="787868" y="29484"/>
                  <a:pt x="786046" y="30180"/>
                  <a:pt x="784655" y="31570"/>
                </a:cubicBezTo>
                <a:cubicBezTo>
                  <a:pt x="781874" y="34351"/>
                  <a:pt x="781874" y="38842"/>
                  <a:pt x="784655" y="41624"/>
                </a:cubicBezTo>
                <a:lnTo>
                  <a:pt x="827443" y="84431"/>
                </a:lnTo>
                <a:lnTo>
                  <a:pt x="784655" y="127200"/>
                </a:lnTo>
                <a:cubicBezTo>
                  <a:pt x="783264" y="128591"/>
                  <a:pt x="782569" y="130395"/>
                  <a:pt x="782569" y="132218"/>
                </a:cubicBezTo>
                <a:cubicBezTo>
                  <a:pt x="782569" y="134041"/>
                  <a:pt x="783264" y="135845"/>
                  <a:pt x="784655" y="137235"/>
                </a:cubicBezTo>
                <a:cubicBezTo>
                  <a:pt x="787436" y="140016"/>
                  <a:pt x="791927" y="140016"/>
                  <a:pt x="794708" y="137235"/>
                </a:cubicBezTo>
                <a:lnTo>
                  <a:pt x="842514" y="89429"/>
                </a:lnTo>
                <a:cubicBezTo>
                  <a:pt x="843905" y="88039"/>
                  <a:pt x="844581" y="86216"/>
                  <a:pt x="844581" y="84393"/>
                </a:cubicBezTo>
                <a:cubicBezTo>
                  <a:pt x="844581" y="82570"/>
                  <a:pt x="843886" y="80766"/>
                  <a:pt x="842495" y="79376"/>
                </a:cubicBezTo>
                <a:lnTo>
                  <a:pt x="794690" y="31570"/>
                </a:lnTo>
                <a:cubicBezTo>
                  <a:pt x="793299" y="30180"/>
                  <a:pt x="791495" y="29484"/>
                  <a:pt x="789672" y="29484"/>
                </a:cubicBezTo>
                <a:close/>
                <a:moveTo>
                  <a:pt x="429309" y="29484"/>
                </a:moveTo>
                <a:cubicBezTo>
                  <a:pt x="427505" y="29484"/>
                  <a:pt x="425683" y="30180"/>
                  <a:pt x="424292" y="31570"/>
                </a:cubicBezTo>
                <a:cubicBezTo>
                  <a:pt x="421511" y="34351"/>
                  <a:pt x="421511" y="38842"/>
                  <a:pt x="424292" y="41624"/>
                </a:cubicBezTo>
                <a:lnTo>
                  <a:pt x="467080" y="84431"/>
                </a:lnTo>
                <a:lnTo>
                  <a:pt x="424292" y="127200"/>
                </a:lnTo>
                <a:cubicBezTo>
                  <a:pt x="422901" y="128591"/>
                  <a:pt x="422206" y="130395"/>
                  <a:pt x="422206" y="132218"/>
                </a:cubicBezTo>
                <a:cubicBezTo>
                  <a:pt x="422206" y="134041"/>
                  <a:pt x="422901" y="135845"/>
                  <a:pt x="424292" y="137235"/>
                </a:cubicBezTo>
                <a:cubicBezTo>
                  <a:pt x="427073" y="140016"/>
                  <a:pt x="431564" y="140016"/>
                  <a:pt x="434345" y="137235"/>
                </a:cubicBezTo>
                <a:lnTo>
                  <a:pt x="482151" y="89429"/>
                </a:lnTo>
                <a:cubicBezTo>
                  <a:pt x="483542" y="88039"/>
                  <a:pt x="484218" y="86216"/>
                  <a:pt x="484218" y="84393"/>
                </a:cubicBezTo>
                <a:cubicBezTo>
                  <a:pt x="484218" y="82570"/>
                  <a:pt x="483523" y="80766"/>
                  <a:pt x="482132" y="79376"/>
                </a:cubicBezTo>
                <a:lnTo>
                  <a:pt x="434327" y="31570"/>
                </a:lnTo>
                <a:cubicBezTo>
                  <a:pt x="432936" y="30180"/>
                  <a:pt x="431132" y="29484"/>
                  <a:pt x="429309" y="29484"/>
                </a:cubicBezTo>
                <a:close/>
                <a:moveTo>
                  <a:pt x="68946" y="29484"/>
                </a:moveTo>
                <a:cubicBezTo>
                  <a:pt x="67142" y="29484"/>
                  <a:pt x="65320" y="30180"/>
                  <a:pt x="63929" y="31570"/>
                </a:cubicBezTo>
                <a:cubicBezTo>
                  <a:pt x="61148" y="34351"/>
                  <a:pt x="61148" y="38842"/>
                  <a:pt x="63929" y="41624"/>
                </a:cubicBezTo>
                <a:lnTo>
                  <a:pt x="106717" y="84431"/>
                </a:lnTo>
                <a:lnTo>
                  <a:pt x="63929" y="127200"/>
                </a:lnTo>
                <a:cubicBezTo>
                  <a:pt x="62538" y="128591"/>
                  <a:pt x="61843" y="130395"/>
                  <a:pt x="61843" y="132218"/>
                </a:cubicBezTo>
                <a:cubicBezTo>
                  <a:pt x="61843" y="134041"/>
                  <a:pt x="62538" y="135845"/>
                  <a:pt x="63929" y="137235"/>
                </a:cubicBezTo>
                <a:cubicBezTo>
                  <a:pt x="66710" y="140016"/>
                  <a:pt x="71201" y="140016"/>
                  <a:pt x="73982" y="137235"/>
                </a:cubicBezTo>
                <a:lnTo>
                  <a:pt x="121788" y="89429"/>
                </a:lnTo>
                <a:cubicBezTo>
                  <a:pt x="123179" y="88039"/>
                  <a:pt x="123855" y="86216"/>
                  <a:pt x="123855" y="84393"/>
                </a:cubicBezTo>
                <a:cubicBezTo>
                  <a:pt x="123855" y="82570"/>
                  <a:pt x="123160" y="80766"/>
                  <a:pt x="121769" y="79376"/>
                </a:cubicBezTo>
                <a:lnTo>
                  <a:pt x="73964" y="31570"/>
                </a:lnTo>
                <a:cubicBezTo>
                  <a:pt x="72573" y="30180"/>
                  <a:pt x="70769" y="29484"/>
                  <a:pt x="68946" y="29484"/>
                </a:cubicBezTo>
                <a:close/>
                <a:moveTo>
                  <a:pt x="805119" y="0"/>
                </a:moveTo>
                <a:cubicBezTo>
                  <a:pt x="851741" y="0"/>
                  <a:pt x="889512" y="37790"/>
                  <a:pt x="889512" y="84393"/>
                </a:cubicBezTo>
                <a:cubicBezTo>
                  <a:pt x="889512" y="130996"/>
                  <a:pt x="851722" y="168786"/>
                  <a:pt x="805119" y="168786"/>
                </a:cubicBezTo>
                <a:cubicBezTo>
                  <a:pt x="758516" y="168786"/>
                  <a:pt x="720726" y="130996"/>
                  <a:pt x="720726" y="84393"/>
                </a:cubicBezTo>
                <a:cubicBezTo>
                  <a:pt x="720726" y="37790"/>
                  <a:pt x="758516" y="0"/>
                  <a:pt x="805119" y="0"/>
                </a:cubicBezTo>
                <a:close/>
                <a:moveTo>
                  <a:pt x="444756" y="0"/>
                </a:moveTo>
                <a:cubicBezTo>
                  <a:pt x="491378" y="0"/>
                  <a:pt x="529149" y="37790"/>
                  <a:pt x="529149" y="84393"/>
                </a:cubicBezTo>
                <a:cubicBezTo>
                  <a:pt x="529149" y="130996"/>
                  <a:pt x="491359" y="168786"/>
                  <a:pt x="444756" y="168786"/>
                </a:cubicBezTo>
                <a:cubicBezTo>
                  <a:pt x="398153" y="168786"/>
                  <a:pt x="360363" y="130996"/>
                  <a:pt x="360363" y="84393"/>
                </a:cubicBezTo>
                <a:cubicBezTo>
                  <a:pt x="360363" y="37790"/>
                  <a:pt x="398153" y="0"/>
                  <a:pt x="444756" y="0"/>
                </a:cubicBezTo>
                <a:close/>
                <a:moveTo>
                  <a:pt x="84393" y="0"/>
                </a:moveTo>
                <a:cubicBezTo>
                  <a:pt x="131015" y="0"/>
                  <a:pt x="168786" y="37790"/>
                  <a:pt x="168786" y="84393"/>
                </a:cubicBezTo>
                <a:cubicBezTo>
                  <a:pt x="168786" y="130996"/>
                  <a:pt x="130996" y="168786"/>
                  <a:pt x="84393" y="168786"/>
                </a:cubicBezTo>
                <a:cubicBezTo>
                  <a:pt x="37790" y="168786"/>
                  <a:pt x="0" y="130996"/>
                  <a:pt x="0" y="84393"/>
                </a:cubicBezTo>
                <a:cubicBezTo>
                  <a:pt x="0" y="37790"/>
                  <a:pt x="37790" y="0"/>
                  <a:pt x="84393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2348" y="2124584"/>
            <a:ext cx="2238141" cy="1689192"/>
          </a:xfrm>
          <a:prstGeom prst="roundRect">
            <a:avLst>
              <a:gd name="adj" fmla="val 5109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36389" y="2867370"/>
            <a:ext cx="1890059" cy="5990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111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IA (Inteligencia Artificial): De la Gestión Manual a la Autonomía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302158" y="3606628"/>
            <a:ext cx="958521" cy="2346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508825" y="2251073"/>
            <a:ext cx="545186" cy="545186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241300" dist="38100" dir="5400000" algn="t" rotWithShape="0">
              <a:schemeClr val="accent1">
                <a:alpha val="29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534864" y="2277111"/>
            <a:ext cx="493109" cy="49311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90500" dist="38100" dir="5400000" algn="t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451580" y="2228532"/>
            <a:ext cx="659677" cy="5902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 rot="16200000" flipH="1" flipV="1">
            <a:off x="932839" y="6232095"/>
            <a:ext cx="189547" cy="734426"/>
          </a:xfrm>
          <a:custGeom>
            <a:avLst/>
            <a:gdLst>
              <a:gd name="connsiteX0" fmla="*/ 0 w 189547"/>
              <a:gd name="connsiteY0" fmla="*/ 189547 h 734426"/>
              <a:gd name="connsiteX1" fmla="*/ 94774 w 189547"/>
              <a:gd name="connsiteY1" fmla="*/ 0 h 734426"/>
              <a:gd name="connsiteX2" fmla="*/ 189547 w 189547"/>
              <a:gd name="connsiteY2" fmla="*/ 189547 h 734426"/>
              <a:gd name="connsiteX3" fmla="*/ 0 w 189547"/>
              <a:gd name="connsiteY3" fmla="*/ 461987 h 734426"/>
              <a:gd name="connsiteX4" fmla="*/ 94774 w 189547"/>
              <a:gd name="connsiteY4" fmla="*/ 272440 h 734426"/>
              <a:gd name="connsiteX5" fmla="*/ 189547 w 189547"/>
              <a:gd name="connsiteY5" fmla="*/ 461987 h 734426"/>
              <a:gd name="connsiteX6" fmla="*/ 0 w 189547"/>
              <a:gd name="connsiteY6" fmla="*/ 734426 h 734426"/>
              <a:gd name="connsiteX7" fmla="*/ 94774 w 189547"/>
              <a:gd name="connsiteY7" fmla="*/ 544879 h 734426"/>
              <a:gd name="connsiteX8" fmla="*/ 189547 w 189547"/>
              <a:gd name="connsiteY8" fmla="*/ 734426 h 734426"/>
            </a:gdLst>
            <a:ahLst/>
            <a:cxnLst/>
            <a:rect l="l" t="t" r="r" b="b"/>
            <a:pathLst>
              <a:path w="189547" h="734426">
                <a:moveTo>
                  <a:pt x="0" y="189547"/>
                </a:moveTo>
                <a:lnTo>
                  <a:pt x="94774" y="0"/>
                </a:lnTo>
                <a:lnTo>
                  <a:pt x="189547" y="189547"/>
                </a:lnTo>
                <a:close/>
                <a:moveTo>
                  <a:pt x="0" y="461987"/>
                </a:moveTo>
                <a:lnTo>
                  <a:pt x="94774" y="272440"/>
                </a:lnTo>
                <a:lnTo>
                  <a:pt x="189547" y="461987"/>
                </a:lnTo>
                <a:close/>
                <a:moveTo>
                  <a:pt x="0" y="734426"/>
                </a:moveTo>
                <a:lnTo>
                  <a:pt x="94774" y="544879"/>
                </a:lnTo>
                <a:lnTo>
                  <a:pt x="189547" y="734426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>
            <a:off x="1597546" y="6599308"/>
            <a:ext cx="8726142" cy="0"/>
          </a:xfrm>
          <a:prstGeom prst="line">
            <a:avLst/>
          </a:prstGeom>
          <a:noFill/>
          <a:ln w="12700" cap="sq">
            <a:solidFill>
              <a:schemeClr val="accent1"/>
            </a:solidFill>
            <a:prstDash val="solid"/>
            <a:miter/>
          </a:ln>
        </p:spPr>
      </p:cxnSp>
      <p:sp>
        <p:nvSpPr>
          <p:cNvPr id="17" name="标题 1"/>
          <p:cNvSpPr txBox="1"/>
          <p:nvPr/>
        </p:nvSpPr>
        <p:spPr>
          <a:xfrm>
            <a:off x="3556331" y="2124584"/>
            <a:ext cx="2238141" cy="1689192"/>
          </a:xfrm>
          <a:prstGeom prst="roundRect">
            <a:avLst>
              <a:gd name="adj" fmla="val 5109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3730372" y="2867370"/>
            <a:ext cx="1890059" cy="5990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111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Big Data: El Desafío del Almacenamiento y la Gobernanza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4196141" y="3606628"/>
            <a:ext cx="958521" cy="2346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4402808" y="2251073"/>
            <a:ext cx="545186" cy="545186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241300" dist="38100" dir="5400000" algn="t" rotWithShape="0">
              <a:schemeClr val="accent1">
                <a:alpha val="29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4428847" y="2277111"/>
            <a:ext cx="493109" cy="49311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90500" dist="38100" dir="5400000" algn="t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4345563" y="2228532"/>
            <a:ext cx="659677" cy="5902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450313" y="2124584"/>
            <a:ext cx="2238141" cy="1689192"/>
          </a:xfrm>
          <a:prstGeom prst="roundRect">
            <a:avLst>
              <a:gd name="adj" fmla="val 5109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6624354" y="2867370"/>
            <a:ext cx="1890059" cy="5990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856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Virtualización y Contenerización: La Era de la Densidad y el Software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7090123" y="3606628"/>
            <a:ext cx="958521" cy="2346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7296790" y="2251073"/>
            <a:ext cx="545186" cy="545186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241300" dist="38100" dir="5400000" algn="t" rotWithShape="0">
              <a:schemeClr val="accent1">
                <a:alpha val="29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7322829" y="2277111"/>
            <a:ext cx="493109" cy="49311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90500" dist="38100" dir="5400000" algn="t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7239545" y="2228532"/>
            <a:ext cx="659677" cy="5902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84748" y="4184513"/>
            <a:ext cx="2238141" cy="1689192"/>
          </a:xfrm>
          <a:prstGeom prst="roundRect">
            <a:avLst>
              <a:gd name="adj" fmla="val 5109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2258789" y="4927299"/>
            <a:ext cx="1890059" cy="5990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111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Impacto en la Gestión de Centros de Cómputo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2724558" y="5666557"/>
            <a:ext cx="958521" cy="2346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2931225" y="4311002"/>
            <a:ext cx="545186" cy="545186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241300" dist="38100" dir="5400000" algn="t" rotWithShape="0">
              <a:schemeClr val="accent1">
                <a:alpha val="29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2957264" y="4337040"/>
            <a:ext cx="493109" cy="49311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90500" dist="38100" dir="5400000" algn="t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2873980" y="4288461"/>
            <a:ext cx="659677" cy="5902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05</a:t>
            </a: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4978731" y="4184513"/>
            <a:ext cx="2238141" cy="1689192"/>
          </a:xfrm>
          <a:prstGeom prst="roundRect">
            <a:avLst>
              <a:gd name="adj" fmla="val 5109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5152772" y="4927299"/>
            <a:ext cx="1890059" cy="5990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Oportunidades y Desafíos</a:t>
            </a: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5618541" y="5666557"/>
            <a:ext cx="958521" cy="2346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标题 1"/>
          <p:cNvSpPr txBox="1"/>
          <p:nvPr/>
        </p:nvSpPr>
        <p:spPr>
          <a:xfrm>
            <a:off x="5825208" y="4311002"/>
            <a:ext cx="545186" cy="545186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241300" dist="38100" dir="5400000" algn="t" rotWithShape="0">
              <a:schemeClr val="accent1">
                <a:alpha val="29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>
            <a:off x="5851247" y="4337040"/>
            <a:ext cx="493109" cy="49311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90500" dist="38100" dir="5400000" algn="t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标题 1"/>
          <p:cNvSpPr txBox="1"/>
          <p:nvPr/>
        </p:nvSpPr>
        <p:spPr>
          <a:xfrm>
            <a:off x="5767963" y="4288461"/>
            <a:ext cx="659677" cy="5902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06</a:t>
            </a:r>
            <a:endParaRPr kumimoji="1" lang="zh-CN" altLang="en-US"/>
          </a:p>
        </p:txBody>
      </p:sp>
      <p:sp>
        <p:nvSpPr>
          <p:cNvPr id="41" name="标题 1"/>
          <p:cNvSpPr txBox="1"/>
          <p:nvPr/>
        </p:nvSpPr>
        <p:spPr>
          <a:xfrm>
            <a:off x="7872713" y="4184513"/>
            <a:ext cx="2238141" cy="1689192"/>
          </a:xfrm>
          <a:prstGeom prst="roundRect">
            <a:avLst>
              <a:gd name="adj" fmla="val 5109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标题 1"/>
          <p:cNvSpPr txBox="1"/>
          <p:nvPr/>
        </p:nvSpPr>
        <p:spPr>
          <a:xfrm>
            <a:off x="8046754" y="4927299"/>
            <a:ext cx="1890059" cy="5990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111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Cierre y Retroalimentación Final</a:t>
            </a:r>
            <a:endParaRPr kumimoji="1" lang="zh-CN" altLang="en-US"/>
          </a:p>
        </p:txBody>
      </p:sp>
      <p:sp>
        <p:nvSpPr>
          <p:cNvPr id="43" name="标题 1"/>
          <p:cNvSpPr txBox="1"/>
          <p:nvPr/>
        </p:nvSpPr>
        <p:spPr>
          <a:xfrm>
            <a:off x="8512523" y="5666557"/>
            <a:ext cx="958521" cy="2346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标题 1"/>
          <p:cNvSpPr txBox="1"/>
          <p:nvPr/>
        </p:nvSpPr>
        <p:spPr>
          <a:xfrm>
            <a:off x="8719190" y="4311002"/>
            <a:ext cx="545186" cy="545186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241300" dist="38100" dir="5400000" algn="t" rotWithShape="0">
              <a:schemeClr val="accent1">
                <a:alpha val="29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8745229" y="4337040"/>
            <a:ext cx="493109" cy="49311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90500" dist="38100" dir="5400000" algn="t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661945" y="4288461"/>
            <a:ext cx="659677" cy="5902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07</a:t>
            </a:r>
            <a:endParaRPr kumimoji="1" lang="zh-CN" altLang="en-US"/>
          </a:p>
        </p:txBody>
      </p:sp>
      <p:sp>
        <p:nvSpPr>
          <p:cNvPr id="47" name="标题 1"/>
          <p:cNvSpPr txBox="1"/>
          <p:nvPr/>
        </p:nvSpPr>
        <p:spPr>
          <a:xfrm>
            <a:off x="9258825" y="2146358"/>
            <a:ext cx="2238141" cy="1689192"/>
          </a:xfrm>
          <a:prstGeom prst="roundRect">
            <a:avLst>
              <a:gd name="adj" fmla="val 5109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9432866" y="2889144"/>
            <a:ext cx="1890059" cy="5990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856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IoT (Internet de las Cosas): La Descentralización del Data Center</a:t>
            </a:r>
            <a:endParaRPr kumimoji="1" lang="zh-CN" altLang="en-US"/>
          </a:p>
        </p:txBody>
      </p:sp>
      <p:sp>
        <p:nvSpPr>
          <p:cNvPr id="49" name="标题 1"/>
          <p:cNvSpPr txBox="1"/>
          <p:nvPr/>
        </p:nvSpPr>
        <p:spPr>
          <a:xfrm>
            <a:off x="9898635" y="3628402"/>
            <a:ext cx="958521" cy="2346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标题 1"/>
          <p:cNvSpPr txBox="1"/>
          <p:nvPr/>
        </p:nvSpPr>
        <p:spPr>
          <a:xfrm>
            <a:off x="10105302" y="2251073"/>
            <a:ext cx="545186" cy="545186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241300" dist="38100" dir="5400000" algn="t" rotWithShape="0">
              <a:schemeClr val="accent1">
                <a:alpha val="29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10131341" y="2277111"/>
            <a:ext cx="493109" cy="49311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90500" dist="38100" dir="5400000" algn="t" rotWithShape="0">
              <a:schemeClr val="accent1">
                <a:alpha val="4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标题 1"/>
          <p:cNvSpPr txBox="1"/>
          <p:nvPr/>
        </p:nvSpPr>
        <p:spPr>
          <a:xfrm>
            <a:off x="10048057" y="2228532"/>
            <a:ext cx="659677" cy="59026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04</a:t>
            </a:r>
            <a:endParaRPr kumimoji="1" lang="zh-CN" altLang="en-US"/>
          </a:p>
        </p:txBody>
      </p:sp>
      <p:sp>
        <p:nvSpPr>
          <p:cNvPr id="53" name="标题 1"/>
          <p:cNvSpPr txBox="1"/>
          <p:nvPr/>
        </p:nvSpPr>
        <p:spPr>
          <a:xfrm>
            <a:off x="3514888" y="601487"/>
            <a:ext cx="5723450" cy="12289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8000" dirty="0" err="1">
                <a:ln w="12700">
                  <a:noFill/>
                </a:ln>
                <a:solidFill>
                  <a:srgbClr val="FF0000"/>
                </a:solidFill>
                <a:latin typeface="poppins-bold"/>
                <a:ea typeface="poppins-bold"/>
                <a:cs typeface="poppins-bold"/>
              </a:rPr>
              <a:t>Contenido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54" name="Imagen 53">
            <a:extLst>
              <a:ext uri="{FF2B5EF4-FFF2-40B4-BE49-F238E27FC236}">
                <a16:creationId xmlns:a16="http://schemas.microsoft.com/office/drawing/2014/main" id="{7D6D59D2-124D-B804-3229-775C8EC7DC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5537200" y="2584037"/>
            <a:ext cx="5203029" cy="531018"/>
          </a:xfrm>
          <a:custGeom>
            <a:avLst/>
            <a:gdLst>
              <a:gd name="connsiteX0" fmla="*/ 3412998 w 3429190"/>
              <a:gd name="connsiteY0" fmla="*/ 0 h 531018"/>
              <a:gd name="connsiteX1" fmla="*/ 3062859 w 3429190"/>
              <a:gd name="connsiteY1" fmla="*/ 331280 h 531018"/>
              <a:gd name="connsiteX2" fmla="*/ 2359533 w 3429190"/>
              <a:gd name="connsiteY2" fmla="*/ 512064 h 531018"/>
              <a:gd name="connsiteX3" fmla="*/ 0 w 3429190"/>
              <a:gd name="connsiteY3" fmla="*/ 512064 h 531018"/>
              <a:gd name="connsiteX4" fmla="*/ 381 w 3429190"/>
              <a:gd name="connsiteY4" fmla="*/ 519112 h 531018"/>
              <a:gd name="connsiteX5" fmla="*/ 1238 w 3429190"/>
              <a:gd name="connsiteY5" fmla="*/ 531019 h 531018"/>
              <a:gd name="connsiteX6" fmla="*/ 2359438 w 3429190"/>
              <a:gd name="connsiteY6" fmla="*/ 531019 h 531018"/>
              <a:gd name="connsiteX7" fmla="*/ 3072194 w 3429190"/>
              <a:gd name="connsiteY7" fmla="*/ 347758 h 531018"/>
              <a:gd name="connsiteX8" fmla="*/ 3429191 w 3429190"/>
              <a:gd name="connsiteY8" fmla="*/ 9811 h 531018"/>
              <a:gd name="connsiteX9" fmla="*/ 3412998 w 3429190"/>
              <a:gd name="connsiteY9" fmla="*/ 0 h 531018"/>
            </a:gdLst>
            <a:ahLst/>
            <a:cxnLst/>
            <a:rect l="l" t="t" r="r" b="b"/>
            <a:pathLst>
              <a:path w="3429190" h="531018">
                <a:moveTo>
                  <a:pt x="3412998" y="0"/>
                </a:moveTo>
                <a:cubicBezTo>
                  <a:pt x="3335179" y="129730"/>
                  <a:pt x="3217355" y="241173"/>
                  <a:pt x="3062859" y="331280"/>
                </a:cubicBezTo>
                <a:cubicBezTo>
                  <a:pt x="2859881" y="449580"/>
                  <a:pt x="2616708" y="512064"/>
                  <a:pt x="2359533" y="512064"/>
                </a:cubicBezTo>
                <a:lnTo>
                  <a:pt x="0" y="512064"/>
                </a:lnTo>
                <a:cubicBezTo>
                  <a:pt x="191" y="514445"/>
                  <a:pt x="381" y="516731"/>
                  <a:pt x="381" y="519112"/>
                </a:cubicBezTo>
                <a:cubicBezTo>
                  <a:pt x="953" y="523113"/>
                  <a:pt x="1238" y="527018"/>
                  <a:pt x="1238" y="531019"/>
                </a:cubicBezTo>
                <a:lnTo>
                  <a:pt x="2359438" y="531019"/>
                </a:lnTo>
                <a:cubicBezTo>
                  <a:pt x="2619851" y="531019"/>
                  <a:pt x="2866454" y="467582"/>
                  <a:pt x="3072194" y="347758"/>
                </a:cubicBezTo>
                <a:cubicBezTo>
                  <a:pt x="3229547" y="256032"/>
                  <a:pt x="3349657" y="142303"/>
                  <a:pt x="3429191" y="9811"/>
                </a:cubicBezTo>
                <a:lnTo>
                  <a:pt x="3412998" y="0"/>
                </a:lnTo>
                <a:close/>
              </a:path>
            </a:pathLst>
          </a:custGeom>
          <a:solidFill>
            <a:schemeClr val="accent1"/>
          </a:solidFill>
          <a:ln w="2857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707753" y="2164061"/>
            <a:ext cx="305938" cy="378832"/>
          </a:xfrm>
          <a:custGeom>
            <a:avLst/>
            <a:gdLst>
              <a:gd name="connsiteX0" fmla="*/ 303938 w 305938"/>
              <a:gd name="connsiteY0" fmla="*/ 316058 h 378832"/>
              <a:gd name="connsiteX1" fmla="*/ 305939 w 305938"/>
              <a:gd name="connsiteY1" fmla="*/ 4876 h 378832"/>
              <a:gd name="connsiteX2" fmla="*/ 299462 w 305938"/>
              <a:gd name="connsiteY2" fmla="*/ 780 h 378832"/>
              <a:gd name="connsiteX3" fmla="*/ 4663 w 305938"/>
              <a:gd name="connsiteY3" fmla="*/ 222618 h 378832"/>
              <a:gd name="connsiteX4" fmla="*/ 8378 w 305938"/>
              <a:gd name="connsiteY4" fmla="*/ 244620 h 378832"/>
              <a:gd name="connsiteX5" fmla="*/ 93055 w 305938"/>
              <a:gd name="connsiteY5" fmla="*/ 269385 h 378832"/>
              <a:gd name="connsiteX6" fmla="*/ 264314 w 305938"/>
              <a:gd name="connsiteY6" fmla="*/ 76123 h 378832"/>
              <a:gd name="connsiteX7" fmla="*/ 127154 w 305938"/>
              <a:gd name="connsiteY7" fmla="*/ 285578 h 378832"/>
              <a:gd name="connsiteX8" fmla="*/ 134679 w 305938"/>
              <a:gd name="connsiteY8" fmla="*/ 367588 h 378832"/>
              <a:gd name="connsiteX9" fmla="*/ 155063 w 305938"/>
              <a:gd name="connsiteY9" fmla="*/ 372160 h 378832"/>
              <a:gd name="connsiteX10" fmla="*/ 186781 w 305938"/>
              <a:gd name="connsiteY10" fmla="*/ 298056 h 378832"/>
              <a:gd name="connsiteX11" fmla="*/ 290984 w 305938"/>
              <a:gd name="connsiteY11" fmla="*/ 327393 h 378832"/>
              <a:gd name="connsiteX12" fmla="*/ 303938 w 305938"/>
              <a:gd name="connsiteY12" fmla="*/ 316058 h 378832"/>
            </a:gdLst>
            <a:ahLst/>
            <a:cxnLst/>
            <a:rect l="l" t="t" r="r" b="b"/>
            <a:pathLst>
              <a:path w="305938" h="378832">
                <a:moveTo>
                  <a:pt x="303938" y="316058"/>
                </a:moveTo>
                <a:lnTo>
                  <a:pt x="305939" y="4876"/>
                </a:lnTo>
                <a:cubicBezTo>
                  <a:pt x="305939" y="1066"/>
                  <a:pt x="302224" y="-1315"/>
                  <a:pt x="299462" y="780"/>
                </a:cubicBezTo>
                <a:lnTo>
                  <a:pt x="4663" y="222618"/>
                </a:lnTo>
                <a:cubicBezTo>
                  <a:pt x="-3052" y="228428"/>
                  <a:pt x="-766" y="241953"/>
                  <a:pt x="8378" y="244620"/>
                </a:cubicBezTo>
                <a:lnTo>
                  <a:pt x="93055" y="269385"/>
                </a:lnTo>
                <a:lnTo>
                  <a:pt x="264314" y="76123"/>
                </a:lnTo>
                <a:lnTo>
                  <a:pt x="127154" y="285578"/>
                </a:lnTo>
                <a:lnTo>
                  <a:pt x="134679" y="367588"/>
                </a:lnTo>
                <a:cubicBezTo>
                  <a:pt x="135822" y="379875"/>
                  <a:pt x="150395" y="383114"/>
                  <a:pt x="155063" y="372160"/>
                </a:cubicBezTo>
                <a:lnTo>
                  <a:pt x="186781" y="298056"/>
                </a:lnTo>
                <a:lnTo>
                  <a:pt x="290984" y="327393"/>
                </a:lnTo>
                <a:cubicBezTo>
                  <a:pt x="297557" y="329393"/>
                  <a:pt x="303843" y="323868"/>
                  <a:pt x="303938" y="31605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527520" y="359502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IA (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Inteligencia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Artificial): De la Gestión Manual a la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Autonomía</a:t>
            </a:r>
            <a:endParaRPr kumimoji="1" lang="zh-CN" alt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DBCCCD1-6D12-50A7-F323-DCCF852AD9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0860855" y="4729698"/>
            <a:ext cx="711153" cy="711150"/>
          </a:xfrm>
          <a:prstGeom prst="ellipse">
            <a:avLst/>
          </a:prstGeom>
          <a:noFill/>
          <a:ln w="190500" cap="rnd">
            <a:solidFill>
              <a:schemeClr val="accent2"/>
            </a:solidFill>
            <a:round/>
            <a:headEnd/>
            <a:tailEnd/>
          </a:ln>
          <a:effectLst>
            <a:outerShdw blurRad="254000" dist="127000" algn="ctr" rotWithShape="0">
              <a:schemeClr val="accent2"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5400000">
            <a:off x="3941031" y="-1978025"/>
            <a:ext cx="3338388" cy="11220450"/>
          </a:xfrm>
          <a:prstGeom prst="round2SameRect">
            <a:avLst>
              <a:gd name="adj1" fmla="val 6776"/>
              <a:gd name="adj2" fmla="val 0"/>
            </a:avLst>
          </a:prstGeom>
          <a:solidFill>
            <a:schemeClr val="bg1"/>
          </a:solidFill>
          <a:ln w="12700" cap="rnd">
            <a:noFill/>
            <a:round/>
            <a:headEnd/>
            <a:tailEnd/>
          </a:ln>
          <a:effectLst>
            <a:outerShdw blurRad="254000" dist="127000" algn="ctr" rotWithShape="0">
              <a:schemeClr val="bg1">
                <a:lumMod val="65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27819" y="2559941"/>
            <a:ext cx="444222" cy="444220"/>
          </a:xfrm>
          <a:prstGeom prst="ellipse">
            <a:avLst/>
          </a:prstGeom>
          <a:solidFill>
            <a:schemeClr val="accent1"/>
          </a:solidFill>
          <a:ln w="12700" cap="rnd">
            <a:noFill/>
            <a:round/>
            <a:headEnd/>
            <a:tailEnd/>
          </a:ln>
          <a:effectLst>
            <a:outerShdw blurRad="254000" dist="127000" algn="ctr" rotWithShape="0">
              <a:schemeClr val="accent1"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359932" y="2679271"/>
            <a:ext cx="179995" cy="205561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ahLst/>
            <a:cxnLst/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796296" y="2426220"/>
            <a:ext cx="3679198" cy="720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Mantenimiento Predictivo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251817" y="3288277"/>
            <a:ext cx="4223677" cy="154286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1"/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En lugar de reaccionar a fallos, la IA analiza la telemetría de miles de sensores (temperatura, vibración, logs) para predecir cuándo fallará un disco duro, un ventilador o una PDU (Unidad de Distribución de Energía).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5990009" y="2559941"/>
            <a:ext cx="444222" cy="444220"/>
          </a:xfrm>
          <a:prstGeom prst="ellipse">
            <a:avLst/>
          </a:prstGeom>
          <a:solidFill>
            <a:schemeClr val="accent1"/>
          </a:solidFill>
          <a:ln w="12700" cap="rnd">
            <a:noFill/>
            <a:round/>
            <a:headEnd/>
            <a:tailEnd/>
          </a:ln>
          <a:effectLst>
            <a:outerShdw blurRad="254000" dist="127000" algn="ctr" rotWithShape="0">
              <a:schemeClr val="accent1">
                <a:alpha val="3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098003" y="2673586"/>
            <a:ext cx="216443" cy="209460"/>
          </a:xfrm>
          <a:custGeom>
            <a:avLst/>
            <a:gdLst>
              <a:gd name="connsiteX0" fmla="*/ 311954 w 744004"/>
              <a:gd name="connsiteY0" fmla="*/ 337123 h 720001"/>
              <a:gd name="connsiteX1" fmla="*/ 168770 w 744004"/>
              <a:gd name="connsiteY1" fmla="*/ 337123 h 720001"/>
              <a:gd name="connsiteX2" fmla="*/ 49673 w 744004"/>
              <a:gd name="connsiteY2" fmla="*/ 287618 h 720001"/>
              <a:gd name="connsiteX3" fmla="*/ 167 w 744004"/>
              <a:gd name="connsiteY3" fmla="*/ 168520 h 720001"/>
              <a:gd name="connsiteX4" fmla="*/ 49590 w 744004"/>
              <a:gd name="connsiteY4" fmla="*/ 49507 h 720001"/>
              <a:gd name="connsiteX5" fmla="*/ 168687 w 744004"/>
              <a:gd name="connsiteY5" fmla="*/ 0 h 720001"/>
              <a:gd name="connsiteX6" fmla="*/ 287784 w 744004"/>
              <a:gd name="connsiteY6" fmla="*/ 49507 h 720001"/>
              <a:gd name="connsiteX7" fmla="*/ 337290 w 744004"/>
              <a:gd name="connsiteY7" fmla="*/ 168604 h 720001"/>
              <a:gd name="connsiteX8" fmla="*/ 337290 w 744004"/>
              <a:gd name="connsiteY8" fmla="*/ 311787 h 720001"/>
              <a:gd name="connsiteX9" fmla="*/ 311954 w 744004"/>
              <a:gd name="connsiteY9" fmla="*/ 337123 h 720001"/>
              <a:gd name="connsiteX10" fmla="*/ 575401 w 744004"/>
              <a:gd name="connsiteY10" fmla="*/ 337207 h 720001"/>
              <a:gd name="connsiteX11" fmla="*/ 432218 w 744004"/>
              <a:gd name="connsiteY11" fmla="*/ 337207 h 720001"/>
              <a:gd name="connsiteX12" fmla="*/ 406882 w 744004"/>
              <a:gd name="connsiteY12" fmla="*/ 311870 h 720001"/>
              <a:gd name="connsiteX13" fmla="*/ 406882 w 744004"/>
              <a:gd name="connsiteY13" fmla="*/ 168687 h 720001"/>
              <a:gd name="connsiteX14" fmla="*/ 456387 w 744004"/>
              <a:gd name="connsiteY14" fmla="*/ 49590 h 720001"/>
              <a:gd name="connsiteX15" fmla="*/ 575401 w 744004"/>
              <a:gd name="connsiteY15" fmla="*/ 0 h 720001"/>
              <a:gd name="connsiteX16" fmla="*/ 694498 w 744004"/>
              <a:gd name="connsiteY16" fmla="*/ 49507 h 720001"/>
              <a:gd name="connsiteX17" fmla="*/ 744004 w 744004"/>
              <a:gd name="connsiteY17" fmla="*/ 168604 h 720001"/>
              <a:gd name="connsiteX18" fmla="*/ 694498 w 744004"/>
              <a:gd name="connsiteY18" fmla="*/ 287701 h 720001"/>
              <a:gd name="connsiteX19" fmla="*/ 575401 w 744004"/>
              <a:gd name="connsiteY19" fmla="*/ 337207 h 720001"/>
              <a:gd name="connsiteX20" fmla="*/ 168604 w 744004"/>
              <a:gd name="connsiteY20" fmla="*/ 720001 h 720001"/>
              <a:gd name="connsiteX21" fmla="*/ 49507 w 744004"/>
              <a:gd name="connsiteY21" fmla="*/ 670495 h 720001"/>
              <a:gd name="connsiteX22" fmla="*/ 0 w 744004"/>
              <a:gd name="connsiteY22" fmla="*/ 551398 h 720001"/>
              <a:gd name="connsiteX23" fmla="*/ 49507 w 744004"/>
              <a:gd name="connsiteY23" fmla="*/ 432301 h 720001"/>
              <a:gd name="connsiteX24" fmla="*/ 168687 w 744004"/>
              <a:gd name="connsiteY24" fmla="*/ 382879 h 720001"/>
              <a:gd name="connsiteX25" fmla="*/ 311871 w 744004"/>
              <a:gd name="connsiteY25" fmla="*/ 382879 h 720001"/>
              <a:gd name="connsiteX26" fmla="*/ 337207 w 744004"/>
              <a:gd name="connsiteY26" fmla="*/ 408215 h 720001"/>
              <a:gd name="connsiteX27" fmla="*/ 337207 w 744004"/>
              <a:gd name="connsiteY27" fmla="*/ 551398 h 720001"/>
              <a:gd name="connsiteX28" fmla="*/ 287701 w 744004"/>
              <a:gd name="connsiteY28" fmla="*/ 670495 h 720001"/>
              <a:gd name="connsiteX29" fmla="*/ 168604 w 744004"/>
              <a:gd name="connsiteY29" fmla="*/ 720001 h 720001"/>
              <a:gd name="connsiteX30" fmla="*/ 575401 w 744004"/>
              <a:gd name="connsiteY30" fmla="*/ 720001 h 720001"/>
              <a:gd name="connsiteX31" fmla="*/ 456304 w 744004"/>
              <a:gd name="connsiteY31" fmla="*/ 670495 h 720001"/>
              <a:gd name="connsiteX32" fmla="*/ 406798 w 744004"/>
              <a:gd name="connsiteY32" fmla="*/ 551398 h 720001"/>
              <a:gd name="connsiteX33" fmla="*/ 406798 w 744004"/>
              <a:gd name="connsiteY33" fmla="*/ 408215 h 720001"/>
              <a:gd name="connsiteX34" fmla="*/ 432218 w 744004"/>
              <a:gd name="connsiteY34" fmla="*/ 382879 h 720001"/>
              <a:gd name="connsiteX35" fmla="*/ 575401 w 744004"/>
              <a:gd name="connsiteY35" fmla="*/ 382879 h 720001"/>
              <a:gd name="connsiteX36" fmla="*/ 694498 w 744004"/>
              <a:gd name="connsiteY36" fmla="*/ 432385 h 720001"/>
              <a:gd name="connsiteX37" fmla="*/ 744004 w 744004"/>
              <a:gd name="connsiteY37" fmla="*/ 551398 h 720001"/>
              <a:gd name="connsiteX38" fmla="*/ 694498 w 744004"/>
              <a:gd name="connsiteY38" fmla="*/ 670495 h 720001"/>
              <a:gd name="connsiteX39" fmla="*/ 575401 w 744004"/>
              <a:gd name="connsiteY39" fmla="*/ 720001 h 720001"/>
            </a:gdLst>
            <a:ahLst/>
            <a:cxnLst/>
            <a:rect l="l" t="t" r="r" b="b"/>
            <a:pathLst>
              <a:path w="744004" h="720001">
                <a:moveTo>
                  <a:pt x="311954" y="337123"/>
                </a:moveTo>
                <a:lnTo>
                  <a:pt x="168770" y="337123"/>
                </a:lnTo>
                <a:cubicBezTo>
                  <a:pt x="123932" y="337123"/>
                  <a:pt x="81594" y="319538"/>
                  <a:pt x="49673" y="287618"/>
                </a:cubicBezTo>
                <a:cubicBezTo>
                  <a:pt x="17753" y="255697"/>
                  <a:pt x="167" y="213442"/>
                  <a:pt x="167" y="168520"/>
                </a:cubicBezTo>
                <a:cubicBezTo>
                  <a:pt x="167" y="123598"/>
                  <a:pt x="17669" y="81427"/>
                  <a:pt x="49590" y="49507"/>
                </a:cubicBezTo>
                <a:cubicBezTo>
                  <a:pt x="81510" y="17586"/>
                  <a:pt x="123848" y="0"/>
                  <a:pt x="168687" y="0"/>
                </a:cubicBezTo>
                <a:cubicBezTo>
                  <a:pt x="213526" y="0"/>
                  <a:pt x="255864" y="17586"/>
                  <a:pt x="287784" y="49507"/>
                </a:cubicBezTo>
                <a:cubicBezTo>
                  <a:pt x="319705" y="81427"/>
                  <a:pt x="337290" y="123682"/>
                  <a:pt x="337290" y="168604"/>
                </a:cubicBezTo>
                <a:lnTo>
                  <a:pt x="337290" y="311787"/>
                </a:lnTo>
                <a:cubicBezTo>
                  <a:pt x="337290" y="325789"/>
                  <a:pt x="325956" y="337123"/>
                  <a:pt x="311954" y="337123"/>
                </a:cubicBezTo>
                <a:close/>
                <a:moveTo>
                  <a:pt x="575401" y="337207"/>
                </a:moveTo>
                <a:lnTo>
                  <a:pt x="432218" y="337207"/>
                </a:lnTo>
                <a:cubicBezTo>
                  <a:pt x="418216" y="337207"/>
                  <a:pt x="406882" y="325872"/>
                  <a:pt x="406882" y="311870"/>
                </a:cubicBezTo>
                <a:lnTo>
                  <a:pt x="406882" y="168687"/>
                </a:lnTo>
                <a:cubicBezTo>
                  <a:pt x="406882" y="123849"/>
                  <a:pt x="424467" y="81510"/>
                  <a:pt x="456387" y="49590"/>
                </a:cubicBezTo>
                <a:cubicBezTo>
                  <a:pt x="488308" y="17669"/>
                  <a:pt x="530563" y="0"/>
                  <a:pt x="575401" y="0"/>
                </a:cubicBezTo>
                <a:cubicBezTo>
                  <a:pt x="620240" y="0"/>
                  <a:pt x="662578" y="17586"/>
                  <a:pt x="694498" y="49507"/>
                </a:cubicBezTo>
                <a:cubicBezTo>
                  <a:pt x="726419" y="81427"/>
                  <a:pt x="744004" y="123765"/>
                  <a:pt x="744004" y="168604"/>
                </a:cubicBezTo>
                <a:cubicBezTo>
                  <a:pt x="744004" y="213442"/>
                  <a:pt x="726419" y="255780"/>
                  <a:pt x="694498" y="287701"/>
                </a:cubicBezTo>
                <a:cubicBezTo>
                  <a:pt x="662578" y="319621"/>
                  <a:pt x="620323" y="337207"/>
                  <a:pt x="575401" y="337207"/>
                </a:cubicBezTo>
                <a:close/>
                <a:moveTo>
                  <a:pt x="168604" y="720001"/>
                </a:moveTo>
                <a:cubicBezTo>
                  <a:pt x="123682" y="720001"/>
                  <a:pt x="81427" y="702416"/>
                  <a:pt x="49507" y="670495"/>
                </a:cubicBezTo>
                <a:cubicBezTo>
                  <a:pt x="17586" y="638575"/>
                  <a:pt x="0" y="596320"/>
                  <a:pt x="0" y="551398"/>
                </a:cubicBezTo>
                <a:cubicBezTo>
                  <a:pt x="0" y="506476"/>
                  <a:pt x="17586" y="464221"/>
                  <a:pt x="49507" y="432301"/>
                </a:cubicBezTo>
                <a:cubicBezTo>
                  <a:pt x="81510" y="400464"/>
                  <a:pt x="123848" y="382879"/>
                  <a:pt x="168687" y="382879"/>
                </a:cubicBezTo>
                <a:lnTo>
                  <a:pt x="311871" y="382879"/>
                </a:lnTo>
                <a:cubicBezTo>
                  <a:pt x="325872" y="382879"/>
                  <a:pt x="337207" y="394297"/>
                  <a:pt x="337207" y="408215"/>
                </a:cubicBezTo>
                <a:lnTo>
                  <a:pt x="337207" y="551398"/>
                </a:lnTo>
                <a:cubicBezTo>
                  <a:pt x="337207" y="596237"/>
                  <a:pt x="319621" y="638575"/>
                  <a:pt x="287701" y="670495"/>
                </a:cubicBezTo>
                <a:cubicBezTo>
                  <a:pt x="255781" y="702416"/>
                  <a:pt x="213526" y="720001"/>
                  <a:pt x="168604" y="720001"/>
                </a:cubicBezTo>
                <a:close/>
                <a:moveTo>
                  <a:pt x="575401" y="720001"/>
                </a:moveTo>
                <a:cubicBezTo>
                  <a:pt x="530563" y="720001"/>
                  <a:pt x="488224" y="702416"/>
                  <a:pt x="456304" y="670495"/>
                </a:cubicBezTo>
                <a:cubicBezTo>
                  <a:pt x="424383" y="638575"/>
                  <a:pt x="406798" y="596320"/>
                  <a:pt x="406798" y="551398"/>
                </a:cubicBezTo>
                <a:lnTo>
                  <a:pt x="406798" y="408215"/>
                </a:lnTo>
                <a:cubicBezTo>
                  <a:pt x="406882" y="394213"/>
                  <a:pt x="418216" y="382879"/>
                  <a:pt x="432218" y="382879"/>
                </a:cubicBezTo>
                <a:lnTo>
                  <a:pt x="575401" y="382879"/>
                </a:lnTo>
                <a:cubicBezTo>
                  <a:pt x="620240" y="382879"/>
                  <a:pt x="662578" y="400464"/>
                  <a:pt x="694498" y="432385"/>
                </a:cubicBezTo>
                <a:cubicBezTo>
                  <a:pt x="726419" y="464305"/>
                  <a:pt x="744004" y="506560"/>
                  <a:pt x="744004" y="551398"/>
                </a:cubicBezTo>
                <a:cubicBezTo>
                  <a:pt x="744004" y="596237"/>
                  <a:pt x="726419" y="638575"/>
                  <a:pt x="694498" y="670495"/>
                </a:cubicBezTo>
                <a:cubicBezTo>
                  <a:pt x="662578" y="702416"/>
                  <a:pt x="620323" y="720001"/>
                  <a:pt x="575401" y="720001"/>
                </a:cubicBezTo>
                <a:close/>
              </a:path>
            </a:pathLst>
          </a:custGeom>
          <a:solidFill>
            <a:schemeClr val="bg1"/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623212" y="2426220"/>
            <a:ext cx="3679197" cy="72000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Detección de Anomalías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078734" y="3288277"/>
            <a:ext cx="4223677" cy="154286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Identifica patrones de tráfico de red o de uso de CPU que son anómalos, alertando sobre posibles brechas de seguridad o fallos de aplicación antes de que se vuelvan críticos.</a:t>
            </a:r>
            <a:endParaRPr kumimoji="1" lang="zh-CN" altLang="en-US" sz="1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AIOps (Gestión de Operaciones)</a:t>
            </a:r>
            <a:endParaRPr kumimoji="1" lang="zh-CN" alt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B4AD9DE-66A6-C1A9-E0D6-32B6A02F32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36600" y="4118011"/>
            <a:ext cx="5045100" cy="432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Optimización de Cargas (Workloads)</a:t>
            </a: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736600" y="4594631"/>
            <a:ext cx="5045100" cy="145995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La IA puede mover cargas de trabajo (</a:t>
            </a:r>
            <a:r>
              <a:rPr kumimoji="1" lang="es-EC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VMs</a:t>
            </a:r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, contenedores) entre servidores host automáticamente, no solo para balancear el rendimiento, sino para optimar el consumo de energía.</a:t>
            </a:r>
          </a:p>
          <a:p>
            <a:pPr algn="ctr"/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.</a:t>
            </a:r>
            <a:endParaRPr kumimoji="1" lang="zh-CN" altLang="en-US" sz="1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6397600" y="4181711"/>
            <a:ext cx="5054600" cy="2667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>
            <a:spAutoFit/>
          </a:bodyPr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Optimización de la Refrigeración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397600" y="4594631"/>
            <a:ext cx="5057800" cy="17963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1"/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Modula dinámicamente los sistemas de enfriamiento (CRAC/CRAH) basándose en las "zonas calientes" (</a:t>
            </a:r>
            <a:r>
              <a:rPr kumimoji="1" lang="es-EC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hot</a:t>
            </a:r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spots) en tiempo real, en lugar de </a:t>
            </a:r>
            <a:r>
              <a:rPr kumimoji="1" lang="es-EC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sobre-enfriar</a:t>
            </a:r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todo el data center, reduciendo drásticamente el PUE (</a:t>
            </a:r>
            <a:r>
              <a:rPr kumimoji="1" lang="es-EC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Power</a:t>
            </a:r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s-EC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Usage</a:t>
            </a:r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s-EC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Effectiveness</a:t>
            </a:r>
            <a:r>
              <a:rPr kumimoji="1" lang="es-EC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).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alphaModFix/>
          </a:blip>
          <a:srcRect l="428" t="31271" r="428" b="13434"/>
          <a:stretch>
            <a:fillRect/>
          </a:stretch>
        </p:blipFill>
        <p:spPr>
          <a:xfrm>
            <a:off x="673100" y="1380436"/>
            <a:ext cx="10845800" cy="2520000"/>
          </a:xfrm>
          <a:custGeom>
            <a:avLst/>
            <a:gdLst/>
            <a:ahLst/>
            <a:cxnLst/>
            <a:rect l="l" t="t" r="r" b="b"/>
            <a:pathLst>
              <a:path w="10845800" h="2520000">
                <a:moveTo>
                  <a:pt x="0" y="0"/>
                </a:moveTo>
                <a:lnTo>
                  <a:pt x="10845800" y="0"/>
                </a:lnTo>
                <a:lnTo>
                  <a:pt x="10845800" y="2520000"/>
                </a:lnTo>
                <a:lnTo>
                  <a:pt x="0" y="252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7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Gestión de la Infraestructura Física (DCIM)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3F93F77-D850-80D6-2F31-7ADA1BC853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5537200" y="2584037"/>
            <a:ext cx="5203029" cy="531018"/>
          </a:xfrm>
          <a:custGeom>
            <a:avLst/>
            <a:gdLst>
              <a:gd name="connsiteX0" fmla="*/ 3412998 w 3429190"/>
              <a:gd name="connsiteY0" fmla="*/ 0 h 531018"/>
              <a:gd name="connsiteX1" fmla="*/ 3062859 w 3429190"/>
              <a:gd name="connsiteY1" fmla="*/ 331280 h 531018"/>
              <a:gd name="connsiteX2" fmla="*/ 2359533 w 3429190"/>
              <a:gd name="connsiteY2" fmla="*/ 512064 h 531018"/>
              <a:gd name="connsiteX3" fmla="*/ 0 w 3429190"/>
              <a:gd name="connsiteY3" fmla="*/ 512064 h 531018"/>
              <a:gd name="connsiteX4" fmla="*/ 381 w 3429190"/>
              <a:gd name="connsiteY4" fmla="*/ 519112 h 531018"/>
              <a:gd name="connsiteX5" fmla="*/ 1238 w 3429190"/>
              <a:gd name="connsiteY5" fmla="*/ 531019 h 531018"/>
              <a:gd name="connsiteX6" fmla="*/ 2359438 w 3429190"/>
              <a:gd name="connsiteY6" fmla="*/ 531019 h 531018"/>
              <a:gd name="connsiteX7" fmla="*/ 3072194 w 3429190"/>
              <a:gd name="connsiteY7" fmla="*/ 347758 h 531018"/>
              <a:gd name="connsiteX8" fmla="*/ 3429191 w 3429190"/>
              <a:gd name="connsiteY8" fmla="*/ 9811 h 531018"/>
              <a:gd name="connsiteX9" fmla="*/ 3412998 w 3429190"/>
              <a:gd name="connsiteY9" fmla="*/ 0 h 531018"/>
            </a:gdLst>
            <a:ahLst/>
            <a:cxnLst/>
            <a:rect l="l" t="t" r="r" b="b"/>
            <a:pathLst>
              <a:path w="3429190" h="531018">
                <a:moveTo>
                  <a:pt x="3412998" y="0"/>
                </a:moveTo>
                <a:cubicBezTo>
                  <a:pt x="3335179" y="129730"/>
                  <a:pt x="3217355" y="241173"/>
                  <a:pt x="3062859" y="331280"/>
                </a:cubicBezTo>
                <a:cubicBezTo>
                  <a:pt x="2859881" y="449580"/>
                  <a:pt x="2616708" y="512064"/>
                  <a:pt x="2359533" y="512064"/>
                </a:cubicBezTo>
                <a:lnTo>
                  <a:pt x="0" y="512064"/>
                </a:lnTo>
                <a:cubicBezTo>
                  <a:pt x="191" y="514445"/>
                  <a:pt x="381" y="516731"/>
                  <a:pt x="381" y="519112"/>
                </a:cubicBezTo>
                <a:cubicBezTo>
                  <a:pt x="953" y="523113"/>
                  <a:pt x="1238" y="527018"/>
                  <a:pt x="1238" y="531019"/>
                </a:cubicBezTo>
                <a:lnTo>
                  <a:pt x="2359438" y="531019"/>
                </a:lnTo>
                <a:cubicBezTo>
                  <a:pt x="2619851" y="531019"/>
                  <a:pt x="2866454" y="467582"/>
                  <a:pt x="3072194" y="347758"/>
                </a:cubicBezTo>
                <a:cubicBezTo>
                  <a:pt x="3229547" y="256032"/>
                  <a:pt x="3349657" y="142303"/>
                  <a:pt x="3429191" y="9811"/>
                </a:cubicBezTo>
                <a:lnTo>
                  <a:pt x="3412998" y="0"/>
                </a:lnTo>
                <a:close/>
              </a:path>
            </a:pathLst>
          </a:custGeom>
          <a:solidFill>
            <a:schemeClr val="accent1"/>
          </a:solidFill>
          <a:ln w="2857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707753" y="2164061"/>
            <a:ext cx="305938" cy="378832"/>
          </a:xfrm>
          <a:custGeom>
            <a:avLst/>
            <a:gdLst>
              <a:gd name="connsiteX0" fmla="*/ 303938 w 305938"/>
              <a:gd name="connsiteY0" fmla="*/ 316058 h 378832"/>
              <a:gd name="connsiteX1" fmla="*/ 305939 w 305938"/>
              <a:gd name="connsiteY1" fmla="*/ 4876 h 378832"/>
              <a:gd name="connsiteX2" fmla="*/ 299462 w 305938"/>
              <a:gd name="connsiteY2" fmla="*/ 780 h 378832"/>
              <a:gd name="connsiteX3" fmla="*/ 4663 w 305938"/>
              <a:gd name="connsiteY3" fmla="*/ 222618 h 378832"/>
              <a:gd name="connsiteX4" fmla="*/ 8378 w 305938"/>
              <a:gd name="connsiteY4" fmla="*/ 244620 h 378832"/>
              <a:gd name="connsiteX5" fmla="*/ 93055 w 305938"/>
              <a:gd name="connsiteY5" fmla="*/ 269385 h 378832"/>
              <a:gd name="connsiteX6" fmla="*/ 264314 w 305938"/>
              <a:gd name="connsiteY6" fmla="*/ 76123 h 378832"/>
              <a:gd name="connsiteX7" fmla="*/ 127154 w 305938"/>
              <a:gd name="connsiteY7" fmla="*/ 285578 h 378832"/>
              <a:gd name="connsiteX8" fmla="*/ 134679 w 305938"/>
              <a:gd name="connsiteY8" fmla="*/ 367588 h 378832"/>
              <a:gd name="connsiteX9" fmla="*/ 155063 w 305938"/>
              <a:gd name="connsiteY9" fmla="*/ 372160 h 378832"/>
              <a:gd name="connsiteX10" fmla="*/ 186781 w 305938"/>
              <a:gd name="connsiteY10" fmla="*/ 298056 h 378832"/>
              <a:gd name="connsiteX11" fmla="*/ 290984 w 305938"/>
              <a:gd name="connsiteY11" fmla="*/ 327393 h 378832"/>
              <a:gd name="connsiteX12" fmla="*/ 303938 w 305938"/>
              <a:gd name="connsiteY12" fmla="*/ 316058 h 378832"/>
            </a:gdLst>
            <a:ahLst/>
            <a:cxnLst/>
            <a:rect l="l" t="t" r="r" b="b"/>
            <a:pathLst>
              <a:path w="305938" h="378832">
                <a:moveTo>
                  <a:pt x="303938" y="316058"/>
                </a:moveTo>
                <a:lnTo>
                  <a:pt x="305939" y="4876"/>
                </a:lnTo>
                <a:cubicBezTo>
                  <a:pt x="305939" y="1066"/>
                  <a:pt x="302224" y="-1315"/>
                  <a:pt x="299462" y="780"/>
                </a:cubicBezTo>
                <a:lnTo>
                  <a:pt x="4663" y="222618"/>
                </a:lnTo>
                <a:cubicBezTo>
                  <a:pt x="-3052" y="228428"/>
                  <a:pt x="-766" y="241953"/>
                  <a:pt x="8378" y="244620"/>
                </a:cubicBezTo>
                <a:lnTo>
                  <a:pt x="93055" y="269385"/>
                </a:lnTo>
                <a:lnTo>
                  <a:pt x="264314" y="76123"/>
                </a:lnTo>
                <a:lnTo>
                  <a:pt x="127154" y="285578"/>
                </a:lnTo>
                <a:lnTo>
                  <a:pt x="134679" y="367588"/>
                </a:lnTo>
                <a:cubicBezTo>
                  <a:pt x="135822" y="379875"/>
                  <a:pt x="150395" y="383114"/>
                  <a:pt x="155063" y="372160"/>
                </a:cubicBezTo>
                <a:lnTo>
                  <a:pt x="186781" y="298056"/>
                </a:lnTo>
                <a:lnTo>
                  <a:pt x="290984" y="327393"/>
                </a:lnTo>
                <a:cubicBezTo>
                  <a:pt x="297557" y="329393"/>
                  <a:pt x="303843" y="323868"/>
                  <a:pt x="303938" y="31605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Big Data: El Desafío del Almacenamiento y la Gobernanza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B22D869-E54A-6F45-AC3E-D05B2D4D39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139379" y="1430290"/>
            <a:ext cx="5438140" cy="4134678"/>
          </a:xfrm>
          <a:prstGeom prst="roundRect">
            <a:avLst>
              <a:gd name="adj" fmla="val 3148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  <a:effectLst>
            <a:outerShdw dist="88900" dir="2340000" algn="ctr" rotWithShape="0">
              <a:schemeClr val="accent3">
                <a:alpha val="10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r>
              <a:rPr lang="es-EC" b="1" dirty="0"/>
              <a:t>Definido por Software (SDS)</a:t>
            </a:r>
            <a:r>
              <a:rPr lang="es-EC" dirty="0"/>
              <a:t> y </a:t>
            </a:r>
            <a:r>
              <a:rPr lang="es-EC" b="1" dirty="0"/>
              <a:t>almacenamiento de objetos (</a:t>
            </a:r>
            <a:r>
              <a:rPr lang="es-EC" b="1" dirty="0" err="1"/>
              <a:t>object</a:t>
            </a:r>
            <a:r>
              <a:rPr lang="es-EC" b="1" dirty="0"/>
              <a:t> </a:t>
            </a:r>
            <a:r>
              <a:rPr lang="es-EC" b="1" dirty="0" err="1"/>
              <a:t>storage</a:t>
            </a:r>
            <a:r>
              <a:rPr lang="es-EC" b="1" dirty="0"/>
              <a:t>)</a:t>
            </a:r>
            <a:r>
              <a:rPr lang="es-EC" dirty="0"/>
              <a:t>. </a:t>
            </a:r>
            <a:endParaRPr kumimoji="1"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3630930" y="4077791"/>
            <a:ext cx="4917440" cy="14871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dirty="0"/>
              <a:t>Los administradores ya no pueden depender únicamente de costosas SAN monolíticas; necesitan sistemas escalables horizontalmente (</a:t>
            </a:r>
            <a:r>
              <a:rPr lang="es-EC" dirty="0" err="1"/>
              <a:t>scale-out</a:t>
            </a:r>
            <a:r>
              <a:rPr lang="es-EC" dirty="0"/>
              <a:t>) para manejar </a:t>
            </a:r>
            <a:r>
              <a:rPr lang="es-EC" dirty="0" err="1"/>
              <a:t>petabytes</a:t>
            </a:r>
            <a:r>
              <a:rPr lang="es-EC" dirty="0"/>
              <a:t> de datos no estructurados.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4984104" y="1660297"/>
            <a:ext cx="684530" cy="68453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104069" y="1848892"/>
            <a:ext cx="4445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Arquitectura de Almacenamiento</a:t>
            </a:r>
            <a:endParaRPr kumimoji="1" lang="zh-CN" alt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49D807E-B5E1-5A3E-C58C-10966BB9B1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297071" y="2265949"/>
            <a:ext cx="2574758" cy="529390"/>
          </a:xfrm>
          <a:custGeom>
            <a:avLst/>
            <a:gdLst>
              <a:gd name="connsiteX0" fmla="*/ 0 w 2574758"/>
              <a:gd name="connsiteY0" fmla="*/ 0 h 637674"/>
              <a:gd name="connsiteX1" fmla="*/ 2574758 w 2574758"/>
              <a:gd name="connsiteY1" fmla="*/ 0 h 637674"/>
              <a:gd name="connsiteX2" fmla="*/ 1680828 w 2574758"/>
              <a:gd name="connsiteY2" fmla="*/ 637674 h 637674"/>
              <a:gd name="connsiteX3" fmla="*/ 1680828 w 2574758"/>
              <a:gd name="connsiteY3" fmla="*/ 238624 h 637674"/>
              <a:gd name="connsiteX4" fmla="*/ 0 w 2574758"/>
              <a:gd name="connsiteY4" fmla="*/ 238624 h 637674"/>
            </a:gdLst>
            <a:ahLst/>
            <a:cxnLst/>
            <a:rect l="l" t="t" r="r" b="b"/>
            <a:pathLst>
              <a:path w="2574758" h="637674">
                <a:moveTo>
                  <a:pt x="0" y="0"/>
                </a:moveTo>
                <a:lnTo>
                  <a:pt x="2574758" y="0"/>
                </a:lnTo>
                <a:lnTo>
                  <a:pt x="1680828" y="637674"/>
                </a:lnTo>
                <a:lnTo>
                  <a:pt x="1680828" y="238624"/>
                </a:lnTo>
                <a:lnTo>
                  <a:pt x="0" y="238624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297071" y="3039979"/>
            <a:ext cx="9585158" cy="138764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dirty="0"/>
              <a:t>Se vuelve crítico. El administrador debe implementar políticas automatizadas para mover datos "fríos" (raramente accedidos) a almacenamiento más lento y barato (como cinta o almacenamiento de objetos de bajo costo), mientras mantiene los datos "calientes" en almacenamiento flash (SSD).</a:t>
            </a:r>
          </a:p>
        </p:txBody>
      </p:sp>
      <p:sp>
        <p:nvSpPr>
          <p:cNvPr id="4" name="标题 1"/>
          <p:cNvSpPr txBox="1"/>
          <p:nvPr/>
        </p:nvSpPr>
        <p:spPr>
          <a:xfrm>
            <a:off x="1311275" y="2442412"/>
            <a:ext cx="1576303" cy="52939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Gestión del Ciclo de Vida (ILM)</a:t>
            </a:r>
            <a:endParaRPr kumimoji="1" lang="zh-CN" alt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7FB18E9-BAFB-3DB2-8505-1F9EAED405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370580" y="1542138"/>
            <a:ext cx="5438140" cy="4134678"/>
          </a:xfrm>
          <a:prstGeom prst="roundRect">
            <a:avLst>
              <a:gd name="adj" fmla="val 3148"/>
            </a:avLst>
          </a:prstGeom>
          <a:solidFill>
            <a:schemeClr val="bg1"/>
          </a:solidFill>
          <a:ln w="19050" cap="sq">
            <a:solidFill>
              <a:schemeClr val="accent1"/>
            </a:solidFill>
            <a:miter/>
          </a:ln>
          <a:effectLst>
            <a:outerShdw dist="88900" dir="2340000" algn="ctr" rotWithShape="0">
              <a:schemeClr val="accent3">
                <a:alpha val="10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5090784" y="1775867"/>
            <a:ext cx="2068195" cy="2068195"/>
          </a:xfrm>
          <a:prstGeom prst="ellipse">
            <a:avLst/>
          </a:prstGeom>
          <a:solidFill>
            <a:schemeClr val="accent3"/>
          </a:solidFill>
          <a:ln w="12700" cap="sq">
            <a:solidFill>
              <a:schemeClr val="accent3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630930" y="4077791"/>
            <a:ext cx="4917440" cy="14871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dirty="0"/>
              <a:t>Los respaldos tradicionales fallan. Se requieren soluciones de protección de datos que puedan manejar conjuntos de datos masivos y cumplir con ventanas de recuperación (RPO/RTO) estrictas.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alphaModFix/>
          </a:blip>
          <a:srcRect l="28571" r="28571"/>
          <a:stretch>
            <a:fillRect/>
          </a:stretch>
        </p:blipFill>
        <p:spPr>
          <a:xfrm>
            <a:off x="5162550" y="1847633"/>
            <a:ext cx="1924664" cy="1924664"/>
          </a:xfrm>
          <a:custGeom>
            <a:avLst/>
            <a:gdLst/>
            <a:ahLst/>
            <a:cxnLst/>
            <a:rect l="l" t="t" r="r" b="b"/>
            <a:pathLst>
              <a:path w="1924664" h="1924664">
                <a:moveTo>
                  <a:pt x="962332" y="0"/>
                </a:moveTo>
                <a:cubicBezTo>
                  <a:pt x="1493813" y="0"/>
                  <a:pt x="1924664" y="430851"/>
                  <a:pt x="1924664" y="962332"/>
                </a:cubicBezTo>
                <a:cubicBezTo>
                  <a:pt x="1924664" y="1493813"/>
                  <a:pt x="1493813" y="1924664"/>
                  <a:pt x="962332" y="1924664"/>
                </a:cubicBezTo>
                <a:cubicBezTo>
                  <a:pt x="430851" y="1924664"/>
                  <a:pt x="0" y="1493813"/>
                  <a:pt x="0" y="962332"/>
                </a:cubicBezTo>
                <a:cubicBezTo>
                  <a:pt x="0" y="430851"/>
                  <a:pt x="430851" y="0"/>
                  <a:pt x="962332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" name="标题 1"/>
          <p:cNvSpPr txBox="1"/>
          <p:nvPr/>
        </p:nvSpPr>
        <p:spPr>
          <a:xfrm>
            <a:off x="4984104" y="1660297"/>
            <a:ext cx="684530" cy="68453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104069" y="1848892"/>
            <a:ext cx="444500" cy="25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Backup y Recuperación</a:t>
            </a:r>
            <a:endParaRPr kumimoji="1" lang="zh-CN" alt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4EF042-7A6B-6591-E45C-1200868DB0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5537200" y="2584037"/>
            <a:ext cx="5203029" cy="531018"/>
          </a:xfrm>
          <a:custGeom>
            <a:avLst/>
            <a:gdLst>
              <a:gd name="connsiteX0" fmla="*/ 3412998 w 3429190"/>
              <a:gd name="connsiteY0" fmla="*/ 0 h 531018"/>
              <a:gd name="connsiteX1" fmla="*/ 3062859 w 3429190"/>
              <a:gd name="connsiteY1" fmla="*/ 331280 h 531018"/>
              <a:gd name="connsiteX2" fmla="*/ 2359533 w 3429190"/>
              <a:gd name="connsiteY2" fmla="*/ 512064 h 531018"/>
              <a:gd name="connsiteX3" fmla="*/ 0 w 3429190"/>
              <a:gd name="connsiteY3" fmla="*/ 512064 h 531018"/>
              <a:gd name="connsiteX4" fmla="*/ 381 w 3429190"/>
              <a:gd name="connsiteY4" fmla="*/ 519112 h 531018"/>
              <a:gd name="connsiteX5" fmla="*/ 1238 w 3429190"/>
              <a:gd name="connsiteY5" fmla="*/ 531019 h 531018"/>
              <a:gd name="connsiteX6" fmla="*/ 2359438 w 3429190"/>
              <a:gd name="connsiteY6" fmla="*/ 531019 h 531018"/>
              <a:gd name="connsiteX7" fmla="*/ 3072194 w 3429190"/>
              <a:gd name="connsiteY7" fmla="*/ 347758 h 531018"/>
              <a:gd name="connsiteX8" fmla="*/ 3429191 w 3429190"/>
              <a:gd name="connsiteY8" fmla="*/ 9811 h 531018"/>
              <a:gd name="connsiteX9" fmla="*/ 3412998 w 3429190"/>
              <a:gd name="connsiteY9" fmla="*/ 0 h 531018"/>
            </a:gdLst>
            <a:ahLst/>
            <a:cxnLst/>
            <a:rect l="l" t="t" r="r" b="b"/>
            <a:pathLst>
              <a:path w="3429190" h="531018">
                <a:moveTo>
                  <a:pt x="3412998" y="0"/>
                </a:moveTo>
                <a:cubicBezTo>
                  <a:pt x="3335179" y="129730"/>
                  <a:pt x="3217355" y="241173"/>
                  <a:pt x="3062859" y="331280"/>
                </a:cubicBezTo>
                <a:cubicBezTo>
                  <a:pt x="2859881" y="449580"/>
                  <a:pt x="2616708" y="512064"/>
                  <a:pt x="2359533" y="512064"/>
                </a:cubicBezTo>
                <a:lnTo>
                  <a:pt x="0" y="512064"/>
                </a:lnTo>
                <a:cubicBezTo>
                  <a:pt x="191" y="514445"/>
                  <a:pt x="381" y="516731"/>
                  <a:pt x="381" y="519112"/>
                </a:cubicBezTo>
                <a:cubicBezTo>
                  <a:pt x="953" y="523113"/>
                  <a:pt x="1238" y="527018"/>
                  <a:pt x="1238" y="531019"/>
                </a:cubicBezTo>
                <a:lnTo>
                  <a:pt x="2359438" y="531019"/>
                </a:lnTo>
                <a:cubicBezTo>
                  <a:pt x="2619851" y="531019"/>
                  <a:pt x="2866454" y="467582"/>
                  <a:pt x="3072194" y="347758"/>
                </a:cubicBezTo>
                <a:cubicBezTo>
                  <a:pt x="3229547" y="256032"/>
                  <a:pt x="3349657" y="142303"/>
                  <a:pt x="3429191" y="9811"/>
                </a:cubicBezTo>
                <a:lnTo>
                  <a:pt x="3412998" y="0"/>
                </a:lnTo>
                <a:close/>
              </a:path>
            </a:pathLst>
          </a:custGeom>
          <a:solidFill>
            <a:schemeClr val="accent1"/>
          </a:solidFill>
          <a:ln w="2857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707753" y="2164061"/>
            <a:ext cx="305938" cy="378832"/>
          </a:xfrm>
          <a:custGeom>
            <a:avLst/>
            <a:gdLst>
              <a:gd name="connsiteX0" fmla="*/ 303938 w 305938"/>
              <a:gd name="connsiteY0" fmla="*/ 316058 h 378832"/>
              <a:gd name="connsiteX1" fmla="*/ 305939 w 305938"/>
              <a:gd name="connsiteY1" fmla="*/ 4876 h 378832"/>
              <a:gd name="connsiteX2" fmla="*/ 299462 w 305938"/>
              <a:gd name="connsiteY2" fmla="*/ 780 h 378832"/>
              <a:gd name="connsiteX3" fmla="*/ 4663 w 305938"/>
              <a:gd name="connsiteY3" fmla="*/ 222618 h 378832"/>
              <a:gd name="connsiteX4" fmla="*/ 8378 w 305938"/>
              <a:gd name="connsiteY4" fmla="*/ 244620 h 378832"/>
              <a:gd name="connsiteX5" fmla="*/ 93055 w 305938"/>
              <a:gd name="connsiteY5" fmla="*/ 269385 h 378832"/>
              <a:gd name="connsiteX6" fmla="*/ 264314 w 305938"/>
              <a:gd name="connsiteY6" fmla="*/ 76123 h 378832"/>
              <a:gd name="connsiteX7" fmla="*/ 127154 w 305938"/>
              <a:gd name="connsiteY7" fmla="*/ 285578 h 378832"/>
              <a:gd name="connsiteX8" fmla="*/ 134679 w 305938"/>
              <a:gd name="connsiteY8" fmla="*/ 367588 h 378832"/>
              <a:gd name="connsiteX9" fmla="*/ 155063 w 305938"/>
              <a:gd name="connsiteY9" fmla="*/ 372160 h 378832"/>
              <a:gd name="connsiteX10" fmla="*/ 186781 w 305938"/>
              <a:gd name="connsiteY10" fmla="*/ 298056 h 378832"/>
              <a:gd name="connsiteX11" fmla="*/ 290984 w 305938"/>
              <a:gd name="connsiteY11" fmla="*/ 327393 h 378832"/>
              <a:gd name="connsiteX12" fmla="*/ 303938 w 305938"/>
              <a:gd name="connsiteY12" fmla="*/ 316058 h 378832"/>
            </a:gdLst>
            <a:ahLst/>
            <a:cxnLst/>
            <a:rect l="l" t="t" r="r" b="b"/>
            <a:pathLst>
              <a:path w="305938" h="378832">
                <a:moveTo>
                  <a:pt x="303938" y="316058"/>
                </a:moveTo>
                <a:lnTo>
                  <a:pt x="305939" y="4876"/>
                </a:lnTo>
                <a:cubicBezTo>
                  <a:pt x="305939" y="1066"/>
                  <a:pt x="302224" y="-1315"/>
                  <a:pt x="299462" y="780"/>
                </a:cubicBezTo>
                <a:lnTo>
                  <a:pt x="4663" y="222618"/>
                </a:lnTo>
                <a:cubicBezTo>
                  <a:pt x="-3052" y="228428"/>
                  <a:pt x="-766" y="241953"/>
                  <a:pt x="8378" y="244620"/>
                </a:cubicBezTo>
                <a:lnTo>
                  <a:pt x="93055" y="269385"/>
                </a:lnTo>
                <a:lnTo>
                  <a:pt x="264314" y="76123"/>
                </a:lnTo>
                <a:lnTo>
                  <a:pt x="127154" y="285578"/>
                </a:lnTo>
                <a:lnTo>
                  <a:pt x="134679" y="367588"/>
                </a:lnTo>
                <a:cubicBezTo>
                  <a:pt x="135822" y="379875"/>
                  <a:pt x="150395" y="383114"/>
                  <a:pt x="155063" y="372160"/>
                </a:cubicBezTo>
                <a:lnTo>
                  <a:pt x="186781" y="298056"/>
                </a:lnTo>
                <a:lnTo>
                  <a:pt x="290984" y="327393"/>
                </a:lnTo>
                <a:cubicBezTo>
                  <a:pt x="297557" y="329393"/>
                  <a:pt x="303843" y="323868"/>
                  <a:pt x="303938" y="31605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Virtualización y Contenerización: La Era de la Densidad y el Software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828D099-198D-CFAF-7143-865BE2530B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3480469" y="2975811"/>
            <a:ext cx="7483642" cy="150795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147010" y="2221832"/>
            <a:ext cx="3745832" cy="150795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alphaModFix/>
          </a:blip>
          <a:srcRect l="1854" t="19264" b="19264"/>
          <a:stretch>
            <a:fillRect/>
          </a:stretch>
        </p:blipFill>
        <p:spPr>
          <a:xfrm>
            <a:off x="1215189" y="2276943"/>
            <a:ext cx="3608690" cy="1397736"/>
          </a:xfrm>
          <a:custGeom>
            <a:avLst/>
            <a:gdLst/>
            <a:ahLst/>
            <a:cxnLst/>
            <a:rect l="l" t="t" r="r" b="b"/>
            <a:pathLst>
              <a:path w="3608690" h="1397736">
                <a:moveTo>
                  <a:pt x="698868" y="0"/>
                </a:moveTo>
                <a:lnTo>
                  <a:pt x="2910606" y="0"/>
                </a:lnTo>
                <a:cubicBezTo>
                  <a:pt x="3248333" y="0"/>
                  <a:pt x="3530109" y="239560"/>
                  <a:pt x="3595276" y="558022"/>
                </a:cubicBezTo>
                <a:lnTo>
                  <a:pt x="3608690" y="691091"/>
                </a:lnTo>
                <a:lnTo>
                  <a:pt x="3608690" y="706645"/>
                </a:lnTo>
                <a:lnTo>
                  <a:pt x="3595276" y="839714"/>
                </a:lnTo>
                <a:cubicBezTo>
                  <a:pt x="3530109" y="1158177"/>
                  <a:pt x="3248333" y="1397736"/>
                  <a:pt x="2910606" y="1397736"/>
                </a:cubicBezTo>
                <a:lnTo>
                  <a:pt x="698868" y="1397736"/>
                </a:lnTo>
                <a:cubicBezTo>
                  <a:pt x="312894" y="1397736"/>
                  <a:pt x="0" y="1084842"/>
                  <a:pt x="0" y="698868"/>
                </a:cubicBezTo>
                <a:cubicBezTo>
                  <a:pt x="0" y="312894"/>
                  <a:pt x="312894" y="0"/>
                  <a:pt x="698868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" name="标题 1"/>
          <p:cNvSpPr txBox="1"/>
          <p:nvPr/>
        </p:nvSpPr>
        <p:spPr>
          <a:xfrm>
            <a:off x="8231271" y="2699085"/>
            <a:ext cx="1876925" cy="12031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948321" y="3100137"/>
            <a:ext cx="5407861" cy="125930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r>
              <a:rPr lang="es-EC" dirty="0"/>
              <a:t>El objetivo es maximizar el número de aplicaciones por cada rack físico. Esto aumenta drásticamente la </a:t>
            </a:r>
            <a:r>
              <a:rPr lang="es-EC" b="1" dirty="0"/>
              <a:t>densidad de potencia (kW por rack)</a:t>
            </a:r>
            <a:r>
              <a:rPr lang="es-EC" dirty="0"/>
              <a:t>. Un rack que antes consumía 4kW ahora puede exigir 15kW o 25kW.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Consolidación y Densidad</a:t>
            </a:r>
            <a:endParaRPr kumimoji="1" lang="zh-CN" alt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20D50B3-858B-6216-B9EF-63B425523A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634247" y="5109410"/>
            <a:ext cx="6910806" cy="649705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2724818" y="1572127"/>
            <a:ext cx="6729664" cy="337686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2724818" y="5021180"/>
            <a:ext cx="6729664" cy="641684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807954" y="5021180"/>
            <a:ext cx="2563392" cy="63366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24415" y="2141622"/>
            <a:ext cx="3663959" cy="223787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lvl="0"/>
            <a:r>
              <a:rPr lang="es-EC" dirty="0"/>
              <a:t>El trabajo del administrador se aleja del hardware. La red (</a:t>
            </a:r>
            <a:r>
              <a:rPr lang="es-EC" b="1" dirty="0"/>
              <a:t>SDN</a:t>
            </a:r>
            <a:r>
              <a:rPr lang="es-EC" dirty="0"/>
              <a:t>), el almacenamiento (</a:t>
            </a:r>
            <a:r>
              <a:rPr lang="es-EC" b="1" dirty="0"/>
              <a:t>SDS</a:t>
            </a:r>
            <a:r>
              <a:rPr lang="es-EC" dirty="0"/>
              <a:t>) y el cómputo se gestionan como </a:t>
            </a:r>
            <a:r>
              <a:rPr lang="es-EC" i="1" dirty="0"/>
              <a:t>pool</a:t>
            </a:r>
            <a:r>
              <a:rPr lang="es-EC" dirty="0"/>
              <a:t> de recursos a través de software. El trabajo es gestionar políticas, no cables.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alphaModFix/>
          </a:blip>
          <a:srcRect l="33195" t="2150" r="15001" b="2744"/>
          <a:stretch>
            <a:fillRect/>
          </a:stretch>
        </p:blipFill>
        <p:spPr>
          <a:xfrm>
            <a:off x="2813050" y="1664234"/>
            <a:ext cx="2641266" cy="3192648"/>
          </a:xfrm>
          <a:custGeom>
            <a:avLst/>
            <a:gdLst/>
            <a:ahLst/>
            <a:cxnLst/>
            <a:rect l="l" t="t" r="r" b="b"/>
            <a:pathLst>
              <a:path w="2641266" h="3192648">
                <a:moveTo>
                  <a:pt x="0" y="0"/>
                </a:moveTo>
                <a:lnTo>
                  <a:pt x="2641266" y="0"/>
                </a:lnTo>
                <a:lnTo>
                  <a:pt x="2641266" y="3192648"/>
                </a:lnTo>
                <a:lnTo>
                  <a:pt x="0" y="319264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>
            <a:off x="9143996" y="1732548"/>
            <a:ext cx="144379" cy="144379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Infraestructura Definida por Software (SDDC)</a:t>
            </a:r>
            <a:endParaRPr kumimoji="1" lang="zh-CN" alt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60C8173-065E-6543-25D1-C1BD737C27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alphaModFix/>
          </a:blip>
          <a:srcRect l="18603" t="604" r="9022" b="5298"/>
          <a:stretch>
            <a:fillRect/>
          </a:stretch>
        </p:blipFill>
        <p:spPr>
          <a:xfrm>
            <a:off x="6118900" y="1292200"/>
            <a:ext cx="5400000" cy="4680000"/>
          </a:xfrm>
          <a:custGeom>
            <a:avLst/>
            <a:gdLst/>
            <a:ahLst/>
            <a:cxnLst/>
            <a:rect l="l" t="t" r="r" b="b"/>
            <a:pathLst>
              <a:path w="5400000" h="4680000">
                <a:moveTo>
                  <a:pt x="0" y="0"/>
                </a:moveTo>
                <a:lnTo>
                  <a:pt x="5400000" y="0"/>
                </a:lnTo>
                <a:lnTo>
                  <a:pt x="5400000" y="4680000"/>
                </a:lnTo>
                <a:lnTo>
                  <a:pt x="0" y="468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660400" y="1292200"/>
            <a:ext cx="5146675" cy="468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3737" y="2596633"/>
            <a:ext cx="4320000" cy="252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r>
              <a:rPr lang="es-EC" dirty="0"/>
              <a:t>La gestión de miles de contenedores efímeros (que viven segundos o minutos) es imposible manualmente. Se requiere una plataforma de orquestación robusta como </a:t>
            </a:r>
            <a:r>
              <a:rPr lang="es-EC" b="1" dirty="0" err="1"/>
              <a:t>Kubernetes</a:t>
            </a:r>
            <a:r>
              <a:rPr lang="es-EC" dirty="0"/>
              <a:t>, y el data center debe proporcionar la infraestructura resiliente que esta plataforma necesita.</a:t>
            </a:r>
            <a:endParaRPr kumimoji="1" lang="zh-CN" altLang="en-US" dirty="0"/>
          </a:p>
        </p:txBody>
      </p:sp>
      <p:sp>
        <p:nvSpPr>
          <p:cNvPr id="5" name="标题 1"/>
          <p:cNvSpPr txBox="1"/>
          <p:nvPr/>
        </p:nvSpPr>
        <p:spPr>
          <a:xfrm rot="10800000" flipH="1" flipV="1">
            <a:off x="1073737" y="1732411"/>
            <a:ext cx="720430" cy="571733"/>
          </a:xfrm>
          <a:custGeom>
            <a:avLst/>
            <a:gdLst>
              <a:gd name="connsiteX0" fmla="*/ 270000 w 675000"/>
              <a:gd name="connsiteY0" fmla="*/ 535680 h 535680"/>
              <a:gd name="connsiteX1" fmla="*/ 0 w 675000"/>
              <a:gd name="connsiteY1" fmla="*/ 535680 h 535680"/>
              <a:gd name="connsiteX2" fmla="*/ 0 w 675000"/>
              <a:gd name="connsiteY2" fmla="*/ 265680 h 535680"/>
              <a:gd name="connsiteX3" fmla="*/ 270000 w 675000"/>
              <a:gd name="connsiteY3" fmla="*/ 0 h 535680"/>
              <a:gd name="connsiteX4" fmla="*/ 270000 w 675000"/>
              <a:gd name="connsiteY4" fmla="*/ 115830 h 535680"/>
              <a:gd name="connsiteX5" fmla="*/ 115965 w 675000"/>
              <a:gd name="connsiteY5" fmla="*/ 265680 h 535680"/>
              <a:gd name="connsiteX6" fmla="*/ 270000 w 675000"/>
              <a:gd name="connsiteY6" fmla="*/ 265680 h 535680"/>
              <a:gd name="connsiteX7" fmla="*/ 675000 w 675000"/>
              <a:gd name="connsiteY7" fmla="*/ 535680 h 535680"/>
              <a:gd name="connsiteX8" fmla="*/ 405000 w 675000"/>
              <a:gd name="connsiteY8" fmla="*/ 535680 h 535680"/>
              <a:gd name="connsiteX9" fmla="*/ 405000 w 675000"/>
              <a:gd name="connsiteY9" fmla="*/ 265680 h 535680"/>
              <a:gd name="connsiteX10" fmla="*/ 675000 w 675000"/>
              <a:gd name="connsiteY10" fmla="*/ 0 h 535680"/>
              <a:gd name="connsiteX11" fmla="*/ 675000 w 675000"/>
              <a:gd name="connsiteY11" fmla="*/ 115830 h 535680"/>
              <a:gd name="connsiteX12" fmla="*/ 520965 w 675000"/>
              <a:gd name="connsiteY12" fmla="*/ 265680 h 535680"/>
              <a:gd name="connsiteX13" fmla="*/ 675000 w 675000"/>
              <a:gd name="connsiteY13" fmla="*/ 265680 h 535680"/>
            </a:gdLst>
            <a:ahLst/>
            <a:cxnLst/>
            <a:rect l="l" t="t" r="r" b="b"/>
            <a:pathLst>
              <a:path w="675000" h="535680">
                <a:moveTo>
                  <a:pt x="270000" y="535680"/>
                </a:moveTo>
                <a:lnTo>
                  <a:pt x="0" y="535680"/>
                </a:lnTo>
                <a:lnTo>
                  <a:pt x="0" y="265680"/>
                </a:lnTo>
                <a:cubicBezTo>
                  <a:pt x="2360" y="118253"/>
                  <a:pt x="122554" y="-19"/>
                  <a:pt x="270000" y="0"/>
                </a:cubicBezTo>
                <a:lnTo>
                  <a:pt x="270000" y="115830"/>
                </a:lnTo>
                <a:cubicBezTo>
                  <a:pt x="186566" y="115871"/>
                  <a:pt x="118303" y="182278"/>
                  <a:pt x="115965" y="265680"/>
                </a:cubicBezTo>
                <a:lnTo>
                  <a:pt x="270000" y="265680"/>
                </a:lnTo>
                <a:close/>
                <a:moveTo>
                  <a:pt x="675000" y="535680"/>
                </a:moveTo>
                <a:lnTo>
                  <a:pt x="405000" y="535680"/>
                </a:lnTo>
                <a:lnTo>
                  <a:pt x="405000" y="265680"/>
                </a:lnTo>
                <a:cubicBezTo>
                  <a:pt x="407360" y="118253"/>
                  <a:pt x="527554" y="-19"/>
                  <a:pt x="675000" y="0"/>
                </a:cubicBezTo>
                <a:lnTo>
                  <a:pt x="675000" y="115830"/>
                </a:lnTo>
                <a:cubicBezTo>
                  <a:pt x="591566" y="115871"/>
                  <a:pt x="523303" y="182278"/>
                  <a:pt x="520965" y="265680"/>
                </a:cubicBezTo>
                <a:lnTo>
                  <a:pt x="675000" y="26568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Orquestación</a:t>
            </a:r>
            <a:endParaRPr kumimoji="1" lang="zh-CN" alt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60F0821-9939-D8A6-3689-A14AF3A050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5537200" y="2584037"/>
            <a:ext cx="5203029" cy="531018"/>
          </a:xfrm>
          <a:custGeom>
            <a:avLst/>
            <a:gdLst>
              <a:gd name="connsiteX0" fmla="*/ 3412998 w 3429190"/>
              <a:gd name="connsiteY0" fmla="*/ 0 h 531018"/>
              <a:gd name="connsiteX1" fmla="*/ 3062859 w 3429190"/>
              <a:gd name="connsiteY1" fmla="*/ 331280 h 531018"/>
              <a:gd name="connsiteX2" fmla="*/ 2359533 w 3429190"/>
              <a:gd name="connsiteY2" fmla="*/ 512064 h 531018"/>
              <a:gd name="connsiteX3" fmla="*/ 0 w 3429190"/>
              <a:gd name="connsiteY3" fmla="*/ 512064 h 531018"/>
              <a:gd name="connsiteX4" fmla="*/ 381 w 3429190"/>
              <a:gd name="connsiteY4" fmla="*/ 519112 h 531018"/>
              <a:gd name="connsiteX5" fmla="*/ 1238 w 3429190"/>
              <a:gd name="connsiteY5" fmla="*/ 531019 h 531018"/>
              <a:gd name="connsiteX6" fmla="*/ 2359438 w 3429190"/>
              <a:gd name="connsiteY6" fmla="*/ 531019 h 531018"/>
              <a:gd name="connsiteX7" fmla="*/ 3072194 w 3429190"/>
              <a:gd name="connsiteY7" fmla="*/ 347758 h 531018"/>
              <a:gd name="connsiteX8" fmla="*/ 3429191 w 3429190"/>
              <a:gd name="connsiteY8" fmla="*/ 9811 h 531018"/>
              <a:gd name="connsiteX9" fmla="*/ 3412998 w 3429190"/>
              <a:gd name="connsiteY9" fmla="*/ 0 h 531018"/>
            </a:gdLst>
            <a:ahLst/>
            <a:cxnLst/>
            <a:rect l="l" t="t" r="r" b="b"/>
            <a:pathLst>
              <a:path w="3429190" h="531018">
                <a:moveTo>
                  <a:pt x="3412998" y="0"/>
                </a:moveTo>
                <a:cubicBezTo>
                  <a:pt x="3335179" y="129730"/>
                  <a:pt x="3217355" y="241173"/>
                  <a:pt x="3062859" y="331280"/>
                </a:cubicBezTo>
                <a:cubicBezTo>
                  <a:pt x="2859881" y="449580"/>
                  <a:pt x="2616708" y="512064"/>
                  <a:pt x="2359533" y="512064"/>
                </a:cubicBezTo>
                <a:lnTo>
                  <a:pt x="0" y="512064"/>
                </a:lnTo>
                <a:cubicBezTo>
                  <a:pt x="191" y="514445"/>
                  <a:pt x="381" y="516731"/>
                  <a:pt x="381" y="519112"/>
                </a:cubicBezTo>
                <a:cubicBezTo>
                  <a:pt x="953" y="523113"/>
                  <a:pt x="1238" y="527018"/>
                  <a:pt x="1238" y="531019"/>
                </a:cubicBezTo>
                <a:lnTo>
                  <a:pt x="2359438" y="531019"/>
                </a:lnTo>
                <a:cubicBezTo>
                  <a:pt x="2619851" y="531019"/>
                  <a:pt x="2866454" y="467582"/>
                  <a:pt x="3072194" y="347758"/>
                </a:cubicBezTo>
                <a:cubicBezTo>
                  <a:pt x="3229547" y="256032"/>
                  <a:pt x="3349657" y="142303"/>
                  <a:pt x="3429191" y="9811"/>
                </a:cubicBezTo>
                <a:lnTo>
                  <a:pt x="3412998" y="0"/>
                </a:lnTo>
                <a:close/>
              </a:path>
            </a:pathLst>
          </a:custGeom>
          <a:solidFill>
            <a:schemeClr val="accent1"/>
          </a:solidFill>
          <a:ln w="2857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707753" y="2164061"/>
            <a:ext cx="305938" cy="378832"/>
          </a:xfrm>
          <a:custGeom>
            <a:avLst/>
            <a:gdLst>
              <a:gd name="connsiteX0" fmla="*/ 303938 w 305938"/>
              <a:gd name="connsiteY0" fmla="*/ 316058 h 378832"/>
              <a:gd name="connsiteX1" fmla="*/ 305939 w 305938"/>
              <a:gd name="connsiteY1" fmla="*/ 4876 h 378832"/>
              <a:gd name="connsiteX2" fmla="*/ 299462 w 305938"/>
              <a:gd name="connsiteY2" fmla="*/ 780 h 378832"/>
              <a:gd name="connsiteX3" fmla="*/ 4663 w 305938"/>
              <a:gd name="connsiteY3" fmla="*/ 222618 h 378832"/>
              <a:gd name="connsiteX4" fmla="*/ 8378 w 305938"/>
              <a:gd name="connsiteY4" fmla="*/ 244620 h 378832"/>
              <a:gd name="connsiteX5" fmla="*/ 93055 w 305938"/>
              <a:gd name="connsiteY5" fmla="*/ 269385 h 378832"/>
              <a:gd name="connsiteX6" fmla="*/ 264314 w 305938"/>
              <a:gd name="connsiteY6" fmla="*/ 76123 h 378832"/>
              <a:gd name="connsiteX7" fmla="*/ 127154 w 305938"/>
              <a:gd name="connsiteY7" fmla="*/ 285578 h 378832"/>
              <a:gd name="connsiteX8" fmla="*/ 134679 w 305938"/>
              <a:gd name="connsiteY8" fmla="*/ 367588 h 378832"/>
              <a:gd name="connsiteX9" fmla="*/ 155063 w 305938"/>
              <a:gd name="connsiteY9" fmla="*/ 372160 h 378832"/>
              <a:gd name="connsiteX10" fmla="*/ 186781 w 305938"/>
              <a:gd name="connsiteY10" fmla="*/ 298056 h 378832"/>
              <a:gd name="connsiteX11" fmla="*/ 290984 w 305938"/>
              <a:gd name="connsiteY11" fmla="*/ 327393 h 378832"/>
              <a:gd name="connsiteX12" fmla="*/ 303938 w 305938"/>
              <a:gd name="connsiteY12" fmla="*/ 316058 h 378832"/>
            </a:gdLst>
            <a:ahLst/>
            <a:cxnLst/>
            <a:rect l="l" t="t" r="r" b="b"/>
            <a:pathLst>
              <a:path w="305938" h="378832">
                <a:moveTo>
                  <a:pt x="303938" y="316058"/>
                </a:moveTo>
                <a:lnTo>
                  <a:pt x="305939" y="4876"/>
                </a:lnTo>
                <a:cubicBezTo>
                  <a:pt x="305939" y="1066"/>
                  <a:pt x="302224" y="-1315"/>
                  <a:pt x="299462" y="780"/>
                </a:cubicBezTo>
                <a:lnTo>
                  <a:pt x="4663" y="222618"/>
                </a:lnTo>
                <a:cubicBezTo>
                  <a:pt x="-3052" y="228428"/>
                  <a:pt x="-766" y="241953"/>
                  <a:pt x="8378" y="244620"/>
                </a:cubicBezTo>
                <a:lnTo>
                  <a:pt x="93055" y="269385"/>
                </a:lnTo>
                <a:lnTo>
                  <a:pt x="264314" y="76123"/>
                </a:lnTo>
                <a:lnTo>
                  <a:pt x="127154" y="285578"/>
                </a:lnTo>
                <a:lnTo>
                  <a:pt x="134679" y="367588"/>
                </a:lnTo>
                <a:cubicBezTo>
                  <a:pt x="135822" y="379875"/>
                  <a:pt x="150395" y="383114"/>
                  <a:pt x="155063" y="372160"/>
                </a:cubicBezTo>
                <a:lnTo>
                  <a:pt x="186781" y="298056"/>
                </a:lnTo>
                <a:lnTo>
                  <a:pt x="290984" y="327393"/>
                </a:lnTo>
                <a:cubicBezTo>
                  <a:pt x="297557" y="329393"/>
                  <a:pt x="303843" y="323868"/>
                  <a:pt x="303938" y="31605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04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IoT (Internet de las Cosas): La Descentralización del Data Center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EF41556-D4A6-49A2-9B02-F28BF89D91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011675" y="2255127"/>
            <a:ext cx="2000427" cy="20004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4005213" y="2402379"/>
            <a:ext cx="634308" cy="634307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199425" y="2596588"/>
            <a:ext cx="245889" cy="245889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75554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285281" y="3175662"/>
            <a:ext cx="6136344" cy="17828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dirty="0"/>
              <a:t>Millones de sensores (cámaras, maquinaria, etc.) envían telemetría constante. Esto presiona la ingesta de red y el almacenamiento (ver Big Data).</a:t>
            </a:r>
          </a:p>
        </p:txBody>
      </p:sp>
      <p:sp>
        <p:nvSpPr>
          <p:cNvPr id="6" name="标题 1"/>
          <p:cNvSpPr txBox="1"/>
          <p:nvPr/>
        </p:nvSpPr>
        <p:spPr>
          <a:xfrm>
            <a:off x="2560203" y="2803654"/>
            <a:ext cx="903371" cy="903371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Explosión de Datos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A1CB6F1-DE71-5141-B59F-735F789AC1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60400" y="1832200"/>
            <a:ext cx="10858500" cy="3600000"/>
          </a:xfrm>
          <a:prstGeom prst="roundRect">
            <a:avLst>
              <a:gd name="adj" fmla="val 8465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9992136" y="4191001"/>
            <a:ext cx="457783" cy="908242"/>
          </a:xfrm>
          <a:custGeom>
            <a:avLst/>
            <a:gdLst>
              <a:gd name="connsiteX0" fmla="*/ 0 w 190500"/>
              <a:gd name="connsiteY0" fmla="*/ 0 h 377952"/>
              <a:gd name="connsiteX1" fmla="*/ 0 w 190500"/>
              <a:gd name="connsiteY1" fmla="*/ 190500 h 377952"/>
              <a:gd name="connsiteX2" fmla="*/ 108680 w 190500"/>
              <a:gd name="connsiteY2" fmla="*/ 190500 h 377952"/>
              <a:gd name="connsiteX3" fmla="*/ 0 w 190500"/>
              <a:gd name="connsiteY3" fmla="*/ 296228 h 377952"/>
              <a:gd name="connsiteX4" fmla="*/ 0 w 190500"/>
              <a:gd name="connsiteY4" fmla="*/ 377952 h 377952"/>
              <a:gd name="connsiteX5" fmla="*/ 190500 w 190500"/>
              <a:gd name="connsiteY5" fmla="*/ 190500 h 377952"/>
              <a:gd name="connsiteX6" fmla="*/ 190500 w 190500"/>
              <a:gd name="connsiteY6" fmla="*/ 190500 h 377952"/>
              <a:gd name="connsiteX7" fmla="*/ 190500 w 190500"/>
              <a:gd name="connsiteY7" fmla="*/ 0 h 377952"/>
            </a:gdLst>
            <a:ahLst/>
            <a:cxnLst/>
            <a:rect l="l" t="t" r="r" b="b"/>
            <a:pathLst>
              <a:path w="190500" h="377952">
                <a:moveTo>
                  <a:pt x="0" y="0"/>
                </a:moveTo>
                <a:lnTo>
                  <a:pt x="0" y="190500"/>
                </a:lnTo>
                <a:lnTo>
                  <a:pt x="108680" y="190500"/>
                </a:lnTo>
                <a:cubicBezTo>
                  <a:pt x="107031" y="249344"/>
                  <a:pt x="58867" y="296199"/>
                  <a:pt x="0" y="296228"/>
                </a:cubicBezTo>
                <a:lnTo>
                  <a:pt x="0" y="377952"/>
                </a:lnTo>
                <a:cubicBezTo>
                  <a:pt x="104031" y="377965"/>
                  <a:pt x="188835" y="294518"/>
                  <a:pt x="190500" y="190500"/>
                </a:cubicBezTo>
                <a:lnTo>
                  <a:pt x="190500" y="1905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678811" y="4191001"/>
            <a:ext cx="457783" cy="908242"/>
          </a:xfrm>
          <a:custGeom>
            <a:avLst/>
            <a:gdLst>
              <a:gd name="connsiteX0" fmla="*/ 0 w 190500"/>
              <a:gd name="connsiteY0" fmla="*/ 0 h 377952"/>
              <a:gd name="connsiteX1" fmla="*/ 0 w 190500"/>
              <a:gd name="connsiteY1" fmla="*/ 190500 h 377952"/>
              <a:gd name="connsiteX2" fmla="*/ 108680 w 190500"/>
              <a:gd name="connsiteY2" fmla="*/ 190500 h 377952"/>
              <a:gd name="connsiteX3" fmla="*/ 0 w 190500"/>
              <a:gd name="connsiteY3" fmla="*/ 296228 h 377952"/>
              <a:gd name="connsiteX4" fmla="*/ 0 w 190500"/>
              <a:gd name="connsiteY4" fmla="*/ 377952 h 377952"/>
              <a:gd name="connsiteX5" fmla="*/ 190500 w 190500"/>
              <a:gd name="connsiteY5" fmla="*/ 190500 h 377952"/>
              <a:gd name="connsiteX6" fmla="*/ 190500 w 190500"/>
              <a:gd name="connsiteY6" fmla="*/ 190500 h 377952"/>
              <a:gd name="connsiteX7" fmla="*/ 190500 w 190500"/>
              <a:gd name="connsiteY7" fmla="*/ 0 h 377952"/>
            </a:gdLst>
            <a:ahLst/>
            <a:cxnLst/>
            <a:rect l="l" t="t" r="r" b="b"/>
            <a:pathLst>
              <a:path w="190500" h="377952">
                <a:moveTo>
                  <a:pt x="0" y="0"/>
                </a:moveTo>
                <a:lnTo>
                  <a:pt x="0" y="190500"/>
                </a:lnTo>
                <a:lnTo>
                  <a:pt x="108680" y="190500"/>
                </a:lnTo>
                <a:cubicBezTo>
                  <a:pt x="107031" y="249344"/>
                  <a:pt x="58867" y="296199"/>
                  <a:pt x="0" y="296228"/>
                </a:cubicBezTo>
                <a:lnTo>
                  <a:pt x="0" y="377952"/>
                </a:lnTo>
                <a:cubicBezTo>
                  <a:pt x="104031" y="377965"/>
                  <a:pt x="188835" y="294518"/>
                  <a:pt x="190500" y="190500"/>
                </a:cubicBezTo>
                <a:lnTo>
                  <a:pt x="190500" y="190500"/>
                </a:lnTo>
                <a:lnTo>
                  <a:pt x="190500" y="0"/>
                </a:lnTo>
                <a:close/>
              </a:path>
            </a:pathLst>
          </a:custGeom>
          <a:solidFill>
            <a:schemeClr val="bg1">
              <a:lumMod val="85000"/>
              <a:alpha val="50000"/>
            </a:schemeClr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268880" y="2538232"/>
            <a:ext cx="8340950" cy="210952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r>
              <a:rPr lang="es-EC" dirty="0"/>
              <a:t>No es eficiente ni rápido enviar todos esos datos al data center central para su procesamiento. El </a:t>
            </a:r>
            <a:r>
              <a:rPr lang="es-EC" b="1" dirty="0"/>
              <a:t>Edge Computing</a:t>
            </a:r>
            <a:r>
              <a:rPr lang="es-EC" dirty="0"/>
              <a:t> emerge, requiriendo </a:t>
            </a:r>
            <a:r>
              <a:rPr lang="es-EC" i="1" dirty="0" err="1"/>
              <a:t>micro-data</a:t>
            </a:r>
            <a:r>
              <a:rPr lang="es-EC" i="1" dirty="0"/>
              <a:t> centers</a:t>
            </a:r>
            <a:r>
              <a:rPr lang="es-EC" dirty="0"/>
              <a:t> (gabinetes seguros en sitios remotos) que se gestionan como extensiones del data center principal.</a:t>
            </a:r>
          </a:p>
          <a:p>
            <a:pPr algn="l"/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Nacimiento del "Edge Computing"</a:t>
            </a:r>
            <a:endParaRPr kumimoji="1" lang="zh-CN" alt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E0347DD-E1CC-3810-C56B-60C3FB921F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394400" y="2116975"/>
            <a:ext cx="7200000" cy="3240000"/>
          </a:xfrm>
          <a:prstGeom prst="rect">
            <a:avLst/>
          </a:prstGeom>
          <a:solidFill>
            <a:schemeClr val="bg1"/>
          </a:solidFill>
          <a:ln w="38100" cap="sq">
            <a:solidFill>
              <a:schemeClr val="accent1"/>
            </a:solidFill>
            <a:miter/>
          </a:ln>
          <a:effectLst>
            <a:outerShdw blurRad="317500" dist="190500" dir="30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2751351" y="2409026"/>
            <a:ext cx="431250" cy="342240"/>
          </a:xfrm>
          <a:custGeom>
            <a:avLst/>
            <a:gdLst>
              <a:gd name="connsiteX0" fmla="*/ 431250 w 431250"/>
              <a:gd name="connsiteY0" fmla="*/ 0 h 342240"/>
              <a:gd name="connsiteX1" fmla="*/ 431250 w 431250"/>
              <a:gd name="connsiteY1" fmla="*/ 74003 h 342240"/>
              <a:gd name="connsiteX2" fmla="*/ 332839 w 431250"/>
              <a:gd name="connsiteY2" fmla="*/ 169740 h 342240"/>
              <a:gd name="connsiteX3" fmla="*/ 431250 w 431250"/>
              <a:gd name="connsiteY3" fmla="*/ 169740 h 342240"/>
              <a:gd name="connsiteX4" fmla="*/ 431250 w 431250"/>
              <a:gd name="connsiteY4" fmla="*/ 342240 h 342240"/>
              <a:gd name="connsiteX5" fmla="*/ 258750 w 431250"/>
              <a:gd name="connsiteY5" fmla="*/ 342240 h 342240"/>
              <a:gd name="connsiteX6" fmla="*/ 258750 w 431250"/>
              <a:gd name="connsiteY6" fmla="*/ 169740 h 342240"/>
              <a:gd name="connsiteX7" fmla="*/ 431250 w 431250"/>
              <a:gd name="connsiteY7" fmla="*/ 0 h 342240"/>
              <a:gd name="connsiteX8" fmla="*/ 172500 w 431250"/>
              <a:gd name="connsiteY8" fmla="*/ 0 h 342240"/>
              <a:gd name="connsiteX9" fmla="*/ 172500 w 431250"/>
              <a:gd name="connsiteY9" fmla="*/ 74003 h 342240"/>
              <a:gd name="connsiteX10" fmla="*/ 74089 w 431250"/>
              <a:gd name="connsiteY10" fmla="*/ 169740 h 342240"/>
              <a:gd name="connsiteX11" fmla="*/ 172500 w 431250"/>
              <a:gd name="connsiteY11" fmla="*/ 169740 h 342240"/>
              <a:gd name="connsiteX12" fmla="*/ 172500 w 431250"/>
              <a:gd name="connsiteY12" fmla="*/ 342240 h 342240"/>
              <a:gd name="connsiteX13" fmla="*/ 0 w 431250"/>
              <a:gd name="connsiteY13" fmla="*/ 342240 h 342240"/>
              <a:gd name="connsiteX14" fmla="*/ 0 w 431250"/>
              <a:gd name="connsiteY14" fmla="*/ 169740 h 342240"/>
              <a:gd name="connsiteX15" fmla="*/ 172500 w 431250"/>
              <a:gd name="connsiteY15" fmla="*/ 0 h 342240"/>
            </a:gdLst>
            <a:ahLst/>
            <a:cxnLst/>
            <a:rect l="l" t="t" r="r" b="b"/>
            <a:pathLst>
              <a:path w="431250" h="342240">
                <a:moveTo>
                  <a:pt x="431250" y="0"/>
                </a:moveTo>
                <a:lnTo>
                  <a:pt x="431250" y="74003"/>
                </a:lnTo>
                <a:cubicBezTo>
                  <a:pt x="377945" y="74028"/>
                  <a:pt x="334333" y="116456"/>
                  <a:pt x="332839" y="169740"/>
                </a:cubicBezTo>
                <a:lnTo>
                  <a:pt x="431250" y="169740"/>
                </a:lnTo>
                <a:lnTo>
                  <a:pt x="431250" y="342240"/>
                </a:lnTo>
                <a:lnTo>
                  <a:pt x="258750" y="342240"/>
                </a:lnTo>
                <a:lnTo>
                  <a:pt x="258750" y="169740"/>
                </a:lnTo>
                <a:cubicBezTo>
                  <a:pt x="260258" y="75551"/>
                  <a:pt x="337049" y="-12"/>
                  <a:pt x="431250" y="0"/>
                </a:cubicBezTo>
                <a:close/>
                <a:moveTo>
                  <a:pt x="172500" y="0"/>
                </a:moveTo>
                <a:lnTo>
                  <a:pt x="172500" y="74003"/>
                </a:lnTo>
                <a:cubicBezTo>
                  <a:pt x="119195" y="74028"/>
                  <a:pt x="75583" y="116456"/>
                  <a:pt x="74089" y="169740"/>
                </a:cubicBezTo>
                <a:lnTo>
                  <a:pt x="172500" y="169740"/>
                </a:lnTo>
                <a:lnTo>
                  <a:pt x="172500" y="342240"/>
                </a:lnTo>
                <a:lnTo>
                  <a:pt x="0" y="342240"/>
                </a:lnTo>
                <a:lnTo>
                  <a:pt x="0" y="169740"/>
                </a:lnTo>
                <a:cubicBezTo>
                  <a:pt x="1508" y="75551"/>
                  <a:pt x="78299" y="-12"/>
                  <a:pt x="17250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5424" cap="flat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9057575" y="1690791"/>
            <a:ext cx="1080000" cy="1080000"/>
          </a:xfrm>
          <a:prstGeom prst="round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114400" y="2915094"/>
            <a:ext cx="5760000" cy="19819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r>
              <a:rPr lang="es-EC" dirty="0"/>
              <a:t>El administrador ahora es responsable de gestionar la energía, refrigeración y conectividad de docenas de sitios "</a:t>
            </a:r>
            <a:r>
              <a:rPr lang="es-EC" dirty="0" err="1"/>
              <a:t>edge</a:t>
            </a:r>
            <a:r>
              <a:rPr lang="es-EC" dirty="0"/>
              <a:t>" remotos, muchos de los cuales no tienen personal de TI local.</a:t>
            </a: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9327575" y="1976310"/>
            <a:ext cx="540000" cy="508962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Nuevos Desafíos de Gestión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5537200" y="2584037"/>
            <a:ext cx="5203029" cy="531018"/>
          </a:xfrm>
          <a:custGeom>
            <a:avLst/>
            <a:gdLst>
              <a:gd name="connsiteX0" fmla="*/ 3412998 w 3429190"/>
              <a:gd name="connsiteY0" fmla="*/ 0 h 531018"/>
              <a:gd name="connsiteX1" fmla="*/ 3062859 w 3429190"/>
              <a:gd name="connsiteY1" fmla="*/ 331280 h 531018"/>
              <a:gd name="connsiteX2" fmla="*/ 2359533 w 3429190"/>
              <a:gd name="connsiteY2" fmla="*/ 512064 h 531018"/>
              <a:gd name="connsiteX3" fmla="*/ 0 w 3429190"/>
              <a:gd name="connsiteY3" fmla="*/ 512064 h 531018"/>
              <a:gd name="connsiteX4" fmla="*/ 381 w 3429190"/>
              <a:gd name="connsiteY4" fmla="*/ 519112 h 531018"/>
              <a:gd name="connsiteX5" fmla="*/ 1238 w 3429190"/>
              <a:gd name="connsiteY5" fmla="*/ 531019 h 531018"/>
              <a:gd name="connsiteX6" fmla="*/ 2359438 w 3429190"/>
              <a:gd name="connsiteY6" fmla="*/ 531019 h 531018"/>
              <a:gd name="connsiteX7" fmla="*/ 3072194 w 3429190"/>
              <a:gd name="connsiteY7" fmla="*/ 347758 h 531018"/>
              <a:gd name="connsiteX8" fmla="*/ 3429191 w 3429190"/>
              <a:gd name="connsiteY8" fmla="*/ 9811 h 531018"/>
              <a:gd name="connsiteX9" fmla="*/ 3412998 w 3429190"/>
              <a:gd name="connsiteY9" fmla="*/ 0 h 531018"/>
            </a:gdLst>
            <a:ahLst/>
            <a:cxnLst/>
            <a:rect l="l" t="t" r="r" b="b"/>
            <a:pathLst>
              <a:path w="3429190" h="531018">
                <a:moveTo>
                  <a:pt x="3412998" y="0"/>
                </a:moveTo>
                <a:cubicBezTo>
                  <a:pt x="3335179" y="129730"/>
                  <a:pt x="3217355" y="241173"/>
                  <a:pt x="3062859" y="331280"/>
                </a:cubicBezTo>
                <a:cubicBezTo>
                  <a:pt x="2859881" y="449580"/>
                  <a:pt x="2616708" y="512064"/>
                  <a:pt x="2359533" y="512064"/>
                </a:cubicBezTo>
                <a:lnTo>
                  <a:pt x="0" y="512064"/>
                </a:lnTo>
                <a:cubicBezTo>
                  <a:pt x="191" y="514445"/>
                  <a:pt x="381" y="516731"/>
                  <a:pt x="381" y="519112"/>
                </a:cubicBezTo>
                <a:cubicBezTo>
                  <a:pt x="953" y="523113"/>
                  <a:pt x="1238" y="527018"/>
                  <a:pt x="1238" y="531019"/>
                </a:cubicBezTo>
                <a:lnTo>
                  <a:pt x="2359438" y="531019"/>
                </a:lnTo>
                <a:cubicBezTo>
                  <a:pt x="2619851" y="531019"/>
                  <a:pt x="2866454" y="467582"/>
                  <a:pt x="3072194" y="347758"/>
                </a:cubicBezTo>
                <a:cubicBezTo>
                  <a:pt x="3229547" y="256032"/>
                  <a:pt x="3349657" y="142303"/>
                  <a:pt x="3429191" y="9811"/>
                </a:cubicBezTo>
                <a:lnTo>
                  <a:pt x="3412998" y="0"/>
                </a:lnTo>
                <a:close/>
              </a:path>
            </a:pathLst>
          </a:custGeom>
          <a:solidFill>
            <a:schemeClr val="accent1"/>
          </a:solidFill>
          <a:ln w="2857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707753" y="2164061"/>
            <a:ext cx="305938" cy="378832"/>
          </a:xfrm>
          <a:custGeom>
            <a:avLst/>
            <a:gdLst>
              <a:gd name="connsiteX0" fmla="*/ 303938 w 305938"/>
              <a:gd name="connsiteY0" fmla="*/ 316058 h 378832"/>
              <a:gd name="connsiteX1" fmla="*/ 305939 w 305938"/>
              <a:gd name="connsiteY1" fmla="*/ 4876 h 378832"/>
              <a:gd name="connsiteX2" fmla="*/ 299462 w 305938"/>
              <a:gd name="connsiteY2" fmla="*/ 780 h 378832"/>
              <a:gd name="connsiteX3" fmla="*/ 4663 w 305938"/>
              <a:gd name="connsiteY3" fmla="*/ 222618 h 378832"/>
              <a:gd name="connsiteX4" fmla="*/ 8378 w 305938"/>
              <a:gd name="connsiteY4" fmla="*/ 244620 h 378832"/>
              <a:gd name="connsiteX5" fmla="*/ 93055 w 305938"/>
              <a:gd name="connsiteY5" fmla="*/ 269385 h 378832"/>
              <a:gd name="connsiteX6" fmla="*/ 264314 w 305938"/>
              <a:gd name="connsiteY6" fmla="*/ 76123 h 378832"/>
              <a:gd name="connsiteX7" fmla="*/ 127154 w 305938"/>
              <a:gd name="connsiteY7" fmla="*/ 285578 h 378832"/>
              <a:gd name="connsiteX8" fmla="*/ 134679 w 305938"/>
              <a:gd name="connsiteY8" fmla="*/ 367588 h 378832"/>
              <a:gd name="connsiteX9" fmla="*/ 155063 w 305938"/>
              <a:gd name="connsiteY9" fmla="*/ 372160 h 378832"/>
              <a:gd name="connsiteX10" fmla="*/ 186781 w 305938"/>
              <a:gd name="connsiteY10" fmla="*/ 298056 h 378832"/>
              <a:gd name="connsiteX11" fmla="*/ 290984 w 305938"/>
              <a:gd name="connsiteY11" fmla="*/ 327393 h 378832"/>
              <a:gd name="connsiteX12" fmla="*/ 303938 w 305938"/>
              <a:gd name="connsiteY12" fmla="*/ 316058 h 378832"/>
            </a:gdLst>
            <a:ahLst/>
            <a:cxnLst/>
            <a:rect l="l" t="t" r="r" b="b"/>
            <a:pathLst>
              <a:path w="305938" h="378832">
                <a:moveTo>
                  <a:pt x="303938" y="316058"/>
                </a:moveTo>
                <a:lnTo>
                  <a:pt x="305939" y="4876"/>
                </a:lnTo>
                <a:cubicBezTo>
                  <a:pt x="305939" y="1066"/>
                  <a:pt x="302224" y="-1315"/>
                  <a:pt x="299462" y="780"/>
                </a:cubicBezTo>
                <a:lnTo>
                  <a:pt x="4663" y="222618"/>
                </a:lnTo>
                <a:cubicBezTo>
                  <a:pt x="-3052" y="228428"/>
                  <a:pt x="-766" y="241953"/>
                  <a:pt x="8378" y="244620"/>
                </a:cubicBezTo>
                <a:lnTo>
                  <a:pt x="93055" y="269385"/>
                </a:lnTo>
                <a:lnTo>
                  <a:pt x="264314" y="76123"/>
                </a:lnTo>
                <a:lnTo>
                  <a:pt x="127154" y="285578"/>
                </a:lnTo>
                <a:lnTo>
                  <a:pt x="134679" y="367588"/>
                </a:lnTo>
                <a:cubicBezTo>
                  <a:pt x="135822" y="379875"/>
                  <a:pt x="150395" y="383114"/>
                  <a:pt x="155063" y="372160"/>
                </a:cubicBezTo>
                <a:lnTo>
                  <a:pt x="186781" y="298056"/>
                </a:lnTo>
                <a:lnTo>
                  <a:pt x="290984" y="327393"/>
                </a:lnTo>
                <a:cubicBezTo>
                  <a:pt x="297557" y="329393"/>
                  <a:pt x="303843" y="323868"/>
                  <a:pt x="303938" y="31605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05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Impacto en la Gestión de Centros de Cómputo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320C0CD-010C-20E2-D9A8-5B2E3E011A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935971" y="1950238"/>
            <a:ext cx="453863" cy="453863"/>
          </a:xfrm>
          <a:prstGeom prst="halfFrame">
            <a:avLst>
              <a:gd name="adj1" fmla="val 14215"/>
              <a:gd name="adj2" fmla="val 15686"/>
            </a:avLst>
          </a:prstGeom>
          <a:solidFill>
            <a:schemeClr val="accent3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8789466" y="4860299"/>
            <a:ext cx="453863" cy="453863"/>
          </a:xfrm>
          <a:prstGeom prst="halfFrame">
            <a:avLst>
              <a:gd name="adj1" fmla="val 14215"/>
              <a:gd name="adj2" fmla="val 15686"/>
            </a:avLst>
          </a:prstGeom>
          <a:solidFill>
            <a:schemeClr val="accent3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189087" y="2153808"/>
            <a:ext cx="5893542" cy="295678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142879" y="2153808"/>
            <a:ext cx="5893542" cy="453863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383768" y="2903387"/>
            <a:ext cx="5411764" cy="19022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dirty="0"/>
              <a:t>La gestión deja de ser "apagar incendios" (un disco falló) para ser </a:t>
            </a:r>
            <a:r>
              <a:rPr lang="es-EC" b="1" dirty="0"/>
              <a:t>proactiva</a:t>
            </a:r>
            <a:r>
              <a:rPr lang="es-EC" dirty="0"/>
              <a:t> (</a:t>
            </a:r>
            <a:r>
              <a:rPr lang="es-EC" dirty="0" err="1"/>
              <a:t>AIOps</a:t>
            </a:r>
            <a:r>
              <a:rPr lang="es-EC" dirty="0"/>
              <a:t> indica que un disco </a:t>
            </a:r>
            <a:r>
              <a:rPr lang="es-EC" i="1" dirty="0"/>
              <a:t>va</a:t>
            </a:r>
            <a:r>
              <a:rPr lang="es-EC" dirty="0"/>
              <a:t> a fallar).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 Reactivo a Predictivo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V="1">
            <a:off x="2239545" y="1740567"/>
            <a:ext cx="7700210" cy="3272590"/>
          </a:xfrm>
          <a:custGeom>
            <a:avLst/>
            <a:gdLst>
              <a:gd name="connsiteX0" fmla="*/ 0 w 7700210"/>
              <a:gd name="connsiteY0" fmla="*/ 3272590 h 3272590"/>
              <a:gd name="connsiteX1" fmla="*/ 7700210 w 7700210"/>
              <a:gd name="connsiteY1" fmla="*/ 3272590 h 3272590"/>
              <a:gd name="connsiteX2" fmla="*/ 7700210 w 7700210"/>
              <a:gd name="connsiteY2" fmla="*/ 232611 h 3272590"/>
              <a:gd name="connsiteX3" fmla="*/ 821676 w 7700210"/>
              <a:gd name="connsiteY3" fmla="*/ 232611 h 3272590"/>
              <a:gd name="connsiteX4" fmla="*/ 686762 w 7700210"/>
              <a:gd name="connsiteY4" fmla="*/ 0 h 3272590"/>
              <a:gd name="connsiteX5" fmla="*/ 551848 w 7700210"/>
              <a:gd name="connsiteY5" fmla="*/ 232611 h 3272590"/>
              <a:gd name="connsiteX6" fmla="*/ 0 w 7700210"/>
              <a:gd name="connsiteY6" fmla="*/ 232611 h 3272590"/>
            </a:gdLst>
            <a:ahLst/>
            <a:cxnLst/>
            <a:rect l="l" t="t" r="r" b="b"/>
            <a:pathLst>
              <a:path w="7700210" h="3272590">
                <a:moveTo>
                  <a:pt x="0" y="3272590"/>
                </a:moveTo>
                <a:lnTo>
                  <a:pt x="7700210" y="3272590"/>
                </a:lnTo>
                <a:lnTo>
                  <a:pt x="7700210" y="232611"/>
                </a:lnTo>
                <a:lnTo>
                  <a:pt x="821676" y="232611"/>
                </a:lnTo>
                <a:lnTo>
                  <a:pt x="686762" y="0"/>
                </a:lnTo>
                <a:lnTo>
                  <a:pt x="551848" y="232611"/>
                </a:lnTo>
                <a:lnTo>
                  <a:pt x="0" y="232611"/>
                </a:lnTo>
                <a:close/>
              </a:path>
            </a:pathLst>
          </a:cu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2460124" y="2251307"/>
            <a:ext cx="7259052" cy="20479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lang="es-EC" dirty="0"/>
              <a:t>Con el aumento de la densidad (virtualización) y los costos de energía, la métrica clave del éxito es la </a:t>
            </a:r>
            <a:r>
              <a:rPr lang="es-EC" b="1" dirty="0"/>
              <a:t>eficiencia energética (PUE)</a:t>
            </a:r>
            <a:r>
              <a:rPr lang="es-EC" dirty="0"/>
              <a:t>. La IA es la principal herramienta para optimizarla.</a:t>
            </a:r>
            <a:endParaRPr kumimoji="1"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2600989" y="5013157"/>
            <a:ext cx="657230" cy="529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029365" y="1395661"/>
            <a:ext cx="689811" cy="689811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169731" y="1561496"/>
            <a:ext cx="409078" cy="358140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 flipV="1">
            <a:off x="2460124" y="2039752"/>
            <a:ext cx="316831" cy="45719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Enfoque en la Eficiencia (PUE)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AA30B93-9B7E-8E93-689E-6E9BD34A1C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935971" y="1950238"/>
            <a:ext cx="453863" cy="453863"/>
          </a:xfrm>
          <a:prstGeom prst="halfFrame">
            <a:avLst>
              <a:gd name="adj1" fmla="val 14215"/>
              <a:gd name="adj2" fmla="val 15686"/>
            </a:avLst>
          </a:prstGeom>
          <a:solidFill>
            <a:schemeClr val="accent3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>
            <a:off x="8789466" y="4860299"/>
            <a:ext cx="453863" cy="453863"/>
          </a:xfrm>
          <a:prstGeom prst="halfFrame">
            <a:avLst>
              <a:gd name="adj1" fmla="val 14215"/>
              <a:gd name="adj2" fmla="val 15686"/>
            </a:avLst>
          </a:prstGeom>
          <a:solidFill>
            <a:schemeClr val="accent3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142879" y="2153808"/>
            <a:ext cx="5893542" cy="295678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142879" y="2153808"/>
            <a:ext cx="5893542" cy="453863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383768" y="2903387"/>
            <a:ext cx="5411764" cy="19022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dirty="0"/>
              <a:t>Una herramienta de </a:t>
            </a:r>
            <a:r>
              <a:rPr lang="es-EC" b="1" dirty="0"/>
              <a:t>Gestión de Infraestructura de Centro de Cómputo (DCIM)</a:t>
            </a:r>
            <a:r>
              <a:rPr lang="es-EC" dirty="0"/>
              <a:t>, potenciada con IA, ya no es un lujo; es una necesidad para tener visibilidad de la energía, el espacio y la conectividad en un entorno tan complejo.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El DCIM se vuelve Cerebro Central</a:t>
            </a:r>
            <a:endParaRPr kumimoji="1" lang="zh-CN" alt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D816473-A416-B33E-39C8-F92DE38152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7085365" y="2271955"/>
            <a:ext cx="1157045" cy="1157045"/>
          </a:xfrm>
          <a:prstGeom prst="ellipse">
            <a:avLst/>
          </a:prstGeom>
          <a:gradFill>
            <a:gsLst>
              <a:gs pos="0">
                <a:schemeClr val="accent2">
                  <a:lumMod val="85000"/>
                  <a:lumOff val="15000"/>
                </a:schemeClr>
              </a:gs>
              <a:gs pos="86000">
                <a:schemeClr val="accent2"/>
              </a:gs>
            </a:gsLst>
            <a:lin ang="3240000" scaled="0"/>
          </a:gradFill>
          <a:ln w="9525" cap="flat">
            <a:noFill/>
            <a:miter/>
          </a:ln>
          <a:effectLst>
            <a:outerShdw blurRad="190500" dist="127000" dir="5400000" sx="105000" sy="105000" algn="t" rotWithShape="0">
              <a:schemeClr val="accent2">
                <a:lumMod val="50000"/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8529568" y="2271955"/>
            <a:ext cx="1157045" cy="1157045"/>
          </a:xfrm>
          <a:prstGeom prst="ellipse">
            <a:avLst/>
          </a:prstGeom>
          <a:gradFill>
            <a:gsLst>
              <a:gs pos="0">
                <a:schemeClr val="accent2">
                  <a:lumMod val="85000"/>
                  <a:lumOff val="15000"/>
                </a:schemeClr>
              </a:gs>
              <a:gs pos="86000">
                <a:schemeClr val="accent2"/>
              </a:gs>
            </a:gsLst>
            <a:lin ang="3240000" scaled="0"/>
          </a:gradFill>
          <a:ln w="9525" cap="flat">
            <a:noFill/>
            <a:miter/>
          </a:ln>
          <a:effectLst>
            <a:outerShdw blurRad="190500" dist="127000" dir="5400000" sx="105000" sy="105000" algn="t" rotWithShape="0">
              <a:schemeClr val="accent2">
                <a:lumMod val="50000"/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9973771" y="2271955"/>
            <a:ext cx="1157045" cy="1157045"/>
          </a:xfrm>
          <a:prstGeom prst="ellipse">
            <a:avLst/>
          </a:prstGeom>
          <a:gradFill>
            <a:gsLst>
              <a:gs pos="0">
                <a:schemeClr val="accent2">
                  <a:lumMod val="85000"/>
                  <a:lumOff val="15000"/>
                </a:schemeClr>
              </a:gs>
              <a:gs pos="86000">
                <a:schemeClr val="accent2"/>
              </a:gs>
            </a:gsLst>
            <a:lin ang="3240000" scaled="0"/>
          </a:gradFill>
          <a:ln w="9525" cap="flat">
            <a:noFill/>
            <a:miter/>
          </a:ln>
          <a:effectLst>
            <a:outerShdw blurRad="190500" dist="127000" dir="5400000" sx="105000" sy="105000" algn="t" rotWithShape="0">
              <a:schemeClr val="accent2">
                <a:lumMod val="50000"/>
                <a:alpha val="20000"/>
              </a:schemeClr>
            </a:outerShdw>
          </a:effectLst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7396138" y="2602791"/>
            <a:ext cx="535498" cy="495372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840341" y="2616067"/>
            <a:ext cx="535498" cy="468820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0284544" y="2591366"/>
            <a:ext cx="535498" cy="518222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786577" y="4119145"/>
            <a:ext cx="6164121" cy="15958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lang="es-EC" dirty="0"/>
              <a:t>El "centro de cómputo" ya no son solo cuatro paredes. El administrador debe gestionar recursos </a:t>
            </a:r>
            <a:r>
              <a:rPr lang="es-EC" i="1" dirty="0" err="1"/>
              <a:t>on</a:t>
            </a:r>
            <a:r>
              <a:rPr lang="es-EC" i="1" dirty="0"/>
              <a:t>-premise</a:t>
            </a:r>
            <a:r>
              <a:rPr lang="es-EC" dirty="0"/>
              <a:t>, sitios </a:t>
            </a:r>
            <a:r>
              <a:rPr lang="es-EC" i="1" dirty="0" err="1"/>
              <a:t>edge</a:t>
            </a:r>
            <a:r>
              <a:rPr lang="es-EC" dirty="0"/>
              <a:t> (</a:t>
            </a:r>
            <a:r>
              <a:rPr lang="es-EC" dirty="0" err="1"/>
              <a:t>IoT</a:t>
            </a:r>
            <a:r>
              <a:rPr lang="es-EC" dirty="0"/>
              <a:t>) y recursos en la nube pública, todo como un ecosistema cohesivo.</a:t>
            </a:r>
            <a:endParaRPr kumimoji="1" lang="zh-CN" altLang="en-US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-1427499" y="1295523"/>
            <a:ext cx="8214398" cy="5295777"/>
          </a:xfrm>
          <a:prstGeom prst="rect">
            <a:avLst/>
          </a:prstGeom>
        </p:spPr>
      </p:pic>
      <p:sp>
        <p:nvSpPr>
          <p:cNvPr id="12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Gestión de la Complejidad Híbrida</a:t>
            </a:r>
            <a:endParaRPr kumimoji="1" lang="zh-CN" alt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920114D-926C-4A57-2B93-74CA4F10F3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5537200" y="2584037"/>
            <a:ext cx="5203029" cy="531018"/>
          </a:xfrm>
          <a:custGeom>
            <a:avLst/>
            <a:gdLst>
              <a:gd name="connsiteX0" fmla="*/ 3412998 w 3429190"/>
              <a:gd name="connsiteY0" fmla="*/ 0 h 531018"/>
              <a:gd name="connsiteX1" fmla="*/ 3062859 w 3429190"/>
              <a:gd name="connsiteY1" fmla="*/ 331280 h 531018"/>
              <a:gd name="connsiteX2" fmla="*/ 2359533 w 3429190"/>
              <a:gd name="connsiteY2" fmla="*/ 512064 h 531018"/>
              <a:gd name="connsiteX3" fmla="*/ 0 w 3429190"/>
              <a:gd name="connsiteY3" fmla="*/ 512064 h 531018"/>
              <a:gd name="connsiteX4" fmla="*/ 381 w 3429190"/>
              <a:gd name="connsiteY4" fmla="*/ 519112 h 531018"/>
              <a:gd name="connsiteX5" fmla="*/ 1238 w 3429190"/>
              <a:gd name="connsiteY5" fmla="*/ 531019 h 531018"/>
              <a:gd name="connsiteX6" fmla="*/ 2359438 w 3429190"/>
              <a:gd name="connsiteY6" fmla="*/ 531019 h 531018"/>
              <a:gd name="connsiteX7" fmla="*/ 3072194 w 3429190"/>
              <a:gd name="connsiteY7" fmla="*/ 347758 h 531018"/>
              <a:gd name="connsiteX8" fmla="*/ 3429191 w 3429190"/>
              <a:gd name="connsiteY8" fmla="*/ 9811 h 531018"/>
              <a:gd name="connsiteX9" fmla="*/ 3412998 w 3429190"/>
              <a:gd name="connsiteY9" fmla="*/ 0 h 531018"/>
            </a:gdLst>
            <a:ahLst/>
            <a:cxnLst/>
            <a:rect l="l" t="t" r="r" b="b"/>
            <a:pathLst>
              <a:path w="3429190" h="531018">
                <a:moveTo>
                  <a:pt x="3412998" y="0"/>
                </a:moveTo>
                <a:cubicBezTo>
                  <a:pt x="3335179" y="129730"/>
                  <a:pt x="3217355" y="241173"/>
                  <a:pt x="3062859" y="331280"/>
                </a:cubicBezTo>
                <a:cubicBezTo>
                  <a:pt x="2859881" y="449580"/>
                  <a:pt x="2616708" y="512064"/>
                  <a:pt x="2359533" y="512064"/>
                </a:cubicBezTo>
                <a:lnTo>
                  <a:pt x="0" y="512064"/>
                </a:lnTo>
                <a:cubicBezTo>
                  <a:pt x="191" y="514445"/>
                  <a:pt x="381" y="516731"/>
                  <a:pt x="381" y="519112"/>
                </a:cubicBezTo>
                <a:cubicBezTo>
                  <a:pt x="953" y="523113"/>
                  <a:pt x="1238" y="527018"/>
                  <a:pt x="1238" y="531019"/>
                </a:cubicBezTo>
                <a:lnTo>
                  <a:pt x="2359438" y="531019"/>
                </a:lnTo>
                <a:cubicBezTo>
                  <a:pt x="2619851" y="531019"/>
                  <a:pt x="2866454" y="467582"/>
                  <a:pt x="3072194" y="347758"/>
                </a:cubicBezTo>
                <a:cubicBezTo>
                  <a:pt x="3229547" y="256032"/>
                  <a:pt x="3349657" y="142303"/>
                  <a:pt x="3429191" y="9811"/>
                </a:cubicBezTo>
                <a:lnTo>
                  <a:pt x="3412998" y="0"/>
                </a:lnTo>
                <a:close/>
              </a:path>
            </a:pathLst>
          </a:custGeom>
          <a:solidFill>
            <a:schemeClr val="accent1"/>
          </a:solidFill>
          <a:ln w="2857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707753" y="2164061"/>
            <a:ext cx="305938" cy="378832"/>
          </a:xfrm>
          <a:custGeom>
            <a:avLst/>
            <a:gdLst>
              <a:gd name="connsiteX0" fmla="*/ 303938 w 305938"/>
              <a:gd name="connsiteY0" fmla="*/ 316058 h 378832"/>
              <a:gd name="connsiteX1" fmla="*/ 305939 w 305938"/>
              <a:gd name="connsiteY1" fmla="*/ 4876 h 378832"/>
              <a:gd name="connsiteX2" fmla="*/ 299462 w 305938"/>
              <a:gd name="connsiteY2" fmla="*/ 780 h 378832"/>
              <a:gd name="connsiteX3" fmla="*/ 4663 w 305938"/>
              <a:gd name="connsiteY3" fmla="*/ 222618 h 378832"/>
              <a:gd name="connsiteX4" fmla="*/ 8378 w 305938"/>
              <a:gd name="connsiteY4" fmla="*/ 244620 h 378832"/>
              <a:gd name="connsiteX5" fmla="*/ 93055 w 305938"/>
              <a:gd name="connsiteY5" fmla="*/ 269385 h 378832"/>
              <a:gd name="connsiteX6" fmla="*/ 264314 w 305938"/>
              <a:gd name="connsiteY6" fmla="*/ 76123 h 378832"/>
              <a:gd name="connsiteX7" fmla="*/ 127154 w 305938"/>
              <a:gd name="connsiteY7" fmla="*/ 285578 h 378832"/>
              <a:gd name="connsiteX8" fmla="*/ 134679 w 305938"/>
              <a:gd name="connsiteY8" fmla="*/ 367588 h 378832"/>
              <a:gd name="connsiteX9" fmla="*/ 155063 w 305938"/>
              <a:gd name="connsiteY9" fmla="*/ 372160 h 378832"/>
              <a:gd name="connsiteX10" fmla="*/ 186781 w 305938"/>
              <a:gd name="connsiteY10" fmla="*/ 298056 h 378832"/>
              <a:gd name="connsiteX11" fmla="*/ 290984 w 305938"/>
              <a:gd name="connsiteY11" fmla="*/ 327393 h 378832"/>
              <a:gd name="connsiteX12" fmla="*/ 303938 w 305938"/>
              <a:gd name="connsiteY12" fmla="*/ 316058 h 378832"/>
            </a:gdLst>
            <a:ahLst/>
            <a:cxnLst/>
            <a:rect l="l" t="t" r="r" b="b"/>
            <a:pathLst>
              <a:path w="305938" h="378832">
                <a:moveTo>
                  <a:pt x="303938" y="316058"/>
                </a:moveTo>
                <a:lnTo>
                  <a:pt x="305939" y="4876"/>
                </a:lnTo>
                <a:cubicBezTo>
                  <a:pt x="305939" y="1066"/>
                  <a:pt x="302224" y="-1315"/>
                  <a:pt x="299462" y="780"/>
                </a:cubicBezTo>
                <a:lnTo>
                  <a:pt x="4663" y="222618"/>
                </a:lnTo>
                <a:cubicBezTo>
                  <a:pt x="-3052" y="228428"/>
                  <a:pt x="-766" y="241953"/>
                  <a:pt x="8378" y="244620"/>
                </a:cubicBezTo>
                <a:lnTo>
                  <a:pt x="93055" y="269385"/>
                </a:lnTo>
                <a:lnTo>
                  <a:pt x="264314" y="76123"/>
                </a:lnTo>
                <a:lnTo>
                  <a:pt x="127154" y="285578"/>
                </a:lnTo>
                <a:lnTo>
                  <a:pt x="134679" y="367588"/>
                </a:lnTo>
                <a:cubicBezTo>
                  <a:pt x="135822" y="379875"/>
                  <a:pt x="150395" y="383114"/>
                  <a:pt x="155063" y="372160"/>
                </a:cubicBezTo>
                <a:lnTo>
                  <a:pt x="186781" y="298056"/>
                </a:lnTo>
                <a:lnTo>
                  <a:pt x="290984" y="327393"/>
                </a:lnTo>
                <a:cubicBezTo>
                  <a:pt x="297557" y="329393"/>
                  <a:pt x="303843" y="323868"/>
                  <a:pt x="303938" y="31605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06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879740" y="405222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Oportunidades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y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Desafíos</a:t>
            </a:r>
            <a:endParaRPr kumimoji="1" lang="zh-CN" altLang="en-U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F05F7EF-B2A6-0B6D-9FD1-921F089D47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rot="5400000">
            <a:off x="1441943" y="2098423"/>
            <a:ext cx="936000" cy="93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567943" y="2280577"/>
            <a:ext cx="720000" cy="36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7943" y="2571393"/>
            <a:ext cx="2520000" cy="3240000"/>
          </a:xfrm>
          <a:prstGeom prst="roundRect">
            <a:avLst>
              <a:gd name="adj" fmla="val 8821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317500" dir="5400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5400000">
            <a:off x="4218929" y="1453008"/>
            <a:ext cx="936000" cy="93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4344929" y="1635163"/>
            <a:ext cx="720000" cy="36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444929" y="1925977"/>
            <a:ext cx="2520000" cy="3240000"/>
          </a:xfrm>
          <a:prstGeom prst="roundRect">
            <a:avLst>
              <a:gd name="adj" fmla="val 8821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317500" dir="5400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 rot="5400000">
            <a:off x="6995915" y="2098423"/>
            <a:ext cx="936000" cy="93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121915" y="2280577"/>
            <a:ext cx="720000" cy="36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221915" y="2571393"/>
            <a:ext cx="2520000" cy="3240000"/>
          </a:xfrm>
          <a:prstGeom prst="roundRect">
            <a:avLst>
              <a:gd name="adj" fmla="val 8821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317500" dir="5400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 rot="5400000">
            <a:off x="9772900" y="1453008"/>
            <a:ext cx="936000" cy="93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898900" y="1635163"/>
            <a:ext cx="720000" cy="360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04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8998900" y="1925976"/>
            <a:ext cx="2520000" cy="3789023"/>
          </a:xfrm>
          <a:prstGeom prst="roundRect">
            <a:avLst>
              <a:gd name="adj" fmla="val 8821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317500" dir="5400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925100" y="3527958"/>
            <a:ext cx="2138140" cy="2187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Usar IA para gestionar la refrigeración y la energía permite crear centros de cómputo "verdes" (Green IT), reduciendo costos operativos (</a:t>
            </a:r>
            <a:r>
              <a:rPr kumimoji="1" lang="es-EC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OpEx</a:t>
            </a:r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) y cumpliendo metas de sostenibilidad</a:t>
            </a:r>
            <a:r>
              <a:rPr lang="es-EC" dirty="0"/>
              <a:t>.</a:t>
            </a:r>
          </a:p>
          <a:p>
            <a:pPr algn="l"/>
            <a:r>
              <a:rPr kumimoji="1" lang="en-US" altLang="zh-CN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15" name="标题 1"/>
          <p:cNvSpPr txBox="1"/>
          <p:nvPr/>
        </p:nvSpPr>
        <p:spPr>
          <a:xfrm>
            <a:off x="925100" y="2804692"/>
            <a:ext cx="2016000" cy="64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Hiper-Eficiencia y Sostenibilidad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3704600" y="2892104"/>
            <a:ext cx="2016000" cy="187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La</a:t>
            </a:r>
            <a:r>
              <a:rPr lang="es-EC" dirty="0"/>
              <a:t> </a:t>
            </a:r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convergencia de </a:t>
            </a:r>
            <a:r>
              <a:rPr kumimoji="1" lang="es-EC" sz="1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AIOps</a:t>
            </a:r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, virtualización e infraestructura definida por software permite aspirar a un data center "oscuro", donde la intervención humana para tareas rutinarias es casi nula.</a:t>
            </a:r>
          </a:p>
        </p:txBody>
      </p:sp>
      <p:sp>
        <p:nvSpPr>
          <p:cNvPr id="17" name="标题 1"/>
          <p:cNvSpPr txBox="1"/>
          <p:nvPr/>
        </p:nvSpPr>
        <p:spPr>
          <a:xfrm>
            <a:off x="3704600" y="2168839"/>
            <a:ext cx="2016000" cy="64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138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Automatización Total (Lights-out Data Center)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356842" y="3527958"/>
            <a:ext cx="2270515" cy="187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kumimoji="1" lang="es-EC" sz="1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El administrador de data center deja de ser un "guardián de servidores" y se convierte en un orquestador de servicios de infraestructura, clave para la agilidad del negocio.</a:t>
            </a:r>
          </a:p>
        </p:txBody>
      </p:sp>
      <p:sp>
        <p:nvSpPr>
          <p:cNvPr id="19" name="标题 1"/>
          <p:cNvSpPr txBox="1"/>
          <p:nvPr/>
        </p:nvSpPr>
        <p:spPr>
          <a:xfrm>
            <a:off x="6484100" y="2804692"/>
            <a:ext cx="2016000" cy="64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Valor Estratégico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9235729" y="2906976"/>
            <a:ext cx="2283171" cy="2114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lang="es-EC" dirty="0"/>
              <a:t>Oportunidad de rediseñar la infraestructura para soportar cargas de alta densidad (ej. </a:t>
            </a:r>
            <a:r>
              <a:rPr lang="es-EC" i="1" dirty="0" err="1"/>
              <a:t>liquid</a:t>
            </a:r>
            <a:r>
              <a:rPr lang="es-EC" i="1" dirty="0"/>
              <a:t> </a:t>
            </a:r>
            <a:r>
              <a:rPr lang="es-EC" i="1" dirty="0" err="1"/>
              <a:t>cooling</a:t>
            </a:r>
            <a:r>
              <a:rPr lang="es-EC" dirty="0"/>
              <a:t>) o para desplegar una estrategia de Edge Computing.</a:t>
            </a:r>
          </a:p>
        </p:txBody>
      </p:sp>
      <p:sp>
        <p:nvSpPr>
          <p:cNvPr id="21" name="标题 1"/>
          <p:cNvSpPr txBox="1"/>
          <p:nvPr/>
        </p:nvSpPr>
        <p:spPr>
          <a:xfrm>
            <a:off x="9250900" y="2031822"/>
            <a:ext cx="2016000" cy="648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Nuevas</a:t>
            </a:r>
            <a:r>
              <a:rPr kumimoji="1" lang="en-US" altLang="zh-CN" sz="16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Arquitecturas</a:t>
            </a:r>
            <a:endParaRPr kumimoji="1" lang="zh-CN" altLang="en-US" dirty="0"/>
          </a:p>
        </p:txBody>
      </p:sp>
      <p:sp>
        <p:nvSpPr>
          <p:cNvPr id="22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Oportunidades</a:t>
            </a:r>
            <a:endParaRPr kumimoji="1" lang="zh-CN" altLang="en-US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3B42FF32-524C-B22D-C2E9-AA7E20B366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86241" y="2493975"/>
            <a:ext cx="2642041" cy="2757208"/>
          </a:xfrm>
          <a:custGeom>
            <a:avLst/>
            <a:gdLst>
              <a:gd name="connsiteX0" fmla="*/ 1976659 w 2642041"/>
              <a:gd name="connsiteY0" fmla="*/ 2197272 h 2197271"/>
              <a:gd name="connsiteX1" fmla="*/ 170997 w 2642041"/>
              <a:gd name="connsiteY1" fmla="*/ 1200525 h 2197271"/>
              <a:gd name="connsiteX2" fmla="*/ 0 w 2642041"/>
              <a:gd name="connsiteY2" fmla="*/ 90372 h 2197271"/>
              <a:gd name="connsiteX3" fmla="*/ 2642042 w 2642041"/>
              <a:gd name="connsiteY3" fmla="*/ 0 h 2197271"/>
              <a:gd name="connsiteX4" fmla="*/ 1976659 w 2642041"/>
              <a:gd name="connsiteY4" fmla="*/ 2197272 h 2197271"/>
            </a:gdLst>
            <a:ahLst/>
            <a:cxnLst/>
            <a:rect l="l" t="t" r="r" b="b"/>
            <a:pathLst>
              <a:path w="2642041" h="2197271">
                <a:moveTo>
                  <a:pt x="1976659" y="2197272"/>
                </a:moveTo>
                <a:lnTo>
                  <a:pt x="170997" y="1200525"/>
                </a:lnTo>
                <a:lnTo>
                  <a:pt x="0" y="90372"/>
                </a:lnTo>
                <a:lnTo>
                  <a:pt x="2642042" y="0"/>
                </a:lnTo>
                <a:lnTo>
                  <a:pt x="1976659" y="2197272"/>
                </a:lnTo>
                <a:close/>
              </a:path>
            </a:pathLst>
          </a:custGeom>
          <a:noFill/>
          <a:ln w="8856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99331" y="2953833"/>
            <a:ext cx="2615860" cy="2053142"/>
          </a:xfrm>
          <a:custGeom>
            <a:avLst/>
            <a:gdLst>
              <a:gd name="connsiteX0" fmla="*/ 0 w 2470158"/>
              <a:gd name="connsiteY0" fmla="*/ 0 h 1476070"/>
              <a:gd name="connsiteX1" fmla="*/ 2470159 w 2470158"/>
              <a:gd name="connsiteY1" fmla="*/ 0 h 1476070"/>
              <a:gd name="connsiteX2" fmla="*/ 2470159 w 2470158"/>
              <a:gd name="connsiteY2" fmla="*/ 1476070 h 1476070"/>
              <a:gd name="connsiteX3" fmla="*/ 0 w 2470158"/>
              <a:gd name="connsiteY3" fmla="*/ 1476070 h 1476070"/>
            </a:gdLst>
            <a:ahLst/>
            <a:cxnLst/>
            <a:rect l="l" t="t" r="r" b="b"/>
            <a:pathLst>
              <a:path w="2470158" h="1476070">
                <a:moveTo>
                  <a:pt x="0" y="0"/>
                </a:moveTo>
                <a:lnTo>
                  <a:pt x="2470159" y="0"/>
                </a:lnTo>
                <a:lnTo>
                  <a:pt x="2470159" y="1476070"/>
                </a:lnTo>
                <a:lnTo>
                  <a:pt x="0" y="1476070"/>
                </a:ln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3609368" y="2385883"/>
            <a:ext cx="2395531" cy="2865300"/>
          </a:xfrm>
          <a:custGeom>
            <a:avLst/>
            <a:gdLst>
              <a:gd name="connsiteX0" fmla="*/ 2481677 w 2481676"/>
              <a:gd name="connsiteY0" fmla="*/ 1938561 h 2179551"/>
              <a:gd name="connsiteX1" fmla="*/ 24808 w 2481676"/>
              <a:gd name="connsiteY1" fmla="*/ 2179552 h 2179551"/>
              <a:gd name="connsiteX2" fmla="*/ 0 w 2481676"/>
              <a:gd name="connsiteY2" fmla="*/ 0 h 2179551"/>
              <a:gd name="connsiteX3" fmla="*/ 2238028 w 2481676"/>
              <a:gd name="connsiteY3" fmla="*/ 376549 h 2179551"/>
              <a:gd name="connsiteX4" fmla="*/ 2481677 w 2481676"/>
              <a:gd name="connsiteY4" fmla="*/ 1938561 h 2179551"/>
            </a:gdLst>
            <a:ahLst/>
            <a:cxnLst/>
            <a:rect l="l" t="t" r="r" b="b"/>
            <a:pathLst>
              <a:path w="2481676" h="2179551">
                <a:moveTo>
                  <a:pt x="2481677" y="1938561"/>
                </a:moveTo>
                <a:lnTo>
                  <a:pt x="24808" y="2179552"/>
                </a:lnTo>
                <a:lnTo>
                  <a:pt x="0" y="0"/>
                </a:lnTo>
                <a:lnTo>
                  <a:pt x="2238028" y="376549"/>
                </a:lnTo>
                <a:lnTo>
                  <a:pt x="2481677" y="1938561"/>
                </a:lnTo>
                <a:close/>
              </a:path>
            </a:pathLst>
          </a:custGeom>
          <a:noFill/>
          <a:ln w="8856" cap="flat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572054" y="2953833"/>
            <a:ext cx="2470158" cy="2053142"/>
          </a:xfrm>
          <a:custGeom>
            <a:avLst/>
            <a:gdLst>
              <a:gd name="connsiteX0" fmla="*/ 0 w 2470158"/>
              <a:gd name="connsiteY0" fmla="*/ 0 h 1476070"/>
              <a:gd name="connsiteX1" fmla="*/ 2470159 w 2470158"/>
              <a:gd name="connsiteY1" fmla="*/ 0 h 1476070"/>
              <a:gd name="connsiteX2" fmla="*/ 2470159 w 2470158"/>
              <a:gd name="connsiteY2" fmla="*/ 1476070 h 1476070"/>
              <a:gd name="connsiteX3" fmla="*/ 0 w 2470158"/>
              <a:gd name="connsiteY3" fmla="*/ 1476070 h 1476070"/>
            </a:gdLst>
            <a:ahLst/>
            <a:cxnLst/>
            <a:rect l="l" t="t" r="r" b="b"/>
            <a:pathLst>
              <a:path w="2470158" h="1476070">
                <a:moveTo>
                  <a:pt x="0" y="0"/>
                </a:moveTo>
                <a:lnTo>
                  <a:pt x="2470159" y="0"/>
                </a:lnTo>
                <a:lnTo>
                  <a:pt x="2470159" y="1476070"/>
                </a:lnTo>
                <a:lnTo>
                  <a:pt x="0" y="1476070"/>
                </a:lnTo>
                <a:close/>
              </a:path>
            </a:pathLst>
          </a:custGeom>
          <a:solidFill>
            <a:schemeClr val="accent2"/>
          </a:solidFill>
          <a:ln w="8855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883846" y="2493975"/>
            <a:ext cx="2642042" cy="2757208"/>
          </a:xfrm>
          <a:custGeom>
            <a:avLst/>
            <a:gdLst>
              <a:gd name="connsiteX0" fmla="*/ 0 w 2642042"/>
              <a:gd name="connsiteY0" fmla="*/ 0 h 2197271"/>
              <a:gd name="connsiteX1" fmla="*/ 2642042 w 2642042"/>
              <a:gd name="connsiteY1" fmla="*/ 90372 h 2197271"/>
              <a:gd name="connsiteX2" fmla="*/ 2470159 w 2642042"/>
              <a:gd name="connsiteY2" fmla="*/ 1201411 h 2197271"/>
              <a:gd name="connsiteX3" fmla="*/ 665384 w 2642042"/>
              <a:gd name="connsiteY3" fmla="*/ 2197272 h 2197271"/>
              <a:gd name="connsiteX4" fmla="*/ 0 w 2642042"/>
              <a:gd name="connsiteY4" fmla="*/ 0 h 2197271"/>
            </a:gdLst>
            <a:ahLst/>
            <a:cxnLst/>
            <a:rect l="l" t="t" r="r" b="b"/>
            <a:pathLst>
              <a:path w="2642042" h="2197271">
                <a:moveTo>
                  <a:pt x="0" y="0"/>
                </a:moveTo>
                <a:lnTo>
                  <a:pt x="2642042" y="90372"/>
                </a:lnTo>
                <a:lnTo>
                  <a:pt x="2470159" y="1201411"/>
                </a:lnTo>
                <a:lnTo>
                  <a:pt x="665384" y="2197272"/>
                </a:lnTo>
                <a:lnTo>
                  <a:pt x="0" y="0"/>
                </a:lnTo>
                <a:close/>
              </a:path>
            </a:pathLst>
          </a:custGeom>
          <a:noFill/>
          <a:ln w="8856" cap="flat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896937" y="2953833"/>
            <a:ext cx="2615860" cy="2053142"/>
          </a:xfrm>
          <a:custGeom>
            <a:avLst/>
            <a:gdLst>
              <a:gd name="connsiteX0" fmla="*/ 0 w 2470158"/>
              <a:gd name="connsiteY0" fmla="*/ 0 h 1476070"/>
              <a:gd name="connsiteX1" fmla="*/ 2470158 w 2470158"/>
              <a:gd name="connsiteY1" fmla="*/ 0 h 1476070"/>
              <a:gd name="connsiteX2" fmla="*/ 2470158 w 2470158"/>
              <a:gd name="connsiteY2" fmla="*/ 1476070 h 1476070"/>
              <a:gd name="connsiteX3" fmla="*/ 0 w 2470158"/>
              <a:gd name="connsiteY3" fmla="*/ 1476070 h 1476070"/>
            </a:gdLst>
            <a:ahLst/>
            <a:cxnLst/>
            <a:rect l="l" t="t" r="r" b="b"/>
            <a:pathLst>
              <a:path w="2470158" h="1476070">
                <a:moveTo>
                  <a:pt x="0" y="0"/>
                </a:moveTo>
                <a:lnTo>
                  <a:pt x="2470158" y="0"/>
                </a:lnTo>
                <a:lnTo>
                  <a:pt x="2470158" y="1476070"/>
                </a:lnTo>
                <a:lnTo>
                  <a:pt x="0" y="1476070"/>
                </a:lnTo>
                <a:close/>
              </a:path>
            </a:pathLst>
          </a:custGeom>
          <a:solidFill>
            <a:schemeClr val="accent2"/>
          </a:solidFill>
          <a:ln w="8855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622739" y="2036283"/>
            <a:ext cx="769045" cy="769045"/>
          </a:xfrm>
          <a:custGeom>
            <a:avLst/>
            <a:gdLst>
              <a:gd name="connsiteX0" fmla="*/ 769045 w 769045"/>
              <a:gd name="connsiteY0" fmla="*/ 384523 h 769045"/>
              <a:gd name="connsiteX1" fmla="*/ 384523 w 769045"/>
              <a:gd name="connsiteY1" fmla="*/ 769045 h 769045"/>
              <a:gd name="connsiteX2" fmla="*/ 0 w 769045"/>
              <a:gd name="connsiteY2" fmla="*/ 384523 h 769045"/>
              <a:gd name="connsiteX3" fmla="*/ 384523 w 769045"/>
              <a:gd name="connsiteY3" fmla="*/ 0 h 769045"/>
              <a:gd name="connsiteX4" fmla="*/ 769045 w 769045"/>
              <a:gd name="connsiteY4" fmla="*/ 384523 h 769045"/>
            </a:gdLst>
            <a:ahLst/>
            <a:cxnLst/>
            <a:rect l="l" t="t" r="r" b="b"/>
            <a:pathLst>
              <a:path w="769045" h="769045">
                <a:moveTo>
                  <a:pt x="769045" y="384523"/>
                </a:moveTo>
                <a:cubicBezTo>
                  <a:pt x="769045" y="596888"/>
                  <a:pt x="596889" y="769045"/>
                  <a:pt x="384523" y="769045"/>
                </a:cubicBezTo>
                <a:cubicBezTo>
                  <a:pt x="172157" y="769045"/>
                  <a:pt x="0" y="596888"/>
                  <a:pt x="0" y="384523"/>
                </a:cubicBezTo>
                <a:cubicBezTo>
                  <a:pt x="0" y="172157"/>
                  <a:pt x="172157" y="0"/>
                  <a:pt x="384523" y="0"/>
                </a:cubicBezTo>
                <a:cubicBezTo>
                  <a:pt x="596889" y="0"/>
                  <a:pt x="769045" y="172157"/>
                  <a:pt x="769045" y="384523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4422611" y="2036283"/>
            <a:ext cx="769045" cy="769045"/>
          </a:xfrm>
          <a:custGeom>
            <a:avLst/>
            <a:gdLst>
              <a:gd name="connsiteX0" fmla="*/ 769045 w 769045"/>
              <a:gd name="connsiteY0" fmla="*/ 384523 h 769045"/>
              <a:gd name="connsiteX1" fmla="*/ 384522 w 769045"/>
              <a:gd name="connsiteY1" fmla="*/ 769045 h 769045"/>
              <a:gd name="connsiteX2" fmla="*/ 0 w 769045"/>
              <a:gd name="connsiteY2" fmla="*/ 384523 h 769045"/>
              <a:gd name="connsiteX3" fmla="*/ 384522 w 769045"/>
              <a:gd name="connsiteY3" fmla="*/ 0 h 769045"/>
              <a:gd name="connsiteX4" fmla="*/ 769045 w 769045"/>
              <a:gd name="connsiteY4" fmla="*/ 384523 h 769045"/>
            </a:gdLst>
            <a:ahLst/>
            <a:cxnLst/>
            <a:rect l="l" t="t" r="r" b="b"/>
            <a:pathLst>
              <a:path w="769045" h="769045">
                <a:moveTo>
                  <a:pt x="769045" y="384523"/>
                </a:moveTo>
                <a:cubicBezTo>
                  <a:pt x="769045" y="596888"/>
                  <a:pt x="596888" y="769045"/>
                  <a:pt x="384522" y="769045"/>
                </a:cubicBezTo>
                <a:cubicBezTo>
                  <a:pt x="172157" y="769045"/>
                  <a:pt x="0" y="596888"/>
                  <a:pt x="0" y="384523"/>
                </a:cubicBezTo>
                <a:cubicBezTo>
                  <a:pt x="0" y="172157"/>
                  <a:pt x="172157" y="0"/>
                  <a:pt x="384522" y="0"/>
                </a:cubicBezTo>
                <a:cubicBezTo>
                  <a:pt x="596888" y="0"/>
                  <a:pt x="769045" y="172157"/>
                  <a:pt x="769045" y="384523"/>
                </a:cubicBezTo>
                <a:close/>
              </a:path>
            </a:pathLst>
          </a:custGeom>
          <a:solidFill>
            <a:schemeClr val="accent2"/>
          </a:solidFill>
          <a:ln w="8855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820345" y="2036283"/>
            <a:ext cx="769045" cy="769045"/>
          </a:xfrm>
          <a:custGeom>
            <a:avLst/>
            <a:gdLst>
              <a:gd name="connsiteX0" fmla="*/ 769045 w 769045"/>
              <a:gd name="connsiteY0" fmla="*/ 384523 h 769045"/>
              <a:gd name="connsiteX1" fmla="*/ 384523 w 769045"/>
              <a:gd name="connsiteY1" fmla="*/ 769045 h 769045"/>
              <a:gd name="connsiteX2" fmla="*/ 1 w 769045"/>
              <a:gd name="connsiteY2" fmla="*/ 384523 h 769045"/>
              <a:gd name="connsiteX3" fmla="*/ 384523 w 769045"/>
              <a:gd name="connsiteY3" fmla="*/ 0 h 769045"/>
              <a:gd name="connsiteX4" fmla="*/ 769045 w 769045"/>
              <a:gd name="connsiteY4" fmla="*/ 384523 h 769045"/>
            </a:gdLst>
            <a:ahLst/>
            <a:cxnLst/>
            <a:rect l="l" t="t" r="r" b="b"/>
            <a:pathLst>
              <a:path w="769045" h="769045">
                <a:moveTo>
                  <a:pt x="769045" y="384523"/>
                </a:moveTo>
                <a:cubicBezTo>
                  <a:pt x="769045" y="596888"/>
                  <a:pt x="596888" y="769045"/>
                  <a:pt x="384523" y="769045"/>
                </a:cubicBezTo>
                <a:cubicBezTo>
                  <a:pt x="172157" y="769045"/>
                  <a:pt x="1" y="596888"/>
                  <a:pt x="1" y="384523"/>
                </a:cubicBezTo>
                <a:cubicBezTo>
                  <a:pt x="1" y="172157"/>
                  <a:pt x="172157" y="0"/>
                  <a:pt x="384523" y="0"/>
                </a:cubicBezTo>
                <a:cubicBezTo>
                  <a:pt x="596889" y="0"/>
                  <a:pt x="769045" y="172157"/>
                  <a:pt x="769045" y="384523"/>
                </a:cubicBezTo>
                <a:close/>
              </a:path>
            </a:pathLst>
          </a:custGeom>
          <a:solidFill>
            <a:schemeClr val="accent2"/>
          </a:solidFill>
          <a:ln w="88557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27261" y="3002662"/>
            <a:ext cx="2160000" cy="6921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162" b="1" dirty="0">
                <a:ln w="12700">
                  <a:noFill/>
                </a:ln>
                <a:latin typeface="poppins-bold"/>
                <a:ea typeface="poppins-bold"/>
                <a:cs typeface="poppins-bold"/>
              </a:rPr>
              <a:t>Brecha de </a:t>
            </a:r>
            <a:r>
              <a:rPr kumimoji="1" lang="en-US" altLang="zh-CN" sz="1162" b="1" dirty="0" err="1">
                <a:ln w="12700">
                  <a:noFill/>
                </a:ln>
                <a:latin typeface="poppins-bold"/>
                <a:ea typeface="poppins-bold"/>
                <a:cs typeface="poppins-bold"/>
              </a:rPr>
              <a:t>Habilidades</a:t>
            </a:r>
            <a:r>
              <a:rPr kumimoji="1" lang="en-US" altLang="zh-CN" sz="1162" b="1" dirty="0">
                <a:ln w="12700">
                  <a:noFill/>
                </a:ln>
                <a:latin typeface="poppins-bold"/>
                <a:ea typeface="poppins-bold"/>
                <a:cs typeface="poppins-bold"/>
              </a:rPr>
              <a:t> (Skills Gap)</a:t>
            </a:r>
            <a:endParaRPr kumimoji="1" lang="zh-CN" altLang="en-US" b="1" dirty="0"/>
          </a:p>
        </p:txBody>
      </p:sp>
      <p:sp>
        <p:nvSpPr>
          <p:cNvPr id="12" name="标题 1"/>
          <p:cNvSpPr txBox="1"/>
          <p:nvPr/>
        </p:nvSpPr>
        <p:spPr>
          <a:xfrm>
            <a:off x="927261" y="3697014"/>
            <a:ext cx="2160000" cy="12064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s-EC" sz="980" dirty="0">
                <a:ln w="12700">
                  <a:noFill/>
                </a:ln>
                <a:latin typeface="Poppins"/>
                <a:cs typeface="Poppins"/>
              </a:rPr>
              <a:t>El personal necesita saber menos de hardware y más de automatización (Python, Ansible), orquestación (</a:t>
            </a:r>
            <a:r>
              <a:rPr kumimoji="1" lang="es-EC" sz="980" dirty="0" err="1">
                <a:ln w="12700">
                  <a:noFill/>
                </a:ln>
                <a:latin typeface="Poppins"/>
                <a:cs typeface="Poppins"/>
              </a:rPr>
              <a:t>Kubernetes</a:t>
            </a:r>
            <a:r>
              <a:rPr kumimoji="1" lang="es-EC" sz="980" dirty="0">
                <a:ln w="12700">
                  <a:noFill/>
                </a:ln>
                <a:latin typeface="Poppins"/>
                <a:cs typeface="Poppins"/>
              </a:rPr>
              <a:t>) y análisis de datos (</a:t>
            </a:r>
            <a:r>
              <a:rPr kumimoji="1" lang="es-EC" sz="980" dirty="0" err="1">
                <a:ln w="12700">
                  <a:noFill/>
                </a:ln>
                <a:latin typeface="Poppins"/>
                <a:cs typeface="Poppins"/>
              </a:rPr>
              <a:t>AIOps</a:t>
            </a:r>
            <a:r>
              <a:rPr kumimoji="1" lang="es-EC" sz="980" dirty="0">
                <a:ln w="12700">
                  <a:noFill/>
                </a:ln>
                <a:latin typeface="Poppins"/>
                <a:cs typeface="Poppins"/>
              </a:rPr>
              <a:t>). Retener y entrenar este talento es el desafío </a:t>
            </a:r>
            <a:r>
              <a:rPr kumimoji="1" lang="es-EC" sz="980" dirty="0" err="1">
                <a:ln w="12700">
                  <a:noFill/>
                </a:ln>
                <a:latin typeface="Poppins"/>
                <a:cs typeface="Poppins"/>
              </a:rPr>
              <a:t>N°</a:t>
            </a:r>
            <a:r>
              <a:rPr kumimoji="1" lang="es-EC" sz="980" dirty="0">
                <a:ln w="12700">
                  <a:noFill/>
                </a:ln>
                <a:latin typeface="Poppins"/>
                <a:cs typeface="Poppins"/>
              </a:rPr>
              <a:t> 1</a:t>
            </a:r>
            <a:r>
              <a:rPr lang="es-EC" dirty="0"/>
              <a:t>.</a:t>
            </a:r>
          </a:p>
          <a:p>
            <a:pPr algn="ctr"/>
            <a:r>
              <a:rPr kumimoji="1" lang="en-US" altLang="zh-CN" sz="98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13" name="标题 1"/>
          <p:cNvSpPr txBox="1"/>
          <p:nvPr/>
        </p:nvSpPr>
        <p:spPr>
          <a:xfrm>
            <a:off x="3727133" y="3002662"/>
            <a:ext cx="2160000" cy="6921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Gestión de la Densidad y Calor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3727133" y="3697015"/>
            <a:ext cx="2160000" cy="10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/>
            <a:r>
              <a:rPr kumimoji="1" lang="es-EC" sz="980" dirty="0">
                <a:ln w="12700">
                  <a:noFill/>
                </a:ln>
                <a:latin typeface="Poppins"/>
                <a:cs typeface="Poppins"/>
              </a:rPr>
              <a:t>La alta densidad de la virtualización y los </a:t>
            </a:r>
            <a:r>
              <a:rPr kumimoji="1" lang="es-EC" sz="980" dirty="0" err="1">
                <a:ln w="12700">
                  <a:noFill/>
                </a:ln>
                <a:latin typeface="Poppins"/>
                <a:cs typeface="Poppins"/>
              </a:rPr>
              <a:t>GPUs</a:t>
            </a:r>
            <a:r>
              <a:rPr kumimoji="1" lang="es-EC" sz="980" dirty="0">
                <a:ln w="12700">
                  <a:noFill/>
                </a:ln>
                <a:latin typeface="Poppins"/>
                <a:cs typeface="Poppins"/>
              </a:rPr>
              <a:t> para IA generan "</a:t>
            </a:r>
            <a:r>
              <a:rPr kumimoji="1" lang="es-EC" sz="980" dirty="0" err="1">
                <a:ln w="12700">
                  <a:noFill/>
                </a:ln>
                <a:latin typeface="Poppins"/>
                <a:cs typeface="Poppins"/>
              </a:rPr>
              <a:t>hot</a:t>
            </a:r>
            <a:r>
              <a:rPr kumimoji="1" lang="es-EC" sz="980" dirty="0">
                <a:ln w="12700">
                  <a:noFill/>
                </a:ln>
                <a:latin typeface="Poppins"/>
                <a:cs typeface="Poppins"/>
              </a:rPr>
              <a:t> spots" que los sistemas de aire tradicionales no pueden manejar. Esto fuerza inversiones costosas en refrigeración líquida (</a:t>
            </a:r>
            <a:r>
              <a:rPr kumimoji="1" lang="es-EC" sz="980" dirty="0" err="1">
                <a:ln w="12700">
                  <a:noFill/>
                </a:ln>
                <a:latin typeface="Poppins"/>
                <a:cs typeface="Poppins"/>
              </a:rPr>
              <a:t>direct</a:t>
            </a:r>
            <a:r>
              <a:rPr kumimoji="1" lang="es-EC" sz="980" dirty="0">
                <a:ln w="12700">
                  <a:noFill/>
                </a:ln>
                <a:latin typeface="Poppins"/>
                <a:cs typeface="Poppins"/>
              </a:rPr>
              <a:t>-</a:t>
            </a:r>
            <a:r>
              <a:rPr kumimoji="1" lang="es-EC" sz="980" dirty="0" err="1">
                <a:ln w="12700">
                  <a:noFill/>
                </a:ln>
                <a:latin typeface="Poppins"/>
                <a:cs typeface="Poppins"/>
              </a:rPr>
              <a:t>to</a:t>
            </a:r>
            <a:r>
              <a:rPr kumimoji="1" lang="es-EC" sz="980" dirty="0">
                <a:ln w="12700">
                  <a:noFill/>
                </a:ln>
                <a:latin typeface="Poppins"/>
                <a:cs typeface="Poppins"/>
              </a:rPr>
              <a:t>-chip o inmersión).</a:t>
            </a:r>
          </a:p>
        </p:txBody>
      </p:sp>
      <p:sp>
        <p:nvSpPr>
          <p:cNvPr id="15" name="标题 1"/>
          <p:cNvSpPr txBox="1"/>
          <p:nvPr/>
        </p:nvSpPr>
        <p:spPr>
          <a:xfrm>
            <a:off x="9124867" y="3004823"/>
            <a:ext cx="2160000" cy="6921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Costos de Modernización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124867" y="3699176"/>
            <a:ext cx="2160000" cy="10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s-EC" sz="98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Implementar </a:t>
            </a:r>
            <a:r>
              <a:rPr kumimoji="1" lang="es-EC" sz="98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AIOps</a:t>
            </a:r>
            <a:r>
              <a:rPr kumimoji="1" lang="es-EC" sz="98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, modernizar el almacenamiento para Big Data o adaptar la refrigeración para alta densidad requiere una inversión de capital (</a:t>
            </a:r>
            <a:r>
              <a:rPr kumimoji="1" lang="es-EC" sz="98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CapEx</a:t>
            </a:r>
            <a:r>
              <a:rPr kumimoji="1" lang="es-EC" sz="98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) inicial significativa.</a:t>
            </a:r>
            <a:r>
              <a:rPr kumimoji="1" lang="en-US" altLang="zh-CN" sz="98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17" name="标题 1"/>
          <p:cNvSpPr txBox="1"/>
          <p:nvPr/>
        </p:nvSpPr>
        <p:spPr>
          <a:xfrm flipH="1">
            <a:off x="6260302" y="2385883"/>
            <a:ext cx="2395531" cy="2865300"/>
          </a:xfrm>
          <a:custGeom>
            <a:avLst/>
            <a:gdLst>
              <a:gd name="connsiteX0" fmla="*/ 2481677 w 2481676"/>
              <a:gd name="connsiteY0" fmla="*/ 1938561 h 2179551"/>
              <a:gd name="connsiteX1" fmla="*/ 24808 w 2481676"/>
              <a:gd name="connsiteY1" fmla="*/ 2179552 h 2179551"/>
              <a:gd name="connsiteX2" fmla="*/ 0 w 2481676"/>
              <a:gd name="connsiteY2" fmla="*/ 0 h 2179551"/>
              <a:gd name="connsiteX3" fmla="*/ 2238028 w 2481676"/>
              <a:gd name="connsiteY3" fmla="*/ 376549 h 2179551"/>
              <a:gd name="connsiteX4" fmla="*/ 2481677 w 2481676"/>
              <a:gd name="connsiteY4" fmla="*/ 1938561 h 2179551"/>
            </a:gdLst>
            <a:ahLst/>
            <a:cxnLst/>
            <a:rect l="l" t="t" r="r" b="b"/>
            <a:pathLst>
              <a:path w="2481676" h="2179551">
                <a:moveTo>
                  <a:pt x="2481677" y="1938561"/>
                </a:moveTo>
                <a:lnTo>
                  <a:pt x="24808" y="2179552"/>
                </a:lnTo>
                <a:lnTo>
                  <a:pt x="0" y="0"/>
                </a:lnTo>
                <a:lnTo>
                  <a:pt x="2238028" y="376549"/>
                </a:lnTo>
                <a:lnTo>
                  <a:pt x="2481677" y="1938561"/>
                </a:lnTo>
                <a:close/>
              </a:path>
            </a:pathLst>
          </a:custGeom>
          <a:noFill/>
          <a:ln w="8856" cap="flat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 flipH="1">
            <a:off x="6222988" y="2953833"/>
            <a:ext cx="2470158" cy="2053142"/>
          </a:xfrm>
          <a:custGeom>
            <a:avLst/>
            <a:gdLst>
              <a:gd name="connsiteX0" fmla="*/ 0 w 2470158"/>
              <a:gd name="connsiteY0" fmla="*/ 0 h 1476070"/>
              <a:gd name="connsiteX1" fmla="*/ 2470159 w 2470158"/>
              <a:gd name="connsiteY1" fmla="*/ 0 h 1476070"/>
              <a:gd name="connsiteX2" fmla="*/ 2470159 w 2470158"/>
              <a:gd name="connsiteY2" fmla="*/ 1476070 h 1476070"/>
              <a:gd name="connsiteX3" fmla="*/ 0 w 2470158"/>
              <a:gd name="connsiteY3" fmla="*/ 1476070 h 1476070"/>
            </a:gdLst>
            <a:ahLst/>
            <a:cxnLst/>
            <a:rect l="l" t="t" r="r" b="b"/>
            <a:pathLst>
              <a:path w="2470158" h="1476070">
                <a:moveTo>
                  <a:pt x="0" y="0"/>
                </a:moveTo>
                <a:lnTo>
                  <a:pt x="2470159" y="0"/>
                </a:lnTo>
                <a:lnTo>
                  <a:pt x="2470159" y="1476070"/>
                </a:lnTo>
                <a:lnTo>
                  <a:pt x="0" y="1476070"/>
                </a:ln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 flipH="1">
            <a:off x="7073545" y="2036283"/>
            <a:ext cx="769045" cy="769045"/>
          </a:xfrm>
          <a:custGeom>
            <a:avLst/>
            <a:gdLst>
              <a:gd name="connsiteX0" fmla="*/ 769045 w 769045"/>
              <a:gd name="connsiteY0" fmla="*/ 384523 h 769045"/>
              <a:gd name="connsiteX1" fmla="*/ 384522 w 769045"/>
              <a:gd name="connsiteY1" fmla="*/ 769045 h 769045"/>
              <a:gd name="connsiteX2" fmla="*/ 0 w 769045"/>
              <a:gd name="connsiteY2" fmla="*/ 384523 h 769045"/>
              <a:gd name="connsiteX3" fmla="*/ 384522 w 769045"/>
              <a:gd name="connsiteY3" fmla="*/ 0 h 769045"/>
              <a:gd name="connsiteX4" fmla="*/ 769045 w 769045"/>
              <a:gd name="connsiteY4" fmla="*/ 384523 h 769045"/>
            </a:gdLst>
            <a:ahLst/>
            <a:cxnLst/>
            <a:rect l="l" t="t" r="r" b="b"/>
            <a:pathLst>
              <a:path w="769045" h="769045">
                <a:moveTo>
                  <a:pt x="769045" y="384523"/>
                </a:moveTo>
                <a:cubicBezTo>
                  <a:pt x="769045" y="596888"/>
                  <a:pt x="596888" y="769045"/>
                  <a:pt x="384522" y="769045"/>
                </a:cubicBezTo>
                <a:cubicBezTo>
                  <a:pt x="172157" y="769045"/>
                  <a:pt x="0" y="596888"/>
                  <a:pt x="0" y="384523"/>
                </a:cubicBezTo>
                <a:cubicBezTo>
                  <a:pt x="0" y="172157"/>
                  <a:pt x="172157" y="0"/>
                  <a:pt x="384522" y="0"/>
                </a:cubicBezTo>
                <a:cubicBezTo>
                  <a:pt x="596888" y="0"/>
                  <a:pt x="769045" y="172157"/>
                  <a:pt x="769045" y="384523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378067" y="3002662"/>
            <a:ext cx="2160000" cy="69219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Complejidad de la Seguridad</a:t>
            </a: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378067" y="3697015"/>
            <a:ext cx="2160000" cy="10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s-EC" sz="98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La superficie de ataque se multiplica. Ahora hay que proteger miles de dispositivos </a:t>
            </a:r>
            <a:r>
              <a:rPr kumimoji="1" lang="es-EC" sz="98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IoT</a:t>
            </a:r>
            <a:r>
              <a:rPr kumimoji="1" lang="es-EC" sz="98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, microservicios en contenedores y sitios </a:t>
            </a:r>
            <a:r>
              <a:rPr kumimoji="1" lang="es-EC" sz="98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edge</a:t>
            </a:r>
            <a:r>
              <a:rPr kumimoji="1" lang="es-EC" sz="98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cs typeface="Poppins"/>
              </a:rPr>
              <a:t> remotos, además del núcleo del data center.</a:t>
            </a:r>
            <a:endParaRPr kumimoji="1" lang="zh-CN" altLang="en-US" sz="980" dirty="0">
              <a:ln w="12700">
                <a:noFill/>
              </a:ln>
              <a:solidFill>
                <a:srgbClr val="FFFFFF">
                  <a:alpha val="10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1852739" y="2266283"/>
            <a:ext cx="309044" cy="309044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4647460" y="2266283"/>
            <a:ext cx="319347" cy="30904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7252467" y="2240805"/>
            <a:ext cx="411200" cy="360000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10031149" y="2247087"/>
            <a:ext cx="347437" cy="347437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Desafíos</a:t>
            </a:r>
            <a:endParaRPr kumimoji="1" lang="zh-CN" altLang="en-US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6D0393DF-FB63-63A4-B29A-BDAF7D06C0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3305035" y="519976"/>
            <a:ext cx="1651390" cy="165139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5537200" y="2584037"/>
            <a:ext cx="5203029" cy="531018"/>
          </a:xfrm>
          <a:custGeom>
            <a:avLst/>
            <a:gdLst>
              <a:gd name="connsiteX0" fmla="*/ 3412998 w 3429190"/>
              <a:gd name="connsiteY0" fmla="*/ 0 h 531018"/>
              <a:gd name="connsiteX1" fmla="*/ 3062859 w 3429190"/>
              <a:gd name="connsiteY1" fmla="*/ 331280 h 531018"/>
              <a:gd name="connsiteX2" fmla="*/ 2359533 w 3429190"/>
              <a:gd name="connsiteY2" fmla="*/ 512064 h 531018"/>
              <a:gd name="connsiteX3" fmla="*/ 0 w 3429190"/>
              <a:gd name="connsiteY3" fmla="*/ 512064 h 531018"/>
              <a:gd name="connsiteX4" fmla="*/ 381 w 3429190"/>
              <a:gd name="connsiteY4" fmla="*/ 519112 h 531018"/>
              <a:gd name="connsiteX5" fmla="*/ 1238 w 3429190"/>
              <a:gd name="connsiteY5" fmla="*/ 531019 h 531018"/>
              <a:gd name="connsiteX6" fmla="*/ 2359438 w 3429190"/>
              <a:gd name="connsiteY6" fmla="*/ 531019 h 531018"/>
              <a:gd name="connsiteX7" fmla="*/ 3072194 w 3429190"/>
              <a:gd name="connsiteY7" fmla="*/ 347758 h 531018"/>
              <a:gd name="connsiteX8" fmla="*/ 3429191 w 3429190"/>
              <a:gd name="connsiteY8" fmla="*/ 9811 h 531018"/>
              <a:gd name="connsiteX9" fmla="*/ 3412998 w 3429190"/>
              <a:gd name="connsiteY9" fmla="*/ 0 h 531018"/>
            </a:gdLst>
            <a:ahLst/>
            <a:cxnLst/>
            <a:rect l="l" t="t" r="r" b="b"/>
            <a:pathLst>
              <a:path w="3429190" h="531018">
                <a:moveTo>
                  <a:pt x="3412998" y="0"/>
                </a:moveTo>
                <a:cubicBezTo>
                  <a:pt x="3335179" y="129730"/>
                  <a:pt x="3217355" y="241173"/>
                  <a:pt x="3062859" y="331280"/>
                </a:cubicBezTo>
                <a:cubicBezTo>
                  <a:pt x="2859881" y="449580"/>
                  <a:pt x="2616708" y="512064"/>
                  <a:pt x="2359533" y="512064"/>
                </a:cubicBezTo>
                <a:lnTo>
                  <a:pt x="0" y="512064"/>
                </a:lnTo>
                <a:cubicBezTo>
                  <a:pt x="191" y="514445"/>
                  <a:pt x="381" y="516731"/>
                  <a:pt x="381" y="519112"/>
                </a:cubicBezTo>
                <a:cubicBezTo>
                  <a:pt x="953" y="523113"/>
                  <a:pt x="1238" y="527018"/>
                  <a:pt x="1238" y="531019"/>
                </a:cubicBezTo>
                <a:lnTo>
                  <a:pt x="2359438" y="531019"/>
                </a:lnTo>
                <a:cubicBezTo>
                  <a:pt x="2619851" y="531019"/>
                  <a:pt x="2866454" y="467582"/>
                  <a:pt x="3072194" y="347758"/>
                </a:cubicBezTo>
                <a:cubicBezTo>
                  <a:pt x="3229547" y="256032"/>
                  <a:pt x="3349657" y="142303"/>
                  <a:pt x="3429191" y="9811"/>
                </a:cubicBezTo>
                <a:lnTo>
                  <a:pt x="3412998" y="0"/>
                </a:lnTo>
                <a:close/>
              </a:path>
            </a:pathLst>
          </a:custGeom>
          <a:solidFill>
            <a:schemeClr val="accent1"/>
          </a:solidFill>
          <a:ln w="2857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707753" y="2164061"/>
            <a:ext cx="305938" cy="378832"/>
          </a:xfrm>
          <a:custGeom>
            <a:avLst/>
            <a:gdLst>
              <a:gd name="connsiteX0" fmla="*/ 303938 w 305938"/>
              <a:gd name="connsiteY0" fmla="*/ 316058 h 378832"/>
              <a:gd name="connsiteX1" fmla="*/ 305939 w 305938"/>
              <a:gd name="connsiteY1" fmla="*/ 4876 h 378832"/>
              <a:gd name="connsiteX2" fmla="*/ 299462 w 305938"/>
              <a:gd name="connsiteY2" fmla="*/ 780 h 378832"/>
              <a:gd name="connsiteX3" fmla="*/ 4663 w 305938"/>
              <a:gd name="connsiteY3" fmla="*/ 222618 h 378832"/>
              <a:gd name="connsiteX4" fmla="*/ 8378 w 305938"/>
              <a:gd name="connsiteY4" fmla="*/ 244620 h 378832"/>
              <a:gd name="connsiteX5" fmla="*/ 93055 w 305938"/>
              <a:gd name="connsiteY5" fmla="*/ 269385 h 378832"/>
              <a:gd name="connsiteX6" fmla="*/ 264314 w 305938"/>
              <a:gd name="connsiteY6" fmla="*/ 76123 h 378832"/>
              <a:gd name="connsiteX7" fmla="*/ 127154 w 305938"/>
              <a:gd name="connsiteY7" fmla="*/ 285578 h 378832"/>
              <a:gd name="connsiteX8" fmla="*/ 134679 w 305938"/>
              <a:gd name="connsiteY8" fmla="*/ 367588 h 378832"/>
              <a:gd name="connsiteX9" fmla="*/ 155063 w 305938"/>
              <a:gd name="connsiteY9" fmla="*/ 372160 h 378832"/>
              <a:gd name="connsiteX10" fmla="*/ 186781 w 305938"/>
              <a:gd name="connsiteY10" fmla="*/ 298056 h 378832"/>
              <a:gd name="connsiteX11" fmla="*/ 290984 w 305938"/>
              <a:gd name="connsiteY11" fmla="*/ 327393 h 378832"/>
              <a:gd name="connsiteX12" fmla="*/ 303938 w 305938"/>
              <a:gd name="connsiteY12" fmla="*/ 316058 h 378832"/>
            </a:gdLst>
            <a:ahLst/>
            <a:cxnLst/>
            <a:rect l="l" t="t" r="r" b="b"/>
            <a:pathLst>
              <a:path w="305938" h="378832">
                <a:moveTo>
                  <a:pt x="303938" y="316058"/>
                </a:moveTo>
                <a:lnTo>
                  <a:pt x="305939" y="4876"/>
                </a:lnTo>
                <a:cubicBezTo>
                  <a:pt x="305939" y="1066"/>
                  <a:pt x="302224" y="-1315"/>
                  <a:pt x="299462" y="780"/>
                </a:cubicBezTo>
                <a:lnTo>
                  <a:pt x="4663" y="222618"/>
                </a:lnTo>
                <a:cubicBezTo>
                  <a:pt x="-3052" y="228428"/>
                  <a:pt x="-766" y="241953"/>
                  <a:pt x="8378" y="244620"/>
                </a:cubicBezTo>
                <a:lnTo>
                  <a:pt x="93055" y="269385"/>
                </a:lnTo>
                <a:lnTo>
                  <a:pt x="264314" y="76123"/>
                </a:lnTo>
                <a:lnTo>
                  <a:pt x="127154" y="285578"/>
                </a:lnTo>
                <a:lnTo>
                  <a:pt x="134679" y="367588"/>
                </a:lnTo>
                <a:cubicBezTo>
                  <a:pt x="135822" y="379875"/>
                  <a:pt x="150395" y="383114"/>
                  <a:pt x="155063" y="372160"/>
                </a:cubicBezTo>
                <a:lnTo>
                  <a:pt x="186781" y="298056"/>
                </a:lnTo>
                <a:lnTo>
                  <a:pt x="290984" y="327393"/>
                </a:lnTo>
                <a:cubicBezTo>
                  <a:pt x="297557" y="329393"/>
                  <a:pt x="303843" y="323868"/>
                  <a:pt x="303938" y="31605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605670" y="18312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07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5605670" y="330927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Cierre y Retroalimentación Final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AFBABF4-B9C2-795B-7372-92016C20D3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044134" y="2036842"/>
            <a:ext cx="544357" cy="544357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042546" y="2719739"/>
            <a:ext cx="4747260" cy="75025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2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42547" y="3541863"/>
            <a:ext cx="4747260" cy="169026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lang="es-EC" dirty="0"/>
              <a:t>El rol del administrador del centro de cómputo ha sufrido la transformación más radical en TI. Hemos pasado de gestionar cajas a </a:t>
            </a:r>
            <a:r>
              <a:rPr lang="es-EC" b="1" dirty="0"/>
              <a:t>gestionar ecosistemas de software complejos</a:t>
            </a:r>
            <a:r>
              <a:rPr lang="es-EC" dirty="0"/>
              <a:t>. La IA, la virtualización y el </a:t>
            </a:r>
            <a:r>
              <a:rPr lang="es-EC" dirty="0" err="1"/>
              <a:t>IoT</a:t>
            </a:r>
            <a:r>
              <a:rPr lang="es-EC" dirty="0"/>
              <a:t> no son amenazas, sino las </a:t>
            </a:r>
            <a:r>
              <a:rPr lang="es-EC" b="1" dirty="0"/>
              <a:t>herramientas fundamentales</a:t>
            </a:r>
            <a:r>
              <a:rPr lang="es-EC" dirty="0"/>
              <a:t> para manejar la explosión de demanda generada por el Big Data.</a:t>
            </a:r>
          </a:p>
        </p:txBody>
      </p:sp>
      <p:sp>
        <p:nvSpPr>
          <p:cNvPr id="5" name="标题 1"/>
          <p:cNvSpPr txBox="1"/>
          <p:nvPr/>
        </p:nvSpPr>
        <p:spPr>
          <a:xfrm>
            <a:off x="6451973" y="2032276"/>
            <a:ext cx="523502" cy="544357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389494" y="2719739"/>
            <a:ext cx="4747260" cy="750259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2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389494" y="3541863"/>
            <a:ext cx="4747260" cy="210455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r>
              <a:rPr lang="es-EC" dirty="0"/>
              <a:t>El data center moderno es </a:t>
            </a:r>
            <a:r>
              <a:rPr lang="es-EC" b="1" dirty="0"/>
              <a:t>definido por software, optimizado por IA y distribuido por el Edge</a:t>
            </a:r>
            <a:r>
              <a:rPr lang="es-EC" dirty="0"/>
              <a:t>. El éxito ya no se mide por el </a:t>
            </a:r>
            <a:r>
              <a:rPr lang="es-EC" i="1" dirty="0"/>
              <a:t>uptime</a:t>
            </a:r>
            <a:r>
              <a:rPr lang="es-EC" dirty="0"/>
              <a:t> (que se da por sentado), sino por la </a:t>
            </a:r>
            <a:r>
              <a:rPr lang="es-EC" b="1" dirty="0"/>
              <a:t>eficiencia (PUE), la agilidad (tiempo de despliegue) y la capacidad predictiva</a:t>
            </a:r>
            <a:r>
              <a:rPr lang="es-EC" dirty="0"/>
              <a:t> que ofrecemos al negocio.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452878" y="334470"/>
            <a:ext cx="8171180" cy="65532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80000">
                <a:schemeClr val="accent1">
                  <a:lumMod val="20000"/>
                  <a:lumOff val="8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783617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Cierre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3614074-820B-BBA5-4998-B5A98B3FF0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914400" y="3595455"/>
            <a:ext cx="9597112" cy="716517"/>
          </a:xfrm>
          <a:custGeom>
            <a:avLst/>
            <a:gdLst>
              <a:gd name="connsiteX0" fmla="*/ 6532245 w 7601997"/>
              <a:gd name="connsiteY0" fmla="*/ 530923 h 530923"/>
              <a:gd name="connsiteX1" fmla="*/ 0 w 7601997"/>
              <a:gd name="connsiteY1" fmla="*/ 530923 h 530923"/>
              <a:gd name="connsiteX2" fmla="*/ 0 w 7601997"/>
              <a:gd name="connsiteY2" fmla="*/ 511969 h 530923"/>
              <a:gd name="connsiteX3" fmla="*/ 6532245 w 7601997"/>
              <a:gd name="connsiteY3" fmla="*/ 511969 h 530923"/>
              <a:gd name="connsiteX4" fmla="*/ 7235476 w 7601997"/>
              <a:gd name="connsiteY4" fmla="*/ 331280 h 530923"/>
              <a:gd name="connsiteX5" fmla="*/ 7585710 w 7601997"/>
              <a:gd name="connsiteY5" fmla="*/ 0 h 530923"/>
              <a:gd name="connsiteX6" fmla="*/ 7601998 w 7601997"/>
              <a:gd name="connsiteY6" fmla="*/ 9811 h 530923"/>
              <a:gd name="connsiteX7" fmla="*/ 7245001 w 7601997"/>
              <a:gd name="connsiteY7" fmla="*/ 347663 h 530923"/>
              <a:gd name="connsiteX8" fmla="*/ 6532245 w 7601997"/>
              <a:gd name="connsiteY8" fmla="*/ 530923 h 530923"/>
            </a:gdLst>
            <a:ahLst/>
            <a:cxnLst/>
            <a:rect l="l" t="t" r="r" b="b"/>
            <a:pathLst>
              <a:path w="7601997" h="530923">
                <a:moveTo>
                  <a:pt x="6532245" y="530923"/>
                </a:moveTo>
                <a:lnTo>
                  <a:pt x="0" y="530923"/>
                </a:lnTo>
                <a:lnTo>
                  <a:pt x="0" y="511969"/>
                </a:lnTo>
                <a:lnTo>
                  <a:pt x="6532245" y="511969"/>
                </a:lnTo>
                <a:cubicBezTo>
                  <a:pt x="6789420" y="511969"/>
                  <a:pt x="7032594" y="449485"/>
                  <a:pt x="7235476" y="331280"/>
                </a:cubicBezTo>
                <a:cubicBezTo>
                  <a:pt x="7390067" y="241173"/>
                  <a:pt x="7507891" y="129730"/>
                  <a:pt x="7585710" y="0"/>
                </a:cubicBezTo>
                <a:lnTo>
                  <a:pt x="7601998" y="9811"/>
                </a:lnTo>
                <a:cubicBezTo>
                  <a:pt x="7522464" y="142304"/>
                  <a:pt x="7402354" y="255937"/>
                  <a:pt x="7245001" y="347663"/>
                </a:cubicBezTo>
                <a:cubicBezTo>
                  <a:pt x="7039166" y="467487"/>
                  <a:pt x="6792754" y="530923"/>
                  <a:pt x="6532245" y="53092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0363422" y="2911658"/>
            <a:ext cx="533612" cy="688688"/>
          </a:xfrm>
          <a:custGeom>
            <a:avLst/>
            <a:gdLst>
              <a:gd name="connsiteX0" fmla="*/ 410865 w 422681"/>
              <a:gd name="connsiteY0" fmla="*/ 429526 h 510302"/>
              <a:gd name="connsiteX1" fmla="*/ 422676 w 422681"/>
              <a:gd name="connsiteY1" fmla="*/ 6711 h 510302"/>
              <a:gd name="connsiteX2" fmla="*/ 413913 w 422681"/>
              <a:gd name="connsiteY2" fmla="*/ 996 h 510302"/>
              <a:gd name="connsiteX3" fmla="*/ 6624 w 422681"/>
              <a:gd name="connsiteY3" fmla="*/ 293794 h 510302"/>
              <a:gd name="connsiteX4" fmla="*/ 11006 w 422681"/>
              <a:gd name="connsiteY4" fmla="*/ 323798 h 510302"/>
              <a:gd name="connsiteX5" fmla="*/ 125401 w 422681"/>
              <a:gd name="connsiteY5" fmla="*/ 359898 h 510302"/>
              <a:gd name="connsiteX6" fmla="*/ 363907 w 422681"/>
              <a:gd name="connsiteY6" fmla="*/ 102342 h 510302"/>
              <a:gd name="connsiteX7" fmla="*/ 171406 w 422681"/>
              <a:gd name="connsiteY7" fmla="*/ 382948 h 510302"/>
              <a:gd name="connsiteX8" fmla="*/ 179217 w 422681"/>
              <a:gd name="connsiteY8" fmla="*/ 494676 h 510302"/>
              <a:gd name="connsiteX9" fmla="*/ 206840 w 422681"/>
              <a:gd name="connsiteY9" fmla="*/ 501534 h 510302"/>
              <a:gd name="connsiteX10" fmla="*/ 252083 w 422681"/>
              <a:gd name="connsiteY10" fmla="*/ 401808 h 510302"/>
              <a:gd name="connsiteX11" fmla="*/ 392768 w 422681"/>
              <a:gd name="connsiteY11" fmla="*/ 444766 h 510302"/>
              <a:gd name="connsiteX12" fmla="*/ 410865 w 422681"/>
              <a:gd name="connsiteY12" fmla="*/ 429526 h 510302"/>
            </a:gdLst>
            <a:ahLst/>
            <a:cxnLst/>
            <a:rect l="l" t="t" r="r" b="b"/>
            <a:pathLst>
              <a:path w="422681" h="510302">
                <a:moveTo>
                  <a:pt x="410865" y="429526"/>
                </a:moveTo>
                <a:lnTo>
                  <a:pt x="422676" y="6711"/>
                </a:lnTo>
                <a:cubicBezTo>
                  <a:pt x="422867" y="1567"/>
                  <a:pt x="417819" y="-1767"/>
                  <a:pt x="413913" y="996"/>
                </a:cubicBezTo>
                <a:lnTo>
                  <a:pt x="6624" y="293794"/>
                </a:lnTo>
                <a:cubicBezTo>
                  <a:pt x="-4044" y="301414"/>
                  <a:pt x="-1281" y="319988"/>
                  <a:pt x="11006" y="323798"/>
                </a:cubicBezTo>
                <a:lnTo>
                  <a:pt x="125401" y="359898"/>
                </a:lnTo>
                <a:lnTo>
                  <a:pt x="363907" y="102342"/>
                </a:lnTo>
                <a:lnTo>
                  <a:pt x="171406" y="382948"/>
                </a:lnTo>
                <a:lnTo>
                  <a:pt x="179217" y="494676"/>
                </a:lnTo>
                <a:cubicBezTo>
                  <a:pt x="180360" y="511345"/>
                  <a:pt x="200077" y="516298"/>
                  <a:pt x="206840" y="501534"/>
                </a:cubicBezTo>
                <a:lnTo>
                  <a:pt x="252083" y="401808"/>
                </a:lnTo>
                <a:lnTo>
                  <a:pt x="392768" y="444766"/>
                </a:lnTo>
                <a:cubicBezTo>
                  <a:pt x="401721" y="447433"/>
                  <a:pt x="410484" y="440003"/>
                  <a:pt x="410865" y="429526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914399" y="1200625"/>
            <a:ext cx="8748461" cy="288102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4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Thanks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14401" y="4646065"/>
            <a:ext cx="697230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/>
            <a:r>
              <a:rPr kumimoji="1" lang="en-US" altLang="zh-CN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MGS.</a:t>
            </a:r>
            <a:r>
              <a:rPr kumimoji="1" lang="en-US" altLang="zh-CN" sz="1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JOSE FRANCO LAMILLA</a:t>
            </a:r>
            <a:endParaRPr kumimoji="1" lang="zh-CN" altLang="en-US" dirty="0"/>
          </a:p>
        </p:txBody>
      </p:sp>
      <p:cxnSp>
        <p:nvCxnSpPr>
          <p:cNvPr id="8" name="标题 1"/>
          <p:cNvCxnSpPr/>
          <p:nvPr/>
        </p:nvCxnSpPr>
        <p:spPr>
          <a:xfrm>
            <a:off x="1065856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cxnSp>
        <p:nvCxnSpPr>
          <p:cNvPr id="9" name="标题 1"/>
          <p:cNvCxnSpPr/>
          <p:nvPr/>
        </p:nvCxnSpPr>
        <p:spPr>
          <a:xfrm>
            <a:off x="1621972" y="773905"/>
            <a:ext cx="0" cy="254795"/>
          </a:xfrm>
          <a:prstGeom prst="line">
            <a:avLst/>
          </a:prstGeom>
          <a:noFill/>
          <a:ln w="1270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0" name="标题 1"/>
          <p:cNvSpPr txBox="1"/>
          <p:nvPr/>
        </p:nvSpPr>
        <p:spPr>
          <a:xfrm>
            <a:off x="660400" y="773905"/>
            <a:ext cx="254795" cy="254795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216516" y="781228"/>
            <a:ext cx="254795" cy="24015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72651" y="773905"/>
            <a:ext cx="254757" cy="254795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0" y="0"/>
            <a:ext cx="482600" cy="6870700"/>
          </a:xfrm>
          <a:prstGeom prst="rect">
            <a:avLst/>
          </a:prstGeom>
          <a:solidFill>
            <a:srgbClr val="C53645">
              <a:alpha val="100000"/>
            </a:srgbClr>
          </a:solidFill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9291830-E20B-22FF-583C-94BBE102BF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C53645"/>
      </a:accent1>
      <a:accent2>
        <a:srgbClr val="30556B"/>
      </a:accent2>
      <a:accent3>
        <a:srgbClr val="095CB6"/>
      </a:accent3>
      <a:accent4>
        <a:srgbClr val="487ED7"/>
      </a:accent4>
      <a:accent5>
        <a:srgbClr val="909090"/>
      </a:accent5>
      <a:accent6>
        <a:srgbClr val="BEBEBE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1316</Words>
  <Application>Microsoft Office PowerPoint</Application>
  <PresentationFormat>Panorámica</PresentationFormat>
  <Paragraphs>104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Poppins</vt:lpstr>
      <vt:lpstr>poppins-bold</vt:lpstr>
      <vt:lpstr>Arial</vt:lpstr>
      <vt:lpstr>Office 主题​​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TICS</cp:lastModifiedBy>
  <cp:revision>3</cp:revision>
  <dcterms:modified xsi:type="dcterms:W3CDTF">2025-11-12T20:01:04Z</dcterms:modified>
</cp:coreProperties>
</file>
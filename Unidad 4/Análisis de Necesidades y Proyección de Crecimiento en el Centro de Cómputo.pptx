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7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9144000"/>
  <p:embeddedFontLst>
    <p:embeddedFont>
      <p:font typeface="Poppins" panose="00000500000000000000" pitchFamily="2" charset="0"/>
      <p:regular r:id="rId24"/>
      <p:bold r:id="rId25"/>
      <p:italic r:id="rId26"/>
      <p:boldItalic r:id="rId27"/>
    </p:embeddedFont>
    <p:embeddedFont>
      <p:font typeface="poppins-bold" panose="020B0604020202020204" charset="0"/>
      <p:regular r:id="rId28"/>
    </p:embeddedFont>
  </p:embeddedFontLst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2101196" y="2935250"/>
            <a:ext cx="7989608" cy="212365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/>
            <a:r>
              <a:rPr kumimoji="1" lang="en-US" altLang="zh-CN" sz="2900" b="1" dirty="0" err="1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"/>
                <a:ea typeface="Poppins"/>
                <a:cs typeface="Poppins"/>
              </a:rPr>
              <a:t>Análisis</a:t>
            </a:r>
            <a:r>
              <a:rPr kumimoji="1" lang="en-US" altLang="zh-CN" sz="2900" b="1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"/>
                <a:ea typeface="Poppins"/>
                <a:cs typeface="Poppins"/>
              </a:rPr>
              <a:t> de </a:t>
            </a:r>
            <a:r>
              <a:rPr kumimoji="1" lang="en-US" altLang="zh-CN" sz="2900" b="1" dirty="0" err="1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"/>
                <a:ea typeface="Poppins"/>
                <a:cs typeface="Poppins"/>
              </a:rPr>
              <a:t>Necesidades</a:t>
            </a:r>
            <a:r>
              <a:rPr kumimoji="1" lang="en-US" altLang="zh-CN" sz="2900" b="1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"/>
                <a:ea typeface="Poppins"/>
                <a:cs typeface="Poppins"/>
              </a:rPr>
              <a:t> y </a:t>
            </a:r>
            <a:r>
              <a:rPr kumimoji="1" lang="en-US" altLang="zh-CN" sz="2900" b="1" dirty="0" err="1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"/>
                <a:ea typeface="Poppins"/>
                <a:cs typeface="Poppins"/>
              </a:rPr>
              <a:t>Proyección</a:t>
            </a:r>
            <a:r>
              <a:rPr kumimoji="1" lang="en-US" altLang="zh-CN" sz="2900" b="1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"/>
                <a:ea typeface="Poppins"/>
                <a:cs typeface="Poppins"/>
              </a:rPr>
              <a:t> de </a:t>
            </a:r>
            <a:r>
              <a:rPr kumimoji="1" lang="en-US" altLang="zh-CN" sz="2900" b="1" dirty="0" err="1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"/>
                <a:ea typeface="Poppins"/>
                <a:cs typeface="Poppins"/>
              </a:rPr>
              <a:t>Crecimiento</a:t>
            </a:r>
            <a:r>
              <a:rPr kumimoji="1" lang="en-US" altLang="zh-CN" sz="2900" b="1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2900" b="1" dirty="0" err="1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"/>
                <a:ea typeface="Poppins"/>
                <a:cs typeface="Poppins"/>
              </a:rPr>
              <a:t>en</a:t>
            </a:r>
            <a:r>
              <a:rPr kumimoji="1" lang="en-US" altLang="zh-CN" sz="2900" b="1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2900" b="1" dirty="0" err="1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"/>
                <a:ea typeface="Poppins"/>
                <a:cs typeface="Poppins"/>
              </a:rPr>
              <a:t>el</a:t>
            </a:r>
            <a:r>
              <a:rPr kumimoji="1" lang="en-US" altLang="zh-CN" sz="2900" b="1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"/>
                <a:ea typeface="Poppins"/>
                <a:cs typeface="Poppins"/>
              </a:rPr>
              <a:t> Centro de </a:t>
            </a:r>
            <a:r>
              <a:rPr kumimoji="1" lang="en-US" altLang="zh-CN" sz="2900" b="1" dirty="0" err="1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"/>
                <a:ea typeface="Poppins"/>
                <a:cs typeface="Poppins"/>
              </a:rPr>
              <a:t>Cómputo</a:t>
            </a:r>
            <a:endParaRPr kumimoji="1" lang="zh-CN" alt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BDFCC04E-F78F-F6B4-40D4-47DD1B2441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3702447" y="1989884"/>
            <a:ext cx="396000" cy="360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200">
                <a:ln w="12700">
                  <a:noFill/>
                </a:ln>
                <a:solidFill>
                  <a:srgbClr val="4472C4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1.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4134446" y="2000170"/>
            <a:ext cx="7384453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Introducción: El Administrador como Arquitecto de la Ciudad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694497" y="819366"/>
            <a:ext cx="3779730" cy="582735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4800" dirty="0" err="1">
                <a:ln w="12700">
                  <a:noFill/>
                </a:ln>
                <a:solidFill>
                  <a:srgbClr val="4472C4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Contenido</a:t>
            </a:r>
            <a:endParaRPr kumimoji="1" lang="zh-CN" altLang="en-US" dirty="0"/>
          </a:p>
        </p:txBody>
      </p:sp>
      <p:cxnSp>
        <p:nvCxnSpPr>
          <p:cNvPr id="7" name="标题 1"/>
          <p:cNvCxnSpPr/>
          <p:nvPr/>
        </p:nvCxnSpPr>
        <p:spPr>
          <a:xfrm flipH="1">
            <a:off x="3694496" y="1450586"/>
            <a:ext cx="4558651" cy="0"/>
          </a:xfrm>
          <a:prstGeom prst="line">
            <a:avLst/>
          </a:prstGeom>
          <a:noFill/>
          <a:ln w="12700" cap="sq">
            <a:solidFill>
              <a:schemeClr val="tx1"/>
            </a:solidFill>
            <a:miter/>
          </a:ln>
        </p:spPr>
      </p:cxnSp>
      <p:sp>
        <p:nvSpPr>
          <p:cNvPr id="9" name="标题 1"/>
          <p:cNvSpPr txBox="1"/>
          <p:nvPr/>
        </p:nvSpPr>
        <p:spPr>
          <a:xfrm>
            <a:off x="1095880" y="0"/>
            <a:ext cx="169707" cy="6858000"/>
          </a:xfrm>
          <a:prstGeom prst="rect">
            <a:avLst/>
          </a:prstGeom>
          <a:solidFill>
            <a:schemeClr val="bg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713739" y="0"/>
            <a:ext cx="169707" cy="6858000"/>
          </a:xfrm>
          <a:prstGeom prst="rect">
            <a:avLst/>
          </a:prstGeom>
          <a:solidFill>
            <a:schemeClr val="bg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331597" y="0"/>
            <a:ext cx="169707" cy="6858000"/>
          </a:xfrm>
          <a:prstGeom prst="rect">
            <a:avLst/>
          </a:prstGeom>
          <a:solidFill>
            <a:schemeClr val="bg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3702447" y="2861948"/>
            <a:ext cx="396000" cy="360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200">
                <a:ln w="12700">
                  <a:noFill/>
                </a:ln>
                <a:solidFill>
                  <a:srgbClr val="4472C4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2.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4134446" y="2872234"/>
            <a:ext cx="7384453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Diagnóstico Tecnológico: El Diagnóstico Tecnológico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3702447" y="3734012"/>
            <a:ext cx="396000" cy="360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200">
                <a:ln w="12700">
                  <a:noFill/>
                </a:ln>
                <a:solidFill>
                  <a:srgbClr val="4472C4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3.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4134446" y="3744298"/>
            <a:ext cx="7384453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Planificación de Expansión y Actualización: El "Roadmap"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3702447" y="4606076"/>
            <a:ext cx="396000" cy="360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200">
                <a:ln w="12700">
                  <a:noFill/>
                </a:ln>
                <a:solidFill>
                  <a:srgbClr val="4472C4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4.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4134446" y="4616362"/>
            <a:ext cx="7384453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Estimación de Recursos Futuros: La Planificación de Capacidad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3702447" y="5478140"/>
            <a:ext cx="396000" cy="360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200">
                <a:ln w="12700">
                  <a:noFill/>
                </a:ln>
                <a:solidFill>
                  <a:srgbClr val="4472C4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5.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4134446" y="5488426"/>
            <a:ext cx="7384453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Conclusión</a:t>
            </a:r>
            <a:endParaRPr kumimoji="1" lang="zh-CN" altLang="en-US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3ABDC6B4-6364-3F81-8F94-3E313565683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1210308" y="1769390"/>
            <a:ext cx="3425191" cy="110799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r>
              <a:rPr kumimoji="1" lang="en-US" altLang="zh-CN" sz="6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PART.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2590146" y="3403166"/>
            <a:ext cx="7765434" cy="15696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just"/>
            <a:r>
              <a:rPr kumimoji="1" lang="en-US" altLang="zh-CN" sz="30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Introducción</a:t>
            </a:r>
            <a:r>
              <a:rPr kumimoji="1" lang="en-US" altLang="zh-CN" sz="3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: </a:t>
            </a:r>
          </a:p>
          <a:p>
            <a:pPr algn="ctr"/>
            <a:r>
              <a:rPr kumimoji="1" lang="en-US" altLang="zh-CN" sz="3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El Administrador </a:t>
            </a:r>
            <a:r>
              <a:rPr kumimoji="1" lang="en-US" altLang="zh-CN" sz="30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como</a:t>
            </a:r>
            <a:r>
              <a:rPr kumimoji="1" lang="en-US" altLang="zh-CN" sz="3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</a:t>
            </a:r>
            <a:r>
              <a:rPr kumimoji="1" lang="en-US" altLang="zh-CN" sz="30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Arquitecto</a:t>
            </a:r>
            <a:r>
              <a:rPr kumimoji="1" lang="en-US" altLang="zh-CN" sz="3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de la Ciudad</a:t>
            </a:r>
            <a:endParaRPr kumimoji="1" lang="zh-CN" altLang="en-US" dirty="0"/>
          </a:p>
        </p:txBody>
      </p:sp>
      <p:sp>
        <p:nvSpPr>
          <p:cNvPr id="12" name="标题 1"/>
          <p:cNvSpPr txBox="1"/>
          <p:nvPr/>
        </p:nvSpPr>
        <p:spPr>
          <a:xfrm>
            <a:off x="3278504" y="1769390"/>
            <a:ext cx="2220589" cy="110799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r"/>
            <a:r>
              <a:rPr kumimoji="1" lang="en-US" altLang="zh-CN" sz="6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01</a:t>
            </a:r>
            <a:endParaRPr kumimoji="1" lang="zh-CN" altLang="en-US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01031717-8EE8-B032-882B-0573CE8FD7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789960" y="3116371"/>
            <a:ext cx="3283725" cy="3045808"/>
          </a:xfrm>
          <a:prstGeom prst="rect">
            <a:avLst/>
          </a:prstGeom>
          <a:solidFill>
            <a:schemeClr val="bg1"/>
          </a:solidFill>
          <a:ln w="38100" cap="sq">
            <a:noFill/>
            <a:miter/>
          </a:ln>
          <a:effectLst>
            <a:outerShdw blurRad="317500" dist="127000" dir="30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789960" y="3116371"/>
            <a:ext cx="3283725" cy="95388"/>
          </a:xfrm>
          <a:prstGeom prst="rect">
            <a:avLst/>
          </a:prstGeom>
          <a:solidFill>
            <a:schemeClr val="accent1"/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009001" y="3473105"/>
            <a:ext cx="2763310" cy="259368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El administrador de sistemas no solo repara cosas cuando se rompen.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4454138" y="2750784"/>
            <a:ext cx="3283725" cy="3411395"/>
          </a:xfrm>
          <a:prstGeom prst="rect">
            <a:avLst/>
          </a:prstGeom>
          <a:solidFill>
            <a:schemeClr val="bg1"/>
          </a:solidFill>
          <a:ln w="38100" cap="sq">
            <a:noFill/>
            <a:miter/>
          </a:ln>
          <a:effectLst>
            <a:outerShdw blurRad="317500" dist="127000" dir="30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4454138" y="2655396"/>
            <a:ext cx="3283725" cy="95388"/>
          </a:xfrm>
          <a:prstGeom prst="rect">
            <a:avLst/>
          </a:prstGeom>
          <a:solidFill>
            <a:schemeClr val="accent1"/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4673179" y="3012130"/>
            <a:ext cx="2763310" cy="267493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Su rol más importante es el de arquitecto y planificador urbano.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8118316" y="3116371"/>
            <a:ext cx="3283725" cy="3045808"/>
          </a:xfrm>
          <a:prstGeom prst="rect">
            <a:avLst/>
          </a:prstGeom>
          <a:solidFill>
            <a:schemeClr val="bg1"/>
          </a:solidFill>
          <a:ln w="38100" cap="sq">
            <a:noFill/>
            <a:miter/>
          </a:ln>
          <a:effectLst>
            <a:outerShdw blurRad="317500" dist="127000" dir="30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8118316" y="3116371"/>
            <a:ext cx="3283725" cy="95388"/>
          </a:xfrm>
          <a:prstGeom prst="rect">
            <a:avLst/>
          </a:prstGeom>
          <a:solidFill>
            <a:schemeClr val="accent1"/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8337357" y="3473105"/>
            <a:ext cx="2763310" cy="267493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Un centro de cómputo es como una ciudad digital que requiere planificación anticipada.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660400" y="1666365"/>
            <a:ext cx="8794750" cy="5422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Comparación con un arquitecto urbano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-1145519" y="1274082"/>
            <a:ext cx="7764738" cy="5232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2800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Rol del Administrador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4AE99FAD-5013-79CD-F2CE-75F4FC14C26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1210308" y="1769390"/>
            <a:ext cx="3425191" cy="110799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r>
              <a:rPr kumimoji="1" lang="en-US" altLang="zh-CN" sz="6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PART.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404618" y="3195785"/>
            <a:ext cx="9682482" cy="15696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/>
            <a:r>
              <a:rPr kumimoji="1" lang="en-US" altLang="zh-CN" sz="3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El </a:t>
            </a:r>
            <a:r>
              <a:rPr kumimoji="1" lang="en-US" altLang="zh-CN" sz="30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Diagnóstico</a:t>
            </a:r>
            <a:r>
              <a:rPr kumimoji="1" lang="en-US" altLang="zh-CN" sz="3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</a:t>
            </a:r>
            <a:r>
              <a:rPr kumimoji="1" lang="en-US" altLang="zh-CN" sz="30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Tecnológico</a:t>
            </a:r>
            <a:endParaRPr kumimoji="1" lang="zh-CN" altLang="en-US" dirty="0"/>
          </a:p>
        </p:txBody>
      </p:sp>
      <p:sp>
        <p:nvSpPr>
          <p:cNvPr id="12" name="标题 1"/>
          <p:cNvSpPr txBox="1"/>
          <p:nvPr/>
        </p:nvSpPr>
        <p:spPr>
          <a:xfrm>
            <a:off x="3278504" y="1769390"/>
            <a:ext cx="2220589" cy="110799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r"/>
            <a:r>
              <a:rPr kumimoji="1" lang="en-US" altLang="zh-CN" sz="6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02</a:t>
            </a:r>
            <a:endParaRPr kumimoji="1" lang="zh-CN" altLang="en-US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1FEA0033-2C7B-CC81-7E17-E804B5577D1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/>
          <p:nvPr/>
        </p:nvSpPr>
        <p:spPr>
          <a:xfrm>
            <a:off x="5506546" y="4167153"/>
            <a:ext cx="455003" cy="455003"/>
          </a:xfrm>
          <a:prstGeom prst="ellipse">
            <a:avLst/>
          </a:prstGeom>
          <a:solidFill>
            <a:schemeClr val="accent2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5600576" y="4261183"/>
            <a:ext cx="266942" cy="266942"/>
          </a:xfrm>
          <a:custGeom>
            <a:avLst/>
            <a:gdLst>
              <a:gd name="connsiteX0" fmla="*/ 457070 w 720001"/>
              <a:gd name="connsiteY0" fmla="*/ 57166 h 720001"/>
              <a:gd name="connsiteX1" fmla="*/ 457070 w 720001"/>
              <a:gd name="connsiteY1" fmla="*/ 263017 h 720001"/>
              <a:gd name="connsiteX2" fmla="*/ 662921 w 720001"/>
              <a:gd name="connsiteY2" fmla="*/ 263017 h 720001"/>
              <a:gd name="connsiteX3" fmla="*/ 647393 w 720001"/>
              <a:gd name="connsiteY3" fmla="*/ 212704 h 720001"/>
              <a:gd name="connsiteX4" fmla="*/ 591008 w 720001"/>
              <a:gd name="connsiteY4" fmla="*/ 129080 h 720001"/>
              <a:gd name="connsiteX5" fmla="*/ 507383 w 720001"/>
              <a:gd name="connsiteY5" fmla="*/ 72694 h 720001"/>
              <a:gd name="connsiteX6" fmla="*/ 457070 w 720001"/>
              <a:gd name="connsiteY6" fmla="*/ 57166 h 720001"/>
              <a:gd name="connsiteX7" fmla="*/ 405022 w 720001"/>
              <a:gd name="connsiteY7" fmla="*/ 0 h 720001"/>
              <a:gd name="connsiteX8" fmla="*/ 720001 w 720001"/>
              <a:gd name="connsiteY8" fmla="*/ 314979 h 720001"/>
              <a:gd name="connsiteX9" fmla="*/ 405022 w 720001"/>
              <a:gd name="connsiteY9" fmla="*/ 314979 h 720001"/>
              <a:gd name="connsiteX10" fmla="*/ 360000 w 720001"/>
              <a:gd name="connsiteY10" fmla="*/ 0 h 720001"/>
              <a:gd name="connsiteX11" fmla="*/ 360000 w 720001"/>
              <a:gd name="connsiteY11" fmla="*/ 360000 h 720001"/>
              <a:gd name="connsiteX12" fmla="*/ 720000 w 720001"/>
              <a:gd name="connsiteY12" fmla="*/ 360000 h 720001"/>
              <a:gd name="connsiteX13" fmla="*/ 360000 w 720001"/>
              <a:gd name="connsiteY13" fmla="*/ 720001 h 720001"/>
              <a:gd name="connsiteX14" fmla="*/ 0 w 720001"/>
              <a:gd name="connsiteY14" fmla="*/ 360000 h 720001"/>
              <a:gd name="connsiteX15" fmla="*/ 360000 w 720001"/>
              <a:gd name="connsiteY15" fmla="*/ 0 h 720001"/>
            </a:gdLst>
            <a:ahLst/>
            <a:cxnLst/>
            <a:rect l="l" t="t" r="r" b="b"/>
            <a:pathLst>
              <a:path w="720001" h="720001">
                <a:moveTo>
                  <a:pt x="457070" y="57166"/>
                </a:moveTo>
                <a:lnTo>
                  <a:pt x="457070" y="263017"/>
                </a:lnTo>
                <a:lnTo>
                  <a:pt x="662921" y="263017"/>
                </a:lnTo>
                <a:cubicBezTo>
                  <a:pt x="659451" y="245755"/>
                  <a:pt x="654246" y="229012"/>
                  <a:pt x="647393" y="212704"/>
                </a:cubicBezTo>
                <a:cubicBezTo>
                  <a:pt x="634121" y="181388"/>
                  <a:pt x="615210" y="153282"/>
                  <a:pt x="591008" y="129080"/>
                </a:cubicBezTo>
                <a:cubicBezTo>
                  <a:pt x="566806" y="104878"/>
                  <a:pt x="538699" y="85967"/>
                  <a:pt x="507383" y="72694"/>
                </a:cubicBezTo>
                <a:cubicBezTo>
                  <a:pt x="491075" y="65755"/>
                  <a:pt x="474246" y="60637"/>
                  <a:pt x="457070" y="57166"/>
                </a:cubicBezTo>
                <a:close/>
                <a:moveTo>
                  <a:pt x="405022" y="0"/>
                </a:moveTo>
                <a:cubicBezTo>
                  <a:pt x="578950" y="0"/>
                  <a:pt x="720001" y="141051"/>
                  <a:pt x="720001" y="314979"/>
                </a:cubicBezTo>
                <a:lnTo>
                  <a:pt x="405022" y="314979"/>
                </a:lnTo>
                <a:close/>
                <a:moveTo>
                  <a:pt x="360000" y="0"/>
                </a:moveTo>
                <a:lnTo>
                  <a:pt x="360000" y="360000"/>
                </a:lnTo>
                <a:lnTo>
                  <a:pt x="720000" y="360000"/>
                </a:lnTo>
                <a:cubicBezTo>
                  <a:pt x="720000" y="558825"/>
                  <a:pt x="558824" y="720001"/>
                  <a:pt x="360000" y="720001"/>
                </a:cubicBezTo>
                <a:cubicBezTo>
                  <a:pt x="161176" y="720001"/>
                  <a:pt x="0" y="558825"/>
                  <a:pt x="0" y="360000"/>
                </a:cubicBezTo>
                <a:cubicBezTo>
                  <a:pt x="0" y="161176"/>
                  <a:pt x="161176" y="0"/>
                  <a:pt x="360000" y="0"/>
                </a:cubicBezTo>
                <a:close/>
              </a:path>
            </a:pathLst>
          </a:custGeom>
          <a:solidFill>
            <a:schemeClr val="bg1"/>
          </a:solidFill>
          <a:ln cap="sq">
            <a:noFill/>
          </a:ln>
          <a:effectLst/>
        </p:spPr>
        <p:txBody>
          <a:bodyPr vert="horz" wrap="none" lIns="34290" tIns="17145" rIns="34290" bIns="17145" rtlCol="0" anchor="ctr"/>
          <a:lstStyle/>
          <a:p>
            <a:pPr algn="l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700211" y="2224902"/>
            <a:ext cx="455004" cy="455004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817384" y="2326404"/>
            <a:ext cx="220658" cy="252000"/>
          </a:xfrm>
          <a:custGeom>
            <a:avLst/>
            <a:gdLst>
              <a:gd name="connsiteX0" fmla="*/ 361901 w 630455"/>
              <a:gd name="connsiteY0" fmla="*/ 82589 h 720001"/>
              <a:gd name="connsiteX1" fmla="*/ 361901 w 630455"/>
              <a:gd name="connsiteY1" fmla="*/ 203034 h 720001"/>
              <a:gd name="connsiteX2" fmla="*/ 427179 w 630455"/>
              <a:gd name="connsiteY2" fmla="*/ 268312 h 720001"/>
              <a:gd name="connsiteX3" fmla="*/ 547624 w 630455"/>
              <a:gd name="connsiteY3" fmla="*/ 268312 h 720001"/>
              <a:gd name="connsiteX4" fmla="*/ 113812 w 630455"/>
              <a:gd name="connsiteY4" fmla="*/ 0 h 720001"/>
              <a:gd name="connsiteX5" fmla="*/ 338847 w 630455"/>
              <a:gd name="connsiteY5" fmla="*/ 0 h 720001"/>
              <a:gd name="connsiteX6" fmla="*/ 340465 w 630455"/>
              <a:gd name="connsiteY6" fmla="*/ 162 h 720001"/>
              <a:gd name="connsiteX7" fmla="*/ 340789 w 630455"/>
              <a:gd name="connsiteY7" fmla="*/ 162 h 720001"/>
              <a:gd name="connsiteX8" fmla="*/ 344106 w 630455"/>
              <a:gd name="connsiteY8" fmla="*/ 809 h 720001"/>
              <a:gd name="connsiteX9" fmla="*/ 344186 w 630455"/>
              <a:gd name="connsiteY9" fmla="*/ 809 h 720001"/>
              <a:gd name="connsiteX10" fmla="*/ 347422 w 630455"/>
              <a:gd name="connsiteY10" fmla="*/ 1942 h 720001"/>
              <a:gd name="connsiteX11" fmla="*/ 347503 w 630455"/>
              <a:gd name="connsiteY11" fmla="*/ 1942 h 720001"/>
              <a:gd name="connsiteX12" fmla="*/ 349040 w 630455"/>
              <a:gd name="connsiteY12" fmla="*/ 2670 h 720001"/>
              <a:gd name="connsiteX13" fmla="*/ 349121 w 630455"/>
              <a:gd name="connsiteY13" fmla="*/ 2670 h 720001"/>
              <a:gd name="connsiteX14" fmla="*/ 350576 w 630455"/>
              <a:gd name="connsiteY14" fmla="*/ 3479 h 720001"/>
              <a:gd name="connsiteX15" fmla="*/ 350819 w 630455"/>
              <a:gd name="connsiteY15" fmla="*/ 3640 h 720001"/>
              <a:gd name="connsiteX16" fmla="*/ 352033 w 630455"/>
              <a:gd name="connsiteY16" fmla="*/ 4449 h 720001"/>
              <a:gd name="connsiteX17" fmla="*/ 352194 w 630455"/>
              <a:gd name="connsiteY17" fmla="*/ 4530 h 720001"/>
              <a:gd name="connsiteX18" fmla="*/ 353408 w 630455"/>
              <a:gd name="connsiteY18" fmla="*/ 5501 h 720001"/>
              <a:gd name="connsiteX19" fmla="*/ 353651 w 630455"/>
              <a:gd name="connsiteY19" fmla="*/ 5743 h 720001"/>
              <a:gd name="connsiteX20" fmla="*/ 354864 w 630455"/>
              <a:gd name="connsiteY20" fmla="*/ 6876 h 720001"/>
              <a:gd name="connsiteX21" fmla="*/ 623418 w 630455"/>
              <a:gd name="connsiteY21" fmla="*/ 275430 h 720001"/>
              <a:gd name="connsiteX22" fmla="*/ 624551 w 630455"/>
              <a:gd name="connsiteY22" fmla="*/ 276643 h 720001"/>
              <a:gd name="connsiteX23" fmla="*/ 624793 w 630455"/>
              <a:gd name="connsiteY23" fmla="*/ 276886 h 720001"/>
              <a:gd name="connsiteX24" fmla="*/ 625764 w 630455"/>
              <a:gd name="connsiteY24" fmla="*/ 278180 h 720001"/>
              <a:gd name="connsiteX25" fmla="*/ 625845 w 630455"/>
              <a:gd name="connsiteY25" fmla="*/ 278342 h 720001"/>
              <a:gd name="connsiteX26" fmla="*/ 626734 w 630455"/>
              <a:gd name="connsiteY26" fmla="*/ 279637 h 720001"/>
              <a:gd name="connsiteX27" fmla="*/ 626896 w 630455"/>
              <a:gd name="connsiteY27" fmla="*/ 279798 h 720001"/>
              <a:gd name="connsiteX28" fmla="*/ 627705 w 630455"/>
              <a:gd name="connsiteY28" fmla="*/ 281254 h 720001"/>
              <a:gd name="connsiteX29" fmla="*/ 628433 w 630455"/>
              <a:gd name="connsiteY29" fmla="*/ 282791 h 720001"/>
              <a:gd name="connsiteX30" fmla="*/ 629646 w 630455"/>
              <a:gd name="connsiteY30" fmla="*/ 286107 h 720001"/>
              <a:gd name="connsiteX31" fmla="*/ 630293 w 630455"/>
              <a:gd name="connsiteY31" fmla="*/ 289424 h 720001"/>
              <a:gd name="connsiteX32" fmla="*/ 630293 w 630455"/>
              <a:gd name="connsiteY32" fmla="*/ 289667 h 720001"/>
              <a:gd name="connsiteX33" fmla="*/ 630455 w 630455"/>
              <a:gd name="connsiteY33" fmla="*/ 291285 h 720001"/>
              <a:gd name="connsiteX34" fmla="*/ 630455 w 630455"/>
              <a:gd name="connsiteY34" fmla="*/ 292579 h 720001"/>
              <a:gd name="connsiteX35" fmla="*/ 630455 w 630455"/>
              <a:gd name="connsiteY35" fmla="*/ 606189 h 720001"/>
              <a:gd name="connsiteX36" fmla="*/ 516644 w 630455"/>
              <a:gd name="connsiteY36" fmla="*/ 720001 h 720001"/>
              <a:gd name="connsiteX37" fmla="*/ 113812 w 630455"/>
              <a:gd name="connsiteY37" fmla="*/ 720001 h 720001"/>
              <a:gd name="connsiteX38" fmla="*/ 0 w 630455"/>
              <a:gd name="connsiteY38" fmla="*/ 606189 h 720001"/>
              <a:gd name="connsiteX39" fmla="*/ 0 w 630455"/>
              <a:gd name="connsiteY39" fmla="*/ 113812 h 720001"/>
              <a:gd name="connsiteX40" fmla="*/ 113812 w 630455"/>
              <a:gd name="connsiteY40" fmla="*/ 0 h 720001"/>
            </a:gdLst>
            <a:ahLst/>
            <a:cxnLst/>
            <a:rect l="l" t="t" r="r" b="b"/>
            <a:pathLst>
              <a:path w="630455" h="720001">
                <a:moveTo>
                  <a:pt x="361901" y="82589"/>
                </a:moveTo>
                <a:lnTo>
                  <a:pt x="361901" y="203034"/>
                </a:lnTo>
                <a:cubicBezTo>
                  <a:pt x="361901" y="239030"/>
                  <a:pt x="391183" y="268312"/>
                  <a:pt x="427179" y="268312"/>
                </a:cubicBezTo>
                <a:lnTo>
                  <a:pt x="547624" y="268312"/>
                </a:lnTo>
                <a:close/>
                <a:moveTo>
                  <a:pt x="113812" y="0"/>
                </a:moveTo>
                <a:lnTo>
                  <a:pt x="338847" y="0"/>
                </a:lnTo>
                <a:cubicBezTo>
                  <a:pt x="339414" y="81"/>
                  <a:pt x="339899" y="81"/>
                  <a:pt x="340465" y="162"/>
                </a:cubicBezTo>
                <a:lnTo>
                  <a:pt x="340789" y="162"/>
                </a:lnTo>
                <a:cubicBezTo>
                  <a:pt x="341922" y="324"/>
                  <a:pt x="343054" y="485"/>
                  <a:pt x="344106" y="809"/>
                </a:cubicBezTo>
                <a:lnTo>
                  <a:pt x="344186" y="809"/>
                </a:lnTo>
                <a:cubicBezTo>
                  <a:pt x="345238" y="1052"/>
                  <a:pt x="346371" y="1456"/>
                  <a:pt x="347422" y="1942"/>
                </a:cubicBezTo>
                <a:lnTo>
                  <a:pt x="347503" y="1942"/>
                </a:lnTo>
                <a:cubicBezTo>
                  <a:pt x="348069" y="2184"/>
                  <a:pt x="348555" y="2427"/>
                  <a:pt x="349040" y="2670"/>
                </a:cubicBezTo>
                <a:lnTo>
                  <a:pt x="349121" y="2670"/>
                </a:lnTo>
                <a:cubicBezTo>
                  <a:pt x="349606" y="2912"/>
                  <a:pt x="350091" y="3155"/>
                  <a:pt x="350576" y="3479"/>
                </a:cubicBezTo>
                <a:cubicBezTo>
                  <a:pt x="350657" y="3560"/>
                  <a:pt x="350739" y="3560"/>
                  <a:pt x="350819" y="3640"/>
                </a:cubicBezTo>
                <a:cubicBezTo>
                  <a:pt x="351224" y="3883"/>
                  <a:pt x="351628" y="4126"/>
                  <a:pt x="352033" y="4449"/>
                </a:cubicBezTo>
                <a:cubicBezTo>
                  <a:pt x="352113" y="4449"/>
                  <a:pt x="352113" y="4530"/>
                  <a:pt x="352194" y="4530"/>
                </a:cubicBezTo>
                <a:lnTo>
                  <a:pt x="353408" y="5501"/>
                </a:lnTo>
                <a:lnTo>
                  <a:pt x="353651" y="5743"/>
                </a:lnTo>
                <a:cubicBezTo>
                  <a:pt x="354055" y="6148"/>
                  <a:pt x="354459" y="6472"/>
                  <a:pt x="354864" y="6876"/>
                </a:cubicBezTo>
                <a:lnTo>
                  <a:pt x="623418" y="275430"/>
                </a:lnTo>
                <a:cubicBezTo>
                  <a:pt x="623822" y="275835"/>
                  <a:pt x="624227" y="276239"/>
                  <a:pt x="624551" y="276643"/>
                </a:cubicBezTo>
                <a:lnTo>
                  <a:pt x="624793" y="276886"/>
                </a:lnTo>
                <a:cubicBezTo>
                  <a:pt x="625117" y="277291"/>
                  <a:pt x="625440" y="277776"/>
                  <a:pt x="625764" y="278180"/>
                </a:cubicBezTo>
                <a:cubicBezTo>
                  <a:pt x="625764" y="278261"/>
                  <a:pt x="625845" y="278342"/>
                  <a:pt x="625845" y="278342"/>
                </a:cubicBezTo>
                <a:cubicBezTo>
                  <a:pt x="626168" y="278747"/>
                  <a:pt x="626491" y="279232"/>
                  <a:pt x="626734" y="279637"/>
                </a:cubicBezTo>
                <a:cubicBezTo>
                  <a:pt x="626815" y="279637"/>
                  <a:pt x="626815" y="279717"/>
                  <a:pt x="626896" y="279798"/>
                </a:cubicBezTo>
                <a:cubicBezTo>
                  <a:pt x="627139" y="280284"/>
                  <a:pt x="627462" y="280769"/>
                  <a:pt x="627705" y="281254"/>
                </a:cubicBezTo>
                <a:cubicBezTo>
                  <a:pt x="627948" y="281739"/>
                  <a:pt x="628190" y="282225"/>
                  <a:pt x="628433" y="282791"/>
                </a:cubicBezTo>
                <a:cubicBezTo>
                  <a:pt x="628918" y="283843"/>
                  <a:pt x="629323" y="284975"/>
                  <a:pt x="629646" y="286107"/>
                </a:cubicBezTo>
                <a:cubicBezTo>
                  <a:pt x="629889" y="287159"/>
                  <a:pt x="630132" y="288291"/>
                  <a:pt x="630293" y="289424"/>
                </a:cubicBezTo>
                <a:lnTo>
                  <a:pt x="630293" y="289667"/>
                </a:lnTo>
                <a:cubicBezTo>
                  <a:pt x="630374" y="290152"/>
                  <a:pt x="630455" y="290718"/>
                  <a:pt x="630455" y="291285"/>
                </a:cubicBezTo>
                <a:lnTo>
                  <a:pt x="630455" y="292579"/>
                </a:lnTo>
                <a:lnTo>
                  <a:pt x="630455" y="606189"/>
                </a:lnTo>
                <a:cubicBezTo>
                  <a:pt x="630455" y="668959"/>
                  <a:pt x="579414" y="720001"/>
                  <a:pt x="516644" y="720001"/>
                </a:cubicBezTo>
                <a:lnTo>
                  <a:pt x="113812" y="720001"/>
                </a:lnTo>
                <a:cubicBezTo>
                  <a:pt x="51042" y="720001"/>
                  <a:pt x="0" y="668959"/>
                  <a:pt x="0" y="606189"/>
                </a:cubicBezTo>
                <a:lnTo>
                  <a:pt x="0" y="113812"/>
                </a:lnTo>
                <a:cubicBezTo>
                  <a:pt x="0" y="51042"/>
                  <a:pt x="51042" y="0"/>
                  <a:pt x="113812" y="0"/>
                </a:cubicBezTo>
                <a:close/>
              </a:path>
            </a:pathLst>
          </a:custGeom>
          <a:solidFill>
            <a:schemeClr val="bg1"/>
          </a:solidFill>
          <a:ln cap="sq">
            <a:noFill/>
          </a:ln>
          <a:effectLst/>
        </p:spPr>
        <p:txBody>
          <a:bodyPr vert="horz" wrap="none" lIns="34290" tIns="17145" rIns="34290" bIns="17145" rtlCol="0" anchor="ctr"/>
          <a:lstStyle/>
          <a:p>
            <a:pPr algn="l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94668" y="1641170"/>
            <a:ext cx="4973342" cy="31486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6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Revisión</a:t>
            </a:r>
            <a:r>
              <a:rPr kumimoji="1" lang="en-US" altLang="zh-CN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del Estado del Centro de </a:t>
            </a:r>
            <a:r>
              <a:rPr kumimoji="1" lang="en-US" altLang="zh-CN" sz="16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Cómputo</a:t>
            </a:r>
            <a:endParaRPr kumimoji="1" lang="zh-CN" altLang="en-US" dirty="0"/>
          </a:p>
        </p:txBody>
      </p:sp>
      <p:sp>
        <p:nvSpPr>
          <p:cNvPr id="10" name="标题 1"/>
          <p:cNvSpPr txBox="1"/>
          <p:nvPr/>
        </p:nvSpPr>
        <p:spPr>
          <a:xfrm>
            <a:off x="1507468" y="2303136"/>
            <a:ext cx="4160542" cy="75354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r>
              <a:rPr lang="es-EC" sz="1600" dirty="0"/>
              <a:t>Consiste en una revisión detallada del estado del hardware, software, red y servicios del centro de cómputo.</a:t>
            </a:r>
            <a:endParaRPr kumimoji="1" lang="zh-CN" altLang="en-US" sz="1600" dirty="0"/>
          </a:p>
        </p:txBody>
      </p:sp>
      <p:sp>
        <p:nvSpPr>
          <p:cNvPr id="11" name="标题 1"/>
          <p:cNvSpPr txBox="1"/>
          <p:nvPr/>
        </p:nvSpPr>
        <p:spPr>
          <a:xfrm>
            <a:off x="6230453" y="4151355"/>
            <a:ext cx="4160542" cy="75354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lvl="0"/>
            <a:r>
              <a:rPr lang="es-EC" sz="1600" dirty="0"/>
              <a:t>Su propósito es detectar puntos críticos, carencias o excesos de recursos.</a:t>
            </a:r>
          </a:p>
        </p:txBody>
      </p:sp>
      <p:sp>
        <p:nvSpPr>
          <p:cNvPr id="13" name="标题 1"/>
          <p:cNvSpPr txBox="1"/>
          <p:nvPr/>
        </p:nvSpPr>
        <p:spPr>
          <a:xfrm>
            <a:off x="1703855" y="824322"/>
            <a:ext cx="7417285" cy="5232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2800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Concepto de </a:t>
            </a:r>
            <a:r>
              <a:rPr kumimoji="1" lang="en-US" altLang="zh-CN" sz="2800" dirty="0" err="1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Diagnóstico</a:t>
            </a:r>
            <a:r>
              <a:rPr kumimoji="1" lang="en-US" altLang="zh-CN" sz="2800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 </a:t>
            </a:r>
            <a:r>
              <a:rPr kumimoji="1" lang="en-US" altLang="zh-CN" sz="2800" dirty="0" err="1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Tecnológico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38B80BD-4C5A-B163-7485-8E3E21506C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4402483" y="1935139"/>
            <a:ext cx="1166421" cy="10996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5568904" y="2020235"/>
            <a:ext cx="348681" cy="348681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5689407" y="2142477"/>
            <a:ext cx="107674" cy="104200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75554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4729123" y="2236666"/>
            <a:ext cx="513141" cy="496586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2258429" y="1752847"/>
            <a:ext cx="1785713" cy="6119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/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Inventario de Activos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1960375" y="2486322"/>
            <a:ext cx="2083768" cy="10299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/>
            <a:r>
              <a:rPr kumimoji="1" lang="en-US" altLang="zh-CN" sz="1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Registrar cada equipo, periférico, servidor y licencia de software.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134095" y="1752847"/>
            <a:ext cx="1639080" cy="6119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/>
            <a:r>
              <a:rPr kumimoji="1" lang="en-US" altLang="zh-CN" sz="1118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Evaluación del Rendimiento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5689407" y="2482803"/>
            <a:ext cx="2083768" cy="96762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/>
            <a:r>
              <a:rPr kumimoji="1" lang="en-US" altLang="zh-CN" sz="1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Analizar capacidad de procesamiento, almacenamiento y conectividad.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2353129" y="3855020"/>
            <a:ext cx="1691013" cy="6119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/>
            <a:r>
              <a:rPr kumimoji="1" lang="en-US" altLang="zh-CN" sz="1118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Revisión de Políticas de Seguridad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1960375" y="4584974"/>
            <a:ext cx="2083768" cy="9851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/>
            <a:r>
              <a:rPr kumimoji="1" lang="en-US" altLang="zh-CN" sz="1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Verificar respaldos, antivirus y actualizaciones.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5948385" y="3863726"/>
            <a:ext cx="1824790" cy="6119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/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Informe de Resultados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5689407" y="4593682"/>
            <a:ext cx="2083768" cy="102225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/>
            <a:r>
              <a:rPr kumimoji="1" lang="en-US" altLang="zh-CN" sz="1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Elaborar un documento técnico con recomendaciones y prioridades de mejora.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4402483" y="3953602"/>
            <a:ext cx="1099641" cy="109963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5498337" y="4048037"/>
            <a:ext cx="348681" cy="34868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5603491" y="4161806"/>
            <a:ext cx="138374" cy="121144"/>
          </a:xfrm>
          <a:custGeom>
            <a:avLst/>
            <a:gdLst>
              <a:gd name="connsiteX0" fmla="*/ 411292 w 822400"/>
              <a:gd name="connsiteY0" fmla="*/ 234366 h 720000"/>
              <a:gd name="connsiteX1" fmla="*/ 285658 w 822400"/>
              <a:gd name="connsiteY1" fmla="*/ 360000 h 720000"/>
              <a:gd name="connsiteX2" fmla="*/ 411292 w 822400"/>
              <a:gd name="connsiteY2" fmla="*/ 485635 h 720000"/>
              <a:gd name="connsiteX3" fmla="*/ 536927 w 822400"/>
              <a:gd name="connsiteY3" fmla="*/ 360000 h 720000"/>
              <a:gd name="connsiteX4" fmla="*/ 411292 w 822400"/>
              <a:gd name="connsiteY4" fmla="*/ 234366 h 720000"/>
              <a:gd name="connsiteX5" fmla="*/ 411292 w 822400"/>
              <a:gd name="connsiteY5" fmla="*/ 178938 h 720000"/>
              <a:gd name="connsiteX6" fmla="*/ 592354 w 822400"/>
              <a:gd name="connsiteY6" fmla="*/ 360000 h 720000"/>
              <a:gd name="connsiteX7" fmla="*/ 411292 w 822400"/>
              <a:gd name="connsiteY7" fmla="*/ 541063 h 720000"/>
              <a:gd name="connsiteX8" fmla="*/ 230230 w 822400"/>
              <a:gd name="connsiteY8" fmla="*/ 360000 h 720000"/>
              <a:gd name="connsiteX9" fmla="*/ 411292 w 822400"/>
              <a:gd name="connsiteY9" fmla="*/ 178938 h 720000"/>
              <a:gd name="connsiteX10" fmla="*/ 235403 w 822400"/>
              <a:gd name="connsiteY10" fmla="*/ 55427 h 720000"/>
              <a:gd name="connsiteX11" fmla="*/ 59514 w 822400"/>
              <a:gd name="connsiteY11" fmla="*/ 360000 h 720000"/>
              <a:gd name="connsiteX12" fmla="*/ 235403 w 822400"/>
              <a:gd name="connsiteY12" fmla="*/ 664573 h 720000"/>
              <a:gd name="connsiteX13" fmla="*/ 587089 w 822400"/>
              <a:gd name="connsiteY13" fmla="*/ 664573 h 720000"/>
              <a:gd name="connsiteX14" fmla="*/ 762978 w 822400"/>
              <a:gd name="connsiteY14" fmla="*/ 360000 h 720000"/>
              <a:gd name="connsiteX15" fmla="*/ 587089 w 822400"/>
              <a:gd name="connsiteY15" fmla="*/ 55427 h 720000"/>
              <a:gd name="connsiteX16" fmla="*/ 219883 w 822400"/>
              <a:gd name="connsiteY16" fmla="*/ 0 h 720000"/>
              <a:gd name="connsiteX17" fmla="*/ 602516 w 822400"/>
              <a:gd name="connsiteY17" fmla="*/ 0 h 720000"/>
              <a:gd name="connsiteX18" fmla="*/ 627274 w 822400"/>
              <a:gd name="connsiteY18" fmla="*/ 14319 h 720000"/>
              <a:gd name="connsiteX19" fmla="*/ 818590 w 822400"/>
              <a:gd name="connsiteY19" fmla="*/ 345682 h 720000"/>
              <a:gd name="connsiteX20" fmla="*/ 818590 w 822400"/>
              <a:gd name="connsiteY20" fmla="*/ 374319 h 720000"/>
              <a:gd name="connsiteX21" fmla="*/ 627366 w 822400"/>
              <a:gd name="connsiteY21" fmla="*/ 705682 h 720000"/>
              <a:gd name="connsiteX22" fmla="*/ 602608 w 822400"/>
              <a:gd name="connsiteY22" fmla="*/ 720000 h 720000"/>
              <a:gd name="connsiteX23" fmla="*/ 219976 w 822400"/>
              <a:gd name="connsiteY23" fmla="*/ 720000 h 720000"/>
              <a:gd name="connsiteX24" fmla="*/ 195218 w 822400"/>
              <a:gd name="connsiteY24" fmla="*/ 705682 h 720000"/>
              <a:gd name="connsiteX25" fmla="*/ 3810 w 822400"/>
              <a:gd name="connsiteY25" fmla="*/ 374319 h 720000"/>
              <a:gd name="connsiteX26" fmla="*/ 3810 w 822400"/>
              <a:gd name="connsiteY26" fmla="*/ 345682 h 720000"/>
              <a:gd name="connsiteX27" fmla="*/ 195126 w 822400"/>
              <a:gd name="connsiteY27" fmla="*/ 14319 h 720000"/>
              <a:gd name="connsiteX28" fmla="*/ 219883 w 822400"/>
              <a:gd name="connsiteY28" fmla="*/ 0 h 720000"/>
            </a:gdLst>
            <a:ahLst/>
            <a:cxnLst/>
            <a:rect l="l" t="t" r="r" b="b"/>
            <a:pathLst>
              <a:path w="822400" h="720000">
                <a:moveTo>
                  <a:pt x="411292" y="234366"/>
                </a:moveTo>
                <a:cubicBezTo>
                  <a:pt x="342008" y="234366"/>
                  <a:pt x="285658" y="290716"/>
                  <a:pt x="285658" y="360000"/>
                </a:cubicBezTo>
                <a:cubicBezTo>
                  <a:pt x="285658" y="429284"/>
                  <a:pt x="342008" y="485635"/>
                  <a:pt x="411292" y="485635"/>
                </a:cubicBezTo>
                <a:cubicBezTo>
                  <a:pt x="480576" y="485635"/>
                  <a:pt x="536927" y="429284"/>
                  <a:pt x="536927" y="360000"/>
                </a:cubicBezTo>
                <a:cubicBezTo>
                  <a:pt x="536927" y="290716"/>
                  <a:pt x="480576" y="234366"/>
                  <a:pt x="411292" y="234366"/>
                </a:cubicBezTo>
                <a:close/>
                <a:moveTo>
                  <a:pt x="411292" y="178938"/>
                </a:moveTo>
                <a:cubicBezTo>
                  <a:pt x="511153" y="178938"/>
                  <a:pt x="592354" y="260139"/>
                  <a:pt x="592354" y="360000"/>
                </a:cubicBezTo>
                <a:cubicBezTo>
                  <a:pt x="592354" y="459861"/>
                  <a:pt x="511153" y="541063"/>
                  <a:pt x="411292" y="541063"/>
                </a:cubicBezTo>
                <a:cubicBezTo>
                  <a:pt x="311431" y="541063"/>
                  <a:pt x="230230" y="459861"/>
                  <a:pt x="230230" y="360000"/>
                </a:cubicBezTo>
                <a:cubicBezTo>
                  <a:pt x="230230" y="260139"/>
                  <a:pt x="311431" y="178938"/>
                  <a:pt x="411292" y="178938"/>
                </a:cubicBezTo>
                <a:close/>
                <a:moveTo>
                  <a:pt x="235403" y="55427"/>
                </a:moveTo>
                <a:lnTo>
                  <a:pt x="59514" y="360000"/>
                </a:lnTo>
                <a:lnTo>
                  <a:pt x="235403" y="664573"/>
                </a:lnTo>
                <a:lnTo>
                  <a:pt x="587089" y="664573"/>
                </a:lnTo>
                <a:lnTo>
                  <a:pt x="762978" y="360000"/>
                </a:lnTo>
                <a:lnTo>
                  <a:pt x="587089" y="55427"/>
                </a:lnTo>
                <a:close/>
                <a:moveTo>
                  <a:pt x="219883" y="0"/>
                </a:moveTo>
                <a:lnTo>
                  <a:pt x="602516" y="0"/>
                </a:lnTo>
                <a:cubicBezTo>
                  <a:pt x="612678" y="0"/>
                  <a:pt x="622193" y="5450"/>
                  <a:pt x="627274" y="14319"/>
                </a:cubicBezTo>
                <a:lnTo>
                  <a:pt x="818590" y="345682"/>
                </a:lnTo>
                <a:cubicBezTo>
                  <a:pt x="823671" y="354550"/>
                  <a:pt x="823671" y="365451"/>
                  <a:pt x="818590" y="374319"/>
                </a:cubicBezTo>
                <a:lnTo>
                  <a:pt x="627366" y="705682"/>
                </a:lnTo>
                <a:cubicBezTo>
                  <a:pt x="622285" y="714550"/>
                  <a:pt x="612770" y="720000"/>
                  <a:pt x="602608" y="720000"/>
                </a:cubicBezTo>
                <a:lnTo>
                  <a:pt x="219976" y="720000"/>
                </a:lnTo>
                <a:cubicBezTo>
                  <a:pt x="209814" y="720000"/>
                  <a:pt x="200299" y="714550"/>
                  <a:pt x="195218" y="705682"/>
                </a:cubicBezTo>
                <a:lnTo>
                  <a:pt x="3810" y="374319"/>
                </a:lnTo>
                <a:cubicBezTo>
                  <a:pt x="-1271" y="365543"/>
                  <a:pt x="-1271" y="354550"/>
                  <a:pt x="3810" y="345682"/>
                </a:cubicBezTo>
                <a:lnTo>
                  <a:pt x="195126" y="14319"/>
                </a:lnTo>
                <a:cubicBezTo>
                  <a:pt x="200207" y="5450"/>
                  <a:pt x="209721" y="0"/>
                  <a:pt x="21988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75554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4668698" y="4255129"/>
            <a:ext cx="567211" cy="496586"/>
          </a:xfrm>
          <a:custGeom>
            <a:avLst/>
            <a:gdLst>
              <a:gd name="connsiteX0" fmla="*/ 411292 w 822400"/>
              <a:gd name="connsiteY0" fmla="*/ 234366 h 720000"/>
              <a:gd name="connsiteX1" fmla="*/ 285658 w 822400"/>
              <a:gd name="connsiteY1" fmla="*/ 360000 h 720000"/>
              <a:gd name="connsiteX2" fmla="*/ 411292 w 822400"/>
              <a:gd name="connsiteY2" fmla="*/ 485635 h 720000"/>
              <a:gd name="connsiteX3" fmla="*/ 536927 w 822400"/>
              <a:gd name="connsiteY3" fmla="*/ 360000 h 720000"/>
              <a:gd name="connsiteX4" fmla="*/ 411292 w 822400"/>
              <a:gd name="connsiteY4" fmla="*/ 234366 h 720000"/>
              <a:gd name="connsiteX5" fmla="*/ 411292 w 822400"/>
              <a:gd name="connsiteY5" fmla="*/ 178938 h 720000"/>
              <a:gd name="connsiteX6" fmla="*/ 592354 w 822400"/>
              <a:gd name="connsiteY6" fmla="*/ 360000 h 720000"/>
              <a:gd name="connsiteX7" fmla="*/ 411292 w 822400"/>
              <a:gd name="connsiteY7" fmla="*/ 541063 h 720000"/>
              <a:gd name="connsiteX8" fmla="*/ 230230 w 822400"/>
              <a:gd name="connsiteY8" fmla="*/ 360000 h 720000"/>
              <a:gd name="connsiteX9" fmla="*/ 411292 w 822400"/>
              <a:gd name="connsiteY9" fmla="*/ 178938 h 720000"/>
              <a:gd name="connsiteX10" fmla="*/ 235403 w 822400"/>
              <a:gd name="connsiteY10" fmla="*/ 55427 h 720000"/>
              <a:gd name="connsiteX11" fmla="*/ 59514 w 822400"/>
              <a:gd name="connsiteY11" fmla="*/ 360000 h 720000"/>
              <a:gd name="connsiteX12" fmla="*/ 235403 w 822400"/>
              <a:gd name="connsiteY12" fmla="*/ 664573 h 720000"/>
              <a:gd name="connsiteX13" fmla="*/ 587089 w 822400"/>
              <a:gd name="connsiteY13" fmla="*/ 664573 h 720000"/>
              <a:gd name="connsiteX14" fmla="*/ 762978 w 822400"/>
              <a:gd name="connsiteY14" fmla="*/ 360000 h 720000"/>
              <a:gd name="connsiteX15" fmla="*/ 587089 w 822400"/>
              <a:gd name="connsiteY15" fmla="*/ 55427 h 720000"/>
              <a:gd name="connsiteX16" fmla="*/ 219883 w 822400"/>
              <a:gd name="connsiteY16" fmla="*/ 0 h 720000"/>
              <a:gd name="connsiteX17" fmla="*/ 602516 w 822400"/>
              <a:gd name="connsiteY17" fmla="*/ 0 h 720000"/>
              <a:gd name="connsiteX18" fmla="*/ 627274 w 822400"/>
              <a:gd name="connsiteY18" fmla="*/ 14319 h 720000"/>
              <a:gd name="connsiteX19" fmla="*/ 818590 w 822400"/>
              <a:gd name="connsiteY19" fmla="*/ 345682 h 720000"/>
              <a:gd name="connsiteX20" fmla="*/ 818590 w 822400"/>
              <a:gd name="connsiteY20" fmla="*/ 374319 h 720000"/>
              <a:gd name="connsiteX21" fmla="*/ 627366 w 822400"/>
              <a:gd name="connsiteY21" fmla="*/ 705682 h 720000"/>
              <a:gd name="connsiteX22" fmla="*/ 602608 w 822400"/>
              <a:gd name="connsiteY22" fmla="*/ 720000 h 720000"/>
              <a:gd name="connsiteX23" fmla="*/ 219976 w 822400"/>
              <a:gd name="connsiteY23" fmla="*/ 720000 h 720000"/>
              <a:gd name="connsiteX24" fmla="*/ 195218 w 822400"/>
              <a:gd name="connsiteY24" fmla="*/ 705682 h 720000"/>
              <a:gd name="connsiteX25" fmla="*/ 3810 w 822400"/>
              <a:gd name="connsiteY25" fmla="*/ 374319 h 720000"/>
              <a:gd name="connsiteX26" fmla="*/ 3810 w 822400"/>
              <a:gd name="connsiteY26" fmla="*/ 345682 h 720000"/>
              <a:gd name="connsiteX27" fmla="*/ 195126 w 822400"/>
              <a:gd name="connsiteY27" fmla="*/ 14319 h 720000"/>
              <a:gd name="connsiteX28" fmla="*/ 219883 w 822400"/>
              <a:gd name="connsiteY28" fmla="*/ 0 h 720000"/>
            </a:gdLst>
            <a:ahLst/>
            <a:cxnLst/>
            <a:rect l="l" t="t" r="r" b="b"/>
            <a:pathLst>
              <a:path w="822400" h="720000">
                <a:moveTo>
                  <a:pt x="411292" y="234366"/>
                </a:moveTo>
                <a:cubicBezTo>
                  <a:pt x="342008" y="234366"/>
                  <a:pt x="285658" y="290716"/>
                  <a:pt x="285658" y="360000"/>
                </a:cubicBezTo>
                <a:cubicBezTo>
                  <a:pt x="285658" y="429284"/>
                  <a:pt x="342008" y="485635"/>
                  <a:pt x="411292" y="485635"/>
                </a:cubicBezTo>
                <a:cubicBezTo>
                  <a:pt x="480576" y="485635"/>
                  <a:pt x="536927" y="429284"/>
                  <a:pt x="536927" y="360000"/>
                </a:cubicBezTo>
                <a:cubicBezTo>
                  <a:pt x="536927" y="290716"/>
                  <a:pt x="480576" y="234366"/>
                  <a:pt x="411292" y="234366"/>
                </a:cubicBezTo>
                <a:close/>
                <a:moveTo>
                  <a:pt x="411292" y="178938"/>
                </a:moveTo>
                <a:cubicBezTo>
                  <a:pt x="511153" y="178938"/>
                  <a:pt x="592354" y="260139"/>
                  <a:pt x="592354" y="360000"/>
                </a:cubicBezTo>
                <a:cubicBezTo>
                  <a:pt x="592354" y="459861"/>
                  <a:pt x="511153" y="541063"/>
                  <a:pt x="411292" y="541063"/>
                </a:cubicBezTo>
                <a:cubicBezTo>
                  <a:pt x="311431" y="541063"/>
                  <a:pt x="230230" y="459861"/>
                  <a:pt x="230230" y="360000"/>
                </a:cubicBezTo>
                <a:cubicBezTo>
                  <a:pt x="230230" y="260139"/>
                  <a:pt x="311431" y="178938"/>
                  <a:pt x="411292" y="178938"/>
                </a:cubicBezTo>
                <a:close/>
                <a:moveTo>
                  <a:pt x="235403" y="55427"/>
                </a:moveTo>
                <a:lnTo>
                  <a:pt x="59514" y="360000"/>
                </a:lnTo>
                <a:lnTo>
                  <a:pt x="235403" y="664573"/>
                </a:lnTo>
                <a:lnTo>
                  <a:pt x="587089" y="664573"/>
                </a:lnTo>
                <a:lnTo>
                  <a:pt x="762978" y="360000"/>
                </a:lnTo>
                <a:lnTo>
                  <a:pt x="587089" y="55427"/>
                </a:lnTo>
                <a:close/>
                <a:moveTo>
                  <a:pt x="219883" y="0"/>
                </a:moveTo>
                <a:lnTo>
                  <a:pt x="602516" y="0"/>
                </a:lnTo>
                <a:cubicBezTo>
                  <a:pt x="612678" y="0"/>
                  <a:pt x="622193" y="5450"/>
                  <a:pt x="627274" y="14319"/>
                </a:cubicBezTo>
                <a:lnTo>
                  <a:pt x="818590" y="345682"/>
                </a:lnTo>
                <a:cubicBezTo>
                  <a:pt x="823671" y="354550"/>
                  <a:pt x="823671" y="365451"/>
                  <a:pt x="818590" y="374319"/>
                </a:cubicBezTo>
                <a:lnTo>
                  <a:pt x="627366" y="705682"/>
                </a:lnTo>
                <a:cubicBezTo>
                  <a:pt x="622285" y="714550"/>
                  <a:pt x="612770" y="720000"/>
                  <a:pt x="602608" y="720000"/>
                </a:cubicBezTo>
                <a:lnTo>
                  <a:pt x="219976" y="720000"/>
                </a:lnTo>
                <a:cubicBezTo>
                  <a:pt x="209814" y="720000"/>
                  <a:pt x="200299" y="714550"/>
                  <a:pt x="195218" y="705682"/>
                </a:cubicBezTo>
                <a:lnTo>
                  <a:pt x="3810" y="374319"/>
                </a:lnTo>
                <a:cubicBezTo>
                  <a:pt x="-1271" y="365543"/>
                  <a:pt x="-1271" y="354550"/>
                  <a:pt x="3810" y="345682"/>
                </a:cubicBezTo>
                <a:lnTo>
                  <a:pt x="195126" y="14319"/>
                </a:lnTo>
                <a:cubicBezTo>
                  <a:pt x="200207" y="5450"/>
                  <a:pt x="209721" y="0"/>
                  <a:pt x="219883" y="0"/>
                </a:cubicBezTo>
                <a:close/>
              </a:path>
            </a:pathLst>
          </a:custGeom>
          <a:solidFill>
            <a:schemeClr val="bg1"/>
          </a:solidFill>
          <a:ln w="1553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693463" y="1935141"/>
            <a:ext cx="1099641" cy="109963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1789317" y="2016086"/>
            <a:ext cx="348681" cy="34868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1896074" y="2122843"/>
            <a:ext cx="135166" cy="135166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75554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994991" y="2236668"/>
            <a:ext cx="496586" cy="496586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693463" y="3953601"/>
            <a:ext cx="1166421" cy="10996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>
            <a:off x="1859884" y="4048036"/>
            <a:ext cx="348681" cy="348681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1977747" y="4161199"/>
            <a:ext cx="112955" cy="122358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ahLst/>
            <a:cxnLst/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75554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>
            <a:off x="1047460" y="4255128"/>
            <a:ext cx="458426" cy="496586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ahLst/>
            <a:cxnLst/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8082207" y="1935139"/>
            <a:ext cx="1166421" cy="10996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9248628" y="2020235"/>
            <a:ext cx="348681" cy="348681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9369059" y="2140728"/>
            <a:ext cx="107673" cy="107673"/>
          </a:xfrm>
          <a:custGeom>
            <a:avLst/>
            <a:gdLst>
              <a:gd name="connsiteX0" fmla="*/ 457070 w 720001"/>
              <a:gd name="connsiteY0" fmla="*/ 57166 h 720001"/>
              <a:gd name="connsiteX1" fmla="*/ 457070 w 720001"/>
              <a:gd name="connsiteY1" fmla="*/ 263017 h 720001"/>
              <a:gd name="connsiteX2" fmla="*/ 662921 w 720001"/>
              <a:gd name="connsiteY2" fmla="*/ 263017 h 720001"/>
              <a:gd name="connsiteX3" fmla="*/ 647393 w 720001"/>
              <a:gd name="connsiteY3" fmla="*/ 212704 h 720001"/>
              <a:gd name="connsiteX4" fmla="*/ 591008 w 720001"/>
              <a:gd name="connsiteY4" fmla="*/ 129079 h 720001"/>
              <a:gd name="connsiteX5" fmla="*/ 507383 w 720001"/>
              <a:gd name="connsiteY5" fmla="*/ 72694 h 720001"/>
              <a:gd name="connsiteX6" fmla="*/ 457070 w 720001"/>
              <a:gd name="connsiteY6" fmla="*/ 57166 h 720001"/>
              <a:gd name="connsiteX7" fmla="*/ 307952 w 720001"/>
              <a:gd name="connsiteY7" fmla="*/ 56386 h 720001"/>
              <a:gd name="connsiteX8" fmla="*/ 240115 w 720001"/>
              <a:gd name="connsiteY8" fmla="*/ 76251 h 720001"/>
              <a:gd name="connsiteX9" fmla="*/ 142092 w 720001"/>
              <a:gd name="connsiteY9" fmla="*/ 142179 h 720001"/>
              <a:gd name="connsiteX10" fmla="*/ 76077 w 720001"/>
              <a:gd name="connsiteY10" fmla="*/ 240116 h 720001"/>
              <a:gd name="connsiteX11" fmla="*/ 51874 w 720001"/>
              <a:gd name="connsiteY11" fmla="*/ 360000 h 720001"/>
              <a:gd name="connsiteX12" fmla="*/ 76077 w 720001"/>
              <a:gd name="connsiteY12" fmla="*/ 479885 h 720001"/>
              <a:gd name="connsiteX13" fmla="*/ 142092 w 720001"/>
              <a:gd name="connsiteY13" fmla="*/ 577822 h 720001"/>
              <a:gd name="connsiteX14" fmla="*/ 240029 w 720001"/>
              <a:gd name="connsiteY14" fmla="*/ 643837 h 720001"/>
              <a:gd name="connsiteX15" fmla="*/ 359913 w 720001"/>
              <a:gd name="connsiteY15" fmla="*/ 668039 h 720001"/>
              <a:gd name="connsiteX16" fmla="*/ 479798 w 720001"/>
              <a:gd name="connsiteY16" fmla="*/ 643837 h 720001"/>
              <a:gd name="connsiteX17" fmla="*/ 577735 w 720001"/>
              <a:gd name="connsiteY17" fmla="*/ 577822 h 720001"/>
              <a:gd name="connsiteX18" fmla="*/ 643750 w 720001"/>
              <a:gd name="connsiteY18" fmla="*/ 479885 h 720001"/>
              <a:gd name="connsiteX19" fmla="*/ 663615 w 720001"/>
              <a:gd name="connsiteY19" fmla="*/ 412049 h 720001"/>
              <a:gd name="connsiteX20" fmla="*/ 360000 w 720001"/>
              <a:gd name="connsiteY20" fmla="*/ 412049 h 720001"/>
              <a:gd name="connsiteX21" fmla="*/ 307952 w 720001"/>
              <a:gd name="connsiteY21" fmla="*/ 360000 h 720001"/>
              <a:gd name="connsiteX22" fmla="*/ 405022 w 720001"/>
              <a:gd name="connsiteY22" fmla="*/ 0 h 720001"/>
              <a:gd name="connsiteX23" fmla="*/ 720001 w 720001"/>
              <a:gd name="connsiteY23" fmla="*/ 314979 h 720001"/>
              <a:gd name="connsiteX24" fmla="*/ 405022 w 720001"/>
              <a:gd name="connsiteY24" fmla="*/ 314979 h 720001"/>
              <a:gd name="connsiteX25" fmla="*/ 360000 w 720001"/>
              <a:gd name="connsiteY25" fmla="*/ 0 h 720001"/>
              <a:gd name="connsiteX26" fmla="*/ 360000 w 720001"/>
              <a:gd name="connsiteY26" fmla="*/ 360000 h 720001"/>
              <a:gd name="connsiteX27" fmla="*/ 720001 w 720001"/>
              <a:gd name="connsiteY27" fmla="*/ 360000 h 720001"/>
              <a:gd name="connsiteX28" fmla="*/ 360000 w 720001"/>
              <a:gd name="connsiteY28" fmla="*/ 720001 h 720001"/>
              <a:gd name="connsiteX29" fmla="*/ 0 w 720001"/>
              <a:gd name="connsiteY29" fmla="*/ 360000 h 720001"/>
              <a:gd name="connsiteX30" fmla="*/ 360000 w 720001"/>
              <a:gd name="connsiteY30" fmla="*/ 0 h 720001"/>
            </a:gdLst>
            <a:ahLst/>
            <a:cxnLst/>
            <a:rect l="l" t="t" r="r" b="b"/>
            <a:pathLst>
              <a:path w="720001" h="720001">
                <a:moveTo>
                  <a:pt x="457070" y="57166"/>
                </a:moveTo>
                <a:lnTo>
                  <a:pt x="457070" y="263017"/>
                </a:lnTo>
                <a:lnTo>
                  <a:pt x="662921" y="263017"/>
                </a:lnTo>
                <a:cubicBezTo>
                  <a:pt x="659451" y="245755"/>
                  <a:pt x="654246" y="229012"/>
                  <a:pt x="647393" y="212704"/>
                </a:cubicBezTo>
                <a:cubicBezTo>
                  <a:pt x="634121" y="181388"/>
                  <a:pt x="615210" y="153282"/>
                  <a:pt x="591008" y="129079"/>
                </a:cubicBezTo>
                <a:cubicBezTo>
                  <a:pt x="566806" y="104877"/>
                  <a:pt x="538699" y="85966"/>
                  <a:pt x="507383" y="72694"/>
                </a:cubicBezTo>
                <a:cubicBezTo>
                  <a:pt x="491075" y="65755"/>
                  <a:pt x="474246" y="60636"/>
                  <a:pt x="457070" y="57166"/>
                </a:cubicBezTo>
                <a:close/>
                <a:moveTo>
                  <a:pt x="307952" y="56386"/>
                </a:moveTo>
                <a:cubicBezTo>
                  <a:pt x="284703" y="60376"/>
                  <a:pt x="262062" y="66969"/>
                  <a:pt x="240115" y="76251"/>
                </a:cubicBezTo>
                <a:cubicBezTo>
                  <a:pt x="203508" y="91778"/>
                  <a:pt x="170544" y="113986"/>
                  <a:pt x="142092" y="142179"/>
                </a:cubicBezTo>
                <a:cubicBezTo>
                  <a:pt x="113812" y="170545"/>
                  <a:pt x="91605" y="203422"/>
                  <a:pt x="76077" y="240116"/>
                </a:cubicBezTo>
                <a:cubicBezTo>
                  <a:pt x="60029" y="278111"/>
                  <a:pt x="51874" y="318362"/>
                  <a:pt x="51874" y="360000"/>
                </a:cubicBezTo>
                <a:cubicBezTo>
                  <a:pt x="51874" y="401639"/>
                  <a:pt x="60029" y="441976"/>
                  <a:pt x="76077" y="479885"/>
                </a:cubicBezTo>
                <a:cubicBezTo>
                  <a:pt x="91605" y="516579"/>
                  <a:pt x="113812" y="549543"/>
                  <a:pt x="142092" y="577822"/>
                </a:cubicBezTo>
                <a:cubicBezTo>
                  <a:pt x="170458" y="606102"/>
                  <a:pt x="203335" y="628309"/>
                  <a:pt x="240029" y="643837"/>
                </a:cubicBezTo>
                <a:cubicBezTo>
                  <a:pt x="278024" y="659885"/>
                  <a:pt x="318275" y="668039"/>
                  <a:pt x="359913" y="668039"/>
                </a:cubicBezTo>
                <a:cubicBezTo>
                  <a:pt x="401552" y="668039"/>
                  <a:pt x="441890" y="659885"/>
                  <a:pt x="479798" y="643837"/>
                </a:cubicBezTo>
                <a:cubicBezTo>
                  <a:pt x="516492" y="628309"/>
                  <a:pt x="549456" y="606102"/>
                  <a:pt x="577735" y="577822"/>
                </a:cubicBezTo>
                <a:cubicBezTo>
                  <a:pt x="606015" y="549456"/>
                  <a:pt x="628222" y="516579"/>
                  <a:pt x="643750" y="479885"/>
                </a:cubicBezTo>
                <a:cubicBezTo>
                  <a:pt x="653032" y="457938"/>
                  <a:pt x="659625" y="435297"/>
                  <a:pt x="663615" y="412049"/>
                </a:cubicBezTo>
                <a:lnTo>
                  <a:pt x="360000" y="412049"/>
                </a:lnTo>
                <a:cubicBezTo>
                  <a:pt x="331287" y="412049"/>
                  <a:pt x="307952" y="388714"/>
                  <a:pt x="307952" y="360000"/>
                </a:cubicBezTo>
                <a:close/>
                <a:moveTo>
                  <a:pt x="405022" y="0"/>
                </a:moveTo>
                <a:cubicBezTo>
                  <a:pt x="578950" y="0"/>
                  <a:pt x="720001" y="141051"/>
                  <a:pt x="720001" y="314979"/>
                </a:cubicBezTo>
                <a:lnTo>
                  <a:pt x="405022" y="314979"/>
                </a:lnTo>
                <a:close/>
                <a:moveTo>
                  <a:pt x="360000" y="0"/>
                </a:moveTo>
                <a:lnTo>
                  <a:pt x="360000" y="360000"/>
                </a:lnTo>
                <a:lnTo>
                  <a:pt x="720001" y="360000"/>
                </a:lnTo>
                <a:cubicBezTo>
                  <a:pt x="720001" y="558825"/>
                  <a:pt x="558824" y="720001"/>
                  <a:pt x="360000" y="720001"/>
                </a:cubicBezTo>
                <a:cubicBezTo>
                  <a:pt x="161176" y="720001"/>
                  <a:pt x="0" y="558825"/>
                  <a:pt x="0" y="360000"/>
                </a:cubicBezTo>
                <a:cubicBezTo>
                  <a:pt x="0" y="161176"/>
                  <a:pt x="161176" y="0"/>
                  <a:pt x="36000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75554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8408847" y="2228389"/>
            <a:ext cx="513141" cy="513141"/>
          </a:xfrm>
          <a:custGeom>
            <a:avLst/>
            <a:gdLst>
              <a:gd name="connsiteX0" fmla="*/ 457070 w 720001"/>
              <a:gd name="connsiteY0" fmla="*/ 57166 h 720001"/>
              <a:gd name="connsiteX1" fmla="*/ 457070 w 720001"/>
              <a:gd name="connsiteY1" fmla="*/ 263017 h 720001"/>
              <a:gd name="connsiteX2" fmla="*/ 662921 w 720001"/>
              <a:gd name="connsiteY2" fmla="*/ 263017 h 720001"/>
              <a:gd name="connsiteX3" fmla="*/ 647393 w 720001"/>
              <a:gd name="connsiteY3" fmla="*/ 212704 h 720001"/>
              <a:gd name="connsiteX4" fmla="*/ 591008 w 720001"/>
              <a:gd name="connsiteY4" fmla="*/ 129079 h 720001"/>
              <a:gd name="connsiteX5" fmla="*/ 507383 w 720001"/>
              <a:gd name="connsiteY5" fmla="*/ 72694 h 720001"/>
              <a:gd name="connsiteX6" fmla="*/ 457070 w 720001"/>
              <a:gd name="connsiteY6" fmla="*/ 57166 h 720001"/>
              <a:gd name="connsiteX7" fmla="*/ 307952 w 720001"/>
              <a:gd name="connsiteY7" fmla="*/ 56386 h 720001"/>
              <a:gd name="connsiteX8" fmla="*/ 240115 w 720001"/>
              <a:gd name="connsiteY8" fmla="*/ 76251 h 720001"/>
              <a:gd name="connsiteX9" fmla="*/ 142092 w 720001"/>
              <a:gd name="connsiteY9" fmla="*/ 142179 h 720001"/>
              <a:gd name="connsiteX10" fmla="*/ 76077 w 720001"/>
              <a:gd name="connsiteY10" fmla="*/ 240116 h 720001"/>
              <a:gd name="connsiteX11" fmla="*/ 51874 w 720001"/>
              <a:gd name="connsiteY11" fmla="*/ 360000 h 720001"/>
              <a:gd name="connsiteX12" fmla="*/ 76077 w 720001"/>
              <a:gd name="connsiteY12" fmla="*/ 479885 h 720001"/>
              <a:gd name="connsiteX13" fmla="*/ 142092 w 720001"/>
              <a:gd name="connsiteY13" fmla="*/ 577822 h 720001"/>
              <a:gd name="connsiteX14" fmla="*/ 240029 w 720001"/>
              <a:gd name="connsiteY14" fmla="*/ 643837 h 720001"/>
              <a:gd name="connsiteX15" fmla="*/ 359913 w 720001"/>
              <a:gd name="connsiteY15" fmla="*/ 668039 h 720001"/>
              <a:gd name="connsiteX16" fmla="*/ 479798 w 720001"/>
              <a:gd name="connsiteY16" fmla="*/ 643837 h 720001"/>
              <a:gd name="connsiteX17" fmla="*/ 577735 w 720001"/>
              <a:gd name="connsiteY17" fmla="*/ 577822 h 720001"/>
              <a:gd name="connsiteX18" fmla="*/ 643750 w 720001"/>
              <a:gd name="connsiteY18" fmla="*/ 479885 h 720001"/>
              <a:gd name="connsiteX19" fmla="*/ 663615 w 720001"/>
              <a:gd name="connsiteY19" fmla="*/ 412049 h 720001"/>
              <a:gd name="connsiteX20" fmla="*/ 360000 w 720001"/>
              <a:gd name="connsiteY20" fmla="*/ 412049 h 720001"/>
              <a:gd name="connsiteX21" fmla="*/ 307952 w 720001"/>
              <a:gd name="connsiteY21" fmla="*/ 360000 h 720001"/>
              <a:gd name="connsiteX22" fmla="*/ 405022 w 720001"/>
              <a:gd name="connsiteY22" fmla="*/ 0 h 720001"/>
              <a:gd name="connsiteX23" fmla="*/ 720001 w 720001"/>
              <a:gd name="connsiteY23" fmla="*/ 314979 h 720001"/>
              <a:gd name="connsiteX24" fmla="*/ 405022 w 720001"/>
              <a:gd name="connsiteY24" fmla="*/ 314979 h 720001"/>
              <a:gd name="connsiteX25" fmla="*/ 360000 w 720001"/>
              <a:gd name="connsiteY25" fmla="*/ 0 h 720001"/>
              <a:gd name="connsiteX26" fmla="*/ 360000 w 720001"/>
              <a:gd name="connsiteY26" fmla="*/ 360000 h 720001"/>
              <a:gd name="connsiteX27" fmla="*/ 720001 w 720001"/>
              <a:gd name="connsiteY27" fmla="*/ 360000 h 720001"/>
              <a:gd name="connsiteX28" fmla="*/ 360000 w 720001"/>
              <a:gd name="connsiteY28" fmla="*/ 720001 h 720001"/>
              <a:gd name="connsiteX29" fmla="*/ 0 w 720001"/>
              <a:gd name="connsiteY29" fmla="*/ 360000 h 720001"/>
              <a:gd name="connsiteX30" fmla="*/ 360000 w 720001"/>
              <a:gd name="connsiteY30" fmla="*/ 0 h 720001"/>
            </a:gdLst>
            <a:ahLst/>
            <a:cxnLst/>
            <a:rect l="l" t="t" r="r" b="b"/>
            <a:pathLst>
              <a:path w="720001" h="720001">
                <a:moveTo>
                  <a:pt x="457070" y="57166"/>
                </a:moveTo>
                <a:lnTo>
                  <a:pt x="457070" y="263017"/>
                </a:lnTo>
                <a:lnTo>
                  <a:pt x="662921" y="263017"/>
                </a:lnTo>
                <a:cubicBezTo>
                  <a:pt x="659451" y="245755"/>
                  <a:pt x="654246" y="229012"/>
                  <a:pt x="647393" y="212704"/>
                </a:cubicBezTo>
                <a:cubicBezTo>
                  <a:pt x="634121" y="181388"/>
                  <a:pt x="615210" y="153282"/>
                  <a:pt x="591008" y="129079"/>
                </a:cubicBezTo>
                <a:cubicBezTo>
                  <a:pt x="566806" y="104877"/>
                  <a:pt x="538699" y="85966"/>
                  <a:pt x="507383" y="72694"/>
                </a:cubicBezTo>
                <a:cubicBezTo>
                  <a:pt x="491075" y="65755"/>
                  <a:pt x="474246" y="60636"/>
                  <a:pt x="457070" y="57166"/>
                </a:cubicBezTo>
                <a:close/>
                <a:moveTo>
                  <a:pt x="307952" y="56386"/>
                </a:moveTo>
                <a:cubicBezTo>
                  <a:pt x="284703" y="60376"/>
                  <a:pt x="262062" y="66969"/>
                  <a:pt x="240115" y="76251"/>
                </a:cubicBezTo>
                <a:cubicBezTo>
                  <a:pt x="203508" y="91778"/>
                  <a:pt x="170544" y="113986"/>
                  <a:pt x="142092" y="142179"/>
                </a:cubicBezTo>
                <a:cubicBezTo>
                  <a:pt x="113812" y="170545"/>
                  <a:pt x="91605" y="203422"/>
                  <a:pt x="76077" y="240116"/>
                </a:cubicBezTo>
                <a:cubicBezTo>
                  <a:pt x="60029" y="278111"/>
                  <a:pt x="51874" y="318362"/>
                  <a:pt x="51874" y="360000"/>
                </a:cubicBezTo>
                <a:cubicBezTo>
                  <a:pt x="51874" y="401639"/>
                  <a:pt x="60029" y="441976"/>
                  <a:pt x="76077" y="479885"/>
                </a:cubicBezTo>
                <a:cubicBezTo>
                  <a:pt x="91605" y="516579"/>
                  <a:pt x="113812" y="549543"/>
                  <a:pt x="142092" y="577822"/>
                </a:cubicBezTo>
                <a:cubicBezTo>
                  <a:pt x="170458" y="606102"/>
                  <a:pt x="203335" y="628309"/>
                  <a:pt x="240029" y="643837"/>
                </a:cubicBezTo>
                <a:cubicBezTo>
                  <a:pt x="278024" y="659885"/>
                  <a:pt x="318275" y="668039"/>
                  <a:pt x="359913" y="668039"/>
                </a:cubicBezTo>
                <a:cubicBezTo>
                  <a:pt x="401552" y="668039"/>
                  <a:pt x="441890" y="659885"/>
                  <a:pt x="479798" y="643837"/>
                </a:cubicBezTo>
                <a:cubicBezTo>
                  <a:pt x="516492" y="628309"/>
                  <a:pt x="549456" y="606102"/>
                  <a:pt x="577735" y="577822"/>
                </a:cubicBezTo>
                <a:cubicBezTo>
                  <a:pt x="606015" y="549456"/>
                  <a:pt x="628222" y="516579"/>
                  <a:pt x="643750" y="479885"/>
                </a:cubicBezTo>
                <a:cubicBezTo>
                  <a:pt x="653032" y="457938"/>
                  <a:pt x="659625" y="435297"/>
                  <a:pt x="663615" y="412049"/>
                </a:cubicBezTo>
                <a:lnTo>
                  <a:pt x="360000" y="412049"/>
                </a:lnTo>
                <a:cubicBezTo>
                  <a:pt x="331287" y="412049"/>
                  <a:pt x="307952" y="388714"/>
                  <a:pt x="307952" y="360000"/>
                </a:cubicBezTo>
                <a:close/>
                <a:moveTo>
                  <a:pt x="405022" y="0"/>
                </a:moveTo>
                <a:cubicBezTo>
                  <a:pt x="578950" y="0"/>
                  <a:pt x="720001" y="141051"/>
                  <a:pt x="720001" y="314979"/>
                </a:cubicBezTo>
                <a:lnTo>
                  <a:pt x="405022" y="314979"/>
                </a:lnTo>
                <a:close/>
                <a:moveTo>
                  <a:pt x="360000" y="0"/>
                </a:moveTo>
                <a:lnTo>
                  <a:pt x="360000" y="360000"/>
                </a:lnTo>
                <a:lnTo>
                  <a:pt x="720001" y="360000"/>
                </a:lnTo>
                <a:cubicBezTo>
                  <a:pt x="720001" y="558825"/>
                  <a:pt x="558824" y="720001"/>
                  <a:pt x="360000" y="720001"/>
                </a:cubicBezTo>
                <a:cubicBezTo>
                  <a:pt x="161176" y="720001"/>
                  <a:pt x="0" y="558825"/>
                  <a:pt x="0" y="360000"/>
                </a:cubicBezTo>
                <a:cubicBezTo>
                  <a:pt x="0" y="161176"/>
                  <a:pt x="161176" y="0"/>
                  <a:pt x="360000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>
            <a:off x="9813819" y="1752847"/>
            <a:ext cx="1639080" cy="6119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/>
            <a:r>
              <a:rPr kumimoji="1" lang="en-US" altLang="zh-CN" sz="1118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Identificación de Obsolescencia</a:t>
            </a: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9369131" y="2482803"/>
            <a:ext cx="2083768" cy="96762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/>
            <a:r>
              <a:rPr kumimoji="1" lang="en-US" altLang="zh-CN" sz="1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Reconocer equipos fuera de garantía o con bajo rendimiento.</a:t>
            </a: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711603" y="385477"/>
            <a:ext cx="10741296" cy="5232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2800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Pasos para </a:t>
            </a:r>
            <a:r>
              <a:rPr kumimoji="1" lang="en-US" altLang="zh-CN" sz="2800" dirty="0" err="1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Realizar</a:t>
            </a:r>
            <a:r>
              <a:rPr kumimoji="1" lang="en-US" altLang="zh-CN" sz="2800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 </a:t>
            </a:r>
            <a:r>
              <a:rPr kumimoji="1" lang="en-US" altLang="zh-CN" sz="2800" dirty="0" err="1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el</a:t>
            </a:r>
            <a:r>
              <a:rPr kumimoji="1" lang="en-US" altLang="zh-CN" sz="2800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 </a:t>
            </a:r>
            <a:r>
              <a:rPr kumimoji="1" lang="en-US" altLang="zh-CN" sz="2800" dirty="0" err="1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Diagnóstico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39" name="Imagen 38">
            <a:extLst>
              <a:ext uri="{FF2B5EF4-FFF2-40B4-BE49-F238E27FC236}">
                <a16:creationId xmlns:a16="http://schemas.microsoft.com/office/drawing/2014/main" id="{3C99C33D-7F4B-9840-C2D4-553AFEE162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881958" y="1417930"/>
            <a:ext cx="4692314" cy="4680000"/>
          </a:xfrm>
          <a:prstGeom prst="roundRect">
            <a:avLst>
              <a:gd name="adj" fmla="val 2749"/>
            </a:avLst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6" name="标题 1"/>
          <p:cNvCxnSpPr/>
          <p:nvPr/>
        </p:nvCxnSpPr>
        <p:spPr>
          <a:xfrm>
            <a:off x="1241658" y="1686446"/>
            <a:ext cx="720000" cy="0"/>
          </a:xfrm>
          <a:prstGeom prst="line">
            <a:avLst/>
          </a:prstGeom>
          <a:noFill/>
          <a:ln w="88900" cap="rnd">
            <a:solidFill>
              <a:schemeClr val="accent1"/>
            </a:solidFill>
            <a:miter/>
          </a:ln>
        </p:spPr>
      </p:cxnSp>
      <p:sp>
        <p:nvSpPr>
          <p:cNvPr id="7" name="标题 1"/>
          <p:cNvSpPr txBox="1"/>
          <p:nvPr/>
        </p:nvSpPr>
        <p:spPr>
          <a:xfrm>
            <a:off x="1241658" y="2552062"/>
            <a:ext cx="3959280" cy="307035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r>
              <a:rPr lang="es-EC" sz="1600" dirty="0"/>
              <a:t>Antes de planificar a dónde vamos, debemos saber con precisión absoluta dónde estamos parados. Un diagnóstico tecnológico no es solo un "inventario"; es una </a:t>
            </a:r>
            <a:r>
              <a:rPr lang="es-EC" sz="1600" b="1" dirty="0"/>
              <a:t>auditoría de salud, rendimiento y ciclo de vida</a:t>
            </a:r>
            <a:r>
              <a:rPr lang="es-EC" sz="1600" dirty="0"/>
              <a:t> de cada componente del datacenter.</a:t>
            </a:r>
          </a:p>
          <a:p>
            <a:r>
              <a:rPr lang="es-EC" sz="1600" dirty="0"/>
              <a:t>No solo preguntamos "¿Qué tenemos?", sino "¿Cómo está funcionando?" y "¿Cuánto tiempo le queda?".</a:t>
            </a:r>
          </a:p>
        </p:txBody>
      </p:sp>
      <p:sp>
        <p:nvSpPr>
          <p:cNvPr id="8" name="标题 1"/>
          <p:cNvSpPr txBox="1"/>
          <p:nvPr/>
        </p:nvSpPr>
        <p:spPr>
          <a:xfrm>
            <a:off x="1241658" y="1686446"/>
            <a:ext cx="3660800" cy="5971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Concepto</a:t>
            </a:r>
            <a:endParaRPr kumimoji="1" lang="zh-CN" altLang="en-US" dirty="0"/>
          </a:p>
        </p:txBody>
      </p:sp>
      <p:sp>
        <p:nvSpPr>
          <p:cNvPr id="10" name="标题 1"/>
          <p:cNvSpPr txBox="1"/>
          <p:nvPr/>
        </p:nvSpPr>
        <p:spPr>
          <a:xfrm>
            <a:off x="4552083" y="596160"/>
            <a:ext cx="7764738" cy="5232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La "</a:t>
            </a:r>
            <a:r>
              <a:rPr kumimoji="1" lang="en-US" altLang="zh-CN" sz="2800" dirty="0" err="1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Auditoría</a:t>
            </a:r>
            <a:r>
              <a:rPr kumimoji="1" lang="en-US" altLang="zh-CN" sz="2800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 As-Is"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0F30DC6E-0AF9-5F2A-E891-AA37A77C40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1233488" y="1694311"/>
            <a:ext cx="5441631" cy="1081059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675119" y="1694310"/>
            <a:ext cx="60181" cy="1104389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356809" y="1765224"/>
            <a:ext cx="5258129" cy="94242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200" b="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Auditoría</a:t>
            </a:r>
            <a:r>
              <a:rPr kumimoji="1" lang="en-US" altLang="zh-CN" sz="1200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: 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Carga actual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en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las UPS y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consumo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en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Amperios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de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cada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PDU.</a:t>
            </a:r>
          </a:p>
          <a:p>
            <a:pPr algn="l"/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
</a:t>
            </a:r>
            <a:r>
              <a:rPr kumimoji="1" lang="en-US" altLang="zh-CN" sz="1200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Riesgo: 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No se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puede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instalar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más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servidores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sin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arriesgarse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a un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apagón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.</a:t>
            </a:r>
            <a:endParaRPr kumimoji="1" lang="zh-CN" altLang="en-US" dirty="0"/>
          </a:p>
        </p:txBody>
      </p:sp>
      <p:sp>
        <p:nvSpPr>
          <p:cNvPr id="9" name="标题 1"/>
          <p:cNvSpPr txBox="1"/>
          <p:nvPr/>
        </p:nvSpPr>
        <p:spPr>
          <a:xfrm>
            <a:off x="660400" y="1130300"/>
            <a:ext cx="160806" cy="1608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1233488" y="1248581"/>
            <a:ext cx="4027589" cy="37752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Potencia</a:t>
            </a:r>
            <a:r>
              <a:rPr kumimoji="1" lang="en-US" altLang="zh-CN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(Power)</a:t>
            </a:r>
            <a:endParaRPr kumimoji="1" lang="zh-CN" altLang="en-US" dirty="0"/>
          </a:p>
        </p:txBody>
      </p:sp>
      <p:sp>
        <p:nvSpPr>
          <p:cNvPr id="11" name="标题 1"/>
          <p:cNvSpPr txBox="1"/>
          <p:nvPr/>
        </p:nvSpPr>
        <p:spPr>
          <a:xfrm>
            <a:off x="4993576" y="3429000"/>
            <a:ext cx="5796344" cy="2347365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0698481" y="3429001"/>
            <a:ext cx="91439" cy="2347364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5254385" y="3556854"/>
            <a:ext cx="5272645" cy="201246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 b="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Auditoría</a:t>
            </a:r>
            <a:r>
              <a:rPr kumimoji="1" lang="en-US" altLang="zh-CN" sz="1400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: 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Carga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térmica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total y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operación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de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unidades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CRAC.
Herramientas: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Sensores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de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temperatura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y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termografía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.</a:t>
            </a:r>
          </a:p>
          <a:p>
            <a:r>
              <a:rPr kumimoji="1" lang="es-EC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Herramientas: Usamos sensores de temperatura y termografía para identificar "puntos calientes" (</a:t>
            </a:r>
            <a:r>
              <a:rPr kumimoji="1" lang="es-EC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hotspots</a:t>
            </a:r>
            <a:r>
              <a:rPr kumimoji="1" lang="es-EC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) en los racks, lo que indica un flujo de aire deficiente.</a:t>
            </a:r>
          </a:p>
          <a:p>
            <a:pPr algn="l"/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
</a:t>
            </a:r>
            <a:r>
              <a:rPr kumimoji="1" lang="en-US" altLang="zh-CN" sz="1400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Riesgo: 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Un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fallo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de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enfriamiento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puede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destruir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hardware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en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minutos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.</a:t>
            </a:r>
            <a:endParaRPr kumimoji="1" lang="zh-CN" altLang="en-US" sz="1400" dirty="0"/>
          </a:p>
        </p:txBody>
      </p:sp>
      <p:sp>
        <p:nvSpPr>
          <p:cNvPr id="16" name="标题 1"/>
          <p:cNvSpPr txBox="1"/>
          <p:nvPr/>
        </p:nvSpPr>
        <p:spPr>
          <a:xfrm>
            <a:off x="660400" y="2722673"/>
            <a:ext cx="160806" cy="1608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4993576" y="3019884"/>
            <a:ext cx="4027589" cy="37752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Enfriamiento</a:t>
            </a:r>
            <a:r>
              <a:rPr kumimoji="1" lang="en-US" altLang="zh-CN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(Cooling)</a:t>
            </a:r>
            <a:endParaRPr kumimoji="1" lang="zh-CN" altLang="en-US" dirty="0"/>
          </a:p>
        </p:txBody>
      </p:sp>
      <p:sp>
        <p:nvSpPr>
          <p:cNvPr id="23" name="标题 1"/>
          <p:cNvSpPr txBox="1"/>
          <p:nvPr/>
        </p:nvSpPr>
        <p:spPr>
          <a:xfrm>
            <a:off x="660400" y="4315045"/>
            <a:ext cx="160806" cy="1608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6199116" y="1130300"/>
            <a:ext cx="160806" cy="1608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4450326" y="3543773"/>
            <a:ext cx="160806" cy="1608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标题 1"/>
          <p:cNvSpPr txBox="1"/>
          <p:nvPr/>
        </p:nvSpPr>
        <p:spPr>
          <a:xfrm>
            <a:off x="1703486" y="447957"/>
            <a:ext cx="7764738" cy="5232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2594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Los 5 Pilares del </a:t>
            </a:r>
            <a:r>
              <a:rPr kumimoji="1" lang="en-US" altLang="zh-CN" sz="2594" dirty="0" err="1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Diagnóstico</a:t>
            </a:r>
            <a:r>
              <a:rPr kumimoji="1" lang="en-US" altLang="zh-CN" sz="2594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 del Datacenter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4" name="Imagen 43">
            <a:extLst>
              <a:ext uri="{FF2B5EF4-FFF2-40B4-BE49-F238E27FC236}">
                <a16:creationId xmlns:a16="http://schemas.microsoft.com/office/drawing/2014/main" id="{32CAE498-B7B3-65DB-D270-F6ACB33758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412B7B-1E33-5660-8AF5-02E70DEE8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>
            <a:extLst>
              <a:ext uri="{FF2B5EF4-FFF2-40B4-BE49-F238E27FC236}">
                <a16:creationId xmlns:a16="http://schemas.microsoft.com/office/drawing/2014/main" id="{70A63306-F068-6C33-3E8E-2185B5753F1E}"/>
              </a:ext>
            </a:extLst>
          </p:cNvPr>
          <p:cNvSpPr txBox="1"/>
          <p:nvPr/>
        </p:nvSpPr>
        <p:spPr>
          <a:xfrm>
            <a:off x="660400" y="1130300"/>
            <a:ext cx="160806" cy="1608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标题 1">
            <a:extLst>
              <a:ext uri="{FF2B5EF4-FFF2-40B4-BE49-F238E27FC236}">
                <a16:creationId xmlns:a16="http://schemas.microsoft.com/office/drawing/2014/main" id="{6881FF4D-8408-0D22-D03D-22B688ADFE05}"/>
              </a:ext>
            </a:extLst>
          </p:cNvPr>
          <p:cNvSpPr txBox="1"/>
          <p:nvPr/>
        </p:nvSpPr>
        <p:spPr>
          <a:xfrm>
            <a:off x="660400" y="2722673"/>
            <a:ext cx="160806" cy="1608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CE0781DD-955B-7FE9-A669-EAE1762F4BA5}"/>
              </a:ext>
            </a:extLst>
          </p:cNvPr>
          <p:cNvSpPr txBox="1"/>
          <p:nvPr/>
        </p:nvSpPr>
        <p:spPr>
          <a:xfrm>
            <a:off x="1185760" y="4530507"/>
            <a:ext cx="4759396" cy="1404471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39161C6C-93FF-4C4B-D6BD-455746D6800E}"/>
              </a:ext>
            </a:extLst>
          </p:cNvPr>
          <p:cNvSpPr txBox="1"/>
          <p:nvPr/>
        </p:nvSpPr>
        <p:spPr>
          <a:xfrm>
            <a:off x="5884975" y="4530507"/>
            <a:ext cx="60181" cy="1404471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70DA9EEE-0CC5-A0A6-1280-CBE328A1722D}"/>
              </a:ext>
            </a:extLst>
          </p:cNvPr>
          <p:cNvSpPr txBox="1"/>
          <p:nvPr/>
        </p:nvSpPr>
        <p:spPr>
          <a:xfrm>
            <a:off x="1372016" y="4704872"/>
            <a:ext cx="4027589" cy="94242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 b="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Auditoría</a:t>
            </a:r>
            <a:r>
              <a:rPr kumimoji="1" lang="en-US" altLang="zh-CN" sz="1400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: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Unidades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de rack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libres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y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disponibilidad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de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energía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y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enfriamiento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.</a:t>
            </a:r>
          </a:p>
          <a:p>
            <a:pPr algn="l"/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
</a:t>
            </a:r>
            <a:r>
              <a:rPr kumimoji="1" lang="en-US" altLang="zh-CN" sz="1400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Riesgo: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Quedarse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sin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espacio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físico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obliga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a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expansiones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costosas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.</a:t>
            </a:r>
            <a:endParaRPr kumimoji="1" lang="zh-CN" altLang="en-US" sz="1400" dirty="0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F2B0CA24-C8A6-D7BD-4FB0-A4651134C8EC}"/>
              </a:ext>
            </a:extLst>
          </p:cNvPr>
          <p:cNvSpPr txBox="1"/>
          <p:nvPr/>
        </p:nvSpPr>
        <p:spPr>
          <a:xfrm>
            <a:off x="660400" y="4315045"/>
            <a:ext cx="160806" cy="1608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标题 1">
            <a:extLst>
              <a:ext uri="{FF2B5EF4-FFF2-40B4-BE49-F238E27FC236}">
                <a16:creationId xmlns:a16="http://schemas.microsoft.com/office/drawing/2014/main" id="{C7385AAA-6682-84B9-8859-A1D80D189A5C}"/>
              </a:ext>
            </a:extLst>
          </p:cNvPr>
          <p:cNvSpPr txBox="1"/>
          <p:nvPr/>
        </p:nvSpPr>
        <p:spPr>
          <a:xfrm>
            <a:off x="1188418" y="4098324"/>
            <a:ext cx="4027589" cy="37752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Espacio (Space)</a:t>
            </a:r>
            <a:endParaRPr kumimoji="1" lang="zh-CN" altLang="en-US" dirty="0"/>
          </a:p>
        </p:txBody>
      </p:sp>
      <p:sp>
        <p:nvSpPr>
          <p:cNvPr id="25" name="标题 1">
            <a:extLst>
              <a:ext uri="{FF2B5EF4-FFF2-40B4-BE49-F238E27FC236}">
                <a16:creationId xmlns:a16="http://schemas.microsoft.com/office/drawing/2014/main" id="{F4CAC99E-0F2E-4089-0A05-4C90EFF05187}"/>
              </a:ext>
            </a:extLst>
          </p:cNvPr>
          <p:cNvSpPr txBox="1"/>
          <p:nvPr/>
        </p:nvSpPr>
        <p:spPr>
          <a:xfrm>
            <a:off x="980688" y="1756448"/>
            <a:ext cx="4759396" cy="1625610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标题 1">
            <a:extLst>
              <a:ext uri="{FF2B5EF4-FFF2-40B4-BE49-F238E27FC236}">
                <a16:creationId xmlns:a16="http://schemas.microsoft.com/office/drawing/2014/main" id="{B808994F-2846-4189-089A-1C0AACF1513D}"/>
              </a:ext>
            </a:extLst>
          </p:cNvPr>
          <p:cNvSpPr txBox="1"/>
          <p:nvPr/>
        </p:nvSpPr>
        <p:spPr>
          <a:xfrm>
            <a:off x="5709993" y="1756448"/>
            <a:ext cx="45719" cy="1542516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标题 1">
            <a:extLst>
              <a:ext uri="{FF2B5EF4-FFF2-40B4-BE49-F238E27FC236}">
                <a16:creationId xmlns:a16="http://schemas.microsoft.com/office/drawing/2014/main" id="{67EA91EF-8FC7-0AF3-C2DE-C9883748BAE8}"/>
              </a:ext>
            </a:extLst>
          </p:cNvPr>
          <p:cNvSpPr txBox="1"/>
          <p:nvPr/>
        </p:nvSpPr>
        <p:spPr>
          <a:xfrm>
            <a:off x="1100319" y="1825764"/>
            <a:ext cx="4027589" cy="94242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 b="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Auditoría</a:t>
            </a:r>
            <a:r>
              <a:rPr kumimoji="1" lang="en-US" altLang="zh-CN" sz="1400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: 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Uso de CPU y RAM,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velocidad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de IOPS y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espacio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libre.</a:t>
            </a:r>
          </a:p>
          <a:p>
            <a:pPr algn="l"/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
</a:t>
            </a:r>
            <a:r>
              <a:rPr kumimoji="1" lang="en-US" altLang="zh-CN" sz="1400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Riesgo: 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La "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fatiga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de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recursos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"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aumenta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la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latencia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y reduce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el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margen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para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picos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de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demanda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.</a:t>
            </a:r>
            <a:endParaRPr kumimoji="1" lang="zh-CN" altLang="en-US" sz="1400" dirty="0"/>
          </a:p>
        </p:txBody>
      </p:sp>
      <p:sp>
        <p:nvSpPr>
          <p:cNvPr id="30" name="标题 1">
            <a:extLst>
              <a:ext uri="{FF2B5EF4-FFF2-40B4-BE49-F238E27FC236}">
                <a16:creationId xmlns:a16="http://schemas.microsoft.com/office/drawing/2014/main" id="{35DD0B64-1244-9D05-D125-EE22B97829FB}"/>
              </a:ext>
            </a:extLst>
          </p:cNvPr>
          <p:cNvSpPr txBox="1"/>
          <p:nvPr/>
        </p:nvSpPr>
        <p:spPr>
          <a:xfrm>
            <a:off x="6199116" y="1130300"/>
            <a:ext cx="160806" cy="1608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标题 1">
            <a:extLst>
              <a:ext uri="{FF2B5EF4-FFF2-40B4-BE49-F238E27FC236}">
                <a16:creationId xmlns:a16="http://schemas.microsoft.com/office/drawing/2014/main" id="{22B7BFA7-F411-6ADA-6B41-AE9B4201D6A4}"/>
              </a:ext>
            </a:extLst>
          </p:cNvPr>
          <p:cNvSpPr txBox="1"/>
          <p:nvPr/>
        </p:nvSpPr>
        <p:spPr>
          <a:xfrm>
            <a:off x="972114" y="1210703"/>
            <a:ext cx="4026073" cy="37752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Cómputo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y Almacenamiento (Compute &amp; Storage</a:t>
            </a:r>
            <a:r>
              <a:rPr kumimoji="1" lang="en-US" altLang="zh-CN" sz="1157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)</a:t>
            </a:r>
            <a:endParaRPr kumimoji="1" lang="zh-CN" altLang="en-US" dirty="0"/>
          </a:p>
        </p:txBody>
      </p:sp>
      <p:sp>
        <p:nvSpPr>
          <p:cNvPr id="32" name="标题 1">
            <a:extLst>
              <a:ext uri="{FF2B5EF4-FFF2-40B4-BE49-F238E27FC236}">
                <a16:creationId xmlns:a16="http://schemas.microsoft.com/office/drawing/2014/main" id="{82509B56-BC4B-91EC-4AF5-3934C58C6816}"/>
              </a:ext>
            </a:extLst>
          </p:cNvPr>
          <p:cNvSpPr txBox="1"/>
          <p:nvPr/>
        </p:nvSpPr>
        <p:spPr>
          <a:xfrm>
            <a:off x="6755418" y="2450944"/>
            <a:ext cx="4759396" cy="1402326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标题 1">
            <a:extLst>
              <a:ext uri="{FF2B5EF4-FFF2-40B4-BE49-F238E27FC236}">
                <a16:creationId xmlns:a16="http://schemas.microsoft.com/office/drawing/2014/main" id="{BB12AA67-F3AC-A3F5-9DA3-3B27E401234C}"/>
              </a:ext>
            </a:extLst>
          </p:cNvPr>
          <p:cNvSpPr txBox="1"/>
          <p:nvPr/>
        </p:nvSpPr>
        <p:spPr>
          <a:xfrm>
            <a:off x="11480309" y="2448799"/>
            <a:ext cx="60181" cy="1404471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标题 1">
            <a:extLst>
              <a:ext uri="{FF2B5EF4-FFF2-40B4-BE49-F238E27FC236}">
                <a16:creationId xmlns:a16="http://schemas.microsoft.com/office/drawing/2014/main" id="{1EEE461B-708C-4E32-D45A-D13BF6D252E1}"/>
              </a:ext>
            </a:extLst>
          </p:cNvPr>
          <p:cNvSpPr txBox="1"/>
          <p:nvPr/>
        </p:nvSpPr>
        <p:spPr>
          <a:xfrm>
            <a:off x="6945053" y="2654478"/>
            <a:ext cx="4027589" cy="94242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 b="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Auditoría</a:t>
            </a:r>
            <a:r>
              <a:rPr kumimoji="1" lang="en-US" altLang="zh-CN" sz="1400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: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Identificación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de hardware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en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EoL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o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EoS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.
</a:t>
            </a:r>
          </a:p>
          <a:p>
            <a:pPr algn="l"/>
            <a:r>
              <a:rPr kumimoji="1" lang="en-US" altLang="zh-CN" sz="1400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Riesgo: 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Hardware sin garantía es un riesgo de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seguridad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y operativo.</a:t>
            </a:r>
            <a:endParaRPr kumimoji="1" lang="zh-CN" altLang="en-US" sz="1400" dirty="0"/>
          </a:p>
        </p:txBody>
      </p:sp>
      <p:sp>
        <p:nvSpPr>
          <p:cNvPr id="37" name="标题 1">
            <a:extLst>
              <a:ext uri="{FF2B5EF4-FFF2-40B4-BE49-F238E27FC236}">
                <a16:creationId xmlns:a16="http://schemas.microsoft.com/office/drawing/2014/main" id="{4062A172-800E-A20B-D9E5-7E2C4467069C}"/>
              </a:ext>
            </a:extLst>
          </p:cNvPr>
          <p:cNvSpPr txBox="1"/>
          <p:nvPr/>
        </p:nvSpPr>
        <p:spPr>
          <a:xfrm>
            <a:off x="6199116" y="2722673"/>
            <a:ext cx="160806" cy="1608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标题 1">
            <a:extLst>
              <a:ext uri="{FF2B5EF4-FFF2-40B4-BE49-F238E27FC236}">
                <a16:creationId xmlns:a16="http://schemas.microsoft.com/office/drawing/2014/main" id="{267956AA-5763-A495-2288-E264A45F4C68}"/>
              </a:ext>
            </a:extLst>
          </p:cNvPr>
          <p:cNvSpPr txBox="1"/>
          <p:nvPr/>
        </p:nvSpPr>
        <p:spPr>
          <a:xfrm>
            <a:off x="6729414" y="1876848"/>
            <a:ext cx="4026073" cy="37752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Ciclo</a:t>
            </a:r>
            <a:r>
              <a:rPr kumimoji="1" lang="en-US" altLang="zh-CN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de Vida (Lifecycle)</a:t>
            </a:r>
            <a:endParaRPr kumimoji="1" lang="zh-CN" altLang="en-U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FBEF4E5-B388-5FE4-223D-1F892741E1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648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1210308" y="1769390"/>
            <a:ext cx="3425191" cy="110799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r>
              <a:rPr kumimoji="1" lang="en-US" altLang="zh-CN" sz="6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PART.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210308" y="3309975"/>
            <a:ext cx="9705342" cy="15696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/>
            <a:r>
              <a:rPr kumimoji="1" lang="en-US" altLang="zh-CN" sz="3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Planificación de Expansión y Actualización: El "Roadmap"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3278504" y="1769390"/>
            <a:ext cx="2220589" cy="110799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r"/>
            <a:r>
              <a:rPr kumimoji="1" lang="en-US" altLang="zh-CN" sz="6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03</a:t>
            </a:r>
            <a:endParaRPr kumimoji="1" lang="zh-CN" altLang="en-US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5DB65852-88B8-C939-5CA6-D3F04F8B8E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 flipH="1">
            <a:off x="942655" y="1541568"/>
            <a:ext cx="5804431" cy="1865418"/>
          </a:xfrm>
          <a:prstGeom prst="snip1Rect">
            <a:avLst>
              <a:gd name="adj" fmla="val 27343"/>
            </a:avLst>
          </a:prstGeom>
          <a:solidFill>
            <a:schemeClr val="bg1"/>
          </a:solidFill>
          <a:ln w="22225" cap="sq">
            <a:solidFill>
              <a:schemeClr val="accent1">
                <a:lumMod val="60000"/>
                <a:lumOff val="40000"/>
              </a:schemeClr>
            </a:solidFill>
          </a:ln>
          <a:effectLst/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flipV="1">
            <a:off x="4814720" y="3885156"/>
            <a:ext cx="5804431" cy="1864800"/>
          </a:xfrm>
          <a:prstGeom prst="snip1Rect">
            <a:avLst>
              <a:gd name="adj" fmla="val 27343"/>
            </a:avLst>
          </a:prstGeom>
          <a:solidFill>
            <a:schemeClr val="bg1"/>
          </a:solidFill>
          <a:ln w="22225" cap="sq">
            <a:solidFill>
              <a:schemeClr val="accent1">
                <a:lumMod val="60000"/>
                <a:lumOff val="40000"/>
              </a:schemeClr>
            </a:solidFill>
          </a:ln>
          <a:effectLst/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 dirty="0"/>
          </a:p>
        </p:txBody>
      </p:sp>
      <p:sp>
        <p:nvSpPr>
          <p:cNvPr id="9" name="标题 1"/>
          <p:cNvSpPr txBox="1"/>
          <p:nvPr/>
        </p:nvSpPr>
        <p:spPr>
          <a:xfrm>
            <a:off x="1084150" y="2021415"/>
            <a:ext cx="5463854" cy="1107996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s-EC" dirty="0"/>
              <a:t>La planificación de expansión consiste en diseñar una estrategia tecnológica a corto, mediano y largo plazo que garantice la modernización, escalabilidad y sostenibilidad del centro de cómputo.</a:t>
            </a:r>
            <a:r>
              <a:rPr kumimoji="1" lang="en-US" altLang="zh-CN" sz="897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.</a:t>
            </a:r>
            <a:endParaRPr kumimoji="1" lang="zh-CN" altLang="en-US" dirty="0"/>
          </a:p>
        </p:txBody>
      </p:sp>
      <p:cxnSp>
        <p:nvCxnSpPr>
          <p:cNvPr id="10" name="标题 1"/>
          <p:cNvCxnSpPr/>
          <p:nvPr/>
        </p:nvCxnSpPr>
        <p:spPr>
          <a:xfrm>
            <a:off x="1568982" y="1743839"/>
            <a:ext cx="371475" cy="0"/>
          </a:xfrm>
          <a:prstGeom prst="line">
            <a:avLst/>
          </a:prstGeom>
          <a:noFill/>
          <a:ln w="19050" cap="sq">
            <a:solidFill>
              <a:schemeClr val="tx1">
                <a:lumMod val="85000"/>
                <a:lumOff val="15000"/>
              </a:schemeClr>
            </a:solidFill>
            <a:miter/>
          </a:ln>
        </p:spPr>
      </p:cxnSp>
      <p:sp>
        <p:nvSpPr>
          <p:cNvPr id="13" name="标题 1"/>
          <p:cNvSpPr txBox="1"/>
          <p:nvPr/>
        </p:nvSpPr>
        <p:spPr>
          <a:xfrm>
            <a:off x="5137831" y="4285629"/>
            <a:ext cx="5158208" cy="830997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s-EC" dirty="0"/>
              <a:t>El objetivo es anticiparse a los cambios tecnológicos y adaptar la infraestructura para soportar el crecimiento institucional.</a:t>
            </a:r>
          </a:p>
        </p:txBody>
      </p:sp>
      <p:cxnSp>
        <p:nvCxnSpPr>
          <p:cNvPr id="14" name="标题 1"/>
          <p:cNvCxnSpPr/>
          <p:nvPr/>
        </p:nvCxnSpPr>
        <p:spPr>
          <a:xfrm>
            <a:off x="9609352" y="5594796"/>
            <a:ext cx="371475" cy="0"/>
          </a:xfrm>
          <a:prstGeom prst="line">
            <a:avLst/>
          </a:prstGeom>
          <a:noFill/>
          <a:ln w="19050" cap="sq">
            <a:solidFill>
              <a:schemeClr val="tx1">
                <a:lumMod val="85000"/>
                <a:lumOff val="15000"/>
              </a:schemeClr>
            </a:solidFill>
            <a:miter/>
          </a:ln>
        </p:spPr>
      </p:cxnSp>
      <p:sp>
        <p:nvSpPr>
          <p:cNvPr id="18" name="标题 1"/>
          <p:cNvSpPr txBox="1"/>
          <p:nvPr/>
        </p:nvSpPr>
        <p:spPr>
          <a:xfrm>
            <a:off x="711602" y="385477"/>
            <a:ext cx="10737077" cy="5232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2800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Concepto de </a:t>
            </a:r>
            <a:r>
              <a:rPr kumimoji="1" lang="en-US" altLang="zh-CN" sz="2800" dirty="0" err="1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Planificación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3CFE0F32-2094-9B20-836D-D10B34ECC3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/>
          <p:nvPr/>
        </p:nvSpPr>
        <p:spPr>
          <a:xfrm>
            <a:off x="1359371" y="1390137"/>
            <a:ext cx="2772244" cy="2208527"/>
          </a:xfrm>
          <a:prstGeom prst="wedgeRectCallout">
            <a:avLst/>
          </a:prstGeom>
          <a:solidFill>
            <a:schemeClr val="bg1"/>
          </a:solidFill>
          <a:ln w="6350" cap="sq">
            <a:solidFill>
              <a:schemeClr val="accent1">
                <a:shade val="15000"/>
              </a:schemeClr>
            </a:solidFill>
            <a:miter/>
          </a:ln>
          <a:effectLst>
            <a:outerShdw blurRad="101600" sx="102000" sy="102000" algn="ctr" rotWithShape="0">
              <a:schemeClr val="accent1">
                <a:lumMod val="50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6" name="标题 1"/>
          <p:cNvCxnSpPr/>
          <p:nvPr/>
        </p:nvCxnSpPr>
        <p:spPr>
          <a:xfrm>
            <a:off x="1771962" y="2109494"/>
            <a:ext cx="1947063" cy="0"/>
          </a:xfrm>
          <a:prstGeom prst="line">
            <a:avLst/>
          </a:prstGeom>
          <a:noFill/>
          <a:ln w="6350" cap="sq">
            <a:solidFill>
              <a:schemeClr val="accent1"/>
            </a:solidFill>
            <a:prstDash val="solid"/>
            <a:miter/>
          </a:ln>
        </p:spPr>
      </p:cxnSp>
      <p:sp>
        <p:nvSpPr>
          <p:cNvPr id="7" name="标题 1"/>
          <p:cNvSpPr txBox="1"/>
          <p:nvPr/>
        </p:nvSpPr>
        <p:spPr>
          <a:xfrm>
            <a:off x="1785263" y="1506909"/>
            <a:ext cx="1920460" cy="53249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Definir Metas Tecnológicas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631364" y="2151009"/>
            <a:ext cx="2228258" cy="129011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Modernizar laboratorios, mejorar conectividad, incorporar virtualización.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4754516" y="1390137"/>
            <a:ext cx="2772244" cy="2208527"/>
          </a:xfrm>
          <a:prstGeom prst="wedgeRectCallout">
            <a:avLst/>
          </a:prstGeom>
          <a:solidFill>
            <a:schemeClr val="bg1"/>
          </a:solidFill>
          <a:ln w="6350" cap="sq">
            <a:solidFill>
              <a:schemeClr val="accent1">
                <a:shade val="15000"/>
              </a:schemeClr>
            </a:solidFill>
            <a:miter/>
          </a:ln>
          <a:effectLst>
            <a:outerShdw blurRad="101600" sx="102000" sy="102000" algn="ctr" rotWithShape="0">
              <a:schemeClr val="accent1">
                <a:lumMod val="50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0" name="标题 1"/>
          <p:cNvCxnSpPr/>
          <p:nvPr/>
        </p:nvCxnSpPr>
        <p:spPr>
          <a:xfrm>
            <a:off x="5167107" y="2109494"/>
            <a:ext cx="1947063" cy="0"/>
          </a:xfrm>
          <a:prstGeom prst="line">
            <a:avLst/>
          </a:prstGeom>
          <a:noFill/>
          <a:ln w="6350" cap="sq">
            <a:solidFill>
              <a:schemeClr val="accent1"/>
            </a:solidFill>
            <a:prstDash val="solid"/>
            <a:miter/>
          </a:ln>
        </p:spPr>
      </p:cxnSp>
      <p:sp>
        <p:nvSpPr>
          <p:cNvPr id="11" name="标题 1"/>
          <p:cNvSpPr txBox="1"/>
          <p:nvPr/>
        </p:nvSpPr>
        <p:spPr>
          <a:xfrm>
            <a:off x="5180408" y="1506909"/>
            <a:ext cx="1920460" cy="53249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Establecer Prioridades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5026509" y="2151009"/>
            <a:ext cx="2228258" cy="129011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Atender áreas críticas para el funcionamiento institucional.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6456316" y="4033399"/>
            <a:ext cx="2772244" cy="2208527"/>
          </a:xfrm>
          <a:prstGeom prst="wedgeRectCallout">
            <a:avLst/>
          </a:prstGeom>
          <a:solidFill>
            <a:schemeClr val="bg1"/>
          </a:solidFill>
          <a:ln w="6350" cap="sq">
            <a:solidFill>
              <a:schemeClr val="accent1">
                <a:shade val="15000"/>
              </a:schemeClr>
            </a:solidFill>
            <a:miter/>
          </a:ln>
          <a:effectLst>
            <a:outerShdw blurRad="101600" sx="102000" sy="102000" algn="ctr" rotWithShape="0">
              <a:schemeClr val="accent1">
                <a:lumMod val="50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4" name="标题 1"/>
          <p:cNvCxnSpPr/>
          <p:nvPr/>
        </p:nvCxnSpPr>
        <p:spPr>
          <a:xfrm>
            <a:off x="6868907" y="4752756"/>
            <a:ext cx="1947063" cy="0"/>
          </a:xfrm>
          <a:prstGeom prst="line">
            <a:avLst/>
          </a:prstGeom>
          <a:noFill/>
          <a:ln w="6350" cap="sq">
            <a:solidFill>
              <a:schemeClr val="accent1"/>
            </a:solidFill>
            <a:prstDash val="solid"/>
            <a:miter/>
          </a:ln>
        </p:spPr>
      </p:cxnSp>
      <p:sp>
        <p:nvSpPr>
          <p:cNvPr id="15" name="标题 1"/>
          <p:cNvSpPr txBox="1"/>
          <p:nvPr/>
        </p:nvSpPr>
        <p:spPr>
          <a:xfrm>
            <a:off x="6882208" y="4150171"/>
            <a:ext cx="1920460" cy="53249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Evaluar Impacto Presupuestario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6728309" y="4794271"/>
            <a:ext cx="2228258" cy="129011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Balancear costo- beneficio de las inversiones tecnológicas.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8121950" y="1390137"/>
            <a:ext cx="2772244" cy="2208527"/>
          </a:xfrm>
          <a:prstGeom prst="wedgeRectCallout">
            <a:avLst/>
          </a:prstGeom>
          <a:solidFill>
            <a:schemeClr val="bg1"/>
          </a:solidFill>
          <a:ln w="6350" cap="sq">
            <a:solidFill>
              <a:schemeClr val="accent1">
                <a:shade val="15000"/>
              </a:schemeClr>
            </a:solidFill>
            <a:miter/>
          </a:ln>
          <a:effectLst>
            <a:outerShdw blurRad="101600" sx="102000" sy="102000" algn="ctr" rotWithShape="0">
              <a:schemeClr val="accent1">
                <a:lumMod val="50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8" name="标题 1"/>
          <p:cNvCxnSpPr/>
          <p:nvPr/>
        </p:nvCxnSpPr>
        <p:spPr>
          <a:xfrm>
            <a:off x="8534541" y="2109494"/>
            <a:ext cx="1947063" cy="0"/>
          </a:xfrm>
          <a:prstGeom prst="line">
            <a:avLst/>
          </a:prstGeom>
          <a:noFill/>
          <a:ln w="6350" cap="sq">
            <a:solidFill>
              <a:schemeClr val="accent1"/>
            </a:solidFill>
            <a:prstDash val="solid"/>
            <a:miter/>
          </a:ln>
        </p:spPr>
      </p:cxnSp>
      <p:sp>
        <p:nvSpPr>
          <p:cNvPr id="19" name="标题 1"/>
          <p:cNvSpPr txBox="1"/>
          <p:nvPr/>
        </p:nvSpPr>
        <p:spPr>
          <a:xfrm>
            <a:off x="8547842" y="1506909"/>
            <a:ext cx="1920460" cy="53249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073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Programar Actualizaciones Progresivas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8393943" y="2151009"/>
            <a:ext cx="2228258" cy="129011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Renovación de equipos por etapas y mantenimiento planificado.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3061171" y="4033399"/>
            <a:ext cx="2772244" cy="2208527"/>
          </a:xfrm>
          <a:prstGeom prst="wedgeRectCallout">
            <a:avLst/>
          </a:prstGeom>
          <a:solidFill>
            <a:schemeClr val="bg1"/>
          </a:solidFill>
          <a:ln w="6350" cap="sq">
            <a:solidFill>
              <a:schemeClr val="accent1">
                <a:shade val="15000"/>
              </a:schemeClr>
            </a:solidFill>
            <a:miter/>
          </a:ln>
          <a:effectLst>
            <a:outerShdw blurRad="101600" sx="102000" sy="102000" algn="ctr" rotWithShape="0">
              <a:schemeClr val="accent1">
                <a:lumMod val="50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2" name="标题 1"/>
          <p:cNvCxnSpPr/>
          <p:nvPr/>
        </p:nvCxnSpPr>
        <p:spPr>
          <a:xfrm>
            <a:off x="3473762" y="4752756"/>
            <a:ext cx="1947063" cy="0"/>
          </a:xfrm>
          <a:prstGeom prst="line">
            <a:avLst/>
          </a:prstGeom>
          <a:noFill/>
          <a:ln w="6350" cap="sq">
            <a:solidFill>
              <a:schemeClr val="accent1"/>
            </a:solidFill>
            <a:prstDash val="solid"/>
            <a:miter/>
          </a:ln>
        </p:spPr>
      </p:cxnSp>
      <p:sp>
        <p:nvSpPr>
          <p:cNvPr id="23" name="标题 1"/>
          <p:cNvSpPr txBox="1"/>
          <p:nvPr/>
        </p:nvSpPr>
        <p:spPr>
          <a:xfrm>
            <a:off x="3487063" y="4150171"/>
            <a:ext cx="1920460" cy="53249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073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Adoptar Tecnologías Sostenibles</a:t>
            </a: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3333164" y="4794271"/>
            <a:ext cx="2228258" cy="129011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Equipos de bajo consumo energético y soporte prolongado.</a:t>
            </a: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711602" y="385477"/>
            <a:ext cx="10672677" cy="5232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2800" dirty="0" err="1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Aspectos</a:t>
            </a:r>
            <a:r>
              <a:rPr kumimoji="1" lang="en-US" altLang="zh-CN" sz="2800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 Clave </a:t>
            </a:r>
            <a:r>
              <a:rPr kumimoji="1" lang="en-US" altLang="zh-CN" sz="2800" dirty="0" err="1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en</a:t>
            </a:r>
            <a:r>
              <a:rPr kumimoji="1" lang="en-US" altLang="zh-CN" sz="2800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 la </a:t>
            </a:r>
            <a:r>
              <a:rPr kumimoji="1" lang="en-US" altLang="zh-CN" sz="2800" dirty="0" err="1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Planificación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FA995252-A44E-5EB0-34AF-B465EA9C3A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 rot="5400000">
            <a:off x="8720410" y="-333761"/>
            <a:ext cx="432000" cy="4647117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10000">
                <a:schemeClr val="accent1">
                  <a:alpha val="100000"/>
                </a:schemeClr>
              </a:gs>
              <a:gs pos="100000">
                <a:schemeClr val="accent1">
                  <a:lumMod val="60000"/>
                  <a:lumOff val="40000"/>
                  <a:alpha val="100000"/>
                </a:schemeClr>
              </a:gs>
            </a:gsLst>
            <a:lin ang="10800000" scaled="0"/>
          </a:gra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947205" y="2296585"/>
            <a:ext cx="4647115" cy="79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Escalado Vertical (Scale-Up)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711602" y="2951291"/>
            <a:ext cx="4647115" cy="283228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lvl="1"/>
            <a:r>
              <a:rPr lang="es-EC" sz="1600" b="1" dirty="0"/>
              <a:t>Acción:</a:t>
            </a:r>
            <a:r>
              <a:rPr lang="es-EC" sz="1600" dirty="0"/>
              <a:t> Añadir más RAM, </a:t>
            </a:r>
            <a:r>
              <a:rPr lang="es-EC" sz="1600" dirty="0" err="1"/>
              <a:t>CPUs</a:t>
            </a:r>
            <a:r>
              <a:rPr lang="es-EC" sz="1600" dirty="0"/>
              <a:t> o discos a un servidor existente.</a:t>
            </a:r>
          </a:p>
          <a:p>
            <a:pPr lvl="1"/>
            <a:endParaRPr lang="es-EC" sz="1600" dirty="0"/>
          </a:p>
          <a:p>
            <a:pPr lvl="1"/>
            <a:r>
              <a:rPr lang="es-EC" sz="1600" b="1" dirty="0"/>
              <a:t>Ideal para:</a:t>
            </a:r>
            <a:r>
              <a:rPr lang="es-EC" sz="1600" dirty="0"/>
              <a:t> Cargas de trabajo monolíticas, como grandes bases de datos (SQL, Oracle), que no se pueden dividir fácilmente.</a:t>
            </a:r>
          </a:p>
          <a:p>
            <a:pPr lvl="1"/>
            <a:endParaRPr lang="es-EC" sz="1600" dirty="0"/>
          </a:p>
          <a:p>
            <a:pPr lvl="1"/>
            <a:r>
              <a:rPr lang="es-EC" sz="1600" b="1" dirty="0"/>
              <a:t>Límite:</a:t>
            </a:r>
            <a:r>
              <a:rPr lang="es-EC" sz="1600" dirty="0"/>
              <a:t> Eventualmente, te quedas sin ranuras de RAM o el costo se dispara.</a:t>
            </a:r>
          </a:p>
        </p:txBody>
      </p:sp>
      <p:sp>
        <p:nvSpPr>
          <p:cNvPr id="7" name="标题 1"/>
          <p:cNvSpPr txBox="1"/>
          <p:nvPr/>
        </p:nvSpPr>
        <p:spPr>
          <a:xfrm rot="5400000">
            <a:off x="3054765" y="-333761"/>
            <a:ext cx="432000" cy="4647117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10000">
                <a:schemeClr val="accent1">
                  <a:alpha val="100000"/>
                </a:schemeClr>
              </a:gs>
              <a:gs pos="100000">
                <a:schemeClr val="accent1">
                  <a:lumMod val="60000"/>
                  <a:lumOff val="40000"/>
                  <a:alpha val="100000"/>
                </a:schemeClr>
              </a:gs>
            </a:gsLst>
            <a:lin ang="10800000" scaled="0"/>
          </a:gra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055207" y="1845799"/>
            <a:ext cx="1944000" cy="28800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Part 01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612851" y="2296585"/>
            <a:ext cx="4647115" cy="79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Escalado Horizontal (Scale-Out)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464261" y="2953776"/>
            <a:ext cx="4647115" cy="258977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lvl="1"/>
            <a:r>
              <a:rPr lang="es-EC" sz="1600" b="1" dirty="0"/>
              <a:t>Acción:</a:t>
            </a:r>
            <a:r>
              <a:rPr lang="es-EC" sz="1600" dirty="0"/>
              <a:t> Añadir más nodos (servidores) al clúster y distribuir la carga entre ellos.</a:t>
            </a:r>
          </a:p>
          <a:p>
            <a:pPr lvl="1"/>
            <a:endParaRPr lang="es-EC" sz="1600" dirty="0"/>
          </a:p>
          <a:p>
            <a:pPr lvl="1"/>
            <a:r>
              <a:rPr lang="es-EC" sz="1600" b="1" dirty="0"/>
              <a:t>Ideal para:</a:t>
            </a:r>
            <a:r>
              <a:rPr lang="es-EC" sz="1600" dirty="0"/>
              <a:t> Arquitecturas modernas, aplicaciones web, microservicios y virtualización. Es la base de la nube.</a:t>
            </a:r>
          </a:p>
          <a:p>
            <a:pPr lvl="1"/>
            <a:endParaRPr lang="es-EC" sz="1600" dirty="0"/>
          </a:p>
          <a:p>
            <a:pPr lvl="1"/>
            <a:r>
              <a:rPr lang="es-EC" sz="1600" b="1" dirty="0"/>
              <a:t>Límite:</a:t>
            </a:r>
            <a:r>
              <a:rPr lang="es-EC" sz="1600" dirty="0"/>
              <a:t> Requiere que las aplicaciones estén diseñadas para esto y añade complejidad a la red.</a:t>
            </a:r>
          </a:p>
        </p:txBody>
      </p:sp>
      <p:sp>
        <p:nvSpPr>
          <p:cNvPr id="11" name="标题 1"/>
          <p:cNvSpPr txBox="1"/>
          <p:nvPr/>
        </p:nvSpPr>
        <p:spPr>
          <a:xfrm>
            <a:off x="6720853" y="1845799"/>
            <a:ext cx="1944000" cy="28800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ctr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Part 02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91440" y="993984"/>
            <a:ext cx="9532619" cy="5232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2430" dirty="0" err="1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Tipos</a:t>
            </a:r>
            <a:r>
              <a:rPr kumimoji="1" lang="en-US" altLang="zh-CN" sz="2430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 de </a:t>
            </a:r>
            <a:r>
              <a:rPr kumimoji="1" lang="en-US" altLang="zh-CN" sz="2430" dirty="0" err="1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Crecimiento</a:t>
            </a:r>
            <a:r>
              <a:rPr kumimoji="1" lang="en-US" altLang="zh-CN" sz="2430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 (Scale-Up vs. Scale-Out)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A7B57333-61E9-5E69-35A7-6DC09ED49C6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1586201" y="4281542"/>
            <a:ext cx="936523" cy="64633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r>
              <a:rPr kumimoji="1" lang="en-US" altLang="zh-CN" sz="3200" dirty="0">
                <a:ln w="12700">
                  <a:noFill/>
                </a:ln>
                <a:solidFill>
                  <a:srgbClr val="4472C4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01.</a:t>
            </a:r>
            <a:endParaRPr kumimoji="1" lang="zh-CN" altLang="en-US" dirty="0"/>
          </a:p>
        </p:txBody>
      </p:sp>
      <p:sp>
        <p:nvSpPr>
          <p:cNvPr id="5" name="标题 1"/>
          <p:cNvSpPr txBox="1"/>
          <p:nvPr/>
        </p:nvSpPr>
        <p:spPr>
          <a:xfrm>
            <a:off x="4323416" y="2736616"/>
            <a:ext cx="1170604" cy="64633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r>
              <a:rPr kumimoji="1" lang="en-US" altLang="zh-CN" sz="3200">
                <a:ln w="12700">
                  <a:noFill/>
                </a:ln>
                <a:solidFill>
                  <a:srgbClr val="ED7D31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02.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6967556" y="1130300"/>
            <a:ext cx="1170604" cy="64633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r>
              <a:rPr kumimoji="1" lang="en-US" altLang="zh-CN" sz="3200">
                <a:ln w="12700">
                  <a:noFill/>
                </a:ln>
                <a:solidFill>
                  <a:srgbClr val="4472C4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03.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1675559" y="4935489"/>
            <a:ext cx="3569541" cy="307777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Ejemplo</a:t>
            </a: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1 (</a:t>
            </a:r>
            <a:r>
              <a:rPr kumimoji="1" lang="en-US" altLang="zh-CN" sz="16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Cómputo</a:t>
            </a: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)</a:t>
            </a:r>
            <a:endParaRPr kumimoji="1" lang="zh-CN" altLang="en-US" dirty="0"/>
          </a:p>
        </p:txBody>
      </p:sp>
      <p:sp>
        <p:nvSpPr>
          <p:cNvPr id="8" name="标题 1"/>
          <p:cNvSpPr txBox="1"/>
          <p:nvPr/>
        </p:nvSpPr>
        <p:spPr>
          <a:xfrm>
            <a:off x="1675558" y="5261182"/>
            <a:ext cx="3570731" cy="97451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lvl="0"/>
            <a:r>
              <a:rPr lang="es-EC" sz="1400" dirty="0"/>
              <a:t>Dejar de comprar servidores "en torre" y migrar a una </a:t>
            </a:r>
            <a:r>
              <a:rPr lang="es-EC" sz="1400" b="1" dirty="0"/>
              <a:t>Infraestructura </a:t>
            </a:r>
            <a:r>
              <a:rPr lang="es-EC" sz="1400" b="1" dirty="0" err="1"/>
              <a:t>Hiperconvergente</a:t>
            </a:r>
            <a:r>
              <a:rPr lang="es-EC" sz="1400" b="1" dirty="0"/>
              <a:t> (HCI)</a:t>
            </a:r>
            <a:r>
              <a:rPr lang="es-EC" sz="1400" dirty="0"/>
              <a:t>, que unifica cómputo y almacenamiento en un solo bloque, simplificando la gestión.</a:t>
            </a:r>
          </a:p>
        </p:txBody>
      </p:sp>
      <p:sp>
        <p:nvSpPr>
          <p:cNvPr id="9" name="标题 1"/>
          <p:cNvSpPr txBox="1"/>
          <p:nvPr/>
        </p:nvSpPr>
        <p:spPr>
          <a:xfrm>
            <a:off x="4427609" y="3425276"/>
            <a:ext cx="3636891" cy="307777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Ejemplo 2 (Red)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4427608" y="3748446"/>
            <a:ext cx="3637398" cy="97451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lvl="0"/>
            <a:r>
              <a:rPr lang="es-EC" sz="1400" dirty="0"/>
              <a:t>Planificar la migración del "</a:t>
            </a:r>
            <a:r>
              <a:rPr lang="es-EC" sz="1400" dirty="0" err="1"/>
              <a:t>core</a:t>
            </a:r>
            <a:r>
              <a:rPr lang="es-EC" sz="1400" dirty="0"/>
              <a:t>" de la red de 1GbE a </a:t>
            </a:r>
            <a:r>
              <a:rPr lang="es-EC" sz="1400" b="1" dirty="0"/>
              <a:t>10GbE o 25GbE</a:t>
            </a:r>
            <a:r>
              <a:rPr lang="es-EC" sz="1400" dirty="0"/>
              <a:t> para soportar el aumento del tráfico de almacenamiento y las migraciones de máquinas virtuales.</a:t>
            </a:r>
          </a:p>
        </p:txBody>
      </p:sp>
      <p:sp>
        <p:nvSpPr>
          <p:cNvPr id="11" name="标题 1"/>
          <p:cNvSpPr txBox="1"/>
          <p:nvPr/>
        </p:nvSpPr>
        <p:spPr>
          <a:xfrm>
            <a:off x="7081941" y="1853674"/>
            <a:ext cx="3560659" cy="307777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Ejemplo 3 (Almacenamiento)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7081940" y="2179367"/>
            <a:ext cx="3555579" cy="85758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lvl="0"/>
            <a:r>
              <a:rPr lang="es-EC" sz="1400" dirty="0"/>
              <a:t>Planificar el reemplazo de los discos mecánicos (HDD) por almacenamiento </a:t>
            </a:r>
            <a:r>
              <a:rPr lang="es-EC" sz="1400" b="1" dirty="0" err="1"/>
              <a:t>All</a:t>
            </a:r>
            <a:r>
              <a:rPr lang="es-EC" sz="1400" b="1" dirty="0"/>
              <a:t>-Flash (SSD)</a:t>
            </a:r>
            <a:r>
              <a:rPr lang="es-EC" sz="1400" dirty="0"/>
              <a:t> para eliminar los cuellos de botella de rendimiento.</a:t>
            </a:r>
          </a:p>
        </p:txBody>
      </p:sp>
      <p:sp>
        <p:nvSpPr>
          <p:cNvPr id="15" name="标题 1"/>
          <p:cNvSpPr txBox="1"/>
          <p:nvPr/>
        </p:nvSpPr>
        <p:spPr>
          <a:xfrm>
            <a:off x="125730" y="1319874"/>
            <a:ext cx="6377940" cy="5232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2451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El Plan de </a:t>
            </a:r>
            <a:r>
              <a:rPr kumimoji="1" lang="en-US" altLang="zh-CN" sz="2451" dirty="0" err="1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Actualización</a:t>
            </a:r>
            <a:r>
              <a:rPr kumimoji="1" lang="en-US" altLang="zh-CN" sz="2451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 (Refresh </a:t>
            </a:r>
            <a:r>
              <a:rPr kumimoji="1" lang="en-US" altLang="zh-CN" sz="2451" dirty="0" err="1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Tecnológico</a:t>
            </a:r>
            <a:r>
              <a:rPr kumimoji="1" lang="en-US" altLang="zh-CN" sz="2451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)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6B3F7E69-F895-2E6A-7ACF-15B7EFB8ED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1210308" y="1769390"/>
            <a:ext cx="3425191" cy="110799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r>
              <a:rPr kumimoji="1" lang="en-US" altLang="zh-CN" sz="6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PART.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210308" y="3332835"/>
            <a:ext cx="9773922" cy="15696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/>
            <a:r>
              <a:rPr kumimoji="1" lang="en-US" altLang="zh-CN" sz="30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Estimación</a:t>
            </a:r>
            <a:r>
              <a:rPr kumimoji="1" lang="en-US" altLang="zh-CN" sz="3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de </a:t>
            </a:r>
            <a:r>
              <a:rPr kumimoji="1" lang="en-US" altLang="zh-CN" sz="30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Recursos</a:t>
            </a:r>
            <a:r>
              <a:rPr kumimoji="1" lang="en-US" altLang="zh-CN" sz="3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</a:t>
            </a:r>
            <a:r>
              <a:rPr kumimoji="1" lang="en-US" altLang="zh-CN" sz="30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Futuros</a:t>
            </a:r>
            <a:r>
              <a:rPr kumimoji="1" lang="en-US" altLang="zh-CN" sz="3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: La </a:t>
            </a:r>
            <a:r>
              <a:rPr kumimoji="1" lang="en-US" altLang="zh-CN" sz="30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Planificación</a:t>
            </a:r>
            <a:r>
              <a:rPr kumimoji="1" lang="en-US" altLang="zh-CN" sz="3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de </a:t>
            </a:r>
            <a:r>
              <a:rPr kumimoji="1" lang="en-US" altLang="zh-CN" sz="30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Capacidad</a:t>
            </a:r>
            <a:endParaRPr kumimoji="1" lang="zh-CN" altLang="en-US" dirty="0"/>
          </a:p>
        </p:txBody>
      </p:sp>
      <p:sp>
        <p:nvSpPr>
          <p:cNvPr id="12" name="标题 1"/>
          <p:cNvSpPr txBox="1"/>
          <p:nvPr/>
        </p:nvSpPr>
        <p:spPr>
          <a:xfrm>
            <a:off x="3278504" y="1769390"/>
            <a:ext cx="2220589" cy="110799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r"/>
            <a:r>
              <a:rPr kumimoji="1" lang="en-US" altLang="zh-CN" sz="6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04</a:t>
            </a:r>
            <a:endParaRPr kumimoji="1" lang="zh-CN" altLang="en-US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F3680B54-430D-2179-2048-ABE6EA7855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711602" y="1016038"/>
            <a:ext cx="8466688" cy="1870531"/>
          </a:xfrm>
          <a:prstGeom prst="hexagon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blurRad="762000" dist="254000" dir="5400000" algn="ctr" rotWithShape="0">
              <a:srgbClr val="000000">
                <a:alpha val="1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920065" y="1095956"/>
            <a:ext cx="543206" cy="468280"/>
          </a:xfrm>
          <a:prstGeom prst="hexagon">
            <a:avLst/>
          </a:prstGeom>
          <a:solidFill>
            <a:schemeClr val="bg2">
              <a:alpha val="70000"/>
            </a:schemeClr>
          </a:solidFill>
          <a:ln w="12700" cap="sq">
            <a:noFill/>
            <a:miter/>
          </a:ln>
          <a:effectLst/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920065" y="3363585"/>
            <a:ext cx="5829300" cy="3683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r>
              <a:rPr kumimoji="1" lang="es-EC" sz="1600" dirty="0">
                <a:ln w="12700">
                  <a:noFill/>
                </a:ln>
                <a:solidFill>
                  <a:srgbClr val="4472C4">
                    <a:alpha val="100000"/>
                  </a:srgbClr>
                </a:solidFill>
                <a:latin typeface="poppins-bold"/>
                <a:cs typeface="poppins-bold"/>
              </a:rPr>
              <a:t>Método: </a:t>
            </a:r>
            <a:endParaRPr kumimoji="1" lang="zh-CN" altLang="en-US" sz="1600" dirty="0">
              <a:ln w="12700">
                <a:noFill/>
              </a:ln>
              <a:solidFill>
                <a:srgbClr val="4472C4">
                  <a:alpha val="100000"/>
                </a:srgbClr>
              </a:solidFill>
              <a:latin typeface="poppins-bold"/>
              <a:cs typeface="poppins-bold"/>
            </a:endParaRPr>
          </a:p>
        </p:txBody>
      </p:sp>
      <p:sp>
        <p:nvSpPr>
          <p:cNvPr id="14" name="标题 1"/>
          <p:cNvSpPr txBox="1"/>
          <p:nvPr/>
        </p:nvSpPr>
        <p:spPr>
          <a:xfrm>
            <a:off x="925687" y="3964277"/>
            <a:ext cx="4503563" cy="97348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lvl="0"/>
            <a:r>
              <a:rPr lang="es-EC" sz="1400" dirty="0"/>
              <a:t>Usamos nuestras herramientas de monitoreo (</a:t>
            </a:r>
            <a:r>
              <a:rPr lang="es-EC" sz="1400" dirty="0" err="1"/>
              <a:t>Zabbix</a:t>
            </a:r>
            <a:r>
              <a:rPr lang="es-EC" sz="1400" dirty="0"/>
              <a:t>, </a:t>
            </a:r>
            <a:r>
              <a:rPr lang="es-EC" sz="1400" dirty="0" err="1"/>
              <a:t>Prometheus</a:t>
            </a:r>
            <a:r>
              <a:rPr lang="es-EC" sz="1400" dirty="0"/>
              <a:t>, </a:t>
            </a:r>
            <a:r>
              <a:rPr lang="es-EC" sz="1400" dirty="0" err="1"/>
              <a:t>vCenter</a:t>
            </a:r>
            <a:r>
              <a:rPr lang="es-EC" sz="1400" dirty="0"/>
              <a:t>) para ver el historial. "En los últimos 12 meses, nuestro almacenamiento ha crecido a un promedio de 2TB por mes".</a:t>
            </a:r>
          </a:p>
          <a:p>
            <a:pPr lvl="0"/>
            <a:endParaRPr lang="es-EC" sz="1400" dirty="0"/>
          </a:p>
          <a:p>
            <a:endParaRPr kumimoji="1" lang="zh-CN" altLang="en-US" dirty="0"/>
          </a:p>
        </p:txBody>
      </p:sp>
      <p:sp>
        <p:nvSpPr>
          <p:cNvPr id="15" name="标题 1"/>
          <p:cNvSpPr txBox="1"/>
          <p:nvPr/>
        </p:nvSpPr>
        <p:spPr>
          <a:xfrm>
            <a:off x="7671342" y="3434789"/>
            <a:ext cx="5829300" cy="3683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 dirty="0" err="1">
                <a:ln w="12700">
                  <a:noFill/>
                </a:ln>
                <a:solidFill>
                  <a:srgbClr val="4472C4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Proyección</a:t>
            </a:r>
            <a:endParaRPr kumimoji="1" lang="zh-CN" altLang="en-US" dirty="0"/>
          </a:p>
        </p:txBody>
      </p:sp>
      <p:sp>
        <p:nvSpPr>
          <p:cNvPr id="16" name="标题 1"/>
          <p:cNvSpPr txBox="1"/>
          <p:nvPr/>
        </p:nvSpPr>
        <p:spPr>
          <a:xfrm>
            <a:off x="5992131" y="3964276"/>
            <a:ext cx="5163550" cy="1059181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lvl="0"/>
            <a:r>
              <a:rPr lang="es-EC" sz="1400" dirty="0"/>
              <a:t>Si la tendencia continúa, necesitaremos 24TB de almacenamiento adicional para los próximos 12 meses.</a:t>
            </a:r>
          </a:p>
          <a:p>
            <a:pPr lvl="0" algn="just"/>
            <a:r>
              <a:rPr lang="es-EC" sz="1400" dirty="0"/>
              <a:t>Ideal para: Recursos predecibles como el almacenamiento o el ancho de banda.</a:t>
            </a:r>
          </a:p>
        </p:txBody>
      </p:sp>
      <p:sp>
        <p:nvSpPr>
          <p:cNvPr id="20" name="标题 1"/>
          <p:cNvSpPr txBox="1"/>
          <p:nvPr/>
        </p:nvSpPr>
        <p:spPr>
          <a:xfrm>
            <a:off x="711602" y="385477"/>
            <a:ext cx="10912707" cy="5232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2800" dirty="0" err="1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Análisis</a:t>
            </a:r>
            <a:r>
              <a:rPr kumimoji="1" lang="en-US" altLang="zh-CN" sz="2800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 de </a:t>
            </a:r>
            <a:r>
              <a:rPr kumimoji="1" lang="en-US" altLang="zh-CN" sz="2800" dirty="0" err="1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Tendencias</a:t>
            </a:r>
            <a:r>
              <a:rPr kumimoji="1" lang="en-US" altLang="zh-CN" sz="2800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 (Lineal)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4" name="标题 1">
            <a:extLst>
              <a:ext uri="{FF2B5EF4-FFF2-40B4-BE49-F238E27FC236}">
                <a16:creationId xmlns:a16="http://schemas.microsoft.com/office/drawing/2014/main" id="{7482D970-70C4-79DD-8FBC-CFF42ED3AC64}"/>
              </a:ext>
            </a:extLst>
          </p:cNvPr>
          <p:cNvSpPr txBox="1"/>
          <p:nvPr/>
        </p:nvSpPr>
        <p:spPr>
          <a:xfrm>
            <a:off x="1289458" y="1229950"/>
            <a:ext cx="7614512" cy="135431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Usar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herramientas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de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monitoreo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para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ver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el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historial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de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crecimiento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de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recursos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. </a:t>
            </a:r>
          </a:p>
          <a:p>
            <a:r>
              <a:rPr lang="es-EC" sz="1400" dirty="0"/>
              <a:t>Proyectar el crecimiento tecnológico permite anticipar la demanda de recursos antes de que surjan deficiencias.</a:t>
            </a:r>
            <a:br>
              <a:rPr lang="es-EC" sz="1400" dirty="0"/>
            </a:br>
            <a:r>
              <a:rPr lang="es-EC" sz="1400" dirty="0"/>
              <a:t>Esto garantiza que el centro de cómputo esté preparado para soportar </a:t>
            </a:r>
            <a:r>
              <a:rPr lang="es-EC" sz="1400" b="1" dirty="0"/>
              <a:t>mayores cargas de trabajo, más usuarios, y nuevas plataformas digitales</a:t>
            </a:r>
            <a:r>
              <a:rPr lang="es-EC" sz="1400" dirty="0"/>
              <a:t> sin afectar su desempeño.</a:t>
            </a:r>
          </a:p>
          <a:p>
            <a:r>
              <a:rPr lang="es-EC" sz="1400" dirty="0"/>
              <a:t>Esta es la parte más difícil: </a:t>
            </a:r>
            <a:r>
              <a:rPr lang="es-EC" sz="1400" b="1" dirty="0"/>
              <a:t>cuantificar el futuro</a:t>
            </a:r>
            <a:r>
              <a:rPr lang="es-EC" sz="1400" dirty="0"/>
              <a:t>. ¿Cuánto </a:t>
            </a:r>
            <a:r>
              <a:rPr lang="es-EC" sz="1400" i="1" dirty="0"/>
              <a:t>exactamente</a:t>
            </a:r>
            <a:r>
              <a:rPr lang="es-EC" sz="1400" dirty="0"/>
              <a:t> necesitamos comprar y cuándo?</a:t>
            </a:r>
          </a:p>
          <a:p>
            <a:pPr algn="l"/>
            <a:endParaRPr kumimoji="1" lang="zh-CN" altLang="en-US" dirty="0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BEB1C21D-8775-3223-8452-63DF9F2EB4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660400" y="1647702"/>
            <a:ext cx="4414799" cy="718807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/>
          </a:ln>
          <a:effectLst/>
        </p:spPr>
        <p:txBody>
          <a:bodyPr vert="horz" wrap="square" lIns="0" tIns="0" rIns="0" bIns="0" rtlCol="0" anchor="t"/>
          <a:lstStyle/>
          <a:p>
            <a:pPr algn="l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4225815" y="1647380"/>
            <a:ext cx="1758115" cy="1253089"/>
          </a:xfrm>
          <a:custGeom>
            <a:avLst/>
            <a:gdLst/>
            <a:ahLst/>
            <a:cxnLst/>
            <a:rect l="0" t="0" r="r" b="b"/>
            <a:pathLst>
              <a:path w="21600" h="21600" extrusionOk="0">
                <a:moveTo>
                  <a:pt x="51" y="0"/>
                </a:moveTo>
                <a:lnTo>
                  <a:pt x="0" y="72"/>
                </a:lnTo>
                <a:lnTo>
                  <a:pt x="14199" y="19971"/>
                </a:lnTo>
                <a:lnTo>
                  <a:pt x="13033" y="21600"/>
                </a:lnTo>
                <a:lnTo>
                  <a:pt x="13089" y="21594"/>
                </a:lnTo>
                <a:lnTo>
                  <a:pt x="13087" y="21597"/>
                </a:lnTo>
                <a:lnTo>
                  <a:pt x="13085" y="21600"/>
                </a:lnTo>
                <a:lnTo>
                  <a:pt x="21600" y="21600"/>
                </a:lnTo>
                <a:lnTo>
                  <a:pt x="21600" y="9603"/>
                </a:lnTo>
                <a:lnTo>
                  <a:pt x="20439" y="11232"/>
                </a:lnTo>
                <a:lnTo>
                  <a:pt x="12425" y="0"/>
                </a:lnTo>
                <a:lnTo>
                  <a:pt x="51" y="0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miter/>
          </a:ln>
          <a:effectLst/>
        </p:spPr>
        <p:txBody>
          <a:bodyPr vert="horz" wrap="square" lIns="0" tIns="0" rIns="0" bIns="0" rtlCol="0" anchor="t"/>
          <a:lstStyle/>
          <a:p>
            <a:pPr algn="l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7104101" y="1647702"/>
            <a:ext cx="4414799" cy="718807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>
            <a:noFill/>
            <a:miter/>
          </a:ln>
          <a:effectLst/>
        </p:spPr>
        <p:txBody>
          <a:bodyPr vert="horz" wrap="square" lIns="0" tIns="0" rIns="0" bIns="0" rtlCol="0" anchor="t"/>
          <a:lstStyle/>
          <a:p>
            <a:pPr algn="l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6208071" y="1647380"/>
            <a:ext cx="1758115" cy="1253089"/>
          </a:xfrm>
          <a:custGeom>
            <a:avLst/>
            <a:gdLst/>
            <a:ahLst/>
            <a:cxnLst/>
            <a:rect l="0" t="0" r="r" b="b"/>
            <a:pathLst>
              <a:path w="21600" h="21600" extrusionOk="0">
                <a:moveTo>
                  <a:pt x="21549" y="0"/>
                </a:moveTo>
                <a:lnTo>
                  <a:pt x="21600" y="72"/>
                </a:lnTo>
                <a:lnTo>
                  <a:pt x="7401" y="19971"/>
                </a:lnTo>
                <a:lnTo>
                  <a:pt x="8567" y="21600"/>
                </a:lnTo>
                <a:lnTo>
                  <a:pt x="8511" y="21594"/>
                </a:lnTo>
                <a:lnTo>
                  <a:pt x="8513" y="21597"/>
                </a:lnTo>
                <a:lnTo>
                  <a:pt x="8515" y="21600"/>
                </a:lnTo>
                <a:lnTo>
                  <a:pt x="0" y="21600"/>
                </a:lnTo>
                <a:lnTo>
                  <a:pt x="0" y="9603"/>
                </a:lnTo>
                <a:lnTo>
                  <a:pt x="1161" y="11232"/>
                </a:lnTo>
                <a:lnTo>
                  <a:pt x="9175" y="0"/>
                </a:lnTo>
                <a:lnTo>
                  <a:pt x="21549" y="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miter/>
          </a:ln>
          <a:effectLst/>
        </p:spPr>
        <p:txBody>
          <a:bodyPr vert="horz" wrap="square" lIns="0" tIns="0" rIns="0" bIns="0" rtlCol="0" anchor="t"/>
          <a:lstStyle/>
          <a:p>
            <a:pPr algn="l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60400" y="3690117"/>
            <a:ext cx="4414799" cy="718807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>
            <a:noFill/>
            <a:miter/>
          </a:ln>
          <a:effectLst/>
        </p:spPr>
        <p:txBody>
          <a:bodyPr vert="horz" wrap="square" lIns="0" tIns="0" rIns="0" bIns="0" rtlCol="0" anchor="t"/>
          <a:lstStyle/>
          <a:p>
            <a:pPr algn="l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4225815" y="3156156"/>
            <a:ext cx="1758115" cy="1253088"/>
          </a:xfrm>
          <a:custGeom>
            <a:avLst/>
            <a:gdLst/>
            <a:ahLst/>
            <a:cxnLst/>
            <a:rect l="0" t="0" r="r" b="b"/>
            <a:pathLst>
              <a:path w="21600" h="21600" extrusionOk="0">
                <a:moveTo>
                  <a:pt x="51" y="21600"/>
                </a:moveTo>
                <a:lnTo>
                  <a:pt x="0" y="21528"/>
                </a:lnTo>
                <a:lnTo>
                  <a:pt x="14199" y="1629"/>
                </a:lnTo>
                <a:lnTo>
                  <a:pt x="13033" y="0"/>
                </a:lnTo>
                <a:lnTo>
                  <a:pt x="13089" y="6"/>
                </a:lnTo>
                <a:lnTo>
                  <a:pt x="13087" y="3"/>
                </a:lnTo>
                <a:lnTo>
                  <a:pt x="13085" y="0"/>
                </a:lnTo>
                <a:lnTo>
                  <a:pt x="21600" y="0"/>
                </a:lnTo>
                <a:lnTo>
                  <a:pt x="21600" y="11997"/>
                </a:lnTo>
                <a:lnTo>
                  <a:pt x="20439" y="10368"/>
                </a:lnTo>
                <a:lnTo>
                  <a:pt x="12425" y="21600"/>
                </a:lnTo>
                <a:lnTo>
                  <a:pt x="51" y="2160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miter/>
          </a:ln>
          <a:effectLst/>
        </p:spPr>
        <p:txBody>
          <a:bodyPr vert="horz" wrap="square" lIns="0" tIns="0" rIns="0" bIns="0" rtlCol="0" anchor="t"/>
          <a:lstStyle/>
          <a:p>
            <a:pPr algn="l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7104101" y="3690117"/>
            <a:ext cx="4414799" cy="718807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/>
          </a:ln>
          <a:effectLst/>
        </p:spPr>
        <p:txBody>
          <a:bodyPr vert="horz" wrap="square" lIns="0" tIns="0" rIns="0" bIns="0" rtlCol="0" anchor="t"/>
          <a:lstStyle/>
          <a:p>
            <a:pPr algn="l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6208071" y="3156156"/>
            <a:ext cx="1758115" cy="1253088"/>
          </a:xfrm>
          <a:custGeom>
            <a:avLst/>
            <a:gdLst/>
            <a:ahLst/>
            <a:cxnLst/>
            <a:rect l="0" t="0" r="r" b="b"/>
            <a:pathLst>
              <a:path w="21600" h="21600" extrusionOk="0">
                <a:moveTo>
                  <a:pt x="21549" y="21600"/>
                </a:moveTo>
                <a:lnTo>
                  <a:pt x="21600" y="21528"/>
                </a:lnTo>
                <a:lnTo>
                  <a:pt x="7401" y="1629"/>
                </a:lnTo>
                <a:lnTo>
                  <a:pt x="8567" y="0"/>
                </a:lnTo>
                <a:lnTo>
                  <a:pt x="8511" y="6"/>
                </a:lnTo>
                <a:lnTo>
                  <a:pt x="8513" y="3"/>
                </a:lnTo>
                <a:lnTo>
                  <a:pt x="8515" y="0"/>
                </a:lnTo>
                <a:lnTo>
                  <a:pt x="0" y="0"/>
                </a:lnTo>
                <a:lnTo>
                  <a:pt x="0" y="11997"/>
                </a:lnTo>
                <a:lnTo>
                  <a:pt x="1161" y="10368"/>
                </a:lnTo>
                <a:lnTo>
                  <a:pt x="9175" y="21600"/>
                </a:lnTo>
                <a:lnTo>
                  <a:pt x="21549" y="21600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miter/>
          </a:ln>
          <a:effectLst/>
        </p:spPr>
        <p:txBody>
          <a:bodyPr vert="horz" wrap="square" lIns="0" tIns="0" rIns="0" bIns="0" rtlCol="0" anchor="t"/>
          <a:lstStyle/>
          <a:p>
            <a:pPr algn="l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5318584" y="2228520"/>
            <a:ext cx="298332" cy="275977"/>
          </a:xfrm>
          <a:custGeom>
            <a:avLst/>
            <a:gdLst>
              <a:gd name="connsiteX0" fmla="*/ 2136435 w 5834559"/>
              <a:gd name="connsiteY0" fmla="*/ 643126 h 5397372"/>
              <a:gd name="connsiteX1" fmla="*/ 3716657 w 5834559"/>
              <a:gd name="connsiteY1" fmla="*/ 643126 h 5397372"/>
              <a:gd name="connsiteX2" fmla="*/ 3716657 w 5834559"/>
              <a:gd name="connsiteY2" fmla="*/ 1064855 h 5397372"/>
              <a:gd name="connsiteX3" fmla="*/ 2136435 w 5834559"/>
              <a:gd name="connsiteY3" fmla="*/ 1064855 h 5397372"/>
              <a:gd name="connsiteX4" fmla="*/ 693741 w 5834559"/>
              <a:gd name="connsiteY4" fmla="*/ 643126 h 5397372"/>
              <a:gd name="connsiteX5" fmla="*/ 1550121 w 5834559"/>
              <a:gd name="connsiteY5" fmla="*/ 643126 h 5397372"/>
              <a:gd name="connsiteX6" fmla="*/ 1550121 w 5834559"/>
              <a:gd name="connsiteY6" fmla="*/ 1064855 h 5397372"/>
              <a:gd name="connsiteX7" fmla="*/ 693741 w 5834559"/>
              <a:gd name="connsiteY7" fmla="*/ 1064855 h 5397372"/>
              <a:gd name="connsiteX8" fmla="*/ 421729 w 5834559"/>
              <a:gd name="connsiteY8" fmla="*/ 1336867 h 5397372"/>
              <a:gd name="connsiteX9" fmla="*/ 421729 w 5834559"/>
              <a:gd name="connsiteY9" fmla="*/ 2079805 h 5397372"/>
              <a:gd name="connsiteX10" fmla="*/ 5412133 w 5834559"/>
              <a:gd name="connsiteY10" fmla="*/ 2079805 h 5397372"/>
              <a:gd name="connsiteX11" fmla="*/ 5412133 w 5834559"/>
              <a:gd name="connsiteY11" fmla="*/ 1336867 h 5397372"/>
              <a:gd name="connsiteX12" fmla="*/ 5140113 w 5834559"/>
              <a:gd name="connsiteY12" fmla="*/ 1064855 h 5397372"/>
              <a:gd name="connsiteX13" fmla="*/ 4302971 w 5834559"/>
              <a:gd name="connsiteY13" fmla="*/ 1064855 h 5397372"/>
              <a:gd name="connsiteX14" fmla="*/ 4302971 w 5834559"/>
              <a:gd name="connsiteY14" fmla="*/ 643126 h 5397372"/>
              <a:gd name="connsiteX15" fmla="*/ 5140113 w 5834559"/>
              <a:gd name="connsiteY15" fmla="*/ 643126 h 5397372"/>
              <a:gd name="connsiteX16" fmla="*/ 5834559 w 5834559"/>
              <a:gd name="connsiteY16" fmla="*/ 1336867 h 5397372"/>
              <a:gd name="connsiteX17" fmla="*/ 5834559 w 5834559"/>
              <a:gd name="connsiteY17" fmla="*/ 4703631 h 5397372"/>
              <a:gd name="connsiteX18" fmla="*/ 5140818 w 5834559"/>
              <a:gd name="connsiteY18" fmla="*/ 5397372 h 5397372"/>
              <a:gd name="connsiteX19" fmla="*/ 693741 w 5834559"/>
              <a:gd name="connsiteY19" fmla="*/ 5397372 h 5397372"/>
              <a:gd name="connsiteX20" fmla="*/ 0 w 5834559"/>
              <a:gd name="connsiteY20" fmla="*/ 4703631 h 5397372"/>
              <a:gd name="connsiteX21" fmla="*/ 0 w 5834559"/>
              <a:gd name="connsiteY21" fmla="*/ 2501529 h 5397372"/>
              <a:gd name="connsiteX22" fmla="*/ 0 w 5834559"/>
              <a:gd name="connsiteY22" fmla="*/ 2079805 h 5397372"/>
              <a:gd name="connsiteX23" fmla="*/ 0 w 5834559"/>
              <a:gd name="connsiteY23" fmla="*/ 1336867 h 5397372"/>
              <a:gd name="connsiteX24" fmla="*/ 693741 w 5834559"/>
              <a:gd name="connsiteY24" fmla="*/ 643126 h 5397372"/>
              <a:gd name="connsiteX25" fmla="*/ 3997242 w 5834559"/>
              <a:gd name="connsiteY25" fmla="*/ 0 h 5397372"/>
              <a:gd name="connsiteX26" fmla="*/ 4208106 w 5834559"/>
              <a:gd name="connsiteY26" fmla="*/ 210864 h 5397372"/>
              <a:gd name="connsiteX27" fmla="*/ 4208106 w 5834559"/>
              <a:gd name="connsiteY27" fmla="*/ 1506961 h 5397372"/>
              <a:gd name="connsiteX28" fmla="*/ 3997242 w 5834559"/>
              <a:gd name="connsiteY28" fmla="*/ 1718528 h 5397372"/>
              <a:gd name="connsiteX29" fmla="*/ 3786378 w 5834559"/>
              <a:gd name="connsiteY29" fmla="*/ 1507664 h 5397372"/>
              <a:gd name="connsiteX30" fmla="*/ 3786378 w 5834559"/>
              <a:gd name="connsiteY30" fmla="*/ 210864 h 5397372"/>
              <a:gd name="connsiteX31" fmla="*/ 3997242 w 5834559"/>
              <a:gd name="connsiteY31" fmla="*/ 0 h 5397372"/>
              <a:gd name="connsiteX32" fmla="*/ 1836609 w 5834559"/>
              <a:gd name="connsiteY32" fmla="*/ 0 h 5397372"/>
              <a:gd name="connsiteX33" fmla="*/ 2047469 w 5834559"/>
              <a:gd name="connsiteY33" fmla="*/ 210864 h 5397372"/>
              <a:gd name="connsiteX34" fmla="*/ 2047469 w 5834559"/>
              <a:gd name="connsiteY34" fmla="*/ 1506961 h 5397372"/>
              <a:gd name="connsiteX35" fmla="*/ 1836609 w 5834559"/>
              <a:gd name="connsiteY35" fmla="*/ 1718528 h 5397372"/>
              <a:gd name="connsiteX36" fmla="*/ 1625745 w 5834559"/>
              <a:gd name="connsiteY36" fmla="*/ 1507664 h 5397372"/>
              <a:gd name="connsiteX37" fmla="*/ 1625745 w 5834559"/>
              <a:gd name="connsiteY37" fmla="*/ 210864 h 5397372"/>
              <a:gd name="connsiteX38" fmla="*/ 1836609 w 5834559"/>
              <a:gd name="connsiteY38" fmla="*/ 0 h 5397372"/>
            </a:gdLst>
            <a:ahLst/>
            <a:cxnLst/>
            <a:rect l="l" t="t" r="r" b="b"/>
            <a:pathLst>
              <a:path w="5834559" h="5397372">
                <a:moveTo>
                  <a:pt x="2136435" y="643126"/>
                </a:moveTo>
                <a:lnTo>
                  <a:pt x="3716657" y="643126"/>
                </a:lnTo>
                <a:lnTo>
                  <a:pt x="3716657" y="1064855"/>
                </a:lnTo>
                <a:lnTo>
                  <a:pt x="2136435" y="1064855"/>
                </a:lnTo>
                <a:close/>
                <a:moveTo>
                  <a:pt x="693741" y="643126"/>
                </a:moveTo>
                <a:lnTo>
                  <a:pt x="1550121" y="643126"/>
                </a:lnTo>
                <a:lnTo>
                  <a:pt x="1550121" y="1064855"/>
                </a:lnTo>
                <a:lnTo>
                  <a:pt x="693741" y="1064855"/>
                </a:lnTo>
                <a:cubicBezTo>
                  <a:pt x="543320" y="1064855"/>
                  <a:pt x="421729" y="1187151"/>
                  <a:pt x="421729" y="1336867"/>
                </a:cubicBezTo>
                <a:lnTo>
                  <a:pt x="421729" y="2079805"/>
                </a:lnTo>
                <a:lnTo>
                  <a:pt x="5412133" y="2079805"/>
                </a:lnTo>
                <a:lnTo>
                  <a:pt x="5412133" y="1336867"/>
                </a:lnTo>
                <a:cubicBezTo>
                  <a:pt x="5412133" y="1186446"/>
                  <a:pt x="5289830" y="1064855"/>
                  <a:pt x="5140113" y="1064855"/>
                </a:cubicBezTo>
                <a:lnTo>
                  <a:pt x="4302971" y="1064855"/>
                </a:lnTo>
                <a:lnTo>
                  <a:pt x="4302971" y="643126"/>
                </a:lnTo>
                <a:lnTo>
                  <a:pt x="5140113" y="643126"/>
                </a:lnTo>
                <a:cubicBezTo>
                  <a:pt x="5523184" y="643126"/>
                  <a:pt x="5833854" y="953797"/>
                  <a:pt x="5834559" y="1336867"/>
                </a:cubicBezTo>
                <a:lnTo>
                  <a:pt x="5834559" y="4703631"/>
                </a:lnTo>
                <a:cubicBezTo>
                  <a:pt x="5834559" y="5085292"/>
                  <a:pt x="5522479" y="5397372"/>
                  <a:pt x="5140818" y="5397372"/>
                </a:cubicBezTo>
                <a:lnTo>
                  <a:pt x="693741" y="5397372"/>
                </a:lnTo>
                <a:cubicBezTo>
                  <a:pt x="312080" y="5397372"/>
                  <a:pt x="0" y="5085292"/>
                  <a:pt x="0" y="4703631"/>
                </a:cubicBezTo>
                <a:lnTo>
                  <a:pt x="0" y="2501529"/>
                </a:lnTo>
                <a:lnTo>
                  <a:pt x="0" y="2079805"/>
                </a:lnTo>
                <a:lnTo>
                  <a:pt x="0" y="1336867"/>
                </a:lnTo>
                <a:cubicBezTo>
                  <a:pt x="0" y="953797"/>
                  <a:pt x="310671" y="643126"/>
                  <a:pt x="693741" y="643126"/>
                </a:cubicBezTo>
                <a:close/>
                <a:moveTo>
                  <a:pt x="3997242" y="0"/>
                </a:moveTo>
                <a:cubicBezTo>
                  <a:pt x="4113920" y="0"/>
                  <a:pt x="4208106" y="94186"/>
                  <a:pt x="4208106" y="210864"/>
                </a:cubicBezTo>
                <a:lnTo>
                  <a:pt x="4208106" y="1506961"/>
                </a:lnTo>
                <a:cubicBezTo>
                  <a:pt x="4208106" y="1623639"/>
                  <a:pt x="4113920" y="1718528"/>
                  <a:pt x="3997242" y="1718528"/>
                </a:cubicBezTo>
                <a:cubicBezTo>
                  <a:pt x="3880564" y="1718528"/>
                  <a:pt x="3786378" y="1624342"/>
                  <a:pt x="3786378" y="1507664"/>
                </a:cubicBezTo>
                <a:lnTo>
                  <a:pt x="3786378" y="210864"/>
                </a:lnTo>
                <a:cubicBezTo>
                  <a:pt x="3786378" y="94186"/>
                  <a:pt x="3880564" y="0"/>
                  <a:pt x="3997242" y="0"/>
                </a:cubicBezTo>
                <a:close/>
                <a:moveTo>
                  <a:pt x="1836609" y="0"/>
                </a:moveTo>
                <a:cubicBezTo>
                  <a:pt x="1953287" y="0"/>
                  <a:pt x="2047469" y="94186"/>
                  <a:pt x="2047469" y="210864"/>
                </a:cubicBezTo>
                <a:lnTo>
                  <a:pt x="2047469" y="1506961"/>
                </a:lnTo>
                <a:cubicBezTo>
                  <a:pt x="2047469" y="1623639"/>
                  <a:pt x="1953287" y="1718528"/>
                  <a:pt x="1836609" y="1718528"/>
                </a:cubicBezTo>
                <a:cubicBezTo>
                  <a:pt x="1719932" y="1718528"/>
                  <a:pt x="1625745" y="1624342"/>
                  <a:pt x="1625745" y="1507664"/>
                </a:cubicBezTo>
                <a:lnTo>
                  <a:pt x="1625745" y="210864"/>
                </a:lnTo>
                <a:cubicBezTo>
                  <a:pt x="1625745" y="94186"/>
                  <a:pt x="1719932" y="0"/>
                  <a:pt x="1836609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6560520" y="2235917"/>
            <a:ext cx="298332" cy="261185"/>
          </a:xfrm>
          <a:custGeom>
            <a:avLst/>
            <a:gdLst>
              <a:gd name="connsiteX0" fmla="*/ 411293 w 822401"/>
              <a:gd name="connsiteY0" fmla="*/ 234366 h 720000"/>
              <a:gd name="connsiteX1" fmla="*/ 536928 w 822401"/>
              <a:gd name="connsiteY1" fmla="*/ 360000 h 720000"/>
              <a:gd name="connsiteX2" fmla="*/ 411293 w 822401"/>
              <a:gd name="connsiteY2" fmla="*/ 485635 h 720000"/>
              <a:gd name="connsiteX3" fmla="*/ 285659 w 822401"/>
              <a:gd name="connsiteY3" fmla="*/ 360000 h 720000"/>
              <a:gd name="connsiteX4" fmla="*/ 411293 w 822401"/>
              <a:gd name="connsiteY4" fmla="*/ 234366 h 720000"/>
              <a:gd name="connsiteX5" fmla="*/ 411293 w 822401"/>
              <a:gd name="connsiteY5" fmla="*/ 178938 h 720000"/>
              <a:gd name="connsiteX6" fmla="*/ 230231 w 822401"/>
              <a:gd name="connsiteY6" fmla="*/ 360000 h 720000"/>
              <a:gd name="connsiteX7" fmla="*/ 411293 w 822401"/>
              <a:gd name="connsiteY7" fmla="*/ 541063 h 720000"/>
              <a:gd name="connsiteX8" fmla="*/ 592355 w 822401"/>
              <a:gd name="connsiteY8" fmla="*/ 360000 h 720000"/>
              <a:gd name="connsiteX9" fmla="*/ 411293 w 822401"/>
              <a:gd name="connsiteY9" fmla="*/ 178938 h 720000"/>
              <a:gd name="connsiteX10" fmla="*/ 219884 w 822401"/>
              <a:gd name="connsiteY10" fmla="*/ 0 h 720000"/>
              <a:gd name="connsiteX11" fmla="*/ 602517 w 822401"/>
              <a:gd name="connsiteY11" fmla="*/ 0 h 720000"/>
              <a:gd name="connsiteX12" fmla="*/ 627275 w 822401"/>
              <a:gd name="connsiteY12" fmla="*/ 14319 h 720000"/>
              <a:gd name="connsiteX13" fmla="*/ 818591 w 822401"/>
              <a:gd name="connsiteY13" fmla="*/ 345682 h 720000"/>
              <a:gd name="connsiteX14" fmla="*/ 818591 w 822401"/>
              <a:gd name="connsiteY14" fmla="*/ 374319 h 720000"/>
              <a:gd name="connsiteX15" fmla="*/ 627367 w 822401"/>
              <a:gd name="connsiteY15" fmla="*/ 705682 h 720000"/>
              <a:gd name="connsiteX16" fmla="*/ 602609 w 822401"/>
              <a:gd name="connsiteY16" fmla="*/ 720000 h 720000"/>
              <a:gd name="connsiteX17" fmla="*/ 219977 w 822401"/>
              <a:gd name="connsiteY17" fmla="*/ 720000 h 720000"/>
              <a:gd name="connsiteX18" fmla="*/ 195219 w 822401"/>
              <a:gd name="connsiteY18" fmla="*/ 705682 h 720000"/>
              <a:gd name="connsiteX19" fmla="*/ 3811 w 822401"/>
              <a:gd name="connsiteY19" fmla="*/ 374319 h 720000"/>
              <a:gd name="connsiteX20" fmla="*/ 3811 w 822401"/>
              <a:gd name="connsiteY20" fmla="*/ 345682 h 720000"/>
              <a:gd name="connsiteX21" fmla="*/ 195127 w 822401"/>
              <a:gd name="connsiteY21" fmla="*/ 14319 h 720000"/>
              <a:gd name="connsiteX22" fmla="*/ 219884 w 822401"/>
              <a:gd name="connsiteY22" fmla="*/ 0 h 720000"/>
            </a:gdLst>
            <a:ahLst/>
            <a:cxnLst/>
            <a:rect l="l" t="t" r="r" b="b"/>
            <a:pathLst>
              <a:path w="822401" h="720000">
                <a:moveTo>
                  <a:pt x="411293" y="234366"/>
                </a:moveTo>
                <a:cubicBezTo>
                  <a:pt x="480577" y="234366"/>
                  <a:pt x="536928" y="290716"/>
                  <a:pt x="536928" y="360000"/>
                </a:cubicBezTo>
                <a:cubicBezTo>
                  <a:pt x="536928" y="429284"/>
                  <a:pt x="480577" y="485635"/>
                  <a:pt x="411293" y="485635"/>
                </a:cubicBezTo>
                <a:cubicBezTo>
                  <a:pt x="342009" y="485635"/>
                  <a:pt x="285659" y="429284"/>
                  <a:pt x="285659" y="360000"/>
                </a:cubicBezTo>
                <a:cubicBezTo>
                  <a:pt x="285659" y="290716"/>
                  <a:pt x="342009" y="234366"/>
                  <a:pt x="411293" y="234366"/>
                </a:cubicBezTo>
                <a:close/>
                <a:moveTo>
                  <a:pt x="411293" y="178938"/>
                </a:moveTo>
                <a:cubicBezTo>
                  <a:pt x="311432" y="178938"/>
                  <a:pt x="230231" y="260139"/>
                  <a:pt x="230231" y="360000"/>
                </a:cubicBezTo>
                <a:cubicBezTo>
                  <a:pt x="230231" y="459862"/>
                  <a:pt x="311432" y="541063"/>
                  <a:pt x="411293" y="541063"/>
                </a:cubicBezTo>
                <a:cubicBezTo>
                  <a:pt x="511154" y="541063"/>
                  <a:pt x="592355" y="459862"/>
                  <a:pt x="592355" y="360000"/>
                </a:cubicBezTo>
                <a:cubicBezTo>
                  <a:pt x="592355" y="260139"/>
                  <a:pt x="511154" y="178938"/>
                  <a:pt x="411293" y="178938"/>
                </a:cubicBezTo>
                <a:close/>
                <a:moveTo>
                  <a:pt x="219884" y="0"/>
                </a:moveTo>
                <a:lnTo>
                  <a:pt x="602517" y="0"/>
                </a:lnTo>
                <a:cubicBezTo>
                  <a:pt x="612679" y="0"/>
                  <a:pt x="622194" y="5451"/>
                  <a:pt x="627275" y="14319"/>
                </a:cubicBezTo>
                <a:lnTo>
                  <a:pt x="818591" y="345682"/>
                </a:lnTo>
                <a:cubicBezTo>
                  <a:pt x="823672" y="354550"/>
                  <a:pt x="823672" y="365451"/>
                  <a:pt x="818591" y="374319"/>
                </a:cubicBezTo>
                <a:lnTo>
                  <a:pt x="627367" y="705682"/>
                </a:lnTo>
                <a:cubicBezTo>
                  <a:pt x="622286" y="714550"/>
                  <a:pt x="612771" y="720000"/>
                  <a:pt x="602609" y="720000"/>
                </a:cubicBezTo>
                <a:lnTo>
                  <a:pt x="219977" y="720000"/>
                </a:lnTo>
                <a:cubicBezTo>
                  <a:pt x="209815" y="720000"/>
                  <a:pt x="200300" y="714550"/>
                  <a:pt x="195219" y="705682"/>
                </a:cubicBezTo>
                <a:lnTo>
                  <a:pt x="3811" y="374319"/>
                </a:lnTo>
                <a:cubicBezTo>
                  <a:pt x="-1270" y="365543"/>
                  <a:pt x="-1270" y="354550"/>
                  <a:pt x="3811" y="345682"/>
                </a:cubicBezTo>
                <a:lnTo>
                  <a:pt x="195127" y="14319"/>
                </a:lnTo>
                <a:cubicBezTo>
                  <a:pt x="200208" y="5451"/>
                  <a:pt x="209723" y="0"/>
                  <a:pt x="219884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5324299" y="3492412"/>
            <a:ext cx="286902" cy="298332"/>
          </a:xfrm>
          <a:custGeom>
            <a:avLst/>
            <a:gdLst>
              <a:gd name="connsiteX0" fmla="*/ 198153 w 692417"/>
              <a:gd name="connsiteY0" fmla="*/ 663680 h 720001"/>
              <a:gd name="connsiteX1" fmla="*/ 239787 w 692417"/>
              <a:gd name="connsiteY1" fmla="*/ 663680 h 720001"/>
              <a:gd name="connsiteX2" fmla="*/ 295235 w 692417"/>
              <a:gd name="connsiteY2" fmla="*/ 663680 h 720001"/>
              <a:gd name="connsiteX3" fmla="*/ 397182 w 692417"/>
              <a:gd name="connsiteY3" fmla="*/ 663680 h 720001"/>
              <a:gd name="connsiteX4" fmla="*/ 452630 w 692417"/>
              <a:gd name="connsiteY4" fmla="*/ 663680 h 720001"/>
              <a:gd name="connsiteX5" fmla="*/ 494264 w 692417"/>
              <a:gd name="connsiteY5" fmla="*/ 663680 h 720001"/>
              <a:gd name="connsiteX6" fmla="*/ 522425 w 692417"/>
              <a:gd name="connsiteY6" fmla="*/ 691841 h 720001"/>
              <a:gd name="connsiteX7" fmla="*/ 494264 w 692417"/>
              <a:gd name="connsiteY7" fmla="*/ 720001 h 720001"/>
              <a:gd name="connsiteX8" fmla="*/ 452630 w 692417"/>
              <a:gd name="connsiteY8" fmla="*/ 720001 h 720001"/>
              <a:gd name="connsiteX9" fmla="*/ 397182 w 692417"/>
              <a:gd name="connsiteY9" fmla="*/ 720001 h 720001"/>
              <a:gd name="connsiteX10" fmla="*/ 295235 w 692417"/>
              <a:gd name="connsiteY10" fmla="*/ 720001 h 720001"/>
              <a:gd name="connsiteX11" fmla="*/ 239787 w 692417"/>
              <a:gd name="connsiteY11" fmla="*/ 720001 h 720001"/>
              <a:gd name="connsiteX12" fmla="*/ 198153 w 692417"/>
              <a:gd name="connsiteY12" fmla="*/ 720001 h 720001"/>
              <a:gd name="connsiteX13" fmla="*/ 169992 w 692417"/>
              <a:gd name="connsiteY13" fmla="*/ 691841 h 720001"/>
              <a:gd name="connsiteX14" fmla="*/ 198153 w 692417"/>
              <a:gd name="connsiteY14" fmla="*/ 663680 h 720001"/>
              <a:gd name="connsiteX15" fmla="*/ 154400 w 692417"/>
              <a:gd name="connsiteY15" fmla="*/ 572143 h 720001"/>
              <a:gd name="connsiteX16" fmla="*/ 154241 w 692417"/>
              <a:gd name="connsiteY16" fmla="*/ 572597 h 720001"/>
              <a:gd name="connsiteX17" fmla="*/ 160423 w 692417"/>
              <a:gd name="connsiteY17" fmla="*/ 572597 h 720001"/>
              <a:gd name="connsiteX18" fmla="*/ 346215 w 692417"/>
              <a:gd name="connsiteY18" fmla="*/ 0 h 720001"/>
              <a:gd name="connsiteX19" fmla="*/ 456041 w 692417"/>
              <a:gd name="connsiteY19" fmla="*/ 22341 h 720001"/>
              <a:gd name="connsiteX20" fmla="*/ 545873 w 692417"/>
              <a:gd name="connsiteY20" fmla="*/ 82980 h 720001"/>
              <a:gd name="connsiteX21" fmla="*/ 606513 w 692417"/>
              <a:gd name="connsiteY21" fmla="*/ 172812 h 720001"/>
              <a:gd name="connsiteX22" fmla="*/ 628853 w 692417"/>
              <a:gd name="connsiteY22" fmla="*/ 282638 h 720001"/>
              <a:gd name="connsiteX23" fmla="*/ 628853 w 692417"/>
              <a:gd name="connsiteY23" fmla="*/ 493091 h 720001"/>
              <a:gd name="connsiteX24" fmla="*/ 687990 w 692417"/>
              <a:gd name="connsiteY24" fmla="*/ 585551 h 720001"/>
              <a:gd name="connsiteX25" fmla="*/ 688929 w 692417"/>
              <a:gd name="connsiteY25" fmla="*/ 614275 h 720001"/>
              <a:gd name="connsiteX26" fmla="*/ 664336 w 692417"/>
              <a:gd name="connsiteY26" fmla="*/ 628918 h 720001"/>
              <a:gd name="connsiteX27" fmla="*/ 28189 w 692417"/>
              <a:gd name="connsiteY27" fmla="*/ 628918 h 720001"/>
              <a:gd name="connsiteX28" fmla="*/ 3596 w 692417"/>
              <a:gd name="connsiteY28" fmla="*/ 614462 h 720001"/>
              <a:gd name="connsiteX29" fmla="*/ 4159 w 692417"/>
              <a:gd name="connsiteY29" fmla="*/ 585927 h 720001"/>
              <a:gd name="connsiteX30" fmla="*/ 63578 w 692417"/>
              <a:gd name="connsiteY30" fmla="*/ 489336 h 720001"/>
              <a:gd name="connsiteX31" fmla="*/ 63578 w 692417"/>
              <a:gd name="connsiteY31" fmla="*/ 282638 h 720001"/>
              <a:gd name="connsiteX32" fmla="*/ 85919 w 692417"/>
              <a:gd name="connsiteY32" fmla="*/ 172812 h 720001"/>
              <a:gd name="connsiteX33" fmla="*/ 146558 w 692417"/>
              <a:gd name="connsiteY33" fmla="*/ 82980 h 720001"/>
              <a:gd name="connsiteX34" fmla="*/ 236389 w 692417"/>
              <a:gd name="connsiteY34" fmla="*/ 22341 h 720001"/>
              <a:gd name="connsiteX35" fmla="*/ 346215 w 692417"/>
              <a:gd name="connsiteY35" fmla="*/ 0 h 720001"/>
            </a:gdLst>
            <a:ahLst/>
            <a:cxnLst/>
            <a:rect l="l" t="t" r="r" b="b"/>
            <a:pathLst>
              <a:path w="692417" h="720001">
                <a:moveTo>
                  <a:pt x="198153" y="663680"/>
                </a:moveTo>
                <a:lnTo>
                  <a:pt x="239787" y="663680"/>
                </a:lnTo>
                <a:lnTo>
                  <a:pt x="295235" y="663680"/>
                </a:lnTo>
                <a:lnTo>
                  <a:pt x="397182" y="663680"/>
                </a:lnTo>
                <a:lnTo>
                  <a:pt x="452630" y="663680"/>
                </a:lnTo>
                <a:lnTo>
                  <a:pt x="494264" y="663680"/>
                </a:lnTo>
                <a:cubicBezTo>
                  <a:pt x="509847" y="663680"/>
                  <a:pt x="522425" y="676259"/>
                  <a:pt x="522425" y="691841"/>
                </a:cubicBezTo>
                <a:cubicBezTo>
                  <a:pt x="522425" y="707423"/>
                  <a:pt x="509753" y="720001"/>
                  <a:pt x="494264" y="720001"/>
                </a:cubicBezTo>
                <a:lnTo>
                  <a:pt x="452630" y="720001"/>
                </a:lnTo>
                <a:lnTo>
                  <a:pt x="397182" y="720001"/>
                </a:lnTo>
                <a:lnTo>
                  <a:pt x="295235" y="720001"/>
                </a:lnTo>
                <a:lnTo>
                  <a:pt x="239787" y="720001"/>
                </a:lnTo>
                <a:lnTo>
                  <a:pt x="198153" y="720001"/>
                </a:lnTo>
                <a:cubicBezTo>
                  <a:pt x="182571" y="720001"/>
                  <a:pt x="169992" y="707423"/>
                  <a:pt x="169992" y="691841"/>
                </a:cubicBezTo>
                <a:cubicBezTo>
                  <a:pt x="169992" y="676259"/>
                  <a:pt x="182571" y="663680"/>
                  <a:pt x="198153" y="663680"/>
                </a:cubicBezTo>
                <a:close/>
                <a:moveTo>
                  <a:pt x="154400" y="572143"/>
                </a:moveTo>
                <a:lnTo>
                  <a:pt x="154241" y="572597"/>
                </a:lnTo>
                <a:lnTo>
                  <a:pt x="160423" y="572597"/>
                </a:lnTo>
                <a:close/>
                <a:moveTo>
                  <a:pt x="346215" y="0"/>
                </a:moveTo>
                <a:cubicBezTo>
                  <a:pt x="384232" y="0"/>
                  <a:pt x="421122" y="7510"/>
                  <a:pt x="456041" y="22341"/>
                </a:cubicBezTo>
                <a:cubicBezTo>
                  <a:pt x="489646" y="36609"/>
                  <a:pt x="519872" y="57072"/>
                  <a:pt x="545873" y="82980"/>
                </a:cubicBezTo>
                <a:cubicBezTo>
                  <a:pt x="571875" y="108981"/>
                  <a:pt x="592245" y="139207"/>
                  <a:pt x="606513" y="172812"/>
                </a:cubicBezTo>
                <a:cubicBezTo>
                  <a:pt x="621344" y="207637"/>
                  <a:pt x="628853" y="244621"/>
                  <a:pt x="628853" y="282638"/>
                </a:cubicBezTo>
                <a:lnTo>
                  <a:pt x="628853" y="493091"/>
                </a:lnTo>
                <a:lnTo>
                  <a:pt x="687990" y="585551"/>
                </a:lnTo>
                <a:cubicBezTo>
                  <a:pt x="693528" y="594187"/>
                  <a:pt x="693904" y="605263"/>
                  <a:pt x="688929" y="614275"/>
                </a:cubicBezTo>
                <a:cubicBezTo>
                  <a:pt x="684048" y="623286"/>
                  <a:pt x="674567" y="628918"/>
                  <a:pt x="664336" y="628918"/>
                </a:cubicBezTo>
                <a:lnTo>
                  <a:pt x="28189" y="628918"/>
                </a:lnTo>
                <a:cubicBezTo>
                  <a:pt x="17958" y="628918"/>
                  <a:pt x="8571" y="623380"/>
                  <a:pt x="3596" y="614462"/>
                </a:cubicBezTo>
                <a:cubicBezTo>
                  <a:pt x="-1380" y="605545"/>
                  <a:pt x="-1192" y="594656"/>
                  <a:pt x="4159" y="585927"/>
                </a:cubicBezTo>
                <a:lnTo>
                  <a:pt x="63578" y="489336"/>
                </a:lnTo>
                <a:lnTo>
                  <a:pt x="63578" y="282638"/>
                </a:lnTo>
                <a:cubicBezTo>
                  <a:pt x="63578" y="244621"/>
                  <a:pt x="71087" y="207731"/>
                  <a:pt x="85919" y="172812"/>
                </a:cubicBezTo>
                <a:cubicBezTo>
                  <a:pt x="100186" y="139207"/>
                  <a:pt x="120650" y="108981"/>
                  <a:pt x="146558" y="82980"/>
                </a:cubicBezTo>
                <a:cubicBezTo>
                  <a:pt x="172465" y="56978"/>
                  <a:pt x="202785" y="36609"/>
                  <a:pt x="236389" y="22341"/>
                </a:cubicBezTo>
                <a:cubicBezTo>
                  <a:pt x="271214" y="7510"/>
                  <a:pt x="308199" y="0"/>
                  <a:pt x="346215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6560520" y="3500987"/>
            <a:ext cx="298332" cy="281184"/>
          </a:xfrm>
          <a:custGeom>
            <a:avLst/>
            <a:gdLst>
              <a:gd name="connsiteX0" fmla="*/ 565749 w 763907"/>
              <a:gd name="connsiteY0" fmla="*/ 529546 h 720000"/>
              <a:gd name="connsiteX1" fmla="*/ 585849 w 763907"/>
              <a:gd name="connsiteY1" fmla="*/ 537865 h 720000"/>
              <a:gd name="connsiteX2" fmla="*/ 698960 w 763907"/>
              <a:gd name="connsiteY2" fmla="*/ 650977 h 720000"/>
              <a:gd name="connsiteX3" fmla="*/ 698960 w 763907"/>
              <a:gd name="connsiteY3" fmla="*/ 691178 h 720000"/>
              <a:gd name="connsiteX4" fmla="*/ 678860 w 763907"/>
              <a:gd name="connsiteY4" fmla="*/ 699521 h 720000"/>
              <a:gd name="connsiteX5" fmla="*/ 658760 w 763907"/>
              <a:gd name="connsiteY5" fmla="*/ 691178 h 720000"/>
              <a:gd name="connsiteX6" fmla="*/ 545648 w 763907"/>
              <a:gd name="connsiteY6" fmla="*/ 578066 h 720000"/>
              <a:gd name="connsiteX7" fmla="*/ 545648 w 763907"/>
              <a:gd name="connsiteY7" fmla="*/ 537865 h 720000"/>
              <a:gd name="connsiteX8" fmla="*/ 565749 w 763907"/>
              <a:gd name="connsiteY8" fmla="*/ 529546 h 720000"/>
              <a:gd name="connsiteX9" fmla="*/ 565749 w 763907"/>
              <a:gd name="connsiteY9" fmla="*/ 359807 h 720000"/>
              <a:gd name="connsiteX10" fmla="*/ 735464 w 763907"/>
              <a:gd name="connsiteY10" fmla="*/ 359807 h 720000"/>
              <a:gd name="connsiteX11" fmla="*/ 763907 w 763907"/>
              <a:gd name="connsiteY11" fmla="*/ 388251 h 720000"/>
              <a:gd name="connsiteX12" fmla="*/ 735464 w 763907"/>
              <a:gd name="connsiteY12" fmla="*/ 416695 h 720000"/>
              <a:gd name="connsiteX13" fmla="*/ 565749 w 763907"/>
              <a:gd name="connsiteY13" fmla="*/ 416695 h 720000"/>
              <a:gd name="connsiteX14" fmla="*/ 537305 w 763907"/>
              <a:gd name="connsiteY14" fmla="*/ 388251 h 720000"/>
              <a:gd name="connsiteX15" fmla="*/ 565749 w 763907"/>
              <a:gd name="connsiteY15" fmla="*/ 359807 h 720000"/>
              <a:gd name="connsiteX16" fmla="*/ 678860 w 763907"/>
              <a:gd name="connsiteY16" fmla="*/ 77005 h 720000"/>
              <a:gd name="connsiteX17" fmla="*/ 698960 w 763907"/>
              <a:gd name="connsiteY17" fmla="*/ 85325 h 720000"/>
              <a:gd name="connsiteX18" fmla="*/ 698960 w 763907"/>
              <a:gd name="connsiteY18" fmla="*/ 125525 h 720000"/>
              <a:gd name="connsiteX19" fmla="*/ 585849 w 763907"/>
              <a:gd name="connsiteY19" fmla="*/ 238636 h 720000"/>
              <a:gd name="connsiteX20" fmla="*/ 565749 w 763907"/>
              <a:gd name="connsiteY20" fmla="*/ 246980 h 720000"/>
              <a:gd name="connsiteX21" fmla="*/ 545648 w 763907"/>
              <a:gd name="connsiteY21" fmla="*/ 238636 h 720000"/>
              <a:gd name="connsiteX22" fmla="*/ 545648 w 763907"/>
              <a:gd name="connsiteY22" fmla="*/ 198436 h 720000"/>
              <a:gd name="connsiteX23" fmla="*/ 658760 w 763907"/>
              <a:gd name="connsiteY23" fmla="*/ 85325 h 720000"/>
              <a:gd name="connsiteX24" fmla="*/ 678860 w 763907"/>
              <a:gd name="connsiteY24" fmla="*/ 77005 h 720000"/>
              <a:gd name="connsiteX25" fmla="*/ 362802 w 763907"/>
              <a:gd name="connsiteY25" fmla="*/ 5 h 720000"/>
              <a:gd name="connsiteX26" fmla="*/ 422012 w 763907"/>
              <a:gd name="connsiteY26" fmla="*/ 16490 h 720000"/>
              <a:gd name="connsiteX27" fmla="*/ 481080 w 763907"/>
              <a:gd name="connsiteY27" fmla="*/ 119457 h 720000"/>
              <a:gd name="connsiteX28" fmla="*/ 481080 w 763907"/>
              <a:gd name="connsiteY28" fmla="*/ 600631 h 720000"/>
              <a:gd name="connsiteX29" fmla="*/ 422012 w 763907"/>
              <a:gd name="connsiteY29" fmla="*/ 703598 h 720000"/>
              <a:gd name="connsiteX30" fmla="*/ 361806 w 763907"/>
              <a:gd name="connsiteY30" fmla="*/ 720000 h 720000"/>
              <a:gd name="connsiteX31" fmla="*/ 303306 w 763907"/>
              <a:gd name="connsiteY31" fmla="*/ 704546 h 720000"/>
              <a:gd name="connsiteX32" fmla="*/ 60870 w 763907"/>
              <a:gd name="connsiteY32" fmla="*/ 568300 h 720000"/>
              <a:gd name="connsiteX33" fmla="*/ 0 w 763907"/>
              <a:gd name="connsiteY33" fmla="*/ 464291 h 720000"/>
              <a:gd name="connsiteX34" fmla="*/ 0 w 763907"/>
              <a:gd name="connsiteY34" fmla="*/ 255702 h 720000"/>
              <a:gd name="connsiteX35" fmla="*/ 60870 w 763907"/>
              <a:gd name="connsiteY35" fmla="*/ 151693 h 720000"/>
              <a:gd name="connsiteX36" fmla="*/ 303306 w 763907"/>
              <a:gd name="connsiteY36" fmla="*/ 15447 h 720000"/>
              <a:gd name="connsiteX37" fmla="*/ 362802 w 763907"/>
              <a:gd name="connsiteY37" fmla="*/ 5 h 720000"/>
            </a:gdLst>
            <a:ahLst/>
            <a:cxnLst/>
            <a:rect l="l" t="t" r="r" b="b"/>
            <a:pathLst>
              <a:path w="763907" h="720000">
                <a:moveTo>
                  <a:pt x="565749" y="529546"/>
                </a:moveTo>
                <a:cubicBezTo>
                  <a:pt x="573025" y="529546"/>
                  <a:pt x="580302" y="532319"/>
                  <a:pt x="585849" y="537865"/>
                </a:cubicBezTo>
                <a:lnTo>
                  <a:pt x="698960" y="650977"/>
                </a:lnTo>
                <a:cubicBezTo>
                  <a:pt x="710054" y="662070"/>
                  <a:pt x="710054" y="680084"/>
                  <a:pt x="698960" y="691178"/>
                </a:cubicBezTo>
                <a:cubicBezTo>
                  <a:pt x="693461" y="696677"/>
                  <a:pt x="686161" y="699521"/>
                  <a:pt x="678860" y="699521"/>
                </a:cubicBezTo>
                <a:cubicBezTo>
                  <a:pt x="671560" y="699521"/>
                  <a:pt x="664259" y="696771"/>
                  <a:pt x="658760" y="691178"/>
                </a:cubicBezTo>
                <a:lnTo>
                  <a:pt x="545648" y="578066"/>
                </a:lnTo>
                <a:cubicBezTo>
                  <a:pt x="534555" y="566973"/>
                  <a:pt x="534555" y="548959"/>
                  <a:pt x="545648" y="537865"/>
                </a:cubicBezTo>
                <a:cubicBezTo>
                  <a:pt x="551195" y="532319"/>
                  <a:pt x="558471" y="529546"/>
                  <a:pt x="565749" y="529546"/>
                </a:cubicBezTo>
                <a:close/>
                <a:moveTo>
                  <a:pt x="565749" y="359807"/>
                </a:moveTo>
                <a:lnTo>
                  <a:pt x="735464" y="359807"/>
                </a:lnTo>
                <a:cubicBezTo>
                  <a:pt x="751202" y="359807"/>
                  <a:pt x="763907" y="372512"/>
                  <a:pt x="763907" y="388251"/>
                </a:cubicBezTo>
                <a:cubicBezTo>
                  <a:pt x="763907" y="403990"/>
                  <a:pt x="751107" y="416695"/>
                  <a:pt x="735464" y="416695"/>
                </a:cubicBezTo>
                <a:lnTo>
                  <a:pt x="565749" y="416695"/>
                </a:lnTo>
                <a:cubicBezTo>
                  <a:pt x="550010" y="416695"/>
                  <a:pt x="537305" y="403990"/>
                  <a:pt x="537305" y="388251"/>
                </a:cubicBezTo>
                <a:cubicBezTo>
                  <a:pt x="537305" y="372512"/>
                  <a:pt x="550010" y="359807"/>
                  <a:pt x="565749" y="359807"/>
                </a:cubicBezTo>
                <a:close/>
                <a:moveTo>
                  <a:pt x="678860" y="77005"/>
                </a:moveTo>
                <a:cubicBezTo>
                  <a:pt x="686137" y="77005"/>
                  <a:pt x="693414" y="79778"/>
                  <a:pt x="698960" y="85325"/>
                </a:cubicBezTo>
                <a:cubicBezTo>
                  <a:pt x="710054" y="96418"/>
                  <a:pt x="710054" y="114432"/>
                  <a:pt x="698960" y="125525"/>
                </a:cubicBezTo>
                <a:lnTo>
                  <a:pt x="585849" y="238636"/>
                </a:lnTo>
                <a:cubicBezTo>
                  <a:pt x="580350" y="244231"/>
                  <a:pt x="573049" y="246980"/>
                  <a:pt x="565749" y="246980"/>
                </a:cubicBezTo>
                <a:cubicBezTo>
                  <a:pt x="558448" y="246980"/>
                  <a:pt x="551147" y="244231"/>
                  <a:pt x="545648" y="238636"/>
                </a:cubicBezTo>
                <a:cubicBezTo>
                  <a:pt x="534555" y="227543"/>
                  <a:pt x="534555" y="209529"/>
                  <a:pt x="545648" y="198436"/>
                </a:cubicBezTo>
                <a:lnTo>
                  <a:pt x="658760" y="85325"/>
                </a:lnTo>
                <a:cubicBezTo>
                  <a:pt x="664306" y="79778"/>
                  <a:pt x="671583" y="77005"/>
                  <a:pt x="678860" y="77005"/>
                </a:cubicBezTo>
                <a:close/>
                <a:moveTo>
                  <a:pt x="362802" y="5"/>
                </a:moveTo>
                <a:cubicBezTo>
                  <a:pt x="383186" y="183"/>
                  <a:pt x="403524" y="5682"/>
                  <a:pt x="422012" y="16490"/>
                </a:cubicBezTo>
                <a:cubicBezTo>
                  <a:pt x="458989" y="38108"/>
                  <a:pt x="481080" y="76601"/>
                  <a:pt x="481080" y="119457"/>
                </a:cubicBezTo>
                <a:lnTo>
                  <a:pt x="481080" y="600631"/>
                </a:lnTo>
                <a:cubicBezTo>
                  <a:pt x="481080" y="643486"/>
                  <a:pt x="458989" y="681980"/>
                  <a:pt x="422012" y="703598"/>
                </a:cubicBezTo>
                <a:cubicBezTo>
                  <a:pt x="403240" y="714501"/>
                  <a:pt x="382475" y="720000"/>
                  <a:pt x="361806" y="720000"/>
                </a:cubicBezTo>
                <a:cubicBezTo>
                  <a:pt x="341706" y="720000"/>
                  <a:pt x="321700" y="714881"/>
                  <a:pt x="303306" y="704546"/>
                </a:cubicBezTo>
                <a:lnTo>
                  <a:pt x="60870" y="568300"/>
                </a:lnTo>
                <a:cubicBezTo>
                  <a:pt x="23324" y="547157"/>
                  <a:pt x="0" y="507336"/>
                  <a:pt x="0" y="464291"/>
                </a:cubicBezTo>
                <a:lnTo>
                  <a:pt x="0" y="255702"/>
                </a:lnTo>
                <a:cubicBezTo>
                  <a:pt x="0" y="212657"/>
                  <a:pt x="23324" y="172742"/>
                  <a:pt x="60870" y="151693"/>
                </a:cubicBezTo>
                <a:lnTo>
                  <a:pt x="303306" y="15447"/>
                </a:lnTo>
                <a:cubicBezTo>
                  <a:pt x="321984" y="4970"/>
                  <a:pt x="342417" y="-173"/>
                  <a:pt x="362802" y="5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913366" y="1719105"/>
            <a:ext cx="3300794" cy="576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Método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7965140" y="1719105"/>
            <a:ext cx="3300794" cy="576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r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Paso 2 (Consulta)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913366" y="3761520"/>
            <a:ext cx="3300794" cy="576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Paso 1 (Baseline)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7965140" y="3761520"/>
            <a:ext cx="3300794" cy="576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r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Paso 3 (Estimación)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7478867" y="2492997"/>
            <a:ext cx="3665266" cy="1069276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t"/>
          <a:lstStyle/>
          <a:p>
            <a:pPr lvl="0"/>
            <a:r>
              <a:rPr kumimoji="1" lang="es-EC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Hablamos con el departamento de Marketing: "Nuestra meta es adquirir 20,000 nuevos usuarios el próximo trimestre."</a:t>
            </a:r>
          </a:p>
        </p:txBody>
      </p:sp>
      <p:sp>
        <p:nvSpPr>
          <p:cNvPr id="21" name="标题 1"/>
          <p:cNvSpPr txBox="1"/>
          <p:nvPr/>
        </p:nvSpPr>
        <p:spPr>
          <a:xfrm>
            <a:off x="913366" y="2499824"/>
            <a:ext cx="3665266" cy="1069276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Vincular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consumo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de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recursos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a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métricas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de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negocio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.</a:t>
            </a:r>
            <a:endParaRPr kumimoji="1" lang="zh-CN" altLang="en-US" dirty="0"/>
          </a:p>
        </p:txBody>
      </p:sp>
      <p:sp>
        <p:nvSpPr>
          <p:cNvPr id="22" name="标题 1"/>
          <p:cNvSpPr txBox="1"/>
          <p:nvPr/>
        </p:nvSpPr>
        <p:spPr>
          <a:xfrm>
            <a:off x="913366" y="4547744"/>
            <a:ext cx="3665266" cy="1069276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t"/>
          <a:lstStyle/>
          <a:p>
            <a:pPr lvl="0"/>
            <a:r>
              <a:rPr kumimoji="1" lang="es-EC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Determinamos: "Cada 1,000 usuarios nuevos en la aplicación de e-</a:t>
            </a:r>
            <a:r>
              <a:rPr kumimoji="1" lang="es-EC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commerce</a:t>
            </a:r>
            <a:r>
              <a:rPr kumimoji="1" lang="es-EC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 consumen un 5% de CPU de nuestro clúster de base de datos y 100GB de almacenamiento."</a:t>
            </a:r>
          </a:p>
        </p:txBody>
      </p:sp>
      <p:sp>
        <p:nvSpPr>
          <p:cNvPr id="23" name="标题 1"/>
          <p:cNvSpPr txBox="1"/>
          <p:nvPr/>
        </p:nvSpPr>
        <p:spPr>
          <a:xfrm>
            <a:off x="7478867" y="4547744"/>
            <a:ext cx="3665266" cy="1069276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t"/>
          <a:lstStyle/>
          <a:p>
            <a:pPr lvl="0"/>
            <a:r>
              <a:rPr kumimoji="1" lang="es-EC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Hacemos el cálculo: 20,000 usuarios = 100% de CPU adicional (necesitamos duplicar el clúster) y 2TB de almacenamiento nuevo.</a:t>
            </a:r>
          </a:p>
        </p:txBody>
      </p:sp>
      <p:sp>
        <p:nvSpPr>
          <p:cNvPr id="25" name="标题 1"/>
          <p:cNvSpPr txBox="1"/>
          <p:nvPr/>
        </p:nvSpPr>
        <p:spPr>
          <a:xfrm>
            <a:off x="711603" y="385477"/>
            <a:ext cx="9141058" cy="5232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2188" dirty="0" err="1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Modelado</a:t>
            </a:r>
            <a:r>
              <a:rPr kumimoji="1" lang="en-US" altLang="zh-CN" sz="2188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 </a:t>
            </a:r>
            <a:r>
              <a:rPr kumimoji="1" lang="en-US" altLang="zh-CN" sz="2188" dirty="0" err="1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Basado</a:t>
            </a:r>
            <a:r>
              <a:rPr kumimoji="1" lang="en-US" altLang="zh-CN" sz="2188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 </a:t>
            </a:r>
            <a:r>
              <a:rPr kumimoji="1" lang="en-US" altLang="zh-CN" sz="2188" dirty="0" err="1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en</a:t>
            </a:r>
            <a:r>
              <a:rPr kumimoji="1" lang="en-US" altLang="zh-CN" sz="2188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 </a:t>
            </a:r>
            <a:r>
              <a:rPr kumimoji="1" lang="en-US" altLang="zh-CN" sz="2188" dirty="0" err="1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el</a:t>
            </a:r>
            <a:r>
              <a:rPr kumimoji="1" lang="en-US" altLang="zh-CN" sz="2188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 </a:t>
            </a:r>
            <a:r>
              <a:rPr kumimoji="1" lang="en-US" altLang="zh-CN" sz="2188" dirty="0" err="1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Negocio</a:t>
            </a:r>
            <a:r>
              <a:rPr kumimoji="1" lang="en-US" altLang="zh-CN" sz="2188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 (Carga de </a:t>
            </a:r>
            <a:r>
              <a:rPr kumimoji="1" lang="en-US" altLang="zh-CN" sz="2188" dirty="0" err="1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Trabajo</a:t>
            </a:r>
            <a:r>
              <a:rPr kumimoji="1" lang="en-US" altLang="zh-CN" sz="2188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)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499A9052-1FA1-20F2-6987-A27B092A14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660400" y="1694325"/>
            <a:ext cx="864000" cy="864000"/>
          </a:xfrm>
          <a:prstGeom prst="roundRect">
            <a:avLst/>
          </a:prstGeom>
          <a:gradFill>
            <a:gsLst>
              <a:gs pos="100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3000000" scaled="0"/>
          </a:gradFill>
          <a:ln w="25400" cap="flat">
            <a:solidFill>
              <a:schemeClr val="bg1"/>
            </a:solidFill>
            <a:miter/>
          </a:ln>
          <a:effectLst>
            <a:outerShdw blurRad="381000" dist="127000" dir="3000000" algn="t" rotWithShape="0">
              <a:schemeClr val="accent1"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860464" y="1947663"/>
            <a:ext cx="432000" cy="357324"/>
          </a:xfrm>
          <a:custGeom>
            <a:avLst/>
            <a:gdLst>
              <a:gd name="connsiteX0" fmla="*/ 153878 w 870468"/>
              <a:gd name="connsiteY0" fmla="*/ 353026 h 720000"/>
              <a:gd name="connsiteX1" fmla="*/ 449972 w 870468"/>
              <a:gd name="connsiteY1" fmla="*/ 353026 h 720000"/>
              <a:gd name="connsiteX2" fmla="*/ 489985 w 870468"/>
              <a:gd name="connsiteY2" fmla="*/ 393039 h 720000"/>
              <a:gd name="connsiteX3" fmla="*/ 449972 w 870468"/>
              <a:gd name="connsiteY3" fmla="*/ 433051 h 720000"/>
              <a:gd name="connsiteX4" fmla="*/ 153878 w 870468"/>
              <a:gd name="connsiteY4" fmla="*/ 433051 h 720000"/>
              <a:gd name="connsiteX5" fmla="*/ 113865 w 870468"/>
              <a:gd name="connsiteY5" fmla="*/ 393039 h 720000"/>
              <a:gd name="connsiteX6" fmla="*/ 153878 w 870468"/>
              <a:gd name="connsiteY6" fmla="*/ 353026 h 720000"/>
              <a:gd name="connsiteX7" fmla="*/ 68708 w 870468"/>
              <a:gd name="connsiteY7" fmla="*/ 275858 h 720000"/>
              <a:gd name="connsiteX8" fmla="*/ 68708 w 870468"/>
              <a:gd name="connsiteY8" fmla="*/ 603735 h 720000"/>
              <a:gd name="connsiteX9" fmla="*/ 116266 w 870468"/>
              <a:gd name="connsiteY9" fmla="*/ 651293 h 720000"/>
              <a:gd name="connsiteX10" fmla="*/ 598821 w 870468"/>
              <a:gd name="connsiteY10" fmla="*/ 651293 h 720000"/>
              <a:gd name="connsiteX11" fmla="*/ 754317 w 870468"/>
              <a:gd name="connsiteY11" fmla="*/ 651293 h 720000"/>
              <a:gd name="connsiteX12" fmla="*/ 801875 w 870468"/>
              <a:gd name="connsiteY12" fmla="*/ 603735 h 720000"/>
              <a:gd name="connsiteX13" fmla="*/ 801875 w 870468"/>
              <a:gd name="connsiteY13" fmla="*/ 275858 h 720000"/>
              <a:gd name="connsiteX14" fmla="*/ 598821 w 870468"/>
              <a:gd name="connsiteY14" fmla="*/ 275858 h 720000"/>
              <a:gd name="connsiteX15" fmla="*/ 116266 w 870468"/>
              <a:gd name="connsiteY15" fmla="*/ 68593 h 720000"/>
              <a:gd name="connsiteX16" fmla="*/ 68708 w 870468"/>
              <a:gd name="connsiteY16" fmla="*/ 116151 h 720000"/>
              <a:gd name="connsiteX17" fmla="*/ 68708 w 870468"/>
              <a:gd name="connsiteY17" fmla="*/ 207265 h 720000"/>
              <a:gd name="connsiteX18" fmla="*/ 598821 w 870468"/>
              <a:gd name="connsiteY18" fmla="*/ 207265 h 720000"/>
              <a:gd name="connsiteX19" fmla="*/ 801875 w 870468"/>
              <a:gd name="connsiteY19" fmla="*/ 207265 h 720000"/>
              <a:gd name="connsiteX20" fmla="*/ 801875 w 870468"/>
              <a:gd name="connsiteY20" fmla="*/ 116151 h 720000"/>
              <a:gd name="connsiteX21" fmla="*/ 754317 w 870468"/>
              <a:gd name="connsiteY21" fmla="*/ 68593 h 720000"/>
              <a:gd name="connsiteX22" fmla="*/ 598821 w 870468"/>
              <a:gd name="connsiteY22" fmla="*/ 68593 h 720000"/>
              <a:gd name="connsiteX23" fmla="*/ 116266 w 870468"/>
              <a:gd name="connsiteY23" fmla="*/ 0 h 720000"/>
              <a:gd name="connsiteX24" fmla="*/ 598821 w 870468"/>
              <a:gd name="connsiteY24" fmla="*/ 0 h 720000"/>
              <a:gd name="connsiteX25" fmla="*/ 754317 w 870468"/>
              <a:gd name="connsiteY25" fmla="*/ 0 h 720000"/>
              <a:gd name="connsiteX26" fmla="*/ 870468 w 870468"/>
              <a:gd name="connsiteY26" fmla="*/ 116151 h 720000"/>
              <a:gd name="connsiteX27" fmla="*/ 870468 w 870468"/>
              <a:gd name="connsiteY27" fmla="*/ 241562 h 720000"/>
              <a:gd name="connsiteX28" fmla="*/ 870468 w 870468"/>
              <a:gd name="connsiteY28" fmla="*/ 603735 h 720000"/>
              <a:gd name="connsiteX29" fmla="*/ 754317 w 870468"/>
              <a:gd name="connsiteY29" fmla="*/ 720000 h 720000"/>
              <a:gd name="connsiteX30" fmla="*/ 598821 w 870468"/>
              <a:gd name="connsiteY30" fmla="*/ 720000 h 720000"/>
              <a:gd name="connsiteX31" fmla="*/ 116266 w 870468"/>
              <a:gd name="connsiteY31" fmla="*/ 720000 h 720000"/>
              <a:gd name="connsiteX32" fmla="*/ 115 w 870468"/>
              <a:gd name="connsiteY32" fmla="*/ 603849 h 720000"/>
              <a:gd name="connsiteX33" fmla="*/ 115 w 870468"/>
              <a:gd name="connsiteY33" fmla="*/ 241841 h 720000"/>
              <a:gd name="connsiteX34" fmla="*/ 0 w 870468"/>
              <a:gd name="connsiteY34" fmla="*/ 241562 h 720000"/>
              <a:gd name="connsiteX35" fmla="*/ 115 w 870468"/>
              <a:gd name="connsiteY35" fmla="*/ 241284 h 720000"/>
              <a:gd name="connsiteX36" fmla="*/ 115 w 870468"/>
              <a:gd name="connsiteY36" fmla="*/ 116151 h 720000"/>
              <a:gd name="connsiteX37" fmla="*/ 116266 w 870468"/>
              <a:gd name="connsiteY37" fmla="*/ 0 h 720000"/>
            </a:gdLst>
            <a:ahLst/>
            <a:cxnLst/>
            <a:rect l="l" t="t" r="r" b="b"/>
            <a:pathLst>
              <a:path w="870468" h="720000">
                <a:moveTo>
                  <a:pt x="153878" y="353026"/>
                </a:moveTo>
                <a:lnTo>
                  <a:pt x="449972" y="353026"/>
                </a:lnTo>
                <a:cubicBezTo>
                  <a:pt x="472036" y="353026"/>
                  <a:pt x="489985" y="370975"/>
                  <a:pt x="489985" y="393039"/>
                </a:cubicBezTo>
                <a:cubicBezTo>
                  <a:pt x="489985" y="415103"/>
                  <a:pt x="472150" y="433051"/>
                  <a:pt x="449972" y="433051"/>
                </a:cubicBezTo>
                <a:lnTo>
                  <a:pt x="153878" y="433051"/>
                </a:lnTo>
                <a:cubicBezTo>
                  <a:pt x="131814" y="433051"/>
                  <a:pt x="113865" y="415103"/>
                  <a:pt x="113865" y="393039"/>
                </a:cubicBezTo>
                <a:cubicBezTo>
                  <a:pt x="113865" y="370975"/>
                  <a:pt x="131814" y="353026"/>
                  <a:pt x="153878" y="353026"/>
                </a:cubicBezTo>
                <a:close/>
                <a:moveTo>
                  <a:pt x="68708" y="275858"/>
                </a:moveTo>
                <a:lnTo>
                  <a:pt x="68708" y="603735"/>
                </a:lnTo>
                <a:cubicBezTo>
                  <a:pt x="68708" y="630029"/>
                  <a:pt x="90087" y="651293"/>
                  <a:pt x="116266" y="651293"/>
                </a:cubicBezTo>
                <a:lnTo>
                  <a:pt x="598821" y="651293"/>
                </a:lnTo>
                <a:lnTo>
                  <a:pt x="754317" y="651293"/>
                </a:lnTo>
                <a:cubicBezTo>
                  <a:pt x="780611" y="651293"/>
                  <a:pt x="801875" y="629915"/>
                  <a:pt x="801875" y="603735"/>
                </a:cubicBezTo>
                <a:lnTo>
                  <a:pt x="801875" y="275858"/>
                </a:lnTo>
                <a:lnTo>
                  <a:pt x="598821" y="275858"/>
                </a:lnTo>
                <a:close/>
                <a:moveTo>
                  <a:pt x="116266" y="68593"/>
                </a:moveTo>
                <a:cubicBezTo>
                  <a:pt x="89972" y="68593"/>
                  <a:pt x="68708" y="89972"/>
                  <a:pt x="68708" y="116151"/>
                </a:cubicBezTo>
                <a:lnTo>
                  <a:pt x="68708" y="207265"/>
                </a:lnTo>
                <a:lnTo>
                  <a:pt x="598821" y="207265"/>
                </a:lnTo>
                <a:lnTo>
                  <a:pt x="801875" y="207265"/>
                </a:lnTo>
                <a:lnTo>
                  <a:pt x="801875" y="116151"/>
                </a:lnTo>
                <a:cubicBezTo>
                  <a:pt x="801875" y="89857"/>
                  <a:pt x="780497" y="68593"/>
                  <a:pt x="754317" y="68593"/>
                </a:cubicBezTo>
                <a:lnTo>
                  <a:pt x="598821" y="68593"/>
                </a:lnTo>
                <a:close/>
                <a:moveTo>
                  <a:pt x="116266" y="0"/>
                </a:moveTo>
                <a:lnTo>
                  <a:pt x="598821" y="0"/>
                </a:lnTo>
                <a:lnTo>
                  <a:pt x="754317" y="0"/>
                </a:lnTo>
                <a:cubicBezTo>
                  <a:pt x="818338" y="0"/>
                  <a:pt x="870468" y="52131"/>
                  <a:pt x="870468" y="116151"/>
                </a:cubicBezTo>
                <a:lnTo>
                  <a:pt x="870468" y="241562"/>
                </a:lnTo>
                <a:lnTo>
                  <a:pt x="870468" y="603735"/>
                </a:lnTo>
                <a:cubicBezTo>
                  <a:pt x="870468" y="667869"/>
                  <a:pt x="818338" y="720000"/>
                  <a:pt x="754317" y="720000"/>
                </a:cubicBezTo>
                <a:lnTo>
                  <a:pt x="598821" y="720000"/>
                </a:lnTo>
                <a:lnTo>
                  <a:pt x="116266" y="720000"/>
                </a:lnTo>
                <a:cubicBezTo>
                  <a:pt x="52246" y="720000"/>
                  <a:pt x="115" y="667869"/>
                  <a:pt x="115" y="603849"/>
                </a:cubicBezTo>
                <a:lnTo>
                  <a:pt x="115" y="241841"/>
                </a:lnTo>
                <a:lnTo>
                  <a:pt x="0" y="241562"/>
                </a:lnTo>
                <a:lnTo>
                  <a:pt x="115" y="241284"/>
                </a:lnTo>
                <a:lnTo>
                  <a:pt x="115" y="116151"/>
                </a:lnTo>
                <a:cubicBezTo>
                  <a:pt x="115" y="52131"/>
                  <a:pt x="52246" y="0"/>
                  <a:pt x="116266" y="0"/>
                </a:cubicBez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673101" y="2355925"/>
            <a:ext cx="5045271" cy="720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Concepto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673101" y="3186235"/>
            <a:ext cx="5045271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lvl="0"/>
            <a:r>
              <a:rPr kumimoji="1" lang="es-EC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¡Nunca planifiques para el 100% de la capacidad! Un centro de cómputo que opera al 100% está a un segundo del desastre.</a:t>
            </a:r>
          </a:p>
        </p:txBody>
      </p:sp>
      <p:sp>
        <p:nvSpPr>
          <p:cNvPr id="8" name="标题 1"/>
          <p:cNvSpPr txBox="1"/>
          <p:nvPr/>
        </p:nvSpPr>
        <p:spPr>
          <a:xfrm>
            <a:off x="6469904" y="1694325"/>
            <a:ext cx="864000" cy="864000"/>
          </a:xfrm>
          <a:prstGeom prst="roundRect">
            <a:avLst/>
          </a:prstGeom>
          <a:gradFill>
            <a:gsLst>
              <a:gs pos="1000">
                <a:schemeClr val="accent2">
                  <a:lumMod val="60000"/>
                  <a:lumOff val="40000"/>
                </a:schemeClr>
              </a:gs>
              <a:gs pos="100000">
                <a:schemeClr val="accent2"/>
              </a:gs>
            </a:gsLst>
            <a:lin ang="3000000" scaled="0"/>
          </a:gradFill>
          <a:ln w="25400" cap="flat">
            <a:solidFill>
              <a:schemeClr val="bg1"/>
            </a:solidFill>
            <a:miter/>
          </a:ln>
          <a:effectLst>
            <a:outerShdw blurRad="381000" dist="127000" dir="3000000" algn="t" rotWithShape="0">
              <a:schemeClr val="accent2"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685904" y="1910325"/>
            <a:ext cx="432000" cy="432000"/>
          </a:xfrm>
          <a:custGeom>
            <a:avLst/>
            <a:gdLst>
              <a:gd name="connsiteX0" fmla="*/ 457070 w 720001"/>
              <a:gd name="connsiteY0" fmla="*/ 57166 h 720001"/>
              <a:gd name="connsiteX1" fmla="*/ 457070 w 720001"/>
              <a:gd name="connsiteY1" fmla="*/ 263017 h 720001"/>
              <a:gd name="connsiteX2" fmla="*/ 662921 w 720001"/>
              <a:gd name="connsiteY2" fmla="*/ 263017 h 720001"/>
              <a:gd name="connsiteX3" fmla="*/ 647393 w 720001"/>
              <a:gd name="connsiteY3" fmla="*/ 212704 h 720001"/>
              <a:gd name="connsiteX4" fmla="*/ 591008 w 720001"/>
              <a:gd name="connsiteY4" fmla="*/ 129079 h 720001"/>
              <a:gd name="connsiteX5" fmla="*/ 507383 w 720001"/>
              <a:gd name="connsiteY5" fmla="*/ 72694 h 720001"/>
              <a:gd name="connsiteX6" fmla="*/ 457070 w 720001"/>
              <a:gd name="connsiteY6" fmla="*/ 57166 h 720001"/>
              <a:gd name="connsiteX7" fmla="*/ 307952 w 720001"/>
              <a:gd name="connsiteY7" fmla="*/ 56386 h 720001"/>
              <a:gd name="connsiteX8" fmla="*/ 240115 w 720001"/>
              <a:gd name="connsiteY8" fmla="*/ 76251 h 720001"/>
              <a:gd name="connsiteX9" fmla="*/ 142092 w 720001"/>
              <a:gd name="connsiteY9" fmla="*/ 142179 h 720001"/>
              <a:gd name="connsiteX10" fmla="*/ 76077 w 720001"/>
              <a:gd name="connsiteY10" fmla="*/ 240116 h 720001"/>
              <a:gd name="connsiteX11" fmla="*/ 51874 w 720001"/>
              <a:gd name="connsiteY11" fmla="*/ 360000 h 720001"/>
              <a:gd name="connsiteX12" fmla="*/ 76077 w 720001"/>
              <a:gd name="connsiteY12" fmla="*/ 479885 h 720001"/>
              <a:gd name="connsiteX13" fmla="*/ 142092 w 720001"/>
              <a:gd name="connsiteY13" fmla="*/ 577822 h 720001"/>
              <a:gd name="connsiteX14" fmla="*/ 240029 w 720001"/>
              <a:gd name="connsiteY14" fmla="*/ 643837 h 720001"/>
              <a:gd name="connsiteX15" fmla="*/ 359913 w 720001"/>
              <a:gd name="connsiteY15" fmla="*/ 668039 h 720001"/>
              <a:gd name="connsiteX16" fmla="*/ 479798 w 720001"/>
              <a:gd name="connsiteY16" fmla="*/ 643837 h 720001"/>
              <a:gd name="connsiteX17" fmla="*/ 577735 w 720001"/>
              <a:gd name="connsiteY17" fmla="*/ 577822 h 720001"/>
              <a:gd name="connsiteX18" fmla="*/ 643750 w 720001"/>
              <a:gd name="connsiteY18" fmla="*/ 479885 h 720001"/>
              <a:gd name="connsiteX19" fmla="*/ 663615 w 720001"/>
              <a:gd name="connsiteY19" fmla="*/ 412049 h 720001"/>
              <a:gd name="connsiteX20" fmla="*/ 360000 w 720001"/>
              <a:gd name="connsiteY20" fmla="*/ 412049 h 720001"/>
              <a:gd name="connsiteX21" fmla="*/ 307952 w 720001"/>
              <a:gd name="connsiteY21" fmla="*/ 360000 h 720001"/>
              <a:gd name="connsiteX22" fmla="*/ 405022 w 720001"/>
              <a:gd name="connsiteY22" fmla="*/ 0 h 720001"/>
              <a:gd name="connsiteX23" fmla="*/ 720001 w 720001"/>
              <a:gd name="connsiteY23" fmla="*/ 314979 h 720001"/>
              <a:gd name="connsiteX24" fmla="*/ 405022 w 720001"/>
              <a:gd name="connsiteY24" fmla="*/ 314979 h 720001"/>
              <a:gd name="connsiteX25" fmla="*/ 360000 w 720001"/>
              <a:gd name="connsiteY25" fmla="*/ 0 h 720001"/>
              <a:gd name="connsiteX26" fmla="*/ 360000 w 720001"/>
              <a:gd name="connsiteY26" fmla="*/ 360000 h 720001"/>
              <a:gd name="connsiteX27" fmla="*/ 720001 w 720001"/>
              <a:gd name="connsiteY27" fmla="*/ 360000 h 720001"/>
              <a:gd name="connsiteX28" fmla="*/ 360000 w 720001"/>
              <a:gd name="connsiteY28" fmla="*/ 720001 h 720001"/>
              <a:gd name="connsiteX29" fmla="*/ 0 w 720001"/>
              <a:gd name="connsiteY29" fmla="*/ 360000 h 720001"/>
              <a:gd name="connsiteX30" fmla="*/ 360000 w 720001"/>
              <a:gd name="connsiteY30" fmla="*/ 0 h 720001"/>
            </a:gdLst>
            <a:ahLst/>
            <a:cxnLst/>
            <a:rect l="l" t="t" r="r" b="b"/>
            <a:pathLst>
              <a:path w="720001" h="720001">
                <a:moveTo>
                  <a:pt x="457070" y="57166"/>
                </a:moveTo>
                <a:lnTo>
                  <a:pt x="457070" y="263017"/>
                </a:lnTo>
                <a:lnTo>
                  <a:pt x="662921" y="263017"/>
                </a:lnTo>
                <a:cubicBezTo>
                  <a:pt x="659451" y="245755"/>
                  <a:pt x="654246" y="229012"/>
                  <a:pt x="647393" y="212704"/>
                </a:cubicBezTo>
                <a:cubicBezTo>
                  <a:pt x="634121" y="181388"/>
                  <a:pt x="615210" y="153282"/>
                  <a:pt x="591008" y="129079"/>
                </a:cubicBezTo>
                <a:cubicBezTo>
                  <a:pt x="566806" y="104877"/>
                  <a:pt x="538699" y="85966"/>
                  <a:pt x="507383" y="72694"/>
                </a:cubicBezTo>
                <a:cubicBezTo>
                  <a:pt x="491075" y="65755"/>
                  <a:pt x="474246" y="60636"/>
                  <a:pt x="457070" y="57166"/>
                </a:cubicBezTo>
                <a:close/>
                <a:moveTo>
                  <a:pt x="307952" y="56386"/>
                </a:moveTo>
                <a:cubicBezTo>
                  <a:pt x="284703" y="60376"/>
                  <a:pt x="262062" y="66969"/>
                  <a:pt x="240115" y="76251"/>
                </a:cubicBezTo>
                <a:cubicBezTo>
                  <a:pt x="203508" y="91778"/>
                  <a:pt x="170544" y="113986"/>
                  <a:pt x="142092" y="142179"/>
                </a:cubicBezTo>
                <a:cubicBezTo>
                  <a:pt x="113812" y="170545"/>
                  <a:pt x="91605" y="203422"/>
                  <a:pt x="76077" y="240116"/>
                </a:cubicBezTo>
                <a:cubicBezTo>
                  <a:pt x="60029" y="278111"/>
                  <a:pt x="51874" y="318362"/>
                  <a:pt x="51874" y="360000"/>
                </a:cubicBezTo>
                <a:cubicBezTo>
                  <a:pt x="51874" y="401639"/>
                  <a:pt x="60029" y="441976"/>
                  <a:pt x="76077" y="479885"/>
                </a:cubicBezTo>
                <a:cubicBezTo>
                  <a:pt x="91605" y="516579"/>
                  <a:pt x="113812" y="549543"/>
                  <a:pt x="142092" y="577822"/>
                </a:cubicBezTo>
                <a:cubicBezTo>
                  <a:pt x="170458" y="606102"/>
                  <a:pt x="203335" y="628309"/>
                  <a:pt x="240029" y="643837"/>
                </a:cubicBezTo>
                <a:cubicBezTo>
                  <a:pt x="278024" y="659885"/>
                  <a:pt x="318275" y="668039"/>
                  <a:pt x="359913" y="668039"/>
                </a:cubicBezTo>
                <a:cubicBezTo>
                  <a:pt x="401552" y="668039"/>
                  <a:pt x="441890" y="659885"/>
                  <a:pt x="479798" y="643837"/>
                </a:cubicBezTo>
                <a:cubicBezTo>
                  <a:pt x="516492" y="628309"/>
                  <a:pt x="549456" y="606102"/>
                  <a:pt x="577735" y="577822"/>
                </a:cubicBezTo>
                <a:cubicBezTo>
                  <a:pt x="606015" y="549456"/>
                  <a:pt x="628222" y="516579"/>
                  <a:pt x="643750" y="479885"/>
                </a:cubicBezTo>
                <a:cubicBezTo>
                  <a:pt x="653032" y="457938"/>
                  <a:pt x="659625" y="435297"/>
                  <a:pt x="663615" y="412049"/>
                </a:cubicBezTo>
                <a:lnTo>
                  <a:pt x="360000" y="412049"/>
                </a:lnTo>
                <a:cubicBezTo>
                  <a:pt x="331287" y="412049"/>
                  <a:pt x="307952" y="388714"/>
                  <a:pt x="307952" y="360000"/>
                </a:cubicBezTo>
                <a:close/>
                <a:moveTo>
                  <a:pt x="405022" y="0"/>
                </a:moveTo>
                <a:cubicBezTo>
                  <a:pt x="578950" y="0"/>
                  <a:pt x="720001" y="141051"/>
                  <a:pt x="720001" y="314979"/>
                </a:cubicBezTo>
                <a:lnTo>
                  <a:pt x="405022" y="314979"/>
                </a:lnTo>
                <a:close/>
                <a:moveTo>
                  <a:pt x="360000" y="0"/>
                </a:moveTo>
                <a:lnTo>
                  <a:pt x="360000" y="360000"/>
                </a:lnTo>
                <a:lnTo>
                  <a:pt x="720001" y="360000"/>
                </a:lnTo>
                <a:cubicBezTo>
                  <a:pt x="720001" y="558825"/>
                  <a:pt x="558824" y="720001"/>
                  <a:pt x="360000" y="720001"/>
                </a:cubicBezTo>
                <a:cubicBezTo>
                  <a:pt x="161176" y="720001"/>
                  <a:pt x="0" y="558825"/>
                  <a:pt x="0" y="360000"/>
                </a:cubicBezTo>
                <a:cubicBezTo>
                  <a:pt x="0" y="161176"/>
                  <a:pt x="161176" y="0"/>
                  <a:pt x="360000" y="0"/>
                </a:cubicBez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473629" y="2826235"/>
            <a:ext cx="5045271" cy="24969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La Regla N+1</a:t>
            </a:r>
            <a:endParaRPr kumimoji="1" lang="zh-CN" altLang="en-US" dirty="0"/>
          </a:p>
        </p:txBody>
      </p:sp>
      <p:sp>
        <p:nvSpPr>
          <p:cNvPr id="11" name="标题 1"/>
          <p:cNvSpPr txBox="1"/>
          <p:nvPr/>
        </p:nvSpPr>
        <p:spPr>
          <a:xfrm>
            <a:off x="6469904" y="3186235"/>
            <a:ext cx="5045271" cy="126229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lvl="0"/>
            <a:r>
              <a:rPr kumimoji="1" lang="es-EC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Es el principio de la redundancia. Si tu datacenter necesita 4 servidores para funcionar (N), debes tener al menos 5 (N+1). De esta forma, si un servidor falla, el sistema sigue operando con los 4 restantes sin degradación del servicio.</a:t>
            </a:r>
          </a:p>
        </p:txBody>
      </p:sp>
      <p:sp>
        <p:nvSpPr>
          <p:cNvPr id="13" name="标题 1"/>
          <p:cNvSpPr txBox="1"/>
          <p:nvPr/>
        </p:nvSpPr>
        <p:spPr>
          <a:xfrm>
            <a:off x="1076464" y="899315"/>
            <a:ext cx="7764738" cy="5232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La Regla de Oro: </a:t>
            </a:r>
            <a:r>
              <a:rPr kumimoji="1" lang="en-US" altLang="zh-CN" sz="2800" dirty="0" err="1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Planificar</a:t>
            </a:r>
            <a:r>
              <a:rPr kumimoji="1" lang="en-US" altLang="zh-CN" sz="2800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 para </a:t>
            </a:r>
            <a:r>
              <a:rPr kumimoji="1" lang="en-US" altLang="zh-CN" sz="2800" dirty="0" err="1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el</a:t>
            </a:r>
            <a:r>
              <a:rPr kumimoji="1" lang="en-US" altLang="zh-CN" sz="2800" dirty="0">
                <a:ln w="12700">
                  <a:noFill/>
                </a:ln>
                <a:solidFill>
                  <a:schemeClr val="accent1">
                    <a:lumMod val="50000"/>
                  </a:schemeClr>
                </a:solidFill>
                <a:latin typeface="poppins-bold"/>
                <a:ea typeface="poppins-bold"/>
                <a:cs typeface="poppins-bold"/>
              </a:rPr>
              <a:t> (N+1)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3561DBD3-09CC-D8C5-3EDB-CF2F9F3E8E47}"/>
              </a:ext>
            </a:extLst>
          </p:cNvPr>
          <p:cNvSpPr txBox="1"/>
          <p:nvPr/>
        </p:nvSpPr>
        <p:spPr>
          <a:xfrm>
            <a:off x="660400" y="4602305"/>
            <a:ext cx="5045271" cy="863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r>
              <a:rPr kumimoji="1" lang="es-EC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Siempre dejamos un "colchón" (</a:t>
            </a:r>
            <a:r>
              <a:rPr kumimoji="1" lang="es-EC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headroom</a:t>
            </a:r>
            <a:r>
              <a:rPr kumimoji="1" lang="es-EC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). Planificamos para que el uso normal nunca supere el 70-80% de la capacidad total de energía, enfriamiento y cómputo.</a:t>
            </a:r>
          </a:p>
          <a:p>
            <a:pPr algn="l"/>
            <a:endParaRPr kumimoji="1" lang="zh-CN" altLang="en-US" sz="1400" dirty="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Poppins"/>
              <a:cs typeface="Poppins"/>
            </a:endParaRPr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BDEEAE85-3815-570C-FB1D-C67D4700377F}"/>
              </a:ext>
            </a:extLst>
          </p:cNvPr>
          <p:cNvSpPr txBox="1"/>
          <p:nvPr/>
        </p:nvSpPr>
        <p:spPr>
          <a:xfrm>
            <a:off x="673101" y="3865057"/>
            <a:ext cx="5045271" cy="583473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b"/>
          <a:lstStyle/>
          <a:p>
            <a:r>
              <a:rPr lang="es-EC" b="1" dirty="0"/>
              <a:t>Aplicación:</a:t>
            </a:r>
            <a:r>
              <a:rPr lang="es-EC" dirty="0"/>
              <a:t> </a:t>
            </a:r>
            <a:endParaRPr kumimoji="1" lang="zh-CN" altLang="en-US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1FCB7210-A6F0-4558-17A6-3D35518F2E2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1210308" y="1769390"/>
            <a:ext cx="3425191" cy="110799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r>
              <a:rPr kumimoji="1" lang="en-US" altLang="zh-CN" sz="6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PART.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210308" y="3429000"/>
            <a:ext cx="9853932" cy="15696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ctr"/>
            <a:r>
              <a:rPr kumimoji="1" lang="en-US" altLang="zh-CN" sz="3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Conclusión</a:t>
            </a:r>
            <a:endParaRPr kumimoji="1" lang="zh-CN" altLang="en-US" dirty="0"/>
          </a:p>
        </p:txBody>
      </p:sp>
      <p:sp>
        <p:nvSpPr>
          <p:cNvPr id="12" name="标题 1"/>
          <p:cNvSpPr txBox="1"/>
          <p:nvPr/>
        </p:nvSpPr>
        <p:spPr>
          <a:xfrm>
            <a:off x="3278504" y="1769390"/>
            <a:ext cx="2220589" cy="110799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r"/>
            <a:r>
              <a:rPr kumimoji="1" lang="en-US" altLang="zh-CN" sz="6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05</a:t>
            </a:r>
            <a:endParaRPr kumimoji="1" lang="zh-CN" altLang="en-US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BE9CE686-252F-61CA-4752-EE40A9B810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863761" y="2014484"/>
            <a:ext cx="8268809" cy="358621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sq">
            <a:solidFill>
              <a:schemeClr val="accent5">
                <a:lumMod val="50000"/>
              </a:schemeClr>
            </a:solidFill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977826" y="2408446"/>
            <a:ext cx="7582328" cy="2798291"/>
          </a:xfrm>
          <a:prstGeom prst="roundRect">
            <a:avLst>
              <a:gd name="adj" fmla="val 0"/>
            </a:avLst>
          </a:prstGeom>
          <a:noFill/>
          <a:ln cap="flat">
            <a:noFill/>
            <a:prstDash val="solid"/>
            <a:miter/>
          </a:ln>
        </p:spPr>
        <p:txBody>
          <a:bodyPr vert="horz" wrap="square" lIns="216000" tIns="108000" rIns="216000" bIns="108000" rtlCol="0" anchor="ctr"/>
          <a:lstStyle/>
          <a:p>
            <a:r>
              <a:rPr lang="es-EC" dirty="0"/>
              <a:t>La administración de un centro de cómputo no solo implica mantener operativos los sistemas existentes, sino también </a:t>
            </a:r>
            <a:r>
              <a:rPr lang="es-EC" b="1" dirty="0"/>
              <a:t>planificar su evolución tecnológica</a:t>
            </a:r>
            <a:r>
              <a:rPr lang="es-EC" dirty="0"/>
              <a:t>.</a:t>
            </a:r>
            <a:br>
              <a:rPr lang="es-EC" dirty="0"/>
            </a:br>
            <a:r>
              <a:rPr lang="es-EC" dirty="0"/>
              <a:t>Un administrador competente debe diagnosticar, proyectar y gestionar los recursos tecnológicos de forma estratégica, asegurando que la institución crezca de manera sostenible y que la infraestructura responda a las necesidades académicas y administrativas actuales y futuras.</a:t>
            </a:r>
          </a:p>
        </p:txBody>
      </p:sp>
      <p:sp>
        <p:nvSpPr>
          <p:cNvPr id="15" name="标题 1"/>
          <p:cNvSpPr txBox="1"/>
          <p:nvPr/>
        </p:nvSpPr>
        <p:spPr>
          <a:xfrm>
            <a:off x="977826" y="1426635"/>
            <a:ext cx="4415983" cy="52322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r>
              <a:rPr lang="es-EC" sz="3200" b="1" dirty="0">
                <a:solidFill>
                  <a:schemeClr val="accent1">
                    <a:lumMod val="50000"/>
                  </a:schemeClr>
                </a:solidFill>
              </a:rPr>
              <a:t>Conclusión</a:t>
            </a:r>
            <a:endParaRPr kumimoji="1" lang="zh-CN" altLang="en-US" sz="32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479625E5-DEB4-71EA-E1E0-9BA63DDC1D7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1200727" y="2215160"/>
            <a:ext cx="7989608" cy="212365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r>
              <a:rPr kumimoji="1" lang="en-US" altLang="zh-CN" sz="65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Thanks</a:t>
            </a:r>
            <a:endParaRPr kumimoji="1" lang="zh-CN" altLang="en-US" dirty="0"/>
          </a:p>
        </p:txBody>
      </p:sp>
      <p:sp>
        <p:nvSpPr>
          <p:cNvPr id="10" name="标题 1"/>
          <p:cNvSpPr txBox="1"/>
          <p:nvPr/>
        </p:nvSpPr>
        <p:spPr>
          <a:xfrm>
            <a:off x="1387417" y="3591849"/>
            <a:ext cx="4708583" cy="83099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r"/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MGS. JOSE FRANCO LAMILLA</a:t>
            </a:r>
            <a:endParaRPr kumimoji="1" lang="zh-CN" altLang="en-US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F984DDC9-517E-A5EB-3E93-204C056343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1372</Words>
  <Application>Microsoft Office PowerPoint</Application>
  <PresentationFormat>Panorámica</PresentationFormat>
  <Paragraphs>137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6" baseType="lpstr">
      <vt:lpstr>poppins-bold</vt:lpstr>
      <vt:lpstr>Poppins</vt:lpstr>
      <vt:lpstr>Arial</vt:lpstr>
      <vt:lpstr>Office 主题​​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TICS</cp:lastModifiedBy>
  <cp:revision>2</cp:revision>
  <dcterms:modified xsi:type="dcterms:W3CDTF">2025-10-28T20:11:14Z</dcterms:modified>
</cp:coreProperties>
</file>
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0" r:id="rId6"/>
    <p:sldId id="261" r:id="rId7"/>
    <p:sldId id="275" r:id="rId8"/>
    <p:sldId id="276" r:id="rId9"/>
    <p:sldId id="277" r:id="rId10"/>
    <p:sldId id="278" r:id="rId11"/>
    <p:sldId id="279" r:id="rId12"/>
    <p:sldId id="280" r:id="rId13"/>
    <p:sldId id="281" r:id="rId14"/>
    <p:sldId id="262" r:id="rId15"/>
    <p:sldId id="282" r:id="rId16"/>
    <p:sldId id="264" r:id="rId17"/>
    <p:sldId id="283" r:id="rId18"/>
    <p:sldId id="265" r:id="rId19"/>
    <p:sldId id="266" r:id="rId20"/>
    <p:sldId id="270" r:id="rId21"/>
    <p:sldId id="271" r:id="rId22"/>
    <p:sldId id="269" r:id="rId23"/>
    <p:sldId id="274" r:id="rId24"/>
  </p:sldIdLst>
  <p:sldSz cx="12192000" cy="6858000"/>
  <p:notesSz cx="6858000" cy="9144000"/>
  <p:embeddedFontLst>
    <p:embeddedFont>
      <p:font typeface="Barlow Condensed Medium" panose="00000606000000000000" pitchFamily="2" charset="0"/>
      <p:regular r:id="rId25"/>
      <p:italic r:id="rId26"/>
    </p:embeddedFont>
    <p:embeddedFont>
      <p:font typeface="Poppins" panose="00000500000000000000" pitchFamily="2" charset="0"/>
      <p:regular r:id="rId27"/>
      <p:italic r:id="rId28"/>
    </p:embeddedFont>
    <p:embeddedFont>
      <p:font typeface="poppins-bold" panose="020B0604020202020204" charset="0"/>
      <p:regular r:id="rId29"/>
    </p:embeddedFont>
  </p:embeddedFontLst>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a:off x="5355771" y="1016001"/>
            <a:ext cx="6662058" cy="4586514"/>
          </a:xfrm>
          <a:prstGeom prst="rect">
            <a:avLst/>
          </a:prstGeom>
          <a:noFill/>
          <a:ln>
            <a:noFill/>
          </a:ln>
        </p:spPr>
      </p:pic>
      <p:sp>
        <p:nvSpPr>
          <p:cNvPr id="4" name="标题 1"/>
          <p:cNvSpPr txBox="1"/>
          <p:nvPr/>
        </p:nvSpPr>
        <p:spPr>
          <a:xfrm>
            <a:off x="518144" y="2073584"/>
            <a:ext cx="4823112" cy="2086725"/>
          </a:xfrm>
          <a:prstGeom prst="rect">
            <a:avLst/>
          </a:prstGeom>
          <a:noFill/>
          <a:ln>
            <a:noFill/>
          </a:ln>
        </p:spPr>
        <p:txBody>
          <a:bodyPr vert="horz" wrap="square" lIns="91440" tIns="45720" rIns="91440" bIns="45720" rtlCol="0" anchor="ctr"/>
          <a:lstStyle/>
          <a:p>
            <a:pPr algn="l"/>
            <a:r>
              <a:rPr kumimoji="1" lang="en-US" altLang="zh-CN" sz="2700">
                <a:ln w="12700">
                  <a:noFill/>
                </a:ln>
                <a:solidFill>
                  <a:srgbClr val="000000">
                    <a:alpha val="100000"/>
                  </a:srgbClr>
                </a:solidFill>
                <a:latin typeface="Barlow Condensed Medium"/>
                <a:ea typeface="Barlow Condensed Medium"/>
                <a:cs typeface="Barlow Condensed Medium"/>
              </a:rPr>
              <a:t>Gestión del Recurso Humano Técnico en el Centro de Cómputo</a:t>
            </a:r>
            <a:endParaRPr kumimoji="1" lang="zh-CN" altLang="en-US"/>
          </a:p>
        </p:txBody>
      </p:sp>
      <p:pic>
        <p:nvPicPr>
          <p:cNvPr id="7" name="Imagen 6">
            <a:extLst>
              <a:ext uri="{FF2B5EF4-FFF2-40B4-BE49-F238E27FC236}">
                <a16:creationId xmlns:a16="http://schemas.microsoft.com/office/drawing/2014/main" id="{9B944CE4-1F88-F2E5-709F-D4E40BA8FC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1"/>
          <p:cNvSpPr txBox="1"/>
          <p:nvPr/>
        </p:nvSpPr>
        <p:spPr>
          <a:xfrm>
            <a:off x="1658852" y="3170272"/>
            <a:ext cx="3894948" cy="900000"/>
          </a:xfrm>
          <a:prstGeom prst="rect">
            <a:avLst/>
          </a:prstGeom>
          <a:noFill/>
          <a:ln>
            <a:noFill/>
          </a:ln>
        </p:spPr>
        <p:txBody>
          <a:bodyPr vert="horz" wrap="square" lIns="0" tIns="0" rIns="0" bIns="0" rtlCol="0" anchor="t"/>
          <a:lstStyle/>
          <a:p>
            <a:pPr algn="l"/>
            <a:r>
              <a:rPr kumimoji="1" lang="en-US" altLang="zh-CN" sz="2200">
                <a:ln w="12700">
                  <a:noFill/>
                </a:ln>
                <a:solidFill>
                  <a:srgbClr val="262626">
                    <a:alpha val="100000"/>
                  </a:srgbClr>
                </a:solidFill>
                <a:latin typeface="Poppins"/>
                <a:ea typeface="Poppins"/>
                <a:cs typeface="Poppins"/>
              </a:rPr>
              <a:t>Roles y funciones del personal</a:t>
            </a:r>
            <a:endParaRPr kumimoji="1" lang="zh-CN" altLang="en-US"/>
          </a:p>
        </p:txBody>
      </p:sp>
      <p:sp>
        <p:nvSpPr>
          <p:cNvPr id="5" name="标题 1"/>
          <p:cNvSpPr txBox="1"/>
          <p:nvPr/>
        </p:nvSpPr>
        <p:spPr>
          <a:xfrm>
            <a:off x="1227052" y="3170272"/>
            <a:ext cx="491348" cy="569800"/>
          </a:xfrm>
          <a:prstGeom prst="rect">
            <a:avLst/>
          </a:prstGeom>
          <a:noFill/>
          <a:ln>
            <a:noFill/>
          </a:ln>
        </p:spPr>
        <p:txBody>
          <a:bodyPr vert="horz" wrap="square" lIns="0" tIns="0" rIns="0" bIns="0" rtlCol="0" anchor="t"/>
          <a:lstStyle/>
          <a:p>
            <a:pPr algn="l"/>
            <a:r>
              <a:rPr kumimoji="1" lang="en-US" altLang="zh-CN" sz="2200">
                <a:ln w="12700">
                  <a:noFill/>
                </a:ln>
                <a:solidFill>
                  <a:srgbClr val="4472C4">
                    <a:alpha val="100000"/>
                  </a:srgbClr>
                </a:solidFill>
                <a:latin typeface="poppins-bold"/>
                <a:ea typeface="poppins-bold"/>
                <a:cs typeface="poppins-bold"/>
              </a:rPr>
              <a:t>1.</a:t>
            </a:r>
            <a:endParaRPr kumimoji="1" lang="zh-CN" altLang="en-US"/>
          </a:p>
        </p:txBody>
      </p:sp>
      <p:sp>
        <p:nvSpPr>
          <p:cNvPr id="6" name="标题 1"/>
          <p:cNvSpPr txBox="1"/>
          <p:nvPr/>
        </p:nvSpPr>
        <p:spPr>
          <a:xfrm>
            <a:off x="820652" y="935072"/>
            <a:ext cx="6828648" cy="900000"/>
          </a:xfrm>
          <a:prstGeom prst="rect">
            <a:avLst/>
          </a:prstGeom>
          <a:noFill/>
          <a:ln>
            <a:noFill/>
          </a:ln>
        </p:spPr>
        <p:txBody>
          <a:bodyPr vert="horz" wrap="square" lIns="0" tIns="0" rIns="0" bIns="0" rtlCol="0" anchor="b"/>
          <a:lstStyle/>
          <a:p>
            <a:pPr algn="l"/>
            <a:r>
              <a:rPr kumimoji="1" lang="en-US" altLang="zh-CN" sz="4800" dirty="0" err="1">
                <a:ln w="12700">
                  <a:noFill/>
                </a:ln>
                <a:solidFill>
                  <a:srgbClr val="4472C4">
                    <a:alpha val="100000"/>
                  </a:srgbClr>
                </a:solidFill>
                <a:latin typeface="poppins-bold"/>
                <a:ea typeface="poppins-bold"/>
                <a:cs typeface="poppins-bold"/>
              </a:rPr>
              <a:t>C</a:t>
            </a:r>
            <a:r>
              <a:rPr kumimoji="1" lang="en-US" altLang="zh-CN" sz="4800" dirty="0" err="1">
                <a:ln w="12700">
                  <a:noFill/>
                </a:ln>
                <a:solidFill>
                  <a:srgbClr val="262626">
                    <a:alpha val="100000"/>
                  </a:srgbClr>
                </a:solidFill>
                <a:latin typeface="poppins-bold"/>
                <a:ea typeface="poppins-bold"/>
                <a:cs typeface="poppins-bold"/>
              </a:rPr>
              <a:t>ontenido</a:t>
            </a:r>
            <a:endParaRPr kumimoji="1" lang="zh-CN" altLang="en-US" dirty="0"/>
          </a:p>
        </p:txBody>
      </p:sp>
      <p:sp>
        <p:nvSpPr>
          <p:cNvPr id="7" name="标题 1"/>
          <p:cNvSpPr txBox="1"/>
          <p:nvPr/>
        </p:nvSpPr>
        <p:spPr>
          <a:xfrm>
            <a:off x="7348452" y="3170272"/>
            <a:ext cx="3894948" cy="900000"/>
          </a:xfrm>
          <a:prstGeom prst="rect">
            <a:avLst/>
          </a:prstGeom>
          <a:noFill/>
          <a:ln>
            <a:noFill/>
          </a:ln>
        </p:spPr>
        <p:txBody>
          <a:bodyPr vert="horz" wrap="square" lIns="0" tIns="0" rIns="0" bIns="0" rtlCol="0" anchor="t"/>
          <a:lstStyle/>
          <a:p>
            <a:pPr algn="l"/>
            <a:r>
              <a:rPr kumimoji="1" lang="en-US" altLang="zh-CN" sz="2200">
                <a:ln w="12700">
                  <a:noFill/>
                </a:ln>
                <a:solidFill>
                  <a:srgbClr val="262626">
                    <a:alpha val="100000"/>
                  </a:srgbClr>
                </a:solidFill>
                <a:latin typeface="Poppins"/>
                <a:ea typeface="Poppins"/>
                <a:cs typeface="Poppins"/>
              </a:rPr>
              <a:t>Asignación y optimización de recursos humanos</a:t>
            </a:r>
            <a:endParaRPr kumimoji="1" lang="zh-CN" altLang="en-US"/>
          </a:p>
        </p:txBody>
      </p:sp>
      <p:sp>
        <p:nvSpPr>
          <p:cNvPr id="8" name="标题 1"/>
          <p:cNvSpPr txBox="1"/>
          <p:nvPr/>
        </p:nvSpPr>
        <p:spPr>
          <a:xfrm>
            <a:off x="6916652" y="3170272"/>
            <a:ext cx="491348" cy="569800"/>
          </a:xfrm>
          <a:prstGeom prst="rect">
            <a:avLst/>
          </a:prstGeom>
          <a:noFill/>
          <a:ln>
            <a:noFill/>
          </a:ln>
        </p:spPr>
        <p:txBody>
          <a:bodyPr vert="horz" wrap="square" lIns="0" tIns="0" rIns="0" bIns="0" rtlCol="0" anchor="t"/>
          <a:lstStyle/>
          <a:p>
            <a:pPr algn="l"/>
            <a:r>
              <a:rPr kumimoji="1" lang="en-US" altLang="zh-CN" sz="2200">
                <a:ln w="12700">
                  <a:noFill/>
                </a:ln>
                <a:solidFill>
                  <a:srgbClr val="4472C4">
                    <a:alpha val="100000"/>
                  </a:srgbClr>
                </a:solidFill>
                <a:latin typeface="poppins-bold"/>
                <a:ea typeface="poppins-bold"/>
                <a:cs typeface="poppins-bold"/>
              </a:rPr>
              <a:t>2.</a:t>
            </a:r>
            <a:endParaRPr kumimoji="1" lang="zh-CN" altLang="en-US"/>
          </a:p>
        </p:txBody>
      </p:sp>
      <p:sp>
        <p:nvSpPr>
          <p:cNvPr id="9" name="标题 1"/>
          <p:cNvSpPr txBox="1"/>
          <p:nvPr/>
        </p:nvSpPr>
        <p:spPr>
          <a:xfrm>
            <a:off x="1658852" y="4376772"/>
            <a:ext cx="3894948" cy="900000"/>
          </a:xfrm>
          <a:prstGeom prst="rect">
            <a:avLst/>
          </a:prstGeom>
          <a:noFill/>
          <a:ln>
            <a:noFill/>
          </a:ln>
        </p:spPr>
        <p:txBody>
          <a:bodyPr vert="horz" wrap="square" lIns="0" tIns="0" rIns="0" bIns="0" rtlCol="0" anchor="t"/>
          <a:lstStyle/>
          <a:p>
            <a:pPr algn="l"/>
            <a:r>
              <a:rPr kumimoji="1" lang="en-US" altLang="zh-CN" sz="2200">
                <a:ln w="12700">
                  <a:noFill/>
                </a:ln>
                <a:solidFill>
                  <a:srgbClr val="262626">
                    <a:alpha val="100000"/>
                  </a:srgbClr>
                </a:solidFill>
                <a:latin typeface="Poppins"/>
                <a:ea typeface="Poppins"/>
                <a:cs typeface="Poppins"/>
              </a:rPr>
              <a:t>Evaluación de desempeño</a:t>
            </a:r>
            <a:endParaRPr kumimoji="1" lang="zh-CN" altLang="en-US"/>
          </a:p>
        </p:txBody>
      </p:sp>
      <p:sp>
        <p:nvSpPr>
          <p:cNvPr id="10" name="标题 1"/>
          <p:cNvSpPr txBox="1"/>
          <p:nvPr/>
        </p:nvSpPr>
        <p:spPr>
          <a:xfrm>
            <a:off x="1227052" y="4376772"/>
            <a:ext cx="491348" cy="569800"/>
          </a:xfrm>
          <a:prstGeom prst="rect">
            <a:avLst/>
          </a:prstGeom>
          <a:noFill/>
          <a:ln>
            <a:noFill/>
          </a:ln>
        </p:spPr>
        <p:txBody>
          <a:bodyPr vert="horz" wrap="square" lIns="0" tIns="0" rIns="0" bIns="0" rtlCol="0" anchor="t"/>
          <a:lstStyle/>
          <a:p>
            <a:pPr algn="l"/>
            <a:r>
              <a:rPr kumimoji="1" lang="en-US" altLang="zh-CN" sz="2200">
                <a:ln w="12700">
                  <a:noFill/>
                </a:ln>
                <a:solidFill>
                  <a:srgbClr val="4472C4">
                    <a:alpha val="100000"/>
                  </a:srgbClr>
                </a:solidFill>
                <a:latin typeface="poppins-bold"/>
                <a:ea typeface="poppins-bold"/>
                <a:cs typeface="poppins-bold"/>
              </a:rPr>
              <a:t>3.</a:t>
            </a:r>
            <a:endParaRPr kumimoji="1" lang="zh-CN" altLang="en-US"/>
          </a:p>
        </p:txBody>
      </p:sp>
      <p:sp>
        <p:nvSpPr>
          <p:cNvPr id="11" name="标题 1"/>
          <p:cNvSpPr txBox="1"/>
          <p:nvPr/>
        </p:nvSpPr>
        <p:spPr>
          <a:xfrm>
            <a:off x="7348452" y="4376772"/>
            <a:ext cx="3894948" cy="900000"/>
          </a:xfrm>
          <a:prstGeom prst="rect">
            <a:avLst/>
          </a:prstGeom>
          <a:noFill/>
          <a:ln>
            <a:noFill/>
          </a:ln>
        </p:spPr>
        <p:txBody>
          <a:bodyPr vert="horz" wrap="square" lIns="0" tIns="0" rIns="0" bIns="0" rtlCol="0" anchor="t"/>
          <a:lstStyle/>
          <a:p>
            <a:pPr algn="l"/>
            <a:r>
              <a:rPr kumimoji="1" lang="en-US" altLang="zh-CN" sz="2200">
                <a:ln w="12700">
                  <a:noFill/>
                </a:ln>
                <a:solidFill>
                  <a:srgbClr val="262626">
                    <a:alpha val="100000"/>
                  </a:srgbClr>
                </a:solidFill>
                <a:latin typeface="Poppins"/>
                <a:ea typeface="Poppins"/>
                <a:cs typeface="Poppins"/>
              </a:rPr>
              <a:t>Retos en la gestión del recurso humano</a:t>
            </a:r>
            <a:endParaRPr kumimoji="1" lang="zh-CN" altLang="en-US"/>
          </a:p>
        </p:txBody>
      </p:sp>
      <p:sp>
        <p:nvSpPr>
          <p:cNvPr id="12" name="标题 1"/>
          <p:cNvSpPr txBox="1"/>
          <p:nvPr/>
        </p:nvSpPr>
        <p:spPr>
          <a:xfrm>
            <a:off x="6916652" y="4376772"/>
            <a:ext cx="491348" cy="569800"/>
          </a:xfrm>
          <a:prstGeom prst="rect">
            <a:avLst/>
          </a:prstGeom>
          <a:noFill/>
          <a:ln>
            <a:noFill/>
          </a:ln>
        </p:spPr>
        <p:txBody>
          <a:bodyPr vert="horz" wrap="square" lIns="0" tIns="0" rIns="0" bIns="0" rtlCol="0" anchor="t"/>
          <a:lstStyle/>
          <a:p>
            <a:pPr algn="l"/>
            <a:r>
              <a:rPr kumimoji="1" lang="en-US" altLang="zh-CN" sz="2200">
                <a:ln w="12700">
                  <a:noFill/>
                </a:ln>
                <a:solidFill>
                  <a:srgbClr val="4472C4">
                    <a:alpha val="100000"/>
                  </a:srgbClr>
                </a:solidFill>
                <a:latin typeface="poppins-bold"/>
                <a:ea typeface="poppins-bold"/>
                <a:cs typeface="poppins-bold"/>
              </a:rPr>
              <a:t>4.</a:t>
            </a:r>
            <a:endParaRPr kumimoji="1" lang="zh-CN" altLang="en-US"/>
          </a:p>
        </p:txBody>
      </p:sp>
      <p:pic>
        <p:nvPicPr>
          <p:cNvPr id="13" name="Imagen 12">
            <a:extLst>
              <a:ext uri="{FF2B5EF4-FFF2-40B4-BE49-F238E27FC236}">
                <a16:creationId xmlns:a16="http://schemas.microsoft.com/office/drawing/2014/main" id="{82CE7690-07B6-F0CB-9072-52782F3C0F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flipH="1">
            <a:off x="174171" y="1016001"/>
            <a:ext cx="6662058" cy="4586514"/>
          </a:xfrm>
          <a:prstGeom prst="rect">
            <a:avLst/>
          </a:prstGeom>
          <a:noFill/>
          <a:ln>
            <a:noFill/>
          </a:ln>
        </p:spPr>
      </p:pic>
      <p:sp>
        <p:nvSpPr>
          <p:cNvPr id="4" name="标题 1"/>
          <p:cNvSpPr txBox="1"/>
          <p:nvPr/>
        </p:nvSpPr>
        <p:spPr>
          <a:xfrm>
            <a:off x="6879771" y="3359947"/>
            <a:ext cx="4760688" cy="1255728"/>
          </a:xfrm>
          <a:prstGeom prst="rect">
            <a:avLst/>
          </a:prstGeom>
          <a:noFill/>
          <a:ln>
            <a:noFill/>
          </a:ln>
        </p:spPr>
        <p:txBody>
          <a:bodyPr vert="horz" wrap="square" lIns="91440" tIns="45720" rIns="91440" bIns="45720" rtlCol="0" anchor="ctr"/>
          <a:lstStyle/>
          <a:p>
            <a:pPr algn="ctr"/>
            <a:r>
              <a:rPr kumimoji="1" lang="en-US" altLang="zh-CN" sz="2800">
                <a:ln w="12700">
                  <a:noFill/>
                </a:ln>
                <a:solidFill>
                  <a:srgbClr val="000000">
                    <a:alpha val="100000"/>
                  </a:srgbClr>
                </a:solidFill>
                <a:latin typeface="poppins-bold"/>
                <a:ea typeface="poppins-bold"/>
                <a:cs typeface="poppins-bold"/>
              </a:rPr>
              <a:t>Roles y funciones del personal</a:t>
            </a:r>
            <a:endParaRPr kumimoji="1" lang="zh-CN" altLang="en-US"/>
          </a:p>
        </p:txBody>
      </p:sp>
      <p:sp>
        <p:nvSpPr>
          <p:cNvPr id="6" name="标题 1"/>
          <p:cNvSpPr txBox="1"/>
          <p:nvPr/>
        </p:nvSpPr>
        <p:spPr>
          <a:xfrm flipH="1">
            <a:off x="8745588" y="2147252"/>
            <a:ext cx="1029054" cy="1029054"/>
          </a:xfrm>
          <a:prstGeom prst="ellips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8031679" y="1262814"/>
            <a:ext cx="2456872" cy="1667352"/>
          </a:xfrm>
          <a:prstGeom prst="rect">
            <a:avLst/>
          </a:prstGeom>
          <a:noFill/>
          <a:ln>
            <a:noFill/>
          </a:ln>
        </p:spPr>
        <p:txBody>
          <a:bodyPr vert="horz" wrap="square" lIns="0" tIns="0" rIns="0" bIns="0" rtlCol="0" anchor="b"/>
          <a:lstStyle/>
          <a:p>
            <a:pPr algn="ctr"/>
            <a:r>
              <a:rPr kumimoji="1" lang="en-US" altLang="zh-CN" sz="4000">
                <a:ln w="12700">
                  <a:noFill/>
                </a:ln>
                <a:solidFill>
                  <a:srgbClr val="FFFFFF">
                    <a:alpha val="100000"/>
                  </a:srgbClr>
                </a:solidFill>
                <a:latin typeface="Barlow Condensed Medium"/>
                <a:ea typeface="Barlow Condensed Medium"/>
                <a:cs typeface="Barlow Condensed Medium"/>
              </a:rPr>
              <a:t> 01</a:t>
            </a:r>
            <a:endParaRPr kumimoji="1" lang="zh-CN" altLang="en-US"/>
          </a:p>
        </p:txBody>
      </p:sp>
      <p:pic>
        <p:nvPicPr>
          <p:cNvPr id="9" name="Imagen 8">
            <a:extLst>
              <a:ext uri="{FF2B5EF4-FFF2-40B4-BE49-F238E27FC236}">
                <a16:creationId xmlns:a16="http://schemas.microsoft.com/office/drawing/2014/main" id="{9C885B87-84D8-261C-B1EB-508E591EF5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2429983" y="3105235"/>
            <a:ext cx="1876974" cy="532487"/>
          </a:xfrm>
          <a:prstGeom prst="rect">
            <a:avLst/>
          </a:prstGeom>
          <a:noFill/>
          <a:ln>
            <a:noFill/>
          </a:ln>
        </p:spPr>
        <p:txBody>
          <a:bodyPr vert="horz" wrap="square" lIns="0" tIns="0" rIns="0" bIns="0" rtlCol="0" anchor="t"/>
          <a:lstStyle/>
          <a:p>
            <a:pPr algn="l"/>
            <a:r>
              <a:rPr kumimoji="1" lang="en-US" altLang="zh-CN" sz="1600">
                <a:ln w="12700">
                  <a:noFill/>
                </a:ln>
                <a:solidFill>
                  <a:srgbClr val="000000">
                    <a:alpha val="100000"/>
                  </a:srgbClr>
                </a:solidFill>
                <a:latin typeface="poppins-bold"/>
                <a:ea typeface="poppins-bold"/>
                <a:cs typeface="poppins-bold"/>
              </a:rPr>
              <a:t>Roles técnicos</a:t>
            </a:r>
            <a:endParaRPr kumimoji="1" lang="zh-CN" altLang="en-US"/>
          </a:p>
        </p:txBody>
      </p:sp>
      <p:sp>
        <p:nvSpPr>
          <p:cNvPr id="4" name="标题 1"/>
          <p:cNvSpPr txBox="1"/>
          <p:nvPr/>
        </p:nvSpPr>
        <p:spPr>
          <a:xfrm>
            <a:off x="2429983" y="3631471"/>
            <a:ext cx="1887475" cy="2502629"/>
          </a:xfrm>
          <a:prstGeom prst="rect">
            <a:avLst/>
          </a:prstGeom>
          <a:noFill/>
          <a:ln>
            <a:noFill/>
          </a:ln>
        </p:spPr>
        <p:txBody>
          <a:bodyPr vert="horz" wrap="square" lIns="0" tIns="0" rIns="0" bIns="0" rtlCol="0" anchor="t"/>
          <a:lstStyle/>
          <a:p>
            <a:pPr algn="l"/>
            <a:r>
              <a:rPr kumimoji="1" lang="en-US" altLang="zh-CN" sz="1270">
                <a:ln w="12700">
                  <a:noFill/>
                </a:ln>
                <a:solidFill>
                  <a:srgbClr val="000000">
                    <a:alpha val="100000"/>
                  </a:srgbClr>
                </a:solidFill>
                <a:latin typeface="Poppins"/>
                <a:ea typeface="Poppins"/>
                <a:cs typeface="Poppins"/>
              </a:rPr>
              <a:t>Los roles técnicos son aquellos que requieren habilidades especializadas en áreas como programación, redes y soporte informático. Son fundamentales para el correcto funcionamiento de los sistemas tecnológicos.</a:t>
            </a:r>
            <a:endParaRPr kumimoji="1" lang="zh-CN" altLang="en-US"/>
          </a:p>
        </p:txBody>
      </p:sp>
      <p:sp>
        <p:nvSpPr>
          <p:cNvPr id="5" name="标题 1"/>
          <p:cNvSpPr txBox="1"/>
          <p:nvPr/>
        </p:nvSpPr>
        <p:spPr>
          <a:xfrm>
            <a:off x="5096165" y="3105235"/>
            <a:ext cx="1889674" cy="532487"/>
          </a:xfrm>
          <a:prstGeom prst="rect">
            <a:avLst/>
          </a:prstGeom>
          <a:noFill/>
          <a:ln>
            <a:noFill/>
          </a:ln>
        </p:spPr>
        <p:txBody>
          <a:bodyPr vert="horz" wrap="square" lIns="0" tIns="0" rIns="0" bIns="0" rtlCol="0" anchor="t"/>
          <a:lstStyle/>
          <a:p>
            <a:pPr algn="l"/>
            <a:r>
              <a:rPr kumimoji="1" lang="en-US" altLang="zh-CN" sz="1600">
                <a:ln w="12700">
                  <a:noFill/>
                </a:ln>
                <a:solidFill>
                  <a:srgbClr val="000000">
                    <a:alpha val="100000"/>
                  </a:srgbClr>
                </a:solidFill>
                <a:latin typeface="poppins-bold"/>
                <a:ea typeface="poppins-bold"/>
                <a:cs typeface="poppins-bold"/>
              </a:rPr>
              <a:t>Roles administrativos</a:t>
            </a:r>
            <a:endParaRPr kumimoji="1" lang="zh-CN" altLang="en-US"/>
          </a:p>
        </p:txBody>
      </p:sp>
      <p:sp>
        <p:nvSpPr>
          <p:cNvPr id="6" name="标题 1"/>
          <p:cNvSpPr txBox="1"/>
          <p:nvPr/>
        </p:nvSpPr>
        <p:spPr>
          <a:xfrm>
            <a:off x="5096165" y="3631470"/>
            <a:ext cx="1893273" cy="2502629"/>
          </a:xfrm>
          <a:prstGeom prst="rect">
            <a:avLst/>
          </a:prstGeom>
          <a:noFill/>
          <a:ln>
            <a:noFill/>
          </a:ln>
        </p:spPr>
        <p:txBody>
          <a:bodyPr vert="horz" wrap="square" lIns="0" tIns="0" rIns="0" bIns="0" rtlCol="0" anchor="t"/>
          <a:lstStyle/>
          <a:p>
            <a:pPr algn="l"/>
            <a:r>
              <a:rPr kumimoji="1" lang="en-US" altLang="zh-CN" sz="1270">
                <a:ln w="12700">
                  <a:noFill/>
                </a:ln>
                <a:solidFill>
                  <a:srgbClr val="000000">
                    <a:alpha val="100000"/>
                  </a:srgbClr>
                </a:solidFill>
                <a:latin typeface="Poppins"/>
                <a:ea typeface="Poppins"/>
                <a:cs typeface="Poppins"/>
              </a:rPr>
              <a:t>Los roles administrativos se centran en la organización y gestión de los recursos de la empresa. Incluyen tareas de planificación, supervisión y control, asegurando que todo fluya de manera eficiente.</a:t>
            </a:r>
            <a:endParaRPr kumimoji="1" lang="zh-CN" altLang="en-US"/>
          </a:p>
        </p:txBody>
      </p:sp>
      <p:sp>
        <p:nvSpPr>
          <p:cNvPr id="7" name="标题 1"/>
          <p:cNvSpPr txBox="1"/>
          <p:nvPr/>
        </p:nvSpPr>
        <p:spPr>
          <a:xfrm>
            <a:off x="7670920" y="3105235"/>
            <a:ext cx="1927774" cy="532487"/>
          </a:xfrm>
          <a:prstGeom prst="rect">
            <a:avLst/>
          </a:prstGeom>
          <a:noFill/>
          <a:ln>
            <a:noFill/>
          </a:ln>
        </p:spPr>
        <p:txBody>
          <a:bodyPr vert="horz" wrap="square" lIns="0" tIns="0" rIns="0" bIns="0" rtlCol="0" anchor="t"/>
          <a:lstStyle/>
          <a:p>
            <a:pPr algn="l"/>
            <a:r>
              <a:rPr kumimoji="1" lang="en-US" altLang="zh-CN" sz="1600">
                <a:ln w="12700">
                  <a:noFill/>
                </a:ln>
                <a:solidFill>
                  <a:srgbClr val="000000">
                    <a:alpha val="100000"/>
                  </a:srgbClr>
                </a:solidFill>
                <a:latin typeface="poppins-bold"/>
                <a:ea typeface="poppins-bold"/>
                <a:cs typeface="poppins-bold"/>
              </a:rPr>
              <a:t>Roles de soporte y mantenimiento</a:t>
            </a:r>
            <a:endParaRPr kumimoji="1" lang="zh-CN" altLang="en-US"/>
          </a:p>
        </p:txBody>
      </p:sp>
      <p:sp>
        <p:nvSpPr>
          <p:cNvPr id="8" name="标题 1"/>
          <p:cNvSpPr txBox="1"/>
          <p:nvPr/>
        </p:nvSpPr>
        <p:spPr>
          <a:xfrm>
            <a:off x="7670920" y="3631470"/>
            <a:ext cx="1924896" cy="2502629"/>
          </a:xfrm>
          <a:prstGeom prst="rect">
            <a:avLst/>
          </a:prstGeom>
          <a:noFill/>
          <a:ln>
            <a:noFill/>
          </a:ln>
        </p:spPr>
        <p:txBody>
          <a:bodyPr vert="horz" wrap="square" lIns="0" tIns="0" rIns="0" bIns="0" rtlCol="0" anchor="t"/>
          <a:lstStyle/>
          <a:p>
            <a:pPr algn="l"/>
            <a:r>
              <a:rPr kumimoji="1" lang="en-US" altLang="zh-CN" sz="1270">
                <a:ln w="12700">
                  <a:noFill/>
                </a:ln>
                <a:solidFill>
                  <a:srgbClr val="000000">
                    <a:alpha val="100000"/>
                  </a:srgbClr>
                </a:solidFill>
                <a:latin typeface="Poppins"/>
                <a:ea typeface="Poppins"/>
                <a:cs typeface="Poppins"/>
              </a:rPr>
              <a:t>Estos roles garantizan que los sistemas y equipos funcionen adecuadamente. Incluyen la reparación, actualización y gestión de problemas técnicos, lo que es vital para la continuidad operativa.</a:t>
            </a:r>
            <a:endParaRPr kumimoji="1" lang="zh-CN" altLang="en-US"/>
          </a:p>
        </p:txBody>
      </p:sp>
      <p:sp>
        <p:nvSpPr>
          <p:cNvPr id="9" name="标题 1"/>
          <p:cNvSpPr txBox="1"/>
          <p:nvPr/>
        </p:nvSpPr>
        <p:spPr>
          <a:xfrm>
            <a:off x="2429983" y="2028910"/>
            <a:ext cx="1391112" cy="830997"/>
          </a:xfrm>
          <a:prstGeom prst="rect">
            <a:avLst/>
          </a:prstGeom>
          <a:noFill/>
          <a:ln>
            <a:noFill/>
          </a:ln>
        </p:spPr>
        <p:txBody>
          <a:bodyPr vert="horz" wrap="square" lIns="0" tIns="0" rIns="0" bIns="0" rtlCol="0" anchor="t"/>
          <a:lstStyle/>
          <a:p>
            <a:pPr algn="l"/>
            <a:r>
              <a:rPr kumimoji="1" lang="en-US" altLang="zh-CN" sz="5400">
                <a:ln w="12700">
                  <a:noFill/>
                </a:ln>
                <a:solidFill>
                  <a:srgbClr val="000000">
                    <a:alpha val="100000"/>
                  </a:srgbClr>
                </a:solidFill>
                <a:latin typeface="poppins-bold"/>
                <a:ea typeface="poppins-bold"/>
                <a:cs typeface="poppins-bold"/>
              </a:rPr>
              <a:t>01</a:t>
            </a:r>
            <a:endParaRPr kumimoji="1" lang="zh-CN" altLang="en-US"/>
          </a:p>
        </p:txBody>
      </p:sp>
      <p:sp>
        <p:nvSpPr>
          <p:cNvPr id="10" name="标题 1"/>
          <p:cNvSpPr txBox="1"/>
          <p:nvPr/>
        </p:nvSpPr>
        <p:spPr>
          <a:xfrm>
            <a:off x="5096165" y="2028910"/>
            <a:ext cx="1391112" cy="830997"/>
          </a:xfrm>
          <a:prstGeom prst="rect">
            <a:avLst/>
          </a:prstGeom>
          <a:noFill/>
          <a:ln>
            <a:noFill/>
          </a:ln>
        </p:spPr>
        <p:txBody>
          <a:bodyPr vert="horz" wrap="square" lIns="0" tIns="0" rIns="0" bIns="0" rtlCol="0" anchor="t"/>
          <a:lstStyle/>
          <a:p>
            <a:pPr algn="l"/>
            <a:r>
              <a:rPr kumimoji="1" lang="en-US" altLang="zh-CN" sz="5400">
                <a:ln w="12700">
                  <a:noFill/>
                </a:ln>
                <a:solidFill>
                  <a:srgbClr val="000000">
                    <a:alpha val="100000"/>
                  </a:srgbClr>
                </a:solidFill>
                <a:latin typeface="poppins-bold"/>
                <a:ea typeface="poppins-bold"/>
                <a:cs typeface="poppins-bold"/>
              </a:rPr>
              <a:t>02</a:t>
            </a:r>
            <a:endParaRPr kumimoji="1" lang="zh-CN" altLang="en-US"/>
          </a:p>
        </p:txBody>
      </p:sp>
      <p:sp>
        <p:nvSpPr>
          <p:cNvPr id="11" name="标题 1"/>
          <p:cNvSpPr txBox="1"/>
          <p:nvPr/>
        </p:nvSpPr>
        <p:spPr>
          <a:xfrm>
            <a:off x="7670920" y="2028910"/>
            <a:ext cx="1391112" cy="830997"/>
          </a:xfrm>
          <a:prstGeom prst="rect">
            <a:avLst/>
          </a:prstGeom>
          <a:noFill/>
          <a:ln>
            <a:noFill/>
          </a:ln>
        </p:spPr>
        <p:txBody>
          <a:bodyPr vert="horz" wrap="square" lIns="0" tIns="0" rIns="0" bIns="0" rtlCol="0" anchor="t"/>
          <a:lstStyle/>
          <a:p>
            <a:pPr algn="l"/>
            <a:r>
              <a:rPr kumimoji="1" lang="en-US" altLang="zh-CN" sz="5400">
                <a:ln w="12700">
                  <a:noFill/>
                </a:ln>
                <a:solidFill>
                  <a:srgbClr val="000000">
                    <a:alpha val="100000"/>
                  </a:srgbClr>
                </a:solidFill>
                <a:latin typeface="poppins-bold"/>
                <a:ea typeface="poppins-bold"/>
                <a:cs typeface="poppins-bold"/>
              </a:rPr>
              <a:t>03</a:t>
            </a:r>
            <a:endParaRPr kumimoji="1" lang="zh-CN" altLang="en-US"/>
          </a:p>
        </p:txBody>
      </p:sp>
      <p:sp>
        <p:nvSpPr>
          <p:cNvPr id="12" name="标题 1"/>
          <p:cNvSpPr txBox="1"/>
          <p:nvPr/>
        </p:nvSpPr>
        <p:spPr>
          <a:xfrm>
            <a:off x="493099" y="392345"/>
            <a:ext cx="7286484" cy="612000"/>
          </a:xfrm>
          <a:prstGeom prst="roundRect">
            <a:avLst>
              <a:gd name="adj" fmla="val 50000"/>
            </a:avLst>
          </a:prstGeom>
          <a:gradFill>
            <a:gsLst>
              <a:gs pos="5000">
                <a:schemeClr val="bg1">
                  <a:lumMod val="95000"/>
                </a:schemeClr>
              </a:gs>
              <a:gs pos="85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466702" y="336383"/>
            <a:ext cx="216000" cy="216000"/>
          </a:xfrm>
          <a:prstGeom prst="ellipse">
            <a:avLst/>
          </a:prstGeom>
          <a:solidFill>
            <a:schemeClr val="accent1"/>
          </a:solidFill>
          <a:ln w="254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781099" y="464345"/>
            <a:ext cx="10737801"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Identificación de roles</a:t>
            </a:r>
            <a:endParaRPr kumimoji="1" lang="zh-CN" altLang="en-US"/>
          </a:p>
        </p:txBody>
      </p:sp>
      <p:pic>
        <p:nvPicPr>
          <p:cNvPr id="15" name="Imagen 14">
            <a:extLst>
              <a:ext uri="{FF2B5EF4-FFF2-40B4-BE49-F238E27FC236}">
                <a16:creationId xmlns:a16="http://schemas.microsoft.com/office/drawing/2014/main" id="{80D1B129-6E9D-6A4E-38A7-7012A046C0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942682" y="1695560"/>
            <a:ext cx="7395410" cy="970547"/>
          </a:xfrm>
          <a:prstGeom prst="snip1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4902432" y="1799833"/>
            <a:ext cx="6211069" cy="810127"/>
          </a:xfrm>
          <a:prstGeom prst="rect">
            <a:avLst/>
          </a:prstGeom>
          <a:noFill/>
          <a:ln cap="sq">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La asistencia técnica es crucial para ayudar a los usuarios a resolver problemas con la tecnología. Implica brindar soporte y solucionar inconvenientes que puedan surgir durante el uso de sistemas.</a:t>
            </a:r>
            <a:endParaRPr kumimoji="1" lang="zh-CN" altLang="en-US"/>
          </a:p>
        </p:txBody>
      </p:sp>
      <p:sp>
        <p:nvSpPr>
          <p:cNvPr id="5" name="标题 1"/>
          <p:cNvSpPr txBox="1"/>
          <p:nvPr/>
        </p:nvSpPr>
        <p:spPr>
          <a:xfrm>
            <a:off x="4902432" y="1243263"/>
            <a:ext cx="6211069" cy="383225"/>
          </a:xfrm>
          <a:prstGeom prst="rect">
            <a:avLst/>
          </a:prstGeom>
          <a:noFill/>
          <a:ln cap="sq">
            <a:noFill/>
          </a:ln>
        </p:spPr>
        <p:txBody>
          <a:bodyPr vert="horz" wrap="square" lIns="0" tIns="0" rIns="0" bIns="0" rtlCol="0" anchor="b"/>
          <a:lstStyle/>
          <a:p>
            <a:pPr algn="l"/>
            <a:r>
              <a:rPr kumimoji="1" lang="en-US" altLang="zh-CN" sz="1600">
                <a:ln w="12700">
                  <a:noFill/>
                </a:ln>
                <a:solidFill>
                  <a:srgbClr val="4472C4">
                    <a:alpha val="100000"/>
                  </a:srgbClr>
                </a:solidFill>
                <a:latin typeface="poppins-bold"/>
                <a:ea typeface="poppins-bold"/>
                <a:cs typeface="poppins-bold"/>
              </a:rPr>
              <a:t>Asistencia técnica</a:t>
            </a:r>
            <a:endParaRPr kumimoji="1" lang="zh-CN" altLang="en-US"/>
          </a:p>
        </p:txBody>
      </p:sp>
      <p:sp>
        <p:nvSpPr>
          <p:cNvPr id="6" name="标题 1"/>
          <p:cNvSpPr txBox="1"/>
          <p:nvPr/>
        </p:nvSpPr>
        <p:spPr>
          <a:xfrm>
            <a:off x="3942682" y="3396023"/>
            <a:ext cx="7395410" cy="970547"/>
          </a:xfrm>
          <a:prstGeom prst="snip1Rect">
            <a:avLst/>
          </a:prstGeom>
          <a:solidFill>
            <a:schemeClr val="bg1"/>
          </a:solidFill>
          <a:ln w="12700" cap="sq">
            <a:solidFill>
              <a:schemeClr val="accent1">
                <a:lumMod val="60000"/>
                <a:lumOff val="40000"/>
              </a:schemeClr>
            </a:solid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4902432" y="3500296"/>
            <a:ext cx="6211069" cy="810127"/>
          </a:xfrm>
          <a:prstGeom prst="rect">
            <a:avLst/>
          </a:prstGeom>
          <a:noFill/>
          <a:ln cap="sq">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La gestión de proyectos implica planificar, ejecutar y supervisar proyectos específicos. Los responsables de esta función deben garantizar que se cumplan plazos y objetivos establecidos.</a:t>
            </a:r>
            <a:endParaRPr kumimoji="1" lang="zh-CN" altLang="en-US"/>
          </a:p>
        </p:txBody>
      </p:sp>
      <p:sp>
        <p:nvSpPr>
          <p:cNvPr id="8" name="标题 1"/>
          <p:cNvSpPr txBox="1"/>
          <p:nvPr/>
        </p:nvSpPr>
        <p:spPr>
          <a:xfrm>
            <a:off x="4902432" y="2943726"/>
            <a:ext cx="6211069" cy="383225"/>
          </a:xfrm>
          <a:prstGeom prst="rect">
            <a:avLst/>
          </a:prstGeom>
          <a:noFill/>
          <a:ln cap="sq">
            <a:noFill/>
          </a:ln>
        </p:spPr>
        <p:txBody>
          <a:bodyPr vert="horz" wrap="square" lIns="0" tIns="0" rIns="0" bIns="0" rtlCol="0" anchor="b"/>
          <a:lstStyle/>
          <a:p>
            <a:pPr algn="l"/>
            <a:r>
              <a:rPr kumimoji="1" lang="en-US" altLang="zh-CN" sz="1600">
                <a:ln w="12700">
                  <a:noFill/>
                </a:ln>
                <a:solidFill>
                  <a:srgbClr val="A5A5A5">
                    <a:alpha val="100000"/>
                  </a:srgbClr>
                </a:solidFill>
                <a:latin typeface="poppins-bold"/>
                <a:ea typeface="poppins-bold"/>
                <a:cs typeface="poppins-bold"/>
              </a:rPr>
              <a:t>Gestión de proyectos</a:t>
            </a:r>
            <a:endParaRPr kumimoji="1" lang="zh-CN" altLang="en-US"/>
          </a:p>
        </p:txBody>
      </p:sp>
      <p:sp>
        <p:nvSpPr>
          <p:cNvPr id="9" name="标题 1"/>
          <p:cNvSpPr txBox="1"/>
          <p:nvPr/>
        </p:nvSpPr>
        <p:spPr>
          <a:xfrm>
            <a:off x="3942682" y="5096486"/>
            <a:ext cx="7395410" cy="970547"/>
          </a:xfrm>
          <a:prstGeom prst="snip1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4902432" y="5200759"/>
            <a:ext cx="6211069" cy="810127"/>
          </a:xfrm>
          <a:prstGeom prst="rect">
            <a:avLst/>
          </a:prstGeom>
          <a:noFill/>
          <a:ln cap="sq">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La capacitación y desarrollo se refieren a la educación continua del personal. Es fundamental para mantener al equipo actualizado con las últimas tecnologías y mejores prácticas del sector.</a:t>
            </a:r>
            <a:endParaRPr kumimoji="1" lang="zh-CN" altLang="en-US"/>
          </a:p>
        </p:txBody>
      </p:sp>
      <p:sp>
        <p:nvSpPr>
          <p:cNvPr id="11" name="标题 1"/>
          <p:cNvSpPr txBox="1"/>
          <p:nvPr/>
        </p:nvSpPr>
        <p:spPr>
          <a:xfrm>
            <a:off x="4902432" y="4644189"/>
            <a:ext cx="6211069" cy="383225"/>
          </a:xfrm>
          <a:prstGeom prst="rect">
            <a:avLst/>
          </a:prstGeom>
          <a:noFill/>
          <a:ln cap="sq">
            <a:noFill/>
          </a:ln>
        </p:spPr>
        <p:txBody>
          <a:bodyPr vert="horz" wrap="square" lIns="0" tIns="0" rIns="0" bIns="0" rtlCol="0" anchor="b"/>
          <a:lstStyle/>
          <a:p>
            <a:pPr algn="l"/>
            <a:r>
              <a:rPr kumimoji="1" lang="en-US" altLang="zh-CN" sz="1600">
                <a:ln w="12700">
                  <a:noFill/>
                </a:ln>
                <a:solidFill>
                  <a:srgbClr val="4472C4">
                    <a:alpha val="100000"/>
                  </a:srgbClr>
                </a:solidFill>
                <a:latin typeface="poppins-bold"/>
                <a:ea typeface="poppins-bold"/>
                <a:cs typeface="poppins-bold"/>
              </a:rPr>
              <a:t>Capacitación y desarrollo</a:t>
            </a:r>
            <a:endParaRPr kumimoji="1" lang="zh-CN" altLang="en-US"/>
          </a:p>
        </p:txBody>
      </p:sp>
      <p:sp>
        <p:nvSpPr>
          <p:cNvPr id="12" name="标题 1"/>
          <p:cNvSpPr txBox="1"/>
          <p:nvPr/>
        </p:nvSpPr>
        <p:spPr>
          <a:xfrm>
            <a:off x="841208" y="1130300"/>
            <a:ext cx="3834063" cy="5003800"/>
          </a:xfrm>
          <a:prstGeom prst="snip1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3" name="Imagen 12"/>
          <p:cNvPicPr>
            <a:picLocks noChangeAspect="1"/>
          </p:cNvPicPr>
          <p:nvPr/>
        </p:nvPicPr>
        <p:blipFill>
          <a:blip r:embed="rId2">
            <a:alphaModFix/>
          </a:blip>
          <a:srcRect l="23457" t="1236" r="27725" b="1236"/>
          <a:stretch>
            <a:fillRect/>
          </a:stretch>
        </p:blipFill>
        <p:spPr>
          <a:xfrm>
            <a:off x="952713" y="1224855"/>
            <a:ext cx="3611053" cy="4814690"/>
          </a:xfrm>
          <a:custGeom>
            <a:avLst/>
            <a:gdLst/>
            <a:ahLst/>
            <a:cxnLst/>
            <a:rect l="l" t="t" r="r" b="b"/>
            <a:pathLst>
              <a:path w="3611053" h="4814690">
                <a:moveTo>
                  <a:pt x="0" y="0"/>
                </a:moveTo>
                <a:lnTo>
                  <a:pt x="3009199" y="0"/>
                </a:lnTo>
                <a:lnTo>
                  <a:pt x="3611053" y="601854"/>
                </a:lnTo>
                <a:lnTo>
                  <a:pt x="3611053" y="4814690"/>
                </a:lnTo>
                <a:lnTo>
                  <a:pt x="0" y="4814690"/>
                </a:lnTo>
                <a:close/>
              </a:path>
            </a:pathLst>
          </a:custGeom>
          <a:noFill/>
          <a:ln>
            <a:noFill/>
          </a:ln>
        </p:spPr>
      </p:pic>
      <p:sp>
        <p:nvSpPr>
          <p:cNvPr id="14" name="标题 1"/>
          <p:cNvSpPr txBox="1"/>
          <p:nvPr/>
        </p:nvSpPr>
        <p:spPr>
          <a:xfrm>
            <a:off x="493099" y="392345"/>
            <a:ext cx="7286484" cy="612000"/>
          </a:xfrm>
          <a:prstGeom prst="roundRect">
            <a:avLst>
              <a:gd name="adj" fmla="val 50000"/>
            </a:avLst>
          </a:prstGeom>
          <a:gradFill>
            <a:gsLst>
              <a:gs pos="5000">
                <a:schemeClr val="bg1">
                  <a:lumMod val="95000"/>
                </a:schemeClr>
              </a:gs>
              <a:gs pos="85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466702" y="336383"/>
            <a:ext cx="216000" cy="216000"/>
          </a:xfrm>
          <a:prstGeom prst="ellipse">
            <a:avLst/>
          </a:prstGeom>
          <a:solidFill>
            <a:schemeClr val="accent1"/>
          </a:solidFill>
          <a:ln w="254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a:off x="781099" y="464345"/>
            <a:ext cx="10737801"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Funciones específicas</a:t>
            </a:r>
            <a:endParaRPr kumimoji="1" lang="zh-CN" altLang="en-US"/>
          </a:p>
        </p:txBody>
      </p:sp>
      <p:pic>
        <p:nvPicPr>
          <p:cNvPr id="17" name="Imagen 16">
            <a:extLst>
              <a:ext uri="{FF2B5EF4-FFF2-40B4-BE49-F238E27FC236}">
                <a16:creationId xmlns:a16="http://schemas.microsoft.com/office/drawing/2014/main" id="{94AA836D-B4DE-F6CD-896A-35CB28817E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rot="10800000" flipV="1">
            <a:off x="1125952" y="3530600"/>
            <a:ext cx="2980368" cy="439461"/>
          </a:xfrm>
          <a:prstGeom prst="round2DiagRect">
            <a:avLst>
              <a:gd name="adj1" fmla="val 0"/>
              <a:gd name="adj2" fmla="val 50000"/>
            </a:avLst>
          </a:prstGeom>
          <a:solidFill>
            <a:schemeClr val="accent1"/>
          </a:solidFill>
          <a:ln w="19050" cap="sq">
            <a:noFill/>
            <a:miter/>
          </a:ln>
        </p:spPr>
        <p:txBody>
          <a:bodyPr vert="horz" wrap="square" lIns="0" tIns="0" rIns="0" bIns="0" rtlCol="0" anchor="ctr"/>
          <a:lstStyle/>
          <a:p>
            <a:pPr algn="ctr"/>
            <a:endParaRPr kumimoji="1" lang="zh-CN" altLang="en-US"/>
          </a:p>
        </p:txBody>
      </p:sp>
      <p:sp>
        <p:nvSpPr>
          <p:cNvPr id="4" name="标题 1"/>
          <p:cNvSpPr txBox="1"/>
          <p:nvPr/>
        </p:nvSpPr>
        <p:spPr>
          <a:xfrm rot="18890779">
            <a:off x="2024627" y="1890087"/>
            <a:ext cx="1183019" cy="1183019"/>
          </a:xfrm>
          <a:prstGeom prst="roundRect">
            <a:avLst>
              <a:gd name="adj" fmla="val 3487"/>
            </a:avLst>
          </a:prstGeom>
          <a:gradFill>
            <a:gsLst>
              <a:gs pos="0">
                <a:schemeClr val="accent1"/>
              </a:gs>
              <a:gs pos="100000">
                <a:schemeClr val="accent1">
                  <a:lumMod val="85000"/>
                  <a:lumOff val="15000"/>
                </a:schemeClr>
              </a:gs>
            </a:gsLst>
            <a:lin ang="16200000" scaled="0"/>
          </a:gradFill>
          <a:ln w="12700" cap="sq">
            <a:noFill/>
            <a:miter/>
          </a:ln>
          <a:effectLst>
            <a:outerShdw blurRad="330200" dist="3810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5" name="标题 1"/>
          <p:cNvSpPr txBox="1"/>
          <p:nvPr/>
        </p:nvSpPr>
        <p:spPr>
          <a:xfrm rot="18890779">
            <a:off x="1950924" y="1816383"/>
            <a:ext cx="1330426" cy="1330426"/>
          </a:xfrm>
          <a:prstGeom prst="roundRect">
            <a:avLst>
              <a:gd name="adj" fmla="val 3487"/>
            </a:avLst>
          </a:prstGeom>
          <a:no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1119398" y="4093230"/>
            <a:ext cx="2993478" cy="1674308"/>
          </a:xfrm>
          <a:prstGeom prst="rect">
            <a:avLst/>
          </a:prstGeom>
          <a:noFill/>
          <a:ln cap="sq">
            <a:noFill/>
          </a:ln>
        </p:spPr>
        <p:txBody>
          <a:bodyPr vert="horz" wrap="square" lIns="0" tIns="0" rIns="0" bIns="0" rtlCol="0" anchor="t"/>
          <a:lstStyle/>
          <a:p>
            <a:pPr algn="ctr"/>
            <a:r>
              <a:rPr kumimoji="1" lang="en-US" altLang="zh-CN" sz="1196">
                <a:ln w="12700">
                  <a:noFill/>
                </a:ln>
                <a:solidFill>
                  <a:srgbClr val="000000">
                    <a:alpha val="100000"/>
                  </a:srgbClr>
                </a:solidFill>
                <a:latin typeface="Poppins"/>
                <a:ea typeface="Poppins"/>
                <a:cs typeface="Poppins"/>
              </a:rPr>
              <a:t>Cada rol desempeña un papel crítico en el funcionamiento de la organización. La eficiencia y efectividad de los empleados están directamente relacionadas con la claridad en los roles asignados.</a:t>
            </a:r>
            <a:endParaRPr kumimoji="1" lang="zh-CN" altLang="en-US"/>
          </a:p>
        </p:txBody>
      </p:sp>
      <p:sp>
        <p:nvSpPr>
          <p:cNvPr id="7" name="标题 1"/>
          <p:cNvSpPr txBox="1"/>
          <p:nvPr/>
        </p:nvSpPr>
        <p:spPr>
          <a:xfrm>
            <a:off x="1238187" y="3588249"/>
            <a:ext cx="2755900" cy="358140"/>
          </a:xfrm>
          <a:prstGeom prst="rect">
            <a:avLst/>
          </a:prstGeom>
          <a:noFill/>
          <a:ln cap="sq">
            <a:noFill/>
          </a:ln>
        </p:spPr>
        <p:txBody>
          <a:bodyPr vert="horz" wrap="square" lIns="91440" tIns="45720" rIns="91440" bIns="45720" rtlCol="0" anchor="t"/>
          <a:lstStyle/>
          <a:p>
            <a:pPr algn="ctr"/>
            <a:r>
              <a:rPr kumimoji="1" lang="en-US" altLang="zh-CN" sz="1535">
                <a:ln w="12700">
                  <a:noFill/>
                </a:ln>
                <a:solidFill>
                  <a:srgbClr val="FFFFFF">
                    <a:alpha val="100000"/>
                  </a:srgbClr>
                </a:solidFill>
                <a:latin typeface="poppins-bold"/>
                <a:ea typeface="poppins-bold"/>
                <a:cs typeface="poppins-bold"/>
              </a:rPr>
              <a:t>Impacto en la operación</a:t>
            </a:r>
            <a:endParaRPr kumimoji="1" lang="zh-CN" altLang="en-US"/>
          </a:p>
        </p:txBody>
      </p:sp>
      <p:sp>
        <p:nvSpPr>
          <p:cNvPr id="8" name="标题 1"/>
          <p:cNvSpPr txBox="1"/>
          <p:nvPr/>
        </p:nvSpPr>
        <p:spPr>
          <a:xfrm rot="10800000" flipV="1">
            <a:off x="4608723" y="3530600"/>
            <a:ext cx="2967668" cy="439461"/>
          </a:xfrm>
          <a:prstGeom prst="round2DiagRect">
            <a:avLst>
              <a:gd name="adj1" fmla="val 0"/>
              <a:gd name="adj2" fmla="val 50000"/>
            </a:avLst>
          </a:prstGeom>
          <a:solidFill>
            <a:schemeClr val="accent2"/>
          </a:solidFill>
          <a:ln w="19050" cap="sq">
            <a:noFill/>
            <a:miter/>
          </a:ln>
        </p:spPr>
        <p:txBody>
          <a:bodyPr vert="horz" wrap="square" lIns="0" tIns="0" rIns="0" bIns="0" rtlCol="0" anchor="ctr"/>
          <a:lstStyle/>
          <a:p>
            <a:pPr algn="ctr"/>
            <a:endParaRPr kumimoji="1" lang="zh-CN" altLang="en-US"/>
          </a:p>
        </p:txBody>
      </p:sp>
      <p:sp>
        <p:nvSpPr>
          <p:cNvPr id="9" name="标题 1"/>
          <p:cNvSpPr txBox="1"/>
          <p:nvPr/>
        </p:nvSpPr>
        <p:spPr>
          <a:xfrm rot="18890779">
            <a:off x="5501047" y="1849461"/>
            <a:ext cx="1183019" cy="1183019"/>
          </a:xfrm>
          <a:prstGeom prst="roundRect">
            <a:avLst>
              <a:gd name="adj" fmla="val 3487"/>
            </a:avLst>
          </a:prstGeom>
          <a:gradFill>
            <a:gsLst>
              <a:gs pos="0">
                <a:schemeClr val="accent2"/>
              </a:gs>
              <a:gs pos="100000">
                <a:schemeClr val="accent2">
                  <a:lumMod val="85000"/>
                  <a:lumOff val="15000"/>
                </a:schemeClr>
              </a:gs>
            </a:gsLst>
            <a:lin ang="16200000" scaled="0"/>
          </a:gradFill>
          <a:ln w="12700" cap="sq">
            <a:noFill/>
            <a:miter/>
          </a:ln>
          <a:effectLst>
            <a:outerShdw blurRad="330200" dist="381000" dir="5400000" sx="90000" sy="90000" algn="t" rotWithShape="0">
              <a:schemeClr val="accent2">
                <a:lumMod val="75000"/>
                <a:alpha val="25000"/>
              </a:schemeClr>
            </a:outerShdw>
          </a:effectLst>
        </p:spPr>
        <p:txBody>
          <a:bodyPr vert="horz" wrap="square" lIns="45720" tIns="22860" rIns="45720" bIns="22860" rtlCol="0" anchor="ctr"/>
          <a:lstStyle/>
          <a:p>
            <a:pPr algn="ctr"/>
            <a:endParaRPr kumimoji="1" lang="zh-CN" altLang="en-US"/>
          </a:p>
        </p:txBody>
      </p:sp>
      <p:sp>
        <p:nvSpPr>
          <p:cNvPr id="10" name="标题 1"/>
          <p:cNvSpPr txBox="1"/>
          <p:nvPr/>
        </p:nvSpPr>
        <p:spPr>
          <a:xfrm rot="18890779">
            <a:off x="5427344" y="1775757"/>
            <a:ext cx="1330426" cy="1330426"/>
          </a:xfrm>
          <a:prstGeom prst="roundRect">
            <a:avLst>
              <a:gd name="adj" fmla="val 3487"/>
            </a:avLst>
          </a:prstGeom>
          <a:noFill/>
          <a:ln w="12700" cap="sq">
            <a:solidFill>
              <a:schemeClr val="accent2"/>
            </a:solid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4640268" y="4093230"/>
            <a:ext cx="2904578" cy="1674430"/>
          </a:xfrm>
          <a:prstGeom prst="rect">
            <a:avLst/>
          </a:prstGeom>
          <a:noFill/>
          <a:ln cap="sq">
            <a:noFill/>
          </a:ln>
        </p:spPr>
        <p:txBody>
          <a:bodyPr vert="horz" wrap="square" lIns="0" tIns="0" rIns="0" bIns="0" rtlCol="0" anchor="t"/>
          <a:lstStyle/>
          <a:p>
            <a:pPr algn="ctr"/>
            <a:r>
              <a:rPr kumimoji="1" lang="en-US" altLang="zh-CN" sz="1196">
                <a:ln w="12700">
                  <a:noFill/>
                </a:ln>
                <a:solidFill>
                  <a:srgbClr val="000000">
                    <a:alpha val="100000"/>
                  </a:srgbClr>
                </a:solidFill>
                <a:latin typeface="Poppins"/>
                <a:ea typeface="Poppins"/>
                <a:cs typeface="Poppins"/>
              </a:rPr>
              <a:t>Los diferentes roles permiten la colaboración y el intercambio de ideas, lo que promueve un ambiente propicio para la innovación. La diversidad de perspectivas es clave para generar nuevas soluciones.</a:t>
            </a:r>
            <a:endParaRPr kumimoji="1" lang="zh-CN" altLang="en-US"/>
          </a:p>
        </p:txBody>
      </p:sp>
      <p:sp>
        <p:nvSpPr>
          <p:cNvPr id="12" name="标题 1"/>
          <p:cNvSpPr txBox="1"/>
          <p:nvPr/>
        </p:nvSpPr>
        <p:spPr>
          <a:xfrm>
            <a:off x="4708257" y="3588249"/>
            <a:ext cx="2768600" cy="358140"/>
          </a:xfrm>
          <a:prstGeom prst="rect">
            <a:avLst/>
          </a:prstGeom>
          <a:noFill/>
          <a:ln cap="sq">
            <a:noFill/>
          </a:ln>
        </p:spPr>
        <p:txBody>
          <a:bodyPr vert="horz" wrap="square" lIns="91440" tIns="45720" rIns="91440" bIns="45720" rtlCol="0" anchor="t"/>
          <a:lstStyle/>
          <a:p>
            <a:pPr algn="ctr"/>
            <a:r>
              <a:rPr kumimoji="1" lang="en-US" altLang="zh-CN" sz="1300">
                <a:ln w="12700">
                  <a:noFill/>
                </a:ln>
                <a:solidFill>
                  <a:srgbClr val="FFFFFF">
                    <a:alpha val="100000"/>
                  </a:srgbClr>
                </a:solidFill>
                <a:latin typeface="poppins-bold"/>
                <a:ea typeface="poppins-bold"/>
                <a:cs typeface="poppins-bold"/>
              </a:rPr>
              <a:t>Contribución a la innovación</a:t>
            </a:r>
            <a:endParaRPr kumimoji="1" lang="zh-CN" altLang="en-US"/>
          </a:p>
        </p:txBody>
      </p:sp>
      <p:sp>
        <p:nvSpPr>
          <p:cNvPr id="13" name="标题 1"/>
          <p:cNvSpPr txBox="1"/>
          <p:nvPr/>
        </p:nvSpPr>
        <p:spPr>
          <a:xfrm rot="10800000" flipV="1">
            <a:off x="8113821" y="3530600"/>
            <a:ext cx="2942268" cy="439461"/>
          </a:xfrm>
          <a:prstGeom prst="round2DiagRect">
            <a:avLst>
              <a:gd name="adj1" fmla="val 0"/>
              <a:gd name="adj2" fmla="val 50000"/>
            </a:avLst>
          </a:prstGeom>
          <a:solidFill>
            <a:schemeClr val="accent1"/>
          </a:solidFill>
          <a:ln w="19050" cap="sq">
            <a:noFill/>
            <a:miter/>
          </a:ln>
        </p:spPr>
        <p:txBody>
          <a:bodyPr vert="horz" wrap="square" lIns="0" tIns="0" rIns="0" bIns="0" rtlCol="0" anchor="ctr"/>
          <a:lstStyle/>
          <a:p>
            <a:pPr algn="ctr"/>
            <a:endParaRPr kumimoji="1" lang="zh-CN" altLang="en-US"/>
          </a:p>
        </p:txBody>
      </p:sp>
      <p:sp>
        <p:nvSpPr>
          <p:cNvPr id="14" name="标题 1"/>
          <p:cNvSpPr txBox="1"/>
          <p:nvPr/>
        </p:nvSpPr>
        <p:spPr>
          <a:xfrm rot="18890779">
            <a:off x="8993446" y="1873400"/>
            <a:ext cx="1183019" cy="1183019"/>
          </a:xfrm>
          <a:prstGeom prst="roundRect">
            <a:avLst>
              <a:gd name="adj" fmla="val 3487"/>
            </a:avLst>
          </a:prstGeom>
          <a:gradFill>
            <a:gsLst>
              <a:gs pos="0">
                <a:schemeClr val="accent1"/>
              </a:gs>
              <a:gs pos="100000">
                <a:schemeClr val="accent1">
                  <a:lumMod val="85000"/>
                  <a:lumOff val="15000"/>
                </a:schemeClr>
              </a:gs>
            </a:gsLst>
            <a:lin ang="16200000" scaled="0"/>
          </a:gradFill>
          <a:ln w="12700" cap="sq">
            <a:noFill/>
            <a:miter/>
          </a:ln>
          <a:effectLst>
            <a:outerShdw blurRad="330200" dist="3810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15" name="标题 1"/>
          <p:cNvSpPr txBox="1"/>
          <p:nvPr/>
        </p:nvSpPr>
        <p:spPr>
          <a:xfrm rot="18890779">
            <a:off x="8919742" y="1794281"/>
            <a:ext cx="1330426" cy="1330426"/>
          </a:xfrm>
          <a:prstGeom prst="roundRect">
            <a:avLst>
              <a:gd name="adj" fmla="val 3487"/>
            </a:avLst>
          </a:prstGeom>
          <a:no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6" name="标题 1"/>
          <p:cNvSpPr txBox="1"/>
          <p:nvPr/>
        </p:nvSpPr>
        <p:spPr>
          <a:xfrm>
            <a:off x="8139016" y="4093230"/>
            <a:ext cx="2891878" cy="1674308"/>
          </a:xfrm>
          <a:prstGeom prst="rect">
            <a:avLst/>
          </a:prstGeom>
          <a:noFill/>
          <a:ln cap="sq">
            <a:noFill/>
          </a:ln>
        </p:spPr>
        <p:txBody>
          <a:bodyPr vert="horz" wrap="square" lIns="0" tIns="0" rIns="0" bIns="0" rtlCol="0" anchor="t"/>
          <a:lstStyle/>
          <a:p>
            <a:pPr algn="ctr"/>
            <a:r>
              <a:rPr kumimoji="1" lang="en-US" altLang="zh-CN" sz="1196">
                <a:ln w="12700">
                  <a:noFill/>
                </a:ln>
                <a:solidFill>
                  <a:srgbClr val="000000">
                    <a:alpha val="100000"/>
                  </a:srgbClr>
                </a:solidFill>
                <a:latin typeface="Poppins"/>
                <a:ea typeface="Poppins"/>
                <a:cs typeface="Poppins"/>
              </a:rPr>
              <a:t>Al comprender la función de cada rol, se optimizan procesos y recursos, lo que resulta en una mayor eficiencia organizacional. Esto ayuda a alcanzar objetivos y metas con mayor rapidez y efectividad.</a:t>
            </a:r>
            <a:endParaRPr kumimoji="1" lang="zh-CN" altLang="en-US"/>
          </a:p>
        </p:txBody>
      </p:sp>
      <p:sp>
        <p:nvSpPr>
          <p:cNvPr id="17" name="标题 1"/>
          <p:cNvSpPr txBox="1"/>
          <p:nvPr/>
        </p:nvSpPr>
        <p:spPr>
          <a:xfrm>
            <a:off x="8226055" y="3588249"/>
            <a:ext cx="2717800" cy="358140"/>
          </a:xfrm>
          <a:prstGeom prst="rect">
            <a:avLst/>
          </a:prstGeom>
          <a:noFill/>
          <a:ln cap="sq">
            <a:noFill/>
          </a:ln>
        </p:spPr>
        <p:txBody>
          <a:bodyPr vert="horz" wrap="square" lIns="91440" tIns="45720" rIns="91440" bIns="45720" rtlCol="0" anchor="t"/>
          <a:lstStyle/>
          <a:p>
            <a:pPr algn="ctr"/>
            <a:r>
              <a:rPr kumimoji="1" lang="en-US" altLang="zh-CN" sz="1600">
                <a:ln w="12700">
                  <a:noFill/>
                </a:ln>
                <a:solidFill>
                  <a:srgbClr val="FFFFFF">
                    <a:alpha val="100000"/>
                  </a:srgbClr>
                </a:solidFill>
                <a:latin typeface="poppins-bold"/>
                <a:ea typeface="poppins-bold"/>
                <a:cs typeface="poppins-bold"/>
              </a:rPr>
              <a:t>Mejora de la eficiencia</a:t>
            </a:r>
            <a:endParaRPr kumimoji="1" lang="zh-CN" altLang="en-US"/>
          </a:p>
        </p:txBody>
      </p:sp>
      <p:sp>
        <p:nvSpPr>
          <p:cNvPr id="18" name="标题 1"/>
          <p:cNvSpPr txBox="1"/>
          <p:nvPr/>
        </p:nvSpPr>
        <p:spPr>
          <a:xfrm>
            <a:off x="2254187" y="2091951"/>
            <a:ext cx="723900" cy="673100"/>
          </a:xfrm>
          <a:prstGeom prst="rect">
            <a:avLst/>
          </a:prstGeom>
          <a:noFill/>
          <a:ln cap="sq">
            <a:noFill/>
          </a:ln>
        </p:spPr>
        <p:txBody>
          <a:bodyPr vert="horz" wrap="square" lIns="0" tIns="0" rIns="0" bIns="0" rtlCol="0" anchor="ctr"/>
          <a:lstStyle/>
          <a:p>
            <a:pPr algn="ctr"/>
            <a:r>
              <a:rPr kumimoji="1" lang="en-US" altLang="zh-CN" sz="3600">
                <a:ln w="12700">
                  <a:noFill/>
                </a:ln>
                <a:solidFill>
                  <a:srgbClr val="FFFFFF">
                    <a:alpha val="100000"/>
                  </a:srgbClr>
                </a:solidFill>
                <a:latin typeface="poppins-bold"/>
                <a:ea typeface="poppins-bold"/>
                <a:cs typeface="poppins-bold"/>
              </a:rPr>
              <a:t>01</a:t>
            </a:r>
            <a:endParaRPr kumimoji="1" lang="zh-CN" altLang="en-US"/>
          </a:p>
        </p:txBody>
      </p:sp>
      <p:sp>
        <p:nvSpPr>
          <p:cNvPr id="19" name="标题 1"/>
          <p:cNvSpPr txBox="1"/>
          <p:nvPr/>
        </p:nvSpPr>
        <p:spPr>
          <a:xfrm>
            <a:off x="5679807" y="2091951"/>
            <a:ext cx="825500" cy="673100"/>
          </a:xfrm>
          <a:prstGeom prst="rect">
            <a:avLst/>
          </a:prstGeom>
          <a:noFill/>
          <a:ln cap="sq">
            <a:noFill/>
          </a:ln>
        </p:spPr>
        <p:txBody>
          <a:bodyPr vert="horz" wrap="square" lIns="0" tIns="0" rIns="0" bIns="0" rtlCol="0" anchor="ctr"/>
          <a:lstStyle/>
          <a:p>
            <a:pPr algn="ctr"/>
            <a:r>
              <a:rPr kumimoji="1" lang="en-US" altLang="zh-CN" sz="3600">
                <a:ln w="12700">
                  <a:noFill/>
                </a:ln>
                <a:solidFill>
                  <a:srgbClr val="FFFFFF">
                    <a:alpha val="100000"/>
                  </a:srgbClr>
                </a:solidFill>
                <a:latin typeface="poppins-bold"/>
                <a:ea typeface="poppins-bold"/>
                <a:cs typeface="poppins-bold"/>
              </a:rPr>
              <a:t>02</a:t>
            </a:r>
            <a:endParaRPr kumimoji="1" lang="zh-CN" altLang="en-US"/>
          </a:p>
        </p:txBody>
      </p:sp>
      <p:sp>
        <p:nvSpPr>
          <p:cNvPr id="20" name="标题 1"/>
          <p:cNvSpPr txBox="1"/>
          <p:nvPr/>
        </p:nvSpPr>
        <p:spPr>
          <a:xfrm>
            <a:off x="9172205" y="2091951"/>
            <a:ext cx="825500" cy="673100"/>
          </a:xfrm>
          <a:prstGeom prst="rect">
            <a:avLst/>
          </a:prstGeom>
          <a:noFill/>
          <a:ln cap="sq">
            <a:noFill/>
          </a:ln>
        </p:spPr>
        <p:txBody>
          <a:bodyPr vert="horz" wrap="square" lIns="0" tIns="0" rIns="0" bIns="0" rtlCol="0" anchor="ctr"/>
          <a:lstStyle/>
          <a:p>
            <a:pPr algn="ctr"/>
            <a:r>
              <a:rPr kumimoji="1" lang="en-US" altLang="zh-CN" sz="3600">
                <a:ln w="12700">
                  <a:noFill/>
                </a:ln>
                <a:solidFill>
                  <a:srgbClr val="FFFFFF">
                    <a:alpha val="100000"/>
                  </a:srgbClr>
                </a:solidFill>
                <a:latin typeface="poppins-bold"/>
                <a:ea typeface="poppins-bold"/>
                <a:cs typeface="poppins-bold"/>
              </a:rPr>
              <a:t>03</a:t>
            </a:r>
            <a:endParaRPr kumimoji="1" lang="zh-CN" altLang="en-US"/>
          </a:p>
        </p:txBody>
      </p:sp>
      <p:sp>
        <p:nvSpPr>
          <p:cNvPr id="21" name="标题 1"/>
          <p:cNvSpPr txBox="1"/>
          <p:nvPr/>
        </p:nvSpPr>
        <p:spPr>
          <a:xfrm>
            <a:off x="493099" y="392345"/>
            <a:ext cx="7286484" cy="612000"/>
          </a:xfrm>
          <a:prstGeom prst="roundRect">
            <a:avLst>
              <a:gd name="adj" fmla="val 50000"/>
            </a:avLst>
          </a:prstGeom>
          <a:gradFill>
            <a:gsLst>
              <a:gs pos="5000">
                <a:schemeClr val="bg1">
                  <a:lumMod val="95000"/>
                </a:schemeClr>
              </a:gs>
              <a:gs pos="85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2" name="标题 1"/>
          <p:cNvSpPr txBox="1"/>
          <p:nvPr/>
        </p:nvSpPr>
        <p:spPr>
          <a:xfrm>
            <a:off x="466702" y="336383"/>
            <a:ext cx="216000" cy="216000"/>
          </a:xfrm>
          <a:prstGeom prst="ellipse">
            <a:avLst/>
          </a:prstGeom>
          <a:solidFill>
            <a:schemeClr val="accent1"/>
          </a:solidFill>
          <a:ln w="25400" cap="sq">
            <a:noFill/>
            <a:miter/>
          </a:ln>
        </p:spPr>
        <p:txBody>
          <a:bodyPr vert="horz" wrap="square" lIns="91440" tIns="45720" rIns="91440" bIns="45720" rtlCol="0" anchor="ctr"/>
          <a:lstStyle/>
          <a:p>
            <a:pPr algn="ctr"/>
            <a:endParaRPr kumimoji="1" lang="zh-CN" altLang="en-US"/>
          </a:p>
        </p:txBody>
      </p:sp>
      <p:sp>
        <p:nvSpPr>
          <p:cNvPr id="23" name="标题 1"/>
          <p:cNvSpPr txBox="1"/>
          <p:nvPr/>
        </p:nvSpPr>
        <p:spPr>
          <a:xfrm>
            <a:off x="781099" y="464345"/>
            <a:ext cx="10737801"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Importancia de cada rol</a:t>
            </a:r>
            <a:endParaRPr kumimoji="1" lang="zh-CN" altLang="en-US"/>
          </a:p>
        </p:txBody>
      </p:sp>
      <p:pic>
        <p:nvPicPr>
          <p:cNvPr id="24" name="Imagen 23">
            <a:extLst>
              <a:ext uri="{FF2B5EF4-FFF2-40B4-BE49-F238E27FC236}">
                <a16:creationId xmlns:a16="http://schemas.microsoft.com/office/drawing/2014/main" id="{6892CBBB-B5BF-550B-DEE4-BD568EB68C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rot="21400083" flipH="1">
            <a:off x="689346" y="1361013"/>
            <a:ext cx="10800000" cy="4752000"/>
          </a:xfrm>
          <a:prstGeom prst="roundRect">
            <a:avLst>
              <a:gd name="adj" fmla="val 7202"/>
            </a:avLst>
          </a:prstGeom>
          <a:solidFill>
            <a:schemeClr val="accent1"/>
          </a:solidFill>
          <a:ln w="57150" cap="rnd">
            <a:noFill/>
            <a:round/>
          </a:ln>
          <a:effectLst/>
        </p:spPr>
        <p:txBody>
          <a:bodyPr vert="horz" wrap="square" lIns="91440" tIns="45720" rIns="91440" bIns="45720" rtlCol="0" anchor="ctr"/>
          <a:lstStyle/>
          <a:p>
            <a:pPr algn="ctr"/>
            <a:endParaRPr kumimoji="1" lang="zh-CN" altLang="en-US"/>
          </a:p>
        </p:txBody>
      </p:sp>
      <p:sp>
        <p:nvSpPr>
          <p:cNvPr id="4" name="标题 1"/>
          <p:cNvSpPr txBox="1"/>
          <p:nvPr/>
        </p:nvSpPr>
        <p:spPr>
          <a:xfrm flipH="1">
            <a:off x="689346" y="1372980"/>
            <a:ext cx="10800000" cy="4752000"/>
          </a:xfrm>
          <a:prstGeom prst="roundRect">
            <a:avLst>
              <a:gd name="adj" fmla="val 7202"/>
            </a:avLst>
          </a:prstGeom>
          <a:solidFill>
            <a:schemeClr val="bg1"/>
          </a:solidFill>
          <a:ln w="12700" cap="rnd">
            <a:solidFill>
              <a:schemeClr val="accent1"/>
            </a:solidFill>
            <a:round/>
          </a:ln>
          <a:effectLst/>
        </p:spPr>
        <p:txBody>
          <a:bodyPr vert="horz" wrap="square" lIns="91440" tIns="45720" rIns="91440" bIns="45720" rtlCol="0" anchor="ctr"/>
          <a:lstStyle/>
          <a:p>
            <a:pPr algn="ctr"/>
            <a:endParaRPr kumimoji="1" lang="zh-CN" altLang="en-US"/>
          </a:p>
        </p:txBody>
      </p:sp>
      <p:sp>
        <p:nvSpPr>
          <p:cNvPr id="5" name="标题 1"/>
          <p:cNvSpPr txBox="1"/>
          <p:nvPr/>
        </p:nvSpPr>
        <p:spPr>
          <a:xfrm>
            <a:off x="702654" y="1106112"/>
            <a:ext cx="6525082" cy="504000"/>
          </a:xfrm>
          <a:prstGeom prst="roundRect">
            <a:avLst>
              <a:gd name="adj" fmla="val 50000"/>
            </a:avLst>
          </a:prstGeom>
          <a:solidFill>
            <a:schemeClr val="accent2"/>
          </a:solidFill>
          <a:ln w="12700" cap="sq">
            <a:noFill/>
            <a:miter/>
          </a:ln>
          <a:effectLst/>
        </p:spPr>
        <p:txBody>
          <a:bodyPr vert="horz" wrap="square" lIns="251999" tIns="324000" rIns="180000" bIns="216000" rtlCol="0" anchor="b"/>
          <a:lstStyle/>
          <a:p>
            <a:pPr algn="ctr"/>
            <a:endParaRPr kumimoji="1" lang="zh-CN" altLang="en-US"/>
          </a:p>
        </p:txBody>
      </p:sp>
      <p:sp>
        <p:nvSpPr>
          <p:cNvPr id="6" name="标题 1"/>
          <p:cNvSpPr txBox="1"/>
          <p:nvPr/>
        </p:nvSpPr>
        <p:spPr>
          <a:xfrm>
            <a:off x="933090" y="1204224"/>
            <a:ext cx="6064211" cy="307777"/>
          </a:xfrm>
          <a:prstGeom prst="rect">
            <a:avLst/>
          </a:prstGeom>
          <a:noFill/>
          <a:ln>
            <a:noFill/>
          </a:ln>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Función y Responsabilidades</a:t>
            </a:r>
            <a:endParaRPr kumimoji="1" lang="zh-CN" altLang="en-US"/>
          </a:p>
        </p:txBody>
      </p:sp>
      <p:sp>
        <p:nvSpPr>
          <p:cNvPr id="7" name="标题 1"/>
          <p:cNvSpPr txBox="1"/>
          <p:nvPr/>
        </p:nvSpPr>
        <p:spPr>
          <a:xfrm>
            <a:off x="1334268" y="1940222"/>
            <a:ext cx="4536000" cy="828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Liderazgo estratégico y táctico.</a:t>
            </a:r>
            <a:endParaRPr kumimoji="1" lang="zh-CN" altLang="en-US"/>
          </a:p>
        </p:txBody>
      </p:sp>
      <p:sp>
        <p:nvSpPr>
          <p:cNvPr id="8" name="标题 1"/>
          <p:cNvSpPr txBox="1"/>
          <p:nvPr/>
        </p:nvSpPr>
        <p:spPr>
          <a:xfrm>
            <a:off x="1084165" y="2011411"/>
            <a:ext cx="126854" cy="131412"/>
          </a:xfrm>
          <a:custGeom>
            <a:avLst/>
            <a:gdLst>
              <a:gd name="T0" fmla="*/ 7371 w 17675"/>
              <a:gd name="T1" fmla="*/ 1125 h 18310"/>
              <a:gd name="T2" fmla="*/ 5959 w 17675"/>
              <a:gd name="T3" fmla="*/ 593 h 18310"/>
              <a:gd name="T4" fmla="*/ 4735 w 17675"/>
              <a:gd name="T5" fmla="*/ 240 h 18310"/>
              <a:gd name="T6" fmla="*/ 3627 w 17675"/>
              <a:gd name="T7" fmla="*/ 54 h 18310"/>
              <a:gd name="T8" fmla="*/ 2806 w 17675"/>
              <a:gd name="T9" fmla="*/ 7 h 18310"/>
              <a:gd name="T10" fmla="*/ 2454 w 17675"/>
              <a:gd name="T11" fmla="*/ 85 h 18310"/>
              <a:gd name="T12" fmla="*/ 2132 w 17675"/>
              <a:gd name="T13" fmla="*/ 262 h 18310"/>
              <a:gd name="T14" fmla="*/ 1838 w 17675"/>
              <a:gd name="T15" fmla="*/ 533 h 18310"/>
              <a:gd name="T16" fmla="*/ 1454 w 17675"/>
              <a:gd name="T17" fmla="*/ 1111 h 18310"/>
              <a:gd name="T18" fmla="*/ 1261 w 17675"/>
              <a:gd name="T19" fmla="*/ 1545 h 18310"/>
              <a:gd name="T20" fmla="*/ 1008 w 17675"/>
              <a:gd name="T21" fmla="*/ 2315 h 18310"/>
              <a:gd name="T22" fmla="*/ 836 w 17675"/>
              <a:gd name="T23" fmla="*/ 2906 h 18310"/>
              <a:gd name="T24" fmla="*/ 683 w 17675"/>
              <a:gd name="T25" fmla="*/ 3519 h 18310"/>
              <a:gd name="T26" fmla="*/ 506 w 17675"/>
              <a:gd name="T27" fmla="*/ 4330 h 18310"/>
              <a:gd name="T28" fmla="*/ 356 w 17675"/>
              <a:gd name="T29" fmla="*/ 5177 h 18310"/>
              <a:gd name="T30" fmla="*/ 199 w 17675"/>
              <a:gd name="T31" fmla="*/ 6352 h 18310"/>
              <a:gd name="T32" fmla="*/ 65 w 17675"/>
              <a:gd name="T33" fmla="*/ 7805 h 18310"/>
              <a:gd name="T34" fmla="*/ 1 w 17675"/>
              <a:gd name="T35" fmla="*/ 9354 h 18310"/>
              <a:gd name="T36" fmla="*/ 54 w 17675"/>
              <a:gd name="T37" fmla="*/ 10490 h 18310"/>
              <a:gd name="T38" fmla="*/ 149 w 17675"/>
              <a:gd name="T39" fmla="*/ 11811 h 18310"/>
              <a:gd name="T40" fmla="*/ 298 w 17675"/>
              <a:gd name="T41" fmla="*/ 13066 h 18310"/>
              <a:gd name="T42" fmla="*/ 650 w 17675"/>
              <a:gd name="T43" fmla="*/ 14979 h 18310"/>
              <a:gd name="T44" fmla="*/ 991 w 17675"/>
              <a:gd name="T45" fmla="*/ 16266 h 18310"/>
              <a:gd name="T46" fmla="*/ 1332 w 17675"/>
              <a:gd name="T47" fmla="*/ 17156 h 18310"/>
              <a:gd name="T48" fmla="*/ 1598 w 17675"/>
              <a:gd name="T49" fmla="*/ 17614 h 18310"/>
              <a:gd name="T50" fmla="*/ 1917 w 17675"/>
              <a:gd name="T51" fmla="*/ 17970 h 18310"/>
              <a:gd name="T52" fmla="*/ 2349 w 17675"/>
              <a:gd name="T53" fmla="*/ 18232 h 18310"/>
              <a:gd name="T54" fmla="*/ 2745 w 17675"/>
              <a:gd name="T55" fmla="*/ 18309 h 18310"/>
              <a:gd name="T56" fmla="*/ 3384 w 17675"/>
              <a:gd name="T57" fmla="*/ 18287 h 18310"/>
              <a:gd name="T58" fmla="*/ 4157 w 17675"/>
              <a:gd name="T59" fmla="*/ 18192 h 18310"/>
              <a:gd name="T60" fmla="*/ 5006 w 17675"/>
              <a:gd name="T61" fmla="*/ 18009 h 18310"/>
              <a:gd name="T62" fmla="*/ 6483 w 17675"/>
              <a:gd name="T63" fmla="*/ 17544 h 18310"/>
              <a:gd name="T64" fmla="*/ 7200 w 17675"/>
              <a:gd name="T65" fmla="*/ 17277 h 18310"/>
              <a:gd name="T66" fmla="*/ 8295 w 17675"/>
              <a:gd name="T67" fmla="*/ 16841 h 18310"/>
              <a:gd name="T68" fmla="*/ 8872 w 17675"/>
              <a:gd name="T69" fmla="*/ 16605 h 18310"/>
              <a:gd name="T70" fmla="*/ 9346 w 17675"/>
              <a:gd name="T71" fmla="*/ 16391 h 18310"/>
              <a:gd name="T72" fmla="*/ 10057 w 17675"/>
              <a:gd name="T73" fmla="*/ 16048 h 18310"/>
              <a:gd name="T74" fmla="*/ 10903 w 17675"/>
              <a:gd name="T75" fmla="*/ 15584 h 18310"/>
              <a:gd name="T76" fmla="*/ 11867 w 17675"/>
              <a:gd name="T77" fmla="*/ 14997 h 18310"/>
              <a:gd name="T78" fmla="*/ 12590 w 17675"/>
              <a:gd name="T79" fmla="*/ 14528 h 18310"/>
              <a:gd name="T80" fmla="*/ 13212 w 17675"/>
              <a:gd name="T81" fmla="*/ 14088 h 18310"/>
              <a:gd name="T82" fmla="*/ 14481 w 17675"/>
              <a:gd name="T83" fmla="*/ 13112 h 18310"/>
              <a:gd name="T84" fmla="*/ 14802 w 17675"/>
              <a:gd name="T85" fmla="*/ 12854 h 18310"/>
              <a:gd name="T86" fmla="*/ 15451 w 17675"/>
              <a:gd name="T87" fmla="*/ 12291 h 18310"/>
              <a:gd name="T88" fmla="*/ 15927 w 17675"/>
              <a:gd name="T89" fmla="*/ 11853 h 18310"/>
              <a:gd name="T90" fmla="*/ 16443 w 17675"/>
              <a:gd name="T91" fmla="*/ 11335 h 18310"/>
              <a:gd name="T92" fmla="*/ 16856 w 17675"/>
              <a:gd name="T93" fmla="*/ 10896 h 18310"/>
              <a:gd name="T94" fmla="*/ 17295 w 17675"/>
              <a:gd name="T95" fmla="*/ 10296 h 18310"/>
              <a:gd name="T96" fmla="*/ 17543 w 17675"/>
              <a:gd name="T97" fmla="*/ 9805 h 18310"/>
              <a:gd name="T98" fmla="*/ 17675 w 17675"/>
              <a:gd name="T99" fmla="*/ 9283 h 18310"/>
              <a:gd name="T100" fmla="*/ 17609 w 17675"/>
              <a:gd name="T101" fmla="*/ 8895 h 18310"/>
              <a:gd name="T102" fmla="*/ 17328 w 17675"/>
              <a:gd name="T103" fmla="*/ 8254 h 18310"/>
              <a:gd name="T104" fmla="*/ 16958 w 17675"/>
              <a:gd name="T105" fmla="*/ 7727 h 18310"/>
              <a:gd name="T106" fmla="*/ 16207 w 17675"/>
              <a:gd name="T107" fmla="*/ 6899 h 18310"/>
              <a:gd name="T108" fmla="*/ 14144 w 17675"/>
              <a:gd name="T109" fmla="*/ 5052 h 18310"/>
              <a:gd name="T110" fmla="*/ 13172 w 17675"/>
              <a:gd name="T111" fmla="*/ 4299 h 18310"/>
              <a:gd name="T112" fmla="*/ 12177 w 17675"/>
              <a:gd name="T113" fmla="*/ 3589 h 18310"/>
              <a:gd name="T114" fmla="*/ 11125 w 17675"/>
              <a:gd name="T115" fmla="*/ 2920 h 18310"/>
              <a:gd name="T116" fmla="*/ 10015 w 17675"/>
              <a:gd name="T117" fmla="*/ 2305 h 18310"/>
              <a:gd name="T118" fmla="*/ 9091 w 17675"/>
              <a:gd name="T119" fmla="*/ 1855 h 18310"/>
              <a:gd name="T120" fmla="*/ 8300 w 17675"/>
              <a:gd name="T121" fmla="*/ 1511 h 18310"/>
            </a:gdLst>
            <a:ahLst/>
            <a:cxnLst/>
            <a:rect l="0" t="0" r="r" b="b"/>
            <a:pathLst>
              <a:path w="17675" h="18310">
                <a:moveTo>
                  <a:pt x="8078" y="1426"/>
                </a:moveTo>
                <a:lnTo>
                  <a:pt x="8047" y="1409"/>
                </a:lnTo>
                <a:lnTo>
                  <a:pt x="8014" y="1392"/>
                </a:lnTo>
                <a:lnTo>
                  <a:pt x="7978" y="1376"/>
                </a:lnTo>
                <a:lnTo>
                  <a:pt x="7940" y="1360"/>
                </a:lnTo>
                <a:lnTo>
                  <a:pt x="7901" y="1345"/>
                </a:lnTo>
                <a:lnTo>
                  <a:pt x="7862" y="1330"/>
                </a:lnTo>
                <a:lnTo>
                  <a:pt x="7825" y="1315"/>
                </a:lnTo>
                <a:lnTo>
                  <a:pt x="7791" y="1301"/>
                </a:lnTo>
                <a:lnTo>
                  <a:pt x="7583" y="1213"/>
                </a:lnTo>
                <a:lnTo>
                  <a:pt x="7371" y="1125"/>
                </a:lnTo>
                <a:lnTo>
                  <a:pt x="7158" y="1038"/>
                </a:lnTo>
                <a:lnTo>
                  <a:pt x="6943" y="953"/>
                </a:lnTo>
                <a:lnTo>
                  <a:pt x="6836" y="911"/>
                </a:lnTo>
                <a:lnTo>
                  <a:pt x="6727" y="869"/>
                </a:lnTo>
                <a:lnTo>
                  <a:pt x="6618" y="827"/>
                </a:lnTo>
                <a:lnTo>
                  <a:pt x="6508" y="787"/>
                </a:lnTo>
                <a:lnTo>
                  <a:pt x="6400" y="747"/>
                </a:lnTo>
                <a:lnTo>
                  <a:pt x="6290" y="707"/>
                </a:lnTo>
                <a:lnTo>
                  <a:pt x="6180" y="668"/>
                </a:lnTo>
                <a:lnTo>
                  <a:pt x="6070" y="631"/>
                </a:lnTo>
                <a:lnTo>
                  <a:pt x="5959" y="593"/>
                </a:lnTo>
                <a:lnTo>
                  <a:pt x="5848" y="556"/>
                </a:lnTo>
                <a:lnTo>
                  <a:pt x="5737" y="521"/>
                </a:lnTo>
                <a:lnTo>
                  <a:pt x="5626" y="485"/>
                </a:lnTo>
                <a:lnTo>
                  <a:pt x="5515" y="451"/>
                </a:lnTo>
                <a:lnTo>
                  <a:pt x="5404" y="418"/>
                </a:lnTo>
                <a:lnTo>
                  <a:pt x="5292" y="386"/>
                </a:lnTo>
                <a:lnTo>
                  <a:pt x="5181" y="355"/>
                </a:lnTo>
                <a:lnTo>
                  <a:pt x="5069" y="324"/>
                </a:lnTo>
                <a:lnTo>
                  <a:pt x="4958" y="295"/>
                </a:lnTo>
                <a:lnTo>
                  <a:pt x="4846" y="267"/>
                </a:lnTo>
                <a:lnTo>
                  <a:pt x="4735" y="240"/>
                </a:lnTo>
                <a:lnTo>
                  <a:pt x="4623" y="215"/>
                </a:lnTo>
                <a:lnTo>
                  <a:pt x="4511" y="191"/>
                </a:lnTo>
                <a:lnTo>
                  <a:pt x="4400" y="168"/>
                </a:lnTo>
                <a:lnTo>
                  <a:pt x="4287" y="146"/>
                </a:lnTo>
                <a:lnTo>
                  <a:pt x="4234" y="136"/>
                </a:lnTo>
                <a:lnTo>
                  <a:pt x="4162" y="125"/>
                </a:lnTo>
                <a:lnTo>
                  <a:pt x="4075" y="112"/>
                </a:lnTo>
                <a:lnTo>
                  <a:pt x="3975" y="98"/>
                </a:lnTo>
                <a:lnTo>
                  <a:pt x="3865" y="84"/>
                </a:lnTo>
                <a:lnTo>
                  <a:pt x="3749" y="69"/>
                </a:lnTo>
                <a:lnTo>
                  <a:pt x="3627" y="54"/>
                </a:lnTo>
                <a:lnTo>
                  <a:pt x="3504" y="40"/>
                </a:lnTo>
                <a:lnTo>
                  <a:pt x="3381" y="27"/>
                </a:lnTo>
                <a:lnTo>
                  <a:pt x="3262" y="17"/>
                </a:lnTo>
                <a:lnTo>
                  <a:pt x="3148" y="8"/>
                </a:lnTo>
                <a:lnTo>
                  <a:pt x="3043" y="2"/>
                </a:lnTo>
                <a:lnTo>
                  <a:pt x="2994" y="1"/>
                </a:lnTo>
                <a:lnTo>
                  <a:pt x="2949" y="0"/>
                </a:lnTo>
                <a:lnTo>
                  <a:pt x="2908" y="0"/>
                </a:lnTo>
                <a:lnTo>
                  <a:pt x="2869" y="1"/>
                </a:lnTo>
                <a:lnTo>
                  <a:pt x="2834" y="3"/>
                </a:lnTo>
                <a:lnTo>
                  <a:pt x="2806" y="7"/>
                </a:lnTo>
                <a:lnTo>
                  <a:pt x="2780" y="11"/>
                </a:lnTo>
                <a:lnTo>
                  <a:pt x="2761" y="17"/>
                </a:lnTo>
                <a:lnTo>
                  <a:pt x="2724" y="19"/>
                </a:lnTo>
                <a:lnTo>
                  <a:pt x="2689" y="24"/>
                </a:lnTo>
                <a:lnTo>
                  <a:pt x="2655" y="29"/>
                </a:lnTo>
                <a:lnTo>
                  <a:pt x="2620" y="35"/>
                </a:lnTo>
                <a:lnTo>
                  <a:pt x="2586" y="43"/>
                </a:lnTo>
                <a:lnTo>
                  <a:pt x="2552" y="53"/>
                </a:lnTo>
                <a:lnTo>
                  <a:pt x="2518" y="63"/>
                </a:lnTo>
                <a:lnTo>
                  <a:pt x="2486" y="73"/>
                </a:lnTo>
                <a:lnTo>
                  <a:pt x="2454" y="85"/>
                </a:lnTo>
                <a:lnTo>
                  <a:pt x="2423" y="97"/>
                </a:lnTo>
                <a:lnTo>
                  <a:pt x="2393" y="111"/>
                </a:lnTo>
                <a:lnTo>
                  <a:pt x="2363" y="125"/>
                </a:lnTo>
                <a:lnTo>
                  <a:pt x="2333" y="138"/>
                </a:lnTo>
                <a:lnTo>
                  <a:pt x="2306" y="153"/>
                </a:lnTo>
                <a:lnTo>
                  <a:pt x="2278" y="169"/>
                </a:lnTo>
                <a:lnTo>
                  <a:pt x="2252" y="184"/>
                </a:lnTo>
                <a:lnTo>
                  <a:pt x="2218" y="205"/>
                </a:lnTo>
                <a:lnTo>
                  <a:pt x="2187" y="224"/>
                </a:lnTo>
                <a:lnTo>
                  <a:pt x="2158" y="244"/>
                </a:lnTo>
                <a:lnTo>
                  <a:pt x="2132" y="262"/>
                </a:lnTo>
                <a:lnTo>
                  <a:pt x="2108" y="280"/>
                </a:lnTo>
                <a:lnTo>
                  <a:pt x="2086" y="298"/>
                </a:lnTo>
                <a:lnTo>
                  <a:pt x="2065" y="315"/>
                </a:lnTo>
                <a:lnTo>
                  <a:pt x="2046" y="332"/>
                </a:lnTo>
                <a:lnTo>
                  <a:pt x="2007" y="367"/>
                </a:lnTo>
                <a:lnTo>
                  <a:pt x="1968" y="405"/>
                </a:lnTo>
                <a:lnTo>
                  <a:pt x="1927" y="446"/>
                </a:lnTo>
                <a:lnTo>
                  <a:pt x="1878" y="491"/>
                </a:lnTo>
                <a:lnTo>
                  <a:pt x="1866" y="504"/>
                </a:lnTo>
                <a:lnTo>
                  <a:pt x="1853" y="517"/>
                </a:lnTo>
                <a:lnTo>
                  <a:pt x="1838" y="533"/>
                </a:lnTo>
                <a:lnTo>
                  <a:pt x="1823" y="550"/>
                </a:lnTo>
                <a:lnTo>
                  <a:pt x="1790" y="592"/>
                </a:lnTo>
                <a:lnTo>
                  <a:pt x="1754" y="637"/>
                </a:lnTo>
                <a:lnTo>
                  <a:pt x="1717" y="689"/>
                </a:lnTo>
                <a:lnTo>
                  <a:pt x="1679" y="744"/>
                </a:lnTo>
                <a:lnTo>
                  <a:pt x="1639" y="802"/>
                </a:lnTo>
                <a:lnTo>
                  <a:pt x="1600" y="863"/>
                </a:lnTo>
                <a:lnTo>
                  <a:pt x="1561" y="926"/>
                </a:lnTo>
                <a:lnTo>
                  <a:pt x="1524" y="988"/>
                </a:lnTo>
                <a:lnTo>
                  <a:pt x="1488" y="1051"/>
                </a:lnTo>
                <a:lnTo>
                  <a:pt x="1454" y="1111"/>
                </a:lnTo>
                <a:lnTo>
                  <a:pt x="1425" y="1170"/>
                </a:lnTo>
                <a:lnTo>
                  <a:pt x="1398" y="1226"/>
                </a:lnTo>
                <a:lnTo>
                  <a:pt x="1387" y="1252"/>
                </a:lnTo>
                <a:lnTo>
                  <a:pt x="1377" y="1277"/>
                </a:lnTo>
                <a:lnTo>
                  <a:pt x="1367" y="1301"/>
                </a:lnTo>
                <a:lnTo>
                  <a:pt x="1359" y="1323"/>
                </a:lnTo>
                <a:lnTo>
                  <a:pt x="1340" y="1362"/>
                </a:lnTo>
                <a:lnTo>
                  <a:pt x="1320" y="1404"/>
                </a:lnTo>
                <a:lnTo>
                  <a:pt x="1300" y="1449"/>
                </a:lnTo>
                <a:lnTo>
                  <a:pt x="1280" y="1496"/>
                </a:lnTo>
                <a:lnTo>
                  <a:pt x="1261" y="1545"/>
                </a:lnTo>
                <a:lnTo>
                  <a:pt x="1241" y="1596"/>
                </a:lnTo>
                <a:lnTo>
                  <a:pt x="1222" y="1648"/>
                </a:lnTo>
                <a:lnTo>
                  <a:pt x="1204" y="1702"/>
                </a:lnTo>
                <a:lnTo>
                  <a:pt x="1167" y="1808"/>
                </a:lnTo>
                <a:lnTo>
                  <a:pt x="1133" y="1915"/>
                </a:lnTo>
                <a:lnTo>
                  <a:pt x="1101" y="2016"/>
                </a:lnTo>
                <a:lnTo>
                  <a:pt x="1071" y="2110"/>
                </a:lnTo>
                <a:lnTo>
                  <a:pt x="1055" y="2162"/>
                </a:lnTo>
                <a:lnTo>
                  <a:pt x="1039" y="2213"/>
                </a:lnTo>
                <a:lnTo>
                  <a:pt x="1023" y="2264"/>
                </a:lnTo>
                <a:lnTo>
                  <a:pt x="1008" y="2315"/>
                </a:lnTo>
                <a:lnTo>
                  <a:pt x="992" y="2367"/>
                </a:lnTo>
                <a:lnTo>
                  <a:pt x="976" y="2418"/>
                </a:lnTo>
                <a:lnTo>
                  <a:pt x="960" y="2471"/>
                </a:lnTo>
                <a:lnTo>
                  <a:pt x="944" y="2523"/>
                </a:lnTo>
                <a:lnTo>
                  <a:pt x="929" y="2573"/>
                </a:lnTo>
                <a:lnTo>
                  <a:pt x="913" y="2626"/>
                </a:lnTo>
                <a:lnTo>
                  <a:pt x="896" y="2682"/>
                </a:lnTo>
                <a:lnTo>
                  <a:pt x="880" y="2740"/>
                </a:lnTo>
                <a:lnTo>
                  <a:pt x="864" y="2797"/>
                </a:lnTo>
                <a:lnTo>
                  <a:pt x="849" y="2852"/>
                </a:lnTo>
                <a:lnTo>
                  <a:pt x="836" y="2906"/>
                </a:lnTo>
                <a:lnTo>
                  <a:pt x="827" y="2955"/>
                </a:lnTo>
                <a:lnTo>
                  <a:pt x="818" y="2977"/>
                </a:lnTo>
                <a:lnTo>
                  <a:pt x="809" y="3003"/>
                </a:lnTo>
                <a:lnTo>
                  <a:pt x="800" y="3033"/>
                </a:lnTo>
                <a:lnTo>
                  <a:pt x="790" y="3067"/>
                </a:lnTo>
                <a:lnTo>
                  <a:pt x="770" y="3142"/>
                </a:lnTo>
                <a:lnTo>
                  <a:pt x="749" y="3225"/>
                </a:lnTo>
                <a:lnTo>
                  <a:pt x="730" y="3310"/>
                </a:lnTo>
                <a:lnTo>
                  <a:pt x="712" y="3390"/>
                </a:lnTo>
                <a:lnTo>
                  <a:pt x="696" y="3461"/>
                </a:lnTo>
                <a:lnTo>
                  <a:pt x="683" y="3519"/>
                </a:lnTo>
                <a:lnTo>
                  <a:pt x="666" y="3593"/>
                </a:lnTo>
                <a:lnTo>
                  <a:pt x="649" y="3667"/>
                </a:lnTo>
                <a:lnTo>
                  <a:pt x="633" y="3740"/>
                </a:lnTo>
                <a:lnTo>
                  <a:pt x="617" y="3813"/>
                </a:lnTo>
                <a:lnTo>
                  <a:pt x="601" y="3886"/>
                </a:lnTo>
                <a:lnTo>
                  <a:pt x="585" y="3960"/>
                </a:lnTo>
                <a:lnTo>
                  <a:pt x="569" y="4033"/>
                </a:lnTo>
                <a:lnTo>
                  <a:pt x="553" y="4108"/>
                </a:lnTo>
                <a:lnTo>
                  <a:pt x="537" y="4182"/>
                </a:lnTo>
                <a:lnTo>
                  <a:pt x="522" y="4256"/>
                </a:lnTo>
                <a:lnTo>
                  <a:pt x="506" y="4330"/>
                </a:lnTo>
                <a:lnTo>
                  <a:pt x="491" y="4406"/>
                </a:lnTo>
                <a:lnTo>
                  <a:pt x="476" y="4483"/>
                </a:lnTo>
                <a:lnTo>
                  <a:pt x="461" y="4559"/>
                </a:lnTo>
                <a:lnTo>
                  <a:pt x="447" y="4636"/>
                </a:lnTo>
                <a:lnTo>
                  <a:pt x="433" y="4714"/>
                </a:lnTo>
                <a:lnTo>
                  <a:pt x="419" y="4791"/>
                </a:lnTo>
                <a:lnTo>
                  <a:pt x="405" y="4868"/>
                </a:lnTo>
                <a:lnTo>
                  <a:pt x="392" y="4946"/>
                </a:lnTo>
                <a:lnTo>
                  <a:pt x="380" y="5024"/>
                </a:lnTo>
                <a:lnTo>
                  <a:pt x="367" y="5100"/>
                </a:lnTo>
                <a:lnTo>
                  <a:pt x="356" y="5177"/>
                </a:lnTo>
                <a:lnTo>
                  <a:pt x="346" y="5253"/>
                </a:lnTo>
                <a:lnTo>
                  <a:pt x="335" y="5328"/>
                </a:lnTo>
                <a:lnTo>
                  <a:pt x="320" y="5442"/>
                </a:lnTo>
                <a:lnTo>
                  <a:pt x="304" y="5555"/>
                </a:lnTo>
                <a:lnTo>
                  <a:pt x="289" y="5668"/>
                </a:lnTo>
                <a:lnTo>
                  <a:pt x="275" y="5781"/>
                </a:lnTo>
                <a:lnTo>
                  <a:pt x="259" y="5896"/>
                </a:lnTo>
                <a:lnTo>
                  <a:pt x="244" y="6009"/>
                </a:lnTo>
                <a:lnTo>
                  <a:pt x="229" y="6124"/>
                </a:lnTo>
                <a:lnTo>
                  <a:pt x="214" y="6238"/>
                </a:lnTo>
                <a:lnTo>
                  <a:pt x="199" y="6352"/>
                </a:lnTo>
                <a:lnTo>
                  <a:pt x="185" y="6467"/>
                </a:lnTo>
                <a:lnTo>
                  <a:pt x="173" y="6581"/>
                </a:lnTo>
                <a:lnTo>
                  <a:pt x="160" y="6697"/>
                </a:lnTo>
                <a:lnTo>
                  <a:pt x="148" y="6811"/>
                </a:lnTo>
                <a:lnTo>
                  <a:pt x="137" y="6927"/>
                </a:lnTo>
                <a:lnTo>
                  <a:pt x="127" y="7042"/>
                </a:lnTo>
                <a:lnTo>
                  <a:pt x="119" y="7158"/>
                </a:lnTo>
                <a:lnTo>
                  <a:pt x="105" y="7319"/>
                </a:lnTo>
                <a:lnTo>
                  <a:pt x="92" y="7481"/>
                </a:lnTo>
                <a:lnTo>
                  <a:pt x="79" y="7643"/>
                </a:lnTo>
                <a:lnTo>
                  <a:pt x="65" y="7805"/>
                </a:lnTo>
                <a:lnTo>
                  <a:pt x="54" y="7967"/>
                </a:lnTo>
                <a:lnTo>
                  <a:pt x="42" y="8130"/>
                </a:lnTo>
                <a:lnTo>
                  <a:pt x="31" y="8293"/>
                </a:lnTo>
                <a:lnTo>
                  <a:pt x="22" y="8456"/>
                </a:lnTo>
                <a:lnTo>
                  <a:pt x="14" y="8619"/>
                </a:lnTo>
                <a:lnTo>
                  <a:pt x="8" y="8782"/>
                </a:lnTo>
                <a:lnTo>
                  <a:pt x="3" y="8946"/>
                </a:lnTo>
                <a:lnTo>
                  <a:pt x="0" y="9109"/>
                </a:lnTo>
                <a:lnTo>
                  <a:pt x="0" y="9190"/>
                </a:lnTo>
                <a:lnTo>
                  <a:pt x="0" y="9273"/>
                </a:lnTo>
                <a:lnTo>
                  <a:pt x="1" y="9354"/>
                </a:lnTo>
                <a:lnTo>
                  <a:pt x="2" y="9437"/>
                </a:lnTo>
                <a:lnTo>
                  <a:pt x="3" y="9518"/>
                </a:lnTo>
                <a:lnTo>
                  <a:pt x="7" y="9599"/>
                </a:lnTo>
                <a:lnTo>
                  <a:pt x="10" y="9681"/>
                </a:lnTo>
                <a:lnTo>
                  <a:pt x="14" y="9763"/>
                </a:lnTo>
                <a:lnTo>
                  <a:pt x="21" y="9885"/>
                </a:lnTo>
                <a:lnTo>
                  <a:pt x="27" y="10006"/>
                </a:lnTo>
                <a:lnTo>
                  <a:pt x="34" y="10128"/>
                </a:lnTo>
                <a:lnTo>
                  <a:pt x="41" y="10249"/>
                </a:lnTo>
                <a:lnTo>
                  <a:pt x="47" y="10369"/>
                </a:lnTo>
                <a:lnTo>
                  <a:pt x="54" y="10490"/>
                </a:lnTo>
                <a:lnTo>
                  <a:pt x="61" y="10611"/>
                </a:lnTo>
                <a:lnTo>
                  <a:pt x="68" y="10731"/>
                </a:lnTo>
                <a:lnTo>
                  <a:pt x="74" y="10851"/>
                </a:lnTo>
                <a:lnTo>
                  <a:pt x="82" y="10971"/>
                </a:lnTo>
                <a:lnTo>
                  <a:pt x="90" y="11091"/>
                </a:lnTo>
                <a:lnTo>
                  <a:pt x="98" y="11213"/>
                </a:lnTo>
                <a:lnTo>
                  <a:pt x="108" y="11333"/>
                </a:lnTo>
                <a:lnTo>
                  <a:pt x="117" y="11454"/>
                </a:lnTo>
                <a:lnTo>
                  <a:pt x="127" y="11575"/>
                </a:lnTo>
                <a:lnTo>
                  <a:pt x="138" y="11697"/>
                </a:lnTo>
                <a:lnTo>
                  <a:pt x="149" y="11811"/>
                </a:lnTo>
                <a:lnTo>
                  <a:pt x="160" y="11926"/>
                </a:lnTo>
                <a:lnTo>
                  <a:pt x="172" y="12040"/>
                </a:lnTo>
                <a:lnTo>
                  <a:pt x="184" y="12154"/>
                </a:lnTo>
                <a:lnTo>
                  <a:pt x="197" y="12269"/>
                </a:lnTo>
                <a:lnTo>
                  <a:pt x="209" y="12383"/>
                </a:lnTo>
                <a:lnTo>
                  <a:pt x="223" y="12498"/>
                </a:lnTo>
                <a:lnTo>
                  <a:pt x="237" y="12611"/>
                </a:lnTo>
                <a:lnTo>
                  <a:pt x="252" y="12725"/>
                </a:lnTo>
                <a:lnTo>
                  <a:pt x="267" y="12839"/>
                </a:lnTo>
                <a:lnTo>
                  <a:pt x="281" y="12953"/>
                </a:lnTo>
                <a:lnTo>
                  <a:pt x="298" y="13066"/>
                </a:lnTo>
                <a:lnTo>
                  <a:pt x="314" y="13180"/>
                </a:lnTo>
                <a:lnTo>
                  <a:pt x="331" y="13293"/>
                </a:lnTo>
                <a:lnTo>
                  <a:pt x="349" y="13406"/>
                </a:lnTo>
                <a:lnTo>
                  <a:pt x="366" y="13519"/>
                </a:lnTo>
                <a:lnTo>
                  <a:pt x="398" y="13707"/>
                </a:lnTo>
                <a:lnTo>
                  <a:pt x="433" y="13905"/>
                </a:lnTo>
                <a:lnTo>
                  <a:pt x="470" y="14110"/>
                </a:lnTo>
                <a:lnTo>
                  <a:pt x="511" y="14322"/>
                </a:lnTo>
                <a:lnTo>
                  <a:pt x="555" y="14538"/>
                </a:lnTo>
                <a:lnTo>
                  <a:pt x="602" y="14757"/>
                </a:lnTo>
                <a:lnTo>
                  <a:pt x="650" y="14979"/>
                </a:lnTo>
                <a:lnTo>
                  <a:pt x="701" y="15200"/>
                </a:lnTo>
                <a:lnTo>
                  <a:pt x="729" y="15311"/>
                </a:lnTo>
                <a:lnTo>
                  <a:pt x="755" y="15420"/>
                </a:lnTo>
                <a:lnTo>
                  <a:pt x="784" y="15530"/>
                </a:lnTo>
                <a:lnTo>
                  <a:pt x="811" y="15639"/>
                </a:lnTo>
                <a:lnTo>
                  <a:pt x="840" y="15747"/>
                </a:lnTo>
                <a:lnTo>
                  <a:pt x="870" y="15854"/>
                </a:lnTo>
                <a:lnTo>
                  <a:pt x="899" y="15959"/>
                </a:lnTo>
                <a:lnTo>
                  <a:pt x="929" y="16064"/>
                </a:lnTo>
                <a:lnTo>
                  <a:pt x="960" y="16165"/>
                </a:lnTo>
                <a:lnTo>
                  <a:pt x="991" y="16266"/>
                </a:lnTo>
                <a:lnTo>
                  <a:pt x="1022" y="16365"/>
                </a:lnTo>
                <a:lnTo>
                  <a:pt x="1054" y="16461"/>
                </a:lnTo>
                <a:lnTo>
                  <a:pt x="1086" y="16556"/>
                </a:lnTo>
                <a:lnTo>
                  <a:pt x="1119" y="16646"/>
                </a:lnTo>
                <a:lnTo>
                  <a:pt x="1152" y="16735"/>
                </a:lnTo>
                <a:lnTo>
                  <a:pt x="1185" y="16821"/>
                </a:lnTo>
                <a:lnTo>
                  <a:pt x="1225" y="16920"/>
                </a:lnTo>
                <a:lnTo>
                  <a:pt x="1267" y="17017"/>
                </a:lnTo>
                <a:lnTo>
                  <a:pt x="1288" y="17064"/>
                </a:lnTo>
                <a:lnTo>
                  <a:pt x="1310" y="17111"/>
                </a:lnTo>
                <a:lnTo>
                  <a:pt x="1332" y="17156"/>
                </a:lnTo>
                <a:lnTo>
                  <a:pt x="1354" y="17202"/>
                </a:lnTo>
                <a:lnTo>
                  <a:pt x="1377" y="17247"/>
                </a:lnTo>
                <a:lnTo>
                  <a:pt x="1399" y="17290"/>
                </a:lnTo>
                <a:lnTo>
                  <a:pt x="1423" y="17334"/>
                </a:lnTo>
                <a:lnTo>
                  <a:pt x="1447" y="17376"/>
                </a:lnTo>
                <a:lnTo>
                  <a:pt x="1471" y="17417"/>
                </a:lnTo>
                <a:lnTo>
                  <a:pt x="1496" y="17459"/>
                </a:lnTo>
                <a:lnTo>
                  <a:pt x="1521" y="17499"/>
                </a:lnTo>
                <a:lnTo>
                  <a:pt x="1546" y="17538"/>
                </a:lnTo>
                <a:lnTo>
                  <a:pt x="1572" y="17576"/>
                </a:lnTo>
                <a:lnTo>
                  <a:pt x="1598" y="17614"/>
                </a:lnTo>
                <a:lnTo>
                  <a:pt x="1625" y="17651"/>
                </a:lnTo>
                <a:lnTo>
                  <a:pt x="1652" y="17687"/>
                </a:lnTo>
                <a:lnTo>
                  <a:pt x="1680" y="17722"/>
                </a:lnTo>
                <a:lnTo>
                  <a:pt x="1707" y="17756"/>
                </a:lnTo>
                <a:lnTo>
                  <a:pt x="1736" y="17789"/>
                </a:lnTo>
                <a:lnTo>
                  <a:pt x="1764" y="17822"/>
                </a:lnTo>
                <a:lnTo>
                  <a:pt x="1794" y="17853"/>
                </a:lnTo>
                <a:lnTo>
                  <a:pt x="1824" y="17884"/>
                </a:lnTo>
                <a:lnTo>
                  <a:pt x="1854" y="17914"/>
                </a:lnTo>
                <a:lnTo>
                  <a:pt x="1885" y="17943"/>
                </a:lnTo>
                <a:lnTo>
                  <a:pt x="1917" y="17970"/>
                </a:lnTo>
                <a:lnTo>
                  <a:pt x="1947" y="17998"/>
                </a:lnTo>
                <a:lnTo>
                  <a:pt x="1980" y="18023"/>
                </a:lnTo>
                <a:lnTo>
                  <a:pt x="2013" y="18048"/>
                </a:lnTo>
                <a:lnTo>
                  <a:pt x="2052" y="18075"/>
                </a:lnTo>
                <a:lnTo>
                  <a:pt x="2091" y="18102"/>
                </a:lnTo>
                <a:lnTo>
                  <a:pt x="2132" y="18127"/>
                </a:lnTo>
                <a:lnTo>
                  <a:pt x="2173" y="18151"/>
                </a:lnTo>
                <a:lnTo>
                  <a:pt x="2215" y="18174"/>
                </a:lnTo>
                <a:lnTo>
                  <a:pt x="2259" y="18194"/>
                </a:lnTo>
                <a:lnTo>
                  <a:pt x="2303" y="18214"/>
                </a:lnTo>
                <a:lnTo>
                  <a:pt x="2349" y="18232"/>
                </a:lnTo>
                <a:lnTo>
                  <a:pt x="2397" y="18249"/>
                </a:lnTo>
                <a:lnTo>
                  <a:pt x="2446" y="18264"/>
                </a:lnTo>
                <a:lnTo>
                  <a:pt x="2497" y="18277"/>
                </a:lnTo>
                <a:lnTo>
                  <a:pt x="2549" y="18287"/>
                </a:lnTo>
                <a:lnTo>
                  <a:pt x="2576" y="18292"/>
                </a:lnTo>
                <a:lnTo>
                  <a:pt x="2603" y="18296"/>
                </a:lnTo>
                <a:lnTo>
                  <a:pt x="2631" y="18300"/>
                </a:lnTo>
                <a:lnTo>
                  <a:pt x="2658" y="18303"/>
                </a:lnTo>
                <a:lnTo>
                  <a:pt x="2687" y="18305"/>
                </a:lnTo>
                <a:lnTo>
                  <a:pt x="2716" y="18308"/>
                </a:lnTo>
                <a:lnTo>
                  <a:pt x="2745" y="18309"/>
                </a:lnTo>
                <a:lnTo>
                  <a:pt x="2776" y="18309"/>
                </a:lnTo>
                <a:lnTo>
                  <a:pt x="2835" y="18310"/>
                </a:lnTo>
                <a:lnTo>
                  <a:pt x="2896" y="18310"/>
                </a:lnTo>
                <a:lnTo>
                  <a:pt x="2957" y="18309"/>
                </a:lnTo>
                <a:lnTo>
                  <a:pt x="3017" y="18308"/>
                </a:lnTo>
                <a:lnTo>
                  <a:pt x="3079" y="18305"/>
                </a:lnTo>
                <a:lnTo>
                  <a:pt x="3140" y="18303"/>
                </a:lnTo>
                <a:lnTo>
                  <a:pt x="3200" y="18300"/>
                </a:lnTo>
                <a:lnTo>
                  <a:pt x="3262" y="18296"/>
                </a:lnTo>
                <a:lnTo>
                  <a:pt x="3323" y="18292"/>
                </a:lnTo>
                <a:lnTo>
                  <a:pt x="3384" y="18287"/>
                </a:lnTo>
                <a:lnTo>
                  <a:pt x="3444" y="18283"/>
                </a:lnTo>
                <a:lnTo>
                  <a:pt x="3505" y="18277"/>
                </a:lnTo>
                <a:lnTo>
                  <a:pt x="3565" y="18271"/>
                </a:lnTo>
                <a:lnTo>
                  <a:pt x="3625" y="18264"/>
                </a:lnTo>
                <a:lnTo>
                  <a:pt x="3686" y="18257"/>
                </a:lnTo>
                <a:lnTo>
                  <a:pt x="3745" y="18250"/>
                </a:lnTo>
                <a:lnTo>
                  <a:pt x="3829" y="18240"/>
                </a:lnTo>
                <a:lnTo>
                  <a:pt x="3912" y="18230"/>
                </a:lnTo>
                <a:lnTo>
                  <a:pt x="3995" y="18218"/>
                </a:lnTo>
                <a:lnTo>
                  <a:pt x="4076" y="18206"/>
                </a:lnTo>
                <a:lnTo>
                  <a:pt x="4157" y="18192"/>
                </a:lnTo>
                <a:lnTo>
                  <a:pt x="4236" y="18178"/>
                </a:lnTo>
                <a:lnTo>
                  <a:pt x="4316" y="18165"/>
                </a:lnTo>
                <a:lnTo>
                  <a:pt x="4395" y="18150"/>
                </a:lnTo>
                <a:lnTo>
                  <a:pt x="4473" y="18134"/>
                </a:lnTo>
                <a:lnTo>
                  <a:pt x="4549" y="18118"/>
                </a:lnTo>
                <a:lnTo>
                  <a:pt x="4627" y="18101"/>
                </a:lnTo>
                <a:lnTo>
                  <a:pt x="4704" y="18083"/>
                </a:lnTo>
                <a:lnTo>
                  <a:pt x="4779" y="18066"/>
                </a:lnTo>
                <a:lnTo>
                  <a:pt x="4855" y="18048"/>
                </a:lnTo>
                <a:lnTo>
                  <a:pt x="4931" y="18028"/>
                </a:lnTo>
                <a:lnTo>
                  <a:pt x="5006" y="18009"/>
                </a:lnTo>
                <a:lnTo>
                  <a:pt x="5156" y="17969"/>
                </a:lnTo>
                <a:lnTo>
                  <a:pt x="5305" y="17927"/>
                </a:lnTo>
                <a:lnTo>
                  <a:pt x="5455" y="17882"/>
                </a:lnTo>
                <a:lnTo>
                  <a:pt x="5603" y="17836"/>
                </a:lnTo>
                <a:lnTo>
                  <a:pt x="5753" y="17789"/>
                </a:lnTo>
                <a:lnTo>
                  <a:pt x="5904" y="17741"/>
                </a:lnTo>
                <a:lnTo>
                  <a:pt x="6056" y="17691"/>
                </a:lnTo>
                <a:lnTo>
                  <a:pt x="6211" y="17639"/>
                </a:lnTo>
                <a:lnTo>
                  <a:pt x="6273" y="17619"/>
                </a:lnTo>
                <a:lnTo>
                  <a:pt x="6368" y="17586"/>
                </a:lnTo>
                <a:lnTo>
                  <a:pt x="6483" y="17544"/>
                </a:lnTo>
                <a:lnTo>
                  <a:pt x="6608" y="17501"/>
                </a:lnTo>
                <a:lnTo>
                  <a:pt x="6729" y="17456"/>
                </a:lnTo>
                <a:lnTo>
                  <a:pt x="6837" y="17415"/>
                </a:lnTo>
                <a:lnTo>
                  <a:pt x="6881" y="17398"/>
                </a:lnTo>
                <a:lnTo>
                  <a:pt x="6917" y="17382"/>
                </a:lnTo>
                <a:lnTo>
                  <a:pt x="6943" y="17369"/>
                </a:lnTo>
                <a:lnTo>
                  <a:pt x="6959" y="17361"/>
                </a:lnTo>
                <a:lnTo>
                  <a:pt x="6994" y="17351"/>
                </a:lnTo>
                <a:lnTo>
                  <a:pt x="7046" y="17333"/>
                </a:lnTo>
                <a:lnTo>
                  <a:pt x="7116" y="17308"/>
                </a:lnTo>
                <a:lnTo>
                  <a:pt x="7200" y="17277"/>
                </a:lnTo>
                <a:lnTo>
                  <a:pt x="7294" y="17240"/>
                </a:lnTo>
                <a:lnTo>
                  <a:pt x="7397" y="17200"/>
                </a:lnTo>
                <a:lnTo>
                  <a:pt x="7507" y="17156"/>
                </a:lnTo>
                <a:lnTo>
                  <a:pt x="7621" y="17112"/>
                </a:lnTo>
                <a:lnTo>
                  <a:pt x="7734" y="17066"/>
                </a:lnTo>
                <a:lnTo>
                  <a:pt x="7846" y="17021"/>
                </a:lnTo>
                <a:lnTo>
                  <a:pt x="7955" y="16977"/>
                </a:lnTo>
                <a:lnTo>
                  <a:pt x="8057" y="16937"/>
                </a:lnTo>
                <a:lnTo>
                  <a:pt x="8148" y="16899"/>
                </a:lnTo>
                <a:lnTo>
                  <a:pt x="8228" y="16867"/>
                </a:lnTo>
                <a:lnTo>
                  <a:pt x="8295" y="16841"/>
                </a:lnTo>
                <a:lnTo>
                  <a:pt x="8344" y="16821"/>
                </a:lnTo>
                <a:lnTo>
                  <a:pt x="8396" y="16799"/>
                </a:lnTo>
                <a:lnTo>
                  <a:pt x="8454" y="16778"/>
                </a:lnTo>
                <a:lnTo>
                  <a:pt x="8513" y="16755"/>
                </a:lnTo>
                <a:lnTo>
                  <a:pt x="8574" y="16731"/>
                </a:lnTo>
                <a:lnTo>
                  <a:pt x="8633" y="16707"/>
                </a:lnTo>
                <a:lnTo>
                  <a:pt x="8690" y="16682"/>
                </a:lnTo>
                <a:lnTo>
                  <a:pt x="8744" y="16658"/>
                </a:lnTo>
                <a:lnTo>
                  <a:pt x="8792" y="16633"/>
                </a:lnTo>
                <a:lnTo>
                  <a:pt x="8829" y="16621"/>
                </a:lnTo>
                <a:lnTo>
                  <a:pt x="8872" y="16605"/>
                </a:lnTo>
                <a:lnTo>
                  <a:pt x="8918" y="16587"/>
                </a:lnTo>
                <a:lnTo>
                  <a:pt x="8965" y="16565"/>
                </a:lnTo>
                <a:lnTo>
                  <a:pt x="9013" y="16543"/>
                </a:lnTo>
                <a:lnTo>
                  <a:pt x="9059" y="16522"/>
                </a:lnTo>
                <a:lnTo>
                  <a:pt x="9100" y="16502"/>
                </a:lnTo>
                <a:lnTo>
                  <a:pt x="9137" y="16485"/>
                </a:lnTo>
                <a:lnTo>
                  <a:pt x="9178" y="16465"/>
                </a:lnTo>
                <a:lnTo>
                  <a:pt x="9220" y="16447"/>
                </a:lnTo>
                <a:lnTo>
                  <a:pt x="9263" y="16429"/>
                </a:lnTo>
                <a:lnTo>
                  <a:pt x="9304" y="16409"/>
                </a:lnTo>
                <a:lnTo>
                  <a:pt x="9346" y="16391"/>
                </a:lnTo>
                <a:lnTo>
                  <a:pt x="9388" y="16371"/>
                </a:lnTo>
                <a:lnTo>
                  <a:pt x="9430" y="16352"/>
                </a:lnTo>
                <a:lnTo>
                  <a:pt x="9471" y="16331"/>
                </a:lnTo>
                <a:lnTo>
                  <a:pt x="9550" y="16292"/>
                </a:lnTo>
                <a:lnTo>
                  <a:pt x="9633" y="16254"/>
                </a:lnTo>
                <a:lnTo>
                  <a:pt x="9720" y="16214"/>
                </a:lnTo>
                <a:lnTo>
                  <a:pt x="9807" y="16173"/>
                </a:lnTo>
                <a:lnTo>
                  <a:pt x="9894" y="16132"/>
                </a:lnTo>
                <a:lnTo>
                  <a:pt x="9978" y="16091"/>
                </a:lnTo>
                <a:lnTo>
                  <a:pt x="10018" y="16069"/>
                </a:lnTo>
                <a:lnTo>
                  <a:pt x="10057" y="16048"/>
                </a:lnTo>
                <a:lnTo>
                  <a:pt x="10093" y="16026"/>
                </a:lnTo>
                <a:lnTo>
                  <a:pt x="10129" y="16004"/>
                </a:lnTo>
                <a:lnTo>
                  <a:pt x="10153" y="15994"/>
                </a:lnTo>
                <a:lnTo>
                  <a:pt x="10184" y="15979"/>
                </a:lnTo>
                <a:lnTo>
                  <a:pt x="10220" y="15962"/>
                </a:lnTo>
                <a:lnTo>
                  <a:pt x="10263" y="15939"/>
                </a:lnTo>
                <a:lnTo>
                  <a:pt x="10363" y="15886"/>
                </a:lnTo>
                <a:lnTo>
                  <a:pt x="10482" y="15821"/>
                </a:lnTo>
                <a:lnTo>
                  <a:pt x="10614" y="15748"/>
                </a:lnTo>
                <a:lnTo>
                  <a:pt x="10756" y="15669"/>
                </a:lnTo>
                <a:lnTo>
                  <a:pt x="10903" y="15584"/>
                </a:lnTo>
                <a:lnTo>
                  <a:pt x="11053" y="15498"/>
                </a:lnTo>
                <a:lnTo>
                  <a:pt x="11202" y="15411"/>
                </a:lnTo>
                <a:lnTo>
                  <a:pt x="11344" y="15328"/>
                </a:lnTo>
                <a:lnTo>
                  <a:pt x="11477" y="15249"/>
                </a:lnTo>
                <a:lnTo>
                  <a:pt x="11597" y="15176"/>
                </a:lnTo>
                <a:lnTo>
                  <a:pt x="11700" y="15111"/>
                </a:lnTo>
                <a:lnTo>
                  <a:pt x="11781" y="15060"/>
                </a:lnTo>
                <a:lnTo>
                  <a:pt x="11813" y="15038"/>
                </a:lnTo>
                <a:lnTo>
                  <a:pt x="11838" y="15021"/>
                </a:lnTo>
                <a:lnTo>
                  <a:pt x="11857" y="15007"/>
                </a:lnTo>
                <a:lnTo>
                  <a:pt x="11867" y="14997"/>
                </a:lnTo>
                <a:lnTo>
                  <a:pt x="11879" y="14991"/>
                </a:lnTo>
                <a:lnTo>
                  <a:pt x="11898" y="14982"/>
                </a:lnTo>
                <a:lnTo>
                  <a:pt x="11919" y="14970"/>
                </a:lnTo>
                <a:lnTo>
                  <a:pt x="11947" y="14954"/>
                </a:lnTo>
                <a:lnTo>
                  <a:pt x="12012" y="14913"/>
                </a:lnTo>
                <a:lnTo>
                  <a:pt x="12090" y="14864"/>
                </a:lnTo>
                <a:lnTo>
                  <a:pt x="12179" y="14806"/>
                </a:lnTo>
                <a:lnTo>
                  <a:pt x="12276" y="14741"/>
                </a:lnTo>
                <a:lnTo>
                  <a:pt x="12379" y="14672"/>
                </a:lnTo>
                <a:lnTo>
                  <a:pt x="12485" y="14600"/>
                </a:lnTo>
                <a:lnTo>
                  <a:pt x="12590" y="14528"/>
                </a:lnTo>
                <a:lnTo>
                  <a:pt x="12694" y="14457"/>
                </a:lnTo>
                <a:lnTo>
                  <a:pt x="12791" y="14388"/>
                </a:lnTo>
                <a:lnTo>
                  <a:pt x="12883" y="14324"/>
                </a:lnTo>
                <a:lnTo>
                  <a:pt x="12963" y="14267"/>
                </a:lnTo>
                <a:lnTo>
                  <a:pt x="13031" y="14218"/>
                </a:lnTo>
                <a:lnTo>
                  <a:pt x="13083" y="14179"/>
                </a:lnTo>
                <a:lnTo>
                  <a:pt x="13116" y="14152"/>
                </a:lnTo>
                <a:lnTo>
                  <a:pt x="13131" y="14143"/>
                </a:lnTo>
                <a:lnTo>
                  <a:pt x="13152" y="14131"/>
                </a:lnTo>
                <a:lnTo>
                  <a:pt x="13179" y="14112"/>
                </a:lnTo>
                <a:lnTo>
                  <a:pt x="13212" y="14088"/>
                </a:lnTo>
                <a:lnTo>
                  <a:pt x="13294" y="14030"/>
                </a:lnTo>
                <a:lnTo>
                  <a:pt x="13392" y="13958"/>
                </a:lnTo>
                <a:lnTo>
                  <a:pt x="13505" y="13873"/>
                </a:lnTo>
                <a:lnTo>
                  <a:pt x="13628" y="13779"/>
                </a:lnTo>
                <a:lnTo>
                  <a:pt x="13758" y="13680"/>
                </a:lnTo>
                <a:lnTo>
                  <a:pt x="13891" y="13578"/>
                </a:lnTo>
                <a:lnTo>
                  <a:pt x="14024" y="13475"/>
                </a:lnTo>
                <a:lnTo>
                  <a:pt x="14153" y="13374"/>
                </a:lnTo>
                <a:lnTo>
                  <a:pt x="14274" y="13278"/>
                </a:lnTo>
                <a:lnTo>
                  <a:pt x="14385" y="13190"/>
                </a:lnTo>
                <a:lnTo>
                  <a:pt x="14481" y="13112"/>
                </a:lnTo>
                <a:lnTo>
                  <a:pt x="14559" y="13048"/>
                </a:lnTo>
                <a:lnTo>
                  <a:pt x="14590" y="13022"/>
                </a:lnTo>
                <a:lnTo>
                  <a:pt x="14615" y="13000"/>
                </a:lnTo>
                <a:lnTo>
                  <a:pt x="14634" y="12982"/>
                </a:lnTo>
                <a:lnTo>
                  <a:pt x="14645" y="12970"/>
                </a:lnTo>
                <a:lnTo>
                  <a:pt x="14658" y="12963"/>
                </a:lnTo>
                <a:lnTo>
                  <a:pt x="14673" y="12954"/>
                </a:lnTo>
                <a:lnTo>
                  <a:pt x="14690" y="12942"/>
                </a:lnTo>
                <a:lnTo>
                  <a:pt x="14708" y="12928"/>
                </a:lnTo>
                <a:lnTo>
                  <a:pt x="14751" y="12895"/>
                </a:lnTo>
                <a:lnTo>
                  <a:pt x="14802" y="12854"/>
                </a:lnTo>
                <a:lnTo>
                  <a:pt x="14857" y="12807"/>
                </a:lnTo>
                <a:lnTo>
                  <a:pt x="14917" y="12756"/>
                </a:lnTo>
                <a:lnTo>
                  <a:pt x="14979" y="12701"/>
                </a:lnTo>
                <a:lnTo>
                  <a:pt x="15044" y="12645"/>
                </a:lnTo>
                <a:lnTo>
                  <a:pt x="15110" y="12587"/>
                </a:lnTo>
                <a:lnTo>
                  <a:pt x="15175" y="12530"/>
                </a:lnTo>
                <a:lnTo>
                  <a:pt x="15238" y="12475"/>
                </a:lnTo>
                <a:lnTo>
                  <a:pt x="15298" y="12421"/>
                </a:lnTo>
                <a:lnTo>
                  <a:pt x="15354" y="12372"/>
                </a:lnTo>
                <a:lnTo>
                  <a:pt x="15405" y="12328"/>
                </a:lnTo>
                <a:lnTo>
                  <a:pt x="15451" y="12291"/>
                </a:lnTo>
                <a:lnTo>
                  <a:pt x="15487" y="12261"/>
                </a:lnTo>
                <a:lnTo>
                  <a:pt x="15508" y="12245"/>
                </a:lnTo>
                <a:lnTo>
                  <a:pt x="15520" y="12233"/>
                </a:lnTo>
                <a:lnTo>
                  <a:pt x="15534" y="12220"/>
                </a:lnTo>
                <a:lnTo>
                  <a:pt x="15555" y="12200"/>
                </a:lnTo>
                <a:lnTo>
                  <a:pt x="15765" y="12013"/>
                </a:lnTo>
                <a:lnTo>
                  <a:pt x="15798" y="11979"/>
                </a:lnTo>
                <a:lnTo>
                  <a:pt x="15830" y="11947"/>
                </a:lnTo>
                <a:lnTo>
                  <a:pt x="15863" y="11915"/>
                </a:lnTo>
                <a:lnTo>
                  <a:pt x="15895" y="11884"/>
                </a:lnTo>
                <a:lnTo>
                  <a:pt x="15927" y="11853"/>
                </a:lnTo>
                <a:lnTo>
                  <a:pt x="15959" y="11823"/>
                </a:lnTo>
                <a:lnTo>
                  <a:pt x="15992" y="11790"/>
                </a:lnTo>
                <a:lnTo>
                  <a:pt x="16025" y="11758"/>
                </a:lnTo>
                <a:lnTo>
                  <a:pt x="16052" y="11733"/>
                </a:lnTo>
                <a:lnTo>
                  <a:pt x="16089" y="11696"/>
                </a:lnTo>
                <a:lnTo>
                  <a:pt x="16136" y="11649"/>
                </a:lnTo>
                <a:lnTo>
                  <a:pt x="16190" y="11595"/>
                </a:lnTo>
                <a:lnTo>
                  <a:pt x="16248" y="11535"/>
                </a:lnTo>
                <a:lnTo>
                  <a:pt x="16311" y="11470"/>
                </a:lnTo>
                <a:lnTo>
                  <a:pt x="16377" y="11403"/>
                </a:lnTo>
                <a:lnTo>
                  <a:pt x="16443" y="11335"/>
                </a:lnTo>
                <a:lnTo>
                  <a:pt x="16508" y="11268"/>
                </a:lnTo>
                <a:lnTo>
                  <a:pt x="16571" y="11202"/>
                </a:lnTo>
                <a:lnTo>
                  <a:pt x="16629" y="11140"/>
                </a:lnTo>
                <a:lnTo>
                  <a:pt x="16681" y="11084"/>
                </a:lnTo>
                <a:lnTo>
                  <a:pt x="16726" y="11036"/>
                </a:lnTo>
                <a:lnTo>
                  <a:pt x="16761" y="10997"/>
                </a:lnTo>
                <a:lnTo>
                  <a:pt x="16786" y="10969"/>
                </a:lnTo>
                <a:lnTo>
                  <a:pt x="16797" y="10953"/>
                </a:lnTo>
                <a:lnTo>
                  <a:pt x="16818" y="10935"/>
                </a:lnTo>
                <a:lnTo>
                  <a:pt x="16837" y="10915"/>
                </a:lnTo>
                <a:lnTo>
                  <a:pt x="16856" y="10896"/>
                </a:lnTo>
                <a:lnTo>
                  <a:pt x="16874" y="10875"/>
                </a:lnTo>
                <a:lnTo>
                  <a:pt x="16908" y="10833"/>
                </a:lnTo>
                <a:lnTo>
                  <a:pt x="16943" y="10789"/>
                </a:lnTo>
                <a:lnTo>
                  <a:pt x="17006" y="10707"/>
                </a:lnTo>
                <a:lnTo>
                  <a:pt x="17067" y="10626"/>
                </a:lnTo>
                <a:lnTo>
                  <a:pt x="17128" y="10543"/>
                </a:lnTo>
                <a:lnTo>
                  <a:pt x="17185" y="10462"/>
                </a:lnTo>
                <a:lnTo>
                  <a:pt x="17214" y="10421"/>
                </a:lnTo>
                <a:lnTo>
                  <a:pt x="17241" y="10379"/>
                </a:lnTo>
                <a:lnTo>
                  <a:pt x="17269" y="10337"/>
                </a:lnTo>
                <a:lnTo>
                  <a:pt x="17295" y="10296"/>
                </a:lnTo>
                <a:lnTo>
                  <a:pt x="17321" y="10254"/>
                </a:lnTo>
                <a:lnTo>
                  <a:pt x="17347" y="10211"/>
                </a:lnTo>
                <a:lnTo>
                  <a:pt x="17372" y="10169"/>
                </a:lnTo>
                <a:lnTo>
                  <a:pt x="17396" y="10125"/>
                </a:lnTo>
                <a:lnTo>
                  <a:pt x="17419" y="10081"/>
                </a:lnTo>
                <a:lnTo>
                  <a:pt x="17442" y="10037"/>
                </a:lnTo>
                <a:lnTo>
                  <a:pt x="17463" y="9992"/>
                </a:lnTo>
                <a:lnTo>
                  <a:pt x="17485" y="9946"/>
                </a:lnTo>
                <a:lnTo>
                  <a:pt x="17505" y="9900"/>
                </a:lnTo>
                <a:lnTo>
                  <a:pt x="17524" y="9853"/>
                </a:lnTo>
                <a:lnTo>
                  <a:pt x="17543" y="9805"/>
                </a:lnTo>
                <a:lnTo>
                  <a:pt x="17561" y="9757"/>
                </a:lnTo>
                <a:lnTo>
                  <a:pt x="17578" y="9708"/>
                </a:lnTo>
                <a:lnTo>
                  <a:pt x="17594" y="9657"/>
                </a:lnTo>
                <a:lnTo>
                  <a:pt x="17609" y="9606"/>
                </a:lnTo>
                <a:lnTo>
                  <a:pt x="17622" y="9553"/>
                </a:lnTo>
                <a:lnTo>
                  <a:pt x="17636" y="9501"/>
                </a:lnTo>
                <a:lnTo>
                  <a:pt x="17648" y="9446"/>
                </a:lnTo>
                <a:lnTo>
                  <a:pt x="17659" y="9391"/>
                </a:lnTo>
                <a:lnTo>
                  <a:pt x="17669" y="9334"/>
                </a:lnTo>
                <a:lnTo>
                  <a:pt x="17673" y="9309"/>
                </a:lnTo>
                <a:lnTo>
                  <a:pt x="17675" y="9283"/>
                </a:lnTo>
                <a:lnTo>
                  <a:pt x="17675" y="9255"/>
                </a:lnTo>
                <a:lnTo>
                  <a:pt x="17674" y="9226"/>
                </a:lnTo>
                <a:lnTo>
                  <a:pt x="17672" y="9196"/>
                </a:lnTo>
                <a:lnTo>
                  <a:pt x="17669" y="9165"/>
                </a:lnTo>
                <a:lnTo>
                  <a:pt x="17665" y="9133"/>
                </a:lnTo>
                <a:lnTo>
                  <a:pt x="17659" y="9101"/>
                </a:lnTo>
                <a:lnTo>
                  <a:pt x="17653" y="9068"/>
                </a:lnTo>
                <a:lnTo>
                  <a:pt x="17645" y="9034"/>
                </a:lnTo>
                <a:lnTo>
                  <a:pt x="17637" y="8999"/>
                </a:lnTo>
                <a:lnTo>
                  <a:pt x="17629" y="8965"/>
                </a:lnTo>
                <a:lnTo>
                  <a:pt x="17609" y="8895"/>
                </a:lnTo>
                <a:lnTo>
                  <a:pt x="17587" y="8825"/>
                </a:lnTo>
                <a:lnTo>
                  <a:pt x="17563" y="8757"/>
                </a:lnTo>
                <a:lnTo>
                  <a:pt x="17539" y="8689"/>
                </a:lnTo>
                <a:lnTo>
                  <a:pt x="17513" y="8624"/>
                </a:lnTo>
                <a:lnTo>
                  <a:pt x="17487" y="8563"/>
                </a:lnTo>
                <a:lnTo>
                  <a:pt x="17462" y="8506"/>
                </a:lnTo>
                <a:lnTo>
                  <a:pt x="17437" y="8455"/>
                </a:lnTo>
                <a:lnTo>
                  <a:pt x="17415" y="8408"/>
                </a:lnTo>
                <a:lnTo>
                  <a:pt x="17394" y="8369"/>
                </a:lnTo>
                <a:lnTo>
                  <a:pt x="17360" y="8310"/>
                </a:lnTo>
                <a:lnTo>
                  <a:pt x="17328" y="8254"/>
                </a:lnTo>
                <a:lnTo>
                  <a:pt x="17297" y="8203"/>
                </a:lnTo>
                <a:lnTo>
                  <a:pt x="17268" y="8155"/>
                </a:lnTo>
                <a:lnTo>
                  <a:pt x="17239" y="8109"/>
                </a:lnTo>
                <a:lnTo>
                  <a:pt x="17210" y="8066"/>
                </a:lnTo>
                <a:lnTo>
                  <a:pt x="17182" y="8023"/>
                </a:lnTo>
                <a:lnTo>
                  <a:pt x="17153" y="7981"/>
                </a:lnTo>
                <a:lnTo>
                  <a:pt x="17123" y="7941"/>
                </a:lnTo>
                <a:lnTo>
                  <a:pt x="17093" y="7900"/>
                </a:lnTo>
                <a:lnTo>
                  <a:pt x="17062" y="7858"/>
                </a:lnTo>
                <a:lnTo>
                  <a:pt x="17029" y="7816"/>
                </a:lnTo>
                <a:lnTo>
                  <a:pt x="16958" y="7727"/>
                </a:lnTo>
                <a:lnTo>
                  <a:pt x="16877" y="7627"/>
                </a:lnTo>
                <a:lnTo>
                  <a:pt x="16843" y="7585"/>
                </a:lnTo>
                <a:lnTo>
                  <a:pt x="16805" y="7540"/>
                </a:lnTo>
                <a:lnTo>
                  <a:pt x="16766" y="7493"/>
                </a:lnTo>
                <a:lnTo>
                  <a:pt x="16725" y="7446"/>
                </a:lnTo>
                <a:lnTo>
                  <a:pt x="16641" y="7350"/>
                </a:lnTo>
                <a:lnTo>
                  <a:pt x="16551" y="7253"/>
                </a:lnTo>
                <a:lnTo>
                  <a:pt x="16462" y="7157"/>
                </a:lnTo>
                <a:lnTo>
                  <a:pt x="16373" y="7065"/>
                </a:lnTo>
                <a:lnTo>
                  <a:pt x="16287" y="6978"/>
                </a:lnTo>
                <a:lnTo>
                  <a:pt x="16207" y="6899"/>
                </a:lnTo>
                <a:lnTo>
                  <a:pt x="16179" y="6872"/>
                </a:lnTo>
                <a:lnTo>
                  <a:pt x="16153" y="6842"/>
                </a:lnTo>
                <a:lnTo>
                  <a:pt x="16127" y="6811"/>
                </a:lnTo>
                <a:lnTo>
                  <a:pt x="16099" y="6779"/>
                </a:lnTo>
                <a:lnTo>
                  <a:pt x="16071" y="6747"/>
                </a:lnTo>
                <a:lnTo>
                  <a:pt x="16042" y="6715"/>
                </a:lnTo>
                <a:lnTo>
                  <a:pt x="16011" y="6683"/>
                </a:lnTo>
                <a:lnTo>
                  <a:pt x="15979" y="6652"/>
                </a:lnTo>
                <a:lnTo>
                  <a:pt x="14313" y="5186"/>
                </a:lnTo>
                <a:lnTo>
                  <a:pt x="14230" y="5121"/>
                </a:lnTo>
                <a:lnTo>
                  <a:pt x="14144" y="5052"/>
                </a:lnTo>
                <a:lnTo>
                  <a:pt x="14058" y="4981"/>
                </a:lnTo>
                <a:lnTo>
                  <a:pt x="13972" y="4911"/>
                </a:lnTo>
                <a:lnTo>
                  <a:pt x="13885" y="4840"/>
                </a:lnTo>
                <a:lnTo>
                  <a:pt x="13797" y="4769"/>
                </a:lnTo>
                <a:lnTo>
                  <a:pt x="13709" y="4700"/>
                </a:lnTo>
                <a:lnTo>
                  <a:pt x="13622" y="4634"/>
                </a:lnTo>
                <a:lnTo>
                  <a:pt x="13528" y="4565"/>
                </a:lnTo>
                <a:lnTo>
                  <a:pt x="13437" y="4496"/>
                </a:lnTo>
                <a:lnTo>
                  <a:pt x="13348" y="4430"/>
                </a:lnTo>
                <a:lnTo>
                  <a:pt x="13259" y="4364"/>
                </a:lnTo>
                <a:lnTo>
                  <a:pt x="13172" y="4299"/>
                </a:lnTo>
                <a:lnTo>
                  <a:pt x="13085" y="4234"/>
                </a:lnTo>
                <a:lnTo>
                  <a:pt x="12999" y="4170"/>
                </a:lnTo>
                <a:lnTo>
                  <a:pt x="12913" y="4107"/>
                </a:lnTo>
                <a:lnTo>
                  <a:pt x="12826" y="4043"/>
                </a:lnTo>
                <a:lnTo>
                  <a:pt x="12738" y="3980"/>
                </a:lnTo>
                <a:lnTo>
                  <a:pt x="12650" y="3916"/>
                </a:lnTo>
                <a:lnTo>
                  <a:pt x="12559" y="3852"/>
                </a:lnTo>
                <a:lnTo>
                  <a:pt x="12468" y="3787"/>
                </a:lnTo>
                <a:lnTo>
                  <a:pt x="12373" y="3722"/>
                </a:lnTo>
                <a:lnTo>
                  <a:pt x="12276" y="3655"/>
                </a:lnTo>
                <a:lnTo>
                  <a:pt x="12177" y="3589"/>
                </a:lnTo>
                <a:lnTo>
                  <a:pt x="12083" y="3525"/>
                </a:lnTo>
                <a:lnTo>
                  <a:pt x="11988" y="3463"/>
                </a:lnTo>
                <a:lnTo>
                  <a:pt x="11893" y="3402"/>
                </a:lnTo>
                <a:lnTo>
                  <a:pt x="11798" y="3340"/>
                </a:lnTo>
                <a:lnTo>
                  <a:pt x="11702" y="3280"/>
                </a:lnTo>
                <a:lnTo>
                  <a:pt x="11606" y="3219"/>
                </a:lnTo>
                <a:lnTo>
                  <a:pt x="11509" y="3158"/>
                </a:lnTo>
                <a:lnTo>
                  <a:pt x="11411" y="3097"/>
                </a:lnTo>
                <a:lnTo>
                  <a:pt x="11318" y="3037"/>
                </a:lnTo>
                <a:lnTo>
                  <a:pt x="11222" y="2979"/>
                </a:lnTo>
                <a:lnTo>
                  <a:pt x="11125" y="2920"/>
                </a:lnTo>
                <a:lnTo>
                  <a:pt x="11028" y="2863"/>
                </a:lnTo>
                <a:lnTo>
                  <a:pt x="10930" y="2806"/>
                </a:lnTo>
                <a:lnTo>
                  <a:pt x="10831" y="2749"/>
                </a:lnTo>
                <a:lnTo>
                  <a:pt x="10732" y="2692"/>
                </a:lnTo>
                <a:lnTo>
                  <a:pt x="10631" y="2635"/>
                </a:lnTo>
                <a:lnTo>
                  <a:pt x="10529" y="2579"/>
                </a:lnTo>
                <a:lnTo>
                  <a:pt x="10427" y="2523"/>
                </a:lnTo>
                <a:lnTo>
                  <a:pt x="10326" y="2468"/>
                </a:lnTo>
                <a:lnTo>
                  <a:pt x="10223" y="2413"/>
                </a:lnTo>
                <a:lnTo>
                  <a:pt x="10120" y="2359"/>
                </a:lnTo>
                <a:lnTo>
                  <a:pt x="10015" y="2305"/>
                </a:lnTo>
                <a:lnTo>
                  <a:pt x="9911" y="2251"/>
                </a:lnTo>
                <a:lnTo>
                  <a:pt x="9807" y="2198"/>
                </a:lnTo>
                <a:lnTo>
                  <a:pt x="9735" y="2162"/>
                </a:lnTo>
                <a:lnTo>
                  <a:pt x="9660" y="2124"/>
                </a:lnTo>
                <a:lnTo>
                  <a:pt x="9583" y="2086"/>
                </a:lnTo>
                <a:lnTo>
                  <a:pt x="9504" y="2047"/>
                </a:lnTo>
                <a:lnTo>
                  <a:pt x="9423" y="2010"/>
                </a:lnTo>
                <a:lnTo>
                  <a:pt x="9340" y="1971"/>
                </a:lnTo>
                <a:lnTo>
                  <a:pt x="9258" y="1932"/>
                </a:lnTo>
                <a:lnTo>
                  <a:pt x="9174" y="1893"/>
                </a:lnTo>
                <a:lnTo>
                  <a:pt x="9091" y="1855"/>
                </a:lnTo>
                <a:lnTo>
                  <a:pt x="9006" y="1816"/>
                </a:lnTo>
                <a:lnTo>
                  <a:pt x="8923" y="1780"/>
                </a:lnTo>
                <a:lnTo>
                  <a:pt x="8840" y="1743"/>
                </a:lnTo>
                <a:lnTo>
                  <a:pt x="8759" y="1707"/>
                </a:lnTo>
                <a:lnTo>
                  <a:pt x="8679" y="1673"/>
                </a:lnTo>
                <a:lnTo>
                  <a:pt x="8600" y="1640"/>
                </a:lnTo>
                <a:lnTo>
                  <a:pt x="8523" y="1608"/>
                </a:lnTo>
                <a:lnTo>
                  <a:pt x="8472" y="1587"/>
                </a:lnTo>
                <a:lnTo>
                  <a:pt x="8417" y="1562"/>
                </a:lnTo>
                <a:lnTo>
                  <a:pt x="8360" y="1537"/>
                </a:lnTo>
                <a:lnTo>
                  <a:pt x="8300" y="1511"/>
                </a:lnTo>
                <a:lnTo>
                  <a:pt x="8242" y="1485"/>
                </a:lnTo>
                <a:lnTo>
                  <a:pt x="8184" y="1461"/>
                </a:lnTo>
                <a:lnTo>
                  <a:pt x="8156" y="1451"/>
                </a:lnTo>
                <a:lnTo>
                  <a:pt x="8129" y="1442"/>
                </a:lnTo>
                <a:lnTo>
                  <a:pt x="8102" y="1433"/>
                </a:lnTo>
                <a:lnTo>
                  <a:pt x="8078" y="1426"/>
                </a:lnTo>
                <a:close/>
              </a:path>
            </a:pathLst>
          </a:custGeom>
          <a:solidFill>
            <a:schemeClr val="accent2"/>
          </a:solidFill>
          <a:ln cap="sq">
            <a:noFill/>
          </a:ln>
        </p:spPr>
        <p:txBody>
          <a:bodyPr vert="horz" wrap="square" lIns="91440" tIns="45720" rIns="91440" bIns="45720" rtlCol="0" anchor="t"/>
          <a:lstStyle/>
          <a:p>
            <a:pPr algn="l"/>
            <a:endParaRPr kumimoji="1" lang="zh-CN" altLang="en-US"/>
          </a:p>
        </p:txBody>
      </p:sp>
      <p:sp>
        <p:nvSpPr>
          <p:cNvPr id="9" name="标题 1"/>
          <p:cNvSpPr txBox="1"/>
          <p:nvPr/>
        </p:nvSpPr>
        <p:spPr>
          <a:xfrm>
            <a:off x="6559136" y="1940222"/>
            <a:ext cx="4536000" cy="828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Gestión de proveedores.</a:t>
            </a:r>
            <a:endParaRPr kumimoji="1" lang="zh-CN" altLang="en-US"/>
          </a:p>
        </p:txBody>
      </p:sp>
      <p:sp>
        <p:nvSpPr>
          <p:cNvPr id="10" name="标题 1"/>
          <p:cNvSpPr txBox="1"/>
          <p:nvPr/>
        </p:nvSpPr>
        <p:spPr>
          <a:xfrm>
            <a:off x="6309032" y="2011411"/>
            <a:ext cx="126854" cy="131412"/>
          </a:xfrm>
          <a:custGeom>
            <a:avLst/>
            <a:gdLst>
              <a:gd name="T0" fmla="*/ 7371 w 17675"/>
              <a:gd name="T1" fmla="*/ 1125 h 18310"/>
              <a:gd name="T2" fmla="*/ 5959 w 17675"/>
              <a:gd name="T3" fmla="*/ 593 h 18310"/>
              <a:gd name="T4" fmla="*/ 4735 w 17675"/>
              <a:gd name="T5" fmla="*/ 240 h 18310"/>
              <a:gd name="T6" fmla="*/ 3627 w 17675"/>
              <a:gd name="T7" fmla="*/ 54 h 18310"/>
              <a:gd name="T8" fmla="*/ 2806 w 17675"/>
              <a:gd name="T9" fmla="*/ 7 h 18310"/>
              <a:gd name="T10" fmla="*/ 2454 w 17675"/>
              <a:gd name="T11" fmla="*/ 85 h 18310"/>
              <a:gd name="T12" fmla="*/ 2132 w 17675"/>
              <a:gd name="T13" fmla="*/ 262 h 18310"/>
              <a:gd name="T14" fmla="*/ 1838 w 17675"/>
              <a:gd name="T15" fmla="*/ 533 h 18310"/>
              <a:gd name="T16" fmla="*/ 1454 w 17675"/>
              <a:gd name="T17" fmla="*/ 1111 h 18310"/>
              <a:gd name="T18" fmla="*/ 1261 w 17675"/>
              <a:gd name="T19" fmla="*/ 1545 h 18310"/>
              <a:gd name="T20" fmla="*/ 1008 w 17675"/>
              <a:gd name="T21" fmla="*/ 2315 h 18310"/>
              <a:gd name="T22" fmla="*/ 836 w 17675"/>
              <a:gd name="T23" fmla="*/ 2906 h 18310"/>
              <a:gd name="T24" fmla="*/ 683 w 17675"/>
              <a:gd name="T25" fmla="*/ 3519 h 18310"/>
              <a:gd name="T26" fmla="*/ 506 w 17675"/>
              <a:gd name="T27" fmla="*/ 4330 h 18310"/>
              <a:gd name="T28" fmla="*/ 356 w 17675"/>
              <a:gd name="T29" fmla="*/ 5177 h 18310"/>
              <a:gd name="T30" fmla="*/ 199 w 17675"/>
              <a:gd name="T31" fmla="*/ 6352 h 18310"/>
              <a:gd name="T32" fmla="*/ 65 w 17675"/>
              <a:gd name="T33" fmla="*/ 7805 h 18310"/>
              <a:gd name="T34" fmla="*/ 1 w 17675"/>
              <a:gd name="T35" fmla="*/ 9354 h 18310"/>
              <a:gd name="T36" fmla="*/ 54 w 17675"/>
              <a:gd name="T37" fmla="*/ 10490 h 18310"/>
              <a:gd name="T38" fmla="*/ 149 w 17675"/>
              <a:gd name="T39" fmla="*/ 11811 h 18310"/>
              <a:gd name="T40" fmla="*/ 298 w 17675"/>
              <a:gd name="T41" fmla="*/ 13066 h 18310"/>
              <a:gd name="T42" fmla="*/ 650 w 17675"/>
              <a:gd name="T43" fmla="*/ 14979 h 18310"/>
              <a:gd name="T44" fmla="*/ 991 w 17675"/>
              <a:gd name="T45" fmla="*/ 16266 h 18310"/>
              <a:gd name="T46" fmla="*/ 1332 w 17675"/>
              <a:gd name="T47" fmla="*/ 17156 h 18310"/>
              <a:gd name="T48" fmla="*/ 1598 w 17675"/>
              <a:gd name="T49" fmla="*/ 17614 h 18310"/>
              <a:gd name="T50" fmla="*/ 1917 w 17675"/>
              <a:gd name="T51" fmla="*/ 17970 h 18310"/>
              <a:gd name="T52" fmla="*/ 2349 w 17675"/>
              <a:gd name="T53" fmla="*/ 18232 h 18310"/>
              <a:gd name="T54" fmla="*/ 2745 w 17675"/>
              <a:gd name="T55" fmla="*/ 18309 h 18310"/>
              <a:gd name="T56" fmla="*/ 3384 w 17675"/>
              <a:gd name="T57" fmla="*/ 18287 h 18310"/>
              <a:gd name="T58" fmla="*/ 4157 w 17675"/>
              <a:gd name="T59" fmla="*/ 18192 h 18310"/>
              <a:gd name="T60" fmla="*/ 5006 w 17675"/>
              <a:gd name="T61" fmla="*/ 18009 h 18310"/>
              <a:gd name="T62" fmla="*/ 6483 w 17675"/>
              <a:gd name="T63" fmla="*/ 17544 h 18310"/>
              <a:gd name="T64" fmla="*/ 7200 w 17675"/>
              <a:gd name="T65" fmla="*/ 17277 h 18310"/>
              <a:gd name="T66" fmla="*/ 8295 w 17675"/>
              <a:gd name="T67" fmla="*/ 16841 h 18310"/>
              <a:gd name="T68" fmla="*/ 8872 w 17675"/>
              <a:gd name="T69" fmla="*/ 16605 h 18310"/>
              <a:gd name="T70" fmla="*/ 9346 w 17675"/>
              <a:gd name="T71" fmla="*/ 16391 h 18310"/>
              <a:gd name="T72" fmla="*/ 10057 w 17675"/>
              <a:gd name="T73" fmla="*/ 16048 h 18310"/>
              <a:gd name="T74" fmla="*/ 10903 w 17675"/>
              <a:gd name="T75" fmla="*/ 15584 h 18310"/>
              <a:gd name="T76" fmla="*/ 11867 w 17675"/>
              <a:gd name="T77" fmla="*/ 14997 h 18310"/>
              <a:gd name="T78" fmla="*/ 12590 w 17675"/>
              <a:gd name="T79" fmla="*/ 14528 h 18310"/>
              <a:gd name="T80" fmla="*/ 13212 w 17675"/>
              <a:gd name="T81" fmla="*/ 14088 h 18310"/>
              <a:gd name="T82" fmla="*/ 14481 w 17675"/>
              <a:gd name="T83" fmla="*/ 13112 h 18310"/>
              <a:gd name="T84" fmla="*/ 14802 w 17675"/>
              <a:gd name="T85" fmla="*/ 12854 h 18310"/>
              <a:gd name="T86" fmla="*/ 15451 w 17675"/>
              <a:gd name="T87" fmla="*/ 12291 h 18310"/>
              <a:gd name="T88" fmla="*/ 15927 w 17675"/>
              <a:gd name="T89" fmla="*/ 11853 h 18310"/>
              <a:gd name="T90" fmla="*/ 16443 w 17675"/>
              <a:gd name="T91" fmla="*/ 11335 h 18310"/>
              <a:gd name="T92" fmla="*/ 16856 w 17675"/>
              <a:gd name="T93" fmla="*/ 10896 h 18310"/>
              <a:gd name="T94" fmla="*/ 17295 w 17675"/>
              <a:gd name="T95" fmla="*/ 10296 h 18310"/>
              <a:gd name="T96" fmla="*/ 17543 w 17675"/>
              <a:gd name="T97" fmla="*/ 9805 h 18310"/>
              <a:gd name="T98" fmla="*/ 17675 w 17675"/>
              <a:gd name="T99" fmla="*/ 9283 h 18310"/>
              <a:gd name="T100" fmla="*/ 17609 w 17675"/>
              <a:gd name="T101" fmla="*/ 8895 h 18310"/>
              <a:gd name="T102" fmla="*/ 17328 w 17675"/>
              <a:gd name="T103" fmla="*/ 8254 h 18310"/>
              <a:gd name="T104" fmla="*/ 16958 w 17675"/>
              <a:gd name="T105" fmla="*/ 7727 h 18310"/>
              <a:gd name="T106" fmla="*/ 16207 w 17675"/>
              <a:gd name="T107" fmla="*/ 6899 h 18310"/>
              <a:gd name="T108" fmla="*/ 14144 w 17675"/>
              <a:gd name="T109" fmla="*/ 5052 h 18310"/>
              <a:gd name="T110" fmla="*/ 13172 w 17675"/>
              <a:gd name="T111" fmla="*/ 4299 h 18310"/>
              <a:gd name="T112" fmla="*/ 12177 w 17675"/>
              <a:gd name="T113" fmla="*/ 3589 h 18310"/>
              <a:gd name="T114" fmla="*/ 11125 w 17675"/>
              <a:gd name="T115" fmla="*/ 2920 h 18310"/>
              <a:gd name="T116" fmla="*/ 10015 w 17675"/>
              <a:gd name="T117" fmla="*/ 2305 h 18310"/>
              <a:gd name="T118" fmla="*/ 9091 w 17675"/>
              <a:gd name="T119" fmla="*/ 1855 h 18310"/>
              <a:gd name="T120" fmla="*/ 8300 w 17675"/>
              <a:gd name="T121" fmla="*/ 1511 h 18310"/>
            </a:gdLst>
            <a:ahLst/>
            <a:cxnLst/>
            <a:rect l="0" t="0" r="r" b="b"/>
            <a:pathLst>
              <a:path w="17675" h="18310">
                <a:moveTo>
                  <a:pt x="8078" y="1426"/>
                </a:moveTo>
                <a:lnTo>
                  <a:pt x="8047" y="1409"/>
                </a:lnTo>
                <a:lnTo>
                  <a:pt x="8014" y="1392"/>
                </a:lnTo>
                <a:lnTo>
                  <a:pt x="7978" y="1376"/>
                </a:lnTo>
                <a:lnTo>
                  <a:pt x="7940" y="1360"/>
                </a:lnTo>
                <a:lnTo>
                  <a:pt x="7901" y="1345"/>
                </a:lnTo>
                <a:lnTo>
                  <a:pt x="7862" y="1330"/>
                </a:lnTo>
                <a:lnTo>
                  <a:pt x="7825" y="1315"/>
                </a:lnTo>
                <a:lnTo>
                  <a:pt x="7791" y="1301"/>
                </a:lnTo>
                <a:lnTo>
                  <a:pt x="7583" y="1213"/>
                </a:lnTo>
                <a:lnTo>
                  <a:pt x="7371" y="1125"/>
                </a:lnTo>
                <a:lnTo>
                  <a:pt x="7158" y="1038"/>
                </a:lnTo>
                <a:lnTo>
                  <a:pt x="6943" y="953"/>
                </a:lnTo>
                <a:lnTo>
                  <a:pt x="6836" y="911"/>
                </a:lnTo>
                <a:lnTo>
                  <a:pt x="6727" y="869"/>
                </a:lnTo>
                <a:lnTo>
                  <a:pt x="6618" y="827"/>
                </a:lnTo>
                <a:lnTo>
                  <a:pt x="6508" y="787"/>
                </a:lnTo>
                <a:lnTo>
                  <a:pt x="6400" y="747"/>
                </a:lnTo>
                <a:lnTo>
                  <a:pt x="6290" y="707"/>
                </a:lnTo>
                <a:lnTo>
                  <a:pt x="6180" y="668"/>
                </a:lnTo>
                <a:lnTo>
                  <a:pt x="6070" y="631"/>
                </a:lnTo>
                <a:lnTo>
                  <a:pt x="5959" y="593"/>
                </a:lnTo>
                <a:lnTo>
                  <a:pt x="5848" y="556"/>
                </a:lnTo>
                <a:lnTo>
                  <a:pt x="5737" y="521"/>
                </a:lnTo>
                <a:lnTo>
                  <a:pt x="5626" y="485"/>
                </a:lnTo>
                <a:lnTo>
                  <a:pt x="5515" y="451"/>
                </a:lnTo>
                <a:lnTo>
                  <a:pt x="5404" y="418"/>
                </a:lnTo>
                <a:lnTo>
                  <a:pt x="5292" y="386"/>
                </a:lnTo>
                <a:lnTo>
                  <a:pt x="5181" y="355"/>
                </a:lnTo>
                <a:lnTo>
                  <a:pt x="5069" y="324"/>
                </a:lnTo>
                <a:lnTo>
                  <a:pt x="4958" y="295"/>
                </a:lnTo>
                <a:lnTo>
                  <a:pt x="4846" y="267"/>
                </a:lnTo>
                <a:lnTo>
                  <a:pt x="4735" y="240"/>
                </a:lnTo>
                <a:lnTo>
                  <a:pt x="4623" y="215"/>
                </a:lnTo>
                <a:lnTo>
                  <a:pt x="4511" y="191"/>
                </a:lnTo>
                <a:lnTo>
                  <a:pt x="4400" y="168"/>
                </a:lnTo>
                <a:lnTo>
                  <a:pt x="4287" y="146"/>
                </a:lnTo>
                <a:lnTo>
                  <a:pt x="4234" y="136"/>
                </a:lnTo>
                <a:lnTo>
                  <a:pt x="4162" y="125"/>
                </a:lnTo>
                <a:lnTo>
                  <a:pt x="4075" y="112"/>
                </a:lnTo>
                <a:lnTo>
                  <a:pt x="3975" y="98"/>
                </a:lnTo>
                <a:lnTo>
                  <a:pt x="3865" y="84"/>
                </a:lnTo>
                <a:lnTo>
                  <a:pt x="3749" y="69"/>
                </a:lnTo>
                <a:lnTo>
                  <a:pt x="3627" y="54"/>
                </a:lnTo>
                <a:lnTo>
                  <a:pt x="3504" y="40"/>
                </a:lnTo>
                <a:lnTo>
                  <a:pt x="3381" y="27"/>
                </a:lnTo>
                <a:lnTo>
                  <a:pt x="3262" y="17"/>
                </a:lnTo>
                <a:lnTo>
                  <a:pt x="3148" y="8"/>
                </a:lnTo>
                <a:lnTo>
                  <a:pt x="3043" y="2"/>
                </a:lnTo>
                <a:lnTo>
                  <a:pt x="2994" y="1"/>
                </a:lnTo>
                <a:lnTo>
                  <a:pt x="2949" y="0"/>
                </a:lnTo>
                <a:lnTo>
                  <a:pt x="2908" y="0"/>
                </a:lnTo>
                <a:lnTo>
                  <a:pt x="2869" y="1"/>
                </a:lnTo>
                <a:lnTo>
                  <a:pt x="2834" y="3"/>
                </a:lnTo>
                <a:lnTo>
                  <a:pt x="2806" y="7"/>
                </a:lnTo>
                <a:lnTo>
                  <a:pt x="2780" y="11"/>
                </a:lnTo>
                <a:lnTo>
                  <a:pt x="2761" y="17"/>
                </a:lnTo>
                <a:lnTo>
                  <a:pt x="2724" y="19"/>
                </a:lnTo>
                <a:lnTo>
                  <a:pt x="2689" y="24"/>
                </a:lnTo>
                <a:lnTo>
                  <a:pt x="2655" y="29"/>
                </a:lnTo>
                <a:lnTo>
                  <a:pt x="2620" y="35"/>
                </a:lnTo>
                <a:lnTo>
                  <a:pt x="2586" y="43"/>
                </a:lnTo>
                <a:lnTo>
                  <a:pt x="2552" y="53"/>
                </a:lnTo>
                <a:lnTo>
                  <a:pt x="2518" y="63"/>
                </a:lnTo>
                <a:lnTo>
                  <a:pt x="2486" y="73"/>
                </a:lnTo>
                <a:lnTo>
                  <a:pt x="2454" y="85"/>
                </a:lnTo>
                <a:lnTo>
                  <a:pt x="2423" y="97"/>
                </a:lnTo>
                <a:lnTo>
                  <a:pt x="2393" y="111"/>
                </a:lnTo>
                <a:lnTo>
                  <a:pt x="2363" y="125"/>
                </a:lnTo>
                <a:lnTo>
                  <a:pt x="2333" y="138"/>
                </a:lnTo>
                <a:lnTo>
                  <a:pt x="2306" y="153"/>
                </a:lnTo>
                <a:lnTo>
                  <a:pt x="2278" y="169"/>
                </a:lnTo>
                <a:lnTo>
                  <a:pt x="2252" y="184"/>
                </a:lnTo>
                <a:lnTo>
                  <a:pt x="2218" y="205"/>
                </a:lnTo>
                <a:lnTo>
                  <a:pt x="2187" y="224"/>
                </a:lnTo>
                <a:lnTo>
                  <a:pt x="2158" y="244"/>
                </a:lnTo>
                <a:lnTo>
                  <a:pt x="2132" y="262"/>
                </a:lnTo>
                <a:lnTo>
                  <a:pt x="2108" y="280"/>
                </a:lnTo>
                <a:lnTo>
                  <a:pt x="2086" y="298"/>
                </a:lnTo>
                <a:lnTo>
                  <a:pt x="2065" y="315"/>
                </a:lnTo>
                <a:lnTo>
                  <a:pt x="2046" y="332"/>
                </a:lnTo>
                <a:lnTo>
                  <a:pt x="2007" y="367"/>
                </a:lnTo>
                <a:lnTo>
                  <a:pt x="1968" y="405"/>
                </a:lnTo>
                <a:lnTo>
                  <a:pt x="1927" y="446"/>
                </a:lnTo>
                <a:lnTo>
                  <a:pt x="1878" y="491"/>
                </a:lnTo>
                <a:lnTo>
                  <a:pt x="1866" y="504"/>
                </a:lnTo>
                <a:lnTo>
                  <a:pt x="1853" y="517"/>
                </a:lnTo>
                <a:lnTo>
                  <a:pt x="1838" y="533"/>
                </a:lnTo>
                <a:lnTo>
                  <a:pt x="1823" y="550"/>
                </a:lnTo>
                <a:lnTo>
                  <a:pt x="1790" y="592"/>
                </a:lnTo>
                <a:lnTo>
                  <a:pt x="1754" y="637"/>
                </a:lnTo>
                <a:lnTo>
                  <a:pt x="1717" y="689"/>
                </a:lnTo>
                <a:lnTo>
                  <a:pt x="1679" y="744"/>
                </a:lnTo>
                <a:lnTo>
                  <a:pt x="1639" y="802"/>
                </a:lnTo>
                <a:lnTo>
                  <a:pt x="1600" y="863"/>
                </a:lnTo>
                <a:lnTo>
                  <a:pt x="1561" y="926"/>
                </a:lnTo>
                <a:lnTo>
                  <a:pt x="1524" y="988"/>
                </a:lnTo>
                <a:lnTo>
                  <a:pt x="1488" y="1051"/>
                </a:lnTo>
                <a:lnTo>
                  <a:pt x="1454" y="1111"/>
                </a:lnTo>
                <a:lnTo>
                  <a:pt x="1425" y="1170"/>
                </a:lnTo>
                <a:lnTo>
                  <a:pt x="1398" y="1226"/>
                </a:lnTo>
                <a:lnTo>
                  <a:pt x="1387" y="1252"/>
                </a:lnTo>
                <a:lnTo>
                  <a:pt x="1377" y="1277"/>
                </a:lnTo>
                <a:lnTo>
                  <a:pt x="1367" y="1301"/>
                </a:lnTo>
                <a:lnTo>
                  <a:pt x="1359" y="1323"/>
                </a:lnTo>
                <a:lnTo>
                  <a:pt x="1340" y="1362"/>
                </a:lnTo>
                <a:lnTo>
                  <a:pt x="1320" y="1404"/>
                </a:lnTo>
                <a:lnTo>
                  <a:pt x="1300" y="1449"/>
                </a:lnTo>
                <a:lnTo>
                  <a:pt x="1280" y="1496"/>
                </a:lnTo>
                <a:lnTo>
                  <a:pt x="1261" y="1545"/>
                </a:lnTo>
                <a:lnTo>
                  <a:pt x="1241" y="1596"/>
                </a:lnTo>
                <a:lnTo>
                  <a:pt x="1222" y="1648"/>
                </a:lnTo>
                <a:lnTo>
                  <a:pt x="1204" y="1702"/>
                </a:lnTo>
                <a:lnTo>
                  <a:pt x="1167" y="1808"/>
                </a:lnTo>
                <a:lnTo>
                  <a:pt x="1133" y="1915"/>
                </a:lnTo>
                <a:lnTo>
                  <a:pt x="1101" y="2016"/>
                </a:lnTo>
                <a:lnTo>
                  <a:pt x="1071" y="2110"/>
                </a:lnTo>
                <a:lnTo>
                  <a:pt x="1055" y="2162"/>
                </a:lnTo>
                <a:lnTo>
                  <a:pt x="1039" y="2213"/>
                </a:lnTo>
                <a:lnTo>
                  <a:pt x="1023" y="2264"/>
                </a:lnTo>
                <a:lnTo>
                  <a:pt x="1008" y="2315"/>
                </a:lnTo>
                <a:lnTo>
                  <a:pt x="992" y="2367"/>
                </a:lnTo>
                <a:lnTo>
                  <a:pt x="976" y="2418"/>
                </a:lnTo>
                <a:lnTo>
                  <a:pt x="960" y="2471"/>
                </a:lnTo>
                <a:lnTo>
                  <a:pt x="944" y="2523"/>
                </a:lnTo>
                <a:lnTo>
                  <a:pt x="929" y="2573"/>
                </a:lnTo>
                <a:lnTo>
                  <a:pt x="913" y="2626"/>
                </a:lnTo>
                <a:lnTo>
                  <a:pt x="896" y="2682"/>
                </a:lnTo>
                <a:lnTo>
                  <a:pt x="880" y="2740"/>
                </a:lnTo>
                <a:lnTo>
                  <a:pt x="864" y="2797"/>
                </a:lnTo>
                <a:lnTo>
                  <a:pt x="849" y="2852"/>
                </a:lnTo>
                <a:lnTo>
                  <a:pt x="836" y="2906"/>
                </a:lnTo>
                <a:lnTo>
                  <a:pt x="827" y="2955"/>
                </a:lnTo>
                <a:lnTo>
                  <a:pt x="818" y="2977"/>
                </a:lnTo>
                <a:lnTo>
                  <a:pt x="809" y="3003"/>
                </a:lnTo>
                <a:lnTo>
                  <a:pt x="800" y="3033"/>
                </a:lnTo>
                <a:lnTo>
                  <a:pt x="790" y="3067"/>
                </a:lnTo>
                <a:lnTo>
                  <a:pt x="770" y="3142"/>
                </a:lnTo>
                <a:lnTo>
                  <a:pt x="749" y="3225"/>
                </a:lnTo>
                <a:lnTo>
                  <a:pt x="730" y="3310"/>
                </a:lnTo>
                <a:lnTo>
                  <a:pt x="712" y="3390"/>
                </a:lnTo>
                <a:lnTo>
                  <a:pt x="696" y="3461"/>
                </a:lnTo>
                <a:lnTo>
                  <a:pt x="683" y="3519"/>
                </a:lnTo>
                <a:lnTo>
                  <a:pt x="666" y="3593"/>
                </a:lnTo>
                <a:lnTo>
                  <a:pt x="649" y="3667"/>
                </a:lnTo>
                <a:lnTo>
                  <a:pt x="633" y="3740"/>
                </a:lnTo>
                <a:lnTo>
                  <a:pt x="617" y="3813"/>
                </a:lnTo>
                <a:lnTo>
                  <a:pt x="601" y="3886"/>
                </a:lnTo>
                <a:lnTo>
                  <a:pt x="585" y="3960"/>
                </a:lnTo>
                <a:lnTo>
                  <a:pt x="569" y="4033"/>
                </a:lnTo>
                <a:lnTo>
                  <a:pt x="553" y="4108"/>
                </a:lnTo>
                <a:lnTo>
                  <a:pt x="537" y="4182"/>
                </a:lnTo>
                <a:lnTo>
                  <a:pt x="522" y="4256"/>
                </a:lnTo>
                <a:lnTo>
                  <a:pt x="506" y="4330"/>
                </a:lnTo>
                <a:lnTo>
                  <a:pt x="491" y="4406"/>
                </a:lnTo>
                <a:lnTo>
                  <a:pt x="476" y="4483"/>
                </a:lnTo>
                <a:lnTo>
                  <a:pt x="461" y="4559"/>
                </a:lnTo>
                <a:lnTo>
                  <a:pt x="447" y="4636"/>
                </a:lnTo>
                <a:lnTo>
                  <a:pt x="433" y="4714"/>
                </a:lnTo>
                <a:lnTo>
                  <a:pt x="419" y="4791"/>
                </a:lnTo>
                <a:lnTo>
                  <a:pt x="405" y="4868"/>
                </a:lnTo>
                <a:lnTo>
                  <a:pt x="392" y="4946"/>
                </a:lnTo>
                <a:lnTo>
                  <a:pt x="380" y="5024"/>
                </a:lnTo>
                <a:lnTo>
                  <a:pt x="367" y="5100"/>
                </a:lnTo>
                <a:lnTo>
                  <a:pt x="356" y="5177"/>
                </a:lnTo>
                <a:lnTo>
                  <a:pt x="346" y="5253"/>
                </a:lnTo>
                <a:lnTo>
                  <a:pt x="335" y="5328"/>
                </a:lnTo>
                <a:lnTo>
                  <a:pt x="320" y="5442"/>
                </a:lnTo>
                <a:lnTo>
                  <a:pt x="304" y="5555"/>
                </a:lnTo>
                <a:lnTo>
                  <a:pt x="289" y="5668"/>
                </a:lnTo>
                <a:lnTo>
                  <a:pt x="275" y="5781"/>
                </a:lnTo>
                <a:lnTo>
                  <a:pt x="259" y="5896"/>
                </a:lnTo>
                <a:lnTo>
                  <a:pt x="244" y="6009"/>
                </a:lnTo>
                <a:lnTo>
                  <a:pt x="229" y="6124"/>
                </a:lnTo>
                <a:lnTo>
                  <a:pt x="214" y="6238"/>
                </a:lnTo>
                <a:lnTo>
                  <a:pt x="199" y="6352"/>
                </a:lnTo>
                <a:lnTo>
                  <a:pt x="185" y="6467"/>
                </a:lnTo>
                <a:lnTo>
                  <a:pt x="173" y="6581"/>
                </a:lnTo>
                <a:lnTo>
                  <a:pt x="160" y="6697"/>
                </a:lnTo>
                <a:lnTo>
                  <a:pt x="148" y="6811"/>
                </a:lnTo>
                <a:lnTo>
                  <a:pt x="137" y="6927"/>
                </a:lnTo>
                <a:lnTo>
                  <a:pt x="127" y="7042"/>
                </a:lnTo>
                <a:lnTo>
                  <a:pt x="119" y="7158"/>
                </a:lnTo>
                <a:lnTo>
                  <a:pt x="105" y="7319"/>
                </a:lnTo>
                <a:lnTo>
                  <a:pt x="92" y="7481"/>
                </a:lnTo>
                <a:lnTo>
                  <a:pt x="79" y="7643"/>
                </a:lnTo>
                <a:lnTo>
                  <a:pt x="65" y="7805"/>
                </a:lnTo>
                <a:lnTo>
                  <a:pt x="54" y="7967"/>
                </a:lnTo>
                <a:lnTo>
                  <a:pt x="42" y="8130"/>
                </a:lnTo>
                <a:lnTo>
                  <a:pt x="31" y="8293"/>
                </a:lnTo>
                <a:lnTo>
                  <a:pt x="22" y="8456"/>
                </a:lnTo>
                <a:lnTo>
                  <a:pt x="14" y="8619"/>
                </a:lnTo>
                <a:lnTo>
                  <a:pt x="8" y="8782"/>
                </a:lnTo>
                <a:lnTo>
                  <a:pt x="3" y="8946"/>
                </a:lnTo>
                <a:lnTo>
                  <a:pt x="0" y="9109"/>
                </a:lnTo>
                <a:lnTo>
                  <a:pt x="0" y="9190"/>
                </a:lnTo>
                <a:lnTo>
                  <a:pt x="0" y="9273"/>
                </a:lnTo>
                <a:lnTo>
                  <a:pt x="1" y="9354"/>
                </a:lnTo>
                <a:lnTo>
                  <a:pt x="2" y="9437"/>
                </a:lnTo>
                <a:lnTo>
                  <a:pt x="3" y="9518"/>
                </a:lnTo>
                <a:lnTo>
                  <a:pt x="7" y="9599"/>
                </a:lnTo>
                <a:lnTo>
                  <a:pt x="10" y="9681"/>
                </a:lnTo>
                <a:lnTo>
                  <a:pt x="14" y="9763"/>
                </a:lnTo>
                <a:lnTo>
                  <a:pt x="21" y="9885"/>
                </a:lnTo>
                <a:lnTo>
                  <a:pt x="27" y="10006"/>
                </a:lnTo>
                <a:lnTo>
                  <a:pt x="34" y="10128"/>
                </a:lnTo>
                <a:lnTo>
                  <a:pt x="41" y="10249"/>
                </a:lnTo>
                <a:lnTo>
                  <a:pt x="47" y="10369"/>
                </a:lnTo>
                <a:lnTo>
                  <a:pt x="54" y="10490"/>
                </a:lnTo>
                <a:lnTo>
                  <a:pt x="61" y="10611"/>
                </a:lnTo>
                <a:lnTo>
                  <a:pt x="68" y="10731"/>
                </a:lnTo>
                <a:lnTo>
                  <a:pt x="74" y="10851"/>
                </a:lnTo>
                <a:lnTo>
                  <a:pt x="82" y="10971"/>
                </a:lnTo>
                <a:lnTo>
                  <a:pt x="90" y="11091"/>
                </a:lnTo>
                <a:lnTo>
                  <a:pt x="98" y="11213"/>
                </a:lnTo>
                <a:lnTo>
                  <a:pt x="108" y="11333"/>
                </a:lnTo>
                <a:lnTo>
                  <a:pt x="117" y="11454"/>
                </a:lnTo>
                <a:lnTo>
                  <a:pt x="127" y="11575"/>
                </a:lnTo>
                <a:lnTo>
                  <a:pt x="138" y="11697"/>
                </a:lnTo>
                <a:lnTo>
                  <a:pt x="149" y="11811"/>
                </a:lnTo>
                <a:lnTo>
                  <a:pt x="160" y="11926"/>
                </a:lnTo>
                <a:lnTo>
                  <a:pt x="172" y="12040"/>
                </a:lnTo>
                <a:lnTo>
                  <a:pt x="184" y="12154"/>
                </a:lnTo>
                <a:lnTo>
                  <a:pt x="197" y="12269"/>
                </a:lnTo>
                <a:lnTo>
                  <a:pt x="209" y="12383"/>
                </a:lnTo>
                <a:lnTo>
                  <a:pt x="223" y="12498"/>
                </a:lnTo>
                <a:lnTo>
                  <a:pt x="237" y="12611"/>
                </a:lnTo>
                <a:lnTo>
                  <a:pt x="252" y="12725"/>
                </a:lnTo>
                <a:lnTo>
                  <a:pt x="267" y="12839"/>
                </a:lnTo>
                <a:lnTo>
                  <a:pt x="281" y="12953"/>
                </a:lnTo>
                <a:lnTo>
                  <a:pt x="298" y="13066"/>
                </a:lnTo>
                <a:lnTo>
                  <a:pt x="314" y="13180"/>
                </a:lnTo>
                <a:lnTo>
                  <a:pt x="331" y="13293"/>
                </a:lnTo>
                <a:lnTo>
                  <a:pt x="349" y="13406"/>
                </a:lnTo>
                <a:lnTo>
                  <a:pt x="366" y="13519"/>
                </a:lnTo>
                <a:lnTo>
                  <a:pt x="398" y="13707"/>
                </a:lnTo>
                <a:lnTo>
                  <a:pt x="433" y="13905"/>
                </a:lnTo>
                <a:lnTo>
                  <a:pt x="470" y="14110"/>
                </a:lnTo>
                <a:lnTo>
                  <a:pt x="511" y="14322"/>
                </a:lnTo>
                <a:lnTo>
                  <a:pt x="555" y="14538"/>
                </a:lnTo>
                <a:lnTo>
                  <a:pt x="602" y="14757"/>
                </a:lnTo>
                <a:lnTo>
                  <a:pt x="650" y="14979"/>
                </a:lnTo>
                <a:lnTo>
                  <a:pt x="701" y="15200"/>
                </a:lnTo>
                <a:lnTo>
                  <a:pt x="729" y="15311"/>
                </a:lnTo>
                <a:lnTo>
                  <a:pt x="755" y="15420"/>
                </a:lnTo>
                <a:lnTo>
                  <a:pt x="784" y="15530"/>
                </a:lnTo>
                <a:lnTo>
                  <a:pt x="811" y="15639"/>
                </a:lnTo>
                <a:lnTo>
                  <a:pt x="840" y="15747"/>
                </a:lnTo>
                <a:lnTo>
                  <a:pt x="870" y="15854"/>
                </a:lnTo>
                <a:lnTo>
                  <a:pt x="899" y="15959"/>
                </a:lnTo>
                <a:lnTo>
                  <a:pt x="929" y="16064"/>
                </a:lnTo>
                <a:lnTo>
                  <a:pt x="960" y="16165"/>
                </a:lnTo>
                <a:lnTo>
                  <a:pt x="991" y="16266"/>
                </a:lnTo>
                <a:lnTo>
                  <a:pt x="1022" y="16365"/>
                </a:lnTo>
                <a:lnTo>
                  <a:pt x="1054" y="16461"/>
                </a:lnTo>
                <a:lnTo>
                  <a:pt x="1086" y="16556"/>
                </a:lnTo>
                <a:lnTo>
                  <a:pt x="1119" y="16646"/>
                </a:lnTo>
                <a:lnTo>
                  <a:pt x="1152" y="16735"/>
                </a:lnTo>
                <a:lnTo>
                  <a:pt x="1185" y="16821"/>
                </a:lnTo>
                <a:lnTo>
                  <a:pt x="1225" y="16920"/>
                </a:lnTo>
                <a:lnTo>
                  <a:pt x="1267" y="17017"/>
                </a:lnTo>
                <a:lnTo>
                  <a:pt x="1288" y="17064"/>
                </a:lnTo>
                <a:lnTo>
                  <a:pt x="1310" y="17111"/>
                </a:lnTo>
                <a:lnTo>
                  <a:pt x="1332" y="17156"/>
                </a:lnTo>
                <a:lnTo>
                  <a:pt x="1354" y="17202"/>
                </a:lnTo>
                <a:lnTo>
                  <a:pt x="1377" y="17247"/>
                </a:lnTo>
                <a:lnTo>
                  <a:pt x="1399" y="17290"/>
                </a:lnTo>
                <a:lnTo>
                  <a:pt x="1423" y="17334"/>
                </a:lnTo>
                <a:lnTo>
                  <a:pt x="1447" y="17376"/>
                </a:lnTo>
                <a:lnTo>
                  <a:pt x="1471" y="17417"/>
                </a:lnTo>
                <a:lnTo>
                  <a:pt x="1496" y="17459"/>
                </a:lnTo>
                <a:lnTo>
                  <a:pt x="1521" y="17499"/>
                </a:lnTo>
                <a:lnTo>
                  <a:pt x="1546" y="17538"/>
                </a:lnTo>
                <a:lnTo>
                  <a:pt x="1572" y="17576"/>
                </a:lnTo>
                <a:lnTo>
                  <a:pt x="1598" y="17614"/>
                </a:lnTo>
                <a:lnTo>
                  <a:pt x="1625" y="17651"/>
                </a:lnTo>
                <a:lnTo>
                  <a:pt x="1652" y="17687"/>
                </a:lnTo>
                <a:lnTo>
                  <a:pt x="1680" y="17722"/>
                </a:lnTo>
                <a:lnTo>
                  <a:pt x="1707" y="17756"/>
                </a:lnTo>
                <a:lnTo>
                  <a:pt x="1736" y="17789"/>
                </a:lnTo>
                <a:lnTo>
                  <a:pt x="1764" y="17822"/>
                </a:lnTo>
                <a:lnTo>
                  <a:pt x="1794" y="17853"/>
                </a:lnTo>
                <a:lnTo>
                  <a:pt x="1824" y="17884"/>
                </a:lnTo>
                <a:lnTo>
                  <a:pt x="1854" y="17914"/>
                </a:lnTo>
                <a:lnTo>
                  <a:pt x="1885" y="17943"/>
                </a:lnTo>
                <a:lnTo>
                  <a:pt x="1917" y="17970"/>
                </a:lnTo>
                <a:lnTo>
                  <a:pt x="1947" y="17998"/>
                </a:lnTo>
                <a:lnTo>
                  <a:pt x="1980" y="18023"/>
                </a:lnTo>
                <a:lnTo>
                  <a:pt x="2013" y="18048"/>
                </a:lnTo>
                <a:lnTo>
                  <a:pt x="2052" y="18075"/>
                </a:lnTo>
                <a:lnTo>
                  <a:pt x="2091" y="18102"/>
                </a:lnTo>
                <a:lnTo>
                  <a:pt x="2132" y="18127"/>
                </a:lnTo>
                <a:lnTo>
                  <a:pt x="2173" y="18151"/>
                </a:lnTo>
                <a:lnTo>
                  <a:pt x="2215" y="18174"/>
                </a:lnTo>
                <a:lnTo>
                  <a:pt x="2259" y="18194"/>
                </a:lnTo>
                <a:lnTo>
                  <a:pt x="2303" y="18214"/>
                </a:lnTo>
                <a:lnTo>
                  <a:pt x="2349" y="18232"/>
                </a:lnTo>
                <a:lnTo>
                  <a:pt x="2397" y="18249"/>
                </a:lnTo>
                <a:lnTo>
                  <a:pt x="2446" y="18264"/>
                </a:lnTo>
                <a:lnTo>
                  <a:pt x="2497" y="18277"/>
                </a:lnTo>
                <a:lnTo>
                  <a:pt x="2549" y="18287"/>
                </a:lnTo>
                <a:lnTo>
                  <a:pt x="2576" y="18292"/>
                </a:lnTo>
                <a:lnTo>
                  <a:pt x="2603" y="18296"/>
                </a:lnTo>
                <a:lnTo>
                  <a:pt x="2631" y="18300"/>
                </a:lnTo>
                <a:lnTo>
                  <a:pt x="2658" y="18303"/>
                </a:lnTo>
                <a:lnTo>
                  <a:pt x="2687" y="18305"/>
                </a:lnTo>
                <a:lnTo>
                  <a:pt x="2716" y="18308"/>
                </a:lnTo>
                <a:lnTo>
                  <a:pt x="2745" y="18309"/>
                </a:lnTo>
                <a:lnTo>
                  <a:pt x="2776" y="18309"/>
                </a:lnTo>
                <a:lnTo>
                  <a:pt x="2835" y="18310"/>
                </a:lnTo>
                <a:lnTo>
                  <a:pt x="2896" y="18310"/>
                </a:lnTo>
                <a:lnTo>
                  <a:pt x="2957" y="18309"/>
                </a:lnTo>
                <a:lnTo>
                  <a:pt x="3017" y="18308"/>
                </a:lnTo>
                <a:lnTo>
                  <a:pt x="3079" y="18305"/>
                </a:lnTo>
                <a:lnTo>
                  <a:pt x="3140" y="18303"/>
                </a:lnTo>
                <a:lnTo>
                  <a:pt x="3200" y="18300"/>
                </a:lnTo>
                <a:lnTo>
                  <a:pt x="3262" y="18296"/>
                </a:lnTo>
                <a:lnTo>
                  <a:pt x="3323" y="18292"/>
                </a:lnTo>
                <a:lnTo>
                  <a:pt x="3384" y="18287"/>
                </a:lnTo>
                <a:lnTo>
                  <a:pt x="3444" y="18283"/>
                </a:lnTo>
                <a:lnTo>
                  <a:pt x="3505" y="18277"/>
                </a:lnTo>
                <a:lnTo>
                  <a:pt x="3565" y="18271"/>
                </a:lnTo>
                <a:lnTo>
                  <a:pt x="3625" y="18264"/>
                </a:lnTo>
                <a:lnTo>
                  <a:pt x="3686" y="18257"/>
                </a:lnTo>
                <a:lnTo>
                  <a:pt x="3745" y="18250"/>
                </a:lnTo>
                <a:lnTo>
                  <a:pt x="3829" y="18240"/>
                </a:lnTo>
                <a:lnTo>
                  <a:pt x="3912" y="18230"/>
                </a:lnTo>
                <a:lnTo>
                  <a:pt x="3995" y="18218"/>
                </a:lnTo>
                <a:lnTo>
                  <a:pt x="4076" y="18206"/>
                </a:lnTo>
                <a:lnTo>
                  <a:pt x="4157" y="18192"/>
                </a:lnTo>
                <a:lnTo>
                  <a:pt x="4236" y="18178"/>
                </a:lnTo>
                <a:lnTo>
                  <a:pt x="4316" y="18165"/>
                </a:lnTo>
                <a:lnTo>
                  <a:pt x="4395" y="18150"/>
                </a:lnTo>
                <a:lnTo>
                  <a:pt x="4473" y="18134"/>
                </a:lnTo>
                <a:lnTo>
                  <a:pt x="4549" y="18118"/>
                </a:lnTo>
                <a:lnTo>
                  <a:pt x="4627" y="18101"/>
                </a:lnTo>
                <a:lnTo>
                  <a:pt x="4704" y="18083"/>
                </a:lnTo>
                <a:lnTo>
                  <a:pt x="4779" y="18066"/>
                </a:lnTo>
                <a:lnTo>
                  <a:pt x="4855" y="18048"/>
                </a:lnTo>
                <a:lnTo>
                  <a:pt x="4931" y="18028"/>
                </a:lnTo>
                <a:lnTo>
                  <a:pt x="5006" y="18009"/>
                </a:lnTo>
                <a:lnTo>
                  <a:pt x="5156" y="17969"/>
                </a:lnTo>
                <a:lnTo>
                  <a:pt x="5305" y="17927"/>
                </a:lnTo>
                <a:lnTo>
                  <a:pt x="5455" y="17882"/>
                </a:lnTo>
                <a:lnTo>
                  <a:pt x="5603" y="17836"/>
                </a:lnTo>
                <a:lnTo>
                  <a:pt x="5753" y="17789"/>
                </a:lnTo>
                <a:lnTo>
                  <a:pt x="5904" y="17741"/>
                </a:lnTo>
                <a:lnTo>
                  <a:pt x="6056" y="17691"/>
                </a:lnTo>
                <a:lnTo>
                  <a:pt x="6211" y="17639"/>
                </a:lnTo>
                <a:lnTo>
                  <a:pt x="6273" y="17619"/>
                </a:lnTo>
                <a:lnTo>
                  <a:pt x="6368" y="17586"/>
                </a:lnTo>
                <a:lnTo>
                  <a:pt x="6483" y="17544"/>
                </a:lnTo>
                <a:lnTo>
                  <a:pt x="6608" y="17501"/>
                </a:lnTo>
                <a:lnTo>
                  <a:pt x="6729" y="17456"/>
                </a:lnTo>
                <a:lnTo>
                  <a:pt x="6837" y="17415"/>
                </a:lnTo>
                <a:lnTo>
                  <a:pt x="6881" y="17398"/>
                </a:lnTo>
                <a:lnTo>
                  <a:pt x="6917" y="17382"/>
                </a:lnTo>
                <a:lnTo>
                  <a:pt x="6943" y="17369"/>
                </a:lnTo>
                <a:lnTo>
                  <a:pt x="6959" y="17361"/>
                </a:lnTo>
                <a:lnTo>
                  <a:pt x="6994" y="17351"/>
                </a:lnTo>
                <a:lnTo>
                  <a:pt x="7046" y="17333"/>
                </a:lnTo>
                <a:lnTo>
                  <a:pt x="7116" y="17308"/>
                </a:lnTo>
                <a:lnTo>
                  <a:pt x="7200" y="17277"/>
                </a:lnTo>
                <a:lnTo>
                  <a:pt x="7294" y="17240"/>
                </a:lnTo>
                <a:lnTo>
                  <a:pt x="7397" y="17200"/>
                </a:lnTo>
                <a:lnTo>
                  <a:pt x="7507" y="17156"/>
                </a:lnTo>
                <a:lnTo>
                  <a:pt x="7621" y="17112"/>
                </a:lnTo>
                <a:lnTo>
                  <a:pt x="7734" y="17066"/>
                </a:lnTo>
                <a:lnTo>
                  <a:pt x="7846" y="17021"/>
                </a:lnTo>
                <a:lnTo>
                  <a:pt x="7955" y="16977"/>
                </a:lnTo>
                <a:lnTo>
                  <a:pt x="8057" y="16937"/>
                </a:lnTo>
                <a:lnTo>
                  <a:pt x="8148" y="16899"/>
                </a:lnTo>
                <a:lnTo>
                  <a:pt x="8228" y="16867"/>
                </a:lnTo>
                <a:lnTo>
                  <a:pt x="8295" y="16841"/>
                </a:lnTo>
                <a:lnTo>
                  <a:pt x="8344" y="16821"/>
                </a:lnTo>
                <a:lnTo>
                  <a:pt x="8396" y="16799"/>
                </a:lnTo>
                <a:lnTo>
                  <a:pt x="8454" y="16778"/>
                </a:lnTo>
                <a:lnTo>
                  <a:pt x="8513" y="16755"/>
                </a:lnTo>
                <a:lnTo>
                  <a:pt x="8574" y="16731"/>
                </a:lnTo>
                <a:lnTo>
                  <a:pt x="8633" y="16707"/>
                </a:lnTo>
                <a:lnTo>
                  <a:pt x="8690" y="16682"/>
                </a:lnTo>
                <a:lnTo>
                  <a:pt x="8744" y="16658"/>
                </a:lnTo>
                <a:lnTo>
                  <a:pt x="8792" y="16633"/>
                </a:lnTo>
                <a:lnTo>
                  <a:pt x="8829" y="16621"/>
                </a:lnTo>
                <a:lnTo>
                  <a:pt x="8872" y="16605"/>
                </a:lnTo>
                <a:lnTo>
                  <a:pt x="8918" y="16587"/>
                </a:lnTo>
                <a:lnTo>
                  <a:pt x="8965" y="16565"/>
                </a:lnTo>
                <a:lnTo>
                  <a:pt x="9013" y="16543"/>
                </a:lnTo>
                <a:lnTo>
                  <a:pt x="9059" y="16522"/>
                </a:lnTo>
                <a:lnTo>
                  <a:pt x="9100" y="16502"/>
                </a:lnTo>
                <a:lnTo>
                  <a:pt x="9137" y="16485"/>
                </a:lnTo>
                <a:lnTo>
                  <a:pt x="9178" y="16465"/>
                </a:lnTo>
                <a:lnTo>
                  <a:pt x="9220" y="16447"/>
                </a:lnTo>
                <a:lnTo>
                  <a:pt x="9263" y="16429"/>
                </a:lnTo>
                <a:lnTo>
                  <a:pt x="9304" y="16409"/>
                </a:lnTo>
                <a:lnTo>
                  <a:pt x="9346" y="16391"/>
                </a:lnTo>
                <a:lnTo>
                  <a:pt x="9388" y="16371"/>
                </a:lnTo>
                <a:lnTo>
                  <a:pt x="9430" y="16352"/>
                </a:lnTo>
                <a:lnTo>
                  <a:pt x="9471" y="16331"/>
                </a:lnTo>
                <a:lnTo>
                  <a:pt x="9550" y="16292"/>
                </a:lnTo>
                <a:lnTo>
                  <a:pt x="9633" y="16254"/>
                </a:lnTo>
                <a:lnTo>
                  <a:pt x="9720" y="16214"/>
                </a:lnTo>
                <a:lnTo>
                  <a:pt x="9807" y="16173"/>
                </a:lnTo>
                <a:lnTo>
                  <a:pt x="9894" y="16132"/>
                </a:lnTo>
                <a:lnTo>
                  <a:pt x="9978" y="16091"/>
                </a:lnTo>
                <a:lnTo>
                  <a:pt x="10018" y="16069"/>
                </a:lnTo>
                <a:lnTo>
                  <a:pt x="10057" y="16048"/>
                </a:lnTo>
                <a:lnTo>
                  <a:pt x="10093" y="16026"/>
                </a:lnTo>
                <a:lnTo>
                  <a:pt x="10129" y="16004"/>
                </a:lnTo>
                <a:lnTo>
                  <a:pt x="10153" y="15994"/>
                </a:lnTo>
                <a:lnTo>
                  <a:pt x="10184" y="15979"/>
                </a:lnTo>
                <a:lnTo>
                  <a:pt x="10220" y="15962"/>
                </a:lnTo>
                <a:lnTo>
                  <a:pt x="10263" y="15939"/>
                </a:lnTo>
                <a:lnTo>
                  <a:pt x="10363" y="15886"/>
                </a:lnTo>
                <a:lnTo>
                  <a:pt x="10482" y="15821"/>
                </a:lnTo>
                <a:lnTo>
                  <a:pt x="10614" y="15748"/>
                </a:lnTo>
                <a:lnTo>
                  <a:pt x="10756" y="15669"/>
                </a:lnTo>
                <a:lnTo>
                  <a:pt x="10903" y="15584"/>
                </a:lnTo>
                <a:lnTo>
                  <a:pt x="11053" y="15498"/>
                </a:lnTo>
                <a:lnTo>
                  <a:pt x="11202" y="15411"/>
                </a:lnTo>
                <a:lnTo>
                  <a:pt x="11344" y="15328"/>
                </a:lnTo>
                <a:lnTo>
                  <a:pt x="11477" y="15249"/>
                </a:lnTo>
                <a:lnTo>
                  <a:pt x="11597" y="15176"/>
                </a:lnTo>
                <a:lnTo>
                  <a:pt x="11700" y="15111"/>
                </a:lnTo>
                <a:lnTo>
                  <a:pt x="11781" y="15060"/>
                </a:lnTo>
                <a:lnTo>
                  <a:pt x="11813" y="15038"/>
                </a:lnTo>
                <a:lnTo>
                  <a:pt x="11838" y="15021"/>
                </a:lnTo>
                <a:lnTo>
                  <a:pt x="11857" y="15007"/>
                </a:lnTo>
                <a:lnTo>
                  <a:pt x="11867" y="14997"/>
                </a:lnTo>
                <a:lnTo>
                  <a:pt x="11879" y="14991"/>
                </a:lnTo>
                <a:lnTo>
                  <a:pt x="11898" y="14982"/>
                </a:lnTo>
                <a:lnTo>
                  <a:pt x="11919" y="14970"/>
                </a:lnTo>
                <a:lnTo>
                  <a:pt x="11947" y="14954"/>
                </a:lnTo>
                <a:lnTo>
                  <a:pt x="12012" y="14913"/>
                </a:lnTo>
                <a:lnTo>
                  <a:pt x="12090" y="14864"/>
                </a:lnTo>
                <a:lnTo>
                  <a:pt x="12179" y="14806"/>
                </a:lnTo>
                <a:lnTo>
                  <a:pt x="12276" y="14741"/>
                </a:lnTo>
                <a:lnTo>
                  <a:pt x="12379" y="14672"/>
                </a:lnTo>
                <a:lnTo>
                  <a:pt x="12485" y="14600"/>
                </a:lnTo>
                <a:lnTo>
                  <a:pt x="12590" y="14528"/>
                </a:lnTo>
                <a:lnTo>
                  <a:pt x="12694" y="14457"/>
                </a:lnTo>
                <a:lnTo>
                  <a:pt x="12791" y="14388"/>
                </a:lnTo>
                <a:lnTo>
                  <a:pt x="12883" y="14324"/>
                </a:lnTo>
                <a:lnTo>
                  <a:pt x="12963" y="14267"/>
                </a:lnTo>
                <a:lnTo>
                  <a:pt x="13031" y="14218"/>
                </a:lnTo>
                <a:lnTo>
                  <a:pt x="13083" y="14179"/>
                </a:lnTo>
                <a:lnTo>
                  <a:pt x="13116" y="14152"/>
                </a:lnTo>
                <a:lnTo>
                  <a:pt x="13131" y="14143"/>
                </a:lnTo>
                <a:lnTo>
                  <a:pt x="13152" y="14131"/>
                </a:lnTo>
                <a:lnTo>
                  <a:pt x="13179" y="14112"/>
                </a:lnTo>
                <a:lnTo>
                  <a:pt x="13212" y="14088"/>
                </a:lnTo>
                <a:lnTo>
                  <a:pt x="13294" y="14030"/>
                </a:lnTo>
                <a:lnTo>
                  <a:pt x="13392" y="13958"/>
                </a:lnTo>
                <a:lnTo>
                  <a:pt x="13505" y="13873"/>
                </a:lnTo>
                <a:lnTo>
                  <a:pt x="13628" y="13779"/>
                </a:lnTo>
                <a:lnTo>
                  <a:pt x="13758" y="13680"/>
                </a:lnTo>
                <a:lnTo>
                  <a:pt x="13891" y="13578"/>
                </a:lnTo>
                <a:lnTo>
                  <a:pt x="14024" y="13475"/>
                </a:lnTo>
                <a:lnTo>
                  <a:pt x="14153" y="13374"/>
                </a:lnTo>
                <a:lnTo>
                  <a:pt x="14274" y="13278"/>
                </a:lnTo>
                <a:lnTo>
                  <a:pt x="14385" y="13190"/>
                </a:lnTo>
                <a:lnTo>
                  <a:pt x="14481" y="13112"/>
                </a:lnTo>
                <a:lnTo>
                  <a:pt x="14559" y="13048"/>
                </a:lnTo>
                <a:lnTo>
                  <a:pt x="14590" y="13022"/>
                </a:lnTo>
                <a:lnTo>
                  <a:pt x="14615" y="13000"/>
                </a:lnTo>
                <a:lnTo>
                  <a:pt x="14634" y="12982"/>
                </a:lnTo>
                <a:lnTo>
                  <a:pt x="14645" y="12970"/>
                </a:lnTo>
                <a:lnTo>
                  <a:pt x="14658" y="12963"/>
                </a:lnTo>
                <a:lnTo>
                  <a:pt x="14673" y="12954"/>
                </a:lnTo>
                <a:lnTo>
                  <a:pt x="14690" y="12942"/>
                </a:lnTo>
                <a:lnTo>
                  <a:pt x="14708" y="12928"/>
                </a:lnTo>
                <a:lnTo>
                  <a:pt x="14751" y="12895"/>
                </a:lnTo>
                <a:lnTo>
                  <a:pt x="14802" y="12854"/>
                </a:lnTo>
                <a:lnTo>
                  <a:pt x="14857" y="12807"/>
                </a:lnTo>
                <a:lnTo>
                  <a:pt x="14917" y="12756"/>
                </a:lnTo>
                <a:lnTo>
                  <a:pt x="14979" y="12701"/>
                </a:lnTo>
                <a:lnTo>
                  <a:pt x="15044" y="12645"/>
                </a:lnTo>
                <a:lnTo>
                  <a:pt x="15110" y="12587"/>
                </a:lnTo>
                <a:lnTo>
                  <a:pt x="15175" y="12530"/>
                </a:lnTo>
                <a:lnTo>
                  <a:pt x="15238" y="12475"/>
                </a:lnTo>
                <a:lnTo>
                  <a:pt x="15298" y="12421"/>
                </a:lnTo>
                <a:lnTo>
                  <a:pt x="15354" y="12372"/>
                </a:lnTo>
                <a:lnTo>
                  <a:pt x="15405" y="12328"/>
                </a:lnTo>
                <a:lnTo>
                  <a:pt x="15451" y="12291"/>
                </a:lnTo>
                <a:lnTo>
                  <a:pt x="15487" y="12261"/>
                </a:lnTo>
                <a:lnTo>
                  <a:pt x="15508" y="12245"/>
                </a:lnTo>
                <a:lnTo>
                  <a:pt x="15520" y="12233"/>
                </a:lnTo>
                <a:lnTo>
                  <a:pt x="15534" y="12220"/>
                </a:lnTo>
                <a:lnTo>
                  <a:pt x="15555" y="12200"/>
                </a:lnTo>
                <a:lnTo>
                  <a:pt x="15765" y="12013"/>
                </a:lnTo>
                <a:lnTo>
                  <a:pt x="15798" y="11979"/>
                </a:lnTo>
                <a:lnTo>
                  <a:pt x="15830" y="11947"/>
                </a:lnTo>
                <a:lnTo>
                  <a:pt x="15863" y="11915"/>
                </a:lnTo>
                <a:lnTo>
                  <a:pt x="15895" y="11884"/>
                </a:lnTo>
                <a:lnTo>
                  <a:pt x="15927" y="11853"/>
                </a:lnTo>
                <a:lnTo>
                  <a:pt x="15959" y="11823"/>
                </a:lnTo>
                <a:lnTo>
                  <a:pt x="15992" y="11790"/>
                </a:lnTo>
                <a:lnTo>
                  <a:pt x="16025" y="11758"/>
                </a:lnTo>
                <a:lnTo>
                  <a:pt x="16052" y="11733"/>
                </a:lnTo>
                <a:lnTo>
                  <a:pt x="16089" y="11696"/>
                </a:lnTo>
                <a:lnTo>
                  <a:pt x="16136" y="11649"/>
                </a:lnTo>
                <a:lnTo>
                  <a:pt x="16190" y="11595"/>
                </a:lnTo>
                <a:lnTo>
                  <a:pt x="16248" y="11535"/>
                </a:lnTo>
                <a:lnTo>
                  <a:pt x="16311" y="11470"/>
                </a:lnTo>
                <a:lnTo>
                  <a:pt x="16377" y="11403"/>
                </a:lnTo>
                <a:lnTo>
                  <a:pt x="16443" y="11335"/>
                </a:lnTo>
                <a:lnTo>
                  <a:pt x="16508" y="11268"/>
                </a:lnTo>
                <a:lnTo>
                  <a:pt x="16571" y="11202"/>
                </a:lnTo>
                <a:lnTo>
                  <a:pt x="16629" y="11140"/>
                </a:lnTo>
                <a:lnTo>
                  <a:pt x="16681" y="11084"/>
                </a:lnTo>
                <a:lnTo>
                  <a:pt x="16726" y="11036"/>
                </a:lnTo>
                <a:lnTo>
                  <a:pt x="16761" y="10997"/>
                </a:lnTo>
                <a:lnTo>
                  <a:pt x="16786" y="10969"/>
                </a:lnTo>
                <a:lnTo>
                  <a:pt x="16797" y="10953"/>
                </a:lnTo>
                <a:lnTo>
                  <a:pt x="16818" y="10935"/>
                </a:lnTo>
                <a:lnTo>
                  <a:pt x="16837" y="10915"/>
                </a:lnTo>
                <a:lnTo>
                  <a:pt x="16856" y="10896"/>
                </a:lnTo>
                <a:lnTo>
                  <a:pt x="16874" y="10875"/>
                </a:lnTo>
                <a:lnTo>
                  <a:pt x="16908" y="10833"/>
                </a:lnTo>
                <a:lnTo>
                  <a:pt x="16943" y="10789"/>
                </a:lnTo>
                <a:lnTo>
                  <a:pt x="17006" y="10707"/>
                </a:lnTo>
                <a:lnTo>
                  <a:pt x="17067" y="10626"/>
                </a:lnTo>
                <a:lnTo>
                  <a:pt x="17128" y="10543"/>
                </a:lnTo>
                <a:lnTo>
                  <a:pt x="17185" y="10462"/>
                </a:lnTo>
                <a:lnTo>
                  <a:pt x="17214" y="10421"/>
                </a:lnTo>
                <a:lnTo>
                  <a:pt x="17241" y="10379"/>
                </a:lnTo>
                <a:lnTo>
                  <a:pt x="17269" y="10337"/>
                </a:lnTo>
                <a:lnTo>
                  <a:pt x="17295" y="10296"/>
                </a:lnTo>
                <a:lnTo>
                  <a:pt x="17321" y="10254"/>
                </a:lnTo>
                <a:lnTo>
                  <a:pt x="17347" y="10211"/>
                </a:lnTo>
                <a:lnTo>
                  <a:pt x="17372" y="10169"/>
                </a:lnTo>
                <a:lnTo>
                  <a:pt x="17396" y="10125"/>
                </a:lnTo>
                <a:lnTo>
                  <a:pt x="17419" y="10081"/>
                </a:lnTo>
                <a:lnTo>
                  <a:pt x="17442" y="10037"/>
                </a:lnTo>
                <a:lnTo>
                  <a:pt x="17463" y="9992"/>
                </a:lnTo>
                <a:lnTo>
                  <a:pt x="17485" y="9946"/>
                </a:lnTo>
                <a:lnTo>
                  <a:pt x="17505" y="9900"/>
                </a:lnTo>
                <a:lnTo>
                  <a:pt x="17524" y="9853"/>
                </a:lnTo>
                <a:lnTo>
                  <a:pt x="17543" y="9805"/>
                </a:lnTo>
                <a:lnTo>
                  <a:pt x="17561" y="9757"/>
                </a:lnTo>
                <a:lnTo>
                  <a:pt x="17578" y="9708"/>
                </a:lnTo>
                <a:lnTo>
                  <a:pt x="17594" y="9657"/>
                </a:lnTo>
                <a:lnTo>
                  <a:pt x="17609" y="9606"/>
                </a:lnTo>
                <a:lnTo>
                  <a:pt x="17622" y="9553"/>
                </a:lnTo>
                <a:lnTo>
                  <a:pt x="17636" y="9501"/>
                </a:lnTo>
                <a:lnTo>
                  <a:pt x="17648" y="9446"/>
                </a:lnTo>
                <a:lnTo>
                  <a:pt x="17659" y="9391"/>
                </a:lnTo>
                <a:lnTo>
                  <a:pt x="17669" y="9334"/>
                </a:lnTo>
                <a:lnTo>
                  <a:pt x="17673" y="9309"/>
                </a:lnTo>
                <a:lnTo>
                  <a:pt x="17675" y="9283"/>
                </a:lnTo>
                <a:lnTo>
                  <a:pt x="17675" y="9255"/>
                </a:lnTo>
                <a:lnTo>
                  <a:pt x="17674" y="9226"/>
                </a:lnTo>
                <a:lnTo>
                  <a:pt x="17672" y="9196"/>
                </a:lnTo>
                <a:lnTo>
                  <a:pt x="17669" y="9165"/>
                </a:lnTo>
                <a:lnTo>
                  <a:pt x="17665" y="9133"/>
                </a:lnTo>
                <a:lnTo>
                  <a:pt x="17659" y="9101"/>
                </a:lnTo>
                <a:lnTo>
                  <a:pt x="17653" y="9068"/>
                </a:lnTo>
                <a:lnTo>
                  <a:pt x="17645" y="9034"/>
                </a:lnTo>
                <a:lnTo>
                  <a:pt x="17637" y="8999"/>
                </a:lnTo>
                <a:lnTo>
                  <a:pt x="17629" y="8965"/>
                </a:lnTo>
                <a:lnTo>
                  <a:pt x="17609" y="8895"/>
                </a:lnTo>
                <a:lnTo>
                  <a:pt x="17587" y="8825"/>
                </a:lnTo>
                <a:lnTo>
                  <a:pt x="17563" y="8757"/>
                </a:lnTo>
                <a:lnTo>
                  <a:pt x="17539" y="8689"/>
                </a:lnTo>
                <a:lnTo>
                  <a:pt x="17513" y="8624"/>
                </a:lnTo>
                <a:lnTo>
                  <a:pt x="17487" y="8563"/>
                </a:lnTo>
                <a:lnTo>
                  <a:pt x="17462" y="8506"/>
                </a:lnTo>
                <a:lnTo>
                  <a:pt x="17437" y="8455"/>
                </a:lnTo>
                <a:lnTo>
                  <a:pt x="17415" y="8408"/>
                </a:lnTo>
                <a:lnTo>
                  <a:pt x="17394" y="8369"/>
                </a:lnTo>
                <a:lnTo>
                  <a:pt x="17360" y="8310"/>
                </a:lnTo>
                <a:lnTo>
                  <a:pt x="17328" y="8254"/>
                </a:lnTo>
                <a:lnTo>
                  <a:pt x="17297" y="8203"/>
                </a:lnTo>
                <a:lnTo>
                  <a:pt x="17268" y="8155"/>
                </a:lnTo>
                <a:lnTo>
                  <a:pt x="17239" y="8109"/>
                </a:lnTo>
                <a:lnTo>
                  <a:pt x="17210" y="8066"/>
                </a:lnTo>
                <a:lnTo>
                  <a:pt x="17182" y="8023"/>
                </a:lnTo>
                <a:lnTo>
                  <a:pt x="17153" y="7981"/>
                </a:lnTo>
                <a:lnTo>
                  <a:pt x="17123" y="7941"/>
                </a:lnTo>
                <a:lnTo>
                  <a:pt x="17093" y="7900"/>
                </a:lnTo>
                <a:lnTo>
                  <a:pt x="17062" y="7858"/>
                </a:lnTo>
                <a:lnTo>
                  <a:pt x="17029" y="7816"/>
                </a:lnTo>
                <a:lnTo>
                  <a:pt x="16958" y="7727"/>
                </a:lnTo>
                <a:lnTo>
                  <a:pt x="16877" y="7627"/>
                </a:lnTo>
                <a:lnTo>
                  <a:pt x="16843" y="7585"/>
                </a:lnTo>
                <a:lnTo>
                  <a:pt x="16805" y="7540"/>
                </a:lnTo>
                <a:lnTo>
                  <a:pt x="16766" y="7493"/>
                </a:lnTo>
                <a:lnTo>
                  <a:pt x="16725" y="7446"/>
                </a:lnTo>
                <a:lnTo>
                  <a:pt x="16641" y="7350"/>
                </a:lnTo>
                <a:lnTo>
                  <a:pt x="16551" y="7253"/>
                </a:lnTo>
                <a:lnTo>
                  <a:pt x="16462" y="7157"/>
                </a:lnTo>
                <a:lnTo>
                  <a:pt x="16373" y="7065"/>
                </a:lnTo>
                <a:lnTo>
                  <a:pt x="16287" y="6978"/>
                </a:lnTo>
                <a:lnTo>
                  <a:pt x="16207" y="6899"/>
                </a:lnTo>
                <a:lnTo>
                  <a:pt x="16179" y="6872"/>
                </a:lnTo>
                <a:lnTo>
                  <a:pt x="16153" y="6842"/>
                </a:lnTo>
                <a:lnTo>
                  <a:pt x="16127" y="6811"/>
                </a:lnTo>
                <a:lnTo>
                  <a:pt x="16099" y="6779"/>
                </a:lnTo>
                <a:lnTo>
                  <a:pt x="16071" y="6747"/>
                </a:lnTo>
                <a:lnTo>
                  <a:pt x="16042" y="6715"/>
                </a:lnTo>
                <a:lnTo>
                  <a:pt x="16011" y="6683"/>
                </a:lnTo>
                <a:lnTo>
                  <a:pt x="15979" y="6652"/>
                </a:lnTo>
                <a:lnTo>
                  <a:pt x="14313" y="5186"/>
                </a:lnTo>
                <a:lnTo>
                  <a:pt x="14230" y="5121"/>
                </a:lnTo>
                <a:lnTo>
                  <a:pt x="14144" y="5052"/>
                </a:lnTo>
                <a:lnTo>
                  <a:pt x="14058" y="4981"/>
                </a:lnTo>
                <a:lnTo>
                  <a:pt x="13972" y="4911"/>
                </a:lnTo>
                <a:lnTo>
                  <a:pt x="13885" y="4840"/>
                </a:lnTo>
                <a:lnTo>
                  <a:pt x="13797" y="4769"/>
                </a:lnTo>
                <a:lnTo>
                  <a:pt x="13709" y="4700"/>
                </a:lnTo>
                <a:lnTo>
                  <a:pt x="13622" y="4634"/>
                </a:lnTo>
                <a:lnTo>
                  <a:pt x="13528" y="4565"/>
                </a:lnTo>
                <a:lnTo>
                  <a:pt x="13437" y="4496"/>
                </a:lnTo>
                <a:lnTo>
                  <a:pt x="13348" y="4430"/>
                </a:lnTo>
                <a:lnTo>
                  <a:pt x="13259" y="4364"/>
                </a:lnTo>
                <a:lnTo>
                  <a:pt x="13172" y="4299"/>
                </a:lnTo>
                <a:lnTo>
                  <a:pt x="13085" y="4234"/>
                </a:lnTo>
                <a:lnTo>
                  <a:pt x="12999" y="4170"/>
                </a:lnTo>
                <a:lnTo>
                  <a:pt x="12913" y="4107"/>
                </a:lnTo>
                <a:lnTo>
                  <a:pt x="12826" y="4043"/>
                </a:lnTo>
                <a:lnTo>
                  <a:pt x="12738" y="3980"/>
                </a:lnTo>
                <a:lnTo>
                  <a:pt x="12650" y="3916"/>
                </a:lnTo>
                <a:lnTo>
                  <a:pt x="12559" y="3852"/>
                </a:lnTo>
                <a:lnTo>
                  <a:pt x="12468" y="3787"/>
                </a:lnTo>
                <a:lnTo>
                  <a:pt x="12373" y="3722"/>
                </a:lnTo>
                <a:lnTo>
                  <a:pt x="12276" y="3655"/>
                </a:lnTo>
                <a:lnTo>
                  <a:pt x="12177" y="3589"/>
                </a:lnTo>
                <a:lnTo>
                  <a:pt x="12083" y="3525"/>
                </a:lnTo>
                <a:lnTo>
                  <a:pt x="11988" y="3463"/>
                </a:lnTo>
                <a:lnTo>
                  <a:pt x="11893" y="3402"/>
                </a:lnTo>
                <a:lnTo>
                  <a:pt x="11798" y="3340"/>
                </a:lnTo>
                <a:lnTo>
                  <a:pt x="11702" y="3280"/>
                </a:lnTo>
                <a:lnTo>
                  <a:pt x="11606" y="3219"/>
                </a:lnTo>
                <a:lnTo>
                  <a:pt x="11509" y="3158"/>
                </a:lnTo>
                <a:lnTo>
                  <a:pt x="11411" y="3097"/>
                </a:lnTo>
                <a:lnTo>
                  <a:pt x="11318" y="3037"/>
                </a:lnTo>
                <a:lnTo>
                  <a:pt x="11222" y="2979"/>
                </a:lnTo>
                <a:lnTo>
                  <a:pt x="11125" y="2920"/>
                </a:lnTo>
                <a:lnTo>
                  <a:pt x="11028" y="2863"/>
                </a:lnTo>
                <a:lnTo>
                  <a:pt x="10930" y="2806"/>
                </a:lnTo>
                <a:lnTo>
                  <a:pt x="10831" y="2749"/>
                </a:lnTo>
                <a:lnTo>
                  <a:pt x="10732" y="2692"/>
                </a:lnTo>
                <a:lnTo>
                  <a:pt x="10631" y="2635"/>
                </a:lnTo>
                <a:lnTo>
                  <a:pt x="10529" y="2579"/>
                </a:lnTo>
                <a:lnTo>
                  <a:pt x="10427" y="2523"/>
                </a:lnTo>
                <a:lnTo>
                  <a:pt x="10326" y="2468"/>
                </a:lnTo>
                <a:lnTo>
                  <a:pt x="10223" y="2413"/>
                </a:lnTo>
                <a:lnTo>
                  <a:pt x="10120" y="2359"/>
                </a:lnTo>
                <a:lnTo>
                  <a:pt x="10015" y="2305"/>
                </a:lnTo>
                <a:lnTo>
                  <a:pt x="9911" y="2251"/>
                </a:lnTo>
                <a:lnTo>
                  <a:pt x="9807" y="2198"/>
                </a:lnTo>
                <a:lnTo>
                  <a:pt x="9735" y="2162"/>
                </a:lnTo>
                <a:lnTo>
                  <a:pt x="9660" y="2124"/>
                </a:lnTo>
                <a:lnTo>
                  <a:pt x="9583" y="2086"/>
                </a:lnTo>
                <a:lnTo>
                  <a:pt x="9504" y="2047"/>
                </a:lnTo>
                <a:lnTo>
                  <a:pt x="9423" y="2010"/>
                </a:lnTo>
                <a:lnTo>
                  <a:pt x="9340" y="1971"/>
                </a:lnTo>
                <a:lnTo>
                  <a:pt x="9258" y="1932"/>
                </a:lnTo>
                <a:lnTo>
                  <a:pt x="9174" y="1893"/>
                </a:lnTo>
                <a:lnTo>
                  <a:pt x="9091" y="1855"/>
                </a:lnTo>
                <a:lnTo>
                  <a:pt x="9006" y="1816"/>
                </a:lnTo>
                <a:lnTo>
                  <a:pt x="8923" y="1780"/>
                </a:lnTo>
                <a:lnTo>
                  <a:pt x="8840" y="1743"/>
                </a:lnTo>
                <a:lnTo>
                  <a:pt x="8759" y="1707"/>
                </a:lnTo>
                <a:lnTo>
                  <a:pt x="8679" y="1673"/>
                </a:lnTo>
                <a:lnTo>
                  <a:pt x="8600" y="1640"/>
                </a:lnTo>
                <a:lnTo>
                  <a:pt x="8523" y="1608"/>
                </a:lnTo>
                <a:lnTo>
                  <a:pt x="8472" y="1587"/>
                </a:lnTo>
                <a:lnTo>
                  <a:pt x="8417" y="1562"/>
                </a:lnTo>
                <a:lnTo>
                  <a:pt x="8360" y="1537"/>
                </a:lnTo>
                <a:lnTo>
                  <a:pt x="8300" y="1511"/>
                </a:lnTo>
                <a:lnTo>
                  <a:pt x="8242" y="1485"/>
                </a:lnTo>
                <a:lnTo>
                  <a:pt x="8184" y="1461"/>
                </a:lnTo>
                <a:lnTo>
                  <a:pt x="8156" y="1451"/>
                </a:lnTo>
                <a:lnTo>
                  <a:pt x="8129" y="1442"/>
                </a:lnTo>
                <a:lnTo>
                  <a:pt x="8102" y="1433"/>
                </a:lnTo>
                <a:lnTo>
                  <a:pt x="8078" y="1426"/>
                </a:lnTo>
                <a:close/>
              </a:path>
            </a:pathLst>
          </a:custGeom>
          <a:solidFill>
            <a:schemeClr val="accent2"/>
          </a:solidFill>
          <a:ln cap="sq">
            <a:noFill/>
          </a:ln>
        </p:spPr>
        <p:txBody>
          <a:bodyPr vert="horz" wrap="square" lIns="91440" tIns="45720" rIns="91440" bIns="45720" rtlCol="0" anchor="t"/>
          <a:lstStyle/>
          <a:p>
            <a:pPr algn="l"/>
            <a:endParaRPr kumimoji="1" lang="zh-CN" altLang="en-US"/>
          </a:p>
        </p:txBody>
      </p:sp>
      <p:sp>
        <p:nvSpPr>
          <p:cNvPr id="11" name="标题 1"/>
          <p:cNvSpPr txBox="1"/>
          <p:nvPr/>
        </p:nvSpPr>
        <p:spPr>
          <a:xfrm>
            <a:off x="1334268" y="2953089"/>
            <a:ext cx="4536000" cy="828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Gestión del presupuesto (Opex/Capex).</a:t>
            </a:r>
            <a:endParaRPr kumimoji="1" lang="zh-CN" altLang="en-US"/>
          </a:p>
        </p:txBody>
      </p:sp>
      <p:sp>
        <p:nvSpPr>
          <p:cNvPr id="12" name="标题 1"/>
          <p:cNvSpPr txBox="1"/>
          <p:nvPr/>
        </p:nvSpPr>
        <p:spPr>
          <a:xfrm>
            <a:off x="1084165" y="3025843"/>
            <a:ext cx="126854" cy="131412"/>
          </a:xfrm>
          <a:custGeom>
            <a:avLst/>
            <a:gdLst>
              <a:gd name="T0" fmla="*/ 7371 w 17675"/>
              <a:gd name="T1" fmla="*/ 1125 h 18310"/>
              <a:gd name="T2" fmla="*/ 5959 w 17675"/>
              <a:gd name="T3" fmla="*/ 593 h 18310"/>
              <a:gd name="T4" fmla="*/ 4735 w 17675"/>
              <a:gd name="T5" fmla="*/ 240 h 18310"/>
              <a:gd name="T6" fmla="*/ 3627 w 17675"/>
              <a:gd name="T7" fmla="*/ 54 h 18310"/>
              <a:gd name="T8" fmla="*/ 2806 w 17675"/>
              <a:gd name="T9" fmla="*/ 7 h 18310"/>
              <a:gd name="T10" fmla="*/ 2454 w 17675"/>
              <a:gd name="T11" fmla="*/ 85 h 18310"/>
              <a:gd name="T12" fmla="*/ 2132 w 17675"/>
              <a:gd name="T13" fmla="*/ 262 h 18310"/>
              <a:gd name="T14" fmla="*/ 1838 w 17675"/>
              <a:gd name="T15" fmla="*/ 533 h 18310"/>
              <a:gd name="T16" fmla="*/ 1454 w 17675"/>
              <a:gd name="T17" fmla="*/ 1111 h 18310"/>
              <a:gd name="T18" fmla="*/ 1261 w 17675"/>
              <a:gd name="T19" fmla="*/ 1545 h 18310"/>
              <a:gd name="T20" fmla="*/ 1008 w 17675"/>
              <a:gd name="T21" fmla="*/ 2315 h 18310"/>
              <a:gd name="T22" fmla="*/ 836 w 17675"/>
              <a:gd name="T23" fmla="*/ 2906 h 18310"/>
              <a:gd name="T24" fmla="*/ 683 w 17675"/>
              <a:gd name="T25" fmla="*/ 3519 h 18310"/>
              <a:gd name="T26" fmla="*/ 506 w 17675"/>
              <a:gd name="T27" fmla="*/ 4330 h 18310"/>
              <a:gd name="T28" fmla="*/ 356 w 17675"/>
              <a:gd name="T29" fmla="*/ 5177 h 18310"/>
              <a:gd name="T30" fmla="*/ 199 w 17675"/>
              <a:gd name="T31" fmla="*/ 6352 h 18310"/>
              <a:gd name="T32" fmla="*/ 65 w 17675"/>
              <a:gd name="T33" fmla="*/ 7805 h 18310"/>
              <a:gd name="T34" fmla="*/ 1 w 17675"/>
              <a:gd name="T35" fmla="*/ 9354 h 18310"/>
              <a:gd name="T36" fmla="*/ 54 w 17675"/>
              <a:gd name="T37" fmla="*/ 10490 h 18310"/>
              <a:gd name="T38" fmla="*/ 149 w 17675"/>
              <a:gd name="T39" fmla="*/ 11811 h 18310"/>
              <a:gd name="T40" fmla="*/ 298 w 17675"/>
              <a:gd name="T41" fmla="*/ 13066 h 18310"/>
              <a:gd name="T42" fmla="*/ 650 w 17675"/>
              <a:gd name="T43" fmla="*/ 14979 h 18310"/>
              <a:gd name="T44" fmla="*/ 991 w 17675"/>
              <a:gd name="T45" fmla="*/ 16266 h 18310"/>
              <a:gd name="T46" fmla="*/ 1332 w 17675"/>
              <a:gd name="T47" fmla="*/ 17156 h 18310"/>
              <a:gd name="T48" fmla="*/ 1598 w 17675"/>
              <a:gd name="T49" fmla="*/ 17614 h 18310"/>
              <a:gd name="T50" fmla="*/ 1917 w 17675"/>
              <a:gd name="T51" fmla="*/ 17970 h 18310"/>
              <a:gd name="T52" fmla="*/ 2349 w 17675"/>
              <a:gd name="T53" fmla="*/ 18232 h 18310"/>
              <a:gd name="T54" fmla="*/ 2745 w 17675"/>
              <a:gd name="T55" fmla="*/ 18309 h 18310"/>
              <a:gd name="T56" fmla="*/ 3384 w 17675"/>
              <a:gd name="T57" fmla="*/ 18287 h 18310"/>
              <a:gd name="T58" fmla="*/ 4157 w 17675"/>
              <a:gd name="T59" fmla="*/ 18192 h 18310"/>
              <a:gd name="T60" fmla="*/ 5006 w 17675"/>
              <a:gd name="T61" fmla="*/ 18009 h 18310"/>
              <a:gd name="T62" fmla="*/ 6483 w 17675"/>
              <a:gd name="T63" fmla="*/ 17544 h 18310"/>
              <a:gd name="T64" fmla="*/ 7200 w 17675"/>
              <a:gd name="T65" fmla="*/ 17277 h 18310"/>
              <a:gd name="T66" fmla="*/ 8295 w 17675"/>
              <a:gd name="T67" fmla="*/ 16841 h 18310"/>
              <a:gd name="T68" fmla="*/ 8872 w 17675"/>
              <a:gd name="T69" fmla="*/ 16605 h 18310"/>
              <a:gd name="T70" fmla="*/ 9346 w 17675"/>
              <a:gd name="T71" fmla="*/ 16391 h 18310"/>
              <a:gd name="T72" fmla="*/ 10057 w 17675"/>
              <a:gd name="T73" fmla="*/ 16048 h 18310"/>
              <a:gd name="T74" fmla="*/ 10903 w 17675"/>
              <a:gd name="T75" fmla="*/ 15584 h 18310"/>
              <a:gd name="T76" fmla="*/ 11867 w 17675"/>
              <a:gd name="T77" fmla="*/ 14997 h 18310"/>
              <a:gd name="T78" fmla="*/ 12590 w 17675"/>
              <a:gd name="T79" fmla="*/ 14528 h 18310"/>
              <a:gd name="T80" fmla="*/ 13212 w 17675"/>
              <a:gd name="T81" fmla="*/ 14088 h 18310"/>
              <a:gd name="T82" fmla="*/ 14481 w 17675"/>
              <a:gd name="T83" fmla="*/ 13112 h 18310"/>
              <a:gd name="T84" fmla="*/ 14802 w 17675"/>
              <a:gd name="T85" fmla="*/ 12854 h 18310"/>
              <a:gd name="T86" fmla="*/ 15451 w 17675"/>
              <a:gd name="T87" fmla="*/ 12291 h 18310"/>
              <a:gd name="T88" fmla="*/ 15927 w 17675"/>
              <a:gd name="T89" fmla="*/ 11853 h 18310"/>
              <a:gd name="T90" fmla="*/ 16443 w 17675"/>
              <a:gd name="T91" fmla="*/ 11335 h 18310"/>
              <a:gd name="T92" fmla="*/ 16856 w 17675"/>
              <a:gd name="T93" fmla="*/ 10896 h 18310"/>
              <a:gd name="T94" fmla="*/ 17295 w 17675"/>
              <a:gd name="T95" fmla="*/ 10296 h 18310"/>
              <a:gd name="T96" fmla="*/ 17543 w 17675"/>
              <a:gd name="T97" fmla="*/ 9805 h 18310"/>
              <a:gd name="T98" fmla="*/ 17675 w 17675"/>
              <a:gd name="T99" fmla="*/ 9283 h 18310"/>
              <a:gd name="T100" fmla="*/ 17609 w 17675"/>
              <a:gd name="T101" fmla="*/ 8895 h 18310"/>
              <a:gd name="T102" fmla="*/ 17328 w 17675"/>
              <a:gd name="T103" fmla="*/ 8254 h 18310"/>
              <a:gd name="T104" fmla="*/ 16958 w 17675"/>
              <a:gd name="T105" fmla="*/ 7727 h 18310"/>
              <a:gd name="T106" fmla="*/ 16207 w 17675"/>
              <a:gd name="T107" fmla="*/ 6899 h 18310"/>
              <a:gd name="T108" fmla="*/ 14144 w 17675"/>
              <a:gd name="T109" fmla="*/ 5052 h 18310"/>
              <a:gd name="T110" fmla="*/ 13172 w 17675"/>
              <a:gd name="T111" fmla="*/ 4299 h 18310"/>
              <a:gd name="T112" fmla="*/ 12177 w 17675"/>
              <a:gd name="T113" fmla="*/ 3589 h 18310"/>
              <a:gd name="T114" fmla="*/ 11125 w 17675"/>
              <a:gd name="T115" fmla="*/ 2920 h 18310"/>
              <a:gd name="T116" fmla="*/ 10015 w 17675"/>
              <a:gd name="T117" fmla="*/ 2305 h 18310"/>
              <a:gd name="T118" fmla="*/ 9091 w 17675"/>
              <a:gd name="T119" fmla="*/ 1855 h 18310"/>
              <a:gd name="T120" fmla="*/ 8300 w 17675"/>
              <a:gd name="T121" fmla="*/ 1511 h 18310"/>
            </a:gdLst>
            <a:ahLst/>
            <a:cxnLst/>
            <a:rect l="0" t="0" r="r" b="b"/>
            <a:pathLst>
              <a:path w="17675" h="18310">
                <a:moveTo>
                  <a:pt x="8078" y="1426"/>
                </a:moveTo>
                <a:lnTo>
                  <a:pt x="8047" y="1409"/>
                </a:lnTo>
                <a:lnTo>
                  <a:pt x="8014" y="1392"/>
                </a:lnTo>
                <a:lnTo>
                  <a:pt x="7978" y="1376"/>
                </a:lnTo>
                <a:lnTo>
                  <a:pt x="7940" y="1360"/>
                </a:lnTo>
                <a:lnTo>
                  <a:pt x="7901" y="1345"/>
                </a:lnTo>
                <a:lnTo>
                  <a:pt x="7862" y="1330"/>
                </a:lnTo>
                <a:lnTo>
                  <a:pt x="7825" y="1315"/>
                </a:lnTo>
                <a:lnTo>
                  <a:pt x="7791" y="1301"/>
                </a:lnTo>
                <a:lnTo>
                  <a:pt x="7583" y="1213"/>
                </a:lnTo>
                <a:lnTo>
                  <a:pt x="7371" y="1125"/>
                </a:lnTo>
                <a:lnTo>
                  <a:pt x="7158" y="1038"/>
                </a:lnTo>
                <a:lnTo>
                  <a:pt x="6943" y="953"/>
                </a:lnTo>
                <a:lnTo>
                  <a:pt x="6836" y="911"/>
                </a:lnTo>
                <a:lnTo>
                  <a:pt x="6727" y="869"/>
                </a:lnTo>
                <a:lnTo>
                  <a:pt x="6618" y="827"/>
                </a:lnTo>
                <a:lnTo>
                  <a:pt x="6508" y="787"/>
                </a:lnTo>
                <a:lnTo>
                  <a:pt x="6400" y="747"/>
                </a:lnTo>
                <a:lnTo>
                  <a:pt x="6290" y="707"/>
                </a:lnTo>
                <a:lnTo>
                  <a:pt x="6180" y="668"/>
                </a:lnTo>
                <a:lnTo>
                  <a:pt x="6070" y="631"/>
                </a:lnTo>
                <a:lnTo>
                  <a:pt x="5959" y="593"/>
                </a:lnTo>
                <a:lnTo>
                  <a:pt x="5848" y="556"/>
                </a:lnTo>
                <a:lnTo>
                  <a:pt x="5737" y="521"/>
                </a:lnTo>
                <a:lnTo>
                  <a:pt x="5626" y="485"/>
                </a:lnTo>
                <a:lnTo>
                  <a:pt x="5515" y="451"/>
                </a:lnTo>
                <a:lnTo>
                  <a:pt x="5404" y="418"/>
                </a:lnTo>
                <a:lnTo>
                  <a:pt x="5292" y="386"/>
                </a:lnTo>
                <a:lnTo>
                  <a:pt x="5181" y="355"/>
                </a:lnTo>
                <a:lnTo>
                  <a:pt x="5069" y="324"/>
                </a:lnTo>
                <a:lnTo>
                  <a:pt x="4958" y="295"/>
                </a:lnTo>
                <a:lnTo>
                  <a:pt x="4846" y="267"/>
                </a:lnTo>
                <a:lnTo>
                  <a:pt x="4735" y="240"/>
                </a:lnTo>
                <a:lnTo>
                  <a:pt x="4623" y="215"/>
                </a:lnTo>
                <a:lnTo>
                  <a:pt x="4511" y="191"/>
                </a:lnTo>
                <a:lnTo>
                  <a:pt x="4400" y="168"/>
                </a:lnTo>
                <a:lnTo>
                  <a:pt x="4287" y="146"/>
                </a:lnTo>
                <a:lnTo>
                  <a:pt x="4234" y="136"/>
                </a:lnTo>
                <a:lnTo>
                  <a:pt x="4162" y="125"/>
                </a:lnTo>
                <a:lnTo>
                  <a:pt x="4075" y="112"/>
                </a:lnTo>
                <a:lnTo>
                  <a:pt x="3975" y="98"/>
                </a:lnTo>
                <a:lnTo>
                  <a:pt x="3865" y="84"/>
                </a:lnTo>
                <a:lnTo>
                  <a:pt x="3749" y="69"/>
                </a:lnTo>
                <a:lnTo>
                  <a:pt x="3627" y="54"/>
                </a:lnTo>
                <a:lnTo>
                  <a:pt x="3504" y="40"/>
                </a:lnTo>
                <a:lnTo>
                  <a:pt x="3381" y="27"/>
                </a:lnTo>
                <a:lnTo>
                  <a:pt x="3262" y="17"/>
                </a:lnTo>
                <a:lnTo>
                  <a:pt x="3148" y="8"/>
                </a:lnTo>
                <a:lnTo>
                  <a:pt x="3043" y="2"/>
                </a:lnTo>
                <a:lnTo>
                  <a:pt x="2994" y="1"/>
                </a:lnTo>
                <a:lnTo>
                  <a:pt x="2949" y="0"/>
                </a:lnTo>
                <a:lnTo>
                  <a:pt x="2908" y="0"/>
                </a:lnTo>
                <a:lnTo>
                  <a:pt x="2869" y="1"/>
                </a:lnTo>
                <a:lnTo>
                  <a:pt x="2834" y="3"/>
                </a:lnTo>
                <a:lnTo>
                  <a:pt x="2806" y="7"/>
                </a:lnTo>
                <a:lnTo>
                  <a:pt x="2780" y="11"/>
                </a:lnTo>
                <a:lnTo>
                  <a:pt x="2761" y="17"/>
                </a:lnTo>
                <a:lnTo>
                  <a:pt x="2724" y="19"/>
                </a:lnTo>
                <a:lnTo>
                  <a:pt x="2689" y="24"/>
                </a:lnTo>
                <a:lnTo>
                  <a:pt x="2655" y="29"/>
                </a:lnTo>
                <a:lnTo>
                  <a:pt x="2620" y="35"/>
                </a:lnTo>
                <a:lnTo>
                  <a:pt x="2586" y="43"/>
                </a:lnTo>
                <a:lnTo>
                  <a:pt x="2552" y="53"/>
                </a:lnTo>
                <a:lnTo>
                  <a:pt x="2518" y="63"/>
                </a:lnTo>
                <a:lnTo>
                  <a:pt x="2486" y="73"/>
                </a:lnTo>
                <a:lnTo>
                  <a:pt x="2454" y="85"/>
                </a:lnTo>
                <a:lnTo>
                  <a:pt x="2423" y="97"/>
                </a:lnTo>
                <a:lnTo>
                  <a:pt x="2393" y="111"/>
                </a:lnTo>
                <a:lnTo>
                  <a:pt x="2363" y="125"/>
                </a:lnTo>
                <a:lnTo>
                  <a:pt x="2333" y="138"/>
                </a:lnTo>
                <a:lnTo>
                  <a:pt x="2306" y="153"/>
                </a:lnTo>
                <a:lnTo>
                  <a:pt x="2278" y="169"/>
                </a:lnTo>
                <a:lnTo>
                  <a:pt x="2252" y="184"/>
                </a:lnTo>
                <a:lnTo>
                  <a:pt x="2218" y="205"/>
                </a:lnTo>
                <a:lnTo>
                  <a:pt x="2187" y="224"/>
                </a:lnTo>
                <a:lnTo>
                  <a:pt x="2158" y="244"/>
                </a:lnTo>
                <a:lnTo>
                  <a:pt x="2132" y="262"/>
                </a:lnTo>
                <a:lnTo>
                  <a:pt x="2108" y="280"/>
                </a:lnTo>
                <a:lnTo>
                  <a:pt x="2086" y="298"/>
                </a:lnTo>
                <a:lnTo>
                  <a:pt x="2065" y="315"/>
                </a:lnTo>
                <a:lnTo>
                  <a:pt x="2046" y="332"/>
                </a:lnTo>
                <a:lnTo>
                  <a:pt x="2007" y="367"/>
                </a:lnTo>
                <a:lnTo>
                  <a:pt x="1968" y="405"/>
                </a:lnTo>
                <a:lnTo>
                  <a:pt x="1927" y="446"/>
                </a:lnTo>
                <a:lnTo>
                  <a:pt x="1878" y="491"/>
                </a:lnTo>
                <a:lnTo>
                  <a:pt x="1866" y="504"/>
                </a:lnTo>
                <a:lnTo>
                  <a:pt x="1853" y="517"/>
                </a:lnTo>
                <a:lnTo>
                  <a:pt x="1838" y="533"/>
                </a:lnTo>
                <a:lnTo>
                  <a:pt x="1823" y="550"/>
                </a:lnTo>
                <a:lnTo>
                  <a:pt x="1790" y="592"/>
                </a:lnTo>
                <a:lnTo>
                  <a:pt x="1754" y="637"/>
                </a:lnTo>
                <a:lnTo>
                  <a:pt x="1717" y="689"/>
                </a:lnTo>
                <a:lnTo>
                  <a:pt x="1679" y="744"/>
                </a:lnTo>
                <a:lnTo>
                  <a:pt x="1639" y="802"/>
                </a:lnTo>
                <a:lnTo>
                  <a:pt x="1600" y="863"/>
                </a:lnTo>
                <a:lnTo>
                  <a:pt x="1561" y="926"/>
                </a:lnTo>
                <a:lnTo>
                  <a:pt x="1524" y="988"/>
                </a:lnTo>
                <a:lnTo>
                  <a:pt x="1488" y="1051"/>
                </a:lnTo>
                <a:lnTo>
                  <a:pt x="1454" y="1111"/>
                </a:lnTo>
                <a:lnTo>
                  <a:pt x="1425" y="1170"/>
                </a:lnTo>
                <a:lnTo>
                  <a:pt x="1398" y="1226"/>
                </a:lnTo>
                <a:lnTo>
                  <a:pt x="1387" y="1252"/>
                </a:lnTo>
                <a:lnTo>
                  <a:pt x="1377" y="1277"/>
                </a:lnTo>
                <a:lnTo>
                  <a:pt x="1367" y="1301"/>
                </a:lnTo>
                <a:lnTo>
                  <a:pt x="1359" y="1323"/>
                </a:lnTo>
                <a:lnTo>
                  <a:pt x="1340" y="1362"/>
                </a:lnTo>
                <a:lnTo>
                  <a:pt x="1320" y="1404"/>
                </a:lnTo>
                <a:lnTo>
                  <a:pt x="1300" y="1449"/>
                </a:lnTo>
                <a:lnTo>
                  <a:pt x="1280" y="1496"/>
                </a:lnTo>
                <a:lnTo>
                  <a:pt x="1261" y="1545"/>
                </a:lnTo>
                <a:lnTo>
                  <a:pt x="1241" y="1596"/>
                </a:lnTo>
                <a:lnTo>
                  <a:pt x="1222" y="1648"/>
                </a:lnTo>
                <a:lnTo>
                  <a:pt x="1204" y="1702"/>
                </a:lnTo>
                <a:lnTo>
                  <a:pt x="1167" y="1808"/>
                </a:lnTo>
                <a:lnTo>
                  <a:pt x="1133" y="1915"/>
                </a:lnTo>
                <a:lnTo>
                  <a:pt x="1101" y="2016"/>
                </a:lnTo>
                <a:lnTo>
                  <a:pt x="1071" y="2110"/>
                </a:lnTo>
                <a:lnTo>
                  <a:pt x="1055" y="2162"/>
                </a:lnTo>
                <a:lnTo>
                  <a:pt x="1039" y="2213"/>
                </a:lnTo>
                <a:lnTo>
                  <a:pt x="1023" y="2264"/>
                </a:lnTo>
                <a:lnTo>
                  <a:pt x="1008" y="2315"/>
                </a:lnTo>
                <a:lnTo>
                  <a:pt x="992" y="2367"/>
                </a:lnTo>
                <a:lnTo>
                  <a:pt x="976" y="2418"/>
                </a:lnTo>
                <a:lnTo>
                  <a:pt x="960" y="2471"/>
                </a:lnTo>
                <a:lnTo>
                  <a:pt x="944" y="2523"/>
                </a:lnTo>
                <a:lnTo>
                  <a:pt x="929" y="2573"/>
                </a:lnTo>
                <a:lnTo>
                  <a:pt x="913" y="2626"/>
                </a:lnTo>
                <a:lnTo>
                  <a:pt x="896" y="2682"/>
                </a:lnTo>
                <a:lnTo>
                  <a:pt x="880" y="2740"/>
                </a:lnTo>
                <a:lnTo>
                  <a:pt x="864" y="2797"/>
                </a:lnTo>
                <a:lnTo>
                  <a:pt x="849" y="2852"/>
                </a:lnTo>
                <a:lnTo>
                  <a:pt x="836" y="2906"/>
                </a:lnTo>
                <a:lnTo>
                  <a:pt x="827" y="2955"/>
                </a:lnTo>
                <a:lnTo>
                  <a:pt x="818" y="2977"/>
                </a:lnTo>
                <a:lnTo>
                  <a:pt x="809" y="3003"/>
                </a:lnTo>
                <a:lnTo>
                  <a:pt x="800" y="3033"/>
                </a:lnTo>
                <a:lnTo>
                  <a:pt x="790" y="3067"/>
                </a:lnTo>
                <a:lnTo>
                  <a:pt x="770" y="3142"/>
                </a:lnTo>
                <a:lnTo>
                  <a:pt x="749" y="3225"/>
                </a:lnTo>
                <a:lnTo>
                  <a:pt x="730" y="3310"/>
                </a:lnTo>
                <a:lnTo>
                  <a:pt x="712" y="3390"/>
                </a:lnTo>
                <a:lnTo>
                  <a:pt x="696" y="3461"/>
                </a:lnTo>
                <a:lnTo>
                  <a:pt x="683" y="3519"/>
                </a:lnTo>
                <a:lnTo>
                  <a:pt x="666" y="3593"/>
                </a:lnTo>
                <a:lnTo>
                  <a:pt x="649" y="3667"/>
                </a:lnTo>
                <a:lnTo>
                  <a:pt x="633" y="3740"/>
                </a:lnTo>
                <a:lnTo>
                  <a:pt x="617" y="3813"/>
                </a:lnTo>
                <a:lnTo>
                  <a:pt x="601" y="3886"/>
                </a:lnTo>
                <a:lnTo>
                  <a:pt x="585" y="3960"/>
                </a:lnTo>
                <a:lnTo>
                  <a:pt x="569" y="4033"/>
                </a:lnTo>
                <a:lnTo>
                  <a:pt x="553" y="4108"/>
                </a:lnTo>
                <a:lnTo>
                  <a:pt x="537" y="4182"/>
                </a:lnTo>
                <a:lnTo>
                  <a:pt x="522" y="4256"/>
                </a:lnTo>
                <a:lnTo>
                  <a:pt x="506" y="4330"/>
                </a:lnTo>
                <a:lnTo>
                  <a:pt x="491" y="4406"/>
                </a:lnTo>
                <a:lnTo>
                  <a:pt x="476" y="4483"/>
                </a:lnTo>
                <a:lnTo>
                  <a:pt x="461" y="4559"/>
                </a:lnTo>
                <a:lnTo>
                  <a:pt x="447" y="4636"/>
                </a:lnTo>
                <a:lnTo>
                  <a:pt x="433" y="4714"/>
                </a:lnTo>
                <a:lnTo>
                  <a:pt x="419" y="4791"/>
                </a:lnTo>
                <a:lnTo>
                  <a:pt x="405" y="4868"/>
                </a:lnTo>
                <a:lnTo>
                  <a:pt x="392" y="4946"/>
                </a:lnTo>
                <a:lnTo>
                  <a:pt x="380" y="5024"/>
                </a:lnTo>
                <a:lnTo>
                  <a:pt x="367" y="5100"/>
                </a:lnTo>
                <a:lnTo>
                  <a:pt x="356" y="5177"/>
                </a:lnTo>
                <a:lnTo>
                  <a:pt x="346" y="5253"/>
                </a:lnTo>
                <a:lnTo>
                  <a:pt x="335" y="5328"/>
                </a:lnTo>
                <a:lnTo>
                  <a:pt x="320" y="5442"/>
                </a:lnTo>
                <a:lnTo>
                  <a:pt x="304" y="5555"/>
                </a:lnTo>
                <a:lnTo>
                  <a:pt x="289" y="5668"/>
                </a:lnTo>
                <a:lnTo>
                  <a:pt x="275" y="5781"/>
                </a:lnTo>
                <a:lnTo>
                  <a:pt x="259" y="5896"/>
                </a:lnTo>
                <a:lnTo>
                  <a:pt x="244" y="6009"/>
                </a:lnTo>
                <a:lnTo>
                  <a:pt x="229" y="6124"/>
                </a:lnTo>
                <a:lnTo>
                  <a:pt x="214" y="6238"/>
                </a:lnTo>
                <a:lnTo>
                  <a:pt x="199" y="6352"/>
                </a:lnTo>
                <a:lnTo>
                  <a:pt x="185" y="6467"/>
                </a:lnTo>
                <a:lnTo>
                  <a:pt x="173" y="6581"/>
                </a:lnTo>
                <a:lnTo>
                  <a:pt x="160" y="6697"/>
                </a:lnTo>
                <a:lnTo>
                  <a:pt x="148" y="6811"/>
                </a:lnTo>
                <a:lnTo>
                  <a:pt x="137" y="6927"/>
                </a:lnTo>
                <a:lnTo>
                  <a:pt x="127" y="7042"/>
                </a:lnTo>
                <a:lnTo>
                  <a:pt x="119" y="7158"/>
                </a:lnTo>
                <a:lnTo>
                  <a:pt x="105" y="7319"/>
                </a:lnTo>
                <a:lnTo>
                  <a:pt x="92" y="7481"/>
                </a:lnTo>
                <a:lnTo>
                  <a:pt x="79" y="7643"/>
                </a:lnTo>
                <a:lnTo>
                  <a:pt x="65" y="7805"/>
                </a:lnTo>
                <a:lnTo>
                  <a:pt x="54" y="7967"/>
                </a:lnTo>
                <a:lnTo>
                  <a:pt x="42" y="8130"/>
                </a:lnTo>
                <a:lnTo>
                  <a:pt x="31" y="8293"/>
                </a:lnTo>
                <a:lnTo>
                  <a:pt x="22" y="8456"/>
                </a:lnTo>
                <a:lnTo>
                  <a:pt x="14" y="8619"/>
                </a:lnTo>
                <a:lnTo>
                  <a:pt x="8" y="8782"/>
                </a:lnTo>
                <a:lnTo>
                  <a:pt x="3" y="8946"/>
                </a:lnTo>
                <a:lnTo>
                  <a:pt x="0" y="9109"/>
                </a:lnTo>
                <a:lnTo>
                  <a:pt x="0" y="9190"/>
                </a:lnTo>
                <a:lnTo>
                  <a:pt x="0" y="9273"/>
                </a:lnTo>
                <a:lnTo>
                  <a:pt x="1" y="9354"/>
                </a:lnTo>
                <a:lnTo>
                  <a:pt x="2" y="9437"/>
                </a:lnTo>
                <a:lnTo>
                  <a:pt x="3" y="9518"/>
                </a:lnTo>
                <a:lnTo>
                  <a:pt x="7" y="9599"/>
                </a:lnTo>
                <a:lnTo>
                  <a:pt x="10" y="9681"/>
                </a:lnTo>
                <a:lnTo>
                  <a:pt x="14" y="9763"/>
                </a:lnTo>
                <a:lnTo>
                  <a:pt x="21" y="9885"/>
                </a:lnTo>
                <a:lnTo>
                  <a:pt x="27" y="10006"/>
                </a:lnTo>
                <a:lnTo>
                  <a:pt x="34" y="10128"/>
                </a:lnTo>
                <a:lnTo>
                  <a:pt x="41" y="10249"/>
                </a:lnTo>
                <a:lnTo>
                  <a:pt x="47" y="10369"/>
                </a:lnTo>
                <a:lnTo>
                  <a:pt x="54" y="10490"/>
                </a:lnTo>
                <a:lnTo>
                  <a:pt x="61" y="10611"/>
                </a:lnTo>
                <a:lnTo>
                  <a:pt x="68" y="10731"/>
                </a:lnTo>
                <a:lnTo>
                  <a:pt x="74" y="10851"/>
                </a:lnTo>
                <a:lnTo>
                  <a:pt x="82" y="10971"/>
                </a:lnTo>
                <a:lnTo>
                  <a:pt x="90" y="11091"/>
                </a:lnTo>
                <a:lnTo>
                  <a:pt x="98" y="11213"/>
                </a:lnTo>
                <a:lnTo>
                  <a:pt x="108" y="11333"/>
                </a:lnTo>
                <a:lnTo>
                  <a:pt x="117" y="11454"/>
                </a:lnTo>
                <a:lnTo>
                  <a:pt x="127" y="11575"/>
                </a:lnTo>
                <a:lnTo>
                  <a:pt x="138" y="11697"/>
                </a:lnTo>
                <a:lnTo>
                  <a:pt x="149" y="11811"/>
                </a:lnTo>
                <a:lnTo>
                  <a:pt x="160" y="11926"/>
                </a:lnTo>
                <a:lnTo>
                  <a:pt x="172" y="12040"/>
                </a:lnTo>
                <a:lnTo>
                  <a:pt x="184" y="12154"/>
                </a:lnTo>
                <a:lnTo>
                  <a:pt x="197" y="12269"/>
                </a:lnTo>
                <a:lnTo>
                  <a:pt x="209" y="12383"/>
                </a:lnTo>
                <a:lnTo>
                  <a:pt x="223" y="12498"/>
                </a:lnTo>
                <a:lnTo>
                  <a:pt x="237" y="12611"/>
                </a:lnTo>
                <a:lnTo>
                  <a:pt x="252" y="12725"/>
                </a:lnTo>
                <a:lnTo>
                  <a:pt x="267" y="12839"/>
                </a:lnTo>
                <a:lnTo>
                  <a:pt x="281" y="12953"/>
                </a:lnTo>
                <a:lnTo>
                  <a:pt x="298" y="13066"/>
                </a:lnTo>
                <a:lnTo>
                  <a:pt x="314" y="13180"/>
                </a:lnTo>
                <a:lnTo>
                  <a:pt x="331" y="13293"/>
                </a:lnTo>
                <a:lnTo>
                  <a:pt x="349" y="13406"/>
                </a:lnTo>
                <a:lnTo>
                  <a:pt x="366" y="13519"/>
                </a:lnTo>
                <a:lnTo>
                  <a:pt x="398" y="13707"/>
                </a:lnTo>
                <a:lnTo>
                  <a:pt x="433" y="13905"/>
                </a:lnTo>
                <a:lnTo>
                  <a:pt x="470" y="14110"/>
                </a:lnTo>
                <a:lnTo>
                  <a:pt x="511" y="14322"/>
                </a:lnTo>
                <a:lnTo>
                  <a:pt x="555" y="14538"/>
                </a:lnTo>
                <a:lnTo>
                  <a:pt x="602" y="14757"/>
                </a:lnTo>
                <a:lnTo>
                  <a:pt x="650" y="14979"/>
                </a:lnTo>
                <a:lnTo>
                  <a:pt x="701" y="15200"/>
                </a:lnTo>
                <a:lnTo>
                  <a:pt x="729" y="15311"/>
                </a:lnTo>
                <a:lnTo>
                  <a:pt x="755" y="15420"/>
                </a:lnTo>
                <a:lnTo>
                  <a:pt x="784" y="15530"/>
                </a:lnTo>
                <a:lnTo>
                  <a:pt x="811" y="15639"/>
                </a:lnTo>
                <a:lnTo>
                  <a:pt x="840" y="15747"/>
                </a:lnTo>
                <a:lnTo>
                  <a:pt x="870" y="15854"/>
                </a:lnTo>
                <a:lnTo>
                  <a:pt x="899" y="15959"/>
                </a:lnTo>
                <a:lnTo>
                  <a:pt x="929" y="16064"/>
                </a:lnTo>
                <a:lnTo>
                  <a:pt x="960" y="16165"/>
                </a:lnTo>
                <a:lnTo>
                  <a:pt x="991" y="16266"/>
                </a:lnTo>
                <a:lnTo>
                  <a:pt x="1022" y="16365"/>
                </a:lnTo>
                <a:lnTo>
                  <a:pt x="1054" y="16461"/>
                </a:lnTo>
                <a:lnTo>
                  <a:pt x="1086" y="16556"/>
                </a:lnTo>
                <a:lnTo>
                  <a:pt x="1119" y="16646"/>
                </a:lnTo>
                <a:lnTo>
                  <a:pt x="1152" y="16735"/>
                </a:lnTo>
                <a:lnTo>
                  <a:pt x="1185" y="16821"/>
                </a:lnTo>
                <a:lnTo>
                  <a:pt x="1225" y="16920"/>
                </a:lnTo>
                <a:lnTo>
                  <a:pt x="1267" y="17017"/>
                </a:lnTo>
                <a:lnTo>
                  <a:pt x="1288" y="17064"/>
                </a:lnTo>
                <a:lnTo>
                  <a:pt x="1310" y="17111"/>
                </a:lnTo>
                <a:lnTo>
                  <a:pt x="1332" y="17156"/>
                </a:lnTo>
                <a:lnTo>
                  <a:pt x="1354" y="17202"/>
                </a:lnTo>
                <a:lnTo>
                  <a:pt x="1377" y="17247"/>
                </a:lnTo>
                <a:lnTo>
                  <a:pt x="1399" y="17290"/>
                </a:lnTo>
                <a:lnTo>
                  <a:pt x="1423" y="17334"/>
                </a:lnTo>
                <a:lnTo>
                  <a:pt x="1447" y="17376"/>
                </a:lnTo>
                <a:lnTo>
                  <a:pt x="1471" y="17417"/>
                </a:lnTo>
                <a:lnTo>
                  <a:pt x="1496" y="17459"/>
                </a:lnTo>
                <a:lnTo>
                  <a:pt x="1521" y="17499"/>
                </a:lnTo>
                <a:lnTo>
                  <a:pt x="1546" y="17538"/>
                </a:lnTo>
                <a:lnTo>
                  <a:pt x="1572" y="17576"/>
                </a:lnTo>
                <a:lnTo>
                  <a:pt x="1598" y="17614"/>
                </a:lnTo>
                <a:lnTo>
                  <a:pt x="1625" y="17651"/>
                </a:lnTo>
                <a:lnTo>
                  <a:pt x="1652" y="17687"/>
                </a:lnTo>
                <a:lnTo>
                  <a:pt x="1680" y="17722"/>
                </a:lnTo>
                <a:lnTo>
                  <a:pt x="1707" y="17756"/>
                </a:lnTo>
                <a:lnTo>
                  <a:pt x="1736" y="17789"/>
                </a:lnTo>
                <a:lnTo>
                  <a:pt x="1764" y="17822"/>
                </a:lnTo>
                <a:lnTo>
                  <a:pt x="1794" y="17853"/>
                </a:lnTo>
                <a:lnTo>
                  <a:pt x="1824" y="17884"/>
                </a:lnTo>
                <a:lnTo>
                  <a:pt x="1854" y="17914"/>
                </a:lnTo>
                <a:lnTo>
                  <a:pt x="1885" y="17943"/>
                </a:lnTo>
                <a:lnTo>
                  <a:pt x="1917" y="17970"/>
                </a:lnTo>
                <a:lnTo>
                  <a:pt x="1947" y="17998"/>
                </a:lnTo>
                <a:lnTo>
                  <a:pt x="1980" y="18023"/>
                </a:lnTo>
                <a:lnTo>
                  <a:pt x="2013" y="18048"/>
                </a:lnTo>
                <a:lnTo>
                  <a:pt x="2052" y="18075"/>
                </a:lnTo>
                <a:lnTo>
                  <a:pt x="2091" y="18102"/>
                </a:lnTo>
                <a:lnTo>
                  <a:pt x="2132" y="18127"/>
                </a:lnTo>
                <a:lnTo>
                  <a:pt x="2173" y="18151"/>
                </a:lnTo>
                <a:lnTo>
                  <a:pt x="2215" y="18174"/>
                </a:lnTo>
                <a:lnTo>
                  <a:pt x="2259" y="18194"/>
                </a:lnTo>
                <a:lnTo>
                  <a:pt x="2303" y="18214"/>
                </a:lnTo>
                <a:lnTo>
                  <a:pt x="2349" y="18232"/>
                </a:lnTo>
                <a:lnTo>
                  <a:pt x="2397" y="18249"/>
                </a:lnTo>
                <a:lnTo>
                  <a:pt x="2446" y="18264"/>
                </a:lnTo>
                <a:lnTo>
                  <a:pt x="2497" y="18277"/>
                </a:lnTo>
                <a:lnTo>
                  <a:pt x="2549" y="18287"/>
                </a:lnTo>
                <a:lnTo>
                  <a:pt x="2576" y="18292"/>
                </a:lnTo>
                <a:lnTo>
                  <a:pt x="2603" y="18296"/>
                </a:lnTo>
                <a:lnTo>
                  <a:pt x="2631" y="18300"/>
                </a:lnTo>
                <a:lnTo>
                  <a:pt x="2658" y="18303"/>
                </a:lnTo>
                <a:lnTo>
                  <a:pt x="2687" y="18305"/>
                </a:lnTo>
                <a:lnTo>
                  <a:pt x="2716" y="18308"/>
                </a:lnTo>
                <a:lnTo>
                  <a:pt x="2745" y="18309"/>
                </a:lnTo>
                <a:lnTo>
                  <a:pt x="2776" y="18309"/>
                </a:lnTo>
                <a:lnTo>
                  <a:pt x="2835" y="18310"/>
                </a:lnTo>
                <a:lnTo>
                  <a:pt x="2896" y="18310"/>
                </a:lnTo>
                <a:lnTo>
                  <a:pt x="2957" y="18309"/>
                </a:lnTo>
                <a:lnTo>
                  <a:pt x="3017" y="18308"/>
                </a:lnTo>
                <a:lnTo>
                  <a:pt x="3079" y="18305"/>
                </a:lnTo>
                <a:lnTo>
                  <a:pt x="3140" y="18303"/>
                </a:lnTo>
                <a:lnTo>
                  <a:pt x="3200" y="18300"/>
                </a:lnTo>
                <a:lnTo>
                  <a:pt x="3262" y="18296"/>
                </a:lnTo>
                <a:lnTo>
                  <a:pt x="3323" y="18292"/>
                </a:lnTo>
                <a:lnTo>
                  <a:pt x="3384" y="18287"/>
                </a:lnTo>
                <a:lnTo>
                  <a:pt x="3444" y="18283"/>
                </a:lnTo>
                <a:lnTo>
                  <a:pt x="3505" y="18277"/>
                </a:lnTo>
                <a:lnTo>
                  <a:pt x="3565" y="18271"/>
                </a:lnTo>
                <a:lnTo>
                  <a:pt x="3625" y="18264"/>
                </a:lnTo>
                <a:lnTo>
                  <a:pt x="3686" y="18257"/>
                </a:lnTo>
                <a:lnTo>
                  <a:pt x="3745" y="18250"/>
                </a:lnTo>
                <a:lnTo>
                  <a:pt x="3829" y="18240"/>
                </a:lnTo>
                <a:lnTo>
                  <a:pt x="3912" y="18230"/>
                </a:lnTo>
                <a:lnTo>
                  <a:pt x="3995" y="18218"/>
                </a:lnTo>
                <a:lnTo>
                  <a:pt x="4076" y="18206"/>
                </a:lnTo>
                <a:lnTo>
                  <a:pt x="4157" y="18192"/>
                </a:lnTo>
                <a:lnTo>
                  <a:pt x="4236" y="18178"/>
                </a:lnTo>
                <a:lnTo>
                  <a:pt x="4316" y="18165"/>
                </a:lnTo>
                <a:lnTo>
                  <a:pt x="4395" y="18150"/>
                </a:lnTo>
                <a:lnTo>
                  <a:pt x="4473" y="18134"/>
                </a:lnTo>
                <a:lnTo>
                  <a:pt x="4549" y="18118"/>
                </a:lnTo>
                <a:lnTo>
                  <a:pt x="4627" y="18101"/>
                </a:lnTo>
                <a:lnTo>
                  <a:pt x="4704" y="18083"/>
                </a:lnTo>
                <a:lnTo>
                  <a:pt x="4779" y="18066"/>
                </a:lnTo>
                <a:lnTo>
                  <a:pt x="4855" y="18048"/>
                </a:lnTo>
                <a:lnTo>
                  <a:pt x="4931" y="18028"/>
                </a:lnTo>
                <a:lnTo>
                  <a:pt x="5006" y="18009"/>
                </a:lnTo>
                <a:lnTo>
                  <a:pt x="5156" y="17969"/>
                </a:lnTo>
                <a:lnTo>
                  <a:pt x="5305" y="17927"/>
                </a:lnTo>
                <a:lnTo>
                  <a:pt x="5455" y="17882"/>
                </a:lnTo>
                <a:lnTo>
                  <a:pt x="5603" y="17836"/>
                </a:lnTo>
                <a:lnTo>
                  <a:pt x="5753" y="17789"/>
                </a:lnTo>
                <a:lnTo>
                  <a:pt x="5904" y="17741"/>
                </a:lnTo>
                <a:lnTo>
                  <a:pt x="6056" y="17691"/>
                </a:lnTo>
                <a:lnTo>
                  <a:pt x="6211" y="17639"/>
                </a:lnTo>
                <a:lnTo>
                  <a:pt x="6273" y="17619"/>
                </a:lnTo>
                <a:lnTo>
                  <a:pt x="6368" y="17586"/>
                </a:lnTo>
                <a:lnTo>
                  <a:pt x="6483" y="17544"/>
                </a:lnTo>
                <a:lnTo>
                  <a:pt x="6608" y="17501"/>
                </a:lnTo>
                <a:lnTo>
                  <a:pt x="6729" y="17456"/>
                </a:lnTo>
                <a:lnTo>
                  <a:pt x="6837" y="17415"/>
                </a:lnTo>
                <a:lnTo>
                  <a:pt x="6881" y="17398"/>
                </a:lnTo>
                <a:lnTo>
                  <a:pt x="6917" y="17382"/>
                </a:lnTo>
                <a:lnTo>
                  <a:pt x="6943" y="17369"/>
                </a:lnTo>
                <a:lnTo>
                  <a:pt x="6959" y="17361"/>
                </a:lnTo>
                <a:lnTo>
                  <a:pt x="6994" y="17351"/>
                </a:lnTo>
                <a:lnTo>
                  <a:pt x="7046" y="17333"/>
                </a:lnTo>
                <a:lnTo>
                  <a:pt x="7116" y="17308"/>
                </a:lnTo>
                <a:lnTo>
                  <a:pt x="7200" y="17277"/>
                </a:lnTo>
                <a:lnTo>
                  <a:pt x="7294" y="17240"/>
                </a:lnTo>
                <a:lnTo>
                  <a:pt x="7397" y="17200"/>
                </a:lnTo>
                <a:lnTo>
                  <a:pt x="7507" y="17156"/>
                </a:lnTo>
                <a:lnTo>
                  <a:pt x="7621" y="17112"/>
                </a:lnTo>
                <a:lnTo>
                  <a:pt x="7734" y="17066"/>
                </a:lnTo>
                <a:lnTo>
                  <a:pt x="7846" y="17021"/>
                </a:lnTo>
                <a:lnTo>
                  <a:pt x="7955" y="16977"/>
                </a:lnTo>
                <a:lnTo>
                  <a:pt x="8057" y="16937"/>
                </a:lnTo>
                <a:lnTo>
                  <a:pt x="8148" y="16899"/>
                </a:lnTo>
                <a:lnTo>
                  <a:pt x="8228" y="16867"/>
                </a:lnTo>
                <a:lnTo>
                  <a:pt x="8295" y="16841"/>
                </a:lnTo>
                <a:lnTo>
                  <a:pt x="8344" y="16821"/>
                </a:lnTo>
                <a:lnTo>
                  <a:pt x="8396" y="16799"/>
                </a:lnTo>
                <a:lnTo>
                  <a:pt x="8454" y="16778"/>
                </a:lnTo>
                <a:lnTo>
                  <a:pt x="8513" y="16755"/>
                </a:lnTo>
                <a:lnTo>
                  <a:pt x="8574" y="16731"/>
                </a:lnTo>
                <a:lnTo>
                  <a:pt x="8633" y="16707"/>
                </a:lnTo>
                <a:lnTo>
                  <a:pt x="8690" y="16682"/>
                </a:lnTo>
                <a:lnTo>
                  <a:pt x="8744" y="16658"/>
                </a:lnTo>
                <a:lnTo>
                  <a:pt x="8792" y="16633"/>
                </a:lnTo>
                <a:lnTo>
                  <a:pt x="8829" y="16621"/>
                </a:lnTo>
                <a:lnTo>
                  <a:pt x="8872" y="16605"/>
                </a:lnTo>
                <a:lnTo>
                  <a:pt x="8918" y="16587"/>
                </a:lnTo>
                <a:lnTo>
                  <a:pt x="8965" y="16565"/>
                </a:lnTo>
                <a:lnTo>
                  <a:pt x="9013" y="16543"/>
                </a:lnTo>
                <a:lnTo>
                  <a:pt x="9059" y="16522"/>
                </a:lnTo>
                <a:lnTo>
                  <a:pt x="9100" y="16502"/>
                </a:lnTo>
                <a:lnTo>
                  <a:pt x="9137" y="16485"/>
                </a:lnTo>
                <a:lnTo>
                  <a:pt x="9178" y="16465"/>
                </a:lnTo>
                <a:lnTo>
                  <a:pt x="9220" y="16447"/>
                </a:lnTo>
                <a:lnTo>
                  <a:pt x="9263" y="16429"/>
                </a:lnTo>
                <a:lnTo>
                  <a:pt x="9304" y="16409"/>
                </a:lnTo>
                <a:lnTo>
                  <a:pt x="9346" y="16391"/>
                </a:lnTo>
                <a:lnTo>
                  <a:pt x="9388" y="16371"/>
                </a:lnTo>
                <a:lnTo>
                  <a:pt x="9430" y="16352"/>
                </a:lnTo>
                <a:lnTo>
                  <a:pt x="9471" y="16331"/>
                </a:lnTo>
                <a:lnTo>
                  <a:pt x="9550" y="16292"/>
                </a:lnTo>
                <a:lnTo>
                  <a:pt x="9633" y="16254"/>
                </a:lnTo>
                <a:lnTo>
                  <a:pt x="9720" y="16214"/>
                </a:lnTo>
                <a:lnTo>
                  <a:pt x="9807" y="16173"/>
                </a:lnTo>
                <a:lnTo>
                  <a:pt x="9894" y="16132"/>
                </a:lnTo>
                <a:lnTo>
                  <a:pt x="9978" y="16091"/>
                </a:lnTo>
                <a:lnTo>
                  <a:pt x="10018" y="16069"/>
                </a:lnTo>
                <a:lnTo>
                  <a:pt x="10057" y="16048"/>
                </a:lnTo>
                <a:lnTo>
                  <a:pt x="10093" y="16026"/>
                </a:lnTo>
                <a:lnTo>
                  <a:pt x="10129" y="16004"/>
                </a:lnTo>
                <a:lnTo>
                  <a:pt x="10153" y="15994"/>
                </a:lnTo>
                <a:lnTo>
                  <a:pt x="10184" y="15979"/>
                </a:lnTo>
                <a:lnTo>
                  <a:pt x="10220" y="15962"/>
                </a:lnTo>
                <a:lnTo>
                  <a:pt x="10263" y="15939"/>
                </a:lnTo>
                <a:lnTo>
                  <a:pt x="10363" y="15886"/>
                </a:lnTo>
                <a:lnTo>
                  <a:pt x="10482" y="15821"/>
                </a:lnTo>
                <a:lnTo>
                  <a:pt x="10614" y="15748"/>
                </a:lnTo>
                <a:lnTo>
                  <a:pt x="10756" y="15669"/>
                </a:lnTo>
                <a:lnTo>
                  <a:pt x="10903" y="15584"/>
                </a:lnTo>
                <a:lnTo>
                  <a:pt x="11053" y="15498"/>
                </a:lnTo>
                <a:lnTo>
                  <a:pt x="11202" y="15411"/>
                </a:lnTo>
                <a:lnTo>
                  <a:pt x="11344" y="15328"/>
                </a:lnTo>
                <a:lnTo>
                  <a:pt x="11477" y="15249"/>
                </a:lnTo>
                <a:lnTo>
                  <a:pt x="11597" y="15176"/>
                </a:lnTo>
                <a:lnTo>
                  <a:pt x="11700" y="15111"/>
                </a:lnTo>
                <a:lnTo>
                  <a:pt x="11781" y="15060"/>
                </a:lnTo>
                <a:lnTo>
                  <a:pt x="11813" y="15038"/>
                </a:lnTo>
                <a:lnTo>
                  <a:pt x="11838" y="15021"/>
                </a:lnTo>
                <a:lnTo>
                  <a:pt x="11857" y="15007"/>
                </a:lnTo>
                <a:lnTo>
                  <a:pt x="11867" y="14997"/>
                </a:lnTo>
                <a:lnTo>
                  <a:pt x="11879" y="14991"/>
                </a:lnTo>
                <a:lnTo>
                  <a:pt x="11898" y="14982"/>
                </a:lnTo>
                <a:lnTo>
                  <a:pt x="11919" y="14970"/>
                </a:lnTo>
                <a:lnTo>
                  <a:pt x="11947" y="14954"/>
                </a:lnTo>
                <a:lnTo>
                  <a:pt x="12012" y="14913"/>
                </a:lnTo>
                <a:lnTo>
                  <a:pt x="12090" y="14864"/>
                </a:lnTo>
                <a:lnTo>
                  <a:pt x="12179" y="14806"/>
                </a:lnTo>
                <a:lnTo>
                  <a:pt x="12276" y="14741"/>
                </a:lnTo>
                <a:lnTo>
                  <a:pt x="12379" y="14672"/>
                </a:lnTo>
                <a:lnTo>
                  <a:pt x="12485" y="14600"/>
                </a:lnTo>
                <a:lnTo>
                  <a:pt x="12590" y="14528"/>
                </a:lnTo>
                <a:lnTo>
                  <a:pt x="12694" y="14457"/>
                </a:lnTo>
                <a:lnTo>
                  <a:pt x="12791" y="14388"/>
                </a:lnTo>
                <a:lnTo>
                  <a:pt x="12883" y="14324"/>
                </a:lnTo>
                <a:lnTo>
                  <a:pt x="12963" y="14267"/>
                </a:lnTo>
                <a:lnTo>
                  <a:pt x="13031" y="14218"/>
                </a:lnTo>
                <a:lnTo>
                  <a:pt x="13083" y="14179"/>
                </a:lnTo>
                <a:lnTo>
                  <a:pt x="13116" y="14152"/>
                </a:lnTo>
                <a:lnTo>
                  <a:pt x="13131" y="14143"/>
                </a:lnTo>
                <a:lnTo>
                  <a:pt x="13152" y="14131"/>
                </a:lnTo>
                <a:lnTo>
                  <a:pt x="13179" y="14112"/>
                </a:lnTo>
                <a:lnTo>
                  <a:pt x="13212" y="14088"/>
                </a:lnTo>
                <a:lnTo>
                  <a:pt x="13294" y="14030"/>
                </a:lnTo>
                <a:lnTo>
                  <a:pt x="13392" y="13958"/>
                </a:lnTo>
                <a:lnTo>
                  <a:pt x="13505" y="13873"/>
                </a:lnTo>
                <a:lnTo>
                  <a:pt x="13628" y="13779"/>
                </a:lnTo>
                <a:lnTo>
                  <a:pt x="13758" y="13680"/>
                </a:lnTo>
                <a:lnTo>
                  <a:pt x="13891" y="13578"/>
                </a:lnTo>
                <a:lnTo>
                  <a:pt x="14024" y="13475"/>
                </a:lnTo>
                <a:lnTo>
                  <a:pt x="14153" y="13374"/>
                </a:lnTo>
                <a:lnTo>
                  <a:pt x="14274" y="13278"/>
                </a:lnTo>
                <a:lnTo>
                  <a:pt x="14385" y="13190"/>
                </a:lnTo>
                <a:lnTo>
                  <a:pt x="14481" y="13112"/>
                </a:lnTo>
                <a:lnTo>
                  <a:pt x="14559" y="13048"/>
                </a:lnTo>
                <a:lnTo>
                  <a:pt x="14590" y="13022"/>
                </a:lnTo>
                <a:lnTo>
                  <a:pt x="14615" y="13000"/>
                </a:lnTo>
                <a:lnTo>
                  <a:pt x="14634" y="12982"/>
                </a:lnTo>
                <a:lnTo>
                  <a:pt x="14645" y="12970"/>
                </a:lnTo>
                <a:lnTo>
                  <a:pt x="14658" y="12963"/>
                </a:lnTo>
                <a:lnTo>
                  <a:pt x="14673" y="12954"/>
                </a:lnTo>
                <a:lnTo>
                  <a:pt x="14690" y="12942"/>
                </a:lnTo>
                <a:lnTo>
                  <a:pt x="14708" y="12928"/>
                </a:lnTo>
                <a:lnTo>
                  <a:pt x="14751" y="12895"/>
                </a:lnTo>
                <a:lnTo>
                  <a:pt x="14802" y="12854"/>
                </a:lnTo>
                <a:lnTo>
                  <a:pt x="14857" y="12807"/>
                </a:lnTo>
                <a:lnTo>
                  <a:pt x="14917" y="12756"/>
                </a:lnTo>
                <a:lnTo>
                  <a:pt x="14979" y="12701"/>
                </a:lnTo>
                <a:lnTo>
                  <a:pt x="15044" y="12645"/>
                </a:lnTo>
                <a:lnTo>
                  <a:pt x="15110" y="12587"/>
                </a:lnTo>
                <a:lnTo>
                  <a:pt x="15175" y="12530"/>
                </a:lnTo>
                <a:lnTo>
                  <a:pt x="15238" y="12475"/>
                </a:lnTo>
                <a:lnTo>
                  <a:pt x="15298" y="12421"/>
                </a:lnTo>
                <a:lnTo>
                  <a:pt x="15354" y="12372"/>
                </a:lnTo>
                <a:lnTo>
                  <a:pt x="15405" y="12328"/>
                </a:lnTo>
                <a:lnTo>
                  <a:pt x="15451" y="12291"/>
                </a:lnTo>
                <a:lnTo>
                  <a:pt x="15487" y="12261"/>
                </a:lnTo>
                <a:lnTo>
                  <a:pt x="15508" y="12245"/>
                </a:lnTo>
                <a:lnTo>
                  <a:pt x="15520" y="12233"/>
                </a:lnTo>
                <a:lnTo>
                  <a:pt x="15534" y="12220"/>
                </a:lnTo>
                <a:lnTo>
                  <a:pt x="15555" y="12200"/>
                </a:lnTo>
                <a:lnTo>
                  <a:pt x="15765" y="12013"/>
                </a:lnTo>
                <a:lnTo>
                  <a:pt x="15798" y="11979"/>
                </a:lnTo>
                <a:lnTo>
                  <a:pt x="15830" y="11947"/>
                </a:lnTo>
                <a:lnTo>
                  <a:pt x="15863" y="11915"/>
                </a:lnTo>
                <a:lnTo>
                  <a:pt x="15895" y="11884"/>
                </a:lnTo>
                <a:lnTo>
                  <a:pt x="15927" y="11853"/>
                </a:lnTo>
                <a:lnTo>
                  <a:pt x="15959" y="11823"/>
                </a:lnTo>
                <a:lnTo>
                  <a:pt x="15992" y="11790"/>
                </a:lnTo>
                <a:lnTo>
                  <a:pt x="16025" y="11758"/>
                </a:lnTo>
                <a:lnTo>
                  <a:pt x="16052" y="11733"/>
                </a:lnTo>
                <a:lnTo>
                  <a:pt x="16089" y="11696"/>
                </a:lnTo>
                <a:lnTo>
                  <a:pt x="16136" y="11649"/>
                </a:lnTo>
                <a:lnTo>
                  <a:pt x="16190" y="11595"/>
                </a:lnTo>
                <a:lnTo>
                  <a:pt x="16248" y="11535"/>
                </a:lnTo>
                <a:lnTo>
                  <a:pt x="16311" y="11470"/>
                </a:lnTo>
                <a:lnTo>
                  <a:pt x="16377" y="11403"/>
                </a:lnTo>
                <a:lnTo>
                  <a:pt x="16443" y="11335"/>
                </a:lnTo>
                <a:lnTo>
                  <a:pt x="16508" y="11268"/>
                </a:lnTo>
                <a:lnTo>
                  <a:pt x="16571" y="11202"/>
                </a:lnTo>
                <a:lnTo>
                  <a:pt x="16629" y="11140"/>
                </a:lnTo>
                <a:lnTo>
                  <a:pt x="16681" y="11084"/>
                </a:lnTo>
                <a:lnTo>
                  <a:pt x="16726" y="11036"/>
                </a:lnTo>
                <a:lnTo>
                  <a:pt x="16761" y="10997"/>
                </a:lnTo>
                <a:lnTo>
                  <a:pt x="16786" y="10969"/>
                </a:lnTo>
                <a:lnTo>
                  <a:pt x="16797" y="10953"/>
                </a:lnTo>
                <a:lnTo>
                  <a:pt x="16818" y="10935"/>
                </a:lnTo>
                <a:lnTo>
                  <a:pt x="16837" y="10915"/>
                </a:lnTo>
                <a:lnTo>
                  <a:pt x="16856" y="10896"/>
                </a:lnTo>
                <a:lnTo>
                  <a:pt x="16874" y="10875"/>
                </a:lnTo>
                <a:lnTo>
                  <a:pt x="16908" y="10833"/>
                </a:lnTo>
                <a:lnTo>
                  <a:pt x="16943" y="10789"/>
                </a:lnTo>
                <a:lnTo>
                  <a:pt x="17006" y="10707"/>
                </a:lnTo>
                <a:lnTo>
                  <a:pt x="17067" y="10626"/>
                </a:lnTo>
                <a:lnTo>
                  <a:pt x="17128" y="10543"/>
                </a:lnTo>
                <a:lnTo>
                  <a:pt x="17185" y="10462"/>
                </a:lnTo>
                <a:lnTo>
                  <a:pt x="17214" y="10421"/>
                </a:lnTo>
                <a:lnTo>
                  <a:pt x="17241" y="10379"/>
                </a:lnTo>
                <a:lnTo>
                  <a:pt x="17269" y="10337"/>
                </a:lnTo>
                <a:lnTo>
                  <a:pt x="17295" y="10296"/>
                </a:lnTo>
                <a:lnTo>
                  <a:pt x="17321" y="10254"/>
                </a:lnTo>
                <a:lnTo>
                  <a:pt x="17347" y="10211"/>
                </a:lnTo>
                <a:lnTo>
                  <a:pt x="17372" y="10169"/>
                </a:lnTo>
                <a:lnTo>
                  <a:pt x="17396" y="10125"/>
                </a:lnTo>
                <a:lnTo>
                  <a:pt x="17419" y="10081"/>
                </a:lnTo>
                <a:lnTo>
                  <a:pt x="17442" y="10037"/>
                </a:lnTo>
                <a:lnTo>
                  <a:pt x="17463" y="9992"/>
                </a:lnTo>
                <a:lnTo>
                  <a:pt x="17485" y="9946"/>
                </a:lnTo>
                <a:lnTo>
                  <a:pt x="17505" y="9900"/>
                </a:lnTo>
                <a:lnTo>
                  <a:pt x="17524" y="9853"/>
                </a:lnTo>
                <a:lnTo>
                  <a:pt x="17543" y="9805"/>
                </a:lnTo>
                <a:lnTo>
                  <a:pt x="17561" y="9757"/>
                </a:lnTo>
                <a:lnTo>
                  <a:pt x="17578" y="9708"/>
                </a:lnTo>
                <a:lnTo>
                  <a:pt x="17594" y="9657"/>
                </a:lnTo>
                <a:lnTo>
                  <a:pt x="17609" y="9606"/>
                </a:lnTo>
                <a:lnTo>
                  <a:pt x="17622" y="9553"/>
                </a:lnTo>
                <a:lnTo>
                  <a:pt x="17636" y="9501"/>
                </a:lnTo>
                <a:lnTo>
                  <a:pt x="17648" y="9446"/>
                </a:lnTo>
                <a:lnTo>
                  <a:pt x="17659" y="9391"/>
                </a:lnTo>
                <a:lnTo>
                  <a:pt x="17669" y="9334"/>
                </a:lnTo>
                <a:lnTo>
                  <a:pt x="17673" y="9309"/>
                </a:lnTo>
                <a:lnTo>
                  <a:pt x="17675" y="9283"/>
                </a:lnTo>
                <a:lnTo>
                  <a:pt x="17675" y="9255"/>
                </a:lnTo>
                <a:lnTo>
                  <a:pt x="17674" y="9226"/>
                </a:lnTo>
                <a:lnTo>
                  <a:pt x="17672" y="9196"/>
                </a:lnTo>
                <a:lnTo>
                  <a:pt x="17669" y="9165"/>
                </a:lnTo>
                <a:lnTo>
                  <a:pt x="17665" y="9133"/>
                </a:lnTo>
                <a:lnTo>
                  <a:pt x="17659" y="9101"/>
                </a:lnTo>
                <a:lnTo>
                  <a:pt x="17653" y="9068"/>
                </a:lnTo>
                <a:lnTo>
                  <a:pt x="17645" y="9034"/>
                </a:lnTo>
                <a:lnTo>
                  <a:pt x="17637" y="8999"/>
                </a:lnTo>
                <a:lnTo>
                  <a:pt x="17629" y="8965"/>
                </a:lnTo>
                <a:lnTo>
                  <a:pt x="17609" y="8895"/>
                </a:lnTo>
                <a:lnTo>
                  <a:pt x="17587" y="8825"/>
                </a:lnTo>
                <a:lnTo>
                  <a:pt x="17563" y="8757"/>
                </a:lnTo>
                <a:lnTo>
                  <a:pt x="17539" y="8689"/>
                </a:lnTo>
                <a:lnTo>
                  <a:pt x="17513" y="8624"/>
                </a:lnTo>
                <a:lnTo>
                  <a:pt x="17487" y="8563"/>
                </a:lnTo>
                <a:lnTo>
                  <a:pt x="17462" y="8506"/>
                </a:lnTo>
                <a:lnTo>
                  <a:pt x="17437" y="8455"/>
                </a:lnTo>
                <a:lnTo>
                  <a:pt x="17415" y="8408"/>
                </a:lnTo>
                <a:lnTo>
                  <a:pt x="17394" y="8369"/>
                </a:lnTo>
                <a:lnTo>
                  <a:pt x="17360" y="8310"/>
                </a:lnTo>
                <a:lnTo>
                  <a:pt x="17328" y="8254"/>
                </a:lnTo>
                <a:lnTo>
                  <a:pt x="17297" y="8203"/>
                </a:lnTo>
                <a:lnTo>
                  <a:pt x="17268" y="8155"/>
                </a:lnTo>
                <a:lnTo>
                  <a:pt x="17239" y="8109"/>
                </a:lnTo>
                <a:lnTo>
                  <a:pt x="17210" y="8066"/>
                </a:lnTo>
                <a:lnTo>
                  <a:pt x="17182" y="8023"/>
                </a:lnTo>
                <a:lnTo>
                  <a:pt x="17153" y="7981"/>
                </a:lnTo>
                <a:lnTo>
                  <a:pt x="17123" y="7941"/>
                </a:lnTo>
                <a:lnTo>
                  <a:pt x="17093" y="7900"/>
                </a:lnTo>
                <a:lnTo>
                  <a:pt x="17062" y="7858"/>
                </a:lnTo>
                <a:lnTo>
                  <a:pt x="17029" y="7816"/>
                </a:lnTo>
                <a:lnTo>
                  <a:pt x="16958" y="7727"/>
                </a:lnTo>
                <a:lnTo>
                  <a:pt x="16877" y="7627"/>
                </a:lnTo>
                <a:lnTo>
                  <a:pt x="16843" y="7585"/>
                </a:lnTo>
                <a:lnTo>
                  <a:pt x="16805" y="7540"/>
                </a:lnTo>
                <a:lnTo>
                  <a:pt x="16766" y="7493"/>
                </a:lnTo>
                <a:lnTo>
                  <a:pt x="16725" y="7446"/>
                </a:lnTo>
                <a:lnTo>
                  <a:pt x="16641" y="7350"/>
                </a:lnTo>
                <a:lnTo>
                  <a:pt x="16551" y="7253"/>
                </a:lnTo>
                <a:lnTo>
                  <a:pt x="16462" y="7157"/>
                </a:lnTo>
                <a:lnTo>
                  <a:pt x="16373" y="7065"/>
                </a:lnTo>
                <a:lnTo>
                  <a:pt x="16287" y="6978"/>
                </a:lnTo>
                <a:lnTo>
                  <a:pt x="16207" y="6899"/>
                </a:lnTo>
                <a:lnTo>
                  <a:pt x="16179" y="6872"/>
                </a:lnTo>
                <a:lnTo>
                  <a:pt x="16153" y="6842"/>
                </a:lnTo>
                <a:lnTo>
                  <a:pt x="16127" y="6811"/>
                </a:lnTo>
                <a:lnTo>
                  <a:pt x="16099" y="6779"/>
                </a:lnTo>
                <a:lnTo>
                  <a:pt x="16071" y="6747"/>
                </a:lnTo>
                <a:lnTo>
                  <a:pt x="16042" y="6715"/>
                </a:lnTo>
                <a:lnTo>
                  <a:pt x="16011" y="6683"/>
                </a:lnTo>
                <a:lnTo>
                  <a:pt x="15979" y="6652"/>
                </a:lnTo>
                <a:lnTo>
                  <a:pt x="14313" y="5186"/>
                </a:lnTo>
                <a:lnTo>
                  <a:pt x="14230" y="5121"/>
                </a:lnTo>
                <a:lnTo>
                  <a:pt x="14144" y="5052"/>
                </a:lnTo>
                <a:lnTo>
                  <a:pt x="14058" y="4981"/>
                </a:lnTo>
                <a:lnTo>
                  <a:pt x="13972" y="4911"/>
                </a:lnTo>
                <a:lnTo>
                  <a:pt x="13885" y="4840"/>
                </a:lnTo>
                <a:lnTo>
                  <a:pt x="13797" y="4769"/>
                </a:lnTo>
                <a:lnTo>
                  <a:pt x="13709" y="4700"/>
                </a:lnTo>
                <a:lnTo>
                  <a:pt x="13622" y="4634"/>
                </a:lnTo>
                <a:lnTo>
                  <a:pt x="13528" y="4565"/>
                </a:lnTo>
                <a:lnTo>
                  <a:pt x="13437" y="4496"/>
                </a:lnTo>
                <a:lnTo>
                  <a:pt x="13348" y="4430"/>
                </a:lnTo>
                <a:lnTo>
                  <a:pt x="13259" y="4364"/>
                </a:lnTo>
                <a:lnTo>
                  <a:pt x="13172" y="4299"/>
                </a:lnTo>
                <a:lnTo>
                  <a:pt x="13085" y="4234"/>
                </a:lnTo>
                <a:lnTo>
                  <a:pt x="12999" y="4170"/>
                </a:lnTo>
                <a:lnTo>
                  <a:pt x="12913" y="4107"/>
                </a:lnTo>
                <a:lnTo>
                  <a:pt x="12826" y="4043"/>
                </a:lnTo>
                <a:lnTo>
                  <a:pt x="12738" y="3980"/>
                </a:lnTo>
                <a:lnTo>
                  <a:pt x="12650" y="3916"/>
                </a:lnTo>
                <a:lnTo>
                  <a:pt x="12559" y="3852"/>
                </a:lnTo>
                <a:lnTo>
                  <a:pt x="12468" y="3787"/>
                </a:lnTo>
                <a:lnTo>
                  <a:pt x="12373" y="3722"/>
                </a:lnTo>
                <a:lnTo>
                  <a:pt x="12276" y="3655"/>
                </a:lnTo>
                <a:lnTo>
                  <a:pt x="12177" y="3589"/>
                </a:lnTo>
                <a:lnTo>
                  <a:pt x="12083" y="3525"/>
                </a:lnTo>
                <a:lnTo>
                  <a:pt x="11988" y="3463"/>
                </a:lnTo>
                <a:lnTo>
                  <a:pt x="11893" y="3402"/>
                </a:lnTo>
                <a:lnTo>
                  <a:pt x="11798" y="3340"/>
                </a:lnTo>
                <a:lnTo>
                  <a:pt x="11702" y="3280"/>
                </a:lnTo>
                <a:lnTo>
                  <a:pt x="11606" y="3219"/>
                </a:lnTo>
                <a:lnTo>
                  <a:pt x="11509" y="3158"/>
                </a:lnTo>
                <a:lnTo>
                  <a:pt x="11411" y="3097"/>
                </a:lnTo>
                <a:lnTo>
                  <a:pt x="11318" y="3037"/>
                </a:lnTo>
                <a:lnTo>
                  <a:pt x="11222" y="2979"/>
                </a:lnTo>
                <a:lnTo>
                  <a:pt x="11125" y="2920"/>
                </a:lnTo>
                <a:lnTo>
                  <a:pt x="11028" y="2863"/>
                </a:lnTo>
                <a:lnTo>
                  <a:pt x="10930" y="2806"/>
                </a:lnTo>
                <a:lnTo>
                  <a:pt x="10831" y="2749"/>
                </a:lnTo>
                <a:lnTo>
                  <a:pt x="10732" y="2692"/>
                </a:lnTo>
                <a:lnTo>
                  <a:pt x="10631" y="2635"/>
                </a:lnTo>
                <a:lnTo>
                  <a:pt x="10529" y="2579"/>
                </a:lnTo>
                <a:lnTo>
                  <a:pt x="10427" y="2523"/>
                </a:lnTo>
                <a:lnTo>
                  <a:pt x="10326" y="2468"/>
                </a:lnTo>
                <a:lnTo>
                  <a:pt x="10223" y="2413"/>
                </a:lnTo>
                <a:lnTo>
                  <a:pt x="10120" y="2359"/>
                </a:lnTo>
                <a:lnTo>
                  <a:pt x="10015" y="2305"/>
                </a:lnTo>
                <a:lnTo>
                  <a:pt x="9911" y="2251"/>
                </a:lnTo>
                <a:lnTo>
                  <a:pt x="9807" y="2198"/>
                </a:lnTo>
                <a:lnTo>
                  <a:pt x="9735" y="2162"/>
                </a:lnTo>
                <a:lnTo>
                  <a:pt x="9660" y="2124"/>
                </a:lnTo>
                <a:lnTo>
                  <a:pt x="9583" y="2086"/>
                </a:lnTo>
                <a:lnTo>
                  <a:pt x="9504" y="2047"/>
                </a:lnTo>
                <a:lnTo>
                  <a:pt x="9423" y="2010"/>
                </a:lnTo>
                <a:lnTo>
                  <a:pt x="9340" y="1971"/>
                </a:lnTo>
                <a:lnTo>
                  <a:pt x="9258" y="1932"/>
                </a:lnTo>
                <a:lnTo>
                  <a:pt x="9174" y="1893"/>
                </a:lnTo>
                <a:lnTo>
                  <a:pt x="9091" y="1855"/>
                </a:lnTo>
                <a:lnTo>
                  <a:pt x="9006" y="1816"/>
                </a:lnTo>
                <a:lnTo>
                  <a:pt x="8923" y="1780"/>
                </a:lnTo>
                <a:lnTo>
                  <a:pt x="8840" y="1743"/>
                </a:lnTo>
                <a:lnTo>
                  <a:pt x="8759" y="1707"/>
                </a:lnTo>
                <a:lnTo>
                  <a:pt x="8679" y="1673"/>
                </a:lnTo>
                <a:lnTo>
                  <a:pt x="8600" y="1640"/>
                </a:lnTo>
                <a:lnTo>
                  <a:pt x="8523" y="1608"/>
                </a:lnTo>
                <a:lnTo>
                  <a:pt x="8472" y="1587"/>
                </a:lnTo>
                <a:lnTo>
                  <a:pt x="8417" y="1562"/>
                </a:lnTo>
                <a:lnTo>
                  <a:pt x="8360" y="1537"/>
                </a:lnTo>
                <a:lnTo>
                  <a:pt x="8300" y="1511"/>
                </a:lnTo>
                <a:lnTo>
                  <a:pt x="8242" y="1485"/>
                </a:lnTo>
                <a:lnTo>
                  <a:pt x="8184" y="1461"/>
                </a:lnTo>
                <a:lnTo>
                  <a:pt x="8156" y="1451"/>
                </a:lnTo>
                <a:lnTo>
                  <a:pt x="8129" y="1442"/>
                </a:lnTo>
                <a:lnTo>
                  <a:pt x="8102" y="1433"/>
                </a:lnTo>
                <a:lnTo>
                  <a:pt x="8078" y="1426"/>
                </a:lnTo>
                <a:close/>
              </a:path>
            </a:pathLst>
          </a:custGeom>
          <a:solidFill>
            <a:schemeClr val="accent2"/>
          </a:solidFill>
          <a:ln cap="sq">
            <a:noFill/>
          </a:ln>
        </p:spPr>
        <p:txBody>
          <a:bodyPr vert="horz" wrap="square" lIns="91440" tIns="45720" rIns="91440" bIns="45720" rtlCol="0" anchor="t"/>
          <a:lstStyle/>
          <a:p>
            <a:pPr algn="l"/>
            <a:endParaRPr kumimoji="1" lang="zh-CN" altLang="en-US"/>
          </a:p>
        </p:txBody>
      </p:sp>
      <p:sp>
        <p:nvSpPr>
          <p:cNvPr id="13" name="标题 1"/>
          <p:cNvSpPr txBox="1"/>
          <p:nvPr/>
        </p:nvSpPr>
        <p:spPr>
          <a:xfrm>
            <a:off x="6559136" y="2953089"/>
            <a:ext cx="4536000" cy="828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Cumplimiento de normativas (compliance).</a:t>
            </a:r>
            <a:endParaRPr kumimoji="1" lang="zh-CN" altLang="en-US"/>
          </a:p>
        </p:txBody>
      </p:sp>
      <p:sp>
        <p:nvSpPr>
          <p:cNvPr id="14" name="标题 1"/>
          <p:cNvSpPr txBox="1"/>
          <p:nvPr/>
        </p:nvSpPr>
        <p:spPr>
          <a:xfrm>
            <a:off x="6309032" y="3025843"/>
            <a:ext cx="126854" cy="131412"/>
          </a:xfrm>
          <a:custGeom>
            <a:avLst/>
            <a:gdLst>
              <a:gd name="T0" fmla="*/ 7371 w 17675"/>
              <a:gd name="T1" fmla="*/ 1125 h 18310"/>
              <a:gd name="T2" fmla="*/ 5959 w 17675"/>
              <a:gd name="T3" fmla="*/ 593 h 18310"/>
              <a:gd name="T4" fmla="*/ 4735 w 17675"/>
              <a:gd name="T5" fmla="*/ 240 h 18310"/>
              <a:gd name="T6" fmla="*/ 3627 w 17675"/>
              <a:gd name="T7" fmla="*/ 54 h 18310"/>
              <a:gd name="T8" fmla="*/ 2806 w 17675"/>
              <a:gd name="T9" fmla="*/ 7 h 18310"/>
              <a:gd name="T10" fmla="*/ 2454 w 17675"/>
              <a:gd name="T11" fmla="*/ 85 h 18310"/>
              <a:gd name="T12" fmla="*/ 2132 w 17675"/>
              <a:gd name="T13" fmla="*/ 262 h 18310"/>
              <a:gd name="T14" fmla="*/ 1838 w 17675"/>
              <a:gd name="T15" fmla="*/ 533 h 18310"/>
              <a:gd name="T16" fmla="*/ 1454 w 17675"/>
              <a:gd name="T17" fmla="*/ 1111 h 18310"/>
              <a:gd name="T18" fmla="*/ 1261 w 17675"/>
              <a:gd name="T19" fmla="*/ 1545 h 18310"/>
              <a:gd name="T20" fmla="*/ 1008 w 17675"/>
              <a:gd name="T21" fmla="*/ 2315 h 18310"/>
              <a:gd name="T22" fmla="*/ 836 w 17675"/>
              <a:gd name="T23" fmla="*/ 2906 h 18310"/>
              <a:gd name="T24" fmla="*/ 683 w 17675"/>
              <a:gd name="T25" fmla="*/ 3519 h 18310"/>
              <a:gd name="T26" fmla="*/ 506 w 17675"/>
              <a:gd name="T27" fmla="*/ 4330 h 18310"/>
              <a:gd name="T28" fmla="*/ 356 w 17675"/>
              <a:gd name="T29" fmla="*/ 5177 h 18310"/>
              <a:gd name="T30" fmla="*/ 199 w 17675"/>
              <a:gd name="T31" fmla="*/ 6352 h 18310"/>
              <a:gd name="T32" fmla="*/ 65 w 17675"/>
              <a:gd name="T33" fmla="*/ 7805 h 18310"/>
              <a:gd name="T34" fmla="*/ 1 w 17675"/>
              <a:gd name="T35" fmla="*/ 9354 h 18310"/>
              <a:gd name="T36" fmla="*/ 54 w 17675"/>
              <a:gd name="T37" fmla="*/ 10490 h 18310"/>
              <a:gd name="T38" fmla="*/ 149 w 17675"/>
              <a:gd name="T39" fmla="*/ 11811 h 18310"/>
              <a:gd name="T40" fmla="*/ 298 w 17675"/>
              <a:gd name="T41" fmla="*/ 13066 h 18310"/>
              <a:gd name="T42" fmla="*/ 650 w 17675"/>
              <a:gd name="T43" fmla="*/ 14979 h 18310"/>
              <a:gd name="T44" fmla="*/ 991 w 17675"/>
              <a:gd name="T45" fmla="*/ 16266 h 18310"/>
              <a:gd name="T46" fmla="*/ 1332 w 17675"/>
              <a:gd name="T47" fmla="*/ 17156 h 18310"/>
              <a:gd name="T48" fmla="*/ 1598 w 17675"/>
              <a:gd name="T49" fmla="*/ 17614 h 18310"/>
              <a:gd name="T50" fmla="*/ 1917 w 17675"/>
              <a:gd name="T51" fmla="*/ 17970 h 18310"/>
              <a:gd name="T52" fmla="*/ 2349 w 17675"/>
              <a:gd name="T53" fmla="*/ 18232 h 18310"/>
              <a:gd name="T54" fmla="*/ 2745 w 17675"/>
              <a:gd name="T55" fmla="*/ 18309 h 18310"/>
              <a:gd name="T56" fmla="*/ 3384 w 17675"/>
              <a:gd name="T57" fmla="*/ 18287 h 18310"/>
              <a:gd name="T58" fmla="*/ 4157 w 17675"/>
              <a:gd name="T59" fmla="*/ 18192 h 18310"/>
              <a:gd name="T60" fmla="*/ 5006 w 17675"/>
              <a:gd name="T61" fmla="*/ 18009 h 18310"/>
              <a:gd name="T62" fmla="*/ 6483 w 17675"/>
              <a:gd name="T63" fmla="*/ 17544 h 18310"/>
              <a:gd name="T64" fmla="*/ 7200 w 17675"/>
              <a:gd name="T65" fmla="*/ 17277 h 18310"/>
              <a:gd name="T66" fmla="*/ 8295 w 17675"/>
              <a:gd name="T67" fmla="*/ 16841 h 18310"/>
              <a:gd name="T68" fmla="*/ 8872 w 17675"/>
              <a:gd name="T69" fmla="*/ 16605 h 18310"/>
              <a:gd name="T70" fmla="*/ 9346 w 17675"/>
              <a:gd name="T71" fmla="*/ 16391 h 18310"/>
              <a:gd name="T72" fmla="*/ 10057 w 17675"/>
              <a:gd name="T73" fmla="*/ 16048 h 18310"/>
              <a:gd name="T74" fmla="*/ 10903 w 17675"/>
              <a:gd name="T75" fmla="*/ 15584 h 18310"/>
              <a:gd name="T76" fmla="*/ 11867 w 17675"/>
              <a:gd name="T77" fmla="*/ 14997 h 18310"/>
              <a:gd name="T78" fmla="*/ 12590 w 17675"/>
              <a:gd name="T79" fmla="*/ 14528 h 18310"/>
              <a:gd name="T80" fmla="*/ 13212 w 17675"/>
              <a:gd name="T81" fmla="*/ 14088 h 18310"/>
              <a:gd name="T82" fmla="*/ 14481 w 17675"/>
              <a:gd name="T83" fmla="*/ 13112 h 18310"/>
              <a:gd name="T84" fmla="*/ 14802 w 17675"/>
              <a:gd name="T85" fmla="*/ 12854 h 18310"/>
              <a:gd name="T86" fmla="*/ 15451 w 17675"/>
              <a:gd name="T87" fmla="*/ 12291 h 18310"/>
              <a:gd name="T88" fmla="*/ 15927 w 17675"/>
              <a:gd name="T89" fmla="*/ 11853 h 18310"/>
              <a:gd name="T90" fmla="*/ 16443 w 17675"/>
              <a:gd name="T91" fmla="*/ 11335 h 18310"/>
              <a:gd name="T92" fmla="*/ 16856 w 17675"/>
              <a:gd name="T93" fmla="*/ 10896 h 18310"/>
              <a:gd name="T94" fmla="*/ 17295 w 17675"/>
              <a:gd name="T95" fmla="*/ 10296 h 18310"/>
              <a:gd name="T96" fmla="*/ 17543 w 17675"/>
              <a:gd name="T97" fmla="*/ 9805 h 18310"/>
              <a:gd name="T98" fmla="*/ 17675 w 17675"/>
              <a:gd name="T99" fmla="*/ 9283 h 18310"/>
              <a:gd name="T100" fmla="*/ 17609 w 17675"/>
              <a:gd name="T101" fmla="*/ 8895 h 18310"/>
              <a:gd name="T102" fmla="*/ 17328 w 17675"/>
              <a:gd name="T103" fmla="*/ 8254 h 18310"/>
              <a:gd name="T104" fmla="*/ 16958 w 17675"/>
              <a:gd name="T105" fmla="*/ 7727 h 18310"/>
              <a:gd name="T106" fmla="*/ 16207 w 17675"/>
              <a:gd name="T107" fmla="*/ 6899 h 18310"/>
              <a:gd name="T108" fmla="*/ 14144 w 17675"/>
              <a:gd name="T109" fmla="*/ 5052 h 18310"/>
              <a:gd name="T110" fmla="*/ 13172 w 17675"/>
              <a:gd name="T111" fmla="*/ 4299 h 18310"/>
              <a:gd name="T112" fmla="*/ 12177 w 17675"/>
              <a:gd name="T113" fmla="*/ 3589 h 18310"/>
              <a:gd name="T114" fmla="*/ 11125 w 17675"/>
              <a:gd name="T115" fmla="*/ 2920 h 18310"/>
              <a:gd name="T116" fmla="*/ 10015 w 17675"/>
              <a:gd name="T117" fmla="*/ 2305 h 18310"/>
              <a:gd name="T118" fmla="*/ 9091 w 17675"/>
              <a:gd name="T119" fmla="*/ 1855 h 18310"/>
              <a:gd name="T120" fmla="*/ 8300 w 17675"/>
              <a:gd name="T121" fmla="*/ 1511 h 18310"/>
            </a:gdLst>
            <a:ahLst/>
            <a:cxnLst/>
            <a:rect l="0" t="0" r="r" b="b"/>
            <a:pathLst>
              <a:path w="17675" h="18310">
                <a:moveTo>
                  <a:pt x="8078" y="1426"/>
                </a:moveTo>
                <a:lnTo>
                  <a:pt x="8047" y="1409"/>
                </a:lnTo>
                <a:lnTo>
                  <a:pt x="8014" y="1392"/>
                </a:lnTo>
                <a:lnTo>
                  <a:pt x="7978" y="1376"/>
                </a:lnTo>
                <a:lnTo>
                  <a:pt x="7940" y="1360"/>
                </a:lnTo>
                <a:lnTo>
                  <a:pt x="7901" y="1345"/>
                </a:lnTo>
                <a:lnTo>
                  <a:pt x="7862" y="1330"/>
                </a:lnTo>
                <a:lnTo>
                  <a:pt x="7825" y="1315"/>
                </a:lnTo>
                <a:lnTo>
                  <a:pt x="7791" y="1301"/>
                </a:lnTo>
                <a:lnTo>
                  <a:pt x="7583" y="1213"/>
                </a:lnTo>
                <a:lnTo>
                  <a:pt x="7371" y="1125"/>
                </a:lnTo>
                <a:lnTo>
                  <a:pt x="7158" y="1038"/>
                </a:lnTo>
                <a:lnTo>
                  <a:pt x="6943" y="953"/>
                </a:lnTo>
                <a:lnTo>
                  <a:pt x="6836" y="911"/>
                </a:lnTo>
                <a:lnTo>
                  <a:pt x="6727" y="869"/>
                </a:lnTo>
                <a:lnTo>
                  <a:pt x="6618" y="827"/>
                </a:lnTo>
                <a:lnTo>
                  <a:pt x="6508" y="787"/>
                </a:lnTo>
                <a:lnTo>
                  <a:pt x="6400" y="747"/>
                </a:lnTo>
                <a:lnTo>
                  <a:pt x="6290" y="707"/>
                </a:lnTo>
                <a:lnTo>
                  <a:pt x="6180" y="668"/>
                </a:lnTo>
                <a:lnTo>
                  <a:pt x="6070" y="631"/>
                </a:lnTo>
                <a:lnTo>
                  <a:pt x="5959" y="593"/>
                </a:lnTo>
                <a:lnTo>
                  <a:pt x="5848" y="556"/>
                </a:lnTo>
                <a:lnTo>
                  <a:pt x="5737" y="521"/>
                </a:lnTo>
                <a:lnTo>
                  <a:pt x="5626" y="485"/>
                </a:lnTo>
                <a:lnTo>
                  <a:pt x="5515" y="451"/>
                </a:lnTo>
                <a:lnTo>
                  <a:pt x="5404" y="418"/>
                </a:lnTo>
                <a:lnTo>
                  <a:pt x="5292" y="386"/>
                </a:lnTo>
                <a:lnTo>
                  <a:pt x="5181" y="355"/>
                </a:lnTo>
                <a:lnTo>
                  <a:pt x="5069" y="324"/>
                </a:lnTo>
                <a:lnTo>
                  <a:pt x="4958" y="295"/>
                </a:lnTo>
                <a:lnTo>
                  <a:pt x="4846" y="267"/>
                </a:lnTo>
                <a:lnTo>
                  <a:pt x="4735" y="240"/>
                </a:lnTo>
                <a:lnTo>
                  <a:pt x="4623" y="215"/>
                </a:lnTo>
                <a:lnTo>
                  <a:pt x="4511" y="191"/>
                </a:lnTo>
                <a:lnTo>
                  <a:pt x="4400" y="168"/>
                </a:lnTo>
                <a:lnTo>
                  <a:pt x="4287" y="146"/>
                </a:lnTo>
                <a:lnTo>
                  <a:pt x="4234" y="136"/>
                </a:lnTo>
                <a:lnTo>
                  <a:pt x="4162" y="125"/>
                </a:lnTo>
                <a:lnTo>
                  <a:pt x="4075" y="112"/>
                </a:lnTo>
                <a:lnTo>
                  <a:pt x="3975" y="98"/>
                </a:lnTo>
                <a:lnTo>
                  <a:pt x="3865" y="84"/>
                </a:lnTo>
                <a:lnTo>
                  <a:pt x="3749" y="69"/>
                </a:lnTo>
                <a:lnTo>
                  <a:pt x="3627" y="54"/>
                </a:lnTo>
                <a:lnTo>
                  <a:pt x="3504" y="40"/>
                </a:lnTo>
                <a:lnTo>
                  <a:pt x="3381" y="27"/>
                </a:lnTo>
                <a:lnTo>
                  <a:pt x="3262" y="17"/>
                </a:lnTo>
                <a:lnTo>
                  <a:pt x="3148" y="8"/>
                </a:lnTo>
                <a:lnTo>
                  <a:pt x="3043" y="2"/>
                </a:lnTo>
                <a:lnTo>
                  <a:pt x="2994" y="1"/>
                </a:lnTo>
                <a:lnTo>
                  <a:pt x="2949" y="0"/>
                </a:lnTo>
                <a:lnTo>
                  <a:pt x="2908" y="0"/>
                </a:lnTo>
                <a:lnTo>
                  <a:pt x="2869" y="1"/>
                </a:lnTo>
                <a:lnTo>
                  <a:pt x="2834" y="3"/>
                </a:lnTo>
                <a:lnTo>
                  <a:pt x="2806" y="7"/>
                </a:lnTo>
                <a:lnTo>
                  <a:pt x="2780" y="11"/>
                </a:lnTo>
                <a:lnTo>
                  <a:pt x="2761" y="17"/>
                </a:lnTo>
                <a:lnTo>
                  <a:pt x="2724" y="19"/>
                </a:lnTo>
                <a:lnTo>
                  <a:pt x="2689" y="24"/>
                </a:lnTo>
                <a:lnTo>
                  <a:pt x="2655" y="29"/>
                </a:lnTo>
                <a:lnTo>
                  <a:pt x="2620" y="35"/>
                </a:lnTo>
                <a:lnTo>
                  <a:pt x="2586" y="43"/>
                </a:lnTo>
                <a:lnTo>
                  <a:pt x="2552" y="53"/>
                </a:lnTo>
                <a:lnTo>
                  <a:pt x="2518" y="63"/>
                </a:lnTo>
                <a:lnTo>
                  <a:pt x="2486" y="73"/>
                </a:lnTo>
                <a:lnTo>
                  <a:pt x="2454" y="85"/>
                </a:lnTo>
                <a:lnTo>
                  <a:pt x="2423" y="97"/>
                </a:lnTo>
                <a:lnTo>
                  <a:pt x="2393" y="111"/>
                </a:lnTo>
                <a:lnTo>
                  <a:pt x="2363" y="125"/>
                </a:lnTo>
                <a:lnTo>
                  <a:pt x="2333" y="138"/>
                </a:lnTo>
                <a:lnTo>
                  <a:pt x="2306" y="153"/>
                </a:lnTo>
                <a:lnTo>
                  <a:pt x="2278" y="169"/>
                </a:lnTo>
                <a:lnTo>
                  <a:pt x="2252" y="184"/>
                </a:lnTo>
                <a:lnTo>
                  <a:pt x="2218" y="205"/>
                </a:lnTo>
                <a:lnTo>
                  <a:pt x="2187" y="224"/>
                </a:lnTo>
                <a:lnTo>
                  <a:pt x="2158" y="244"/>
                </a:lnTo>
                <a:lnTo>
                  <a:pt x="2132" y="262"/>
                </a:lnTo>
                <a:lnTo>
                  <a:pt x="2108" y="280"/>
                </a:lnTo>
                <a:lnTo>
                  <a:pt x="2086" y="298"/>
                </a:lnTo>
                <a:lnTo>
                  <a:pt x="2065" y="315"/>
                </a:lnTo>
                <a:lnTo>
                  <a:pt x="2046" y="332"/>
                </a:lnTo>
                <a:lnTo>
                  <a:pt x="2007" y="367"/>
                </a:lnTo>
                <a:lnTo>
                  <a:pt x="1968" y="405"/>
                </a:lnTo>
                <a:lnTo>
                  <a:pt x="1927" y="446"/>
                </a:lnTo>
                <a:lnTo>
                  <a:pt x="1878" y="491"/>
                </a:lnTo>
                <a:lnTo>
                  <a:pt x="1866" y="504"/>
                </a:lnTo>
                <a:lnTo>
                  <a:pt x="1853" y="517"/>
                </a:lnTo>
                <a:lnTo>
                  <a:pt x="1838" y="533"/>
                </a:lnTo>
                <a:lnTo>
                  <a:pt x="1823" y="550"/>
                </a:lnTo>
                <a:lnTo>
                  <a:pt x="1790" y="592"/>
                </a:lnTo>
                <a:lnTo>
                  <a:pt x="1754" y="637"/>
                </a:lnTo>
                <a:lnTo>
                  <a:pt x="1717" y="689"/>
                </a:lnTo>
                <a:lnTo>
                  <a:pt x="1679" y="744"/>
                </a:lnTo>
                <a:lnTo>
                  <a:pt x="1639" y="802"/>
                </a:lnTo>
                <a:lnTo>
                  <a:pt x="1600" y="863"/>
                </a:lnTo>
                <a:lnTo>
                  <a:pt x="1561" y="926"/>
                </a:lnTo>
                <a:lnTo>
                  <a:pt x="1524" y="988"/>
                </a:lnTo>
                <a:lnTo>
                  <a:pt x="1488" y="1051"/>
                </a:lnTo>
                <a:lnTo>
                  <a:pt x="1454" y="1111"/>
                </a:lnTo>
                <a:lnTo>
                  <a:pt x="1425" y="1170"/>
                </a:lnTo>
                <a:lnTo>
                  <a:pt x="1398" y="1226"/>
                </a:lnTo>
                <a:lnTo>
                  <a:pt x="1387" y="1252"/>
                </a:lnTo>
                <a:lnTo>
                  <a:pt x="1377" y="1277"/>
                </a:lnTo>
                <a:lnTo>
                  <a:pt x="1367" y="1301"/>
                </a:lnTo>
                <a:lnTo>
                  <a:pt x="1359" y="1323"/>
                </a:lnTo>
                <a:lnTo>
                  <a:pt x="1340" y="1362"/>
                </a:lnTo>
                <a:lnTo>
                  <a:pt x="1320" y="1404"/>
                </a:lnTo>
                <a:lnTo>
                  <a:pt x="1300" y="1449"/>
                </a:lnTo>
                <a:lnTo>
                  <a:pt x="1280" y="1496"/>
                </a:lnTo>
                <a:lnTo>
                  <a:pt x="1261" y="1545"/>
                </a:lnTo>
                <a:lnTo>
                  <a:pt x="1241" y="1596"/>
                </a:lnTo>
                <a:lnTo>
                  <a:pt x="1222" y="1648"/>
                </a:lnTo>
                <a:lnTo>
                  <a:pt x="1204" y="1702"/>
                </a:lnTo>
                <a:lnTo>
                  <a:pt x="1167" y="1808"/>
                </a:lnTo>
                <a:lnTo>
                  <a:pt x="1133" y="1915"/>
                </a:lnTo>
                <a:lnTo>
                  <a:pt x="1101" y="2016"/>
                </a:lnTo>
                <a:lnTo>
                  <a:pt x="1071" y="2110"/>
                </a:lnTo>
                <a:lnTo>
                  <a:pt x="1055" y="2162"/>
                </a:lnTo>
                <a:lnTo>
                  <a:pt x="1039" y="2213"/>
                </a:lnTo>
                <a:lnTo>
                  <a:pt x="1023" y="2264"/>
                </a:lnTo>
                <a:lnTo>
                  <a:pt x="1008" y="2315"/>
                </a:lnTo>
                <a:lnTo>
                  <a:pt x="992" y="2367"/>
                </a:lnTo>
                <a:lnTo>
                  <a:pt x="976" y="2418"/>
                </a:lnTo>
                <a:lnTo>
                  <a:pt x="960" y="2471"/>
                </a:lnTo>
                <a:lnTo>
                  <a:pt x="944" y="2523"/>
                </a:lnTo>
                <a:lnTo>
                  <a:pt x="929" y="2573"/>
                </a:lnTo>
                <a:lnTo>
                  <a:pt x="913" y="2626"/>
                </a:lnTo>
                <a:lnTo>
                  <a:pt x="896" y="2682"/>
                </a:lnTo>
                <a:lnTo>
                  <a:pt x="880" y="2740"/>
                </a:lnTo>
                <a:lnTo>
                  <a:pt x="864" y="2797"/>
                </a:lnTo>
                <a:lnTo>
                  <a:pt x="849" y="2852"/>
                </a:lnTo>
                <a:lnTo>
                  <a:pt x="836" y="2906"/>
                </a:lnTo>
                <a:lnTo>
                  <a:pt x="827" y="2955"/>
                </a:lnTo>
                <a:lnTo>
                  <a:pt x="818" y="2977"/>
                </a:lnTo>
                <a:lnTo>
                  <a:pt x="809" y="3003"/>
                </a:lnTo>
                <a:lnTo>
                  <a:pt x="800" y="3033"/>
                </a:lnTo>
                <a:lnTo>
                  <a:pt x="790" y="3067"/>
                </a:lnTo>
                <a:lnTo>
                  <a:pt x="770" y="3142"/>
                </a:lnTo>
                <a:lnTo>
                  <a:pt x="749" y="3225"/>
                </a:lnTo>
                <a:lnTo>
                  <a:pt x="730" y="3310"/>
                </a:lnTo>
                <a:lnTo>
                  <a:pt x="712" y="3390"/>
                </a:lnTo>
                <a:lnTo>
                  <a:pt x="696" y="3461"/>
                </a:lnTo>
                <a:lnTo>
                  <a:pt x="683" y="3519"/>
                </a:lnTo>
                <a:lnTo>
                  <a:pt x="666" y="3593"/>
                </a:lnTo>
                <a:lnTo>
                  <a:pt x="649" y="3667"/>
                </a:lnTo>
                <a:lnTo>
                  <a:pt x="633" y="3740"/>
                </a:lnTo>
                <a:lnTo>
                  <a:pt x="617" y="3813"/>
                </a:lnTo>
                <a:lnTo>
                  <a:pt x="601" y="3886"/>
                </a:lnTo>
                <a:lnTo>
                  <a:pt x="585" y="3960"/>
                </a:lnTo>
                <a:lnTo>
                  <a:pt x="569" y="4033"/>
                </a:lnTo>
                <a:lnTo>
                  <a:pt x="553" y="4108"/>
                </a:lnTo>
                <a:lnTo>
                  <a:pt x="537" y="4182"/>
                </a:lnTo>
                <a:lnTo>
                  <a:pt x="522" y="4256"/>
                </a:lnTo>
                <a:lnTo>
                  <a:pt x="506" y="4330"/>
                </a:lnTo>
                <a:lnTo>
                  <a:pt x="491" y="4406"/>
                </a:lnTo>
                <a:lnTo>
                  <a:pt x="476" y="4483"/>
                </a:lnTo>
                <a:lnTo>
                  <a:pt x="461" y="4559"/>
                </a:lnTo>
                <a:lnTo>
                  <a:pt x="447" y="4636"/>
                </a:lnTo>
                <a:lnTo>
                  <a:pt x="433" y="4714"/>
                </a:lnTo>
                <a:lnTo>
                  <a:pt x="419" y="4791"/>
                </a:lnTo>
                <a:lnTo>
                  <a:pt x="405" y="4868"/>
                </a:lnTo>
                <a:lnTo>
                  <a:pt x="392" y="4946"/>
                </a:lnTo>
                <a:lnTo>
                  <a:pt x="380" y="5024"/>
                </a:lnTo>
                <a:lnTo>
                  <a:pt x="367" y="5100"/>
                </a:lnTo>
                <a:lnTo>
                  <a:pt x="356" y="5177"/>
                </a:lnTo>
                <a:lnTo>
                  <a:pt x="346" y="5253"/>
                </a:lnTo>
                <a:lnTo>
                  <a:pt x="335" y="5328"/>
                </a:lnTo>
                <a:lnTo>
                  <a:pt x="320" y="5442"/>
                </a:lnTo>
                <a:lnTo>
                  <a:pt x="304" y="5555"/>
                </a:lnTo>
                <a:lnTo>
                  <a:pt x="289" y="5668"/>
                </a:lnTo>
                <a:lnTo>
                  <a:pt x="275" y="5781"/>
                </a:lnTo>
                <a:lnTo>
                  <a:pt x="259" y="5896"/>
                </a:lnTo>
                <a:lnTo>
                  <a:pt x="244" y="6009"/>
                </a:lnTo>
                <a:lnTo>
                  <a:pt x="229" y="6124"/>
                </a:lnTo>
                <a:lnTo>
                  <a:pt x="214" y="6238"/>
                </a:lnTo>
                <a:lnTo>
                  <a:pt x="199" y="6352"/>
                </a:lnTo>
                <a:lnTo>
                  <a:pt x="185" y="6467"/>
                </a:lnTo>
                <a:lnTo>
                  <a:pt x="173" y="6581"/>
                </a:lnTo>
                <a:lnTo>
                  <a:pt x="160" y="6697"/>
                </a:lnTo>
                <a:lnTo>
                  <a:pt x="148" y="6811"/>
                </a:lnTo>
                <a:lnTo>
                  <a:pt x="137" y="6927"/>
                </a:lnTo>
                <a:lnTo>
                  <a:pt x="127" y="7042"/>
                </a:lnTo>
                <a:lnTo>
                  <a:pt x="119" y="7158"/>
                </a:lnTo>
                <a:lnTo>
                  <a:pt x="105" y="7319"/>
                </a:lnTo>
                <a:lnTo>
                  <a:pt x="92" y="7481"/>
                </a:lnTo>
                <a:lnTo>
                  <a:pt x="79" y="7643"/>
                </a:lnTo>
                <a:lnTo>
                  <a:pt x="65" y="7805"/>
                </a:lnTo>
                <a:lnTo>
                  <a:pt x="54" y="7967"/>
                </a:lnTo>
                <a:lnTo>
                  <a:pt x="42" y="8130"/>
                </a:lnTo>
                <a:lnTo>
                  <a:pt x="31" y="8293"/>
                </a:lnTo>
                <a:lnTo>
                  <a:pt x="22" y="8456"/>
                </a:lnTo>
                <a:lnTo>
                  <a:pt x="14" y="8619"/>
                </a:lnTo>
                <a:lnTo>
                  <a:pt x="8" y="8782"/>
                </a:lnTo>
                <a:lnTo>
                  <a:pt x="3" y="8946"/>
                </a:lnTo>
                <a:lnTo>
                  <a:pt x="0" y="9109"/>
                </a:lnTo>
                <a:lnTo>
                  <a:pt x="0" y="9190"/>
                </a:lnTo>
                <a:lnTo>
                  <a:pt x="0" y="9273"/>
                </a:lnTo>
                <a:lnTo>
                  <a:pt x="1" y="9354"/>
                </a:lnTo>
                <a:lnTo>
                  <a:pt x="2" y="9437"/>
                </a:lnTo>
                <a:lnTo>
                  <a:pt x="3" y="9518"/>
                </a:lnTo>
                <a:lnTo>
                  <a:pt x="7" y="9599"/>
                </a:lnTo>
                <a:lnTo>
                  <a:pt x="10" y="9681"/>
                </a:lnTo>
                <a:lnTo>
                  <a:pt x="14" y="9763"/>
                </a:lnTo>
                <a:lnTo>
                  <a:pt x="21" y="9885"/>
                </a:lnTo>
                <a:lnTo>
                  <a:pt x="27" y="10006"/>
                </a:lnTo>
                <a:lnTo>
                  <a:pt x="34" y="10128"/>
                </a:lnTo>
                <a:lnTo>
                  <a:pt x="41" y="10249"/>
                </a:lnTo>
                <a:lnTo>
                  <a:pt x="47" y="10369"/>
                </a:lnTo>
                <a:lnTo>
                  <a:pt x="54" y="10490"/>
                </a:lnTo>
                <a:lnTo>
                  <a:pt x="61" y="10611"/>
                </a:lnTo>
                <a:lnTo>
                  <a:pt x="68" y="10731"/>
                </a:lnTo>
                <a:lnTo>
                  <a:pt x="74" y="10851"/>
                </a:lnTo>
                <a:lnTo>
                  <a:pt x="82" y="10971"/>
                </a:lnTo>
                <a:lnTo>
                  <a:pt x="90" y="11091"/>
                </a:lnTo>
                <a:lnTo>
                  <a:pt x="98" y="11213"/>
                </a:lnTo>
                <a:lnTo>
                  <a:pt x="108" y="11333"/>
                </a:lnTo>
                <a:lnTo>
                  <a:pt x="117" y="11454"/>
                </a:lnTo>
                <a:lnTo>
                  <a:pt x="127" y="11575"/>
                </a:lnTo>
                <a:lnTo>
                  <a:pt x="138" y="11697"/>
                </a:lnTo>
                <a:lnTo>
                  <a:pt x="149" y="11811"/>
                </a:lnTo>
                <a:lnTo>
                  <a:pt x="160" y="11926"/>
                </a:lnTo>
                <a:lnTo>
                  <a:pt x="172" y="12040"/>
                </a:lnTo>
                <a:lnTo>
                  <a:pt x="184" y="12154"/>
                </a:lnTo>
                <a:lnTo>
                  <a:pt x="197" y="12269"/>
                </a:lnTo>
                <a:lnTo>
                  <a:pt x="209" y="12383"/>
                </a:lnTo>
                <a:lnTo>
                  <a:pt x="223" y="12498"/>
                </a:lnTo>
                <a:lnTo>
                  <a:pt x="237" y="12611"/>
                </a:lnTo>
                <a:lnTo>
                  <a:pt x="252" y="12725"/>
                </a:lnTo>
                <a:lnTo>
                  <a:pt x="267" y="12839"/>
                </a:lnTo>
                <a:lnTo>
                  <a:pt x="281" y="12953"/>
                </a:lnTo>
                <a:lnTo>
                  <a:pt x="298" y="13066"/>
                </a:lnTo>
                <a:lnTo>
                  <a:pt x="314" y="13180"/>
                </a:lnTo>
                <a:lnTo>
                  <a:pt x="331" y="13293"/>
                </a:lnTo>
                <a:lnTo>
                  <a:pt x="349" y="13406"/>
                </a:lnTo>
                <a:lnTo>
                  <a:pt x="366" y="13519"/>
                </a:lnTo>
                <a:lnTo>
                  <a:pt x="398" y="13707"/>
                </a:lnTo>
                <a:lnTo>
                  <a:pt x="433" y="13905"/>
                </a:lnTo>
                <a:lnTo>
                  <a:pt x="470" y="14110"/>
                </a:lnTo>
                <a:lnTo>
                  <a:pt x="511" y="14322"/>
                </a:lnTo>
                <a:lnTo>
                  <a:pt x="555" y="14538"/>
                </a:lnTo>
                <a:lnTo>
                  <a:pt x="602" y="14757"/>
                </a:lnTo>
                <a:lnTo>
                  <a:pt x="650" y="14979"/>
                </a:lnTo>
                <a:lnTo>
                  <a:pt x="701" y="15200"/>
                </a:lnTo>
                <a:lnTo>
                  <a:pt x="729" y="15311"/>
                </a:lnTo>
                <a:lnTo>
                  <a:pt x="755" y="15420"/>
                </a:lnTo>
                <a:lnTo>
                  <a:pt x="784" y="15530"/>
                </a:lnTo>
                <a:lnTo>
                  <a:pt x="811" y="15639"/>
                </a:lnTo>
                <a:lnTo>
                  <a:pt x="840" y="15747"/>
                </a:lnTo>
                <a:lnTo>
                  <a:pt x="870" y="15854"/>
                </a:lnTo>
                <a:lnTo>
                  <a:pt x="899" y="15959"/>
                </a:lnTo>
                <a:lnTo>
                  <a:pt x="929" y="16064"/>
                </a:lnTo>
                <a:lnTo>
                  <a:pt x="960" y="16165"/>
                </a:lnTo>
                <a:lnTo>
                  <a:pt x="991" y="16266"/>
                </a:lnTo>
                <a:lnTo>
                  <a:pt x="1022" y="16365"/>
                </a:lnTo>
                <a:lnTo>
                  <a:pt x="1054" y="16461"/>
                </a:lnTo>
                <a:lnTo>
                  <a:pt x="1086" y="16556"/>
                </a:lnTo>
                <a:lnTo>
                  <a:pt x="1119" y="16646"/>
                </a:lnTo>
                <a:lnTo>
                  <a:pt x="1152" y="16735"/>
                </a:lnTo>
                <a:lnTo>
                  <a:pt x="1185" y="16821"/>
                </a:lnTo>
                <a:lnTo>
                  <a:pt x="1225" y="16920"/>
                </a:lnTo>
                <a:lnTo>
                  <a:pt x="1267" y="17017"/>
                </a:lnTo>
                <a:lnTo>
                  <a:pt x="1288" y="17064"/>
                </a:lnTo>
                <a:lnTo>
                  <a:pt x="1310" y="17111"/>
                </a:lnTo>
                <a:lnTo>
                  <a:pt x="1332" y="17156"/>
                </a:lnTo>
                <a:lnTo>
                  <a:pt x="1354" y="17202"/>
                </a:lnTo>
                <a:lnTo>
                  <a:pt x="1377" y="17247"/>
                </a:lnTo>
                <a:lnTo>
                  <a:pt x="1399" y="17290"/>
                </a:lnTo>
                <a:lnTo>
                  <a:pt x="1423" y="17334"/>
                </a:lnTo>
                <a:lnTo>
                  <a:pt x="1447" y="17376"/>
                </a:lnTo>
                <a:lnTo>
                  <a:pt x="1471" y="17417"/>
                </a:lnTo>
                <a:lnTo>
                  <a:pt x="1496" y="17459"/>
                </a:lnTo>
                <a:lnTo>
                  <a:pt x="1521" y="17499"/>
                </a:lnTo>
                <a:lnTo>
                  <a:pt x="1546" y="17538"/>
                </a:lnTo>
                <a:lnTo>
                  <a:pt x="1572" y="17576"/>
                </a:lnTo>
                <a:lnTo>
                  <a:pt x="1598" y="17614"/>
                </a:lnTo>
                <a:lnTo>
                  <a:pt x="1625" y="17651"/>
                </a:lnTo>
                <a:lnTo>
                  <a:pt x="1652" y="17687"/>
                </a:lnTo>
                <a:lnTo>
                  <a:pt x="1680" y="17722"/>
                </a:lnTo>
                <a:lnTo>
                  <a:pt x="1707" y="17756"/>
                </a:lnTo>
                <a:lnTo>
                  <a:pt x="1736" y="17789"/>
                </a:lnTo>
                <a:lnTo>
                  <a:pt x="1764" y="17822"/>
                </a:lnTo>
                <a:lnTo>
                  <a:pt x="1794" y="17853"/>
                </a:lnTo>
                <a:lnTo>
                  <a:pt x="1824" y="17884"/>
                </a:lnTo>
                <a:lnTo>
                  <a:pt x="1854" y="17914"/>
                </a:lnTo>
                <a:lnTo>
                  <a:pt x="1885" y="17943"/>
                </a:lnTo>
                <a:lnTo>
                  <a:pt x="1917" y="17970"/>
                </a:lnTo>
                <a:lnTo>
                  <a:pt x="1947" y="17998"/>
                </a:lnTo>
                <a:lnTo>
                  <a:pt x="1980" y="18023"/>
                </a:lnTo>
                <a:lnTo>
                  <a:pt x="2013" y="18048"/>
                </a:lnTo>
                <a:lnTo>
                  <a:pt x="2052" y="18075"/>
                </a:lnTo>
                <a:lnTo>
                  <a:pt x="2091" y="18102"/>
                </a:lnTo>
                <a:lnTo>
                  <a:pt x="2132" y="18127"/>
                </a:lnTo>
                <a:lnTo>
                  <a:pt x="2173" y="18151"/>
                </a:lnTo>
                <a:lnTo>
                  <a:pt x="2215" y="18174"/>
                </a:lnTo>
                <a:lnTo>
                  <a:pt x="2259" y="18194"/>
                </a:lnTo>
                <a:lnTo>
                  <a:pt x="2303" y="18214"/>
                </a:lnTo>
                <a:lnTo>
                  <a:pt x="2349" y="18232"/>
                </a:lnTo>
                <a:lnTo>
                  <a:pt x="2397" y="18249"/>
                </a:lnTo>
                <a:lnTo>
                  <a:pt x="2446" y="18264"/>
                </a:lnTo>
                <a:lnTo>
                  <a:pt x="2497" y="18277"/>
                </a:lnTo>
                <a:lnTo>
                  <a:pt x="2549" y="18287"/>
                </a:lnTo>
                <a:lnTo>
                  <a:pt x="2576" y="18292"/>
                </a:lnTo>
                <a:lnTo>
                  <a:pt x="2603" y="18296"/>
                </a:lnTo>
                <a:lnTo>
                  <a:pt x="2631" y="18300"/>
                </a:lnTo>
                <a:lnTo>
                  <a:pt x="2658" y="18303"/>
                </a:lnTo>
                <a:lnTo>
                  <a:pt x="2687" y="18305"/>
                </a:lnTo>
                <a:lnTo>
                  <a:pt x="2716" y="18308"/>
                </a:lnTo>
                <a:lnTo>
                  <a:pt x="2745" y="18309"/>
                </a:lnTo>
                <a:lnTo>
                  <a:pt x="2776" y="18309"/>
                </a:lnTo>
                <a:lnTo>
                  <a:pt x="2835" y="18310"/>
                </a:lnTo>
                <a:lnTo>
                  <a:pt x="2896" y="18310"/>
                </a:lnTo>
                <a:lnTo>
                  <a:pt x="2957" y="18309"/>
                </a:lnTo>
                <a:lnTo>
                  <a:pt x="3017" y="18308"/>
                </a:lnTo>
                <a:lnTo>
                  <a:pt x="3079" y="18305"/>
                </a:lnTo>
                <a:lnTo>
                  <a:pt x="3140" y="18303"/>
                </a:lnTo>
                <a:lnTo>
                  <a:pt x="3200" y="18300"/>
                </a:lnTo>
                <a:lnTo>
                  <a:pt x="3262" y="18296"/>
                </a:lnTo>
                <a:lnTo>
                  <a:pt x="3323" y="18292"/>
                </a:lnTo>
                <a:lnTo>
                  <a:pt x="3384" y="18287"/>
                </a:lnTo>
                <a:lnTo>
                  <a:pt x="3444" y="18283"/>
                </a:lnTo>
                <a:lnTo>
                  <a:pt x="3505" y="18277"/>
                </a:lnTo>
                <a:lnTo>
                  <a:pt x="3565" y="18271"/>
                </a:lnTo>
                <a:lnTo>
                  <a:pt x="3625" y="18264"/>
                </a:lnTo>
                <a:lnTo>
                  <a:pt x="3686" y="18257"/>
                </a:lnTo>
                <a:lnTo>
                  <a:pt x="3745" y="18250"/>
                </a:lnTo>
                <a:lnTo>
                  <a:pt x="3829" y="18240"/>
                </a:lnTo>
                <a:lnTo>
                  <a:pt x="3912" y="18230"/>
                </a:lnTo>
                <a:lnTo>
                  <a:pt x="3995" y="18218"/>
                </a:lnTo>
                <a:lnTo>
                  <a:pt x="4076" y="18206"/>
                </a:lnTo>
                <a:lnTo>
                  <a:pt x="4157" y="18192"/>
                </a:lnTo>
                <a:lnTo>
                  <a:pt x="4236" y="18178"/>
                </a:lnTo>
                <a:lnTo>
                  <a:pt x="4316" y="18165"/>
                </a:lnTo>
                <a:lnTo>
                  <a:pt x="4395" y="18150"/>
                </a:lnTo>
                <a:lnTo>
                  <a:pt x="4473" y="18134"/>
                </a:lnTo>
                <a:lnTo>
                  <a:pt x="4549" y="18118"/>
                </a:lnTo>
                <a:lnTo>
                  <a:pt x="4627" y="18101"/>
                </a:lnTo>
                <a:lnTo>
                  <a:pt x="4704" y="18083"/>
                </a:lnTo>
                <a:lnTo>
                  <a:pt x="4779" y="18066"/>
                </a:lnTo>
                <a:lnTo>
                  <a:pt x="4855" y="18048"/>
                </a:lnTo>
                <a:lnTo>
                  <a:pt x="4931" y="18028"/>
                </a:lnTo>
                <a:lnTo>
                  <a:pt x="5006" y="18009"/>
                </a:lnTo>
                <a:lnTo>
                  <a:pt x="5156" y="17969"/>
                </a:lnTo>
                <a:lnTo>
                  <a:pt x="5305" y="17927"/>
                </a:lnTo>
                <a:lnTo>
                  <a:pt x="5455" y="17882"/>
                </a:lnTo>
                <a:lnTo>
                  <a:pt x="5603" y="17836"/>
                </a:lnTo>
                <a:lnTo>
                  <a:pt x="5753" y="17789"/>
                </a:lnTo>
                <a:lnTo>
                  <a:pt x="5904" y="17741"/>
                </a:lnTo>
                <a:lnTo>
                  <a:pt x="6056" y="17691"/>
                </a:lnTo>
                <a:lnTo>
                  <a:pt x="6211" y="17639"/>
                </a:lnTo>
                <a:lnTo>
                  <a:pt x="6273" y="17619"/>
                </a:lnTo>
                <a:lnTo>
                  <a:pt x="6368" y="17586"/>
                </a:lnTo>
                <a:lnTo>
                  <a:pt x="6483" y="17544"/>
                </a:lnTo>
                <a:lnTo>
                  <a:pt x="6608" y="17501"/>
                </a:lnTo>
                <a:lnTo>
                  <a:pt x="6729" y="17456"/>
                </a:lnTo>
                <a:lnTo>
                  <a:pt x="6837" y="17415"/>
                </a:lnTo>
                <a:lnTo>
                  <a:pt x="6881" y="17398"/>
                </a:lnTo>
                <a:lnTo>
                  <a:pt x="6917" y="17382"/>
                </a:lnTo>
                <a:lnTo>
                  <a:pt x="6943" y="17369"/>
                </a:lnTo>
                <a:lnTo>
                  <a:pt x="6959" y="17361"/>
                </a:lnTo>
                <a:lnTo>
                  <a:pt x="6994" y="17351"/>
                </a:lnTo>
                <a:lnTo>
                  <a:pt x="7046" y="17333"/>
                </a:lnTo>
                <a:lnTo>
                  <a:pt x="7116" y="17308"/>
                </a:lnTo>
                <a:lnTo>
                  <a:pt x="7200" y="17277"/>
                </a:lnTo>
                <a:lnTo>
                  <a:pt x="7294" y="17240"/>
                </a:lnTo>
                <a:lnTo>
                  <a:pt x="7397" y="17200"/>
                </a:lnTo>
                <a:lnTo>
                  <a:pt x="7507" y="17156"/>
                </a:lnTo>
                <a:lnTo>
                  <a:pt x="7621" y="17112"/>
                </a:lnTo>
                <a:lnTo>
                  <a:pt x="7734" y="17066"/>
                </a:lnTo>
                <a:lnTo>
                  <a:pt x="7846" y="17021"/>
                </a:lnTo>
                <a:lnTo>
                  <a:pt x="7955" y="16977"/>
                </a:lnTo>
                <a:lnTo>
                  <a:pt x="8057" y="16937"/>
                </a:lnTo>
                <a:lnTo>
                  <a:pt x="8148" y="16899"/>
                </a:lnTo>
                <a:lnTo>
                  <a:pt x="8228" y="16867"/>
                </a:lnTo>
                <a:lnTo>
                  <a:pt x="8295" y="16841"/>
                </a:lnTo>
                <a:lnTo>
                  <a:pt x="8344" y="16821"/>
                </a:lnTo>
                <a:lnTo>
                  <a:pt x="8396" y="16799"/>
                </a:lnTo>
                <a:lnTo>
                  <a:pt x="8454" y="16778"/>
                </a:lnTo>
                <a:lnTo>
                  <a:pt x="8513" y="16755"/>
                </a:lnTo>
                <a:lnTo>
                  <a:pt x="8574" y="16731"/>
                </a:lnTo>
                <a:lnTo>
                  <a:pt x="8633" y="16707"/>
                </a:lnTo>
                <a:lnTo>
                  <a:pt x="8690" y="16682"/>
                </a:lnTo>
                <a:lnTo>
                  <a:pt x="8744" y="16658"/>
                </a:lnTo>
                <a:lnTo>
                  <a:pt x="8792" y="16633"/>
                </a:lnTo>
                <a:lnTo>
                  <a:pt x="8829" y="16621"/>
                </a:lnTo>
                <a:lnTo>
                  <a:pt x="8872" y="16605"/>
                </a:lnTo>
                <a:lnTo>
                  <a:pt x="8918" y="16587"/>
                </a:lnTo>
                <a:lnTo>
                  <a:pt x="8965" y="16565"/>
                </a:lnTo>
                <a:lnTo>
                  <a:pt x="9013" y="16543"/>
                </a:lnTo>
                <a:lnTo>
                  <a:pt x="9059" y="16522"/>
                </a:lnTo>
                <a:lnTo>
                  <a:pt x="9100" y="16502"/>
                </a:lnTo>
                <a:lnTo>
                  <a:pt x="9137" y="16485"/>
                </a:lnTo>
                <a:lnTo>
                  <a:pt x="9178" y="16465"/>
                </a:lnTo>
                <a:lnTo>
                  <a:pt x="9220" y="16447"/>
                </a:lnTo>
                <a:lnTo>
                  <a:pt x="9263" y="16429"/>
                </a:lnTo>
                <a:lnTo>
                  <a:pt x="9304" y="16409"/>
                </a:lnTo>
                <a:lnTo>
                  <a:pt x="9346" y="16391"/>
                </a:lnTo>
                <a:lnTo>
                  <a:pt x="9388" y="16371"/>
                </a:lnTo>
                <a:lnTo>
                  <a:pt x="9430" y="16352"/>
                </a:lnTo>
                <a:lnTo>
                  <a:pt x="9471" y="16331"/>
                </a:lnTo>
                <a:lnTo>
                  <a:pt x="9550" y="16292"/>
                </a:lnTo>
                <a:lnTo>
                  <a:pt x="9633" y="16254"/>
                </a:lnTo>
                <a:lnTo>
                  <a:pt x="9720" y="16214"/>
                </a:lnTo>
                <a:lnTo>
                  <a:pt x="9807" y="16173"/>
                </a:lnTo>
                <a:lnTo>
                  <a:pt x="9894" y="16132"/>
                </a:lnTo>
                <a:lnTo>
                  <a:pt x="9978" y="16091"/>
                </a:lnTo>
                <a:lnTo>
                  <a:pt x="10018" y="16069"/>
                </a:lnTo>
                <a:lnTo>
                  <a:pt x="10057" y="16048"/>
                </a:lnTo>
                <a:lnTo>
                  <a:pt x="10093" y="16026"/>
                </a:lnTo>
                <a:lnTo>
                  <a:pt x="10129" y="16004"/>
                </a:lnTo>
                <a:lnTo>
                  <a:pt x="10153" y="15994"/>
                </a:lnTo>
                <a:lnTo>
                  <a:pt x="10184" y="15979"/>
                </a:lnTo>
                <a:lnTo>
                  <a:pt x="10220" y="15962"/>
                </a:lnTo>
                <a:lnTo>
                  <a:pt x="10263" y="15939"/>
                </a:lnTo>
                <a:lnTo>
                  <a:pt x="10363" y="15886"/>
                </a:lnTo>
                <a:lnTo>
                  <a:pt x="10482" y="15821"/>
                </a:lnTo>
                <a:lnTo>
                  <a:pt x="10614" y="15748"/>
                </a:lnTo>
                <a:lnTo>
                  <a:pt x="10756" y="15669"/>
                </a:lnTo>
                <a:lnTo>
                  <a:pt x="10903" y="15584"/>
                </a:lnTo>
                <a:lnTo>
                  <a:pt x="11053" y="15498"/>
                </a:lnTo>
                <a:lnTo>
                  <a:pt x="11202" y="15411"/>
                </a:lnTo>
                <a:lnTo>
                  <a:pt x="11344" y="15328"/>
                </a:lnTo>
                <a:lnTo>
                  <a:pt x="11477" y="15249"/>
                </a:lnTo>
                <a:lnTo>
                  <a:pt x="11597" y="15176"/>
                </a:lnTo>
                <a:lnTo>
                  <a:pt x="11700" y="15111"/>
                </a:lnTo>
                <a:lnTo>
                  <a:pt x="11781" y="15060"/>
                </a:lnTo>
                <a:lnTo>
                  <a:pt x="11813" y="15038"/>
                </a:lnTo>
                <a:lnTo>
                  <a:pt x="11838" y="15021"/>
                </a:lnTo>
                <a:lnTo>
                  <a:pt x="11857" y="15007"/>
                </a:lnTo>
                <a:lnTo>
                  <a:pt x="11867" y="14997"/>
                </a:lnTo>
                <a:lnTo>
                  <a:pt x="11879" y="14991"/>
                </a:lnTo>
                <a:lnTo>
                  <a:pt x="11898" y="14982"/>
                </a:lnTo>
                <a:lnTo>
                  <a:pt x="11919" y="14970"/>
                </a:lnTo>
                <a:lnTo>
                  <a:pt x="11947" y="14954"/>
                </a:lnTo>
                <a:lnTo>
                  <a:pt x="12012" y="14913"/>
                </a:lnTo>
                <a:lnTo>
                  <a:pt x="12090" y="14864"/>
                </a:lnTo>
                <a:lnTo>
                  <a:pt x="12179" y="14806"/>
                </a:lnTo>
                <a:lnTo>
                  <a:pt x="12276" y="14741"/>
                </a:lnTo>
                <a:lnTo>
                  <a:pt x="12379" y="14672"/>
                </a:lnTo>
                <a:lnTo>
                  <a:pt x="12485" y="14600"/>
                </a:lnTo>
                <a:lnTo>
                  <a:pt x="12590" y="14528"/>
                </a:lnTo>
                <a:lnTo>
                  <a:pt x="12694" y="14457"/>
                </a:lnTo>
                <a:lnTo>
                  <a:pt x="12791" y="14388"/>
                </a:lnTo>
                <a:lnTo>
                  <a:pt x="12883" y="14324"/>
                </a:lnTo>
                <a:lnTo>
                  <a:pt x="12963" y="14267"/>
                </a:lnTo>
                <a:lnTo>
                  <a:pt x="13031" y="14218"/>
                </a:lnTo>
                <a:lnTo>
                  <a:pt x="13083" y="14179"/>
                </a:lnTo>
                <a:lnTo>
                  <a:pt x="13116" y="14152"/>
                </a:lnTo>
                <a:lnTo>
                  <a:pt x="13131" y="14143"/>
                </a:lnTo>
                <a:lnTo>
                  <a:pt x="13152" y="14131"/>
                </a:lnTo>
                <a:lnTo>
                  <a:pt x="13179" y="14112"/>
                </a:lnTo>
                <a:lnTo>
                  <a:pt x="13212" y="14088"/>
                </a:lnTo>
                <a:lnTo>
                  <a:pt x="13294" y="14030"/>
                </a:lnTo>
                <a:lnTo>
                  <a:pt x="13392" y="13958"/>
                </a:lnTo>
                <a:lnTo>
                  <a:pt x="13505" y="13873"/>
                </a:lnTo>
                <a:lnTo>
                  <a:pt x="13628" y="13779"/>
                </a:lnTo>
                <a:lnTo>
                  <a:pt x="13758" y="13680"/>
                </a:lnTo>
                <a:lnTo>
                  <a:pt x="13891" y="13578"/>
                </a:lnTo>
                <a:lnTo>
                  <a:pt x="14024" y="13475"/>
                </a:lnTo>
                <a:lnTo>
                  <a:pt x="14153" y="13374"/>
                </a:lnTo>
                <a:lnTo>
                  <a:pt x="14274" y="13278"/>
                </a:lnTo>
                <a:lnTo>
                  <a:pt x="14385" y="13190"/>
                </a:lnTo>
                <a:lnTo>
                  <a:pt x="14481" y="13112"/>
                </a:lnTo>
                <a:lnTo>
                  <a:pt x="14559" y="13048"/>
                </a:lnTo>
                <a:lnTo>
                  <a:pt x="14590" y="13022"/>
                </a:lnTo>
                <a:lnTo>
                  <a:pt x="14615" y="13000"/>
                </a:lnTo>
                <a:lnTo>
                  <a:pt x="14634" y="12982"/>
                </a:lnTo>
                <a:lnTo>
                  <a:pt x="14645" y="12970"/>
                </a:lnTo>
                <a:lnTo>
                  <a:pt x="14658" y="12963"/>
                </a:lnTo>
                <a:lnTo>
                  <a:pt x="14673" y="12954"/>
                </a:lnTo>
                <a:lnTo>
                  <a:pt x="14690" y="12942"/>
                </a:lnTo>
                <a:lnTo>
                  <a:pt x="14708" y="12928"/>
                </a:lnTo>
                <a:lnTo>
                  <a:pt x="14751" y="12895"/>
                </a:lnTo>
                <a:lnTo>
                  <a:pt x="14802" y="12854"/>
                </a:lnTo>
                <a:lnTo>
                  <a:pt x="14857" y="12807"/>
                </a:lnTo>
                <a:lnTo>
                  <a:pt x="14917" y="12756"/>
                </a:lnTo>
                <a:lnTo>
                  <a:pt x="14979" y="12701"/>
                </a:lnTo>
                <a:lnTo>
                  <a:pt x="15044" y="12645"/>
                </a:lnTo>
                <a:lnTo>
                  <a:pt x="15110" y="12587"/>
                </a:lnTo>
                <a:lnTo>
                  <a:pt x="15175" y="12530"/>
                </a:lnTo>
                <a:lnTo>
                  <a:pt x="15238" y="12475"/>
                </a:lnTo>
                <a:lnTo>
                  <a:pt x="15298" y="12421"/>
                </a:lnTo>
                <a:lnTo>
                  <a:pt x="15354" y="12372"/>
                </a:lnTo>
                <a:lnTo>
                  <a:pt x="15405" y="12328"/>
                </a:lnTo>
                <a:lnTo>
                  <a:pt x="15451" y="12291"/>
                </a:lnTo>
                <a:lnTo>
                  <a:pt x="15487" y="12261"/>
                </a:lnTo>
                <a:lnTo>
                  <a:pt x="15508" y="12245"/>
                </a:lnTo>
                <a:lnTo>
                  <a:pt x="15520" y="12233"/>
                </a:lnTo>
                <a:lnTo>
                  <a:pt x="15534" y="12220"/>
                </a:lnTo>
                <a:lnTo>
                  <a:pt x="15555" y="12200"/>
                </a:lnTo>
                <a:lnTo>
                  <a:pt x="15765" y="12013"/>
                </a:lnTo>
                <a:lnTo>
                  <a:pt x="15798" y="11979"/>
                </a:lnTo>
                <a:lnTo>
                  <a:pt x="15830" y="11947"/>
                </a:lnTo>
                <a:lnTo>
                  <a:pt x="15863" y="11915"/>
                </a:lnTo>
                <a:lnTo>
                  <a:pt x="15895" y="11884"/>
                </a:lnTo>
                <a:lnTo>
                  <a:pt x="15927" y="11853"/>
                </a:lnTo>
                <a:lnTo>
                  <a:pt x="15959" y="11823"/>
                </a:lnTo>
                <a:lnTo>
                  <a:pt x="15992" y="11790"/>
                </a:lnTo>
                <a:lnTo>
                  <a:pt x="16025" y="11758"/>
                </a:lnTo>
                <a:lnTo>
                  <a:pt x="16052" y="11733"/>
                </a:lnTo>
                <a:lnTo>
                  <a:pt x="16089" y="11696"/>
                </a:lnTo>
                <a:lnTo>
                  <a:pt x="16136" y="11649"/>
                </a:lnTo>
                <a:lnTo>
                  <a:pt x="16190" y="11595"/>
                </a:lnTo>
                <a:lnTo>
                  <a:pt x="16248" y="11535"/>
                </a:lnTo>
                <a:lnTo>
                  <a:pt x="16311" y="11470"/>
                </a:lnTo>
                <a:lnTo>
                  <a:pt x="16377" y="11403"/>
                </a:lnTo>
                <a:lnTo>
                  <a:pt x="16443" y="11335"/>
                </a:lnTo>
                <a:lnTo>
                  <a:pt x="16508" y="11268"/>
                </a:lnTo>
                <a:lnTo>
                  <a:pt x="16571" y="11202"/>
                </a:lnTo>
                <a:lnTo>
                  <a:pt x="16629" y="11140"/>
                </a:lnTo>
                <a:lnTo>
                  <a:pt x="16681" y="11084"/>
                </a:lnTo>
                <a:lnTo>
                  <a:pt x="16726" y="11036"/>
                </a:lnTo>
                <a:lnTo>
                  <a:pt x="16761" y="10997"/>
                </a:lnTo>
                <a:lnTo>
                  <a:pt x="16786" y="10969"/>
                </a:lnTo>
                <a:lnTo>
                  <a:pt x="16797" y="10953"/>
                </a:lnTo>
                <a:lnTo>
                  <a:pt x="16818" y="10935"/>
                </a:lnTo>
                <a:lnTo>
                  <a:pt x="16837" y="10915"/>
                </a:lnTo>
                <a:lnTo>
                  <a:pt x="16856" y="10896"/>
                </a:lnTo>
                <a:lnTo>
                  <a:pt x="16874" y="10875"/>
                </a:lnTo>
                <a:lnTo>
                  <a:pt x="16908" y="10833"/>
                </a:lnTo>
                <a:lnTo>
                  <a:pt x="16943" y="10789"/>
                </a:lnTo>
                <a:lnTo>
                  <a:pt x="17006" y="10707"/>
                </a:lnTo>
                <a:lnTo>
                  <a:pt x="17067" y="10626"/>
                </a:lnTo>
                <a:lnTo>
                  <a:pt x="17128" y="10543"/>
                </a:lnTo>
                <a:lnTo>
                  <a:pt x="17185" y="10462"/>
                </a:lnTo>
                <a:lnTo>
                  <a:pt x="17214" y="10421"/>
                </a:lnTo>
                <a:lnTo>
                  <a:pt x="17241" y="10379"/>
                </a:lnTo>
                <a:lnTo>
                  <a:pt x="17269" y="10337"/>
                </a:lnTo>
                <a:lnTo>
                  <a:pt x="17295" y="10296"/>
                </a:lnTo>
                <a:lnTo>
                  <a:pt x="17321" y="10254"/>
                </a:lnTo>
                <a:lnTo>
                  <a:pt x="17347" y="10211"/>
                </a:lnTo>
                <a:lnTo>
                  <a:pt x="17372" y="10169"/>
                </a:lnTo>
                <a:lnTo>
                  <a:pt x="17396" y="10125"/>
                </a:lnTo>
                <a:lnTo>
                  <a:pt x="17419" y="10081"/>
                </a:lnTo>
                <a:lnTo>
                  <a:pt x="17442" y="10037"/>
                </a:lnTo>
                <a:lnTo>
                  <a:pt x="17463" y="9992"/>
                </a:lnTo>
                <a:lnTo>
                  <a:pt x="17485" y="9946"/>
                </a:lnTo>
                <a:lnTo>
                  <a:pt x="17505" y="9900"/>
                </a:lnTo>
                <a:lnTo>
                  <a:pt x="17524" y="9853"/>
                </a:lnTo>
                <a:lnTo>
                  <a:pt x="17543" y="9805"/>
                </a:lnTo>
                <a:lnTo>
                  <a:pt x="17561" y="9757"/>
                </a:lnTo>
                <a:lnTo>
                  <a:pt x="17578" y="9708"/>
                </a:lnTo>
                <a:lnTo>
                  <a:pt x="17594" y="9657"/>
                </a:lnTo>
                <a:lnTo>
                  <a:pt x="17609" y="9606"/>
                </a:lnTo>
                <a:lnTo>
                  <a:pt x="17622" y="9553"/>
                </a:lnTo>
                <a:lnTo>
                  <a:pt x="17636" y="9501"/>
                </a:lnTo>
                <a:lnTo>
                  <a:pt x="17648" y="9446"/>
                </a:lnTo>
                <a:lnTo>
                  <a:pt x="17659" y="9391"/>
                </a:lnTo>
                <a:lnTo>
                  <a:pt x="17669" y="9334"/>
                </a:lnTo>
                <a:lnTo>
                  <a:pt x="17673" y="9309"/>
                </a:lnTo>
                <a:lnTo>
                  <a:pt x="17675" y="9283"/>
                </a:lnTo>
                <a:lnTo>
                  <a:pt x="17675" y="9255"/>
                </a:lnTo>
                <a:lnTo>
                  <a:pt x="17674" y="9226"/>
                </a:lnTo>
                <a:lnTo>
                  <a:pt x="17672" y="9196"/>
                </a:lnTo>
                <a:lnTo>
                  <a:pt x="17669" y="9165"/>
                </a:lnTo>
                <a:lnTo>
                  <a:pt x="17665" y="9133"/>
                </a:lnTo>
                <a:lnTo>
                  <a:pt x="17659" y="9101"/>
                </a:lnTo>
                <a:lnTo>
                  <a:pt x="17653" y="9068"/>
                </a:lnTo>
                <a:lnTo>
                  <a:pt x="17645" y="9034"/>
                </a:lnTo>
                <a:lnTo>
                  <a:pt x="17637" y="8999"/>
                </a:lnTo>
                <a:lnTo>
                  <a:pt x="17629" y="8965"/>
                </a:lnTo>
                <a:lnTo>
                  <a:pt x="17609" y="8895"/>
                </a:lnTo>
                <a:lnTo>
                  <a:pt x="17587" y="8825"/>
                </a:lnTo>
                <a:lnTo>
                  <a:pt x="17563" y="8757"/>
                </a:lnTo>
                <a:lnTo>
                  <a:pt x="17539" y="8689"/>
                </a:lnTo>
                <a:lnTo>
                  <a:pt x="17513" y="8624"/>
                </a:lnTo>
                <a:lnTo>
                  <a:pt x="17487" y="8563"/>
                </a:lnTo>
                <a:lnTo>
                  <a:pt x="17462" y="8506"/>
                </a:lnTo>
                <a:lnTo>
                  <a:pt x="17437" y="8455"/>
                </a:lnTo>
                <a:lnTo>
                  <a:pt x="17415" y="8408"/>
                </a:lnTo>
                <a:lnTo>
                  <a:pt x="17394" y="8369"/>
                </a:lnTo>
                <a:lnTo>
                  <a:pt x="17360" y="8310"/>
                </a:lnTo>
                <a:lnTo>
                  <a:pt x="17328" y="8254"/>
                </a:lnTo>
                <a:lnTo>
                  <a:pt x="17297" y="8203"/>
                </a:lnTo>
                <a:lnTo>
                  <a:pt x="17268" y="8155"/>
                </a:lnTo>
                <a:lnTo>
                  <a:pt x="17239" y="8109"/>
                </a:lnTo>
                <a:lnTo>
                  <a:pt x="17210" y="8066"/>
                </a:lnTo>
                <a:lnTo>
                  <a:pt x="17182" y="8023"/>
                </a:lnTo>
                <a:lnTo>
                  <a:pt x="17153" y="7981"/>
                </a:lnTo>
                <a:lnTo>
                  <a:pt x="17123" y="7941"/>
                </a:lnTo>
                <a:lnTo>
                  <a:pt x="17093" y="7900"/>
                </a:lnTo>
                <a:lnTo>
                  <a:pt x="17062" y="7858"/>
                </a:lnTo>
                <a:lnTo>
                  <a:pt x="17029" y="7816"/>
                </a:lnTo>
                <a:lnTo>
                  <a:pt x="16958" y="7727"/>
                </a:lnTo>
                <a:lnTo>
                  <a:pt x="16877" y="7627"/>
                </a:lnTo>
                <a:lnTo>
                  <a:pt x="16843" y="7585"/>
                </a:lnTo>
                <a:lnTo>
                  <a:pt x="16805" y="7540"/>
                </a:lnTo>
                <a:lnTo>
                  <a:pt x="16766" y="7493"/>
                </a:lnTo>
                <a:lnTo>
                  <a:pt x="16725" y="7446"/>
                </a:lnTo>
                <a:lnTo>
                  <a:pt x="16641" y="7350"/>
                </a:lnTo>
                <a:lnTo>
                  <a:pt x="16551" y="7253"/>
                </a:lnTo>
                <a:lnTo>
                  <a:pt x="16462" y="7157"/>
                </a:lnTo>
                <a:lnTo>
                  <a:pt x="16373" y="7065"/>
                </a:lnTo>
                <a:lnTo>
                  <a:pt x="16287" y="6978"/>
                </a:lnTo>
                <a:lnTo>
                  <a:pt x="16207" y="6899"/>
                </a:lnTo>
                <a:lnTo>
                  <a:pt x="16179" y="6872"/>
                </a:lnTo>
                <a:lnTo>
                  <a:pt x="16153" y="6842"/>
                </a:lnTo>
                <a:lnTo>
                  <a:pt x="16127" y="6811"/>
                </a:lnTo>
                <a:lnTo>
                  <a:pt x="16099" y="6779"/>
                </a:lnTo>
                <a:lnTo>
                  <a:pt x="16071" y="6747"/>
                </a:lnTo>
                <a:lnTo>
                  <a:pt x="16042" y="6715"/>
                </a:lnTo>
                <a:lnTo>
                  <a:pt x="16011" y="6683"/>
                </a:lnTo>
                <a:lnTo>
                  <a:pt x="15979" y="6652"/>
                </a:lnTo>
                <a:lnTo>
                  <a:pt x="14313" y="5186"/>
                </a:lnTo>
                <a:lnTo>
                  <a:pt x="14230" y="5121"/>
                </a:lnTo>
                <a:lnTo>
                  <a:pt x="14144" y="5052"/>
                </a:lnTo>
                <a:lnTo>
                  <a:pt x="14058" y="4981"/>
                </a:lnTo>
                <a:lnTo>
                  <a:pt x="13972" y="4911"/>
                </a:lnTo>
                <a:lnTo>
                  <a:pt x="13885" y="4840"/>
                </a:lnTo>
                <a:lnTo>
                  <a:pt x="13797" y="4769"/>
                </a:lnTo>
                <a:lnTo>
                  <a:pt x="13709" y="4700"/>
                </a:lnTo>
                <a:lnTo>
                  <a:pt x="13622" y="4634"/>
                </a:lnTo>
                <a:lnTo>
                  <a:pt x="13528" y="4565"/>
                </a:lnTo>
                <a:lnTo>
                  <a:pt x="13437" y="4496"/>
                </a:lnTo>
                <a:lnTo>
                  <a:pt x="13348" y="4430"/>
                </a:lnTo>
                <a:lnTo>
                  <a:pt x="13259" y="4364"/>
                </a:lnTo>
                <a:lnTo>
                  <a:pt x="13172" y="4299"/>
                </a:lnTo>
                <a:lnTo>
                  <a:pt x="13085" y="4234"/>
                </a:lnTo>
                <a:lnTo>
                  <a:pt x="12999" y="4170"/>
                </a:lnTo>
                <a:lnTo>
                  <a:pt x="12913" y="4107"/>
                </a:lnTo>
                <a:lnTo>
                  <a:pt x="12826" y="4043"/>
                </a:lnTo>
                <a:lnTo>
                  <a:pt x="12738" y="3980"/>
                </a:lnTo>
                <a:lnTo>
                  <a:pt x="12650" y="3916"/>
                </a:lnTo>
                <a:lnTo>
                  <a:pt x="12559" y="3852"/>
                </a:lnTo>
                <a:lnTo>
                  <a:pt x="12468" y="3787"/>
                </a:lnTo>
                <a:lnTo>
                  <a:pt x="12373" y="3722"/>
                </a:lnTo>
                <a:lnTo>
                  <a:pt x="12276" y="3655"/>
                </a:lnTo>
                <a:lnTo>
                  <a:pt x="12177" y="3589"/>
                </a:lnTo>
                <a:lnTo>
                  <a:pt x="12083" y="3525"/>
                </a:lnTo>
                <a:lnTo>
                  <a:pt x="11988" y="3463"/>
                </a:lnTo>
                <a:lnTo>
                  <a:pt x="11893" y="3402"/>
                </a:lnTo>
                <a:lnTo>
                  <a:pt x="11798" y="3340"/>
                </a:lnTo>
                <a:lnTo>
                  <a:pt x="11702" y="3280"/>
                </a:lnTo>
                <a:lnTo>
                  <a:pt x="11606" y="3219"/>
                </a:lnTo>
                <a:lnTo>
                  <a:pt x="11509" y="3158"/>
                </a:lnTo>
                <a:lnTo>
                  <a:pt x="11411" y="3097"/>
                </a:lnTo>
                <a:lnTo>
                  <a:pt x="11318" y="3037"/>
                </a:lnTo>
                <a:lnTo>
                  <a:pt x="11222" y="2979"/>
                </a:lnTo>
                <a:lnTo>
                  <a:pt x="11125" y="2920"/>
                </a:lnTo>
                <a:lnTo>
                  <a:pt x="11028" y="2863"/>
                </a:lnTo>
                <a:lnTo>
                  <a:pt x="10930" y="2806"/>
                </a:lnTo>
                <a:lnTo>
                  <a:pt x="10831" y="2749"/>
                </a:lnTo>
                <a:lnTo>
                  <a:pt x="10732" y="2692"/>
                </a:lnTo>
                <a:lnTo>
                  <a:pt x="10631" y="2635"/>
                </a:lnTo>
                <a:lnTo>
                  <a:pt x="10529" y="2579"/>
                </a:lnTo>
                <a:lnTo>
                  <a:pt x="10427" y="2523"/>
                </a:lnTo>
                <a:lnTo>
                  <a:pt x="10326" y="2468"/>
                </a:lnTo>
                <a:lnTo>
                  <a:pt x="10223" y="2413"/>
                </a:lnTo>
                <a:lnTo>
                  <a:pt x="10120" y="2359"/>
                </a:lnTo>
                <a:lnTo>
                  <a:pt x="10015" y="2305"/>
                </a:lnTo>
                <a:lnTo>
                  <a:pt x="9911" y="2251"/>
                </a:lnTo>
                <a:lnTo>
                  <a:pt x="9807" y="2198"/>
                </a:lnTo>
                <a:lnTo>
                  <a:pt x="9735" y="2162"/>
                </a:lnTo>
                <a:lnTo>
                  <a:pt x="9660" y="2124"/>
                </a:lnTo>
                <a:lnTo>
                  <a:pt x="9583" y="2086"/>
                </a:lnTo>
                <a:lnTo>
                  <a:pt x="9504" y="2047"/>
                </a:lnTo>
                <a:lnTo>
                  <a:pt x="9423" y="2010"/>
                </a:lnTo>
                <a:lnTo>
                  <a:pt x="9340" y="1971"/>
                </a:lnTo>
                <a:lnTo>
                  <a:pt x="9258" y="1932"/>
                </a:lnTo>
                <a:lnTo>
                  <a:pt x="9174" y="1893"/>
                </a:lnTo>
                <a:lnTo>
                  <a:pt x="9091" y="1855"/>
                </a:lnTo>
                <a:lnTo>
                  <a:pt x="9006" y="1816"/>
                </a:lnTo>
                <a:lnTo>
                  <a:pt x="8923" y="1780"/>
                </a:lnTo>
                <a:lnTo>
                  <a:pt x="8840" y="1743"/>
                </a:lnTo>
                <a:lnTo>
                  <a:pt x="8759" y="1707"/>
                </a:lnTo>
                <a:lnTo>
                  <a:pt x="8679" y="1673"/>
                </a:lnTo>
                <a:lnTo>
                  <a:pt x="8600" y="1640"/>
                </a:lnTo>
                <a:lnTo>
                  <a:pt x="8523" y="1608"/>
                </a:lnTo>
                <a:lnTo>
                  <a:pt x="8472" y="1587"/>
                </a:lnTo>
                <a:lnTo>
                  <a:pt x="8417" y="1562"/>
                </a:lnTo>
                <a:lnTo>
                  <a:pt x="8360" y="1537"/>
                </a:lnTo>
                <a:lnTo>
                  <a:pt x="8300" y="1511"/>
                </a:lnTo>
                <a:lnTo>
                  <a:pt x="8242" y="1485"/>
                </a:lnTo>
                <a:lnTo>
                  <a:pt x="8184" y="1461"/>
                </a:lnTo>
                <a:lnTo>
                  <a:pt x="8156" y="1451"/>
                </a:lnTo>
                <a:lnTo>
                  <a:pt x="8129" y="1442"/>
                </a:lnTo>
                <a:lnTo>
                  <a:pt x="8102" y="1433"/>
                </a:lnTo>
                <a:lnTo>
                  <a:pt x="8078" y="1426"/>
                </a:lnTo>
                <a:close/>
              </a:path>
            </a:pathLst>
          </a:custGeom>
          <a:solidFill>
            <a:schemeClr val="accent2"/>
          </a:solidFill>
          <a:ln cap="sq">
            <a:noFill/>
          </a:ln>
        </p:spPr>
        <p:txBody>
          <a:bodyPr vert="horz" wrap="square" lIns="91440" tIns="45720" rIns="91440" bIns="45720" rtlCol="0" anchor="t"/>
          <a:lstStyle/>
          <a:p>
            <a:pPr algn="l"/>
            <a:endParaRPr kumimoji="1" lang="zh-CN" altLang="en-US"/>
          </a:p>
        </p:txBody>
      </p:sp>
      <p:sp>
        <p:nvSpPr>
          <p:cNvPr id="15" name="标题 1"/>
          <p:cNvSpPr txBox="1"/>
          <p:nvPr/>
        </p:nvSpPr>
        <p:spPr>
          <a:xfrm>
            <a:off x="1334268" y="3965956"/>
            <a:ext cx="4536000" cy="828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Planificación de la capacidad (capacity planning).</a:t>
            </a:r>
            <a:endParaRPr kumimoji="1" lang="zh-CN" altLang="en-US"/>
          </a:p>
        </p:txBody>
      </p:sp>
      <p:sp>
        <p:nvSpPr>
          <p:cNvPr id="16" name="标题 1"/>
          <p:cNvSpPr txBox="1"/>
          <p:nvPr/>
        </p:nvSpPr>
        <p:spPr>
          <a:xfrm>
            <a:off x="1084165" y="4040275"/>
            <a:ext cx="126854" cy="131412"/>
          </a:xfrm>
          <a:custGeom>
            <a:avLst/>
            <a:gdLst>
              <a:gd name="T0" fmla="*/ 7371 w 17675"/>
              <a:gd name="T1" fmla="*/ 1125 h 18310"/>
              <a:gd name="T2" fmla="*/ 5959 w 17675"/>
              <a:gd name="T3" fmla="*/ 593 h 18310"/>
              <a:gd name="T4" fmla="*/ 4735 w 17675"/>
              <a:gd name="T5" fmla="*/ 240 h 18310"/>
              <a:gd name="T6" fmla="*/ 3627 w 17675"/>
              <a:gd name="T7" fmla="*/ 54 h 18310"/>
              <a:gd name="T8" fmla="*/ 2806 w 17675"/>
              <a:gd name="T9" fmla="*/ 7 h 18310"/>
              <a:gd name="T10" fmla="*/ 2454 w 17675"/>
              <a:gd name="T11" fmla="*/ 85 h 18310"/>
              <a:gd name="T12" fmla="*/ 2132 w 17675"/>
              <a:gd name="T13" fmla="*/ 262 h 18310"/>
              <a:gd name="T14" fmla="*/ 1838 w 17675"/>
              <a:gd name="T15" fmla="*/ 533 h 18310"/>
              <a:gd name="T16" fmla="*/ 1454 w 17675"/>
              <a:gd name="T17" fmla="*/ 1111 h 18310"/>
              <a:gd name="T18" fmla="*/ 1261 w 17675"/>
              <a:gd name="T19" fmla="*/ 1545 h 18310"/>
              <a:gd name="T20" fmla="*/ 1008 w 17675"/>
              <a:gd name="T21" fmla="*/ 2315 h 18310"/>
              <a:gd name="T22" fmla="*/ 836 w 17675"/>
              <a:gd name="T23" fmla="*/ 2906 h 18310"/>
              <a:gd name="T24" fmla="*/ 683 w 17675"/>
              <a:gd name="T25" fmla="*/ 3519 h 18310"/>
              <a:gd name="T26" fmla="*/ 506 w 17675"/>
              <a:gd name="T27" fmla="*/ 4330 h 18310"/>
              <a:gd name="T28" fmla="*/ 356 w 17675"/>
              <a:gd name="T29" fmla="*/ 5177 h 18310"/>
              <a:gd name="T30" fmla="*/ 199 w 17675"/>
              <a:gd name="T31" fmla="*/ 6352 h 18310"/>
              <a:gd name="T32" fmla="*/ 65 w 17675"/>
              <a:gd name="T33" fmla="*/ 7805 h 18310"/>
              <a:gd name="T34" fmla="*/ 1 w 17675"/>
              <a:gd name="T35" fmla="*/ 9354 h 18310"/>
              <a:gd name="T36" fmla="*/ 54 w 17675"/>
              <a:gd name="T37" fmla="*/ 10490 h 18310"/>
              <a:gd name="T38" fmla="*/ 149 w 17675"/>
              <a:gd name="T39" fmla="*/ 11811 h 18310"/>
              <a:gd name="T40" fmla="*/ 298 w 17675"/>
              <a:gd name="T41" fmla="*/ 13066 h 18310"/>
              <a:gd name="T42" fmla="*/ 650 w 17675"/>
              <a:gd name="T43" fmla="*/ 14979 h 18310"/>
              <a:gd name="T44" fmla="*/ 991 w 17675"/>
              <a:gd name="T45" fmla="*/ 16266 h 18310"/>
              <a:gd name="T46" fmla="*/ 1332 w 17675"/>
              <a:gd name="T47" fmla="*/ 17156 h 18310"/>
              <a:gd name="T48" fmla="*/ 1598 w 17675"/>
              <a:gd name="T49" fmla="*/ 17614 h 18310"/>
              <a:gd name="T50" fmla="*/ 1917 w 17675"/>
              <a:gd name="T51" fmla="*/ 17970 h 18310"/>
              <a:gd name="T52" fmla="*/ 2349 w 17675"/>
              <a:gd name="T53" fmla="*/ 18232 h 18310"/>
              <a:gd name="T54" fmla="*/ 2745 w 17675"/>
              <a:gd name="T55" fmla="*/ 18309 h 18310"/>
              <a:gd name="T56" fmla="*/ 3384 w 17675"/>
              <a:gd name="T57" fmla="*/ 18287 h 18310"/>
              <a:gd name="T58" fmla="*/ 4157 w 17675"/>
              <a:gd name="T59" fmla="*/ 18192 h 18310"/>
              <a:gd name="T60" fmla="*/ 5006 w 17675"/>
              <a:gd name="T61" fmla="*/ 18009 h 18310"/>
              <a:gd name="T62" fmla="*/ 6483 w 17675"/>
              <a:gd name="T63" fmla="*/ 17544 h 18310"/>
              <a:gd name="T64" fmla="*/ 7200 w 17675"/>
              <a:gd name="T65" fmla="*/ 17277 h 18310"/>
              <a:gd name="T66" fmla="*/ 8295 w 17675"/>
              <a:gd name="T67" fmla="*/ 16841 h 18310"/>
              <a:gd name="T68" fmla="*/ 8872 w 17675"/>
              <a:gd name="T69" fmla="*/ 16605 h 18310"/>
              <a:gd name="T70" fmla="*/ 9346 w 17675"/>
              <a:gd name="T71" fmla="*/ 16391 h 18310"/>
              <a:gd name="T72" fmla="*/ 10057 w 17675"/>
              <a:gd name="T73" fmla="*/ 16048 h 18310"/>
              <a:gd name="T74" fmla="*/ 10903 w 17675"/>
              <a:gd name="T75" fmla="*/ 15584 h 18310"/>
              <a:gd name="T76" fmla="*/ 11867 w 17675"/>
              <a:gd name="T77" fmla="*/ 14997 h 18310"/>
              <a:gd name="T78" fmla="*/ 12590 w 17675"/>
              <a:gd name="T79" fmla="*/ 14528 h 18310"/>
              <a:gd name="T80" fmla="*/ 13212 w 17675"/>
              <a:gd name="T81" fmla="*/ 14088 h 18310"/>
              <a:gd name="T82" fmla="*/ 14481 w 17675"/>
              <a:gd name="T83" fmla="*/ 13112 h 18310"/>
              <a:gd name="T84" fmla="*/ 14802 w 17675"/>
              <a:gd name="T85" fmla="*/ 12854 h 18310"/>
              <a:gd name="T86" fmla="*/ 15451 w 17675"/>
              <a:gd name="T87" fmla="*/ 12291 h 18310"/>
              <a:gd name="T88" fmla="*/ 15927 w 17675"/>
              <a:gd name="T89" fmla="*/ 11853 h 18310"/>
              <a:gd name="T90" fmla="*/ 16443 w 17675"/>
              <a:gd name="T91" fmla="*/ 11335 h 18310"/>
              <a:gd name="T92" fmla="*/ 16856 w 17675"/>
              <a:gd name="T93" fmla="*/ 10896 h 18310"/>
              <a:gd name="T94" fmla="*/ 17295 w 17675"/>
              <a:gd name="T95" fmla="*/ 10296 h 18310"/>
              <a:gd name="T96" fmla="*/ 17543 w 17675"/>
              <a:gd name="T97" fmla="*/ 9805 h 18310"/>
              <a:gd name="T98" fmla="*/ 17675 w 17675"/>
              <a:gd name="T99" fmla="*/ 9283 h 18310"/>
              <a:gd name="T100" fmla="*/ 17609 w 17675"/>
              <a:gd name="T101" fmla="*/ 8895 h 18310"/>
              <a:gd name="T102" fmla="*/ 17328 w 17675"/>
              <a:gd name="T103" fmla="*/ 8254 h 18310"/>
              <a:gd name="T104" fmla="*/ 16958 w 17675"/>
              <a:gd name="T105" fmla="*/ 7727 h 18310"/>
              <a:gd name="T106" fmla="*/ 16207 w 17675"/>
              <a:gd name="T107" fmla="*/ 6899 h 18310"/>
              <a:gd name="T108" fmla="*/ 14144 w 17675"/>
              <a:gd name="T109" fmla="*/ 5052 h 18310"/>
              <a:gd name="T110" fmla="*/ 13172 w 17675"/>
              <a:gd name="T111" fmla="*/ 4299 h 18310"/>
              <a:gd name="T112" fmla="*/ 12177 w 17675"/>
              <a:gd name="T113" fmla="*/ 3589 h 18310"/>
              <a:gd name="T114" fmla="*/ 11125 w 17675"/>
              <a:gd name="T115" fmla="*/ 2920 h 18310"/>
              <a:gd name="T116" fmla="*/ 10015 w 17675"/>
              <a:gd name="T117" fmla="*/ 2305 h 18310"/>
              <a:gd name="T118" fmla="*/ 9091 w 17675"/>
              <a:gd name="T119" fmla="*/ 1855 h 18310"/>
              <a:gd name="T120" fmla="*/ 8300 w 17675"/>
              <a:gd name="T121" fmla="*/ 1511 h 18310"/>
            </a:gdLst>
            <a:ahLst/>
            <a:cxnLst/>
            <a:rect l="0" t="0" r="r" b="b"/>
            <a:pathLst>
              <a:path w="17675" h="18310">
                <a:moveTo>
                  <a:pt x="8078" y="1426"/>
                </a:moveTo>
                <a:lnTo>
                  <a:pt x="8047" y="1409"/>
                </a:lnTo>
                <a:lnTo>
                  <a:pt x="8014" y="1392"/>
                </a:lnTo>
                <a:lnTo>
                  <a:pt x="7978" y="1376"/>
                </a:lnTo>
                <a:lnTo>
                  <a:pt x="7940" y="1360"/>
                </a:lnTo>
                <a:lnTo>
                  <a:pt x="7901" y="1345"/>
                </a:lnTo>
                <a:lnTo>
                  <a:pt x="7862" y="1330"/>
                </a:lnTo>
                <a:lnTo>
                  <a:pt x="7825" y="1315"/>
                </a:lnTo>
                <a:lnTo>
                  <a:pt x="7791" y="1301"/>
                </a:lnTo>
                <a:lnTo>
                  <a:pt x="7583" y="1213"/>
                </a:lnTo>
                <a:lnTo>
                  <a:pt x="7371" y="1125"/>
                </a:lnTo>
                <a:lnTo>
                  <a:pt x="7158" y="1038"/>
                </a:lnTo>
                <a:lnTo>
                  <a:pt x="6943" y="953"/>
                </a:lnTo>
                <a:lnTo>
                  <a:pt x="6836" y="911"/>
                </a:lnTo>
                <a:lnTo>
                  <a:pt x="6727" y="869"/>
                </a:lnTo>
                <a:lnTo>
                  <a:pt x="6618" y="827"/>
                </a:lnTo>
                <a:lnTo>
                  <a:pt x="6508" y="787"/>
                </a:lnTo>
                <a:lnTo>
                  <a:pt x="6400" y="747"/>
                </a:lnTo>
                <a:lnTo>
                  <a:pt x="6290" y="707"/>
                </a:lnTo>
                <a:lnTo>
                  <a:pt x="6180" y="668"/>
                </a:lnTo>
                <a:lnTo>
                  <a:pt x="6070" y="631"/>
                </a:lnTo>
                <a:lnTo>
                  <a:pt x="5959" y="593"/>
                </a:lnTo>
                <a:lnTo>
                  <a:pt x="5848" y="556"/>
                </a:lnTo>
                <a:lnTo>
                  <a:pt x="5737" y="521"/>
                </a:lnTo>
                <a:lnTo>
                  <a:pt x="5626" y="485"/>
                </a:lnTo>
                <a:lnTo>
                  <a:pt x="5515" y="451"/>
                </a:lnTo>
                <a:lnTo>
                  <a:pt x="5404" y="418"/>
                </a:lnTo>
                <a:lnTo>
                  <a:pt x="5292" y="386"/>
                </a:lnTo>
                <a:lnTo>
                  <a:pt x="5181" y="355"/>
                </a:lnTo>
                <a:lnTo>
                  <a:pt x="5069" y="324"/>
                </a:lnTo>
                <a:lnTo>
                  <a:pt x="4958" y="295"/>
                </a:lnTo>
                <a:lnTo>
                  <a:pt x="4846" y="267"/>
                </a:lnTo>
                <a:lnTo>
                  <a:pt x="4735" y="240"/>
                </a:lnTo>
                <a:lnTo>
                  <a:pt x="4623" y="215"/>
                </a:lnTo>
                <a:lnTo>
                  <a:pt x="4511" y="191"/>
                </a:lnTo>
                <a:lnTo>
                  <a:pt x="4400" y="168"/>
                </a:lnTo>
                <a:lnTo>
                  <a:pt x="4287" y="146"/>
                </a:lnTo>
                <a:lnTo>
                  <a:pt x="4234" y="136"/>
                </a:lnTo>
                <a:lnTo>
                  <a:pt x="4162" y="125"/>
                </a:lnTo>
                <a:lnTo>
                  <a:pt x="4075" y="112"/>
                </a:lnTo>
                <a:lnTo>
                  <a:pt x="3975" y="98"/>
                </a:lnTo>
                <a:lnTo>
                  <a:pt x="3865" y="84"/>
                </a:lnTo>
                <a:lnTo>
                  <a:pt x="3749" y="69"/>
                </a:lnTo>
                <a:lnTo>
                  <a:pt x="3627" y="54"/>
                </a:lnTo>
                <a:lnTo>
                  <a:pt x="3504" y="40"/>
                </a:lnTo>
                <a:lnTo>
                  <a:pt x="3381" y="27"/>
                </a:lnTo>
                <a:lnTo>
                  <a:pt x="3262" y="17"/>
                </a:lnTo>
                <a:lnTo>
                  <a:pt x="3148" y="8"/>
                </a:lnTo>
                <a:lnTo>
                  <a:pt x="3043" y="2"/>
                </a:lnTo>
                <a:lnTo>
                  <a:pt x="2994" y="1"/>
                </a:lnTo>
                <a:lnTo>
                  <a:pt x="2949" y="0"/>
                </a:lnTo>
                <a:lnTo>
                  <a:pt x="2908" y="0"/>
                </a:lnTo>
                <a:lnTo>
                  <a:pt x="2869" y="1"/>
                </a:lnTo>
                <a:lnTo>
                  <a:pt x="2834" y="3"/>
                </a:lnTo>
                <a:lnTo>
                  <a:pt x="2806" y="7"/>
                </a:lnTo>
                <a:lnTo>
                  <a:pt x="2780" y="11"/>
                </a:lnTo>
                <a:lnTo>
                  <a:pt x="2761" y="17"/>
                </a:lnTo>
                <a:lnTo>
                  <a:pt x="2724" y="19"/>
                </a:lnTo>
                <a:lnTo>
                  <a:pt x="2689" y="24"/>
                </a:lnTo>
                <a:lnTo>
                  <a:pt x="2655" y="29"/>
                </a:lnTo>
                <a:lnTo>
                  <a:pt x="2620" y="35"/>
                </a:lnTo>
                <a:lnTo>
                  <a:pt x="2586" y="43"/>
                </a:lnTo>
                <a:lnTo>
                  <a:pt x="2552" y="53"/>
                </a:lnTo>
                <a:lnTo>
                  <a:pt x="2518" y="63"/>
                </a:lnTo>
                <a:lnTo>
                  <a:pt x="2486" y="73"/>
                </a:lnTo>
                <a:lnTo>
                  <a:pt x="2454" y="85"/>
                </a:lnTo>
                <a:lnTo>
                  <a:pt x="2423" y="97"/>
                </a:lnTo>
                <a:lnTo>
                  <a:pt x="2393" y="111"/>
                </a:lnTo>
                <a:lnTo>
                  <a:pt x="2363" y="125"/>
                </a:lnTo>
                <a:lnTo>
                  <a:pt x="2333" y="138"/>
                </a:lnTo>
                <a:lnTo>
                  <a:pt x="2306" y="153"/>
                </a:lnTo>
                <a:lnTo>
                  <a:pt x="2278" y="169"/>
                </a:lnTo>
                <a:lnTo>
                  <a:pt x="2252" y="184"/>
                </a:lnTo>
                <a:lnTo>
                  <a:pt x="2218" y="205"/>
                </a:lnTo>
                <a:lnTo>
                  <a:pt x="2187" y="224"/>
                </a:lnTo>
                <a:lnTo>
                  <a:pt x="2158" y="244"/>
                </a:lnTo>
                <a:lnTo>
                  <a:pt x="2132" y="262"/>
                </a:lnTo>
                <a:lnTo>
                  <a:pt x="2108" y="280"/>
                </a:lnTo>
                <a:lnTo>
                  <a:pt x="2086" y="298"/>
                </a:lnTo>
                <a:lnTo>
                  <a:pt x="2065" y="315"/>
                </a:lnTo>
                <a:lnTo>
                  <a:pt x="2046" y="332"/>
                </a:lnTo>
                <a:lnTo>
                  <a:pt x="2007" y="367"/>
                </a:lnTo>
                <a:lnTo>
                  <a:pt x="1968" y="405"/>
                </a:lnTo>
                <a:lnTo>
                  <a:pt x="1927" y="446"/>
                </a:lnTo>
                <a:lnTo>
                  <a:pt x="1878" y="491"/>
                </a:lnTo>
                <a:lnTo>
                  <a:pt x="1866" y="504"/>
                </a:lnTo>
                <a:lnTo>
                  <a:pt x="1853" y="517"/>
                </a:lnTo>
                <a:lnTo>
                  <a:pt x="1838" y="533"/>
                </a:lnTo>
                <a:lnTo>
                  <a:pt x="1823" y="550"/>
                </a:lnTo>
                <a:lnTo>
                  <a:pt x="1790" y="592"/>
                </a:lnTo>
                <a:lnTo>
                  <a:pt x="1754" y="637"/>
                </a:lnTo>
                <a:lnTo>
                  <a:pt x="1717" y="689"/>
                </a:lnTo>
                <a:lnTo>
                  <a:pt x="1679" y="744"/>
                </a:lnTo>
                <a:lnTo>
                  <a:pt x="1639" y="802"/>
                </a:lnTo>
                <a:lnTo>
                  <a:pt x="1600" y="863"/>
                </a:lnTo>
                <a:lnTo>
                  <a:pt x="1561" y="926"/>
                </a:lnTo>
                <a:lnTo>
                  <a:pt x="1524" y="988"/>
                </a:lnTo>
                <a:lnTo>
                  <a:pt x="1488" y="1051"/>
                </a:lnTo>
                <a:lnTo>
                  <a:pt x="1454" y="1111"/>
                </a:lnTo>
                <a:lnTo>
                  <a:pt x="1425" y="1170"/>
                </a:lnTo>
                <a:lnTo>
                  <a:pt x="1398" y="1226"/>
                </a:lnTo>
                <a:lnTo>
                  <a:pt x="1387" y="1252"/>
                </a:lnTo>
                <a:lnTo>
                  <a:pt x="1377" y="1277"/>
                </a:lnTo>
                <a:lnTo>
                  <a:pt x="1367" y="1301"/>
                </a:lnTo>
                <a:lnTo>
                  <a:pt x="1359" y="1323"/>
                </a:lnTo>
                <a:lnTo>
                  <a:pt x="1340" y="1362"/>
                </a:lnTo>
                <a:lnTo>
                  <a:pt x="1320" y="1404"/>
                </a:lnTo>
                <a:lnTo>
                  <a:pt x="1300" y="1449"/>
                </a:lnTo>
                <a:lnTo>
                  <a:pt x="1280" y="1496"/>
                </a:lnTo>
                <a:lnTo>
                  <a:pt x="1261" y="1545"/>
                </a:lnTo>
                <a:lnTo>
                  <a:pt x="1241" y="1596"/>
                </a:lnTo>
                <a:lnTo>
                  <a:pt x="1222" y="1648"/>
                </a:lnTo>
                <a:lnTo>
                  <a:pt x="1204" y="1702"/>
                </a:lnTo>
                <a:lnTo>
                  <a:pt x="1167" y="1808"/>
                </a:lnTo>
                <a:lnTo>
                  <a:pt x="1133" y="1915"/>
                </a:lnTo>
                <a:lnTo>
                  <a:pt x="1101" y="2016"/>
                </a:lnTo>
                <a:lnTo>
                  <a:pt x="1071" y="2110"/>
                </a:lnTo>
                <a:lnTo>
                  <a:pt x="1055" y="2162"/>
                </a:lnTo>
                <a:lnTo>
                  <a:pt x="1039" y="2213"/>
                </a:lnTo>
                <a:lnTo>
                  <a:pt x="1023" y="2264"/>
                </a:lnTo>
                <a:lnTo>
                  <a:pt x="1008" y="2315"/>
                </a:lnTo>
                <a:lnTo>
                  <a:pt x="992" y="2367"/>
                </a:lnTo>
                <a:lnTo>
                  <a:pt x="976" y="2418"/>
                </a:lnTo>
                <a:lnTo>
                  <a:pt x="960" y="2471"/>
                </a:lnTo>
                <a:lnTo>
                  <a:pt x="944" y="2523"/>
                </a:lnTo>
                <a:lnTo>
                  <a:pt x="929" y="2573"/>
                </a:lnTo>
                <a:lnTo>
                  <a:pt x="913" y="2626"/>
                </a:lnTo>
                <a:lnTo>
                  <a:pt x="896" y="2682"/>
                </a:lnTo>
                <a:lnTo>
                  <a:pt x="880" y="2740"/>
                </a:lnTo>
                <a:lnTo>
                  <a:pt x="864" y="2797"/>
                </a:lnTo>
                <a:lnTo>
                  <a:pt x="849" y="2852"/>
                </a:lnTo>
                <a:lnTo>
                  <a:pt x="836" y="2906"/>
                </a:lnTo>
                <a:lnTo>
                  <a:pt x="827" y="2955"/>
                </a:lnTo>
                <a:lnTo>
                  <a:pt x="818" y="2977"/>
                </a:lnTo>
                <a:lnTo>
                  <a:pt x="809" y="3003"/>
                </a:lnTo>
                <a:lnTo>
                  <a:pt x="800" y="3033"/>
                </a:lnTo>
                <a:lnTo>
                  <a:pt x="790" y="3067"/>
                </a:lnTo>
                <a:lnTo>
                  <a:pt x="770" y="3142"/>
                </a:lnTo>
                <a:lnTo>
                  <a:pt x="749" y="3225"/>
                </a:lnTo>
                <a:lnTo>
                  <a:pt x="730" y="3310"/>
                </a:lnTo>
                <a:lnTo>
                  <a:pt x="712" y="3390"/>
                </a:lnTo>
                <a:lnTo>
                  <a:pt x="696" y="3461"/>
                </a:lnTo>
                <a:lnTo>
                  <a:pt x="683" y="3519"/>
                </a:lnTo>
                <a:lnTo>
                  <a:pt x="666" y="3593"/>
                </a:lnTo>
                <a:lnTo>
                  <a:pt x="649" y="3667"/>
                </a:lnTo>
                <a:lnTo>
                  <a:pt x="633" y="3740"/>
                </a:lnTo>
                <a:lnTo>
                  <a:pt x="617" y="3813"/>
                </a:lnTo>
                <a:lnTo>
                  <a:pt x="601" y="3886"/>
                </a:lnTo>
                <a:lnTo>
                  <a:pt x="585" y="3960"/>
                </a:lnTo>
                <a:lnTo>
                  <a:pt x="569" y="4033"/>
                </a:lnTo>
                <a:lnTo>
                  <a:pt x="553" y="4108"/>
                </a:lnTo>
                <a:lnTo>
                  <a:pt x="537" y="4182"/>
                </a:lnTo>
                <a:lnTo>
                  <a:pt x="522" y="4256"/>
                </a:lnTo>
                <a:lnTo>
                  <a:pt x="506" y="4330"/>
                </a:lnTo>
                <a:lnTo>
                  <a:pt x="491" y="4406"/>
                </a:lnTo>
                <a:lnTo>
                  <a:pt x="476" y="4483"/>
                </a:lnTo>
                <a:lnTo>
                  <a:pt x="461" y="4559"/>
                </a:lnTo>
                <a:lnTo>
                  <a:pt x="447" y="4636"/>
                </a:lnTo>
                <a:lnTo>
                  <a:pt x="433" y="4714"/>
                </a:lnTo>
                <a:lnTo>
                  <a:pt x="419" y="4791"/>
                </a:lnTo>
                <a:lnTo>
                  <a:pt x="405" y="4868"/>
                </a:lnTo>
                <a:lnTo>
                  <a:pt x="392" y="4946"/>
                </a:lnTo>
                <a:lnTo>
                  <a:pt x="380" y="5024"/>
                </a:lnTo>
                <a:lnTo>
                  <a:pt x="367" y="5100"/>
                </a:lnTo>
                <a:lnTo>
                  <a:pt x="356" y="5177"/>
                </a:lnTo>
                <a:lnTo>
                  <a:pt x="346" y="5253"/>
                </a:lnTo>
                <a:lnTo>
                  <a:pt x="335" y="5328"/>
                </a:lnTo>
                <a:lnTo>
                  <a:pt x="320" y="5442"/>
                </a:lnTo>
                <a:lnTo>
                  <a:pt x="304" y="5555"/>
                </a:lnTo>
                <a:lnTo>
                  <a:pt x="289" y="5668"/>
                </a:lnTo>
                <a:lnTo>
                  <a:pt x="275" y="5781"/>
                </a:lnTo>
                <a:lnTo>
                  <a:pt x="259" y="5896"/>
                </a:lnTo>
                <a:lnTo>
                  <a:pt x="244" y="6009"/>
                </a:lnTo>
                <a:lnTo>
                  <a:pt x="229" y="6124"/>
                </a:lnTo>
                <a:lnTo>
                  <a:pt x="214" y="6238"/>
                </a:lnTo>
                <a:lnTo>
                  <a:pt x="199" y="6352"/>
                </a:lnTo>
                <a:lnTo>
                  <a:pt x="185" y="6467"/>
                </a:lnTo>
                <a:lnTo>
                  <a:pt x="173" y="6581"/>
                </a:lnTo>
                <a:lnTo>
                  <a:pt x="160" y="6697"/>
                </a:lnTo>
                <a:lnTo>
                  <a:pt x="148" y="6811"/>
                </a:lnTo>
                <a:lnTo>
                  <a:pt x="137" y="6927"/>
                </a:lnTo>
                <a:lnTo>
                  <a:pt x="127" y="7042"/>
                </a:lnTo>
                <a:lnTo>
                  <a:pt x="119" y="7158"/>
                </a:lnTo>
                <a:lnTo>
                  <a:pt x="105" y="7319"/>
                </a:lnTo>
                <a:lnTo>
                  <a:pt x="92" y="7481"/>
                </a:lnTo>
                <a:lnTo>
                  <a:pt x="79" y="7643"/>
                </a:lnTo>
                <a:lnTo>
                  <a:pt x="65" y="7805"/>
                </a:lnTo>
                <a:lnTo>
                  <a:pt x="54" y="7967"/>
                </a:lnTo>
                <a:lnTo>
                  <a:pt x="42" y="8130"/>
                </a:lnTo>
                <a:lnTo>
                  <a:pt x="31" y="8293"/>
                </a:lnTo>
                <a:lnTo>
                  <a:pt x="22" y="8456"/>
                </a:lnTo>
                <a:lnTo>
                  <a:pt x="14" y="8619"/>
                </a:lnTo>
                <a:lnTo>
                  <a:pt x="8" y="8782"/>
                </a:lnTo>
                <a:lnTo>
                  <a:pt x="3" y="8946"/>
                </a:lnTo>
                <a:lnTo>
                  <a:pt x="0" y="9109"/>
                </a:lnTo>
                <a:lnTo>
                  <a:pt x="0" y="9190"/>
                </a:lnTo>
                <a:lnTo>
                  <a:pt x="0" y="9273"/>
                </a:lnTo>
                <a:lnTo>
                  <a:pt x="1" y="9354"/>
                </a:lnTo>
                <a:lnTo>
                  <a:pt x="2" y="9437"/>
                </a:lnTo>
                <a:lnTo>
                  <a:pt x="3" y="9518"/>
                </a:lnTo>
                <a:lnTo>
                  <a:pt x="7" y="9599"/>
                </a:lnTo>
                <a:lnTo>
                  <a:pt x="10" y="9681"/>
                </a:lnTo>
                <a:lnTo>
                  <a:pt x="14" y="9763"/>
                </a:lnTo>
                <a:lnTo>
                  <a:pt x="21" y="9885"/>
                </a:lnTo>
                <a:lnTo>
                  <a:pt x="27" y="10006"/>
                </a:lnTo>
                <a:lnTo>
                  <a:pt x="34" y="10128"/>
                </a:lnTo>
                <a:lnTo>
                  <a:pt x="41" y="10249"/>
                </a:lnTo>
                <a:lnTo>
                  <a:pt x="47" y="10369"/>
                </a:lnTo>
                <a:lnTo>
                  <a:pt x="54" y="10490"/>
                </a:lnTo>
                <a:lnTo>
                  <a:pt x="61" y="10611"/>
                </a:lnTo>
                <a:lnTo>
                  <a:pt x="68" y="10731"/>
                </a:lnTo>
                <a:lnTo>
                  <a:pt x="74" y="10851"/>
                </a:lnTo>
                <a:lnTo>
                  <a:pt x="82" y="10971"/>
                </a:lnTo>
                <a:lnTo>
                  <a:pt x="90" y="11091"/>
                </a:lnTo>
                <a:lnTo>
                  <a:pt x="98" y="11213"/>
                </a:lnTo>
                <a:lnTo>
                  <a:pt x="108" y="11333"/>
                </a:lnTo>
                <a:lnTo>
                  <a:pt x="117" y="11454"/>
                </a:lnTo>
                <a:lnTo>
                  <a:pt x="127" y="11575"/>
                </a:lnTo>
                <a:lnTo>
                  <a:pt x="138" y="11697"/>
                </a:lnTo>
                <a:lnTo>
                  <a:pt x="149" y="11811"/>
                </a:lnTo>
                <a:lnTo>
                  <a:pt x="160" y="11926"/>
                </a:lnTo>
                <a:lnTo>
                  <a:pt x="172" y="12040"/>
                </a:lnTo>
                <a:lnTo>
                  <a:pt x="184" y="12154"/>
                </a:lnTo>
                <a:lnTo>
                  <a:pt x="197" y="12269"/>
                </a:lnTo>
                <a:lnTo>
                  <a:pt x="209" y="12383"/>
                </a:lnTo>
                <a:lnTo>
                  <a:pt x="223" y="12498"/>
                </a:lnTo>
                <a:lnTo>
                  <a:pt x="237" y="12611"/>
                </a:lnTo>
                <a:lnTo>
                  <a:pt x="252" y="12725"/>
                </a:lnTo>
                <a:lnTo>
                  <a:pt x="267" y="12839"/>
                </a:lnTo>
                <a:lnTo>
                  <a:pt x="281" y="12953"/>
                </a:lnTo>
                <a:lnTo>
                  <a:pt x="298" y="13066"/>
                </a:lnTo>
                <a:lnTo>
                  <a:pt x="314" y="13180"/>
                </a:lnTo>
                <a:lnTo>
                  <a:pt x="331" y="13293"/>
                </a:lnTo>
                <a:lnTo>
                  <a:pt x="349" y="13406"/>
                </a:lnTo>
                <a:lnTo>
                  <a:pt x="366" y="13519"/>
                </a:lnTo>
                <a:lnTo>
                  <a:pt x="398" y="13707"/>
                </a:lnTo>
                <a:lnTo>
                  <a:pt x="433" y="13905"/>
                </a:lnTo>
                <a:lnTo>
                  <a:pt x="470" y="14110"/>
                </a:lnTo>
                <a:lnTo>
                  <a:pt x="511" y="14322"/>
                </a:lnTo>
                <a:lnTo>
                  <a:pt x="555" y="14538"/>
                </a:lnTo>
                <a:lnTo>
                  <a:pt x="602" y="14757"/>
                </a:lnTo>
                <a:lnTo>
                  <a:pt x="650" y="14979"/>
                </a:lnTo>
                <a:lnTo>
                  <a:pt x="701" y="15200"/>
                </a:lnTo>
                <a:lnTo>
                  <a:pt x="729" y="15311"/>
                </a:lnTo>
                <a:lnTo>
                  <a:pt x="755" y="15420"/>
                </a:lnTo>
                <a:lnTo>
                  <a:pt x="784" y="15530"/>
                </a:lnTo>
                <a:lnTo>
                  <a:pt x="811" y="15639"/>
                </a:lnTo>
                <a:lnTo>
                  <a:pt x="840" y="15747"/>
                </a:lnTo>
                <a:lnTo>
                  <a:pt x="870" y="15854"/>
                </a:lnTo>
                <a:lnTo>
                  <a:pt x="899" y="15959"/>
                </a:lnTo>
                <a:lnTo>
                  <a:pt x="929" y="16064"/>
                </a:lnTo>
                <a:lnTo>
                  <a:pt x="960" y="16165"/>
                </a:lnTo>
                <a:lnTo>
                  <a:pt x="991" y="16266"/>
                </a:lnTo>
                <a:lnTo>
                  <a:pt x="1022" y="16365"/>
                </a:lnTo>
                <a:lnTo>
                  <a:pt x="1054" y="16461"/>
                </a:lnTo>
                <a:lnTo>
                  <a:pt x="1086" y="16556"/>
                </a:lnTo>
                <a:lnTo>
                  <a:pt x="1119" y="16646"/>
                </a:lnTo>
                <a:lnTo>
                  <a:pt x="1152" y="16735"/>
                </a:lnTo>
                <a:lnTo>
                  <a:pt x="1185" y="16821"/>
                </a:lnTo>
                <a:lnTo>
                  <a:pt x="1225" y="16920"/>
                </a:lnTo>
                <a:lnTo>
                  <a:pt x="1267" y="17017"/>
                </a:lnTo>
                <a:lnTo>
                  <a:pt x="1288" y="17064"/>
                </a:lnTo>
                <a:lnTo>
                  <a:pt x="1310" y="17111"/>
                </a:lnTo>
                <a:lnTo>
                  <a:pt x="1332" y="17156"/>
                </a:lnTo>
                <a:lnTo>
                  <a:pt x="1354" y="17202"/>
                </a:lnTo>
                <a:lnTo>
                  <a:pt x="1377" y="17247"/>
                </a:lnTo>
                <a:lnTo>
                  <a:pt x="1399" y="17290"/>
                </a:lnTo>
                <a:lnTo>
                  <a:pt x="1423" y="17334"/>
                </a:lnTo>
                <a:lnTo>
                  <a:pt x="1447" y="17376"/>
                </a:lnTo>
                <a:lnTo>
                  <a:pt x="1471" y="17417"/>
                </a:lnTo>
                <a:lnTo>
                  <a:pt x="1496" y="17459"/>
                </a:lnTo>
                <a:lnTo>
                  <a:pt x="1521" y="17499"/>
                </a:lnTo>
                <a:lnTo>
                  <a:pt x="1546" y="17538"/>
                </a:lnTo>
                <a:lnTo>
                  <a:pt x="1572" y="17576"/>
                </a:lnTo>
                <a:lnTo>
                  <a:pt x="1598" y="17614"/>
                </a:lnTo>
                <a:lnTo>
                  <a:pt x="1625" y="17651"/>
                </a:lnTo>
                <a:lnTo>
                  <a:pt x="1652" y="17687"/>
                </a:lnTo>
                <a:lnTo>
                  <a:pt x="1680" y="17722"/>
                </a:lnTo>
                <a:lnTo>
                  <a:pt x="1707" y="17756"/>
                </a:lnTo>
                <a:lnTo>
                  <a:pt x="1736" y="17789"/>
                </a:lnTo>
                <a:lnTo>
                  <a:pt x="1764" y="17822"/>
                </a:lnTo>
                <a:lnTo>
                  <a:pt x="1794" y="17853"/>
                </a:lnTo>
                <a:lnTo>
                  <a:pt x="1824" y="17884"/>
                </a:lnTo>
                <a:lnTo>
                  <a:pt x="1854" y="17914"/>
                </a:lnTo>
                <a:lnTo>
                  <a:pt x="1885" y="17943"/>
                </a:lnTo>
                <a:lnTo>
                  <a:pt x="1917" y="17970"/>
                </a:lnTo>
                <a:lnTo>
                  <a:pt x="1947" y="17998"/>
                </a:lnTo>
                <a:lnTo>
                  <a:pt x="1980" y="18023"/>
                </a:lnTo>
                <a:lnTo>
                  <a:pt x="2013" y="18048"/>
                </a:lnTo>
                <a:lnTo>
                  <a:pt x="2052" y="18075"/>
                </a:lnTo>
                <a:lnTo>
                  <a:pt x="2091" y="18102"/>
                </a:lnTo>
                <a:lnTo>
                  <a:pt x="2132" y="18127"/>
                </a:lnTo>
                <a:lnTo>
                  <a:pt x="2173" y="18151"/>
                </a:lnTo>
                <a:lnTo>
                  <a:pt x="2215" y="18174"/>
                </a:lnTo>
                <a:lnTo>
                  <a:pt x="2259" y="18194"/>
                </a:lnTo>
                <a:lnTo>
                  <a:pt x="2303" y="18214"/>
                </a:lnTo>
                <a:lnTo>
                  <a:pt x="2349" y="18232"/>
                </a:lnTo>
                <a:lnTo>
                  <a:pt x="2397" y="18249"/>
                </a:lnTo>
                <a:lnTo>
                  <a:pt x="2446" y="18264"/>
                </a:lnTo>
                <a:lnTo>
                  <a:pt x="2497" y="18277"/>
                </a:lnTo>
                <a:lnTo>
                  <a:pt x="2549" y="18287"/>
                </a:lnTo>
                <a:lnTo>
                  <a:pt x="2576" y="18292"/>
                </a:lnTo>
                <a:lnTo>
                  <a:pt x="2603" y="18296"/>
                </a:lnTo>
                <a:lnTo>
                  <a:pt x="2631" y="18300"/>
                </a:lnTo>
                <a:lnTo>
                  <a:pt x="2658" y="18303"/>
                </a:lnTo>
                <a:lnTo>
                  <a:pt x="2687" y="18305"/>
                </a:lnTo>
                <a:lnTo>
                  <a:pt x="2716" y="18308"/>
                </a:lnTo>
                <a:lnTo>
                  <a:pt x="2745" y="18309"/>
                </a:lnTo>
                <a:lnTo>
                  <a:pt x="2776" y="18309"/>
                </a:lnTo>
                <a:lnTo>
                  <a:pt x="2835" y="18310"/>
                </a:lnTo>
                <a:lnTo>
                  <a:pt x="2896" y="18310"/>
                </a:lnTo>
                <a:lnTo>
                  <a:pt x="2957" y="18309"/>
                </a:lnTo>
                <a:lnTo>
                  <a:pt x="3017" y="18308"/>
                </a:lnTo>
                <a:lnTo>
                  <a:pt x="3079" y="18305"/>
                </a:lnTo>
                <a:lnTo>
                  <a:pt x="3140" y="18303"/>
                </a:lnTo>
                <a:lnTo>
                  <a:pt x="3200" y="18300"/>
                </a:lnTo>
                <a:lnTo>
                  <a:pt x="3262" y="18296"/>
                </a:lnTo>
                <a:lnTo>
                  <a:pt x="3323" y="18292"/>
                </a:lnTo>
                <a:lnTo>
                  <a:pt x="3384" y="18287"/>
                </a:lnTo>
                <a:lnTo>
                  <a:pt x="3444" y="18283"/>
                </a:lnTo>
                <a:lnTo>
                  <a:pt x="3505" y="18277"/>
                </a:lnTo>
                <a:lnTo>
                  <a:pt x="3565" y="18271"/>
                </a:lnTo>
                <a:lnTo>
                  <a:pt x="3625" y="18264"/>
                </a:lnTo>
                <a:lnTo>
                  <a:pt x="3686" y="18257"/>
                </a:lnTo>
                <a:lnTo>
                  <a:pt x="3745" y="18250"/>
                </a:lnTo>
                <a:lnTo>
                  <a:pt x="3829" y="18240"/>
                </a:lnTo>
                <a:lnTo>
                  <a:pt x="3912" y="18230"/>
                </a:lnTo>
                <a:lnTo>
                  <a:pt x="3995" y="18218"/>
                </a:lnTo>
                <a:lnTo>
                  <a:pt x="4076" y="18206"/>
                </a:lnTo>
                <a:lnTo>
                  <a:pt x="4157" y="18192"/>
                </a:lnTo>
                <a:lnTo>
                  <a:pt x="4236" y="18178"/>
                </a:lnTo>
                <a:lnTo>
                  <a:pt x="4316" y="18165"/>
                </a:lnTo>
                <a:lnTo>
                  <a:pt x="4395" y="18150"/>
                </a:lnTo>
                <a:lnTo>
                  <a:pt x="4473" y="18134"/>
                </a:lnTo>
                <a:lnTo>
                  <a:pt x="4549" y="18118"/>
                </a:lnTo>
                <a:lnTo>
                  <a:pt x="4627" y="18101"/>
                </a:lnTo>
                <a:lnTo>
                  <a:pt x="4704" y="18083"/>
                </a:lnTo>
                <a:lnTo>
                  <a:pt x="4779" y="18066"/>
                </a:lnTo>
                <a:lnTo>
                  <a:pt x="4855" y="18048"/>
                </a:lnTo>
                <a:lnTo>
                  <a:pt x="4931" y="18028"/>
                </a:lnTo>
                <a:lnTo>
                  <a:pt x="5006" y="18009"/>
                </a:lnTo>
                <a:lnTo>
                  <a:pt x="5156" y="17969"/>
                </a:lnTo>
                <a:lnTo>
                  <a:pt x="5305" y="17927"/>
                </a:lnTo>
                <a:lnTo>
                  <a:pt x="5455" y="17882"/>
                </a:lnTo>
                <a:lnTo>
                  <a:pt x="5603" y="17836"/>
                </a:lnTo>
                <a:lnTo>
                  <a:pt x="5753" y="17789"/>
                </a:lnTo>
                <a:lnTo>
                  <a:pt x="5904" y="17741"/>
                </a:lnTo>
                <a:lnTo>
                  <a:pt x="6056" y="17691"/>
                </a:lnTo>
                <a:lnTo>
                  <a:pt x="6211" y="17639"/>
                </a:lnTo>
                <a:lnTo>
                  <a:pt x="6273" y="17619"/>
                </a:lnTo>
                <a:lnTo>
                  <a:pt x="6368" y="17586"/>
                </a:lnTo>
                <a:lnTo>
                  <a:pt x="6483" y="17544"/>
                </a:lnTo>
                <a:lnTo>
                  <a:pt x="6608" y="17501"/>
                </a:lnTo>
                <a:lnTo>
                  <a:pt x="6729" y="17456"/>
                </a:lnTo>
                <a:lnTo>
                  <a:pt x="6837" y="17415"/>
                </a:lnTo>
                <a:lnTo>
                  <a:pt x="6881" y="17398"/>
                </a:lnTo>
                <a:lnTo>
                  <a:pt x="6917" y="17382"/>
                </a:lnTo>
                <a:lnTo>
                  <a:pt x="6943" y="17369"/>
                </a:lnTo>
                <a:lnTo>
                  <a:pt x="6959" y="17361"/>
                </a:lnTo>
                <a:lnTo>
                  <a:pt x="6994" y="17351"/>
                </a:lnTo>
                <a:lnTo>
                  <a:pt x="7046" y="17333"/>
                </a:lnTo>
                <a:lnTo>
                  <a:pt x="7116" y="17308"/>
                </a:lnTo>
                <a:lnTo>
                  <a:pt x="7200" y="17277"/>
                </a:lnTo>
                <a:lnTo>
                  <a:pt x="7294" y="17240"/>
                </a:lnTo>
                <a:lnTo>
                  <a:pt x="7397" y="17200"/>
                </a:lnTo>
                <a:lnTo>
                  <a:pt x="7507" y="17156"/>
                </a:lnTo>
                <a:lnTo>
                  <a:pt x="7621" y="17112"/>
                </a:lnTo>
                <a:lnTo>
                  <a:pt x="7734" y="17066"/>
                </a:lnTo>
                <a:lnTo>
                  <a:pt x="7846" y="17021"/>
                </a:lnTo>
                <a:lnTo>
                  <a:pt x="7955" y="16977"/>
                </a:lnTo>
                <a:lnTo>
                  <a:pt x="8057" y="16937"/>
                </a:lnTo>
                <a:lnTo>
                  <a:pt x="8148" y="16899"/>
                </a:lnTo>
                <a:lnTo>
                  <a:pt x="8228" y="16867"/>
                </a:lnTo>
                <a:lnTo>
                  <a:pt x="8295" y="16841"/>
                </a:lnTo>
                <a:lnTo>
                  <a:pt x="8344" y="16821"/>
                </a:lnTo>
                <a:lnTo>
                  <a:pt x="8396" y="16799"/>
                </a:lnTo>
                <a:lnTo>
                  <a:pt x="8454" y="16778"/>
                </a:lnTo>
                <a:lnTo>
                  <a:pt x="8513" y="16755"/>
                </a:lnTo>
                <a:lnTo>
                  <a:pt x="8574" y="16731"/>
                </a:lnTo>
                <a:lnTo>
                  <a:pt x="8633" y="16707"/>
                </a:lnTo>
                <a:lnTo>
                  <a:pt x="8690" y="16682"/>
                </a:lnTo>
                <a:lnTo>
                  <a:pt x="8744" y="16658"/>
                </a:lnTo>
                <a:lnTo>
                  <a:pt x="8792" y="16633"/>
                </a:lnTo>
                <a:lnTo>
                  <a:pt x="8829" y="16621"/>
                </a:lnTo>
                <a:lnTo>
                  <a:pt x="8872" y="16605"/>
                </a:lnTo>
                <a:lnTo>
                  <a:pt x="8918" y="16587"/>
                </a:lnTo>
                <a:lnTo>
                  <a:pt x="8965" y="16565"/>
                </a:lnTo>
                <a:lnTo>
                  <a:pt x="9013" y="16543"/>
                </a:lnTo>
                <a:lnTo>
                  <a:pt x="9059" y="16522"/>
                </a:lnTo>
                <a:lnTo>
                  <a:pt x="9100" y="16502"/>
                </a:lnTo>
                <a:lnTo>
                  <a:pt x="9137" y="16485"/>
                </a:lnTo>
                <a:lnTo>
                  <a:pt x="9178" y="16465"/>
                </a:lnTo>
                <a:lnTo>
                  <a:pt x="9220" y="16447"/>
                </a:lnTo>
                <a:lnTo>
                  <a:pt x="9263" y="16429"/>
                </a:lnTo>
                <a:lnTo>
                  <a:pt x="9304" y="16409"/>
                </a:lnTo>
                <a:lnTo>
                  <a:pt x="9346" y="16391"/>
                </a:lnTo>
                <a:lnTo>
                  <a:pt x="9388" y="16371"/>
                </a:lnTo>
                <a:lnTo>
                  <a:pt x="9430" y="16352"/>
                </a:lnTo>
                <a:lnTo>
                  <a:pt x="9471" y="16331"/>
                </a:lnTo>
                <a:lnTo>
                  <a:pt x="9550" y="16292"/>
                </a:lnTo>
                <a:lnTo>
                  <a:pt x="9633" y="16254"/>
                </a:lnTo>
                <a:lnTo>
                  <a:pt x="9720" y="16214"/>
                </a:lnTo>
                <a:lnTo>
                  <a:pt x="9807" y="16173"/>
                </a:lnTo>
                <a:lnTo>
                  <a:pt x="9894" y="16132"/>
                </a:lnTo>
                <a:lnTo>
                  <a:pt x="9978" y="16091"/>
                </a:lnTo>
                <a:lnTo>
                  <a:pt x="10018" y="16069"/>
                </a:lnTo>
                <a:lnTo>
                  <a:pt x="10057" y="16048"/>
                </a:lnTo>
                <a:lnTo>
                  <a:pt x="10093" y="16026"/>
                </a:lnTo>
                <a:lnTo>
                  <a:pt x="10129" y="16004"/>
                </a:lnTo>
                <a:lnTo>
                  <a:pt x="10153" y="15994"/>
                </a:lnTo>
                <a:lnTo>
                  <a:pt x="10184" y="15979"/>
                </a:lnTo>
                <a:lnTo>
                  <a:pt x="10220" y="15962"/>
                </a:lnTo>
                <a:lnTo>
                  <a:pt x="10263" y="15939"/>
                </a:lnTo>
                <a:lnTo>
                  <a:pt x="10363" y="15886"/>
                </a:lnTo>
                <a:lnTo>
                  <a:pt x="10482" y="15821"/>
                </a:lnTo>
                <a:lnTo>
                  <a:pt x="10614" y="15748"/>
                </a:lnTo>
                <a:lnTo>
                  <a:pt x="10756" y="15669"/>
                </a:lnTo>
                <a:lnTo>
                  <a:pt x="10903" y="15584"/>
                </a:lnTo>
                <a:lnTo>
                  <a:pt x="11053" y="15498"/>
                </a:lnTo>
                <a:lnTo>
                  <a:pt x="11202" y="15411"/>
                </a:lnTo>
                <a:lnTo>
                  <a:pt x="11344" y="15328"/>
                </a:lnTo>
                <a:lnTo>
                  <a:pt x="11477" y="15249"/>
                </a:lnTo>
                <a:lnTo>
                  <a:pt x="11597" y="15176"/>
                </a:lnTo>
                <a:lnTo>
                  <a:pt x="11700" y="15111"/>
                </a:lnTo>
                <a:lnTo>
                  <a:pt x="11781" y="15060"/>
                </a:lnTo>
                <a:lnTo>
                  <a:pt x="11813" y="15038"/>
                </a:lnTo>
                <a:lnTo>
                  <a:pt x="11838" y="15021"/>
                </a:lnTo>
                <a:lnTo>
                  <a:pt x="11857" y="15007"/>
                </a:lnTo>
                <a:lnTo>
                  <a:pt x="11867" y="14997"/>
                </a:lnTo>
                <a:lnTo>
                  <a:pt x="11879" y="14991"/>
                </a:lnTo>
                <a:lnTo>
                  <a:pt x="11898" y="14982"/>
                </a:lnTo>
                <a:lnTo>
                  <a:pt x="11919" y="14970"/>
                </a:lnTo>
                <a:lnTo>
                  <a:pt x="11947" y="14954"/>
                </a:lnTo>
                <a:lnTo>
                  <a:pt x="12012" y="14913"/>
                </a:lnTo>
                <a:lnTo>
                  <a:pt x="12090" y="14864"/>
                </a:lnTo>
                <a:lnTo>
                  <a:pt x="12179" y="14806"/>
                </a:lnTo>
                <a:lnTo>
                  <a:pt x="12276" y="14741"/>
                </a:lnTo>
                <a:lnTo>
                  <a:pt x="12379" y="14672"/>
                </a:lnTo>
                <a:lnTo>
                  <a:pt x="12485" y="14600"/>
                </a:lnTo>
                <a:lnTo>
                  <a:pt x="12590" y="14528"/>
                </a:lnTo>
                <a:lnTo>
                  <a:pt x="12694" y="14457"/>
                </a:lnTo>
                <a:lnTo>
                  <a:pt x="12791" y="14388"/>
                </a:lnTo>
                <a:lnTo>
                  <a:pt x="12883" y="14324"/>
                </a:lnTo>
                <a:lnTo>
                  <a:pt x="12963" y="14267"/>
                </a:lnTo>
                <a:lnTo>
                  <a:pt x="13031" y="14218"/>
                </a:lnTo>
                <a:lnTo>
                  <a:pt x="13083" y="14179"/>
                </a:lnTo>
                <a:lnTo>
                  <a:pt x="13116" y="14152"/>
                </a:lnTo>
                <a:lnTo>
                  <a:pt x="13131" y="14143"/>
                </a:lnTo>
                <a:lnTo>
                  <a:pt x="13152" y="14131"/>
                </a:lnTo>
                <a:lnTo>
                  <a:pt x="13179" y="14112"/>
                </a:lnTo>
                <a:lnTo>
                  <a:pt x="13212" y="14088"/>
                </a:lnTo>
                <a:lnTo>
                  <a:pt x="13294" y="14030"/>
                </a:lnTo>
                <a:lnTo>
                  <a:pt x="13392" y="13958"/>
                </a:lnTo>
                <a:lnTo>
                  <a:pt x="13505" y="13873"/>
                </a:lnTo>
                <a:lnTo>
                  <a:pt x="13628" y="13779"/>
                </a:lnTo>
                <a:lnTo>
                  <a:pt x="13758" y="13680"/>
                </a:lnTo>
                <a:lnTo>
                  <a:pt x="13891" y="13578"/>
                </a:lnTo>
                <a:lnTo>
                  <a:pt x="14024" y="13475"/>
                </a:lnTo>
                <a:lnTo>
                  <a:pt x="14153" y="13374"/>
                </a:lnTo>
                <a:lnTo>
                  <a:pt x="14274" y="13278"/>
                </a:lnTo>
                <a:lnTo>
                  <a:pt x="14385" y="13190"/>
                </a:lnTo>
                <a:lnTo>
                  <a:pt x="14481" y="13112"/>
                </a:lnTo>
                <a:lnTo>
                  <a:pt x="14559" y="13048"/>
                </a:lnTo>
                <a:lnTo>
                  <a:pt x="14590" y="13022"/>
                </a:lnTo>
                <a:lnTo>
                  <a:pt x="14615" y="13000"/>
                </a:lnTo>
                <a:lnTo>
                  <a:pt x="14634" y="12982"/>
                </a:lnTo>
                <a:lnTo>
                  <a:pt x="14645" y="12970"/>
                </a:lnTo>
                <a:lnTo>
                  <a:pt x="14658" y="12963"/>
                </a:lnTo>
                <a:lnTo>
                  <a:pt x="14673" y="12954"/>
                </a:lnTo>
                <a:lnTo>
                  <a:pt x="14690" y="12942"/>
                </a:lnTo>
                <a:lnTo>
                  <a:pt x="14708" y="12928"/>
                </a:lnTo>
                <a:lnTo>
                  <a:pt x="14751" y="12895"/>
                </a:lnTo>
                <a:lnTo>
                  <a:pt x="14802" y="12854"/>
                </a:lnTo>
                <a:lnTo>
                  <a:pt x="14857" y="12807"/>
                </a:lnTo>
                <a:lnTo>
                  <a:pt x="14917" y="12756"/>
                </a:lnTo>
                <a:lnTo>
                  <a:pt x="14979" y="12701"/>
                </a:lnTo>
                <a:lnTo>
                  <a:pt x="15044" y="12645"/>
                </a:lnTo>
                <a:lnTo>
                  <a:pt x="15110" y="12587"/>
                </a:lnTo>
                <a:lnTo>
                  <a:pt x="15175" y="12530"/>
                </a:lnTo>
                <a:lnTo>
                  <a:pt x="15238" y="12475"/>
                </a:lnTo>
                <a:lnTo>
                  <a:pt x="15298" y="12421"/>
                </a:lnTo>
                <a:lnTo>
                  <a:pt x="15354" y="12372"/>
                </a:lnTo>
                <a:lnTo>
                  <a:pt x="15405" y="12328"/>
                </a:lnTo>
                <a:lnTo>
                  <a:pt x="15451" y="12291"/>
                </a:lnTo>
                <a:lnTo>
                  <a:pt x="15487" y="12261"/>
                </a:lnTo>
                <a:lnTo>
                  <a:pt x="15508" y="12245"/>
                </a:lnTo>
                <a:lnTo>
                  <a:pt x="15520" y="12233"/>
                </a:lnTo>
                <a:lnTo>
                  <a:pt x="15534" y="12220"/>
                </a:lnTo>
                <a:lnTo>
                  <a:pt x="15555" y="12200"/>
                </a:lnTo>
                <a:lnTo>
                  <a:pt x="15765" y="12013"/>
                </a:lnTo>
                <a:lnTo>
                  <a:pt x="15798" y="11979"/>
                </a:lnTo>
                <a:lnTo>
                  <a:pt x="15830" y="11947"/>
                </a:lnTo>
                <a:lnTo>
                  <a:pt x="15863" y="11915"/>
                </a:lnTo>
                <a:lnTo>
                  <a:pt x="15895" y="11884"/>
                </a:lnTo>
                <a:lnTo>
                  <a:pt x="15927" y="11853"/>
                </a:lnTo>
                <a:lnTo>
                  <a:pt x="15959" y="11823"/>
                </a:lnTo>
                <a:lnTo>
                  <a:pt x="15992" y="11790"/>
                </a:lnTo>
                <a:lnTo>
                  <a:pt x="16025" y="11758"/>
                </a:lnTo>
                <a:lnTo>
                  <a:pt x="16052" y="11733"/>
                </a:lnTo>
                <a:lnTo>
                  <a:pt x="16089" y="11696"/>
                </a:lnTo>
                <a:lnTo>
                  <a:pt x="16136" y="11649"/>
                </a:lnTo>
                <a:lnTo>
                  <a:pt x="16190" y="11595"/>
                </a:lnTo>
                <a:lnTo>
                  <a:pt x="16248" y="11535"/>
                </a:lnTo>
                <a:lnTo>
                  <a:pt x="16311" y="11470"/>
                </a:lnTo>
                <a:lnTo>
                  <a:pt x="16377" y="11403"/>
                </a:lnTo>
                <a:lnTo>
                  <a:pt x="16443" y="11335"/>
                </a:lnTo>
                <a:lnTo>
                  <a:pt x="16508" y="11268"/>
                </a:lnTo>
                <a:lnTo>
                  <a:pt x="16571" y="11202"/>
                </a:lnTo>
                <a:lnTo>
                  <a:pt x="16629" y="11140"/>
                </a:lnTo>
                <a:lnTo>
                  <a:pt x="16681" y="11084"/>
                </a:lnTo>
                <a:lnTo>
                  <a:pt x="16726" y="11036"/>
                </a:lnTo>
                <a:lnTo>
                  <a:pt x="16761" y="10997"/>
                </a:lnTo>
                <a:lnTo>
                  <a:pt x="16786" y="10969"/>
                </a:lnTo>
                <a:lnTo>
                  <a:pt x="16797" y="10953"/>
                </a:lnTo>
                <a:lnTo>
                  <a:pt x="16818" y="10935"/>
                </a:lnTo>
                <a:lnTo>
                  <a:pt x="16837" y="10915"/>
                </a:lnTo>
                <a:lnTo>
                  <a:pt x="16856" y="10896"/>
                </a:lnTo>
                <a:lnTo>
                  <a:pt x="16874" y="10875"/>
                </a:lnTo>
                <a:lnTo>
                  <a:pt x="16908" y="10833"/>
                </a:lnTo>
                <a:lnTo>
                  <a:pt x="16943" y="10789"/>
                </a:lnTo>
                <a:lnTo>
                  <a:pt x="17006" y="10707"/>
                </a:lnTo>
                <a:lnTo>
                  <a:pt x="17067" y="10626"/>
                </a:lnTo>
                <a:lnTo>
                  <a:pt x="17128" y="10543"/>
                </a:lnTo>
                <a:lnTo>
                  <a:pt x="17185" y="10462"/>
                </a:lnTo>
                <a:lnTo>
                  <a:pt x="17214" y="10421"/>
                </a:lnTo>
                <a:lnTo>
                  <a:pt x="17241" y="10379"/>
                </a:lnTo>
                <a:lnTo>
                  <a:pt x="17269" y="10337"/>
                </a:lnTo>
                <a:lnTo>
                  <a:pt x="17295" y="10296"/>
                </a:lnTo>
                <a:lnTo>
                  <a:pt x="17321" y="10254"/>
                </a:lnTo>
                <a:lnTo>
                  <a:pt x="17347" y="10211"/>
                </a:lnTo>
                <a:lnTo>
                  <a:pt x="17372" y="10169"/>
                </a:lnTo>
                <a:lnTo>
                  <a:pt x="17396" y="10125"/>
                </a:lnTo>
                <a:lnTo>
                  <a:pt x="17419" y="10081"/>
                </a:lnTo>
                <a:lnTo>
                  <a:pt x="17442" y="10037"/>
                </a:lnTo>
                <a:lnTo>
                  <a:pt x="17463" y="9992"/>
                </a:lnTo>
                <a:lnTo>
                  <a:pt x="17485" y="9946"/>
                </a:lnTo>
                <a:lnTo>
                  <a:pt x="17505" y="9900"/>
                </a:lnTo>
                <a:lnTo>
                  <a:pt x="17524" y="9853"/>
                </a:lnTo>
                <a:lnTo>
                  <a:pt x="17543" y="9805"/>
                </a:lnTo>
                <a:lnTo>
                  <a:pt x="17561" y="9757"/>
                </a:lnTo>
                <a:lnTo>
                  <a:pt x="17578" y="9708"/>
                </a:lnTo>
                <a:lnTo>
                  <a:pt x="17594" y="9657"/>
                </a:lnTo>
                <a:lnTo>
                  <a:pt x="17609" y="9606"/>
                </a:lnTo>
                <a:lnTo>
                  <a:pt x="17622" y="9553"/>
                </a:lnTo>
                <a:lnTo>
                  <a:pt x="17636" y="9501"/>
                </a:lnTo>
                <a:lnTo>
                  <a:pt x="17648" y="9446"/>
                </a:lnTo>
                <a:lnTo>
                  <a:pt x="17659" y="9391"/>
                </a:lnTo>
                <a:lnTo>
                  <a:pt x="17669" y="9334"/>
                </a:lnTo>
                <a:lnTo>
                  <a:pt x="17673" y="9309"/>
                </a:lnTo>
                <a:lnTo>
                  <a:pt x="17675" y="9283"/>
                </a:lnTo>
                <a:lnTo>
                  <a:pt x="17675" y="9255"/>
                </a:lnTo>
                <a:lnTo>
                  <a:pt x="17674" y="9226"/>
                </a:lnTo>
                <a:lnTo>
                  <a:pt x="17672" y="9196"/>
                </a:lnTo>
                <a:lnTo>
                  <a:pt x="17669" y="9165"/>
                </a:lnTo>
                <a:lnTo>
                  <a:pt x="17665" y="9133"/>
                </a:lnTo>
                <a:lnTo>
                  <a:pt x="17659" y="9101"/>
                </a:lnTo>
                <a:lnTo>
                  <a:pt x="17653" y="9068"/>
                </a:lnTo>
                <a:lnTo>
                  <a:pt x="17645" y="9034"/>
                </a:lnTo>
                <a:lnTo>
                  <a:pt x="17637" y="8999"/>
                </a:lnTo>
                <a:lnTo>
                  <a:pt x="17629" y="8965"/>
                </a:lnTo>
                <a:lnTo>
                  <a:pt x="17609" y="8895"/>
                </a:lnTo>
                <a:lnTo>
                  <a:pt x="17587" y="8825"/>
                </a:lnTo>
                <a:lnTo>
                  <a:pt x="17563" y="8757"/>
                </a:lnTo>
                <a:lnTo>
                  <a:pt x="17539" y="8689"/>
                </a:lnTo>
                <a:lnTo>
                  <a:pt x="17513" y="8624"/>
                </a:lnTo>
                <a:lnTo>
                  <a:pt x="17487" y="8563"/>
                </a:lnTo>
                <a:lnTo>
                  <a:pt x="17462" y="8506"/>
                </a:lnTo>
                <a:lnTo>
                  <a:pt x="17437" y="8455"/>
                </a:lnTo>
                <a:lnTo>
                  <a:pt x="17415" y="8408"/>
                </a:lnTo>
                <a:lnTo>
                  <a:pt x="17394" y="8369"/>
                </a:lnTo>
                <a:lnTo>
                  <a:pt x="17360" y="8310"/>
                </a:lnTo>
                <a:lnTo>
                  <a:pt x="17328" y="8254"/>
                </a:lnTo>
                <a:lnTo>
                  <a:pt x="17297" y="8203"/>
                </a:lnTo>
                <a:lnTo>
                  <a:pt x="17268" y="8155"/>
                </a:lnTo>
                <a:lnTo>
                  <a:pt x="17239" y="8109"/>
                </a:lnTo>
                <a:lnTo>
                  <a:pt x="17210" y="8066"/>
                </a:lnTo>
                <a:lnTo>
                  <a:pt x="17182" y="8023"/>
                </a:lnTo>
                <a:lnTo>
                  <a:pt x="17153" y="7981"/>
                </a:lnTo>
                <a:lnTo>
                  <a:pt x="17123" y="7941"/>
                </a:lnTo>
                <a:lnTo>
                  <a:pt x="17093" y="7900"/>
                </a:lnTo>
                <a:lnTo>
                  <a:pt x="17062" y="7858"/>
                </a:lnTo>
                <a:lnTo>
                  <a:pt x="17029" y="7816"/>
                </a:lnTo>
                <a:lnTo>
                  <a:pt x="16958" y="7727"/>
                </a:lnTo>
                <a:lnTo>
                  <a:pt x="16877" y="7627"/>
                </a:lnTo>
                <a:lnTo>
                  <a:pt x="16843" y="7585"/>
                </a:lnTo>
                <a:lnTo>
                  <a:pt x="16805" y="7540"/>
                </a:lnTo>
                <a:lnTo>
                  <a:pt x="16766" y="7493"/>
                </a:lnTo>
                <a:lnTo>
                  <a:pt x="16725" y="7446"/>
                </a:lnTo>
                <a:lnTo>
                  <a:pt x="16641" y="7350"/>
                </a:lnTo>
                <a:lnTo>
                  <a:pt x="16551" y="7253"/>
                </a:lnTo>
                <a:lnTo>
                  <a:pt x="16462" y="7157"/>
                </a:lnTo>
                <a:lnTo>
                  <a:pt x="16373" y="7065"/>
                </a:lnTo>
                <a:lnTo>
                  <a:pt x="16287" y="6978"/>
                </a:lnTo>
                <a:lnTo>
                  <a:pt x="16207" y="6899"/>
                </a:lnTo>
                <a:lnTo>
                  <a:pt x="16179" y="6872"/>
                </a:lnTo>
                <a:lnTo>
                  <a:pt x="16153" y="6842"/>
                </a:lnTo>
                <a:lnTo>
                  <a:pt x="16127" y="6811"/>
                </a:lnTo>
                <a:lnTo>
                  <a:pt x="16099" y="6779"/>
                </a:lnTo>
                <a:lnTo>
                  <a:pt x="16071" y="6747"/>
                </a:lnTo>
                <a:lnTo>
                  <a:pt x="16042" y="6715"/>
                </a:lnTo>
                <a:lnTo>
                  <a:pt x="16011" y="6683"/>
                </a:lnTo>
                <a:lnTo>
                  <a:pt x="15979" y="6652"/>
                </a:lnTo>
                <a:lnTo>
                  <a:pt x="14313" y="5186"/>
                </a:lnTo>
                <a:lnTo>
                  <a:pt x="14230" y="5121"/>
                </a:lnTo>
                <a:lnTo>
                  <a:pt x="14144" y="5052"/>
                </a:lnTo>
                <a:lnTo>
                  <a:pt x="14058" y="4981"/>
                </a:lnTo>
                <a:lnTo>
                  <a:pt x="13972" y="4911"/>
                </a:lnTo>
                <a:lnTo>
                  <a:pt x="13885" y="4840"/>
                </a:lnTo>
                <a:lnTo>
                  <a:pt x="13797" y="4769"/>
                </a:lnTo>
                <a:lnTo>
                  <a:pt x="13709" y="4700"/>
                </a:lnTo>
                <a:lnTo>
                  <a:pt x="13622" y="4634"/>
                </a:lnTo>
                <a:lnTo>
                  <a:pt x="13528" y="4565"/>
                </a:lnTo>
                <a:lnTo>
                  <a:pt x="13437" y="4496"/>
                </a:lnTo>
                <a:lnTo>
                  <a:pt x="13348" y="4430"/>
                </a:lnTo>
                <a:lnTo>
                  <a:pt x="13259" y="4364"/>
                </a:lnTo>
                <a:lnTo>
                  <a:pt x="13172" y="4299"/>
                </a:lnTo>
                <a:lnTo>
                  <a:pt x="13085" y="4234"/>
                </a:lnTo>
                <a:lnTo>
                  <a:pt x="12999" y="4170"/>
                </a:lnTo>
                <a:lnTo>
                  <a:pt x="12913" y="4107"/>
                </a:lnTo>
                <a:lnTo>
                  <a:pt x="12826" y="4043"/>
                </a:lnTo>
                <a:lnTo>
                  <a:pt x="12738" y="3980"/>
                </a:lnTo>
                <a:lnTo>
                  <a:pt x="12650" y="3916"/>
                </a:lnTo>
                <a:lnTo>
                  <a:pt x="12559" y="3852"/>
                </a:lnTo>
                <a:lnTo>
                  <a:pt x="12468" y="3787"/>
                </a:lnTo>
                <a:lnTo>
                  <a:pt x="12373" y="3722"/>
                </a:lnTo>
                <a:lnTo>
                  <a:pt x="12276" y="3655"/>
                </a:lnTo>
                <a:lnTo>
                  <a:pt x="12177" y="3589"/>
                </a:lnTo>
                <a:lnTo>
                  <a:pt x="12083" y="3525"/>
                </a:lnTo>
                <a:lnTo>
                  <a:pt x="11988" y="3463"/>
                </a:lnTo>
                <a:lnTo>
                  <a:pt x="11893" y="3402"/>
                </a:lnTo>
                <a:lnTo>
                  <a:pt x="11798" y="3340"/>
                </a:lnTo>
                <a:lnTo>
                  <a:pt x="11702" y="3280"/>
                </a:lnTo>
                <a:lnTo>
                  <a:pt x="11606" y="3219"/>
                </a:lnTo>
                <a:lnTo>
                  <a:pt x="11509" y="3158"/>
                </a:lnTo>
                <a:lnTo>
                  <a:pt x="11411" y="3097"/>
                </a:lnTo>
                <a:lnTo>
                  <a:pt x="11318" y="3037"/>
                </a:lnTo>
                <a:lnTo>
                  <a:pt x="11222" y="2979"/>
                </a:lnTo>
                <a:lnTo>
                  <a:pt x="11125" y="2920"/>
                </a:lnTo>
                <a:lnTo>
                  <a:pt x="11028" y="2863"/>
                </a:lnTo>
                <a:lnTo>
                  <a:pt x="10930" y="2806"/>
                </a:lnTo>
                <a:lnTo>
                  <a:pt x="10831" y="2749"/>
                </a:lnTo>
                <a:lnTo>
                  <a:pt x="10732" y="2692"/>
                </a:lnTo>
                <a:lnTo>
                  <a:pt x="10631" y="2635"/>
                </a:lnTo>
                <a:lnTo>
                  <a:pt x="10529" y="2579"/>
                </a:lnTo>
                <a:lnTo>
                  <a:pt x="10427" y="2523"/>
                </a:lnTo>
                <a:lnTo>
                  <a:pt x="10326" y="2468"/>
                </a:lnTo>
                <a:lnTo>
                  <a:pt x="10223" y="2413"/>
                </a:lnTo>
                <a:lnTo>
                  <a:pt x="10120" y="2359"/>
                </a:lnTo>
                <a:lnTo>
                  <a:pt x="10015" y="2305"/>
                </a:lnTo>
                <a:lnTo>
                  <a:pt x="9911" y="2251"/>
                </a:lnTo>
                <a:lnTo>
                  <a:pt x="9807" y="2198"/>
                </a:lnTo>
                <a:lnTo>
                  <a:pt x="9735" y="2162"/>
                </a:lnTo>
                <a:lnTo>
                  <a:pt x="9660" y="2124"/>
                </a:lnTo>
                <a:lnTo>
                  <a:pt x="9583" y="2086"/>
                </a:lnTo>
                <a:lnTo>
                  <a:pt x="9504" y="2047"/>
                </a:lnTo>
                <a:lnTo>
                  <a:pt x="9423" y="2010"/>
                </a:lnTo>
                <a:lnTo>
                  <a:pt x="9340" y="1971"/>
                </a:lnTo>
                <a:lnTo>
                  <a:pt x="9258" y="1932"/>
                </a:lnTo>
                <a:lnTo>
                  <a:pt x="9174" y="1893"/>
                </a:lnTo>
                <a:lnTo>
                  <a:pt x="9091" y="1855"/>
                </a:lnTo>
                <a:lnTo>
                  <a:pt x="9006" y="1816"/>
                </a:lnTo>
                <a:lnTo>
                  <a:pt x="8923" y="1780"/>
                </a:lnTo>
                <a:lnTo>
                  <a:pt x="8840" y="1743"/>
                </a:lnTo>
                <a:lnTo>
                  <a:pt x="8759" y="1707"/>
                </a:lnTo>
                <a:lnTo>
                  <a:pt x="8679" y="1673"/>
                </a:lnTo>
                <a:lnTo>
                  <a:pt x="8600" y="1640"/>
                </a:lnTo>
                <a:lnTo>
                  <a:pt x="8523" y="1608"/>
                </a:lnTo>
                <a:lnTo>
                  <a:pt x="8472" y="1587"/>
                </a:lnTo>
                <a:lnTo>
                  <a:pt x="8417" y="1562"/>
                </a:lnTo>
                <a:lnTo>
                  <a:pt x="8360" y="1537"/>
                </a:lnTo>
                <a:lnTo>
                  <a:pt x="8300" y="1511"/>
                </a:lnTo>
                <a:lnTo>
                  <a:pt x="8242" y="1485"/>
                </a:lnTo>
                <a:lnTo>
                  <a:pt x="8184" y="1461"/>
                </a:lnTo>
                <a:lnTo>
                  <a:pt x="8156" y="1451"/>
                </a:lnTo>
                <a:lnTo>
                  <a:pt x="8129" y="1442"/>
                </a:lnTo>
                <a:lnTo>
                  <a:pt x="8102" y="1433"/>
                </a:lnTo>
                <a:lnTo>
                  <a:pt x="8078" y="1426"/>
                </a:lnTo>
                <a:close/>
              </a:path>
            </a:pathLst>
          </a:custGeom>
          <a:solidFill>
            <a:schemeClr val="accent2"/>
          </a:solidFill>
          <a:ln cap="sq">
            <a:noFill/>
          </a:ln>
        </p:spPr>
        <p:txBody>
          <a:bodyPr vert="horz" wrap="square" lIns="91440" tIns="45720" rIns="91440" bIns="45720" rtlCol="0" anchor="t"/>
          <a:lstStyle/>
          <a:p>
            <a:pPr algn="l"/>
            <a:endParaRPr kumimoji="1" lang="zh-CN" altLang="en-US"/>
          </a:p>
        </p:txBody>
      </p:sp>
      <p:sp>
        <p:nvSpPr>
          <p:cNvPr id="17" name="标题 1"/>
          <p:cNvSpPr txBox="1"/>
          <p:nvPr/>
        </p:nvSpPr>
        <p:spPr>
          <a:xfrm>
            <a:off x="6559136" y="3965956"/>
            <a:ext cx="4536000" cy="828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Supervisión general del equipo.</a:t>
            </a:r>
            <a:endParaRPr kumimoji="1" lang="zh-CN" altLang="en-US"/>
          </a:p>
        </p:txBody>
      </p:sp>
      <p:sp>
        <p:nvSpPr>
          <p:cNvPr id="18" name="标题 1"/>
          <p:cNvSpPr txBox="1"/>
          <p:nvPr/>
        </p:nvSpPr>
        <p:spPr>
          <a:xfrm>
            <a:off x="6309032" y="4040275"/>
            <a:ext cx="126854" cy="131412"/>
          </a:xfrm>
          <a:custGeom>
            <a:avLst/>
            <a:gdLst>
              <a:gd name="T0" fmla="*/ 7371 w 17675"/>
              <a:gd name="T1" fmla="*/ 1125 h 18310"/>
              <a:gd name="T2" fmla="*/ 5959 w 17675"/>
              <a:gd name="T3" fmla="*/ 593 h 18310"/>
              <a:gd name="T4" fmla="*/ 4735 w 17675"/>
              <a:gd name="T5" fmla="*/ 240 h 18310"/>
              <a:gd name="T6" fmla="*/ 3627 w 17675"/>
              <a:gd name="T7" fmla="*/ 54 h 18310"/>
              <a:gd name="T8" fmla="*/ 2806 w 17675"/>
              <a:gd name="T9" fmla="*/ 7 h 18310"/>
              <a:gd name="T10" fmla="*/ 2454 w 17675"/>
              <a:gd name="T11" fmla="*/ 85 h 18310"/>
              <a:gd name="T12" fmla="*/ 2132 w 17675"/>
              <a:gd name="T13" fmla="*/ 262 h 18310"/>
              <a:gd name="T14" fmla="*/ 1838 w 17675"/>
              <a:gd name="T15" fmla="*/ 533 h 18310"/>
              <a:gd name="T16" fmla="*/ 1454 w 17675"/>
              <a:gd name="T17" fmla="*/ 1111 h 18310"/>
              <a:gd name="T18" fmla="*/ 1261 w 17675"/>
              <a:gd name="T19" fmla="*/ 1545 h 18310"/>
              <a:gd name="T20" fmla="*/ 1008 w 17675"/>
              <a:gd name="T21" fmla="*/ 2315 h 18310"/>
              <a:gd name="T22" fmla="*/ 836 w 17675"/>
              <a:gd name="T23" fmla="*/ 2906 h 18310"/>
              <a:gd name="T24" fmla="*/ 683 w 17675"/>
              <a:gd name="T25" fmla="*/ 3519 h 18310"/>
              <a:gd name="T26" fmla="*/ 506 w 17675"/>
              <a:gd name="T27" fmla="*/ 4330 h 18310"/>
              <a:gd name="T28" fmla="*/ 356 w 17675"/>
              <a:gd name="T29" fmla="*/ 5177 h 18310"/>
              <a:gd name="T30" fmla="*/ 199 w 17675"/>
              <a:gd name="T31" fmla="*/ 6352 h 18310"/>
              <a:gd name="T32" fmla="*/ 65 w 17675"/>
              <a:gd name="T33" fmla="*/ 7805 h 18310"/>
              <a:gd name="T34" fmla="*/ 1 w 17675"/>
              <a:gd name="T35" fmla="*/ 9354 h 18310"/>
              <a:gd name="T36" fmla="*/ 54 w 17675"/>
              <a:gd name="T37" fmla="*/ 10490 h 18310"/>
              <a:gd name="T38" fmla="*/ 149 w 17675"/>
              <a:gd name="T39" fmla="*/ 11811 h 18310"/>
              <a:gd name="T40" fmla="*/ 298 w 17675"/>
              <a:gd name="T41" fmla="*/ 13066 h 18310"/>
              <a:gd name="T42" fmla="*/ 650 w 17675"/>
              <a:gd name="T43" fmla="*/ 14979 h 18310"/>
              <a:gd name="T44" fmla="*/ 991 w 17675"/>
              <a:gd name="T45" fmla="*/ 16266 h 18310"/>
              <a:gd name="T46" fmla="*/ 1332 w 17675"/>
              <a:gd name="T47" fmla="*/ 17156 h 18310"/>
              <a:gd name="T48" fmla="*/ 1598 w 17675"/>
              <a:gd name="T49" fmla="*/ 17614 h 18310"/>
              <a:gd name="T50" fmla="*/ 1917 w 17675"/>
              <a:gd name="T51" fmla="*/ 17970 h 18310"/>
              <a:gd name="T52" fmla="*/ 2349 w 17675"/>
              <a:gd name="T53" fmla="*/ 18232 h 18310"/>
              <a:gd name="T54" fmla="*/ 2745 w 17675"/>
              <a:gd name="T55" fmla="*/ 18309 h 18310"/>
              <a:gd name="T56" fmla="*/ 3384 w 17675"/>
              <a:gd name="T57" fmla="*/ 18287 h 18310"/>
              <a:gd name="T58" fmla="*/ 4157 w 17675"/>
              <a:gd name="T59" fmla="*/ 18192 h 18310"/>
              <a:gd name="T60" fmla="*/ 5006 w 17675"/>
              <a:gd name="T61" fmla="*/ 18009 h 18310"/>
              <a:gd name="T62" fmla="*/ 6483 w 17675"/>
              <a:gd name="T63" fmla="*/ 17544 h 18310"/>
              <a:gd name="T64" fmla="*/ 7200 w 17675"/>
              <a:gd name="T65" fmla="*/ 17277 h 18310"/>
              <a:gd name="T66" fmla="*/ 8295 w 17675"/>
              <a:gd name="T67" fmla="*/ 16841 h 18310"/>
              <a:gd name="T68" fmla="*/ 8872 w 17675"/>
              <a:gd name="T69" fmla="*/ 16605 h 18310"/>
              <a:gd name="T70" fmla="*/ 9346 w 17675"/>
              <a:gd name="T71" fmla="*/ 16391 h 18310"/>
              <a:gd name="T72" fmla="*/ 10057 w 17675"/>
              <a:gd name="T73" fmla="*/ 16048 h 18310"/>
              <a:gd name="T74" fmla="*/ 10903 w 17675"/>
              <a:gd name="T75" fmla="*/ 15584 h 18310"/>
              <a:gd name="T76" fmla="*/ 11867 w 17675"/>
              <a:gd name="T77" fmla="*/ 14997 h 18310"/>
              <a:gd name="T78" fmla="*/ 12590 w 17675"/>
              <a:gd name="T79" fmla="*/ 14528 h 18310"/>
              <a:gd name="T80" fmla="*/ 13212 w 17675"/>
              <a:gd name="T81" fmla="*/ 14088 h 18310"/>
              <a:gd name="T82" fmla="*/ 14481 w 17675"/>
              <a:gd name="T83" fmla="*/ 13112 h 18310"/>
              <a:gd name="T84" fmla="*/ 14802 w 17675"/>
              <a:gd name="T85" fmla="*/ 12854 h 18310"/>
              <a:gd name="T86" fmla="*/ 15451 w 17675"/>
              <a:gd name="T87" fmla="*/ 12291 h 18310"/>
              <a:gd name="T88" fmla="*/ 15927 w 17675"/>
              <a:gd name="T89" fmla="*/ 11853 h 18310"/>
              <a:gd name="T90" fmla="*/ 16443 w 17675"/>
              <a:gd name="T91" fmla="*/ 11335 h 18310"/>
              <a:gd name="T92" fmla="*/ 16856 w 17675"/>
              <a:gd name="T93" fmla="*/ 10896 h 18310"/>
              <a:gd name="T94" fmla="*/ 17295 w 17675"/>
              <a:gd name="T95" fmla="*/ 10296 h 18310"/>
              <a:gd name="T96" fmla="*/ 17543 w 17675"/>
              <a:gd name="T97" fmla="*/ 9805 h 18310"/>
              <a:gd name="T98" fmla="*/ 17675 w 17675"/>
              <a:gd name="T99" fmla="*/ 9283 h 18310"/>
              <a:gd name="T100" fmla="*/ 17609 w 17675"/>
              <a:gd name="T101" fmla="*/ 8895 h 18310"/>
              <a:gd name="T102" fmla="*/ 17328 w 17675"/>
              <a:gd name="T103" fmla="*/ 8254 h 18310"/>
              <a:gd name="T104" fmla="*/ 16958 w 17675"/>
              <a:gd name="T105" fmla="*/ 7727 h 18310"/>
              <a:gd name="T106" fmla="*/ 16207 w 17675"/>
              <a:gd name="T107" fmla="*/ 6899 h 18310"/>
              <a:gd name="T108" fmla="*/ 14144 w 17675"/>
              <a:gd name="T109" fmla="*/ 5052 h 18310"/>
              <a:gd name="T110" fmla="*/ 13172 w 17675"/>
              <a:gd name="T111" fmla="*/ 4299 h 18310"/>
              <a:gd name="T112" fmla="*/ 12177 w 17675"/>
              <a:gd name="T113" fmla="*/ 3589 h 18310"/>
              <a:gd name="T114" fmla="*/ 11125 w 17675"/>
              <a:gd name="T115" fmla="*/ 2920 h 18310"/>
              <a:gd name="T116" fmla="*/ 10015 w 17675"/>
              <a:gd name="T117" fmla="*/ 2305 h 18310"/>
              <a:gd name="T118" fmla="*/ 9091 w 17675"/>
              <a:gd name="T119" fmla="*/ 1855 h 18310"/>
              <a:gd name="T120" fmla="*/ 8300 w 17675"/>
              <a:gd name="T121" fmla="*/ 1511 h 18310"/>
            </a:gdLst>
            <a:ahLst/>
            <a:cxnLst/>
            <a:rect l="0" t="0" r="r" b="b"/>
            <a:pathLst>
              <a:path w="17675" h="18310">
                <a:moveTo>
                  <a:pt x="8078" y="1426"/>
                </a:moveTo>
                <a:lnTo>
                  <a:pt x="8047" y="1409"/>
                </a:lnTo>
                <a:lnTo>
                  <a:pt x="8014" y="1392"/>
                </a:lnTo>
                <a:lnTo>
                  <a:pt x="7978" y="1376"/>
                </a:lnTo>
                <a:lnTo>
                  <a:pt x="7940" y="1360"/>
                </a:lnTo>
                <a:lnTo>
                  <a:pt x="7901" y="1345"/>
                </a:lnTo>
                <a:lnTo>
                  <a:pt x="7862" y="1330"/>
                </a:lnTo>
                <a:lnTo>
                  <a:pt x="7825" y="1315"/>
                </a:lnTo>
                <a:lnTo>
                  <a:pt x="7791" y="1301"/>
                </a:lnTo>
                <a:lnTo>
                  <a:pt x="7583" y="1213"/>
                </a:lnTo>
                <a:lnTo>
                  <a:pt x="7371" y="1125"/>
                </a:lnTo>
                <a:lnTo>
                  <a:pt x="7158" y="1038"/>
                </a:lnTo>
                <a:lnTo>
                  <a:pt x="6943" y="953"/>
                </a:lnTo>
                <a:lnTo>
                  <a:pt x="6836" y="911"/>
                </a:lnTo>
                <a:lnTo>
                  <a:pt x="6727" y="869"/>
                </a:lnTo>
                <a:lnTo>
                  <a:pt x="6618" y="827"/>
                </a:lnTo>
                <a:lnTo>
                  <a:pt x="6508" y="787"/>
                </a:lnTo>
                <a:lnTo>
                  <a:pt x="6400" y="747"/>
                </a:lnTo>
                <a:lnTo>
                  <a:pt x="6290" y="707"/>
                </a:lnTo>
                <a:lnTo>
                  <a:pt x="6180" y="668"/>
                </a:lnTo>
                <a:lnTo>
                  <a:pt x="6070" y="631"/>
                </a:lnTo>
                <a:lnTo>
                  <a:pt x="5959" y="593"/>
                </a:lnTo>
                <a:lnTo>
                  <a:pt x="5848" y="556"/>
                </a:lnTo>
                <a:lnTo>
                  <a:pt x="5737" y="521"/>
                </a:lnTo>
                <a:lnTo>
                  <a:pt x="5626" y="485"/>
                </a:lnTo>
                <a:lnTo>
                  <a:pt x="5515" y="451"/>
                </a:lnTo>
                <a:lnTo>
                  <a:pt x="5404" y="418"/>
                </a:lnTo>
                <a:lnTo>
                  <a:pt x="5292" y="386"/>
                </a:lnTo>
                <a:lnTo>
                  <a:pt x="5181" y="355"/>
                </a:lnTo>
                <a:lnTo>
                  <a:pt x="5069" y="324"/>
                </a:lnTo>
                <a:lnTo>
                  <a:pt x="4958" y="295"/>
                </a:lnTo>
                <a:lnTo>
                  <a:pt x="4846" y="267"/>
                </a:lnTo>
                <a:lnTo>
                  <a:pt x="4735" y="240"/>
                </a:lnTo>
                <a:lnTo>
                  <a:pt x="4623" y="215"/>
                </a:lnTo>
                <a:lnTo>
                  <a:pt x="4511" y="191"/>
                </a:lnTo>
                <a:lnTo>
                  <a:pt x="4400" y="168"/>
                </a:lnTo>
                <a:lnTo>
                  <a:pt x="4287" y="146"/>
                </a:lnTo>
                <a:lnTo>
                  <a:pt x="4234" y="136"/>
                </a:lnTo>
                <a:lnTo>
                  <a:pt x="4162" y="125"/>
                </a:lnTo>
                <a:lnTo>
                  <a:pt x="4075" y="112"/>
                </a:lnTo>
                <a:lnTo>
                  <a:pt x="3975" y="98"/>
                </a:lnTo>
                <a:lnTo>
                  <a:pt x="3865" y="84"/>
                </a:lnTo>
                <a:lnTo>
                  <a:pt x="3749" y="69"/>
                </a:lnTo>
                <a:lnTo>
                  <a:pt x="3627" y="54"/>
                </a:lnTo>
                <a:lnTo>
                  <a:pt x="3504" y="40"/>
                </a:lnTo>
                <a:lnTo>
                  <a:pt x="3381" y="27"/>
                </a:lnTo>
                <a:lnTo>
                  <a:pt x="3262" y="17"/>
                </a:lnTo>
                <a:lnTo>
                  <a:pt x="3148" y="8"/>
                </a:lnTo>
                <a:lnTo>
                  <a:pt x="3043" y="2"/>
                </a:lnTo>
                <a:lnTo>
                  <a:pt x="2994" y="1"/>
                </a:lnTo>
                <a:lnTo>
                  <a:pt x="2949" y="0"/>
                </a:lnTo>
                <a:lnTo>
                  <a:pt x="2908" y="0"/>
                </a:lnTo>
                <a:lnTo>
                  <a:pt x="2869" y="1"/>
                </a:lnTo>
                <a:lnTo>
                  <a:pt x="2834" y="3"/>
                </a:lnTo>
                <a:lnTo>
                  <a:pt x="2806" y="7"/>
                </a:lnTo>
                <a:lnTo>
                  <a:pt x="2780" y="11"/>
                </a:lnTo>
                <a:lnTo>
                  <a:pt x="2761" y="17"/>
                </a:lnTo>
                <a:lnTo>
                  <a:pt x="2724" y="19"/>
                </a:lnTo>
                <a:lnTo>
                  <a:pt x="2689" y="24"/>
                </a:lnTo>
                <a:lnTo>
                  <a:pt x="2655" y="29"/>
                </a:lnTo>
                <a:lnTo>
                  <a:pt x="2620" y="35"/>
                </a:lnTo>
                <a:lnTo>
                  <a:pt x="2586" y="43"/>
                </a:lnTo>
                <a:lnTo>
                  <a:pt x="2552" y="53"/>
                </a:lnTo>
                <a:lnTo>
                  <a:pt x="2518" y="63"/>
                </a:lnTo>
                <a:lnTo>
                  <a:pt x="2486" y="73"/>
                </a:lnTo>
                <a:lnTo>
                  <a:pt x="2454" y="85"/>
                </a:lnTo>
                <a:lnTo>
                  <a:pt x="2423" y="97"/>
                </a:lnTo>
                <a:lnTo>
                  <a:pt x="2393" y="111"/>
                </a:lnTo>
                <a:lnTo>
                  <a:pt x="2363" y="125"/>
                </a:lnTo>
                <a:lnTo>
                  <a:pt x="2333" y="138"/>
                </a:lnTo>
                <a:lnTo>
                  <a:pt x="2306" y="153"/>
                </a:lnTo>
                <a:lnTo>
                  <a:pt x="2278" y="169"/>
                </a:lnTo>
                <a:lnTo>
                  <a:pt x="2252" y="184"/>
                </a:lnTo>
                <a:lnTo>
                  <a:pt x="2218" y="205"/>
                </a:lnTo>
                <a:lnTo>
                  <a:pt x="2187" y="224"/>
                </a:lnTo>
                <a:lnTo>
                  <a:pt x="2158" y="244"/>
                </a:lnTo>
                <a:lnTo>
                  <a:pt x="2132" y="262"/>
                </a:lnTo>
                <a:lnTo>
                  <a:pt x="2108" y="280"/>
                </a:lnTo>
                <a:lnTo>
                  <a:pt x="2086" y="298"/>
                </a:lnTo>
                <a:lnTo>
                  <a:pt x="2065" y="315"/>
                </a:lnTo>
                <a:lnTo>
                  <a:pt x="2046" y="332"/>
                </a:lnTo>
                <a:lnTo>
                  <a:pt x="2007" y="367"/>
                </a:lnTo>
                <a:lnTo>
                  <a:pt x="1968" y="405"/>
                </a:lnTo>
                <a:lnTo>
                  <a:pt x="1927" y="446"/>
                </a:lnTo>
                <a:lnTo>
                  <a:pt x="1878" y="491"/>
                </a:lnTo>
                <a:lnTo>
                  <a:pt x="1866" y="504"/>
                </a:lnTo>
                <a:lnTo>
                  <a:pt x="1853" y="517"/>
                </a:lnTo>
                <a:lnTo>
                  <a:pt x="1838" y="533"/>
                </a:lnTo>
                <a:lnTo>
                  <a:pt x="1823" y="550"/>
                </a:lnTo>
                <a:lnTo>
                  <a:pt x="1790" y="592"/>
                </a:lnTo>
                <a:lnTo>
                  <a:pt x="1754" y="637"/>
                </a:lnTo>
                <a:lnTo>
                  <a:pt x="1717" y="689"/>
                </a:lnTo>
                <a:lnTo>
                  <a:pt x="1679" y="744"/>
                </a:lnTo>
                <a:lnTo>
                  <a:pt x="1639" y="802"/>
                </a:lnTo>
                <a:lnTo>
                  <a:pt x="1600" y="863"/>
                </a:lnTo>
                <a:lnTo>
                  <a:pt x="1561" y="926"/>
                </a:lnTo>
                <a:lnTo>
                  <a:pt x="1524" y="988"/>
                </a:lnTo>
                <a:lnTo>
                  <a:pt x="1488" y="1051"/>
                </a:lnTo>
                <a:lnTo>
                  <a:pt x="1454" y="1111"/>
                </a:lnTo>
                <a:lnTo>
                  <a:pt x="1425" y="1170"/>
                </a:lnTo>
                <a:lnTo>
                  <a:pt x="1398" y="1226"/>
                </a:lnTo>
                <a:lnTo>
                  <a:pt x="1387" y="1252"/>
                </a:lnTo>
                <a:lnTo>
                  <a:pt x="1377" y="1277"/>
                </a:lnTo>
                <a:lnTo>
                  <a:pt x="1367" y="1301"/>
                </a:lnTo>
                <a:lnTo>
                  <a:pt x="1359" y="1323"/>
                </a:lnTo>
                <a:lnTo>
                  <a:pt x="1340" y="1362"/>
                </a:lnTo>
                <a:lnTo>
                  <a:pt x="1320" y="1404"/>
                </a:lnTo>
                <a:lnTo>
                  <a:pt x="1300" y="1449"/>
                </a:lnTo>
                <a:lnTo>
                  <a:pt x="1280" y="1496"/>
                </a:lnTo>
                <a:lnTo>
                  <a:pt x="1261" y="1545"/>
                </a:lnTo>
                <a:lnTo>
                  <a:pt x="1241" y="1596"/>
                </a:lnTo>
                <a:lnTo>
                  <a:pt x="1222" y="1648"/>
                </a:lnTo>
                <a:lnTo>
                  <a:pt x="1204" y="1702"/>
                </a:lnTo>
                <a:lnTo>
                  <a:pt x="1167" y="1808"/>
                </a:lnTo>
                <a:lnTo>
                  <a:pt x="1133" y="1915"/>
                </a:lnTo>
                <a:lnTo>
                  <a:pt x="1101" y="2016"/>
                </a:lnTo>
                <a:lnTo>
                  <a:pt x="1071" y="2110"/>
                </a:lnTo>
                <a:lnTo>
                  <a:pt x="1055" y="2162"/>
                </a:lnTo>
                <a:lnTo>
                  <a:pt x="1039" y="2213"/>
                </a:lnTo>
                <a:lnTo>
                  <a:pt x="1023" y="2264"/>
                </a:lnTo>
                <a:lnTo>
                  <a:pt x="1008" y="2315"/>
                </a:lnTo>
                <a:lnTo>
                  <a:pt x="992" y="2367"/>
                </a:lnTo>
                <a:lnTo>
                  <a:pt x="976" y="2418"/>
                </a:lnTo>
                <a:lnTo>
                  <a:pt x="960" y="2471"/>
                </a:lnTo>
                <a:lnTo>
                  <a:pt x="944" y="2523"/>
                </a:lnTo>
                <a:lnTo>
                  <a:pt x="929" y="2573"/>
                </a:lnTo>
                <a:lnTo>
                  <a:pt x="913" y="2626"/>
                </a:lnTo>
                <a:lnTo>
                  <a:pt x="896" y="2682"/>
                </a:lnTo>
                <a:lnTo>
                  <a:pt x="880" y="2740"/>
                </a:lnTo>
                <a:lnTo>
                  <a:pt x="864" y="2797"/>
                </a:lnTo>
                <a:lnTo>
                  <a:pt x="849" y="2852"/>
                </a:lnTo>
                <a:lnTo>
                  <a:pt x="836" y="2906"/>
                </a:lnTo>
                <a:lnTo>
                  <a:pt x="827" y="2955"/>
                </a:lnTo>
                <a:lnTo>
                  <a:pt x="818" y="2977"/>
                </a:lnTo>
                <a:lnTo>
                  <a:pt x="809" y="3003"/>
                </a:lnTo>
                <a:lnTo>
                  <a:pt x="800" y="3033"/>
                </a:lnTo>
                <a:lnTo>
                  <a:pt x="790" y="3067"/>
                </a:lnTo>
                <a:lnTo>
                  <a:pt x="770" y="3142"/>
                </a:lnTo>
                <a:lnTo>
                  <a:pt x="749" y="3225"/>
                </a:lnTo>
                <a:lnTo>
                  <a:pt x="730" y="3310"/>
                </a:lnTo>
                <a:lnTo>
                  <a:pt x="712" y="3390"/>
                </a:lnTo>
                <a:lnTo>
                  <a:pt x="696" y="3461"/>
                </a:lnTo>
                <a:lnTo>
                  <a:pt x="683" y="3519"/>
                </a:lnTo>
                <a:lnTo>
                  <a:pt x="666" y="3593"/>
                </a:lnTo>
                <a:lnTo>
                  <a:pt x="649" y="3667"/>
                </a:lnTo>
                <a:lnTo>
                  <a:pt x="633" y="3740"/>
                </a:lnTo>
                <a:lnTo>
                  <a:pt x="617" y="3813"/>
                </a:lnTo>
                <a:lnTo>
                  <a:pt x="601" y="3886"/>
                </a:lnTo>
                <a:lnTo>
                  <a:pt x="585" y="3960"/>
                </a:lnTo>
                <a:lnTo>
                  <a:pt x="569" y="4033"/>
                </a:lnTo>
                <a:lnTo>
                  <a:pt x="553" y="4108"/>
                </a:lnTo>
                <a:lnTo>
                  <a:pt x="537" y="4182"/>
                </a:lnTo>
                <a:lnTo>
                  <a:pt x="522" y="4256"/>
                </a:lnTo>
                <a:lnTo>
                  <a:pt x="506" y="4330"/>
                </a:lnTo>
                <a:lnTo>
                  <a:pt x="491" y="4406"/>
                </a:lnTo>
                <a:lnTo>
                  <a:pt x="476" y="4483"/>
                </a:lnTo>
                <a:lnTo>
                  <a:pt x="461" y="4559"/>
                </a:lnTo>
                <a:lnTo>
                  <a:pt x="447" y="4636"/>
                </a:lnTo>
                <a:lnTo>
                  <a:pt x="433" y="4714"/>
                </a:lnTo>
                <a:lnTo>
                  <a:pt x="419" y="4791"/>
                </a:lnTo>
                <a:lnTo>
                  <a:pt x="405" y="4868"/>
                </a:lnTo>
                <a:lnTo>
                  <a:pt x="392" y="4946"/>
                </a:lnTo>
                <a:lnTo>
                  <a:pt x="380" y="5024"/>
                </a:lnTo>
                <a:lnTo>
                  <a:pt x="367" y="5100"/>
                </a:lnTo>
                <a:lnTo>
                  <a:pt x="356" y="5177"/>
                </a:lnTo>
                <a:lnTo>
                  <a:pt x="346" y="5253"/>
                </a:lnTo>
                <a:lnTo>
                  <a:pt x="335" y="5328"/>
                </a:lnTo>
                <a:lnTo>
                  <a:pt x="320" y="5442"/>
                </a:lnTo>
                <a:lnTo>
                  <a:pt x="304" y="5555"/>
                </a:lnTo>
                <a:lnTo>
                  <a:pt x="289" y="5668"/>
                </a:lnTo>
                <a:lnTo>
                  <a:pt x="275" y="5781"/>
                </a:lnTo>
                <a:lnTo>
                  <a:pt x="259" y="5896"/>
                </a:lnTo>
                <a:lnTo>
                  <a:pt x="244" y="6009"/>
                </a:lnTo>
                <a:lnTo>
                  <a:pt x="229" y="6124"/>
                </a:lnTo>
                <a:lnTo>
                  <a:pt x="214" y="6238"/>
                </a:lnTo>
                <a:lnTo>
                  <a:pt x="199" y="6352"/>
                </a:lnTo>
                <a:lnTo>
                  <a:pt x="185" y="6467"/>
                </a:lnTo>
                <a:lnTo>
                  <a:pt x="173" y="6581"/>
                </a:lnTo>
                <a:lnTo>
                  <a:pt x="160" y="6697"/>
                </a:lnTo>
                <a:lnTo>
                  <a:pt x="148" y="6811"/>
                </a:lnTo>
                <a:lnTo>
                  <a:pt x="137" y="6927"/>
                </a:lnTo>
                <a:lnTo>
                  <a:pt x="127" y="7042"/>
                </a:lnTo>
                <a:lnTo>
                  <a:pt x="119" y="7158"/>
                </a:lnTo>
                <a:lnTo>
                  <a:pt x="105" y="7319"/>
                </a:lnTo>
                <a:lnTo>
                  <a:pt x="92" y="7481"/>
                </a:lnTo>
                <a:lnTo>
                  <a:pt x="79" y="7643"/>
                </a:lnTo>
                <a:lnTo>
                  <a:pt x="65" y="7805"/>
                </a:lnTo>
                <a:lnTo>
                  <a:pt x="54" y="7967"/>
                </a:lnTo>
                <a:lnTo>
                  <a:pt x="42" y="8130"/>
                </a:lnTo>
                <a:lnTo>
                  <a:pt x="31" y="8293"/>
                </a:lnTo>
                <a:lnTo>
                  <a:pt x="22" y="8456"/>
                </a:lnTo>
                <a:lnTo>
                  <a:pt x="14" y="8619"/>
                </a:lnTo>
                <a:lnTo>
                  <a:pt x="8" y="8782"/>
                </a:lnTo>
                <a:lnTo>
                  <a:pt x="3" y="8946"/>
                </a:lnTo>
                <a:lnTo>
                  <a:pt x="0" y="9109"/>
                </a:lnTo>
                <a:lnTo>
                  <a:pt x="0" y="9190"/>
                </a:lnTo>
                <a:lnTo>
                  <a:pt x="0" y="9273"/>
                </a:lnTo>
                <a:lnTo>
                  <a:pt x="1" y="9354"/>
                </a:lnTo>
                <a:lnTo>
                  <a:pt x="2" y="9437"/>
                </a:lnTo>
                <a:lnTo>
                  <a:pt x="3" y="9518"/>
                </a:lnTo>
                <a:lnTo>
                  <a:pt x="7" y="9599"/>
                </a:lnTo>
                <a:lnTo>
                  <a:pt x="10" y="9681"/>
                </a:lnTo>
                <a:lnTo>
                  <a:pt x="14" y="9763"/>
                </a:lnTo>
                <a:lnTo>
                  <a:pt x="21" y="9885"/>
                </a:lnTo>
                <a:lnTo>
                  <a:pt x="27" y="10006"/>
                </a:lnTo>
                <a:lnTo>
                  <a:pt x="34" y="10128"/>
                </a:lnTo>
                <a:lnTo>
                  <a:pt x="41" y="10249"/>
                </a:lnTo>
                <a:lnTo>
                  <a:pt x="47" y="10369"/>
                </a:lnTo>
                <a:lnTo>
                  <a:pt x="54" y="10490"/>
                </a:lnTo>
                <a:lnTo>
                  <a:pt x="61" y="10611"/>
                </a:lnTo>
                <a:lnTo>
                  <a:pt x="68" y="10731"/>
                </a:lnTo>
                <a:lnTo>
                  <a:pt x="74" y="10851"/>
                </a:lnTo>
                <a:lnTo>
                  <a:pt x="82" y="10971"/>
                </a:lnTo>
                <a:lnTo>
                  <a:pt x="90" y="11091"/>
                </a:lnTo>
                <a:lnTo>
                  <a:pt x="98" y="11213"/>
                </a:lnTo>
                <a:lnTo>
                  <a:pt x="108" y="11333"/>
                </a:lnTo>
                <a:lnTo>
                  <a:pt x="117" y="11454"/>
                </a:lnTo>
                <a:lnTo>
                  <a:pt x="127" y="11575"/>
                </a:lnTo>
                <a:lnTo>
                  <a:pt x="138" y="11697"/>
                </a:lnTo>
                <a:lnTo>
                  <a:pt x="149" y="11811"/>
                </a:lnTo>
                <a:lnTo>
                  <a:pt x="160" y="11926"/>
                </a:lnTo>
                <a:lnTo>
                  <a:pt x="172" y="12040"/>
                </a:lnTo>
                <a:lnTo>
                  <a:pt x="184" y="12154"/>
                </a:lnTo>
                <a:lnTo>
                  <a:pt x="197" y="12269"/>
                </a:lnTo>
                <a:lnTo>
                  <a:pt x="209" y="12383"/>
                </a:lnTo>
                <a:lnTo>
                  <a:pt x="223" y="12498"/>
                </a:lnTo>
                <a:lnTo>
                  <a:pt x="237" y="12611"/>
                </a:lnTo>
                <a:lnTo>
                  <a:pt x="252" y="12725"/>
                </a:lnTo>
                <a:lnTo>
                  <a:pt x="267" y="12839"/>
                </a:lnTo>
                <a:lnTo>
                  <a:pt x="281" y="12953"/>
                </a:lnTo>
                <a:lnTo>
                  <a:pt x="298" y="13066"/>
                </a:lnTo>
                <a:lnTo>
                  <a:pt x="314" y="13180"/>
                </a:lnTo>
                <a:lnTo>
                  <a:pt x="331" y="13293"/>
                </a:lnTo>
                <a:lnTo>
                  <a:pt x="349" y="13406"/>
                </a:lnTo>
                <a:lnTo>
                  <a:pt x="366" y="13519"/>
                </a:lnTo>
                <a:lnTo>
                  <a:pt x="398" y="13707"/>
                </a:lnTo>
                <a:lnTo>
                  <a:pt x="433" y="13905"/>
                </a:lnTo>
                <a:lnTo>
                  <a:pt x="470" y="14110"/>
                </a:lnTo>
                <a:lnTo>
                  <a:pt x="511" y="14322"/>
                </a:lnTo>
                <a:lnTo>
                  <a:pt x="555" y="14538"/>
                </a:lnTo>
                <a:lnTo>
                  <a:pt x="602" y="14757"/>
                </a:lnTo>
                <a:lnTo>
                  <a:pt x="650" y="14979"/>
                </a:lnTo>
                <a:lnTo>
                  <a:pt x="701" y="15200"/>
                </a:lnTo>
                <a:lnTo>
                  <a:pt x="729" y="15311"/>
                </a:lnTo>
                <a:lnTo>
                  <a:pt x="755" y="15420"/>
                </a:lnTo>
                <a:lnTo>
                  <a:pt x="784" y="15530"/>
                </a:lnTo>
                <a:lnTo>
                  <a:pt x="811" y="15639"/>
                </a:lnTo>
                <a:lnTo>
                  <a:pt x="840" y="15747"/>
                </a:lnTo>
                <a:lnTo>
                  <a:pt x="870" y="15854"/>
                </a:lnTo>
                <a:lnTo>
                  <a:pt x="899" y="15959"/>
                </a:lnTo>
                <a:lnTo>
                  <a:pt x="929" y="16064"/>
                </a:lnTo>
                <a:lnTo>
                  <a:pt x="960" y="16165"/>
                </a:lnTo>
                <a:lnTo>
                  <a:pt x="991" y="16266"/>
                </a:lnTo>
                <a:lnTo>
                  <a:pt x="1022" y="16365"/>
                </a:lnTo>
                <a:lnTo>
                  <a:pt x="1054" y="16461"/>
                </a:lnTo>
                <a:lnTo>
                  <a:pt x="1086" y="16556"/>
                </a:lnTo>
                <a:lnTo>
                  <a:pt x="1119" y="16646"/>
                </a:lnTo>
                <a:lnTo>
                  <a:pt x="1152" y="16735"/>
                </a:lnTo>
                <a:lnTo>
                  <a:pt x="1185" y="16821"/>
                </a:lnTo>
                <a:lnTo>
                  <a:pt x="1225" y="16920"/>
                </a:lnTo>
                <a:lnTo>
                  <a:pt x="1267" y="17017"/>
                </a:lnTo>
                <a:lnTo>
                  <a:pt x="1288" y="17064"/>
                </a:lnTo>
                <a:lnTo>
                  <a:pt x="1310" y="17111"/>
                </a:lnTo>
                <a:lnTo>
                  <a:pt x="1332" y="17156"/>
                </a:lnTo>
                <a:lnTo>
                  <a:pt x="1354" y="17202"/>
                </a:lnTo>
                <a:lnTo>
                  <a:pt x="1377" y="17247"/>
                </a:lnTo>
                <a:lnTo>
                  <a:pt x="1399" y="17290"/>
                </a:lnTo>
                <a:lnTo>
                  <a:pt x="1423" y="17334"/>
                </a:lnTo>
                <a:lnTo>
                  <a:pt x="1447" y="17376"/>
                </a:lnTo>
                <a:lnTo>
                  <a:pt x="1471" y="17417"/>
                </a:lnTo>
                <a:lnTo>
                  <a:pt x="1496" y="17459"/>
                </a:lnTo>
                <a:lnTo>
                  <a:pt x="1521" y="17499"/>
                </a:lnTo>
                <a:lnTo>
                  <a:pt x="1546" y="17538"/>
                </a:lnTo>
                <a:lnTo>
                  <a:pt x="1572" y="17576"/>
                </a:lnTo>
                <a:lnTo>
                  <a:pt x="1598" y="17614"/>
                </a:lnTo>
                <a:lnTo>
                  <a:pt x="1625" y="17651"/>
                </a:lnTo>
                <a:lnTo>
                  <a:pt x="1652" y="17687"/>
                </a:lnTo>
                <a:lnTo>
                  <a:pt x="1680" y="17722"/>
                </a:lnTo>
                <a:lnTo>
                  <a:pt x="1707" y="17756"/>
                </a:lnTo>
                <a:lnTo>
                  <a:pt x="1736" y="17789"/>
                </a:lnTo>
                <a:lnTo>
                  <a:pt x="1764" y="17822"/>
                </a:lnTo>
                <a:lnTo>
                  <a:pt x="1794" y="17853"/>
                </a:lnTo>
                <a:lnTo>
                  <a:pt x="1824" y="17884"/>
                </a:lnTo>
                <a:lnTo>
                  <a:pt x="1854" y="17914"/>
                </a:lnTo>
                <a:lnTo>
                  <a:pt x="1885" y="17943"/>
                </a:lnTo>
                <a:lnTo>
                  <a:pt x="1917" y="17970"/>
                </a:lnTo>
                <a:lnTo>
                  <a:pt x="1947" y="17998"/>
                </a:lnTo>
                <a:lnTo>
                  <a:pt x="1980" y="18023"/>
                </a:lnTo>
                <a:lnTo>
                  <a:pt x="2013" y="18048"/>
                </a:lnTo>
                <a:lnTo>
                  <a:pt x="2052" y="18075"/>
                </a:lnTo>
                <a:lnTo>
                  <a:pt x="2091" y="18102"/>
                </a:lnTo>
                <a:lnTo>
                  <a:pt x="2132" y="18127"/>
                </a:lnTo>
                <a:lnTo>
                  <a:pt x="2173" y="18151"/>
                </a:lnTo>
                <a:lnTo>
                  <a:pt x="2215" y="18174"/>
                </a:lnTo>
                <a:lnTo>
                  <a:pt x="2259" y="18194"/>
                </a:lnTo>
                <a:lnTo>
                  <a:pt x="2303" y="18214"/>
                </a:lnTo>
                <a:lnTo>
                  <a:pt x="2349" y="18232"/>
                </a:lnTo>
                <a:lnTo>
                  <a:pt x="2397" y="18249"/>
                </a:lnTo>
                <a:lnTo>
                  <a:pt x="2446" y="18264"/>
                </a:lnTo>
                <a:lnTo>
                  <a:pt x="2497" y="18277"/>
                </a:lnTo>
                <a:lnTo>
                  <a:pt x="2549" y="18287"/>
                </a:lnTo>
                <a:lnTo>
                  <a:pt x="2576" y="18292"/>
                </a:lnTo>
                <a:lnTo>
                  <a:pt x="2603" y="18296"/>
                </a:lnTo>
                <a:lnTo>
                  <a:pt x="2631" y="18300"/>
                </a:lnTo>
                <a:lnTo>
                  <a:pt x="2658" y="18303"/>
                </a:lnTo>
                <a:lnTo>
                  <a:pt x="2687" y="18305"/>
                </a:lnTo>
                <a:lnTo>
                  <a:pt x="2716" y="18308"/>
                </a:lnTo>
                <a:lnTo>
                  <a:pt x="2745" y="18309"/>
                </a:lnTo>
                <a:lnTo>
                  <a:pt x="2776" y="18309"/>
                </a:lnTo>
                <a:lnTo>
                  <a:pt x="2835" y="18310"/>
                </a:lnTo>
                <a:lnTo>
                  <a:pt x="2896" y="18310"/>
                </a:lnTo>
                <a:lnTo>
                  <a:pt x="2957" y="18309"/>
                </a:lnTo>
                <a:lnTo>
                  <a:pt x="3017" y="18308"/>
                </a:lnTo>
                <a:lnTo>
                  <a:pt x="3079" y="18305"/>
                </a:lnTo>
                <a:lnTo>
                  <a:pt x="3140" y="18303"/>
                </a:lnTo>
                <a:lnTo>
                  <a:pt x="3200" y="18300"/>
                </a:lnTo>
                <a:lnTo>
                  <a:pt x="3262" y="18296"/>
                </a:lnTo>
                <a:lnTo>
                  <a:pt x="3323" y="18292"/>
                </a:lnTo>
                <a:lnTo>
                  <a:pt x="3384" y="18287"/>
                </a:lnTo>
                <a:lnTo>
                  <a:pt x="3444" y="18283"/>
                </a:lnTo>
                <a:lnTo>
                  <a:pt x="3505" y="18277"/>
                </a:lnTo>
                <a:lnTo>
                  <a:pt x="3565" y="18271"/>
                </a:lnTo>
                <a:lnTo>
                  <a:pt x="3625" y="18264"/>
                </a:lnTo>
                <a:lnTo>
                  <a:pt x="3686" y="18257"/>
                </a:lnTo>
                <a:lnTo>
                  <a:pt x="3745" y="18250"/>
                </a:lnTo>
                <a:lnTo>
                  <a:pt x="3829" y="18240"/>
                </a:lnTo>
                <a:lnTo>
                  <a:pt x="3912" y="18230"/>
                </a:lnTo>
                <a:lnTo>
                  <a:pt x="3995" y="18218"/>
                </a:lnTo>
                <a:lnTo>
                  <a:pt x="4076" y="18206"/>
                </a:lnTo>
                <a:lnTo>
                  <a:pt x="4157" y="18192"/>
                </a:lnTo>
                <a:lnTo>
                  <a:pt x="4236" y="18178"/>
                </a:lnTo>
                <a:lnTo>
                  <a:pt x="4316" y="18165"/>
                </a:lnTo>
                <a:lnTo>
                  <a:pt x="4395" y="18150"/>
                </a:lnTo>
                <a:lnTo>
                  <a:pt x="4473" y="18134"/>
                </a:lnTo>
                <a:lnTo>
                  <a:pt x="4549" y="18118"/>
                </a:lnTo>
                <a:lnTo>
                  <a:pt x="4627" y="18101"/>
                </a:lnTo>
                <a:lnTo>
                  <a:pt x="4704" y="18083"/>
                </a:lnTo>
                <a:lnTo>
                  <a:pt x="4779" y="18066"/>
                </a:lnTo>
                <a:lnTo>
                  <a:pt x="4855" y="18048"/>
                </a:lnTo>
                <a:lnTo>
                  <a:pt x="4931" y="18028"/>
                </a:lnTo>
                <a:lnTo>
                  <a:pt x="5006" y="18009"/>
                </a:lnTo>
                <a:lnTo>
                  <a:pt x="5156" y="17969"/>
                </a:lnTo>
                <a:lnTo>
                  <a:pt x="5305" y="17927"/>
                </a:lnTo>
                <a:lnTo>
                  <a:pt x="5455" y="17882"/>
                </a:lnTo>
                <a:lnTo>
                  <a:pt x="5603" y="17836"/>
                </a:lnTo>
                <a:lnTo>
                  <a:pt x="5753" y="17789"/>
                </a:lnTo>
                <a:lnTo>
                  <a:pt x="5904" y="17741"/>
                </a:lnTo>
                <a:lnTo>
                  <a:pt x="6056" y="17691"/>
                </a:lnTo>
                <a:lnTo>
                  <a:pt x="6211" y="17639"/>
                </a:lnTo>
                <a:lnTo>
                  <a:pt x="6273" y="17619"/>
                </a:lnTo>
                <a:lnTo>
                  <a:pt x="6368" y="17586"/>
                </a:lnTo>
                <a:lnTo>
                  <a:pt x="6483" y="17544"/>
                </a:lnTo>
                <a:lnTo>
                  <a:pt x="6608" y="17501"/>
                </a:lnTo>
                <a:lnTo>
                  <a:pt x="6729" y="17456"/>
                </a:lnTo>
                <a:lnTo>
                  <a:pt x="6837" y="17415"/>
                </a:lnTo>
                <a:lnTo>
                  <a:pt x="6881" y="17398"/>
                </a:lnTo>
                <a:lnTo>
                  <a:pt x="6917" y="17382"/>
                </a:lnTo>
                <a:lnTo>
                  <a:pt x="6943" y="17369"/>
                </a:lnTo>
                <a:lnTo>
                  <a:pt x="6959" y="17361"/>
                </a:lnTo>
                <a:lnTo>
                  <a:pt x="6994" y="17351"/>
                </a:lnTo>
                <a:lnTo>
                  <a:pt x="7046" y="17333"/>
                </a:lnTo>
                <a:lnTo>
                  <a:pt x="7116" y="17308"/>
                </a:lnTo>
                <a:lnTo>
                  <a:pt x="7200" y="17277"/>
                </a:lnTo>
                <a:lnTo>
                  <a:pt x="7294" y="17240"/>
                </a:lnTo>
                <a:lnTo>
                  <a:pt x="7397" y="17200"/>
                </a:lnTo>
                <a:lnTo>
                  <a:pt x="7507" y="17156"/>
                </a:lnTo>
                <a:lnTo>
                  <a:pt x="7621" y="17112"/>
                </a:lnTo>
                <a:lnTo>
                  <a:pt x="7734" y="17066"/>
                </a:lnTo>
                <a:lnTo>
                  <a:pt x="7846" y="17021"/>
                </a:lnTo>
                <a:lnTo>
                  <a:pt x="7955" y="16977"/>
                </a:lnTo>
                <a:lnTo>
                  <a:pt x="8057" y="16937"/>
                </a:lnTo>
                <a:lnTo>
                  <a:pt x="8148" y="16899"/>
                </a:lnTo>
                <a:lnTo>
                  <a:pt x="8228" y="16867"/>
                </a:lnTo>
                <a:lnTo>
                  <a:pt x="8295" y="16841"/>
                </a:lnTo>
                <a:lnTo>
                  <a:pt x="8344" y="16821"/>
                </a:lnTo>
                <a:lnTo>
                  <a:pt x="8396" y="16799"/>
                </a:lnTo>
                <a:lnTo>
                  <a:pt x="8454" y="16778"/>
                </a:lnTo>
                <a:lnTo>
                  <a:pt x="8513" y="16755"/>
                </a:lnTo>
                <a:lnTo>
                  <a:pt x="8574" y="16731"/>
                </a:lnTo>
                <a:lnTo>
                  <a:pt x="8633" y="16707"/>
                </a:lnTo>
                <a:lnTo>
                  <a:pt x="8690" y="16682"/>
                </a:lnTo>
                <a:lnTo>
                  <a:pt x="8744" y="16658"/>
                </a:lnTo>
                <a:lnTo>
                  <a:pt x="8792" y="16633"/>
                </a:lnTo>
                <a:lnTo>
                  <a:pt x="8829" y="16621"/>
                </a:lnTo>
                <a:lnTo>
                  <a:pt x="8872" y="16605"/>
                </a:lnTo>
                <a:lnTo>
                  <a:pt x="8918" y="16587"/>
                </a:lnTo>
                <a:lnTo>
                  <a:pt x="8965" y="16565"/>
                </a:lnTo>
                <a:lnTo>
                  <a:pt x="9013" y="16543"/>
                </a:lnTo>
                <a:lnTo>
                  <a:pt x="9059" y="16522"/>
                </a:lnTo>
                <a:lnTo>
                  <a:pt x="9100" y="16502"/>
                </a:lnTo>
                <a:lnTo>
                  <a:pt x="9137" y="16485"/>
                </a:lnTo>
                <a:lnTo>
                  <a:pt x="9178" y="16465"/>
                </a:lnTo>
                <a:lnTo>
                  <a:pt x="9220" y="16447"/>
                </a:lnTo>
                <a:lnTo>
                  <a:pt x="9263" y="16429"/>
                </a:lnTo>
                <a:lnTo>
                  <a:pt x="9304" y="16409"/>
                </a:lnTo>
                <a:lnTo>
                  <a:pt x="9346" y="16391"/>
                </a:lnTo>
                <a:lnTo>
                  <a:pt x="9388" y="16371"/>
                </a:lnTo>
                <a:lnTo>
                  <a:pt x="9430" y="16352"/>
                </a:lnTo>
                <a:lnTo>
                  <a:pt x="9471" y="16331"/>
                </a:lnTo>
                <a:lnTo>
                  <a:pt x="9550" y="16292"/>
                </a:lnTo>
                <a:lnTo>
                  <a:pt x="9633" y="16254"/>
                </a:lnTo>
                <a:lnTo>
                  <a:pt x="9720" y="16214"/>
                </a:lnTo>
                <a:lnTo>
                  <a:pt x="9807" y="16173"/>
                </a:lnTo>
                <a:lnTo>
                  <a:pt x="9894" y="16132"/>
                </a:lnTo>
                <a:lnTo>
                  <a:pt x="9978" y="16091"/>
                </a:lnTo>
                <a:lnTo>
                  <a:pt x="10018" y="16069"/>
                </a:lnTo>
                <a:lnTo>
                  <a:pt x="10057" y="16048"/>
                </a:lnTo>
                <a:lnTo>
                  <a:pt x="10093" y="16026"/>
                </a:lnTo>
                <a:lnTo>
                  <a:pt x="10129" y="16004"/>
                </a:lnTo>
                <a:lnTo>
                  <a:pt x="10153" y="15994"/>
                </a:lnTo>
                <a:lnTo>
                  <a:pt x="10184" y="15979"/>
                </a:lnTo>
                <a:lnTo>
                  <a:pt x="10220" y="15962"/>
                </a:lnTo>
                <a:lnTo>
                  <a:pt x="10263" y="15939"/>
                </a:lnTo>
                <a:lnTo>
                  <a:pt x="10363" y="15886"/>
                </a:lnTo>
                <a:lnTo>
                  <a:pt x="10482" y="15821"/>
                </a:lnTo>
                <a:lnTo>
                  <a:pt x="10614" y="15748"/>
                </a:lnTo>
                <a:lnTo>
                  <a:pt x="10756" y="15669"/>
                </a:lnTo>
                <a:lnTo>
                  <a:pt x="10903" y="15584"/>
                </a:lnTo>
                <a:lnTo>
                  <a:pt x="11053" y="15498"/>
                </a:lnTo>
                <a:lnTo>
                  <a:pt x="11202" y="15411"/>
                </a:lnTo>
                <a:lnTo>
                  <a:pt x="11344" y="15328"/>
                </a:lnTo>
                <a:lnTo>
                  <a:pt x="11477" y="15249"/>
                </a:lnTo>
                <a:lnTo>
                  <a:pt x="11597" y="15176"/>
                </a:lnTo>
                <a:lnTo>
                  <a:pt x="11700" y="15111"/>
                </a:lnTo>
                <a:lnTo>
                  <a:pt x="11781" y="15060"/>
                </a:lnTo>
                <a:lnTo>
                  <a:pt x="11813" y="15038"/>
                </a:lnTo>
                <a:lnTo>
                  <a:pt x="11838" y="15021"/>
                </a:lnTo>
                <a:lnTo>
                  <a:pt x="11857" y="15007"/>
                </a:lnTo>
                <a:lnTo>
                  <a:pt x="11867" y="14997"/>
                </a:lnTo>
                <a:lnTo>
                  <a:pt x="11879" y="14991"/>
                </a:lnTo>
                <a:lnTo>
                  <a:pt x="11898" y="14982"/>
                </a:lnTo>
                <a:lnTo>
                  <a:pt x="11919" y="14970"/>
                </a:lnTo>
                <a:lnTo>
                  <a:pt x="11947" y="14954"/>
                </a:lnTo>
                <a:lnTo>
                  <a:pt x="12012" y="14913"/>
                </a:lnTo>
                <a:lnTo>
                  <a:pt x="12090" y="14864"/>
                </a:lnTo>
                <a:lnTo>
                  <a:pt x="12179" y="14806"/>
                </a:lnTo>
                <a:lnTo>
                  <a:pt x="12276" y="14741"/>
                </a:lnTo>
                <a:lnTo>
                  <a:pt x="12379" y="14672"/>
                </a:lnTo>
                <a:lnTo>
                  <a:pt x="12485" y="14600"/>
                </a:lnTo>
                <a:lnTo>
                  <a:pt x="12590" y="14528"/>
                </a:lnTo>
                <a:lnTo>
                  <a:pt x="12694" y="14457"/>
                </a:lnTo>
                <a:lnTo>
                  <a:pt x="12791" y="14388"/>
                </a:lnTo>
                <a:lnTo>
                  <a:pt x="12883" y="14324"/>
                </a:lnTo>
                <a:lnTo>
                  <a:pt x="12963" y="14267"/>
                </a:lnTo>
                <a:lnTo>
                  <a:pt x="13031" y="14218"/>
                </a:lnTo>
                <a:lnTo>
                  <a:pt x="13083" y="14179"/>
                </a:lnTo>
                <a:lnTo>
                  <a:pt x="13116" y="14152"/>
                </a:lnTo>
                <a:lnTo>
                  <a:pt x="13131" y="14143"/>
                </a:lnTo>
                <a:lnTo>
                  <a:pt x="13152" y="14131"/>
                </a:lnTo>
                <a:lnTo>
                  <a:pt x="13179" y="14112"/>
                </a:lnTo>
                <a:lnTo>
                  <a:pt x="13212" y="14088"/>
                </a:lnTo>
                <a:lnTo>
                  <a:pt x="13294" y="14030"/>
                </a:lnTo>
                <a:lnTo>
                  <a:pt x="13392" y="13958"/>
                </a:lnTo>
                <a:lnTo>
                  <a:pt x="13505" y="13873"/>
                </a:lnTo>
                <a:lnTo>
                  <a:pt x="13628" y="13779"/>
                </a:lnTo>
                <a:lnTo>
                  <a:pt x="13758" y="13680"/>
                </a:lnTo>
                <a:lnTo>
                  <a:pt x="13891" y="13578"/>
                </a:lnTo>
                <a:lnTo>
                  <a:pt x="14024" y="13475"/>
                </a:lnTo>
                <a:lnTo>
                  <a:pt x="14153" y="13374"/>
                </a:lnTo>
                <a:lnTo>
                  <a:pt x="14274" y="13278"/>
                </a:lnTo>
                <a:lnTo>
                  <a:pt x="14385" y="13190"/>
                </a:lnTo>
                <a:lnTo>
                  <a:pt x="14481" y="13112"/>
                </a:lnTo>
                <a:lnTo>
                  <a:pt x="14559" y="13048"/>
                </a:lnTo>
                <a:lnTo>
                  <a:pt x="14590" y="13022"/>
                </a:lnTo>
                <a:lnTo>
                  <a:pt x="14615" y="13000"/>
                </a:lnTo>
                <a:lnTo>
                  <a:pt x="14634" y="12982"/>
                </a:lnTo>
                <a:lnTo>
                  <a:pt x="14645" y="12970"/>
                </a:lnTo>
                <a:lnTo>
                  <a:pt x="14658" y="12963"/>
                </a:lnTo>
                <a:lnTo>
                  <a:pt x="14673" y="12954"/>
                </a:lnTo>
                <a:lnTo>
                  <a:pt x="14690" y="12942"/>
                </a:lnTo>
                <a:lnTo>
                  <a:pt x="14708" y="12928"/>
                </a:lnTo>
                <a:lnTo>
                  <a:pt x="14751" y="12895"/>
                </a:lnTo>
                <a:lnTo>
                  <a:pt x="14802" y="12854"/>
                </a:lnTo>
                <a:lnTo>
                  <a:pt x="14857" y="12807"/>
                </a:lnTo>
                <a:lnTo>
                  <a:pt x="14917" y="12756"/>
                </a:lnTo>
                <a:lnTo>
                  <a:pt x="14979" y="12701"/>
                </a:lnTo>
                <a:lnTo>
                  <a:pt x="15044" y="12645"/>
                </a:lnTo>
                <a:lnTo>
                  <a:pt x="15110" y="12587"/>
                </a:lnTo>
                <a:lnTo>
                  <a:pt x="15175" y="12530"/>
                </a:lnTo>
                <a:lnTo>
                  <a:pt x="15238" y="12475"/>
                </a:lnTo>
                <a:lnTo>
                  <a:pt x="15298" y="12421"/>
                </a:lnTo>
                <a:lnTo>
                  <a:pt x="15354" y="12372"/>
                </a:lnTo>
                <a:lnTo>
                  <a:pt x="15405" y="12328"/>
                </a:lnTo>
                <a:lnTo>
                  <a:pt x="15451" y="12291"/>
                </a:lnTo>
                <a:lnTo>
                  <a:pt x="15487" y="12261"/>
                </a:lnTo>
                <a:lnTo>
                  <a:pt x="15508" y="12245"/>
                </a:lnTo>
                <a:lnTo>
                  <a:pt x="15520" y="12233"/>
                </a:lnTo>
                <a:lnTo>
                  <a:pt x="15534" y="12220"/>
                </a:lnTo>
                <a:lnTo>
                  <a:pt x="15555" y="12200"/>
                </a:lnTo>
                <a:lnTo>
                  <a:pt x="15765" y="12013"/>
                </a:lnTo>
                <a:lnTo>
                  <a:pt x="15798" y="11979"/>
                </a:lnTo>
                <a:lnTo>
                  <a:pt x="15830" y="11947"/>
                </a:lnTo>
                <a:lnTo>
                  <a:pt x="15863" y="11915"/>
                </a:lnTo>
                <a:lnTo>
                  <a:pt x="15895" y="11884"/>
                </a:lnTo>
                <a:lnTo>
                  <a:pt x="15927" y="11853"/>
                </a:lnTo>
                <a:lnTo>
                  <a:pt x="15959" y="11823"/>
                </a:lnTo>
                <a:lnTo>
                  <a:pt x="15992" y="11790"/>
                </a:lnTo>
                <a:lnTo>
                  <a:pt x="16025" y="11758"/>
                </a:lnTo>
                <a:lnTo>
                  <a:pt x="16052" y="11733"/>
                </a:lnTo>
                <a:lnTo>
                  <a:pt x="16089" y="11696"/>
                </a:lnTo>
                <a:lnTo>
                  <a:pt x="16136" y="11649"/>
                </a:lnTo>
                <a:lnTo>
                  <a:pt x="16190" y="11595"/>
                </a:lnTo>
                <a:lnTo>
                  <a:pt x="16248" y="11535"/>
                </a:lnTo>
                <a:lnTo>
                  <a:pt x="16311" y="11470"/>
                </a:lnTo>
                <a:lnTo>
                  <a:pt x="16377" y="11403"/>
                </a:lnTo>
                <a:lnTo>
                  <a:pt x="16443" y="11335"/>
                </a:lnTo>
                <a:lnTo>
                  <a:pt x="16508" y="11268"/>
                </a:lnTo>
                <a:lnTo>
                  <a:pt x="16571" y="11202"/>
                </a:lnTo>
                <a:lnTo>
                  <a:pt x="16629" y="11140"/>
                </a:lnTo>
                <a:lnTo>
                  <a:pt x="16681" y="11084"/>
                </a:lnTo>
                <a:lnTo>
                  <a:pt x="16726" y="11036"/>
                </a:lnTo>
                <a:lnTo>
                  <a:pt x="16761" y="10997"/>
                </a:lnTo>
                <a:lnTo>
                  <a:pt x="16786" y="10969"/>
                </a:lnTo>
                <a:lnTo>
                  <a:pt x="16797" y="10953"/>
                </a:lnTo>
                <a:lnTo>
                  <a:pt x="16818" y="10935"/>
                </a:lnTo>
                <a:lnTo>
                  <a:pt x="16837" y="10915"/>
                </a:lnTo>
                <a:lnTo>
                  <a:pt x="16856" y="10896"/>
                </a:lnTo>
                <a:lnTo>
                  <a:pt x="16874" y="10875"/>
                </a:lnTo>
                <a:lnTo>
                  <a:pt x="16908" y="10833"/>
                </a:lnTo>
                <a:lnTo>
                  <a:pt x="16943" y="10789"/>
                </a:lnTo>
                <a:lnTo>
                  <a:pt x="17006" y="10707"/>
                </a:lnTo>
                <a:lnTo>
                  <a:pt x="17067" y="10626"/>
                </a:lnTo>
                <a:lnTo>
                  <a:pt x="17128" y="10543"/>
                </a:lnTo>
                <a:lnTo>
                  <a:pt x="17185" y="10462"/>
                </a:lnTo>
                <a:lnTo>
                  <a:pt x="17214" y="10421"/>
                </a:lnTo>
                <a:lnTo>
                  <a:pt x="17241" y="10379"/>
                </a:lnTo>
                <a:lnTo>
                  <a:pt x="17269" y="10337"/>
                </a:lnTo>
                <a:lnTo>
                  <a:pt x="17295" y="10296"/>
                </a:lnTo>
                <a:lnTo>
                  <a:pt x="17321" y="10254"/>
                </a:lnTo>
                <a:lnTo>
                  <a:pt x="17347" y="10211"/>
                </a:lnTo>
                <a:lnTo>
                  <a:pt x="17372" y="10169"/>
                </a:lnTo>
                <a:lnTo>
                  <a:pt x="17396" y="10125"/>
                </a:lnTo>
                <a:lnTo>
                  <a:pt x="17419" y="10081"/>
                </a:lnTo>
                <a:lnTo>
                  <a:pt x="17442" y="10037"/>
                </a:lnTo>
                <a:lnTo>
                  <a:pt x="17463" y="9992"/>
                </a:lnTo>
                <a:lnTo>
                  <a:pt x="17485" y="9946"/>
                </a:lnTo>
                <a:lnTo>
                  <a:pt x="17505" y="9900"/>
                </a:lnTo>
                <a:lnTo>
                  <a:pt x="17524" y="9853"/>
                </a:lnTo>
                <a:lnTo>
                  <a:pt x="17543" y="9805"/>
                </a:lnTo>
                <a:lnTo>
                  <a:pt x="17561" y="9757"/>
                </a:lnTo>
                <a:lnTo>
                  <a:pt x="17578" y="9708"/>
                </a:lnTo>
                <a:lnTo>
                  <a:pt x="17594" y="9657"/>
                </a:lnTo>
                <a:lnTo>
                  <a:pt x="17609" y="9606"/>
                </a:lnTo>
                <a:lnTo>
                  <a:pt x="17622" y="9553"/>
                </a:lnTo>
                <a:lnTo>
                  <a:pt x="17636" y="9501"/>
                </a:lnTo>
                <a:lnTo>
                  <a:pt x="17648" y="9446"/>
                </a:lnTo>
                <a:lnTo>
                  <a:pt x="17659" y="9391"/>
                </a:lnTo>
                <a:lnTo>
                  <a:pt x="17669" y="9334"/>
                </a:lnTo>
                <a:lnTo>
                  <a:pt x="17673" y="9309"/>
                </a:lnTo>
                <a:lnTo>
                  <a:pt x="17675" y="9283"/>
                </a:lnTo>
                <a:lnTo>
                  <a:pt x="17675" y="9255"/>
                </a:lnTo>
                <a:lnTo>
                  <a:pt x="17674" y="9226"/>
                </a:lnTo>
                <a:lnTo>
                  <a:pt x="17672" y="9196"/>
                </a:lnTo>
                <a:lnTo>
                  <a:pt x="17669" y="9165"/>
                </a:lnTo>
                <a:lnTo>
                  <a:pt x="17665" y="9133"/>
                </a:lnTo>
                <a:lnTo>
                  <a:pt x="17659" y="9101"/>
                </a:lnTo>
                <a:lnTo>
                  <a:pt x="17653" y="9068"/>
                </a:lnTo>
                <a:lnTo>
                  <a:pt x="17645" y="9034"/>
                </a:lnTo>
                <a:lnTo>
                  <a:pt x="17637" y="8999"/>
                </a:lnTo>
                <a:lnTo>
                  <a:pt x="17629" y="8965"/>
                </a:lnTo>
                <a:lnTo>
                  <a:pt x="17609" y="8895"/>
                </a:lnTo>
                <a:lnTo>
                  <a:pt x="17587" y="8825"/>
                </a:lnTo>
                <a:lnTo>
                  <a:pt x="17563" y="8757"/>
                </a:lnTo>
                <a:lnTo>
                  <a:pt x="17539" y="8689"/>
                </a:lnTo>
                <a:lnTo>
                  <a:pt x="17513" y="8624"/>
                </a:lnTo>
                <a:lnTo>
                  <a:pt x="17487" y="8563"/>
                </a:lnTo>
                <a:lnTo>
                  <a:pt x="17462" y="8506"/>
                </a:lnTo>
                <a:lnTo>
                  <a:pt x="17437" y="8455"/>
                </a:lnTo>
                <a:lnTo>
                  <a:pt x="17415" y="8408"/>
                </a:lnTo>
                <a:lnTo>
                  <a:pt x="17394" y="8369"/>
                </a:lnTo>
                <a:lnTo>
                  <a:pt x="17360" y="8310"/>
                </a:lnTo>
                <a:lnTo>
                  <a:pt x="17328" y="8254"/>
                </a:lnTo>
                <a:lnTo>
                  <a:pt x="17297" y="8203"/>
                </a:lnTo>
                <a:lnTo>
                  <a:pt x="17268" y="8155"/>
                </a:lnTo>
                <a:lnTo>
                  <a:pt x="17239" y="8109"/>
                </a:lnTo>
                <a:lnTo>
                  <a:pt x="17210" y="8066"/>
                </a:lnTo>
                <a:lnTo>
                  <a:pt x="17182" y="8023"/>
                </a:lnTo>
                <a:lnTo>
                  <a:pt x="17153" y="7981"/>
                </a:lnTo>
                <a:lnTo>
                  <a:pt x="17123" y="7941"/>
                </a:lnTo>
                <a:lnTo>
                  <a:pt x="17093" y="7900"/>
                </a:lnTo>
                <a:lnTo>
                  <a:pt x="17062" y="7858"/>
                </a:lnTo>
                <a:lnTo>
                  <a:pt x="17029" y="7816"/>
                </a:lnTo>
                <a:lnTo>
                  <a:pt x="16958" y="7727"/>
                </a:lnTo>
                <a:lnTo>
                  <a:pt x="16877" y="7627"/>
                </a:lnTo>
                <a:lnTo>
                  <a:pt x="16843" y="7585"/>
                </a:lnTo>
                <a:lnTo>
                  <a:pt x="16805" y="7540"/>
                </a:lnTo>
                <a:lnTo>
                  <a:pt x="16766" y="7493"/>
                </a:lnTo>
                <a:lnTo>
                  <a:pt x="16725" y="7446"/>
                </a:lnTo>
                <a:lnTo>
                  <a:pt x="16641" y="7350"/>
                </a:lnTo>
                <a:lnTo>
                  <a:pt x="16551" y="7253"/>
                </a:lnTo>
                <a:lnTo>
                  <a:pt x="16462" y="7157"/>
                </a:lnTo>
                <a:lnTo>
                  <a:pt x="16373" y="7065"/>
                </a:lnTo>
                <a:lnTo>
                  <a:pt x="16287" y="6978"/>
                </a:lnTo>
                <a:lnTo>
                  <a:pt x="16207" y="6899"/>
                </a:lnTo>
                <a:lnTo>
                  <a:pt x="16179" y="6872"/>
                </a:lnTo>
                <a:lnTo>
                  <a:pt x="16153" y="6842"/>
                </a:lnTo>
                <a:lnTo>
                  <a:pt x="16127" y="6811"/>
                </a:lnTo>
                <a:lnTo>
                  <a:pt x="16099" y="6779"/>
                </a:lnTo>
                <a:lnTo>
                  <a:pt x="16071" y="6747"/>
                </a:lnTo>
                <a:lnTo>
                  <a:pt x="16042" y="6715"/>
                </a:lnTo>
                <a:lnTo>
                  <a:pt x="16011" y="6683"/>
                </a:lnTo>
                <a:lnTo>
                  <a:pt x="15979" y="6652"/>
                </a:lnTo>
                <a:lnTo>
                  <a:pt x="14313" y="5186"/>
                </a:lnTo>
                <a:lnTo>
                  <a:pt x="14230" y="5121"/>
                </a:lnTo>
                <a:lnTo>
                  <a:pt x="14144" y="5052"/>
                </a:lnTo>
                <a:lnTo>
                  <a:pt x="14058" y="4981"/>
                </a:lnTo>
                <a:lnTo>
                  <a:pt x="13972" y="4911"/>
                </a:lnTo>
                <a:lnTo>
                  <a:pt x="13885" y="4840"/>
                </a:lnTo>
                <a:lnTo>
                  <a:pt x="13797" y="4769"/>
                </a:lnTo>
                <a:lnTo>
                  <a:pt x="13709" y="4700"/>
                </a:lnTo>
                <a:lnTo>
                  <a:pt x="13622" y="4634"/>
                </a:lnTo>
                <a:lnTo>
                  <a:pt x="13528" y="4565"/>
                </a:lnTo>
                <a:lnTo>
                  <a:pt x="13437" y="4496"/>
                </a:lnTo>
                <a:lnTo>
                  <a:pt x="13348" y="4430"/>
                </a:lnTo>
                <a:lnTo>
                  <a:pt x="13259" y="4364"/>
                </a:lnTo>
                <a:lnTo>
                  <a:pt x="13172" y="4299"/>
                </a:lnTo>
                <a:lnTo>
                  <a:pt x="13085" y="4234"/>
                </a:lnTo>
                <a:lnTo>
                  <a:pt x="12999" y="4170"/>
                </a:lnTo>
                <a:lnTo>
                  <a:pt x="12913" y="4107"/>
                </a:lnTo>
                <a:lnTo>
                  <a:pt x="12826" y="4043"/>
                </a:lnTo>
                <a:lnTo>
                  <a:pt x="12738" y="3980"/>
                </a:lnTo>
                <a:lnTo>
                  <a:pt x="12650" y="3916"/>
                </a:lnTo>
                <a:lnTo>
                  <a:pt x="12559" y="3852"/>
                </a:lnTo>
                <a:lnTo>
                  <a:pt x="12468" y="3787"/>
                </a:lnTo>
                <a:lnTo>
                  <a:pt x="12373" y="3722"/>
                </a:lnTo>
                <a:lnTo>
                  <a:pt x="12276" y="3655"/>
                </a:lnTo>
                <a:lnTo>
                  <a:pt x="12177" y="3589"/>
                </a:lnTo>
                <a:lnTo>
                  <a:pt x="12083" y="3525"/>
                </a:lnTo>
                <a:lnTo>
                  <a:pt x="11988" y="3463"/>
                </a:lnTo>
                <a:lnTo>
                  <a:pt x="11893" y="3402"/>
                </a:lnTo>
                <a:lnTo>
                  <a:pt x="11798" y="3340"/>
                </a:lnTo>
                <a:lnTo>
                  <a:pt x="11702" y="3280"/>
                </a:lnTo>
                <a:lnTo>
                  <a:pt x="11606" y="3219"/>
                </a:lnTo>
                <a:lnTo>
                  <a:pt x="11509" y="3158"/>
                </a:lnTo>
                <a:lnTo>
                  <a:pt x="11411" y="3097"/>
                </a:lnTo>
                <a:lnTo>
                  <a:pt x="11318" y="3037"/>
                </a:lnTo>
                <a:lnTo>
                  <a:pt x="11222" y="2979"/>
                </a:lnTo>
                <a:lnTo>
                  <a:pt x="11125" y="2920"/>
                </a:lnTo>
                <a:lnTo>
                  <a:pt x="11028" y="2863"/>
                </a:lnTo>
                <a:lnTo>
                  <a:pt x="10930" y="2806"/>
                </a:lnTo>
                <a:lnTo>
                  <a:pt x="10831" y="2749"/>
                </a:lnTo>
                <a:lnTo>
                  <a:pt x="10732" y="2692"/>
                </a:lnTo>
                <a:lnTo>
                  <a:pt x="10631" y="2635"/>
                </a:lnTo>
                <a:lnTo>
                  <a:pt x="10529" y="2579"/>
                </a:lnTo>
                <a:lnTo>
                  <a:pt x="10427" y="2523"/>
                </a:lnTo>
                <a:lnTo>
                  <a:pt x="10326" y="2468"/>
                </a:lnTo>
                <a:lnTo>
                  <a:pt x="10223" y="2413"/>
                </a:lnTo>
                <a:lnTo>
                  <a:pt x="10120" y="2359"/>
                </a:lnTo>
                <a:lnTo>
                  <a:pt x="10015" y="2305"/>
                </a:lnTo>
                <a:lnTo>
                  <a:pt x="9911" y="2251"/>
                </a:lnTo>
                <a:lnTo>
                  <a:pt x="9807" y="2198"/>
                </a:lnTo>
                <a:lnTo>
                  <a:pt x="9735" y="2162"/>
                </a:lnTo>
                <a:lnTo>
                  <a:pt x="9660" y="2124"/>
                </a:lnTo>
                <a:lnTo>
                  <a:pt x="9583" y="2086"/>
                </a:lnTo>
                <a:lnTo>
                  <a:pt x="9504" y="2047"/>
                </a:lnTo>
                <a:lnTo>
                  <a:pt x="9423" y="2010"/>
                </a:lnTo>
                <a:lnTo>
                  <a:pt x="9340" y="1971"/>
                </a:lnTo>
                <a:lnTo>
                  <a:pt x="9258" y="1932"/>
                </a:lnTo>
                <a:lnTo>
                  <a:pt x="9174" y="1893"/>
                </a:lnTo>
                <a:lnTo>
                  <a:pt x="9091" y="1855"/>
                </a:lnTo>
                <a:lnTo>
                  <a:pt x="9006" y="1816"/>
                </a:lnTo>
                <a:lnTo>
                  <a:pt x="8923" y="1780"/>
                </a:lnTo>
                <a:lnTo>
                  <a:pt x="8840" y="1743"/>
                </a:lnTo>
                <a:lnTo>
                  <a:pt x="8759" y="1707"/>
                </a:lnTo>
                <a:lnTo>
                  <a:pt x="8679" y="1673"/>
                </a:lnTo>
                <a:lnTo>
                  <a:pt x="8600" y="1640"/>
                </a:lnTo>
                <a:lnTo>
                  <a:pt x="8523" y="1608"/>
                </a:lnTo>
                <a:lnTo>
                  <a:pt x="8472" y="1587"/>
                </a:lnTo>
                <a:lnTo>
                  <a:pt x="8417" y="1562"/>
                </a:lnTo>
                <a:lnTo>
                  <a:pt x="8360" y="1537"/>
                </a:lnTo>
                <a:lnTo>
                  <a:pt x="8300" y="1511"/>
                </a:lnTo>
                <a:lnTo>
                  <a:pt x="8242" y="1485"/>
                </a:lnTo>
                <a:lnTo>
                  <a:pt x="8184" y="1461"/>
                </a:lnTo>
                <a:lnTo>
                  <a:pt x="8156" y="1451"/>
                </a:lnTo>
                <a:lnTo>
                  <a:pt x="8129" y="1442"/>
                </a:lnTo>
                <a:lnTo>
                  <a:pt x="8102" y="1433"/>
                </a:lnTo>
                <a:lnTo>
                  <a:pt x="8078" y="1426"/>
                </a:lnTo>
                <a:close/>
              </a:path>
            </a:pathLst>
          </a:custGeom>
          <a:solidFill>
            <a:schemeClr val="accent2"/>
          </a:solidFill>
          <a:ln cap="sq">
            <a:noFill/>
          </a:ln>
        </p:spPr>
        <p:txBody>
          <a:bodyPr vert="horz" wrap="square" lIns="91440" tIns="45720" rIns="91440" bIns="45720" rtlCol="0" anchor="t"/>
          <a:lstStyle/>
          <a:p>
            <a:pPr algn="l"/>
            <a:endParaRPr kumimoji="1" lang="zh-CN" altLang="en-US"/>
          </a:p>
        </p:txBody>
      </p:sp>
      <p:sp>
        <p:nvSpPr>
          <p:cNvPr id="19" name="标题 1"/>
          <p:cNvSpPr txBox="1"/>
          <p:nvPr/>
        </p:nvSpPr>
        <p:spPr>
          <a:xfrm>
            <a:off x="1334268" y="4978823"/>
            <a:ext cx="4536000" cy="828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Alineación con los objetivos del negocio.</a:t>
            </a:r>
            <a:endParaRPr kumimoji="1" lang="zh-CN" altLang="en-US"/>
          </a:p>
        </p:txBody>
      </p:sp>
      <p:sp>
        <p:nvSpPr>
          <p:cNvPr id="20" name="标题 1"/>
          <p:cNvSpPr txBox="1"/>
          <p:nvPr/>
        </p:nvSpPr>
        <p:spPr>
          <a:xfrm>
            <a:off x="1084165" y="5053142"/>
            <a:ext cx="126854" cy="131412"/>
          </a:xfrm>
          <a:custGeom>
            <a:avLst/>
            <a:gdLst>
              <a:gd name="T0" fmla="*/ 7371 w 17675"/>
              <a:gd name="T1" fmla="*/ 1125 h 18310"/>
              <a:gd name="T2" fmla="*/ 5959 w 17675"/>
              <a:gd name="T3" fmla="*/ 593 h 18310"/>
              <a:gd name="T4" fmla="*/ 4735 w 17675"/>
              <a:gd name="T5" fmla="*/ 240 h 18310"/>
              <a:gd name="T6" fmla="*/ 3627 w 17675"/>
              <a:gd name="T7" fmla="*/ 54 h 18310"/>
              <a:gd name="T8" fmla="*/ 2806 w 17675"/>
              <a:gd name="T9" fmla="*/ 7 h 18310"/>
              <a:gd name="T10" fmla="*/ 2454 w 17675"/>
              <a:gd name="T11" fmla="*/ 85 h 18310"/>
              <a:gd name="T12" fmla="*/ 2132 w 17675"/>
              <a:gd name="T13" fmla="*/ 262 h 18310"/>
              <a:gd name="T14" fmla="*/ 1838 w 17675"/>
              <a:gd name="T15" fmla="*/ 533 h 18310"/>
              <a:gd name="T16" fmla="*/ 1454 w 17675"/>
              <a:gd name="T17" fmla="*/ 1111 h 18310"/>
              <a:gd name="T18" fmla="*/ 1261 w 17675"/>
              <a:gd name="T19" fmla="*/ 1545 h 18310"/>
              <a:gd name="T20" fmla="*/ 1008 w 17675"/>
              <a:gd name="T21" fmla="*/ 2315 h 18310"/>
              <a:gd name="T22" fmla="*/ 836 w 17675"/>
              <a:gd name="T23" fmla="*/ 2906 h 18310"/>
              <a:gd name="T24" fmla="*/ 683 w 17675"/>
              <a:gd name="T25" fmla="*/ 3519 h 18310"/>
              <a:gd name="T26" fmla="*/ 506 w 17675"/>
              <a:gd name="T27" fmla="*/ 4330 h 18310"/>
              <a:gd name="T28" fmla="*/ 356 w 17675"/>
              <a:gd name="T29" fmla="*/ 5177 h 18310"/>
              <a:gd name="T30" fmla="*/ 199 w 17675"/>
              <a:gd name="T31" fmla="*/ 6352 h 18310"/>
              <a:gd name="T32" fmla="*/ 65 w 17675"/>
              <a:gd name="T33" fmla="*/ 7805 h 18310"/>
              <a:gd name="T34" fmla="*/ 1 w 17675"/>
              <a:gd name="T35" fmla="*/ 9354 h 18310"/>
              <a:gd name="T36" fmla="*/ 54 w 17675"/>
              <a:gd name="T37" fmla="*/ 10490 h 18310"/>
              <a:gd name="T38" fmla="*/ 149 w 17675"/>
              <a:gd name="T39" fmla="*/ 11811 h 18310"/>
              <a:gd name="T40" fmla="*/ 298 w 17675"/>
              <a:gd name="T41" fmla="*/ 13066 h 18310"/>
              <a:gd name="T42" fmla="*/ 650 w 17675"/>
              <a:gd name="T43" fmla="*/ 14979 h 18310"/>
              <a:gd name="T44" fmla="*/ 991 w 17675"/>
              <a:gd name="T45" fmla="*/ 16266 h 18310"/>
              <a:gd name="T46" fmla="*/ 1332 w 17675"/>
              <a:gd name="T47" fmla="*/ 17156 h 18310"/>
              <a:gd name="T48" fmla="*/ 1598 w 17675"/>
              <a:gd name="T49" fmla="*/ 17614 h 18310"/>
              <a:gd name="T50" fmla="*/ 1917 w 17675"/>
              <a:gd name="T51" fmla="*/ 17970 h 18310"/>
              <a:gd name="T52" fmla="*/ 2349 w 17675"/>
              <a:gd name="T53" fmla="*/ 18232 h 18310"/>
              <a:gd name="T54" fmla="*/ 2745 w 17675"/>
              <a:gd name="T55" fmla="*/ 18309 h 18310"/>
              <a:gd name="T56" fmla="*/ 3384 w 17675"/>
              <a:gd name="T57" fmla="*/ 18287 h 18310"/>
              <a:gd name="T58" fmla="*/ 4157 w 17675"/>
              <a:gd name="T59" fmla="*/ 18192 h 18310"/>
              <a:gd name="T60" fmla="*/ 5006 w 17675"/>
              <a:gd name="T61" fmla="*/ 18009 h 18310"/>
              <a:gd name="T62" fmla="*/ 6483 w 17675"/>
              <a:gd name="T63" fmla="*/ 17544 h 18310"/>
              <a:gd name="T64" fmla="*/ 7200 w 17675"/>
              <a:gd name="T65" fmla="*/ 17277 h 18310"/>
              <a:gd name="T66" fmla="*/ 8295 w 17675"/>
              <a:gd name="T67" fmla="*/ 16841 h 18310"/>
              <a:gd name="T68" fmla="*/ 8872 w 17675"/>
              <a:gd name="T69" fmla="*/ 16605 h 18310"/>
              <a:gd name="T70" fmla="*/ 9346 w 17675"/>
              <a:gd name="T71" fmla="*/ 16391 h 18310"/>
              <a:gd name="T72" fmla="*/ 10057 w 17675"/>
              <a:gd name="T73" fmla="*/ 16048 h 18310"/>
              <a:gd name="T74" fmla="*/ 10903 w 17675"/>
              <a:gd name="T75" fmla="*/ 15584 h 18310"/>
              <a:gd name="T76" fmla="*/ 11867 w 17675"/>
              <a:gd name="T77" fmla="*/ 14997 h 18310"/>
              <a:gd name="T78" fmla="*/ 12590 w 17675"/>
              <a:gd name="T79" fmla="*/ 14528 h 18310"/>
              <a:gd name="T80" fmla="*/ 13212 w 17675"/>
              <a:gd name="T81" fmla="*/ 14088 h 18310"/>
              <a:gd name="T82" fmla="*/ 14481 w 17675"/>
              <a:gd name="T83" fmla="*/ 13112 h 18310"/>
              <a:gd name="T84" fmla="*/ 14802 w 17675"/>
              <a:gd name="T85" fmla="*/ 12854 h 18310"/>
              <a:gd name="T86" fmla="*/ 15451 w 17675"/>
              <a:gd name="T87" fmla="*/ 12291 h 18310"/>
              <a:gd name="T88" fmla="*/ 15927 w 17675"/>
              <a:gd name="T89" fmla="*/ 11853 h 18310"/>
              <a:gd name="T90" fmla="*/ 16443 w 17675"/>
              <a:gd name="T91" fmla="*/ 11335 h 18310"/>
              <a:gd name="T92" fmla="*/ 16856 w 17675"/>
              <a:gd name="T93" fmla="*/ 10896 h 18310"/>
              <a:gd name="T94" fmla="*/ 17295 w 17675"/>
              <a:gd name="T95" fmla="*/ 10296 h 18310"/>
              <a:gd name="T96" fmla="*/ 17543 w 17675"/>
              <a:gd name="T97" fmla="*/ 9805 h 18310"/>
              <a:gd name="T98" fmla="*/ 17675 w 17675"/>
              <a:gd name="T99" fmla="*/ 9283 h 18310"/>
              <a:gd name="T100" fmla="*/ 17609 w 17675"/>
              <a:gd name="T101" fmla="*/ 8895 h 18310"/>
              <a:gd name="T102" fmla="*/ 17328 w 17675"/>
              <a:gd name="T103" fmla="*/ 8254 h 18310"/>
              <a:gd name="T104" fmla="*/ 16958 w 17675"/>
              <a:gd name="T105" fmla="*/ 7727 h 18310"/>
              <a:gd name="T106" fmla="*/ 16207 w 17675"/>
              <a:gd name="T107" fmla="*/ 6899 h 18310"/>
              <a:gd name="T108" fmla="*/ 14144 w 17675"/>
              <a:gd name="T109" fmla="*/ 5052 h 18310"/>
              <a:gd name="T110" fmla="*/ 13172 w 17675"/>
              <a:gd name="T111" fmla="*/ 4299 h 18310"/>
              <a:gd name="T112" fmla="*/ 12177 w 17675"/>
              <a:gd name="T113" fmla="*/ 3589 h 18310"/>
              <a:gd name="T114" fmla="*/ 11125 w 17675"/>
              <a:gd name="T115" fmla="*/ 2920 h 18310"/>
              <a:gd name="T116" fmla="*/ 10015 w 17675"/>
              <a:gd name="T117" fmla="*/ 2305 h 18310"/>
              <a:gd name="T118" fmla="*/ 9091 w 17675"/>
              <a:gd name="T119" fmla="*/ 1855 h 18310"/>
              <a:gd name="T120" fmla="*/ 8300 w 17675"/>
              <a:gd name="T121" fmla="*/ 1511 h 18310"/>
            </a:gdLst>
            <a:ahLst/>
            <a:cxnLst/>
            <a:rect l="0" t="0" r="r" b="b"/>
            <a:pathLst>
              <a:path w="17675" h="18310">
                <a:moveTo>
                  <a:pt x="8078" y="1426"/>
                </a:moveTo>
                <a:lnTo>
                  <a:pt x="8047" y="1409"/>
                </a:lnTo>
                <a:lnTo>
                  <a:pt x="8014" y="1392"/>
                </a:lnTo>
                <a:lnTo>
                  <a:pt x="7978" y="1376"/>
                </a:lnTo>
                <a:lnTo>
                  <a:pt x="7940" y="1360"/>
                </a:lnTo>
                <a:lnTo>
                  <a:pt x="7901" y="1345"/>
                </a:lnTo>
                <a:lnTo>
                  <a:pt x="7862" y="1330"/>
                </a:lnTo>
                <a:lnTo>
                  <a:pt x="7825" y="1315"/>
                </a:lnTo>
                <a:lnTo>
                  <a:pt x="7791" y="1301"/>
                </a:lnTo>
                <a:lnTo>
                  <a:pt x="7583" y="1213"/>
                </a:lnTo>
                <a:lnTo>
                  <a:pt x="7371" y="1125"/>
                </a:lnTo>
                <a:lnTo>
                  <a:pt x="7158" y="1038"/>
                </a:lnTo>
                <a:lnTo>
                  <a:pt x="6943" y="953"/>
                </a:lnTo>
                <a:lnTo>
                  <a:pt x="6836" y="911"/>
                </a:lnTo>
                <a:lnTo>
                  <a:pt x="6727" y="869"/>
                </a:lnTo>
                <a:lnTo>
                  <a:pt x="6618" y="827"/>
                </a:lnTo>
                <a:lnTo>
                  <a:pt x="6508" y="787"/>
                </a:lnTo>
                <a:lnTo>
                  <a:pt x="6400" y="747"/>
                </a:lnTo>
                <a:lnTo>
                  <a:pt x="6290" y="707"/>
                </a:lnTo>
                <a:lnTo>
                  <a:pt x="6180" y="668"/>
                </a:lnTo>
                <a:lnTo>
                  <a:pt x="6070" y="631"/>
                </a:lnTo>
                <a:lnTo>
                  <a:pt x="5959" y="593"/>
                </a:lnTo>
                <a:lnTo>
                  <a:pt x="5848" y="556"/>
                </a:lnTo>
                <a:lnTo>
                  <a:pt x="5737" y="521"/>
                </a:lnTo>
                <a:lnTo>
                  <a:pt x="5626" y="485"/>
                </a:lnTo>
                <a:lnTo>
                  <a:pt x="5515" y="451"/>
                </a:lnTo>
                <a:lnTo>
                  <a:pt x="5404" y="418"/>
                </a:lnTo>
                <a:lnTo>
                  <a:pt x="5292" y="386"/>
                </a:lnTo>
                <a:lnTo>
                  <a:pt x="5181" y="355"/>
                </a:lnTo>
                <a:lnTo>
                  <a:pt x="5069" y="324"/>
                </a:lnTo>
                <a:lnTo>
                  <a:pt x="4958" y="295"/>
                </a:lnTo>
                <a:lnTo>
                  <a:pt x="4846" y="267"/>
                </a:lnTo>
                <a:lnTo>
                  <a:pt x="4735" y="240"/>
                </a:lnTo>
                <a:lnTo>
                  <a:pt x="4623" y="215"/>
                </a:lnTo>
                <a:lnTo>
                  <a:pt x="4511" y="191"/>
                </a:lnTo>
                <a:lnTo>
                  <a:pt x="4400" y="168"/>
                </a:lnTo>
                <a:lnTo>
                  <a:pt x="4287" y="146"/>
                </a:lnTo>
                <a:lnTo>
                  <a:pt x="4234" y="136"/>
                </a:lnTo>
                <a:lnTo>
                  <a:pt x="4162" y="125"/>
                </a:lnTo>
                <a:lnTo>
                  <a:pt x="4075" y="112"/>
                </a:lnTo>
                <a:lnTo>
                  <a:pt x="3975" y="98"/>
                </a:lnTo>
                <a:lnTo>
                  <a:pt x="3865" y="84"/>
                </a:lnTo>
                <a:lnTo>
                  <a:pt x="3749" y="69"/>
                </a:lnTo>
                <a:lnTo>
                  <a:pt x="3627" y="54"/>
                </a:lnTo>
                <a:lnTo>
                  <a:pt x="3504" y="40"/>
                </a:lnTo>
                <a:lnTo>
                  <a:pt x="3381" y="27"/>
                </a:lnTo>
                <a:lnTo>
                  <a:pt x="3262" y="17"/>
                </a:lnTo>
                <a:lnTo>
                  <a:pt x="3148" y="8"/>
                </a:lnTo>
                <a:lnTo>
                  <a:pt x="3043" y="2"/>
                </a:lnTo>
                <a:lnTo>
                  <a:pt x="2994" y="1"/>
                </a:lnTo>
                <a:lnTo>
                  <a:pt x="2949" y="0"/>
                </a:lnTo>
                <a:lnTo>
                  <a:pt x="2908" y="0"/>
                </a:lnTo>
                <a:lnTo>
                  <a:pt x="2869" y="1"/>
                </a:lnTo>
                <a:lnTo>
                  <a:pt x="2834" y="3"/>
                </a:lnTo>
                <a:lnTo>
                  <a:pt x="2806" y="7"/>
                </a:lnTo>
                <a:lnTo>
                  <a:pt x="2780" y="11"/>
                </a:lnTo>
                <a:lnTo>
                  <a:pt x="2761" y="17"/>
                </a:lnTo>
                <a:lnTo>
                  <a:pt x="2724" y="19"/>
                </a:lnTo>
                <a:lnTo>
                  <a:pt x="2689" y="24"/>
                </a:lnTo>
                <a:lnTo>
                  <a:pt x="2655" y="29"/>
                </a:lnTo>
                <a:lnTo>
                  <a:pt x="2620" y="35"/>
                </a:lnTo>
                <a:lnTo>
                  <a:pt x="2586" y="43"/>
                </a:lnTo>
                <a:lnTo>
                  <a:pt x="2552" y="53"/>
                </a:lnTo>
                <a:lnTo>
                  <a:pt x="2518" y="63"/>
                </a:lnTo>
                <a:lnTo>
                  <a:pt x="2486" y="73"/>
                </a:lnTo>
                <a:lnTo>
                  <a:pt x="2454" y="85"/>
                </a:lnTo>
                <a:lnTo>
                  <a:pt x="2423" y="97"/>
                </a:lnTo>
                <a:lnTo>
                  <a:pt x="2393" y="111"/>
                </a:lnTo>
                <a:lnTo>
                  <a:pt x="2363" y="125"/>
                </a:lnTo>
                <a:lnTo>
                  <a:pt x="2333" y="138"/>
                </a:lnTo>
                <a:lnTo>
                  <a:pt x="2306" y="153"/>
                </a:lnTo>
                <a:lnTo>
                  <a:pt x="2278" y="169"/>
                </a:lnTo>
                <a:lnTo>
                  <a:pt x="2252" y="184"/>
                </a:lnTo>
                <a:lnTo>
                  <a:pt x="2218" y="205"/>
                </a:lnTo>
                <a:lnTo>
                  <a:pt x="2187" y="224"/>
                </a:lnTo>
                <a:lnTo>
                  <a:pt x="2158" y="244"/>
                </a:lnTo>
                <a:lnTo>
                  <a:pt x="2132" y="262"/>
                </a:lnTo>
                <a:lnTo>
                  <a:pt x="2108" y="280"/>
                </a:lnTo>
                <a:lnTo>
                  <a:pt x="2086" y="298"/>
                </a:lnTo>
                <a:lnTo>
                  <a:pt x="2065" y="315"/>
                </a:lnTo>
                <a:lnTo>
                  <a:pt x="2046" y="332"/>
                </a:lnTo>
                <a:lnTo>
                  <a:pt x="2007" y="367"/>
                </a:lnTo>
                <a:lnTo>
                  <a:pt x="1968" y="405"/>
                </a:lnTo>
                <a:lnTo>
                  <a:pt x="1927" y="446"/>
                </a:lnTo>
                <a:lnTo>
                  <a:pt x="1878" y="491"/>
                </a:lnTo>
                <a:lnTo>
                  <a:pt x="1866" y="504"/>
                </a:lnTo>
                <a:lnTo>
                  <a:pt x="1853" y="517"/>
                </a:lnTo>
                <a:lnTo>
                  <a:pt x="1838" y="533"/>
                </a:lnTo>
                <a:lnTo>
                  <a:pt x="1823" y="550"/>
                </a:lnTo>
                <a:lnTo>
                  <a:pt x="1790" y="592"/>
                </a:lnTo>
                <a:lnTo>
                  <a:pt x="1754" y="637"/>
                </a:lnTo>
                <a:lnTo>
                  <a:pt x="1717" y="689"/>
                </a:lnTo>
                <a:lnTo>
                  <a:pt x="1679" y="744"/>
                </a:lnTo>
                <a:lnTo>
                  <a:pt x="1639" y="802"/>
                </a:lnTo>
                <a:lnTo>
                  <a:pt x="1600" y="863"/>
                </a:lnTo>
                <a:lnTo>
                  <a:pt x="1561" y="926"/>
                </a:lnTo>
                <a:lnTo>
                  <a:pt x="1524" y="988"/>
                </a:lnTo>
                <a:lnTo>
                  <a:pt x="1488" y="1051"/>
                </a:lnTo>
                <a:lnTo>
                  <a:pt x="1454" y="1111"/>
                </a:lnTo>
                <a:lnTo>
                  <a:pt x="1425" y="1170"/>
                </a:lnTo>
                <a:lnTo>
                  <a:pt x="1398" y="1226"/>
                </a:lnTo>
                <a:lnTo>
                  <a:pt x="1387" y="1252"/>
                </a:lnTo>
                <a:lnTo>
                  <a:pt x="1377" y="1277"/>
                </a:lnTo>
                <a:lnTo>
                  <a:pt x="1367" y="1301"/>
                </a:lnTo>
                <a:lnTo>
                  <a:pt x="1359" y="1323"/>
                </a:lnTo>
                <a:lnTo>
                  <a:pt x="1340" y="1362"/>
                </a:lnTo>
                <a:lnTo>
                  <a:pt x="1320" y="1404"/>
                </a:lnTo>
                <a:lnTo>
                  <a:pt x="1300" y="1449"/>
                </a:lnTo>
                <a:lnTo>
                  <a:pt x="1280" y="1496"/>
                </a:lnTo>
                <a:lnTo>
                  <a:pt x="1261" y="1545"/>
                </a:lnTo>
                <a:lnTo>
                  <a:pt x="1241" y="1596"/>
                </a:lnTo>
                <a:lnTo>
                  <a:pt x="1222" y="1648"/>
                </a:lnTo>
                <a:lnTo>
                  <a:pt x="1204" y="1702"/>
                </a:lnTo>
                <a:lnTo>
                  <a:pt x="1167" y="1808"/>
                </a:lnTo>
                <a:lnTo>
                  <a:pt x="1133" y="1915"/>
                </a:lnTo>
                <a:lnTo>
                  <a:pt x="1101" y="2016"/>
                </a:lnTo>
                <a:lnTo>
                  <a:pt x="1071" y="2110"/>
                </a:lnTo>
                <a:lnTo>
                  <a:pt x="1055" y="2162"/>
                </a:lnTo>
                <a:lnTo>
                  <a:pt x="1039" y="2213"/>
                </a:lnTo>
                <a:lnTo>
                  <a:pt x="1023" y="2264"/>
                </a:lnTo>
                <a:lnTo>
                  <a:pt x="1008" y="2315"/>
                </a:lnTo>
                <a:lnTo>
                  <a:pt x="992" y="2367"/>
                </a:lnTo>
                <a:lnTo>
                  <a:pt x="976" y="2418"/>
                </a:lnTo>
                <a:lnTo>
                  <a:pt x="960" y="2471"/>
                </a:lnTo>
                <a:lnTo>
                  <a:pt x="944" y="2523"/>
                </a:lnTo>
                <a:lnTo>
                  <a:pt x="929" y="2573"/>
                </a:lnTo>
                <a:lnTo>
                  <a:pt x="913" y="2626"/>
                </a:lnTo>
                <a:lnTo>
                  <a:pt x="896" y="2682"/>
                </a:lnTo>
                <a:lnTo>
                  <a:pt x="880" y="2740"/>
                </a:lnTo>
                <a:lnTo>
                  <a:pt x="864" y="2797"/>
                </a:lnTo>
                <a:lnTo>
                  <a:pt x="849" y="2852"/>
                </a:lnTo>
                <a:lnTo>
                  <a:pt x="836" y="2906"/>
                </a:lnTo>
                <a:lnTo>
                  <a:pt x="827" y="2955"/>
                </a:lnTo>
                <a:lnTo>
                  <a:pt x="818" y="2977"/>
                </a:lnTo>
                <a:lnTo>
                  <a:pt x="809" y="3003"/>
                </a:lnTo>
                <a:lnTo>
                  <a:pt x="800" y="3033"/>
                </a:lnTo>
                <a:lnTo>
                  <a:pt x="790" y="3067"/>
                </a:lnTo>
                <a:lnTo>
                  <a:pt x="770" y="3142"/>
                </a:lnTo>
                <a:lnTo>
                  <a:pt x="749" y="3225"/>
                </a:lnTo>
                <a:lnTo>
                  <a:pt x="730" y="3310"/>
                </a:lnTo>
                <a:lnTo>
                  <a:pt x="712" y="3390"/>
                </a:lnTo>
                <a:lnTo>
                  <a:pt x="696" y="3461"/>
                </a:lnTo>
                <a:lnTo>
                  <a:pt x="683" y="3519"/>
                </a:lnTo>
                <a:lnTo>
                  <a:pt x="666" y="3593"/>
                </a:lnTo>
                <a:lnTo>
                  <a:pt x="649" y="3667"/>
                </a:lnTo>
                <a:lnTo>
                  <a:pt x="633" y="3740"/>
                </a:lnTo>
                <a:lnTo>
                  <a:pt x="617" y="3813"/>
                </a:lnTo>
                <a:lnTo>
                  <a:pt x="601" y="3886"/>
                </a:lnTo>
                <a:lnTo>
                  <a:pt x="585" y="3960"/>
                </a:lnTo>
                <a:lnTo>
                  <a:pt x="569" y="4033"/>
                </a:lnTo>
                <a:lnTo>
                  <a:pt x="553" y="4108"/>
                </a:lnTo>
                <a:lnTo>
                  <a:pt x="537" y="4182"/>
                </a:lnTo>
                <a:lnTo>
                  <a:pt x="522" y="4256"/>
                </a:lnTo>
                <a:lnTo>
                  <a:pt x="506" y="4330"/>
                </a:lnTo>
                <a:lnTo>
                  <a:pt x="491" y="4406"/>
                </a:lnTo>
                <a:lnTo>
                  <a:pt x="476" y="4483"/>
                </a:lnTo>
                <a:lnTo>
                  <a:pt x="461" y="4559"/>
                </a:lnTo>
                <a:lnTo>
                  <a:pt x="447" y="4636"/>
                </a:lnTo>
                <a:lnTo>
                  <a:pt x="433" y="4714"/>
                </a:lnTo>
                <a:lnTo>
                  <a:pt x="419" y="4791"/>
                </a:lnTo>
                <a:lnTo>
                  <a:pt x="405" y="4868"/>
                </a:lnTo>
                <a:lnTo>
                  <a:pt x="392" y="4946"/>
                </a:lnTo>
                <a:lnTo>
                  <a:pt x="380" y="5024"/>
                </a:lnTo>
                <a:lnTo>
                  <a:pt x="367" y="5100"/>
                </a:lnTo>
                <a:lnTo>
                  <a:pt x="356" y="5177"/>
                </a:lnTo>
                <a:lnTo>
                  <a:pt x="346" y="5253"/>
                </a:lnTo>
                <a:lnTo>
                  <a:pt x="335" y="5328"/>
                </a:lnTo>
                <a:lnTo>
                  <a:pt x="320" y="5442"/>
                </a:lnTo>
                <a:lnTo>
                  <a:pt x="304" y="5555"/>
                </a:lnTo>
                <a:lnTo>
                  <a:pt x="289" y="5668"/>
                </a:lnTo>
                <a:lnTo>
                  <a:pt x="275" y="5781"/>
                </a:lnTo>
                <a:lnTo>
                  <a:pt x="259" y="5896"/>
                </a:lnTo>
                <a:lnTo>
                  <a:pt x="244" y="6009"/>
                </a:lnTo>
                <a:lnTo>
                  <a:pt x="229" y="6124"/>
                </a:lnTo>
                <a:lnTo>
                  <a:pt x="214" y="6238"/>
                </a:lnTo>
                <a:lnTo>
                  <a:pt x="199" y="6352"/>
                </a:lnTo>
                <a:lnTo>
                  <a:pt x="185" y="6467"/>
                </a:lnTo>
                <a:lnTo>
                  <a:pt x="173" y="6581"/>
                </a:lnTo>
                <a:lnTo>
                  <a:pt x="160" y="6697"/>
                </a:lnTo>
                <a:lnTo>
                  <a:pt x="148" y="6811"/>
                </a:lnTo>
                <a:lnTo>
                  <a:pt x="137" y="6927"/>
                </a:lnTo>
                <a:lnTo>
                  <a:pt x="127" y="7042"/>
                </a:lnTo>
                <a:lnTo>
                  <a:pt x="119" y="7158"/>
                </a:lnTo>
                <a:lnTo>
                  <a:pt x="105" y="7319"/>
                </a:lnTo>
                <a:lnTo>
                  <a:pt x="92" y="7481"/>
                </a:lnTo>
                <a:lnTo>
                  <a:pt x="79" y="7643"/>
                </a:lnTo>
                <a:lnTo>
                  <a:pt x="65" y="7805"/>
                </a:lnTo>
                <a:lnTo>
                  <a:pt x="54" y="7967"/>
                </a:lnTo>
                <a:lnTo>
                  <a:pt x="42" y="8130"/>
                </a:lnTo>
                <a:lnTo>
                  <a:pt x="31" y="8293"/>
                </a:lnTo>
                <a:lnTo>
                  <a:pt x="22" y="8456"/>
                </a:lnTo>
                <a:lnTo>
                  <a:pt x="14" y="8619"/>
                </a:lnTo>
                <a:lnTo>
                  <a:pt x="8" y="8782"/>
                </a:lnTo>
                <a:lnTo>
                  <a:pt x="3" y="8946"/>
                </a:lnTo>
                <a:lnTo>
                  <a:pt x="0" y="9109"/>
                </a:lnTo>
                <a:lnTo>
                  <a:pt x="0" y="9190"/>
                </a:lnTo>
                <a:lnTo>
                  <a:pt x="0" y="9273"/>
                </a:lnTo>
                <a:lnTo>
                  <a:pt x="1" y="9354"/>
                </a:lnTo>
                <a:lnTo>
                  <a:pt x="2" y="9437"/>
                </a:lnTo>
                <a:lnTo>
                  <a:pt x="3" y="9518"/>
                </a:lnTo>
                <a:lnTo>
                  <a:pt x="7" y="9599"/>
                </a:lnTo>
                <a:lnTo>
                  <a:pt x="10" y="9681"/>
                </a:lnTo>
                <a:lnTo>
                  <a:pt x="14" y="9763"/>
                </a:lnTo>
                <a:lnTo>
                  <a:pt x="21" y="9885"/>
                </a:lnTo>
                <a:lnTo>
                  <a:pt x="27" y="10006"/>
                </a:lnTo>
                <a:lnTo>
                  <a:pt x="34" y="10128"/>
                </a:lnTo>
                <a:lnTo>
                  <a:pt x="41" y="10249"/>
                </a:lnTo>
                <a:lnTo>
                  <a:pt x="47" y="10369"/>
                </a:lnTo>
                <a:lnTo>
                  <a:pt x="54" y="10490"/>
                </a:lnTo>
                <a:lnTo>
                  <a:pt x="61" y="10611"/>
                </a:lnTo>
                <a:lnTo>
                  <a:pt x="68" y="10731"/>
                </a:lnTo>
                <a:lnTo>
                  <a:pt x="74" y="10851"/>
                </a:lnTo>
                <a:lnTo>
                  <a:pt x="82" y="10971"/>
                </a:lnTo>
                <a:lnTo>
                  <a:pt x="90" y="11091"/>
                </a:lnTo>
                <a:lnTo>
                  <a:pt x="98" y="11213"/>
                </a:lnTo>
                <a:lnTo>
                  <a:pt x="108" y="11333"/>
                </a:lnTo>
                <a:lnTo>
                  <a:pt x="117" y="11454"/>
                </a:lnTo>
                <a:lnTo>
                  <a:pt x="127" y="11575"/>
                </a:lnTo>
                <a:lnTo>
                  <a:pt x="138" y="11697"/>
                </a:lnTo>
                <a:lnTo>
                  <a:pt x="149" y="11811"/>
                </a:lnTo>
                <a:lnTo>
                  <a:pt x="160" y="11926"/>
                </a:lnTo>
                <a:lnTo>
                  <a:pt x="172" y="12040"/>
                </a:lnTo>
                <a:lnTo>
                  <a:pt x="184" y="12154"/>
                </a:lnTo>
                <a:lnTo>
                  <a:pt x="197" y="12269"/>
                </a:lnTo>
                <a:lnTo>
                  <a:pt x="209" y="12383"/>
                </a:lnTo>
                <a:lnTo>
                  <a:pt x="223" y="12498"/>
                </a:lnTo>
                <a:lnTo>
                  <a:pt x="237" y="12611"/>
                </a:lnTo>
                <a:lnTo>
                  <a:pt x="252" y="12725"/>
                </a:lnTo>
                <a:lnTo>
                  <a:pt x="267" y="12839"/>
                </a:lnTo>
                <a:lnTo>
                  <a:pt x="281" y="12953"/>
                </a:lnTo>
                <a:lnTo>
                  <a:pt x="298" y="13066"/>
                </a:lnTo>
                <a:lnTo>
                  <a:pt x="314" y="13180"/>
                </a:lnTo>
                <a:lnTo>
                  <a:pt x="331" y="13293"/>
                </a:lnTo>
                <a:lnTo>
                  <a:pt x="349" y="13406"/>
                </a:lnTo>
                <a:lnTo>
                  <a:pt x="366" y="13519"/>
                </a:lnTo>
                <a:lnTo>
                  <a:pt x="398" y="13707"/>
                </a:lnTo>
                <a:lnTo>
                  <a:pt x="433" y="13905"/>
                </a:lnTo>
                <a:lnTo>
                  <a:pt x="470" y="14110"/>
                </a:lnTo>
                <a:lnTo>
                  <a:pt x="511" y="14322"/>
                </a:lnTo>
                <a:lnTo>
                  <a:pt x="555" y="14538"/>
                </a:lnTo>
                <a:lnTo>
                  <a:pt x="602" y="14757"/>
                </a:lnTo>
                <a:lnTo>
                  <a:pt x="650" y="14979"/>
                </a:lnTo>
                <a:lnTo>
                  <a:pt x="701" y="15200"/>
                </a:lnTo>
                <a:lnTo>
                  <a:pt x="729" y="15311"/>
                </a:lnTo>
                <a:lnTo>
                  <a:pt x="755" y="15420"/>
                </a:lnTo>
                <a:lnTo>
                  <a:pt x="784" y="15530"/>
                </a:lnTo>
                <a:lnTo>
                  <a:pt x="811" y="15639"/>
                </a:lnTo>
                <a:lnTo>
                  <a:pt x="840" y="15747"/>
                </a:lnTo>
                <a:lnTo>
                  <a:pt x="870" y="15854"/>
                </a:lnTo>
                <a:lnTo>
                  <a:pt x="899" y="15959"/>
                </a:lnTo>
                <a:lnTo>
                  <a:pt x="929" y="16064"/>
                </a:lnTo>
                <a:lnTo>
                  <a:pt x="960" y="16165"/>
                </a:lnTo>
                <a:lnTo>
                  <a:pt x="991" y="16266"/>
                </a:lnTo>
                <a:lnTo>
                  <a:pt x="1022" y="16365"/>
                </a:lnTo>
                <a:lnTo>
                  <a:pt x="1054" y="16461"/>
                </a:lnTo>
                <a:lnTo>
                  <a:pt x="1086" y="16556"/>
                </a:lnTo>
                <a:lnTo>
                  <a:pt x="1119" y="16646"/>
                </a:lnTo>
                <a:lnTo>
                  <a:pt x="1152" y="16735"/>
                </a:lnTo>
                <a:lnTo>
                  <a:pt x="1185" y="16821"/>
                </a:lnTo>
                <a:lnTo>
                  <a:pt x="1225" y="16920"/>
                </a:lnTo>
                <a:lnTo>
                  <a:pt x="1267" y="17017"/>
                </a:lnTo>
                <a:lnTo>
                  <a:pt x="1288" y="17064"/>
                </a:lnTo>
                <a:lnTo>
                  <a:pt x="1310" y="17111"/>
                </a:lnTo>
                <a:lnTo>
                  <a:pt x="1332" y="17156"/>
                </a:lnTo>
                <a:lnTo>
                  <a:pt x="1354" y="17202"/>
                </a:lnTo>
                <a:lnTo>
                  <a:pt x="1377" y="17247"/>
                </a:lnTo>
                <a:lnTo>
                  <a:pt x="1399" y="17290"/>
                </a:lnTo>
                <a:lnTo>
                  <a:pt x="1423" y="17334"/>
                </a:lnTo>
                <a:lnTo>
                  <a:pt x="1447" y="17376"/>
                </a:lnTo>
                <a:lnTo>
                  <a:pt x="1471" y="17417"/>
                </a:lnTo>
                <a:lnTo>
                  <a:pt x="1496" y="17459"/>
                </a:lnTo>
                <a:lnTo>
                  <a:pt x="1521" y="17499"/>
                </a:lnTo>
                <a:lnTo>
                  <a:pt x="1546" y="17538"/>
                </a:lnTo>
                <a:lnTo>
                  <a:pt x="1572" y="17576"/>
                </a:lnTo>
                <a:lnTo>
                  <a:pt x="1598" y="17614"/>
                </a:lnTo>
                <a:lnTo>
                  <a:pt x="1625" y="17651"/>
                </a:lnTo>
                <a:lnTo>
                  <a:pt x="1652" y="17687"/>
                </a:lnTo>
                <a:lnTo>
                  <a:pt x="1680" y="17722"/>
                </a:lnTo>
                <a:lnTo>
                  <a:pt x="1707" y="17756"/>
                </a:lnTo>
                <a:lnTo>
                  <a:pt x="1736" y="17789"/>
                </a:lnTo>
                <a:lnTo>
                  <a:pt x="1764" y="17822"/>
                </a:lnTo>
                <a:lnTo>
                  <a:pt x="1794" y="17853"/>
                </a:lnTo>
                <a:lnTo>
                  <a:pt x="1824" y="17884"/>
                </a:lnTo>
                <a:lnTo>
                  <a:pt x="1854" y="17914"/>
                </a:lnTo>
                <a:lnTo>
                  <a:pt x="1885" y="17943"/>
                </a:lnTo>
                <a:lnTo>
                  <a:pt x="1917" y="17970"/>
                </a:lnTo>
                <a:lnTo>
                  <a:pt x="1947" y="17998"/>
                </a:lnTo>
                <a:lnTo>
                  <a:pt x="1980" y="18023"/>
                </a:lnTo>
                <a:lnTo>
                  <a:pt x="2013" y="18048"/>
                </a:lnTo>
                <a:lnTo>
                  <a:pt x="2052" y="18075"/>
                </a:lnTo>
                <a:lnTo>
                  <a:pt x="2091" y="18102"/>
                </a:lnTo>
                <a:lnTo>
                  <a:pt x="2132" y="18127"/>
                </a:lnTo>
                <a:lnTo>
                  <a:pt x="2173" y="18151"/>
                </a:lnTo>
                <a:lnTo>
                  <a:pt x="2215" y="18174"/>
                </a:lnTo>
                <a:lnTo>
                  <a:pt x="2259" y="18194"/>
                </a:lnTo>
                <a:lnTo>
                  <a:pt x="2303" y="18214"/>
                </a:lnTo>
                <a:lnTo>
                  <a:pt x="2349" y="18232"/>
                </a:lnTo>
                <a:lnTo>
                  <a:pt x="2397" y="18249"/>
                </a:lnTo>
                <a:lnTo>
                  <a:pt x="2446" y="18264"/>
                </a:lnTo>
                <a:lnTo>
                  <a:pt x="2497" y="18277"/>
                </a:lnTo>
                <a:lnTo>
                  <a:pt x="2549" y="18287"/>
                </a:lnTo>
                <a:lnTo>
                  <a:pt x="2576" y="18292"/>
                </a:lnTo>
                <a:lnTo>
                  <a:pt x="2603" y="18296"/>
                </a:lnTo>
                <a:lnTo>
                  <a:pt x="2631" y="18300"/>
                </a:lnTo>
                <a:lnTo>
                  <a:pt x="2658" y="18303"/>
                </a:lnTo>
                <a:lnTo>
                  <a:pt x="2687" y="18305"/>
                </a:lnTo>
                <a:lnTo>
                  <a:pt x="2716" y="18308"/>
                </a:lnTo>
                <a:lnTo>
                  <a:pt x="2745" y="18309"/>
                </a:lnTo>
                <a:lnTo>
                  <a:pt x="2776" y="18309"/>
                </a:lnTo>
                <a:lnTo>
                  <a:pt x="2835" y="18310"/>
                </a:lnTo>
                <a:lnTo>
                  <a:pt x="2896" y="18310"/>
                </a:lnTo>
                <a:lnTo>
                  <a:pt x="2957" y="18309"/>
                </a:lnTo>
                <a:lnTo>
                  <a:pt x="3017" y="18308"/>
                </a:lnTo>
                <a:lnTo>
                  <a:pt x="3079" y="18305"/>
                </a:lnTo>
                <a:lnTo>
                  <a:pt x="3140" y="18303"/>
                </a:lnTo>
                <a:lnTo>
                  <a:pt x="3200" y="18300"/>
                </a:lnTo>
                <a:lnTo>
                  <a:pt x="3262" y="18296"/>
                </a:lnTo>
                <a:lnTo>
                  <a:pt x="3323" y="18292"/>
                </a:lnTo>
                <a:lnTo>
                  <a:pt x="3384" y="18287"/>
                </a:lnTo>
                <a:lnTo>
                  <a:pt x="3444" y="18283"/>
                </a:lnTo>
                <a:lnTo>
                  <a:pt x="3505" y="18277"/>
                </a:lnTo>
                <a:lnTo>
                  <a:pt x="3565" y="18271"/>
                </a:lnTo>
                <a:lnTo>
                  <a:pt x="3625" y="18264"/>
                </a:lnTo>
                <a:lnTo>
                  <a:pt x="3686" y="18257"/>
                </a:lnTo>
                <a:lnTo>
                  <a:pt x="3745" y="18250"/>
                </a:lnTo>
                <a:lnTo>
                  <a:pt x="3829" y="18240"/>
                </a:lnTo>
                <a:lnTo>
                  <a:pt x="3912" y="18230"/>
                </a:lnTo>
                <a:lnTo>
                  <a:pt x="3995" y="18218"/>
                </a:lnTo>
                <a:lnTo>
                  <a:pt x="4076" y="18206"/>
                </a:lnTo>
                <a:lnTo>
                  <a:pt x="4157" y="18192"/>
                </a:lnTo>
                <a:lnTo>
                  <a:pt x="4236" y="18178"/>
                </a:lnTo>
                <a:lnTo>
                  <a:pt x="4316" y="18165"/>
                </a:lnTo>
                <a:lnTo>
                  <a:pt x="4395" y="18150"/>
                </a:lnTo>
                <a:lnTo>
                  <a:pt x="4473" y="18134"/>
                </a:lnTo>
                <a:lnTo>
                  <a:pt x="4549" y="18118"/>
                </a:lnTo>
                <a:lnTo>
                  <a:pt x="4627" y="18101"/>
                </a:lnTo>
                <a:lnTo>
                  <a:pt x="4704" y="18083"/>
                </a:lnTo>
                <a:lnTo>
                  <a:pt x="4779" y="18066"/>
                </a:lnTo>
                <a:lnTo>
                  <a:pt x="4855" y="18048"/>
                </a:lnTo>
                <a:lnTo>
                  <a:pt x="4931" y="18028"/>
                </a:lnTo>
                <a:lnTo>
                  <a:pt x="5006" y="18009"/>
                </a:lnTo>
                <a:lnTo>
                  <a:pt x="5156" y="17969"/>
                </a:lnTo>
                <a:lnTo>
                  <a:pt x="5305" y="17927"/>
                </a:lnTo>
                <a:lnTo>
                  <a:pt x="5455" y="17882"/>
                </a:lnTo>
                <a:lnTo>
                  <a:pt x="5603" y="17836"/>
                </a:lnTo>
                <a:lnTo>
                  <a:pt x="5753" y="17789"/>
                </a:lnTo>
                <a:lnTo>
                  <a:pt x="5904" y="17741"/>
                </a:lnTo>
                <a:lnTo>
                  <a:pt x="6056" y="17691"/>
                </a:lnTo>
                <a:lnTo>
                  <a:pt x="6211" y="17639"/>
                </a:lnTo>
                <a:lnTo>
                  <a:pt x="6273" y="17619"/>
                </a:lnTo>
                <a:lnTo>
                  <a:pt x="6368" y="17586"/>
                </a:lnTo>
                <a:lnTo>
                  <a:pt x="6483" y="17544"/>
                </a:lnTo>
                <a:lnTo>
                  <a:pt x="6608" y="17501"/>
                </a:lnTo>
                <a:lnTo>
                  <a:pt x="6729" y="17456"/>
                </a:lnTo>
                <a:lnTo>
                  <a:pt x="6837" y="17415"/>
                </a:lnTo>
                <a:lnTo>
                  <a:pt x="6881" y="17398"/>
                </a:lnTo>
                <a:lnTo>
                  <a:pt x="6917" y="17382"/>
                </a:lnTo>
                <a:lnTo>
                  <a:pt x="6943" y="17369"/>
                </a:lnTo>
                <a:lnTo>
                  <a:pt x="6959" y="17361"/>
                </a:lnTo>
                <a:lnTo>
                  <a:pt x="6994" y="17351"/>
                </a:lnTo>
                <a:lnTo>
                  <a:pt x="7046" y="17333"/>
                </a:lnTo>
                <a:lnTo>
                  <a:pt x="7116" y="17308"/>
                </a:lnTo>
                <a:lnTo>
                  <a:pt x="7200" y="17277"/>
                </a:lnTo>
                <a:lnTo>
                  <a:pt x="7294" y="17240"/>
                </a:lnTo>
                <a:lnTo>
                  <a:pt x="7397" y="17200"/>
                </a:lnTo>
                <a:lnTo>
                  <a:pt x="7507" y="17156"/>
                </a:lnTo>
                <a:lnTo>
                  <a:pt x="7621" y="17112"/>
                </a:lnTo>
                <a:lnTo>
                  <a:pt x="7734" y="17066"/>
                </a:lnTo>
                <a:lnTo>
                  <a:pt x="7846" y="17021"/>
                </a:lnTo>
                <a:lnTo>
                  <a:pt x="7955" y="16977"/>
                </a:lnTo>
                <a:lnTo>
                  <a:pt x="8057" y="16937"/>
                </a:lnTo>
                <a:lnTo>
                  <a:pt x="8148" y="16899"/>
                </a:lnTo>
                <a:lnTo>
                  <a:pt x="8228" y="16867"/>
                </a:lnTo>
                <a:lnTo>
                  <a:pt x="8295" y="16841"/>
                </a:lnTo>
                <a:lnTo>
                  <a:pt x="8344" y="16821"/>
                </a:lnTo>
                <a:lnTo>
                  <a:pt x="8396" y="16799"/>
                </a:lnTo>
                <a:lnTo>
                  <a:pt x="8454" y="16778"/>
                </a:lnTo>
                <a:lnTo>
                  <a:pt x="8513" y="16755"/>
                </a:lnTo>
                <a:lnTo>
                  <a:pt x="8574" y="16731"/>
                </a:lnTo>
                <a:lnTo>
                  <a:pt x="8633" y="16707"/>
                </a:lnTo>
                <a:lnTo>
                  <a:pt x="8690" y="16682"/>
                </a:lnTo>
                <a:lnTo>
                  <a:pt x="8744" y="16658"/>
                </a:lnTo>
                <a:lnTo>
                  <a:pt x="8792" y="16633"/>
                </a:lnTo>
                <a:lnTo>
                  <a:pt x="8829" y="16621"/>
                </a:lnTo>
                <a:lnTo>
                  <a:pt x="8872" y="16605"/>
                </a:lnTo>
                <a:lnTo>
                  <a:pt x="8918" y="16587"/>
                </a:lnTo>
                <a:lnTo>
                  <a:pt x="8965" y="16565"/>
                </a:lnTo>
                <a:lnTo>
                  <a:pt x="9013" y="16543"/>
                </a:lnTo>
                <a:lnTo>
                  <a:pt x="9059" y="16522"/>
                </a:lnTo>
                <a:lnTo>
                  <a:pt x="9100" y="16502"/>
                </a:lnTo>
                <a:lnTo>
                  <a:pt x="9137" y="16485"/>
                </a:lnTo>
                <a:lnTo>
                  <a:pt x="9178" y="16465"/>
                </a:lnTo>
                <a:lnTo>
                  <a:pt x="9220" y="16447"/>
                </a:lnTo>
                <a:lnTo>
                  <a:pt x="9263" y="16429"/>
                </a:lnTo>
                <a:lnTo>
                  <a:pt x="9304" y="16409"/>
                </a:lnTo>
                <a:lnTo>
                  <a:pt x="9346" y="16391"/>
                </a:lnTo>
                <a:lnTo>
                  <a:pt x="9388" y="16371"/>
                </a:lnTo>
                <a:lnTo>
                  <a:pt x="9430" y="16352"/>
                </a:lnTo>
                <a:lnTo>
                  <a:pt x="9471" y="16331"/>
                </a:lnTo>
                <a:lnTo>
                  <a:pt x="9550" y="16292"/>
                </a:lnTo>
                <a:lnTo>
                  <a:pt x="9633" y="16254"/>
                </a:lnTo>
                <a:lnTo>
                  <a:pt x="9720" y="16214"/>
                </a:lnTo>
                <a:lnTo>
                  <a:pt x="9807" y="16173"/>
                </a:lnTo>
                <a:lnTo>
                  <a:pt x="9894" y="16132"/>
                </a:lnTo>
                <a:lnTo>
                  <a:pt x="9978" y="16091"/>
                </a:lnTo>
                <a:lnTo>
                  <a:pt x="10018" y="16069"/>
                </a:lnTo>
                <a:lnTo>
                  <a:pt x="10057" y="16048"/>
                </a:lnTo>
                <a:lnTo>
                  <a:pt x="10093" y="16026"/>
                </a:lnTo>
                <a:lnTo>
                  <a:pt x="10129" y="16004"/>
                </a:lnTo>
                <a:lnTo>
                  <a:pt x="10153" y="15994"/>
                </a:lnTo>
                <a:lnTo>
                  <a:pt x="10184" y="15979"/>
                </a:lnTo>
                <a:lnTo>
                  <a:pt x="10220" y="15962"/>
                </a:lnTo>
                <a:lnTo>
                  <a:pt x="10263" y="15939"/>
                </a:lnTo>
                <a:lnTo>
                  <a:pt x="10363" y="15886"/>
                </a:lnTo>
                <a:lnTo>
                  <a:pt x="10482" y="15821"/>
                </a:lnTo>
                <a:lnTo>
                  <a:pt x="10614" y="15748"/>
                </a:lnTo>
                <a:lnTo>
                  <a:pt x="10756" y="15669"/>
                </a:lnTo>
                <a:lnTo>
                  <a:pt x="10903" y="15584"/>
                </a:lnTo>
                <a:lnTo>
                  <a:pt x="11053" y="15498"/>
                </a:lnTo>
                <a:lnTo>
                  <a:pt x="11202" y="15411"/>
                </a:lnTo>
                <a:lnTo>
                  <a:pt x="11344" y="15328"/>
                </a:lnTo>
                <a:lnTo>
                  <a:pt x="11477" y="15249"/>
                </a:lnTo>
                <a:lnTo>
                  <a:pt x="11597" y="15176"/>
                </a:lnTo>
                <a:lnTo>
                  <a:pt x="11700" y="15111"/>
                </a:lnTo>
                <a:lnTo>
                  <a:pt x="11781" y="15060"/>
                </a:lnTo>
                <a:lnTo>
                  <a:pt x="11813" y="15038"/>
                </a:lnTo>
                <a:lnTo>
                  <a:pt x="11838" y="15021"/>
                </a:lnTo>
                <a:lnTo>
                  <a:pt x="11857" y="15007"/>
                </a:lnTo>
                <a:lnTo>
                  <a:pt x="11867" y="14997"/>
                </a:lnTo>
                <a:lnTo>
                  <a:pt x="11879" y="14991"/>
                </a:lnTo>
                <a:lnTo>
                  <a:pt x="11898" y="14982"/>
                </a:lnTo>
                <a:lnTo>
                  <a:pt x="11919" y="14970"/>
                </a:lnTo>
                <a:lnTo>
                  <a:pt x="11947" y="14954"/>
                </a:lnTo>
                <a:lnTo>
                  <a:pt x="12012" y="14913"/>
                </a:lnTo>
                <a:lnTo>
                  <a:pt x="12090" y="14864"/>
                </a:lnTo>
                <a:lnTo>
                  <a:pt x="12179" y="14806"/>
                </a:lnTo>
                <a:lnTo>
                  <a:pt x="12276" y="14741"/>
                </a:lnTo>
                <a:lnTo>
                  <a:pt x="12379" y="14672"/>
                </a:lnTo>
                <a:lnTo>
                  <a:pt x="12485" y="14600"/>
                </a:lnTo>
                <a:lnTo>
                  <a:pt x="12590" y="14528"/>
                </a:lnTo>
                <a:lnTo>
                  <a:pt x="12694" y="14457"/>
                </a:lnTo>
                <a:lnTo>
                  <a:pt x="12791" y="14388"/>
                </a:lnTo>
                <a:lnTo>
                  <a:pt x="12883" y="14324"/>
                </a:lnTo>
                <a:lnTo>
                  <a:pt x="12963" y="14267"/>
                </a:lnTo>
                <a:lnTo>
                  <a:pt x="13031" y="14218"/>
                </a:lnTo>
                <a:lnTo>
                  <a:pt x="13083" y="14179"/>
                </a:lnTo>
                <a:lnTo>
                  <a:pt x="13116" y="14152"/>
                </a:lnTo>
                <a:lnTo>
                  <a:pt x="13131" y="14143"/>
                </a:lnTo>
                <a:lnTo>
                  <a:pt x="13152" y="14131"/>
                </a:lnTo>
                <a:lnTo>
                  <a:pt x="13179" y="14112"/>
                </a:lnTo>
                <a:lnTo>
                  <a:pt x="13212" y="14088"/>
                </a:lnTo>
                <a:lnTo>
                  <a:pt x="13294" y="14030"/>
                </a:lnTo>
                <a:lnTo>
                  <a:pt x="13392" y="13958"/>
                </a:lnTo>
                <a:lnTo>
                  <a:pt x="13505" y="13873"/>
                </a:lnTo>
                <a:lnTo>
                  <a:pt x="13628" y="13779"/>
                </a:lnTo>
                <a:lnTo>
                  <a:pt x="13758" y="13680"/>
                </a:lnTo>
                <a:lnTo>
                  <a:pt x="13891" y="13578"/>
                </a:lnTo>
                <a:lnTo>
                  <a:pt x="14024" y="13475"/>
                </a:lnTo>
                <a:lnTo>
                  <a:pt x="14153" y="13374"/>
                </a:lnTo>
                <a:lnTo>
                  <a:pt x="14274" y="13278"/>
                </a:lnTo>
                <a:lnTo>
                  <a:pt x="14385" y="13190"/>
                </a:lnTo>
                <a:lnTo>
                  <a:pt x="14481" y="13112"/>
                </a:lnTo>
                <a:lnTo>
                  <a:pt x="14559" y="13048"/>
                </a:lnTo>
                <a:lnTo>
                  <a:pt x="14590" y="13022"/>
                </a:lnTo>
                <a:lnTo>
                  <a:pt x="14615" y="13000"/>
                </a:lnTo>
                <a:lnTo>
                  <a:pt x="14634" y="12982"/>
                </a:lnTo>
                <a:lnTo>
                  <a:pt x="14645" y="12970"/>
                </a:lnTo>
                <a:lnTo>
                  <a:pt x="14658" y="12963"/>
                </a:lnTo>
                <a:lnTo>
                  <a:pt x="14673" y="12954"/>
                </a:lnTo>
                <a:lnTo>
                  <a:pt x="14690" y="12942"/>
                </a:lnTo>
                <a:lnTo>
                  <a:pt x="14708" y="12928"/>
                </a:lnTo>
                <a:lnTo>
                  <a:pt x="14751" y="12895"/>
                </a:lnTo>
                <a:lnTo>
                  <a:pt x="14802" y="12854"/>
                </a:lnTo>
                <a:lnTo>
                  <a:pt x="14857" y="12807"/>
                </a:lnTo>
                <a:lnTo>
                  <a:pt x="14917" y="12756"/>
                </a:lnTo>
                <a:lnTo>
                  <a:pt x="14979" y="12701"/>
                </a:lnTo>
                <a:lnTo>
                  <a:pt x="15044" y="12645"/>
                </a:lnTo>
                <a:lnTo>
                  <a:pt x="15110" y="12587"/>
                </a:lnTo>
                <a:lnTo>
                  <a:pt x="15175" y="12530"/>
                </a:lnTo>
                <a:lnTo>
                  <a:pt x="15238" y="12475"/>
                </a:lnTo>
                <a:lnTo>
                  <a:pt x="15298" y="12421"/>
                </a:lnTo>
                <a:lnTo>
                  <a:pt x="15354" y="12372"/>
                </a:lnTo>
                <a:lnTo>
                  <a:pt x="15405" y="12328"/>
                </a:lnTo>
                <a:lnTo>
                  <a:pt x="15451" y="12291"/>
                </a:lnTo>
                <a:lnTo>
                  <a:pt x="15487" y="12261"/>
                </a:lnTo>
                <a:lnTo>
                  <a:pt x="15508" y="12245"/>
                </a:lnTo>
                <a:lnTo>
                  <a:pt x="15520" y="12233"/>
                </a:lnTo>
                <a:lnTo>
                  <a:pt x="15534" y="12220"/>
                </a:lnTo>
                <a:lnTo>
                  <a:pt x="15555" y="12200"/>
                </a:lnTo>
                <a:lnTo>
                  <a:pt x="15765" y="12013"/>
                </a:lnTo>
                <a:lnTo>
                  <a:pt x="15798" y="11979"/>
                </a:lnTo>
                <a:lnTo>
                  <a:pt x="15830" y="11947"/>
                </a:lnTo>
                <a:lnTo>
                  <a:pt x="15863" y="11915"/>
                </a:lnTo>
                <a:lnTo>
                  <a:pt x="15895" y="11884"/>
                </a:lnTo>
                <a:lnTo>
                  <a:pt x="15927" y="11853"/>
                </a:lnTo>
                <a:lnTo>
                  <a:pt x="15959" y="11823"/>
                </a:lnTo>
                <a:lnTo>
                  <a:pt x="15992" y="11790"/>
                </a:lnTo>
                <a:lnTo>
                  <a:pt x="16025" y="11758"/>
                </a:lnTo>
                <a:lnTo>
                  <a:pt x="16052" y="11733"/>
                </a:lnTo>
                <a:lnTo>
                  <a:pt x="16089" y="11696"/>
                </a:lnTo>
                <a:lnTo>
                  <a:pt x="16136" y="11649"/>
                </a:lnTo>
                <a:lnTo>
                  <a:pt x="16190" y="11595"/>
                </a:lnTo>
                <a:lnTo>
                  <a:pt x="16248" y="11535"/>
                </a:lnTo>
                <a:lnTo>
                  <a:pt x="16311" y="11470"/>
                </a:lnTo>
                <a:lnTo>
                  <a:pt x="16377" y="11403"/>
                </a:lnTo>
                <a:lnTo>
                  <a:pt x="16443" y="11335"/>
                </a:lnTo>
                <a:lnTo>
                  <a:pt x="16508" y="11268"/>
                </a:lnTo>
                <a:lnTo>
                  <a:pt x="16571" y="11202"/>
                </a:lnTo>
                <a:lnTo>
                  <a:pt x="16629" y="11140"/>
                </a:lnTo>
                <a:lnTo>
                  <a:pt x="16681" y="11084"/>
                </a:lnTo>
                <a:lnTo>
                  <a:pt x="16726" y="11036"/>
                </a:lnTo>
                <a:lnTo>
                  <a:pt x="16761" y="10997"/>
                </a:lnTo>
                <a:lnTo>
                  <a:pt x="16786" y="10969"/>
                </a:lnTo>
                <a:lnTo>
                  <a:pt x="16797" y="10953"/>
                </a:lnTo>
                <a:lnTo>
                  <a:pt x="16818" y="10935"/>
                </a:lnTo>
                <a:lnTo>
                  <a:pt x="16837" y="10915"/>
                </a:lnTo>
                <a:lnTo>
                  <a:pt x="16856" y="10896"/>
                </a:lnTo>
                <a:lnTo>
                  <a:pt x="16874" y="10875"/>
                </a:lnTo>
                <a:lnTo>
                  <a:pt x="16908" y="10833"/>
                </a:lnTo>
                <a:lnTo>
                  <a:pt x="16943" y="10789"/>
                </a:lnTo>
                <a:lnTo>
                  <a:pt x="17006" y="10707"/>
                </a:lnTo>
                <a:lnTo>
                  <a:pt x="17067" y="10626"/>
                </a:lnTo>
                <a:lnTo>
                  <a:pt x="17128" y="10543"/>
                </a:lnTo>
                <a:lnTo>
                  <a:pt x="17185" y="10462"/>
                </a:lnTo>
                <a:lnTo>
                  <a:pt x="17214" y="10421"/>
                </a:lnTo>
                <a:lnTo>
                  <a:pt x="17241" y="10379"/>
                </a:lnTo>
                <a:lnTo>
                  <a:pt x="17269" y="10337"/>
                </a:lnTo>
                <a:lnTo>
                  <a:pt x="17295" y="10296"/>
                </a:lnTo>
                <a:lnTo>
                  <a:pt x="17321" y="10254"/>
                </a:lnTo>
                <a:lnTo>
                  <a:pt x="17347" y="10211"/>
                </a:lnTo>
                <a:lnTo>
                  <a:pt x="17372" y="10169"/>
                </a:lnTo>
                <a:lnTo>
                  <a:pt x="17396" y="10125"/>
                </a:lnTo>
                <a:lnTo>
                  <a:pt x="17419" y="10081"/>
                </a:lnTo>
                <a:lnTo>
                  <a:pt x="17442" y="10037"/>
                </a:lnTo>
                <a:lnTo>
                  <a:pt x="17463" y="9992"/>
                </a:lnTo>
                <a:lnTo>
                  <a:pt x="17485" y="9946"/>
                </a:lnTo>
                <a:lnTo>
                  <a:pt x="17505" y="9900"/>
                </a:lnTo>
                <a:lnTo>
                  <a:pt x="17524" y="9853"/>
                </a:lnTo>
                <a:lnTo>
                  <a:pt x="17543" y="9805"/>
                </a:lnTo>
                <a:lnTo>
                  <a:pt x="17561" y="9757"/>
                </a:lnTo>
                <a:lnTo>
                  <a:pt x="17578" y="9708"/>
                </a:lnTo>
                <a:lnTo>
                  <a:pt x="17594" y="9657"/>
                </a:lnTo>
                <a:lnTo>
                  <a:pt x="17609" y="9606"/>
                </a:lnTo>
                <a:lnTo>
                  <a:pt x="17622" y="9553"/>
                </a:lnTo>
                <a:lnTo>
                  <a:pt x="17636" y="9501"/>
                </a:lnTo>
                <a:lnTo>
                  <a:pt x="17648" y="9446"/>
                </a:lnTo>
                <a:lnTo>
                  <a:pt x="17659" y="9391"/>
                </a:lnTo>
                <a:lnTo>
                  <a:pt x="17669" y="9334"/>
                </a:lnTo>
                <a:lnTo>
                  <a:pt x="17673" y="9309"/>
                </a:lnTo>
                <a:lnTo>
                  <a:pt x="17675" y="9283"/>
                </a:lnTo>
                <a:lnTo>
                  <a:pt x="17675" y="9255"/>
                </a:lnTo>
                <a:lnTo>
                  <a:pt x="17674" y="9226"/>
                </a:lnTo>
                <a:lnTo>
                  <a:pt x="17672" y="9196"/>
                </a:lnTo>
                <a:lnTo>
                  <a:pt x="17669" y="9165"/>
                </a:lnTo>
                <a:lnTo>
                  <a:pt x="17665" y="9133"/>
                </a:lnTo>
                <a:lnTo>
                  <a:pt x="17659" y="9101"/>
                </a:lnTo>
                <a:lnTo>
                  <a:pt x="17653" y="9068"/>
                </a:lnTo>
                <a:lnTo>
                  <a:pt x="17645" y="9034"/>
                </a:lnTo>
                <a:lnTo>
                  <a:pt x="17637" y="8999"/>
                </a:lnTo>
                <a:lnTo>
                  <a:pt x="17629" y="8965"/>
                </a:lnTo>
                <a:lnTo>
                  <a:pt x="17609" y="8895"/>
                </a:lnTo>
                <a:lnTo>
                  <a:pt x="17587" y="8825"/>
                </a:lnTo>
                <a:lnTo>
                  <a:pt x="17563" y="8757"/>
                </a:lnTo>
                <a:lnTo>
                  <a:pt x="17539" y="8689"/>
                </a:lnTo>
                <a:lnTo>
                  <a:pt x="17513" y="8624"/>
                </a:lnTo>
                <a:lnTo>
                  <a:pt x="17487" y="8563"/>
                </a:lnTo>
                <a:lnTo>
                  <a:pt x="17462" y="8506"/>
                </a:lnTo>
                <a:lnTo>
                  <a:pt x="17437" y="8455"/>
                </a:lnTo>
                <a:lnTo>
                  <a:pt x="17415" y="8408"/>
                </a:lnTo>
                <a:lnTo>
                  <a:pt x="17394" y="8369"/>
                </a:lnTo>
                <a:lnTo>
                  <a:pt x="17360" y="8310"/>
                </a:lnTo>
                <a:lnTo>
                  <a:pt x="17328" y="8254"/>
                </a:lnTo>
                <a:lnTo>
                  <a:pt x="17297" y="8203"/>
                </a:lnTo>
                <a:lnTo>
                  <a:pt x="17268" y="8155"/>
                </a:lnTo>
                <a:lnTo>
                  <a:pt x="17239" y="8109"/>
                </a:lnTo>
                <a:lnTo>
                  <a:pt x="17210" y="8066"/>
                </a:lnTo>
                <a:lnTo>
                  <a:pt x="17182" y="8023"/>
                </a:lnTo>
                <a:lnTo>
                  <a:pt x="17153" y="7981"/>
                </a:lnTo>
                <a:lnTo>
                  <a:pt x="17123" y="7941"/>
                </a:lnTo>
                <a:lnTo>
                  <a:pt x="17093" y="7900"/>
                </a:lnTo>
                <a:lnTo>
                  <a:pt x="17062" y="7858"/>
                </a:lnTo>
                <a:lnTo>
                  <a:pt x="17029" y="7816"/>
                </a:lnTo>
                <a:lnTo>
                  <a:pt x="16958" y="7727"/>
                </a:lnTo>
                <a:lnTo>
                  <a:pt x="16877" y="7627"/>
                </a:lnTo>
                <a:lnTo>
                  <a:pt x="16843" y="7585"/>
                </a:lnTo>
                <a:lnTo>
                  <a:pt x="16805" y="7540"/>
                </a:lnTo>
                <a:lnTo>
                  <a:pt x="16766" y="7493"/>
                </a:lnTo>
                <a:lnTo>
                  <a:pt x="16725" y="7446"/>
                </a:lnTo>
                <a:lnTo>
                  <a:pt x="16641" y="7350"/>
                </a:lnTo>
                <a:lnTo>
                  <a:pt x="16551" y="7253"/>
                </a:lnTo>
                <a:lnTo>
                  <a:pt x="16462" y="7157"/>
                </a:lnTo>
                <a:lnTo>
                  <a:pt x="16373" y="7065"/>
                </a:lnTo>
                <a:lnTo>
                  <a:pt x="16287" y="6978"/>
                </a:lnTo>
                <a:lnTo>
                  <a:pt x="16207" y="6899"/>
                </a:lnTo>
                <a:lnTo>
                  <a:pt x="16179" y="6872"/>
                </a:lnTo>
                <a:lnTo>
                  <a:pt x="16153" y="6842"/>
                </a:lnTo>
                <a:lnTo>
                  <a:pt x="16127" y="6811"/>
                </a:lnTo>
                <a:lnTo>
                  <a:pt x="16099" y="6779"/>
                </a:lnTo>
                <a:lnTo>
                  <a:pt x="16071" y="6747"/>
                </a:lnTo>
                <a:lnTo>
                  <a:pt x="16042" y="6715"/>
                </a:lnTo>
                <a:lnTo>
                  <a:pt x="16011" y="6683"/>
                </a:lnTo>
                <a:lnTo>
                  <a:pt x="15979" y="6652"/>
                </a:lnTo>
                <a:lnTo>
                  <a:pt x="14313" y="5186"/>
                </a:lnTo>
                <a:lnTo>
                  <a:pt x="14230" y="5121"/>
                </a:lnTo>
                <a:lnTo>
                  <a:pt x="14144" y="5052"/>
                </a:lnTo>
                <a:lnTo>
                  <a:pt x="14058" y="4981"/>
                </a:lnTo>
                <a:lnTo>
                  <a:pt x="13972" y="4911"/>
                </a:lnTo>
                <a:lnTo>
                  <a:pt x="13885" y="4840"/>
                </a:lnTo>
                <a:lnTo>
                  <a:pt x="13797" y="4769"/>
                </a:lnTo>
                <a:lnTo>
                  <a:pt x="13709" y="4700"/>
                </a:lnTo>
                <a:lnTo>
                  <a:pt x="13622" y="4634"/>
                </a:lnTo>
                <a:lnTo>
                  <a:pt x="13528" y="4565"/>
                </a:lnTo>
                <a:lnTo>
                  <a:pt x="13437" y="4496"/>
                </a:lnTo>
                <a:lnTo>
                  <a:pt x="13348" y="4430"/>
                </a:lnTo>
                <a:lnTo>
                  <a:pt x="13259" y="4364"/>
                </a:lnTo>
                <a:lnTo>
                  <a:pt x="13172" y="4299"/>
                </a:lnTo>
                <a:lnTo>
                  <a:pt x="13085" y="4234"/>
                </a:lnTo>
                <a:lnTo>
                  <a:pt x="12999" y="4170"/>
                </a:lnTo>
                <a:lnTo>
                  <a:pt x="12913" y="4107"/>
                </a:lnTo>
                <a:lnTo>
                  <a:pt x="12826" y="4043"/>
                </a:lnTo>
                <a:lnTo>
                  <a:pt x="12738" y="3980"/>
                </a:lnTo>
                <a:lnTo>
                  <a:pt x="12650" y="3916"/>
                </a:lnTo>
                <a:lnTo>
                  <a:pt x="12559" y="3852"/>
                </a:lnTo>
                <a:lnTo>
                  <a:pt x="12468" y="3787"/>
                </a:lnTo>
                <a:lnTo>
                  <a:pt x="12373" y="3722"/>
                </a:lnTo>
                <a:lnTo>
                  <a:pt x="12276" y="3655"/>
                </a:lnTo>
                <a:lnTo>
                  <a:pt x="12177" y="3589"/>
                </a:lnTo>
                <a:lnTo>
                  <a:pt x="12083" y="3525"/>
                </a:lnTo>
                <a:lnTo>
                  <a:pt x="11988" y="3463"/>
                </a:lnTo>
                <a:lnTo>
                  <a:pt x="11893" y="3402"/>
                </a:lnTo>
                <a:lnTo>
                  <a:pt x="11798" y="3340"/>
                </a:lnTo>
                <a:lnTo>
                  <a:pt x="11702" y="3280"/>
                </a:lnTo>
                <a:lnTo>
                  <a:pt x="11606" y="3219"/>
                </a:lnTo>
                <a:lnTo>
                  <a:pt x="11509" y="3158"/>
                </a:lnTo>
                <a:lnTo>
                  <a:pt x="11411" y="3097"/>
                </a:lnTo>
                <a:lnTo>
                  <a:pt x="11318" y="3037"/>
                </a:lnTo>
                <a:lnTo>
                  <a:pt x="11222" y="2979"/>
                </a:lnTo>
                <a:lnTo>
                  <a:pt x="11125" y="2920"/>
                </a:lnTo>
                <a:lnTo>
                  <a:pt x="11028" y="2863"/>
                </a:lnTo>
                <a:lnTo>
                  <a:pt x="10930" y="2806"/>
                </a:lnTo>
                <a:lnTo>
                  <a:pt x="10831" y="2749"/>
                </a:lnTo>
                <a:lnTo>
                  <a:pt x="10732" y="2692"/>
                </a:lnTo>
                <a:lnTo>
                  <a:pt x="10631" y="2635"/>
                </a:lnTo>
                <a:lnTo>
                  <a:pt x="10529" y="2579"/>
                </a:lnTo>
                <a:lnTo>
                  <a:pt x="10427" y="2523"/>
                </a:lnTo>
                <a:lnTo>
                  <a:pt x="10326" y="2468"/>
                </a:lnTo>
                <a:lnTo>
                  <a:pt x="10223" y="2413"/>
                </a:lnTo>
                <a:lnTo>
                  <a:pt x="10120" y="2359"/>
                </a:lnTo>
                <a:lnTo>
                  <a:pt x="10015" y="2305"/>
                </a:lnTo>
                <a:lnTo>
                  <a:pt x="9911" y="2251"/>
                </a:lnTo>
                <a:lnTo>
                  <a:pt x="9807" y="2198"/>
                </a:lnTo>
                <a:lnTo>
                  <a:pt x="9735" y="2162"/>
                </a:lnTo>
                <a:lnTo>
                  <a:pt x="9660" y="2124"/>
                </a:lnTo>
                <a:lnTo>
                  <a:pt x="9583" y="2086"/>
                </a:lnTo>
                <a:lnTo>
                  <a:pt x="9504" y="2047"/>
                </a:lnTo>
                <a:lnTo>
                  <a:pt x="9423" y="2010"/>
                </a:lnTo>
                <a:lnTo>
                  <a:pt x="9340" y="1971"/>
                </a:lnTo>
                <a:lnTo>
                  <a:pt x="9258" y="1932"/>
                </a:lnTo>
                <a:lnTo>
                  <a:pt x="9174" y="1893"/>
                </a:lnTo>
                <a:lnTo>
                  <a:pt x="9091" y="1855"/>
                </a:lnTo>
                <a:lnTo>
                  <a:pt x="9006" y="1816"/>
                </a:lnTo>
                <a:lnTo>
                  <a:pt x="8923" y="1780"/>
                </a:lnTo>
                <a:lnTo>
                  <a:pt x="8840" y="1743"/>
                </a:lnTo>
                <a:lnTo>
                  <a:pt x="8759" y="1707"/>
                </a:lnTo>
                <a:lnTo>
                  <a:pt x="8679" y="1673"/>
                </a:lnTo>
                <a:lnTo>
                  <a:pt x="8600" y="1640"/>
                </a:lnTo>
                <a:lnTo>
                  <a:pt x="8523" y="1608"/>
                </a:lnTo>
                <a:lnTo>
                  <a:pt x="8472" y="1587"/>
                </a:lnTo>
                <a:lnTo>
                  <a:pt x="8417" y="1562"/>
                </a:lnTo>
                <a:lnTo>
                  <a:pt x="8360" y="1537"/>
                </a:lnTo>
                <a:lnTo>
                  <a:pt x="8300" y="1511"/>
                </a:lnTo>
                <a:lnTo>
                  <a:pt x="8242" y="1485"/>
                </a:lnTo>
                <a:lnTo>
                  <a:pt x="8184" y="1461"/>
                </a:lnTo>
                <a:lnTo>
                  <a:pt x="8156" y="1451"/>
                </a:lnTo>
                <a:lnTo>
                  <a:pt x="8129" y="1442"/>
                </a:lnTo>
                <a:lnTo>
                  <a:pt x="8102" y="1433"/>
                </a:lnTo>
                <a:lnTo>
                  <a:pt x="8078" y="1426"/>
                </a:lnTo>
                <a:close/>
              </a:path>
            </a:pathLst>
          </a:custGeom>
          <a:solidFill>
            <a:schemeClr val="accent2"/>
          </a:solidFill>
          <a:ln cap="sq">
            <a:noFill/>
          </a:ln>
        </p:spPr>
        <p:txBody>
          <a:bodyPr vert="horz" wrap="square" lIns="91440" tIns="45720" rIns="91440" bIns="45720" rtlCol="0" anchor="t"/>
          <a:lstStyle/>
          <a:p>
            <a:pPr algn="l"/>
            <a:endParaRPr kumimoji="1" lang="zh-CN" altLang="en-US"/>
          </a:p>
        </p:txBody>
      </p:sp>
      <p:sp>
        <p:nvSpPr>
          <p:cNvPr id="21" name="标题 1"/>
          <p:cNvSpPr txBox="1"/>
          <p:nvPr/>
        </p:nvSpPr>
        <p:spPr>
          <a:xfrm>
            <a:off x="452878" y="334470"/>
            <a:ext cx="8171180" cy="655320"/>
          </a:xfrm>
          <a:prstGeom prst="roundRect">
            <a:avLst>
              <a:gd name="adj" fmla="val 50000"/>
            </a:avLst>
          </a:prstGeom>
          <a:gradFill>
            <a:gsLst>
              <a:gs pos="0">
                <a:schemeClr val="accent1">
                  <a:lumMod val="20000"/>
                  <a:lumOff val="80000"/>
                </a:schemeClr>
              </a:gs>
              <a:gs pos="80000">
                <a:schemeClr val="accent1">
                  <a:lumMod val="20000"/>
                  <a:lumOff val="80000"/>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2" name="标题 1"/>
          <p:cNvSpPr txBox="1"/>
          <p:nvPr/>
        </p:nvSpPr>
        <p:spPr>
          <a:xfrm>
            <a:off x="783617" y="467040"/>
            <a:ext cx="8280373" cy="468000"/>
          </a:xfrm>
          <a:prstGeom prst="rect">
            <a:avLst/>
          </a:prstGeom>
          <a:noFill/>
          <a:ln>
            <a:noFill/>
          </a:ln>
        </p:spPr>
        <p:txBody>
          <a:bodyPr vert="horz" wrap="square" lIns="0" tIns="0" rIns="0" bIns="0" rtlCol="0" anchor="ctr"/>
          <a:lstStyle/>
          <a:p>
            <a:pPr algn="l"/>
            <a:r>
              <a:rPr kumimoji="1" lang="en-US" altLang="zh-CN" sz="2366" dirty="0">
                <a:ln w="12700">
                  <a:noFill/>
                </a:ln>
                <a:solidFill>
                  <a:srgbClr val="262626">
                    <a:alpha val="100000"/>
                  </a:srgbClr>
                </a:solidFill>
                <a:latin typeface="poppins-bold"/>
                <a:ea typeface="poppins-bold"/>
                <a:cs typeface="poppins-bold"/>
              </a:rPr>
              <a:t>Director o </a:t>
            </a:r>
            <a:r>
              <a:rPr kumimoji="1" lang="en-US" altLang="zh-CN" sz="2366" dirty="0" err="1">
                <a:ln w="12700">
                  <a:noFill/>
                </a:ln>
                <a:solidFill>
                  <a:srgbClr val="262626">
                    <a:alpha val="100000"/>
                  </a:srgbClr>
                </a:solidFill>
                <a:latin typeface="poppins-bold"/>
                <a:ea typeface="poppins-bold"/>
                <a:cs typeface="poppins-bold"/>
              </a:rPr>
              <a:t>Gerente</a:t>
            </a:r>
            <a:r>
              <a:rPr kumimoji="1" lang="en-US" altLang="zh-CN" sz="2366" dirty="0">
                <a:ln w="12700">
                  <a:noFill/>
                </a:ln>
                <a:solidFill>
                  <a:srgbClr val="262626">
                    <a:alpha val="100000"/>
                  </a:srgbClr>
                </a:solidFill>
                <a:latin typeface="poppins-bold"/>
                <a:ea typeface="poppins-bold"/>
                <a:cs typeface="poppins-bold"/>
              </a:rPr>
              <a:t> del Centro de </a:t>
            </a:r>
            <a:r>
              <a:rPr kumimoji="1" lang="en-US" altLang="zh-CN" sz="2366" dirty="0" err="1">
                <a:ln w="12700">
                  <a:noFill/>
                </a:ln>
                <a:solidFill>
                  <a:srgbClr val="262626">
                    <a:alpha val="100000"/>
                  </a:srgbClr>
                </a:solidFill>
                <a:latin typeface="poppins-bold"/>
                <a:ea typeface="poppins-bold"/>
                <a:cs typeface="poppins-bold"/>
              </a:rPr>
              <a:t>Cómputo</a:t>
            </a:r>
            <a:r>
              <a:rPr kumimoji="1" lang="en-US" altLang="zh-CN" sz="2366" dirty="0">
                <a:ln w="12700">
                  <a:noFill/>
                </a:ln>
                <a:solidFill>
                  <a:srgbClr val="262626">
                    <a:alpha val="100000"/>
                  </a:srgbClr>
                </a:solidFill>
                <a:latin typeface="poppins-bold"/>
                <a:ea typeface="poppins-bold"/>
                <a:cs typeface="poppins-bold"/>
              </a:rPr>
              <a:t> (Data Center Manager)</a:t>
            </a:r>
            <a:endParaRPr kumimoji="1" lang="zh-CN" altLang="en-US" dirty="0"/>
          </a:p>
        </p:txBody>
      </p:sp>
      <p:pic>
        <p:nvPicPr>
          <p:cNvPr id="24" name="Imagen 23">
            <a:extLst>
              <a:ext uri="{FF2B5EF4-FFF2-40B4-BE49-F238E27FC236}">
                <a16:creationId xmlns:a16="http://schemas.microsoft.com/office/drawing/2014/main" id="{B154F82F-5FC0-71B1-5456-3F0A9383CE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1168109" y="1203817"/>
            <a:ext cx="9846853" cy="864000"/>
          </a:xfrm>
          <a:prstGeom prst="rect">
            <a:avLst/>
          </a:prstGeom>
          <a:noFill/>
          <a:ln>
            <a:noFill/>
          </a:ln>
        </p:spPr>
        <p:txBody>
          <a:bodyPr vert="horz" wrap="square" lIns="0" tIns="0" rIns="0" bIns="0" rtlCol="0" anchor="b"/>
          <a:lstStyle/>
          <a:p>
            <a:r>
              <a:rPr kumimoji="1" lang="en-US" altLang="zh-CN" sz="1600" dirty="0" err="1">
                <a:ln w="12700">
                  <a:noFill/>
                </a:ln>
                <a:solidFill>
                  <a:srgbClr val="262626">
                    <a:alpha val="100000"/>
                  </a:srgbClr>
                </a:solidFill>
                <a:latin typeface="poppins-bold"/>
                <a:ea typeface="poppins-bold"/>
                <a:cs typeface="poppins-bold"/>
              </a:rPr>
              <a:t>Función</a:t>
            </a:r>
            <a:r>
              <a:rPr kumimoji="1" lang="en-US" altLang="zh-CN" sz="1600" dirty="0">
                <a:ln w="12700">
                  <a:noFill/>
                </a:ln>
                <a:solidFill>
                  <a:srgbClr val="262626">
                    <a:alpha val="100000"/>
                  </a:srgbClr>
                </a:solidFill>
                <a:latin typeface="poppins-bold"/>
                <a:ea typeface="poppins-bold"/>
                <a:cs typeface="poppins-bold"/>
              </a:rPr>
              <a:t> y </a:t>
            </a:r>
            <a:r>
              <a:rPr kumimoji="1" lang="en-US" altLang="zh-CN" sz="1600" dirty="0" err="1">
                <a:ln w="12700">
                  <a:noFill/>
                </a:ln>
                <a:solidFill>
                  <a:srgbClr val="262626">
                    <a:alpha val="100000"/>
                  </a:srgbClr>
                </a:solidFill>
                <a:latin typeface="poppins-bold"/>
                <a:ea typeface="poppins-bold"/>
                <a:cs typeface="poppins-bold"/>
              </a:rPr>
              <a:t>Responsabilidades</a:t>
            </a:r>
            <a:r>
              <a:rPr kumimoji="1" lang="en-US" altLang="zh-CN" sz="1600" dirty="0">
                <a:ln w="12700">
                  <a:noFill/>
                </a:ln>
                <a:solidFill>
                  <a:srgbClr val="262626">
                    <a:alpha val="100000"/>
                  </a:srgbClr>
                </a:solidFill>
                <a:latin typeface="poppins-bold"/>
                <a:ea typeface="poppins-bold"/>
                <a:cs typeface="poppins-bold"/>
              </a:rPr>
              <a:t>: </a:t>
            </a:r>
            <a:r>
              <a:rPr lang="es-EC" dirty="0"/>
              <a:t>Gestionar el corazón del cómputo: los servidores y el almacenamiento</a:t>
            </a:r>
            <a:endParaRPr kumimoji="1" lang="zh-CN" altLang="en-US" dirty="0"/>
          </a:p>
        </p:txBody>
      </p:sp>
      <p:sp>
        <p:nvSpPr>
          <p:cNvPr id="4" name="标题 1"/>
          <p:cNvSpPr txBox="1"/>
          <p:nvPr/>
        </p:nvSpPr>
        <p:spPr>
          <a:xfrm>
            <a:off x="689303" y="2966091"/>
            <a:ext cx="2393654" cy="1484479"/>
          </a:xfrm>
          <a:prstGeom prst="wedgeRectCallout">
            <a:avLst>
              <a:gd name="adj1" fmla="val -37592"/>
              <a:gd name="adj2" fmla="val 59608"/>
            </a:avLst>
          </a:prstGeom>
          <a:solidFill>
            <a:schemeClr val="tx1">
              <a:lumMod val="50000"/>
              <a:lumOff val="50000"/>
              <a:alpha val="15000"/>
            </a:schemeClr>
          </a:solidFill>
          <a:ln w="57150" cap="rnd">
            <a:noFill/>
            <a:round/>
          </a:ln>
          <a:effectLst/>
        </p:spPr>
        <p:txBody>
          <a:bodyPr vert="horz" wrap="square" lIns="91440" tIns="45720" rIns="91440" bIns="45720" rtlCol="0" anchor="ctr"/>
          <a:lstStyle/>
          <a:p>
            <a:pPr algn="l"/>
            <a:endParaRPr kumimoji="1" lang="zh-CN" altLang="en-US"/>
          </a:p>
        </p:txBody>
      </p:sp>
      <p:sp>
        <p:nvSpPr>
          <p:cNvPr id="5" name="标题 1"/>
          <p:cNvSpPr txBox="1"/>
          <p:nvPr/>
        </p:nvSpPr>
        <p:spPr>
          <a:xfrm>
            <a:off x="771435" y="3073400"/>
            <a:ext cx="2229389" cy="1221560"/>
          </a:xfrm>
          <a:prstGeom prst="rect">
            <a:avLst/>
          </a:prstGeom>
          <a:noFill/>
          <a:ln>
            <a:noFill/>
          </a:ln>
        </p:spPr>
        <p:txBody>
          <a:bodyPr vert="horz" wrap="square" lIns="0" tIns="0" rIns="0" bIns="0" rtlCol="0" anchor="ctr"/>
          <a:lstStyle/>
          <a:p>
            <a:pPr algn="l"/>
            <a:r>
              <a:rPr kumimoji="1" lang="en-US" altLang="zh-CN" sz="1200">
                <a:ln w="12700">
                  <a:noFill/>
                </a:ln>
                <a:solidFill>
                  <a:srgbClr val="000000">
                    <a:alpha val="100000"/>
                  </a:srgbClr>
                </a:solidFill>
                <a:latin typeface="Poppins"/>
                <a:ea typeface="Poppins"/>
                <a:cs typeface="Poppins"/>
              </a:rPr>
              <a:t>Instalación, configuración y mantenimiento de sistemas operativos (Linux, Windows Server).</a:t>
            </a:r>
            <a:endParaRPr kumimoji="1" lang="zh-CN" altLang="en-US"/>
          </a:p>
        </p:txBody>
      </p:sp>
      <p:sp>
        <p:nvSpPr>
          <p:cNvPr id="6" name="标题 1"/>
          <p:cNvSpPr txBox="1"/>
          <p:nvPr/>
        </p:nvSpPr>
        <p:spPr>
          <a:xfrm>
            <a:off x="852184" y="4741804"/>
            <a:ext cx="631851" cy="631851"/>
          </a:xfrm>
          <a:prstGeom prst="roundRect">
            <a:avLst>
              <a:gd name="adj" fmla="val 50000"/>
            </a:avLst>
          </a:prstGeom>
          <a:solidFill>
            <a:schemeClr val="tx1">
              <a:lumMod val="75000"/>
              <a:lumOff val="25000"/>
            </a:schemeClr>
          </a:solidFill>
          <a:ln w="57150" cap="rnd">
            <a:noFill/>
            <a:round/>
          </a:ln>
          <a:effectLst/>
        </p:spPr>
        <p:txBody>
          <a:bodyPr vert="horz" wrap="square" lIns="91440" tIns="45720" rIns="91440" bIns="45720" rtlCol="0" anchor="ctr"/>
          <a:lstStyle/>
          <a:p>
            <a:pPr algn="l"/>
            <a:endParaRPr kumimoji="1" lang="zh-CN" altLang="en-US"/>
          </a:p>
        </p:txBody>
      </p:sp>
      <p:sp>
        <p:nvSpPr>
          <p:cNvPr id="7" name="标题 1"/>
          <p:cNvSpPr txBox="1"/>
          <p:nvPr/>
        </p:nvSpPr>
        <p:spPr>
          <a:xfrm>
            <a:off x="996354" y="4895845"/>
            <a:ext cx="343511" cy="323767"/>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2"/>
          </a:solidFill>
          <a:ln w="9525" cap="flat">
            <a:noFill/>
            <a:miter/>
          </a:ln>
        </p:spPr>
        <p:txBody>
          <a:bodyPr vert="horz" wrap="square" lIns="91440" tIns="45720" rIns="91440" bIns="45720" rtlCol="0" anchor="ctr"/>
          <a:lstStyle/>
          <a:p>
            <a:pPr algn="l"/>
            <a:endParaRPr kumimoji="1" lang="zh-CN" altLang="en-US"/>
          </a:p>
        </p:txBody>
      </p:sp>
      <p:sp>
        <p:nvSpPr>
          <p:cNvPr id="8" name="标题 1"/>
          <p:cNvSpPr txBox="1"/>
          <p:nvPr/>
        </p:nvSpPr>
        <p:spPr>
          <a:xfrm>
            <a:off x="3495883" y="2966091"/>
            <a:ext cx="2393654" cy="1484479"/>
          </a:xfrm>
          <a:prstGeom prst="wedgeRectCallout">
            <a:avLst>
              <a:gd name="adj1" fmla="val -37775"/>
              <a:gd name="adj2" fmla="val 60195"/>
            </a:avLst>
          </a:prstGeom>
          <a:solidFill>
            <a:schemeClr val="accent1"/>
          </a:solidFill>
          <a:ln w="57150" cap="rnd">
            <a:noFill/>
            <a:round/>
          </a:ln>
          <a:effectLst/>
        </p:spPr>
        <p:txBody>
          <a:bodyPr vert="horz" wrap="square" lIns="91440" tIns="45720" rIns="91440" bIns="45720" rtlCol="0" anchor="ctr"/>
          <a:lstStyle/>
          <a:p>
            <a:pPr algn="l"/>
            <a:endParaRPr kumimoji="1" lang="zh-CN" altLang="en-US"/>
          </a:p>
        </p:txBody>
      </p:sp>
      <p:sp>
        <p:nvSpPr>
          <p:cNvPr id="9" name="标题 1"/>
          <p:cNvSpPr txBox="1"/>
          <p:nvPr/>
        </p:nvSpPr>
        <p:spPr>
          <a:xfrm>
            <a:off x="3578015" y="3073400"/>
            <a:ext cx="2229389" cy="1221560"/>
          </a:xfrm>
          <a:prstGeom prst="rect">
            <a:avLst/>
          </a:prstGeom>
          <a:noFill/>
          <a:ln>
            <a:noFill/>
          </a:ln>
        </p:spPr>
        <p:txBody>
          <a:bodyPr vert="horz" wrap="square" lIns="0" tIns="0" rIns="0" bIns="0" rtlCol="0" anchor="ctr"/>
          <a:lstStyle/>
          <a:p>
            <a:pPr algn="l"/>
            <a:r>
              <a:rPr kumimoji="1" lang="en-US" altLang="zh-CN" sz="1200">
                <a:ln w="12700">
                  <a:noFill/>
                </a:ln>
                <a:solidFill>
                  <a:srgbClr val="FFFFFF">
                    <a:alpha val="100000"/>
                  </a:srgbClr>
                </a:solidFill>
                <a:latin typeface="Poppins"/>
                <a:ea typeface="Poppins"/>
                <a:cs typeface="Poppins"/>
              </a:rPr>
              <a:t>Gestión de la virtualización (VMware, Hyper- V, KVM).</a:t>
            </a:r>
            <a:endParaRPr kumimoji="1" lang="zh-CN" altLang="en-US"/>
          </a:p>
        </p:txBody>
      </p:sp>
      <p:sp>
        <p:nvSpPr>
          <p:cNvPr id="10" name="标题 1"/>
          <p:cNvSpPr txBox="1"/>
          <p:nvPr/>
        </p:nvSpPr>
        <p:spPr>
          <a:xfrm>
            <a:off x="3592345" y="4741804"/>
            <a:ext cx="631851" cy="631851"/>
          </a:xfrm>
          <a:prstGeom prst="roundRect">
            <a:avLst>
              <a:gd name="adj" fmla="val 50000"/>
            </a:avLst>
          </a:prstGeom>
          <a:solidFill>
            <a:schemeClr val="accent1"/>
          </a:solidFill>
          <a:ln w="57150" cap="rnd">
            <a:noFill/>
            <a:round/>
          </a:ln>
          <a:effectLst/>
        </p:spPr>
        <p:txBody>
          <a:bodyPr vert="horz" wrap="square" lIns="91440" tIns="45720" rIns="91440" bIns="45720" rtlCol="0" anchor="ctr"/>
          <a:lstStyle/>
          <a:p>
            <a:pPr algn="l"/>
            <a:endParaRPr kumimoji="1" lang="zh-CN" altLang="en-US"/>
          </a:p>
        </p:txBody>
      </p:sp>
      <p:sp>
        <p:nvSpPr>
          <p:cNvPr id="11" name="标题 1"/>
          <p:cNvSpPr txBox="1"/>
          <p:nvPr/>
        </p:nvSpPr>
        <p:spPr>
          <a:xfrm>
            <a:off x="3719026" y="4882664"/>
            <a:ext cx="378490" cy="350129"/>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rgbClr val="FFFFFF">
              <a:alpha val="100000"/>
            </a:srgbClr>
          </a:solidFill>
          <a:ln w="9525" cap="flat">
            <a:noFill/>
            <a:miter/>
          </a:ln>
        </p:spPr>
        <p:txBody>
          <a:bodyPr vert="horz" wrap="square" lIns="91440" tIns="45720" rIns="91440" bIns="45720" rtlCol="0" anchor="ctr"/>
          <a:lstStyle/>
          <a:p>
            <a:pPr algn="l"/>
            <a:endParaRPr kumimoji="1" lang="zh-CN" altLang="en-US"/>
          </a:p>
        </p:txBody>
      </p:sp>
      <p:sp>
        <p:nvSpPr>
          <p:cNvPr id="12" name="标题 1"/>
          <p:cNvSpPr txBox="1"/>
          <p:nvPr/>
        </p:nvSpPr>
        <p:spPr>
          <a:xfrm>
            <a:off x="6302463" y="2966091"/>
            <a:ext cx="2393654" cy="1484479"/>
          </a:xfrm>
          <a:prstGeom prst="wedgeRectCallout">
            <a:avLst>
              <a:gd name="adj1" fmla="val -37592"/>
              <a:gd name="adj2" fmla="val 59608"/>
            </a:avLst>
          </a:prstGeom>
          <a:solidFill>
            <a:schemeClr val="tx1">
              <a:lumMod val="50000"/>
              <a:lumOff val="50000"/>
              <a:alpha val="15000"/>
            </a:schemeClr>
          </a:solidFill>
          <a:ln w="57150" cap="rnd">
            <a:noFill/>
            <a:round/>
          </a:ln>
          <a:effectLst/>
        </p:spPr>
        <p:txBody>
          <a:bodyPr vert="horz" wrap="square" lIns="91440" tIns="45720" rIns="91440" bIns="45720" rtlCol="0" anchor="ctr"/>
          <a:lstStyle/>
          <a:p>
            <a:pPr algn="l"/>
            <a:endParaRPr kumimoji="1" lang="zh-CN" altLang="en-US"/>
          </a:p>
        </p:txBody>
      </p:sp>
      <p:sp>
        <p:nvSpPr>
          <p:cNvPr id="13" name="标题 1"/>
          <p:cNvSpPr txBox="1"/>
          <p:nvPr/>
        </p:nvSpPr>
        <p:spPr>
          <a:xfrm>
            <a:off x="6384595" y="3073400"/>
            <a:ext cx="2229389" cy="1221560"/>
          </a:xfrm>
          <a:prstGeom prst="rect">
            <a:avLst/>
          </a:prstGeom>
          <a:noFill/>
          <a:ln>
            <a:noFill/>
          </a:ln>
        </p:spPr>
        <p:txBody>
          <a:bodyPr vert="horz" wrap="square" lIns="0" tIns="0" rIns="0" bIns="0" rtlCol="0" anchor="ctr"/>
          <a:lstStyle/>
          <a:p>
            <a:pPr algn="l"/>
            <a:r>
              <a:rPr kumimoji="1" lang="en-US" altLang="zh-CN" sz="1200">
                <a:ln w="12700">
                  <a:noFill/>
                </a:ln>
                <a:solidFill>
                  <a:srgbClr val="000000">
                    <a:alpha val="100000"/>
                  </a:srgbClr>
                </a:solidFill>
                <a:latin typeface="Poppins"/>
                <a:ea typeface="Poppins"/>
                <a:cs typeface="Poppins"/>
              </a:rPr>
              <a:t>Administración de almacenamiento (SAN/NAS).</a:t>
            </a:r>
            <a:endParaRPr kumimoji="1" lang="zh-CN" altLang="en-US"/>
          </a:p>
        </p:txBody>
      </p:sp>
      <p:sp>
        <p:nvSpPr>
          <p:cNvPr id="14" name="标题 1"/>
          <p:cNvSpPr txBox="1"/>
          <p:nvPr/>
        </p:nvSpPr>
        <p:spPr>
          <a:xfrm>
            <a:off x="6465344" y="4741804"/>
            <a:ext cx="631851" cy="631851"/>
          </a:xfrm>
          <a:prstGeom prst="roundRect">
            <a:avLst>
              <a:gd name="adj" fmla="val 50000"/>
            </a:avLst>
          </a:prstGeom>
          <a:solidFill>
            <a:schemeClr val="tx1">
              <a:lumMod val="75000"/>
              <a:lumOff val="25000"/>
            </a:schemeClr>
          </a:solidFill>
          <a:ln w="57150" cap="rnd">
            <a:noFill/>
            <a:round/>
          </a:ln>
          <a:effectLst/>
        </p:spPr>
        <p:txBody>
          <a:bodyPr vert="horz" wrap="square" lIns="91440" tIns="45720" rIns="91440" bIns="45720" rtlCol="0" anchor="ctr"/>
          <a:lstStyle/>
          <a:p>
            <a:pPr algn="l"/>
            <a:endParaRPr kumimoji="1" lang="zh-CN" altLang="en-US"/>
          </a:p>
        </p:txBody>
      </p:sp>
      <p:sp>
        <p:nvSpPr>
          <p:cNvPr id="15" name="标题 1"/>
          <p:cNvSpPr txBox="1"/>
          <p:nvPr/>
        </p:nvSpPr>
        <p:spPr>
          <a:xfrm>
            <a:off x="9109043" y="2966091"/>
            <a:ext cx="2393654" cy="1484479"/>
          </a:xfrm>
          <a:prstGeom prst="wedgeRectCallout">
            <a:avLst>
              <a:gd name="adj1" fmla="val -37775"/>
              <a:gd name="adj2" fmla="val 60195"/>
            </a:avLst>
          </a:prstGeom>
          <a:solidFill>
            <a:schemeClr val="accent1"/>
          </a:solidFill>
          <a:ln w="57150" cap="rnd">
            <a:noFill/>
            <a:round/>
          </a:ln>
          <a:effectLst/>
        </p:spPr>
        <p:txBody>
          <a:bodyPr vert="horz" wrap="square" lIns="91440" tIns="45720" rIns="91440" bIns="45720" rtlCol="0" anchor="ctr"/>
          <a:lstStyle/>
          <a:p>
            <a:pPr algn="l"/>
            <a:endParaRPr kumimoji="1" lang="zh-CN" altLang="en-US"/>
          </a:p>
        </p:txBody>
      </p:sp>
      <p:sp>
        <p:nvSpPr>
          <p:cNvPr id="16" name="标题 1"/>
          <p:cNvSpPr txBox="1"/>
          <p:nvPr/>
        </p:nvSpPr>
        <p:spPr>
          <a:xfrm>
            <a:off x="9191175" y="3073400"/>
            <a:ext cx="2229389" cy="1221560"/>
          </a:xfrm>
          <a:prstGeom prst="rect">
            <a:avLst/>
          </a:prstGeom>
          <a:noFill/>
          <a:ln>
            <a:noFill/>
          </a:ln>
        </p:spPr>
        <p:txBody>
          <a:bodyPr vert="horz" wrap="square" lIns="0" tIns="0" rIns="0" bIns="0" rtlCol="0" anchor="ctr"/>
          <a:lstStyle/>
          <a:p>
            <a:pPr algn="l"/>
            <a:r>
              <a:rPr kumimoji="1" lang="en-US" altLang="zh-CN" sz="1200">
                <a:ln w="12700">
                  <a:noFill/>
                </a:ln>
                <a:solidFill>
                  <a:srgbClr val="FFFFFF">
                    <a:alpha val="100000"/>
                  </a:srgbClr>
                </a:solidFill>
                <a:latin typeface="Poppins"/>
                <a:ea typeface="Poppins"/>
                <a:cs typeface="Poppins"/>
              </a:rPr>
              <a:t>Ejecución de copias de seguridad (backups) y planes de recuperación (DRP).</a:t>
            </a:r>
            <a:endParaRPr kumimoji="1" lang="zh-CN" altLang="en-US"/>
          </a:p>
        </p:txBody>
      </p:sp>
      <p:sp>
        <p:nvSpPr>
          <p:cNvPr id="17" name="标题 1"/>
          <p:cNvSpPr txBox="1"/>
          <p:nvPr/>
        </p:nvSpPr>
        <p:spPr>
          <a:xfrm>
            <a:off x="9205505" y="4741804"/>
            <a:ext cx="631851" cy="631851"/>
          </a:xfrm>
          <a:prstGeom prst="roundRect">
            <a:avLst>
              <a:gd name="adj" fmla="val 50000"/>
            </a:avLst>
          </a:prstGeom>
          <a:solidFill>
            <a:schemeClr val="accent1"/>
          </a:solidFill>
          <a:ln w="57150" cap="rnd">
            <a:noFill/>
            <a:round/>
          </a:ln>
          <a:effectLst/>
        </p:spPr>
        <p:txBody>
          <a:bodyPr vert="horz" wrap="square" lIns="91440" tIns="45720" rIns="91440" bIns="45720" rtlCol="0" anchor="ctr"/>
          <a:lstStyle/>
          <a:p>
            <a:pPr algn="l"/>
            <a:endParaRPr kumimoji="1" lang="zh-CN" altLang="en-US"/>
          </a:p>
        </p:txBody>
      </p:sp>
      <p:sp>
        <p:nvSpPr>
          <p:cNvPr id="18" name="标题 1"/>
          <p:cNvSpPr txBox="1"/>
          <p:nvPr/>
        </p:nvSpPr>
        <p:spPr>
          <a:xfrm>
            <a:off x="6637269" y="4893275"/>
            <a:ext cx="288000" cy="328908"/>
          </a:xfrm>
          <a:custGeom>
            <a:avLst/>
            <a:gdLst>
              <a:gd name="connsiteX0" fmla="*/ 361901 w 630455"/>
              <a:gd name="connsiteY0" fmla="*/ 82589 h 720001"/>
              <a:gd name="connsiteX1" fmla="*/ 361901 w 630455"/>
              <a:gd name="connsiteY1" fmla="*/ 203034 h 720001"/>
              <a:gd name="connsiteX2" fmla="*/ 427179 w 630455"/>
              <a:gd name="connsiteY2" fmla="*/ 268312 h 720001"/>
              <a:gd name="connsiteX3" fmla="*/ 547624 w 630455"/>
              <a:gd name="connsiteY3" fmla="*/ 268312 h 720001"/>
              <a:gd name="connsiteX4" fmla="*/ 113812 w 630455"/>
              <a:gd name="connsiteY4" fmla="*/ 0 h 720001"/>
              <a:gd name="connsiteX5" fmla="*/ 338847 w 630455"/>
              <a:gd name="connsiteY5" fmla="*/ 0 h 720001"/>
              <a:gd name="connsiteX6" fmla="*/ 340465 w 630455"/>
              <a:gd name="connsiteY6" fmla="*/ 162 h 720001"/>
              <a:gd name="connsiteX7" fmla="*/ 340789 w 630455"/>
              <a:gd name="connsiteY7" fmla="*/ 162 h 720001"/>
              <a:gd name="connsiteX8" fmla="*/ 344106 w 630455"/>
              <a:gd name="connsiteY8" fmla="*/ 809 h 720001"/>
              <a:gd name="connsiteX9" fmla="*/ 344186 w 630455"/>
              <a:gd name="connsiteY9" fmla="*/ 809 h 720001"/>
              <a:gd name="connsiteX10" fmla="*/ 347422 w 630455"/>
              <a:gd name="connsiteY10" fmla="*/ 1942 h 720001"/>
              <a:gd name="connsiteX11" fmla="*/ 347503 w 630455"/>
              <a:gd name="connsiteY11" fmla="*/ 1942 h 720001"/>
              <a:gd name="connsiteX12" fmla="*/ 349040 w 630455"/>
              <a:gd name="connsiteY12" fmla="*/ 2670 h 720001"/>
              <a:gd name="connsiteX13" fmla="*/ 349121 w 630455"/>
              <a:gd name="connsiteY13" fmla="*/ 2670 h 720001"/>
              <a:gd name="connsiteX14" fmla="*/ 350576 w 630455"/>
              <a:gd name="connsiteY14" fmla="*/ 3479 h 720001"/>
              <a:gd name="connsiteX15" fmla="*/ 350819 w 630455"/>
              <a:gd name="connsiteY15" fmla="*/ 3640 h 720001"/>
              <a:gd name="connsiteX16" fmla="*/ 352033 w 630455"/>
              <a:gd name="connsiteY16" fmla="*/ 4449 h 720001"/>
              <a:gd name="connsiteX17" fmla="*/ 352194 w 630455"/>
              <a:gd name="connsiteY17" fmla="*/ 4530 h 720001"/>
              <a:gd name="connsiteX18" fmla="*/ 353408 w 630455"/>
              <a:gd name="connsiteY18" fmla="*/ 5501 h 720001"/>
              <a:gd name="connsiteX19" fmla="*/ 353651 w 630455"/>
              <a:gd name="connsiteY19" fmla="*/ 5743 h 720001"/>
              <a:gd name="connsiteX20" fmla="*/ 354864 w 630455"/>
              <a:gd name="connsiteY20" fmla="*/ 6876 h 720001"/>
              <a:gd name="connsiteX21" fmla="*/ 623418 w 630455"/>
              <a:gd name="connsiteY21" fmla="*/ 275430 h 720001"/>
              <a:gd name="connsiteX22" fmla="*/ 624551 w 630455"/>
              <a:gd name="connsiteY22" fmla="*/ 276643 h 720001"/>
              <a:gd name="connsiteX23" fmla="*/ 624793 w 630455"/>
              <a:gd name="connsiteY23" fmla="*/ 276886 h 720001"/>
              <a:gd name="connsiteX24" fmla="*/ 625764 w 630455"/>
              <a:gd name="connsiteY24" fmla="*/ 278180 h 720001"/>
              <a:gd name="connsiteX25" fmla="*/ 625845 w 630455"/>
              <a:gd name="connsiteY25" fmla="*/ 278342 h 720001"/>
              <a:gd name="connsiteX26" fmla="*/ 626734 w 630455"/>
              <a:gd name="connsiteY26" fmla="*/ 279637 h 720001"/>
              <a:gd name="connsiteX27" fmla="*/ 626896 w 630455"/>
              <a:gd name="connsiteY27" fmla="*/ 279798 h 720001"/>
              <a:gd name="connsiteX28" fmla="*/ 627705 w 630455"/>
              <a:gd name="connsiteY28" fmla="*/ 281254 h 720001"/>
              <a:gd name="connsiteX29" fmla="*/ 628433 w 630455"/>
              <a:gd name="connsiteY29" fmla="*/ 282791 h 720001"/>
              <a:gd name="connsiteX30" fmla="*/ 629646 w 630455"/>
              <a:gd name="connsiteY30" fmla="*/ 286107 h 720001"/>
              <a:gd name="connsiteX31" fmla="*/ 630293 w 630455"/>
              <a:gd name="connsiteY31" fmla="*/ 289424 h 720001"/>
              <a:gd name="connsiteX32" fmla="*/ 630293 w 630455"/>
              <a:gd name="connsiteY32" fmla="*/ 289667 h 720001"/>
              <a:gd name="connsiteX33" fmla="*/ 630455 w 630455"/>
              <a:gd name="connsiteY33" fmla="*/ 291285 h 720001"/>
              <a:gd name="connsiteX34" fmla="*/ 630455 w 630455"/>
              <a:gd name="connsiteY34" fmla="*/ 292579 h 720001"/>
              <a:gd name="connsiteX35" fmla="*/ 630455 w 630455"/>
              <a:gd name="connsiteY35" fmla="*/ 606189 h 720001"/>
              <a:gd name="connsiteX36" fmla="*/ 516644 w 630455"/>
              <a:gd name="connsiteY36" fmla="*/ 720001 h 720001"/>
              <a:gd name="connsiteX37" fmla="*/ 113812 w 630455"/>
              <a:gd name="connsiteY37" fmla="*/ 720001 h 720001"/>
              <a:gd name="connsiteX38" fmla="*/ 0 w 630455"/>
              <a:gd name="connsiteY38" fmla="*/ 606189 h 720001"/>
              <a:gd name="connsiteX39" fmla="*/ 0 w 630455"/>
              <a:gd name="connsiteY39" fmla="*/ 113812 h 720001"/>
              <a:gd name="connsiteX40" fmla="*/ 113812 w 630455"/>
              <a:gd name="connsiteY40" fmla="*/ 0 h 720001"/>
            </a:gdLst>
            <a:ahLst/>
            <a:cxnLst/>
            <a:rect l="l" t="t" r="r" b="b"/>
            <a:pathLst>
              <a:path w="630455" h="720001">
                <a:moveTo>
                  <a:pt x="361901" y="82589"/>
                </a:moveTo>
                <a:lnTo>
                  <a:pt x="361901" y="203034"/>
                </a:lnTo>
                <a:cubicBezTo>
                  <a:pt x="361901" y="239030"/>
                  <a:pt x="391183" y="268312"/>
                  <a:pt x="427179" y="268312"/>
                </a:cubicBezTo>
                <a:lnTo>
                  <a:pt x="547624" y="268312"/>
                </a:lnTo>
                <a:close/>
                <a:moveTo>
                  <a:pt x="113812" y="0"/>
                </a:moveTo>
                <a:lnTo>
                  <a:pt x="338847" y="0"/>
                </a:lnTo>
                <a:cubicBezTo>
                  <a:pt x="339414" y="81"/>
                  <a:pt x="339899" y="81"/>
                  <a:pt x="340465" y="162"/>
                </a:cubicBezTo>
                <a:lnTo>
                  <a:pt x="340789" y="162"/>
                </a:lnTo>
                <a:cubicBezTo>
                  <a:pt x="341922" y="324"/>
                  <a:pt x="343054" y="485"/>
                  <a:pt x="344106" y="809"/>
                </a:cubicBezTo>
                <a:lnTo>
                  <a:pt x="344186" y="809"/>
                </a:lnTo>
                <a:cubicBezTo>
                  <a:pt x="345238" y="1052"/>
                  <a:pt x="346371" y="1456"/>
                  <a:pt x="347422" y="1942"/>
                </a:cubicBezTo>
                <a:lnTo>
                  <a:pt x="347503" y="1942"/>
                </a:lnTo>
                <a:cubicBezTo>
                  <a:pt x="348069" y="2184"/>
                  <a:pt x="348555" y="2427"/>
                  <a:pt x="349040" y="2670"/>
                </a:cubicBezTo>
                <a:lnTo>
                  <a:pt x="349121" y="2670"/>
                </a:lnTo>
                <a:cubicBezTo>
                  <a:pt x="349606" y="2912"/>
                  <a:pt x="350091" y="3155"/>
                  <a:pt x="350576" y="3479"/>
                </a:cubicBezTo>
                <a:cubicBezTo>
                  <a:pt x="350657" y="3560"/>
                  <a:pt x="350739" y="3560"/>
                  <a:pt x="350819" y="3640"/>
                </a:cubicBezTo>
                <a:cubicBezTo>
                  <a:pt x="351224" y="3883"/>
                  <a:pt x="351628" y="4126"/>
                  <a:pt x="352033" y="4449"/>
                </a:cubicBezTo>
                <a:cubicBezTo>
                  <a:pt x="352113" y="4449"/>
                  <a:pt x="352113" y="4530"/>
                  <a:pt x="352194" y="4530"/>
                </a:cubicBezTo>
                <a:lnTo>
                  <a:pt x="353408" y="5501"/>
                </a:lnTo>
                <a:lnTo>
                  <a:pt x="353651" y="5743"/>
                </a:lnTo>
                <a:cubicBezTo>
                  <a:pt x="354055" y="6148"/>
                  <a:pt x="354459" y="6472"/>
                  <a:pt x="354864" y="6876"/>
                </a:cubicBezTo>
                <a:lnTo>
                  <a:pt x="623418" y="275430"/>
                </a:lnTo>
                <a:cubicBezTo>
                  <a:pt x="623822" y="275835"/>
                  <a:pt x="624227" y="276239"/>
                  <a:pt x="624551" y="276643"/>
                </a:cubicBezTo>
                <a:lnTo>
                  <a:pt x="624793" y="276886"/>
                </a:lnTo>
                <a:cubicBezTo>
                  <a:pt x="625117" y="277291"/>
                  <a:pt x="625440" y="277776"/>
                  <a:pt x="625764" y="278180"/>
                </a:cubicBezTo>
                <a:cubicBezTo>
                  <a:pt x="625764" y="278261"/>
                  <a:pt x="625845" y="278342"/>
                  <a:pt x="625845" y="278342"/>
                </a:cubicBezTo>
                <a:cubicBezTo>
                  <a:pt x="626168" y="278747"/>
                  <a:pt x="626491" y="279232"/>
                  <a:pt x="626734" y="279637"/>
                </a:cubicBezTo>
                <a:cubicBezTo>
                  <a:pt x="626815" y="279637"/>
                  <a:pt x="626815" y="279717"/>
                  <a:pt x="626896" y="279798"/>
                </a:cubicBezTo>
                <a:cubicBezTo>
                  <a:pt x="627139" y="280284"/>
                  <a:pt x="627462" y="280769"/>
                  <a:pt x="627705" y="281254"/>
                </a:cubicBezTo>
                <a:cubicBezTo>
                  <a:pt x="627948" y="281739"/>
                  <a:pt x="628190" y="282225"/>
                  <a:pt x="628433" y="282791"/>
                </a:cubicBezTo>
                <a:cubicBezTo>
                  <a:pt x="628918" y="283843"/>
                  <a:pt x="629323" y="284975"/>
                  <a:pt x="629646" y="286107"/>
                </a:cubicBezTo>
                <a:cubicBezTo>
                  <a:pt x="629889" y="287159"/>
                  <a:pt x="630132" y="288291"/>
                  <a:pt x="630293" y="289424"/>
                </a:cubicBezTo>
                <a:lnTo>
                  <a:pt x="630293" y="289667"/>
                </a:lnTo>
                <a:cubicBezTo>
                  <a:pt x="630374" y="290152"/>
                  <a:pt x="630455" y="290718"/>
                  <a:pt x="630455" y="291285"/>
                </a:cubicBezTo>
                <a:lnTo>
                  <a:pt x="630455" y="292579"/>
                </a:lnTo>
                <a:lnTo>
                  <a:pt x="630455" y="606189"/>
                </a:lnTo>
                <a:cubicBezTo>
                  <a:pt x="630455" y="668959"/>
                  <a:pt x="579414" y="720001"/>
                  <a:pt x="516644" y="720001"/>
                </a:cubicBezTo>
                <a:lnTo>
                  <a:pt x="113812" y="720001"/>
                </a:lnTo>
                <a:cubicBezTo>
                  <a:pt x="51042" y="720001"/>
                  <a:pt x="0" y="668959"/>
                  <a:pt x="0" y="606189"/>
                </a:cubicBezTo>
                <a:lnTo>
                  <a:pt x="0" y="113812"/>
                </a:lnTo>
                <a:cubicBezTo>
                  <a:pt x="0" y="51042"/>
                  <a:pt x="51042" y="0"/>
                  <a:pt x="113812" y="0"/>
                </a:cubicBezTo>
                <a:close/>
              </a:path>
            </a:pathLst>
          </a:custGeom>
          <a:solidFill>
            <a:schemeClr val="bg2"/>
          </a:solidFill>
          <a:ln w="1860" cap="flat">
            <a:noFill/>
            <a:miter/>
          </a:ln>
        </p:spPr>
        <p:txBody>
          <a:bodyPr vert="horz" wrap="square" lIns="91440" tIns="45720" rIns="91440" bIns="45720" rtlCol="0" anchor="ctr"/>
          <a:lstStyle/>
          <a:p>
            <a:pPr algn="l"/>
            <a:endParaRPr kumimoji="1" lang="zh-CN" altLang="en-US"/>
          </a:p>
        </p:txBody>
      </p:sp>
      <p:sp>
        <p:nvSpPr>
          <p:cNvPr id="19" name="标题 1"/>
          <p:cNvSpPr txBox="1"/>
          <p:nvPr/>
        </p:nvSpPr>
        <p:spPr>
          <a:xfrm flipH="1" flipV="1">
            <a:off x="9359430" y="4900956"/>
            <a:ext cx="324000" cy="313547"/>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a:off x="452878" y="334470"/>
            <a:ext cx="8171180" cy="655320"/>
          </a:xfrm>
          <a:prstGeom prst="roundRect">
            <a:avLst>
              <a:gd name="adj" fmla="val 50000"/>
            </a:avLst>
          </a:prstGeom>
          <a:gradFill>
            <a:gsLst>
              <a:gs pos="0">
                <a:schemeClr val="accent1">
                  <a:lumMod val="20000"/>
                  <a:lumOff val="80000"/>
                </a:schemeClr>
              </a:gs>
              <a:gs pos="80000">
                <a:schemeClr val="accent1">
                  <a:lumMod val="20000"/>
                  <a:lumOff val="80000"/>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1" name="标题 1"/>
          <p:cNvSpPr txBox="1"/>
          <p:nvPr/>
        </p:nvSpPr>
        <p:spPr>
          <a:xfrm>
            <a:off x="783617"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Administradores de Sistemas (SysAdmins)</a:t>
            </a:r>
            <a:endParaRPr kumimoji="1" lang="zh-CN" altLang="en-US"/>
          </a:p>
        </p:txBody>
      </p:sp>
      <p:pic>
        <p:nvPicPr>
          <p:cNvPr id="22" name="Imagen 21">
            <a:extLst>
              <a:ext uri="{FF2B5EF4-FFF2-40B4-BE49-F238E27FC236}">
                <a16:creationId xmlns:a16="http://schemas.microsoft.com/office/drawing/2014/main" id="{60EC83BE-024D-C84E-B328-CD718E15C8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006203" y="859890"/>
            <a:ext cx="9846853" cy="864000"/>
          </a:xfrm>
          <a:prstGeom prst="rect">
            <a:avLst/>
          </a:prstGeom>
          <a:noFill/>
          <a:ln>
            <a:noFill/>
          </a:ln>
        </p:spPr>
        <p:txBody>
          <a:bodyPr vert="horz" wrap="square" lIns="0" tIns="0" rIns="0" bIns="0" rtlCol="0" anchor="b"/>
          <a:lstStyle/>
          <a:p>
            <a:pPr algn="ctr"/>
            <a:r>
              <a:rPr kumimoji="1" lang="en-US" altLang="zh-CN" sz="1600" dirty="0" err="1">
                <a:ln w="12700">
                  <a:noFill/>
                </a:ln>
                <a:solidFill>
                  <a:srgbClr val="262626">
                    <a:alpha val="100000"/>
                  </a:srgbClr>
                </a:solidFill>
                <a:latin typeface="poppins-bold"/>
                <a:ea typeface="poppins-bold"/>
                <a:cs typeface="poppins-bold"/>
              </a:rPr>
              <a:t>Función</a:t>
            </a:r>
            <a:r>
              <a:rPr kumimoji="1" lang="en-US" altLang="zh-CN" sz="1600" dirty="0">
                <a:ln w="12700">
                  <a:noFill/>
                </a:ln>
                <a:solidFill>
                  <a:srgbClr val="262626">
                    <a:alpha val="100000"/>
                  </a:srgbClr>
                </a:solidFill>
                <a:latin typeface="poppins-bold"/>
                <a:ea typeface="poppins-bold"/>
                <a:cs typeface="poppins-bold"/>
              </a:rPr>
              <a:t> y </a:t>
            </a:r>
            <a:r>
              <a:rPr kumimoji="1" lang="en-US" altLang="zh-CN" sz="1600" dirty="0" err="1">
                <a:ln w="12700">
                  <a:noFill/>
                </a:ln>
                <a:solidFill>
                  <a:srgbClr val="262626">
                    <a:alpha val="100000"/>
                  </a:srgbClr>
                </a:solidFill>
                <a:latin typeface="poppins-bold"/>
                <a:ea typeface="poppins-bold"/>
                <a:cs typeface="poppins-bold"/>
              </a:rPr>
              <a:t>Responsabilidades</a:t>
            </a:r>
            <a:r>
              <a:rPr kumimoji="1" lang="en-US" altLang="zh-CN" sz="1600" dirty="0">
                <a:ln w="12700">
                  <a:noFill/>
                </a:ln>
                <a:solidFill>
                  <a:srgbClr val="262626">
                    <a:alpha val="100000"/>
                  </a:srgbClr>
                </a:solidFill>
                <a:latin typeface="poppins-bold"/>
                <a:ea typeface="poppins-bold"/>
                <a:cs typeface="poppins-bold"/>
              </a:rPr>
              <a:t>: </a:t>
            </a:r>
            <a:r>
              <a:rPr lang="es-EC" dirty="0"/>
              <a:t>Asegurar la conectividad y el flujo de datos.</a:t>
            </a:r>
            <a:endParaRPr kumimoji="1" lang="zh-CN" altLang="en-US" dirty="0"/>
          </a:p>
        </p:txBody>
      </p:sp>
      <p:sp>
        <p:nvSpPr>
          <p:cNvPr id="5" name="标题 1"/>
          <p:cNvSpPr txBox="1"/>
          <p:nvPr/>
        </p:nvSpPr>
        <p:spPr>
          <a:xfrm>
            <a:off x="600664" y="2012859"/>
            <a:ext cx="2467035" cy="2111375"/>
          </a:xfrm>
          <a:custGeom>
            <a:avLst/>
            <a:gdLst>
              <a:gd name="T0" fmla="*/ 7349 w 9135"/>
              <a:gd name="T1" fmla="*/ 4439 h 4440"/>
              <a:gd name="T2" fmla="*/ 0 w 9135"/>
              <a:gd name="T3" fmla="*/ 4439 h 4440"/>
              <a:gd name="T4" fmla="*/ 1786 w 9135"/>
              <a:gd name="T5" fmla="*/ 2219 h 4440"/>
              <a:gd name="T6" fmla="*/ 0 w 9135"/>
              <a:gd name="T7" fmla="*/ 0 h 4440"/>
              <a:gd name="T8" fmla="*/ 7349 w 9135"/>
              <a:gd name="T9" fmla="*/ 0 h 4440"/>
              <a:gd name="T10" fmla="*/ 9134 w 9135"/>
              <a:gd name="T11" fmla="*/ 2219 h 4440"/>
              <a:gd name="T12" fmla="*/ 7349 w 9135"/>
              <a:gd name="T13" fmla="*/ 4439 h 4440"/>
            </a:gdLst>
            <a:ahLst/>
            <a:cxnLst/>
            <a:rect l="0" t="0" r="r" b="b"/>
            <a:pathLst>
              <a:path w="9135" h="4440">
                <a:moveTo>
                  <a:pt x="7349" y="4439"/>
                </a:moveTo>
                <a:lnTo>
                  <a:pt x="0" y="4439"/>
                </a:lnTo>
                <a:lnTo>
                  <a:pt x="1786" y="2219"/>
                </a:lnTo>
                <a:lnTo>
                  <a:pt x="0" y="0"/>
                </a:lnTo>
                <a:lnTo>
                  <a:pt x="7349" y="0"/>
                </a:lnTo>
                <a:lnTo>
                  <a:pt x="9134" y="2219"/>
                </a:lnTo>
                <a:lnTo>
                  <a:pt x="7349" y="4439"/>
                </a:lnTo>
              </a:path>
            </a:pathLst>
          </a:custGeom>
          <a:solidFill>
            <a:schemeClr val="accent1"/>
          </a:solidFill>
          <a:ln cap="sq">
            <a:noFill/>
          </a:ln>
          <a:effectLst/>
        </p:spPr>
        <p:txBody>
          <a:bodyPr vert="horz" wrap="none" lIns="91440" tIns="45720" rIns="91440" bIns="45720" rtlCol="0" anchor="ctr"/>
          <a:lstStyle/>
          <a:p>
            <a:pPr algn="ctr"/>
            <a:endParaRPr kumimoji="1" lang="zh-CN" altLang="en-US"/>
          </a:p>
        </p:txBody>
      </p:sp>
      <p:sp>
        <p:nvSpPr>
          <p:cNvPr id="6" name="标题 1"/>
          <p:cNvSpPr txBox="1"/>
          <p:nvPr/>
        </p:nvSpPr>
        <p:spPr>
          <a:xfrm>
            <a:off x="1151959" y="2590800"/>
            <a:ext cx="1593204" cy="1295400"/>
          </a:xfrm>
          <a:prstGeom prst="rect">
            <a:avLst/>
          </a:prstGeom>
          <a:noFill/>
          <a:ln>
            <a:noFill/>
          </a:ln>
        </p:spPr>
        <p:txBody>
          <a:bodyPr vert="horz" wrap="square" lIns="0" tIns="0" rIns="0" bIns="0" rtlCol="0" anchor="t"/>
          <a:lstStyle/>
          <a:p>
            <a:pPr algn="l"/>
            <a:r>
              <a:rPr kumimoji="1" lang="en-US" altLang="zh-CN" sz="1400">
                <a:ln w="12700">
                  <a:noFill/>
                </a:ln>
                <a:solidFill>
                  <a:srgbClr val="FFFFFF">
                    <a:alpha val="100000"/>
                  </a:srgbClr>
                </a:solidFill>
                <a:latin typeface="Poppins"/>
                <a:ea typeface="Poppins"/>
                <a:cs typeface="Poppins"/>
              </a:rPr>
              <a:t>Gestión de switches, routers, firewalls y balanceadores de carga.</a:t>
            </a:r>
            <a:endParaRPr kumimoji="1" lang="zh-CN" altLang="en-US"/>
          </a:p>
        </p:txBody>
      </p:sp>
      <p:sp>
        <p:nvSpPr>
          <p:cNvPr id="7" name="标题 1"/>
          <p:cNvSpPr txBox="1"/>
          <p:nvPr/>
        </p:nvSpPr>
        <p:spPr>
          <a:xfrm>
            <a:off x="4881320" y="2012860"/>
            <a:ext cx="2465845" cy="2111375"/>
          </a:xfrm>
          <a:custGeom>
            <a:avLst/>
            <a:gdLst>
              <a:gd name="T0" fmla="*/ 7347 w 9133"/>
              <a:gd name="T1" fmla="*/ 4439 h 4440"/>
              <a:gd name="T2" fmla="*/ 0 w 9133"/>
              <a:gd name="T3" fmla="*/ 4439 h 4440"/>
              <a:gd name="T4" fmla="*/ 1784 w 9133"/>
              <a:gd name="T5" fmla="*/ 2219 h 4440"/>
              <a:gd name="T6" fmla="*/ 0 w 9133"/>
              <a:gd name="T7" fmla="*/ 0 h 4440"/>
              <a:gd name="T8" fmla="*/ 7347 w 9133"/>
              <a:gd name="T9" fmla="*/ 0 h 4440"/>
              <a:gd name="T10" fmla="*/ 9132 w 9133"/>
              <a:gd name="T11" fmla="*/ 2219 h 4440"/>
              <a:gd name="T12" fmla="*/ 7347 w 9133"/>
              <a:gd name="T13" fmla="*/ 4439 h 4440"/>
            </a:gdLst>
            <a:ahLst/>
            <a:cxnLst/>
            <a:rect l="0" t="0" r="r" b="b"/>
            <a:pathLst>
              <a:path w="9133" h="4440">
                <a:moveTo>
                  <a:pt x="7347" y="4439"/>
                </a:moveTo>
                <a:lnTo>
                  <a:pt x="0" y="4439"/>
                </a:lnTo>
                <a:lnTo>
                  <a:pt x="1784" y="2219"/>
                </a:lnTo>
                <a:lnTo>
                  <a:pt x="0" y="0"/>
                </a:lnTo>
                <a:lnTo>
                  <a:pt x="7347" y="0"/>
                </a:lnTo>
                <a:lnTo>
                  <a:pt x="9132" y="2219"/>
                </a:lnTo>
                <a:lnTo>
                  <a:pt x="7347" y="4439"/>
                </a:lnTo>
              </a:path>
            </a:pathLst>
          </a:custGeom>
          <a:solidFill>
            <a:schemeClr val="accent1"/>
          </a:solidFill>
          <a:ln cap="sq">
            <a:noFill/>
          </a:ln>
          <a:effectLst/>
        </p:spPr>
        <p:txBody>
          <a:bodyPr vert="horz" wrap="none" lIns="91440" tIns="45720" rIns="91440" bIns="45720" rtlCol="0" anchor="ctr"/>
          <a:lstStyle/>
          <a:p>
            <a:pPr algn="ctr"/>
            <a:endParaRPr kumimoji="1" lang="zh-CN" altLang="en-US"/>
          </a:p>
        </p:txBody>
      </p:sp>
      <p:sp>
        <p:nvSpPr>
          <p:cNvPr id="8" name="标题 1"/>
          <p:cNvSpPr txBox="1"/>
          <p:nvPr/>
        </p:nvSpPr>
        <p:spPr>
          <a:xfrm>
            <a:off x="5467955" y="2571750"/>
            <a:ext cx="1560762" cy="1295400"/>
          </a:xfrm>
          <a:prstGeom prst="rect">
            <a:avLst/>
          </a:prstGeom>
          <a:noFill/>
          <a:ln>
            <a:noFill/>
          </a:ln>
        </p:spPr>
        <p:txBody>
          <a:bodyPr vert="horz" wrap="square" lIns="0" tIns="0" rIns="0" bIns="0" rtlCol="0" anchor="t"/>
          <a:lstStyle/>
          <a:p>
            <a:pPr algn="l"/>
            <a:r>
              <a:rPr kumimoji="1" lang="en-US" altLang="zh-CN" sz="1400">
                <a:ln w="12700">
                  <a:noFill/>
                </a:ln>
                <a:solidFill>
                  <a:srgbClr val="FFFFFF">
                    <a:alpha val="100000"/>
                  </a:srgbClr>
                </a:solidFill>
                <a:latin typeface="Poppins"/>
                <a:ea typeface="Poppins"/>
                <a:cs typeface="Poppins"/>
              </a:rPr>
              <a:t>Monitoreo del ancho de banda.</a:t>
            </a:r>
            <a:endParaRPr kumimoji="1" lang="zh-CN" altLang="en-US"/>
          </a:p>
        </p:txBody>
      </p:sp>
      <p:sp>
        <p:nvSpPr>
          <p:cNvPr id="9" name="标题 1"/>
          <p:cNvSpPr txBox="1"/>
          <p:nvPr/>
        </p:nvSpPr>
        <p:spPr>
          <a:xfrm>
            <a:off x="2724751" y="2012860"/>
            <a:ext cx="2465846" cy="2111375"/>
          </a:xfrm>
          <a:custGeom>
            <a:avLst/>
            <a:gdLst>
              <a:gd name="T0" fmla="*/ 7348 w 9133"/>
              <a:gd name="T1" fmla="*/ 4439 h 4440"/>
              <a:gd name="T2" fmla="*/ 0 w 9133"/>
              <a:gd name="T3" fmla="*/ 4439 h 4440"/>
              <a:gd name="T4" fmla="*/ 1785 w 9133"/>
              <a:gd name="T5" fmla="*/ 2219 h 4440"/>
              <a:gd name="T6" fmla="*/ 0 w 9133"/>
              <a:gd name="T7" fmla="*/ 0 h 4440"/>
              <a:gd name="T8" fmla="*/ 7348 w 9133"/>
              <a:gd name="T9" fmla="*/ 0 h 4440"/>
              <a:gd name="T10" fmla="*/ 9132 w 9133"/>
              <a:gd name="T11" fmla="*/ 2219 h 4440"/>
              <a:gd name="T12" fmla="*/ 7348 w 9133"/>
              <a:gd name="T13" fmla="*/ 4439 h 4440"/>
            </a:gdLst>
            <a:ahLst/>
            <a:cxnLst/>
            <a:rect l="0" t="0" r="r" b="b"/>
            <a:pathLst>
              <a:path w="9133" h="4440">
                <a:moveTo>
                  <a:pt x="7348" y="4439"/>
                </a:moveTo>
                <a:lnTo>
                  <a:pt x="0" y="4439"/>
                </a:lnTo>
                <a:lnTo>
                  <a:pt x="1785" y="2219"/>
                </a:lnTo>
                <a:lnTo>
                  <a:pt x="0" y="0"/>
                </a:lnTo>
                <a:lnTo>
                  <a:pt x="7348" y="0"/>
                </a:lnTo>
                <a:lnTo>
                  <a:pt x="9132" y="2219"/>
                </a:lnTo>
                <a:lnTo>
                  <a:pt x="7348" y="4439"/>
                </a:lnTo>
              </a:path>
            </a:pathLst>
          </a:custGeom>
          <a:solidFill>
            <a:schemeClr val="accent2"/>
          </a:solidFill>
          <a:ln cap="sq">
            <a:noFill/>
          </a:ln>
          <a:effectLst/>
        </p:spPr>
        <p:txBody>
          <a:bodyPr vert="horz" wrap="none" lIns="91440" tIns="45720" rIns="91440" bIns="45720" rtlCol="0" anchor="ctr"/>
          <a:lstStyle/>
          <a:p>
            <a:pPr algn="ctr"/>
            <a:endParaRPr kumimoji="1" lang="zh-CN" altLang="en-US"/>
          </a:p>
        </p:txBody>
      </p:sp>
      <p:sp>
        <p:nvSpPr>
          <p:cNvPr id="10" name="标题 1"/>
          <p:cNvSpPr txBox="1"/>
          <p:nvPr/>
        </p:nvSpPr>
        <p:spPr>
          <a:xfrm>
            <a:off x="3345057" y="2579370"/>
            <a:ext cx="1533710" cy="1295400"/>
          </a:xfrm>
          <a:prstGeom prst="rect">
            <a:avLst/>
          </a:prstGeom>
          <a:noFill/>
          <a:ln>
            <a:noFill/>
          </a:ln>
        </p:spPr>
        <p:txBody>
          <a:bodyPr vert="horz" wrap="square" lIns="0" tIns="0" rIns="0" bIns="0" rtlCol="0" anchor="t"/>
          <a:lstStyle/>
          <a:p>
            <a:pPr algn="l"/>
            <a:r>
              <a:rPr kumimoji="1" lang="en-US" altLang="zh-CN" sz="1400" dirty="0" err="1">
                <a:ln w="12700">
                  <a:noFill/>
                </a:ln>
                <a:solidFill>
                  <a:srgbClr val="FFFFFF">
                    <a:alpha val="100000"/>
                  </a:srgbClr>
                </a:solidFill>
                <a:latin typeface="Poppins"/>
                <a:ea typeface="Poppins"/>
                <a:cs typeface="Poppins"/>
              </a:rPr>
              <a:t>Segmentación</a:t>
            </a:r>
            <a:r>
              <a:rPr kumimoji="1" lang="en-US" altLang="zh-CN" sz="1400" dirty="0">
                <a:ln w="12700">
                  <a:noFill/>
                </a:ln>
                <a:solidFill>
                  <a:srgbClr val="FFFFFF">
                    <a:alpha val="100000"/>
                  </a:srgbClr>
                </a:solidFill>
                <a:latin typeface="Poppins"/>
                <a:ea typeface="Poppins"/>
                <a:cs typeface="Poppins"/>
              </a:rPr>
              <a:t> de redes (VLANs).</a:t>
            </a:r>
            <a:endParaRPr kumimoji="1" lang="zh-CN" altLang="en-US" dirty="0"/>
          </a:p>
        </p:txBody>
      </p:sp>
      <p:sp>
        <p:nvSpPr>
          <p:cNvPr id="11" name="标题 1"/>
          <p:cNvSpPr txBox="1"/>
          <p:nvPr/>
        </p:nvSpPr>
        <p:spPr>
          <a:xfrm>
            <a:off x="7037888" y="2012860"/>
            <a:ext cx="2465845" cy="2111375"/>
          </a:xfrm>
          <a:custGeom>
            <a:avLst/>
            <a:gdLst>
              <a:gd name="T0" fmla="*/ 7348 w 9134"/>
              <a:gd name="T1" fmla="*/ 4439 h 4440"/>
              <a:gd name="T2" fmla="*/ 0 w 9134"/>
              <a:gd name="T3" fmla="*/ 4439 h 4440"/>
              <a:gd name="T4" fmla="*/ 1785 w 9134"/>
              <a:gd name="T5" fmla="*/ 2219 h 4440"/>
              <a:gd name="T6" fmla="*/ 0 w 9134"/>
              <a:gd name="T7" fmla="*/ 0 h 4440"/>
              <a:gd name="T8" fmla="*/ 7348 w 9134"/>
              <a:gd name="T9" fmla="*/ 0 h 4440"/>
              <a:gd name="T10" fmla="*/ 9133 w 9134"/>
              <a:gd name="T11" fmla="*/ 2219 h 4440"/>
              <a:gd name="T12" fmla="*/ 7348 w 9134"/>
              <a:gd name="T13" fmla="*/ 4439 h 4440"/>
            </a:gdLst>
            <a:ahLst/>
            <a:cxnLst/>
            <a:rect l="0" t="0" r="r" b="b"/>
            <a:pathLst>
              <a:path w="9134" h="4440">
                <a:moveTo>
                  <a:pt x="7348" y="4439"/>
                </a:moveTo>
                <a:lnTo>
                  <a:pt x="0" y="4439"/>
                </a:lnTo>
                <a:lnTo>
                  <a:pt x="1785" y="2219"/>
                </a:lnTo>
                <a:lnTo>
                  <a:pt x="0" y="0"/>
                </a:lnTo>
                <a:lnTo>
                  <a:pt x="7348" y="0"/>
                </a:lnTo>
                <a:lnTo>
                  <a:pt x="9133" y="2219"/>
                </a:lnTo>
                <a:lnTo>
                  <a:pt x="7348" y="4439"/>
                </a:lnTo>
              </a:path>
            </a:pathLst>
          </a:custGeom>
          <a:solidFill>
            <a:schemeClr val="accent2"/>
          </a:solidFill>
          <a:ln cap="sq">
            <a:noFill/>
          </a:ln>
          <a:effectLst/>
        </p:spPr>
        <p:txBody>
          <a:bodyPr vert="horz" wrap="none" lIns="91440" tIns="45720" rIns="91440" bIns="45720" rtlCol="0" anchor="ctr"/>
          <a:lstStyle/>
          <a:p>
            <a:pPr algn="ctr"/>
            <a:endParaRPr kumimoji="1" lang="zh-CN" altLang="en-US"/>
          </a:p>
        </p:txBody>
      </p:sp>
      <p:sp>
        <p:nvSpPr>
          <p:cNvPr id="12" name="标题 1"/>
          <p:cNvSpPr txBox="1"/>
          <p:nvPr/>
        </p:nvSpPr>
        <p:spPr>
          <a:xfrm>
            <a:off x="7648124" y="2579370"/>
            <a:ext cx="1534840" cy="1295400"/>
          </a:xfrm>
          <a:prstGeom prst="rect">
            <a:avLst/>
          </a:prstGeom>
          <a:noFill/>
          <a:ln>
            <a:noFill/>
          </a:ln>
        </p:spPr>
        <p:txBody>
          <a:bodyPr vert="horz" wrap="square" lIns="0" tIns="0" rIns="0" bIns="0" rtlCol="0" anchor="t"/>
          <a:lstStyle/>
          <a:p>
            <a:pPr algn="l"/>
            <a:r>
              <a:rPr kumimoji="1" lang="en-US" altLang="zh-CN" sz="1400">
                <a:ln w="12700">
                  <a:noFill/>
                </a:ln>
                <a:solidFill>
                  <a:srgbClr val="FFFFFF">
                    <a:alpha val="100000"/>
                  </a:srgbClr>
                </a:solidFill>
                <a:latin typeface="Poppins"/>
                <a:ea typeface="Poppins"/>
                <a:cs typeface="Poppins"/>
              </a:rPr>
              <a:t>Gestión de VPNs.</a:t>
            </a:r>
            <a:endParaRPr kumimoji="1" lang="zh-CN" altLang="en-US"/>
          </a:p>
        </p:txBody>
      </p:sp>
      <p:sp>
        <p:nvSpPr>
          <p:cNvPr id="13" name="标题 1"/>
          <p:cNvSpPr txBox="1"/>
          <p:nvPr/>
        </p:nvSpPr>
        <p:spPr>
          <a:xfrm>
            <a:off x="9194456" y="2012860"/>
            <a:ext cx="2467035" cy="2111375"/>
          </a:xfrm>
          <a:custGeom>
            <a:avLst/>
            <a:gdLst>
              <a:gd name="T0" fmla="*/ 7349 w 9135"/>
              <a:gd name="T1" fmla="*/ 4439 h 4440"/>
              <a:gd name="T2" fmla="*/ 0 w 9135"/>
              <a:gd name="T3" fmla="*/ 4439 h 4440"/>
              <a:gd name="T4" fmla="*/ 1786 w 9135"/>
              <a:gd name="T5" fmla="*/ 2219 h 4440"/>
              <a:gd name="T6" fmla="*/ 0 w 9135"/>
              <a:gd name="T7" fmla="*/ 0 h 4440"/>
              <a:gd name="T8" fmla="*/ 7349 w 9135"/>
              <a:gd name="T9" fmla="*/ 0 h 4440"/>
              <a:gd name="T10" fmla="*/ 9134 w 9135"/>
              <a:gd name="T11" fmla="*/ 2219 h 4440"/>
              <a:gd name="T12" fmla="*/ 7349 w 9135"/>
              <a:gd name="T13" fmla="*/ 4439 h 4440"/>
            </a:gdLst>
            <a:ahLst/>
            <a:cxnLst/>
            <a:rect l="0" t="0" r="r" b="b"/>
            <a:pathLst>
              <a:path w="9135" h="4440">
                <a:moveTo>
                  <a:pt x="7349" y="4439"/>
                </a:moveTo>
                <a:lnTo>
                  <a:pt x="0" y="4439"/>
                </a:lnTo>
                <a:lnTo>
                  <a:pt x="1786" y="2219"/>
                </a:lnTo>
                <a:lnTo>
                  <a:pt x="0" y="0"/>
                </a:lnTo>
                <a:lnTo>
                  <a:pt x="7349" y="0"/>
                </a:lnTo>
                <a:lnTo>
                  <a:pt x="9134" y="2219"/>
                </a:lnTo>
                <a:lnTo>
                  <a:pt x="7349" y="4439"/>
                </a:lnTo>
              </a:path>
            </a:pathLst>
          </a:custGeom>
          <a:solidFill>
            <a:schemeClr val="accent1"/>
          </a:solidFill>
          <a:ln cap="sq">
            <a:noFill/>
          </a:ln>
          <a:effectLst/>
        </p:spPr>
        <p:txBody>
          <a:bodyPr vert="horz" wrap="none" lIns="91440" tIns="45720" rIns="91440" bIns="45720" rtlCol="0" anchor="ctr"/>
          <a:lstStyle/>
          <a:p>
            <a:pPr algn="ctr"/>
            <a:endParaRPr kumimoji="1" lang="zh-CN" altLang="en-US"/>
          </a:p>
        </p:txBody>
      </p:sp>
      <p:sp>
        <p:nvSpPr>
          <p:cNvPr id="14" name="标题 1"/>
          <p:cNvSpPr txBox="1"/>
          <p:nvPr/>
        </p:nvSpPr>
        <p:spPr>
          <a:xfrm>
            <a:off x="9779422" y="2590800"/>
            <a:ext cx="1593204" cy="1295400"/>
          </a:xfrm>
          <a:prstGeom prst="rect">
            <a:avLst/>
          </a:prstGeom>
          <a:noFill/>
          <a:ln>
            <a:noFill/>
          </a:ln>
        </p:spPr>
        <p:txBody>
          <a:bodyPr vert="horz" wrap="square" lIns="0" tIns="0" rIns="0" bIns="0" rtlCol="0" anchor="t"/>
          <a:lstStyle/>
          <a:p>
            <a:pPr algn="l"/>
            <a:r>
              <a:rPr kumimoji="1" lang="en-US" altLang="zh-CN" sz="1400">
                <a:ln w="12700">
                  <a:noFill/>
                </a:ln>
                <a:solidFill>
                  <a:srgbClr val="FFFFFF">
                    <a:alpha val="100000"/>
                  </a:srgbClr>
                </a:solidFill>
                <a:latin typeface="Poppins"/>
                <a:ea typeface="Poppins"/>
                <a:cs typeface="Poppins"/>
              </a:rPr>
              <a:t>Aseguramiento del perímetro de la red.</a:t>
            </a:r>
            <a:endParaRPr kumimoji="1" lang="zh-CN" altLang="en-US"/>
          </a:p>
        </p:txBody>
      </p:sp>
      <p:sp>
        <p:nvSpPr>
          <p:cNvPr id="15" name="标题 1"/>
          <p:cNvSpPr txBox="1"/>
          <p:nvPr/>
        </p:nvSpPr>
        <p:spPr>
          <a:xfrm>
            <a:off x="452878" y="334470"/>
            <a:ext cx="8171180" cy="655320"/>
          </a:xfrm>
          <a:prstGeom prst="roundRect">
            <a:avLst>
              <a:gd name="adj" fmla="val 50000"/>
            </a:avLst>
          </a:prstGeom>
          <a:gradFill>
            <a:gsLst>
              <a:gs pos="0">
                <a:schemeClr val="accent1">
                  <a:lumMod val="20000"/>
                  <a:lumOff val="80000"/>
                </a:schemeClr>
              </a:gs>
              <a:gs pos="80000">
                <a:schemeClr val="accent1">
                  <a:lumMod val="20000"/>
                  <a:lumOff val="80000"/>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a:off x="783617"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Administradores de Red (NetAdmins)</a:t>
            </a:r>
            <a:endParaRPr kumimoji="1" lang="zh-CN" altLang="en-US"/>
          </a:p>
        </p:txBody>
      </p:sp>
      <p:pic>
        <p:nvPicPr>
          <p:cNvPr id="17" name="Imagen 16">
            <a:extLst>
              <a:ext uri="{FF2B5EF4-FFF2-40B4-BE49-F238E27FC236}">
                <a16:creationId xmlns:a16="http://schemas.microsoft.com/office/drawing/2014/main" id="{49C5AD18-4C9F-CCB8-342D-558148011D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1699" t="16798" r="57525" b="22030"/>
          <a:stretch>
            <a:fillRect/>
          </a:stretch>
        </p:blipFill>
        <p:spPr>
          <a:xfrm>
            <a:off x="6266542" y="2315034"/>
            <a:ext cx="2537460" cy="2537460"/>
          </a:xfrm>
          <a:custGeom>
            <a:avLst/>
            <a:gdLst/>
            <a:ahLst/>
            <a:cxnLst/>
            <a:rect l="l" t="t" r="r" b="b"/>
            <a:pathLst>
              <a:path w="2537460" h="2537460">
                <a:moveTo>
                  <a:pt x="1268730" y="0"/>
                </a:moveTo>
                <a:cubicBezTo>
                  <a:pt x="1969430" y="0"/>
                  <a:pt x="2537460" y="568030"/>
                  <a:pt x="2537460" y="1268730"/>
                </a:cubicBezTo>
                <a:cubicBezTo>
                  <a:pt x="2537460" y="1969430"/>
                  <a:pt x="1969430" y="2537460"/>
                  <a:pt x="1268730" y="2537460"/>
                </a:cubicBezTo>
                <a:cubicBezTo>
                  <a:pt x="568030" y="2537460"/>
                  <a:pt x="0" y="1969430"/>
                  <a:pt x="0" y="1268730"/>
                </a:cubicBezTo>
                <a:cubicBezTo>
                  <a:pt x="0" y="568030"/>
                  <a:pt x="568030" y="0"/>
                  <a:pt x="1268730" y="0"/>
                </a:cubicBezTo>
                <a:close/>
              </a:path>
            </a:pathLst>
          </a:custGeom>
          <a:noFill/>
          <a:ln>
            <a:noFill/>
          </a:ln>
        </p:spPr>
      </p:pic>
      <p:sp>
        <p:nvSpPr>
          <p:cNvPr id="4" name="标题 1"/>
          <p:cNvSpPr txBox="1"/>
          <p:nvPr/>
        </p:nvSpPr>
        <p:spPr>
          <a:xfrm rot="12391324" flipH="1" flipV="1">
            <a:off x="8398215" y="2081277"/>
            <a:ext cx="2487183" cy="2487181"/>
          </a:xfrm>
          <a:prstGeom prst="arc">
            <a:avLst>
              <a:gd name="adj1" fmla="val 9525031"/>
              <a:gd name="adj2" fmla="val 3672397"/>
            </a:avLst>
          </a:prstGeom>
          <a:noFill/>
          <a:ln w="76200" cap="rnd">
            <a:gradFill>
              <a:gsLst>
                <a:gs pos="20000">
                  <a:schemeClr val="accent1"/>
                </a:gs>
                <a:gs pos="100000">
                  <a:schemeClr val="bg1">
                    <a:alpha val="0"/>
                  </a:schemeClr>
                </a:gs>
              </a:gsLst>
              <a:lin ang="10800000" scaled="0"/>
            </a:gradFill>
            <a:round/>
          </a:ln>
        </p:spPr>
        <p:txBody>
          <a:bodyPr vert="horz" wrap="square" lIns="91440" tIns="45720" rIns="91440" bIns="45720" rtlCol="0" anchor="ctr"/>
          <a:lstStyle/>
          <a:p>
            <a:pPr algn="ctr"/>
            <a:endParaRPr kumimoji="1" lang="zh-CN" altLang="en-US"/>
          </a:p>
        </p:txBody>
      </p:sp>
      <p:sp>
        <p:nvSpPr>
          <p:cNvPr id="5" name="标题 1"/>
          <p:cNvSpPr txBox="1"/>
          <p:nvPr/>
        </p:nvSpPr>
        <p:spPr>
          <a:xfrm>
            <a:off x="5822108" y="2244519"/>
            <a:ext cx="660400" cy="89807"/>
          </a:xfrm>
          <a:prstGeom prst="rect">
            <a:avLst/>
          </a:prstGeom>
          <a:solidFill>
            <a:schemeClr val="accent1"/>
          </a:solidFill>
          <a:ln w="12700" cap="rnd">
            <a:noFill/>
            <a:round/>
            <a:headEnd/>
            <a:tailEnd/>
          </a:ln>
          <a:effectLst/>
        </p:spPr>
        <p:txBody>
          <a:bodyPr vert="horz" wrap="square" lIns="91440" tIns="45720" rIns="91440" bIns="45720" rtlCol="0" anchor="ctr"/>
          <a:lstStyle/>
          <a:p>
            <a:pPr algn="ctr"/>
            <a:endParaRPr kumimoji="1" lang="zh-CN" altLang="en-US"/>
          </a:p>
        </p:txBody>
      </p:sp>
      <p:pic>
        <p:nvPicPr>
          <p:cNvPr id="6" name="Imagen 5"/>
          <p:cNvPicPr>
            <a:picLocks noChangeAspect="1"/>
          </p:cNvPicPr>
          <p:nvPr/>
        </p:nvPicPr>
        <p:blipFill>
          <a:blip r:embed="rId2">
            <a:alphaModFix/>
          </a:blip>
          <a:srcRect l="1699" t="16798" r="57525" b="22030"/>
          <a:stretch>
            <a:fillRect/>
          </a:stretch>
        </p:blipFill>
        <p:spPr>
          <a:xfrm>
            <a:off x="3231242" y="2416634"/>
            <a:ext cx="2537460" cy="2537460"/>
          </a:xfrm>
          <a:custGeom>
            <a:avLst/>
            <a:gdLst/>
            <a:ahLst/>
            <a:cxnLst/>
            <a:rect l="l" t="t" r="r" b="b"/>
            <a:pathLst>
              <a:path w="2537460" h="2537460">
                <a:moveTo>
                  <a:pt x="1268730" y="0"/>
                </a:moveTo>
                <a:cubicBezTo>
                  <a:pt x="1969430" y="0"/>
                  <a:pt x="2537460" y="568030"/>
                  <a:pt x="2537460" y="1268730"/>
                </a:cubicBezTo>
                <a:cubicBezTo>
                  <a:pt x="2537460" y="1969430"/>
                  <a:pt x="1969430" y="2537460"/>
                  <a:pt x="1268730" y="2537460"/>
                </a:cubicBezTo>
                <a:cubicBezTo>
                  <a:pt x="568030" y="2537460"/>
                  <a:pt x="0" y="1969430"/>
                  <a:pt x="0" y="1268730"/>
                </a:cubicBezTo>
                <a:cubicBezTo>
                  <a:pt x="0" y="568030"/>
                  <a:pt x="568030" y="0"/>
                  <a:pt x="1268730" y="0"/>
                </a:cubicBezTo>
                <a:close/>
              </a:path>
            </a:pathLst>
          </a:custGeom>
          <a:noFill/>
          <a:ln>
            <a:noFill/>
          </a:ln>
        </p:spPr>
      </p:pic>
      <p:sp>
        <p:nvSpPr>
          <p:cNvPr id="7" name="标题 1"/>
          <p:cNvSpPr txBox="1"/>
          <p:nvPr/>
        </p:nvSpPr>
        <p:spPr>
          <a:xfrm>
            <a:off x="1591762" y="2409519"/>
            <a:ext cx="2106915" cy="2106915"/>
          </a:xfrm>
          <a:prstGeom prst="ellipse">
            <a:avLst/>
          </a:prstGeom>
          <a:solidFill>
            <a:schemeClr val="bg1"/>
          </a:solidFill>
          <a:ln cap="sq">
            <a:solidFill>
              <a:schemeClr val="accent1">
                <a:lumMod val="20000"/>
                <a:lumOff val="80000"/>
              </a:schemeClr>
            </a:solidFill>
          </a:ln>
          <a:effectLst>
            <a:outerShdw blurRad="190500" sx="102000" sy="102000" algn="ctr" rotWithShape="0">
              <a:schemeClr val="accent1">
                <a:alpha val="10000"/>
              </a:schemeClr>
            </a:outerShdw>
          </a:effectLst>
        </p:spPr>
        <p:txBody>
          <a:bodyPr vert="horz" wrap="square" lIns="91440" tIns="45720" rIns="91440" bIns="45720" rtlCol="0" anchor="t"/>
          <a:lstStyle/>
          <a:p>
            <a:pPr algn="l"/>
            <a:endParaRPr kumimoji="1" lang="zh-CN" altLang="en-US"/>
          </a:p>
        </p:txBody>
      </p:sp>
      <p:sp>
        <p:nvSpPr>
          <p:cNvPr id="8" name="标题 1"/>
          <p:cNvSpPr txBox="1"/>
          <p:nvPr/>
        </p:nvSpPr>
        <p:spPr>
          <a:xfrm rot="6323866">
            <a:off x="1401628" y="2219386"/>
            <a:ext cx="2487183" cy="2487181"/>
          </a:xfrm>
          <a:prstGeom prst="arc">
            <a:avLst>
              <a:gd name="adj1" fmla="val 20818840"/>
              <a:gd name="adj2" fmla="val 12111527"/>
            </a:avLst>
          </a:prstGeom>
          <a:noFill/>
          <a:ln w="76200" cap="rnd">
            <a:gradFill>
              <a:gsLst>
                <a:gs pos="20000">
                  <a:schemeClr val="accent1"/>
                </a:gs>
                <a:gs pos="100000">
                  <a:schemeClr val="bg1">
                    <a:alpha val="0"/>
                  </a:schemeClr>
                </a:gs>
              </a:gsLst>
              <a:lin ang="10800000" scaled="0"/>
            </a:gradFill>
            <a:round/>
          </a:ln>
        </p:spPr>
        <p:txBody>
          <a:bodyPr vert="horz" wrap="square" lIns="91440" tIns="45720" rIns="91440" bIns="45720" rtlCol="0" anchor="ctr"/>
          <a:lstStyle/>
          <a:p>
            <a:pPr algn="ctr"/>
            <a:endParaRPr kumimoji="1" lang="zh-CN" altLang="en-US"/>
          </a:p>
        </p:txBody>
      </p:sp>
      <p:cxnSp>
        <p:nvCxnSpPr>
          <p:cNvPr id="9" name="标题 1"/>
          <p:cNvCxnSpPr/>
          <p:nvPr/>
        </p:nvCxnSpPr>
        <p:spPr>
          <a:xfrm>
            <a:off x="2578976" y="2763306"/>
            <a:ext cx="220573" cy="0"/>
          </a:xfrm>
          <a:prstGeom prst="line">
            <a:avLst/>
          </a:prstGeom>
          <a:noFill/>
          <a:ln w="34925" cap="rnd">
            <a:solidFill>
              <a:schemeClr val="accent1"/>
            </a:solidFill>
            <a:round/>
          </a:ln>
        </p:spPr>
      </p:cxnSp>
      <p:sp>
        <p:nvSpPr>
          <p:cNvPr id="10" name="标题 1"/>
          <p:cNvSpPr txBox="1"/>
          <p:nvPr/>
        </p:nvSpPr>
        <p:spPr>
          <a:xfrm>
            <a:off x="2830769" y="883826"/>
            <a:ext cx="6530463" cy="1198769"/>
          </a:xfrm>
          <a:prstGeom prst="rect">
            <a:avLst/>
          </a:prstGeom>
          <a:noFill/>
          <a:ln>
            <a:noFill/>
          </a:ln>
        </p:spPr>
        <p:txBody>
          <a:bodyPr vert="horz" wrap="square" lIns="0" tIns="0" rIns="0" bIns="0" rtlCol="0" anchor="b"/>
          <a:lstStyle/>
          <a:p>
            <a:pPr algn="ctr"/>
            <a:r>
              <a:rPr kumimoji="1" lang="en-US" altLang="zh-CN" sz="1600" dirty="0" err="1">
                <a:ln w="12700">
                  <a:noFill/>
                </a:ln>
                <a:solidFill>
                  <a:srgbClr val="262626">
                    <a:alpha val="100000"/>
                  </a:srgbClr>
                </a:solidFill>
                <a:latin typeface="poppins-bold"/>
                <a:ea typeface="poppins-bold"/>
                <a:cs typeface="poppins-bold"/>
              </a:rPr>
              <a:t>Función</a:t>
            </a:r>
            <a:r>
              <a:rPr kumimoji="1" lang="en-US" altLang="zh-CN" sz="1600" dirty="0">
                <a:ln w="12700">
                  <a:noFill/>
                </a:ln>
                <a:solidFill>
                  <a:srgbClr val="262626">
                    <a:alpha val="100000"/>
                  </a:srgbClr>
                </a:solidFill>
                <a:latin typeface="poppins-bold"/>
                <a:ea typeface="poppins-bold"/>
                <a:cs typeface="poppins-bold"/>
              </a:rPr>
              <a:t> y </a:t>
            </a:r>
            <a:r>
              <a:rPr kumimoji="1" lang="en-US" altLang="zh-CN" sz="1600" dirty="0" err="1">
                <a:ln w="12700">
                  <a:noFill/>
                </a:ln>
                <a:solidFill>
                  <a:srgbClr val="262626">
                    <a:alpha val="100000"/>
                  </a:srgbClr>
                </a:solidFill>
                <a:latin typeface="poppins-bold"/>
                <a:ea typeface="poppins-bold"/>
                <a:cs typeface="poppins-bold"/>
              </a:rPr>
              <a:t>Responsabilidades</a:t>
            </a:r>
            <a:r>
              <a:rPr kumimoji="1" lang="en-US" altLang="zh-CN" sz="1600" dirty="0">
                <a:ln w="12700">
                  <a:noFill/>
                </a:ln>
                <a:solidFill>
                  <a:srgbClr val="262626">
                    <a:alpha val="100000"/>
                  </a:srgbClr>
                </a:solidFill>
                <a:latin typeface="poppins-bold"/>
                <a:ea typeface="poppins-bold"/>
                <a:cs typeface="poppins-bold"/>
              </a:rPr>
              <a:t>: </a:t>
            </a:r>
            <a:r>
              <a:rPr kumimoji="1" lang="es-EC" sz="1200" dirty="0">
                <a:ln w="12700">
                  <a:noFill/>
                </a:ln>
                <a:solidFill>
                  <a:srgbClr val="262626">
                    <a:alpha val="100000"/>
                  </a:srgbClr>
                </a:solidFill>
                <a:latin typeface="Poppins"/>
                <a:cs typeface="Poppins"/>
              </a:rPr>
              <a:t>Garantizar la integridad, disponibilidad y rendimiento de los datos.</a:t>
            </a:r>
          </a:p>
          <a:p>
            <a:pPr algn="ctr"/>
            <a:endParaRPr kumimoji="1" lang="zh-CN" altLang="en-US" dirty="0"/>
          </a:p>
        </p:txBody>
      </p:sp>
      <p:sp>
        <p:nvSpPr>
          <p:cNvPr id="11" name="标题 1"/>
          <p:cNvSpPr txBox="1"/>
          <p:nvPr/>
        </p:nvSpPr>
        <p:spPr>
          <a:xfrm rot="14901312" flipH="1" flipV="1">
            <a:off x="3512683" y="3864892"/>
            <a:ext cx="2487183" cy="2487181"/>
          </a:xfrm>
          <a:prstGeom prst="arc">
            <a:avLst>
              <a:gd name="adj1" fmla="val 1155881"/>
              <a:gd name="adj2" fmla="val 12111527"/>
            </a:avLst>
          </a:prstGeom>
          <a:noFill/>
          <a:ln w="76200" cap="rnd">
            <a:gradFill>
              <a:gsLst>
                <a:gs pos="20000">
                  <a:schemeClr val="accent1"/>
                </a:gs>
                <a:gs pos="100000">
                  <a:schemeClr val="bg1">
                    <a:alpha val="0"/>
                  </a:schemeClr>
                </a:gs>
              </a:gsLst>
              <a:lin ang="10800000" scaled="0"/>
            </a:gradFill>
            <a:round/>
          </a:ln>
        </p:spPr>
        <p:txBody>
          <a:bodyPr vert="horz" wrap="square" lIns="91440" tIns="45720" rIns="91440" bIns="45720" rtlCol="0" anchor="ctr"/>
          <a:lstStyle/>
          <a:p>
            <a:pPr algn="ctr"/>
            <a:endParaRPr kumimoji="1" lang="zh-CN" altLang="en-US"/>
          </a:p>
        </p:txBody>
      </p:sp>
      <p:sp>
        <p:nvSpPr>
          <p:cNvPr id="12" name="标题 1"/>
          <p:cNvSpPr txBox="1"/>
          <p:nvPr/>
        </p:nvSpPr>
        <p:spPr>
          <a:xfrm flipH="1">
            <a:off x="3702807" y="4055025"/>
            <a:ext cx="2106915" cy="2106915"/>
          </a:xfrm>
          <a:prstGeom prst="ellipse">
            <a:avLst/>
          </a:prstGeom>
          <a:solidFill>
            <a:schemeClr val="bg1"/>
          </a:solidFill>
          <a:ln cap="sq">
            <a:solidFill>
              <a:schemeClr val="accent1">
                <a:lumMod val="20000"/>
                <a:lumOff val="80000"/>
              </a:schemeClr>
            </a:solidFill>
          </a:ln>
          <a:effectLst>
            <a:outerShdw blurRad="190500" sx="102000" sy="102000" algn="ctr" rotWithShape="0">
              <a:schemeClr val="accent1">
                <a:alpha val="10000"/>
              </a:schemeClr>
            </a:outerShdw>
          </a:effectLst>
        </p:spPr>
        <p:txBody>
          <a:bodyPr vert="horz" wrap="square" lIns="91440" tIns="45720" rIns="91440" bIns="45720" rtlCol="0" anchor="t"/>
          <a:lstStyle/>
          <a:p>
            <a:pPr algn="l"/>
            <a:endParaRPr kumimoji="1" lang="zh-CN" altLang="en-US"/>
          </a:p>
        </p:txBody>
      </p:sp>
      <p:cxnSp>
        <p:nvCxnSpPr>
          <p:cNvPr id="13" name="标题 1"/>
          <p:cNvCxnSpPr/>
          <p:nvPr/>
        </p:nvCxnSpPr>
        <p:spPr>
          <a:xfrm>
            <a:off x="4669921" y="4457904"/>
            <a:ext cx="220573" cy="0"/>
          </a:xfrm>
          <a:prstGeom prst="line">
            <a:avLst/>
          </a:prstGeom>
          <a:noFill/>
          <a:ln w="34925" cap="rnd">
            <a:solidFill>
              <a:schemeClr val="accent1"/>
            </a:solidFill>
            <a:round/>
          </a:ln>
        </p:spPr>
      </p:cxnSp>
      <p:sp>
        <p:nvSpPr>
          <p:cNvPr id="14" name="标题 1"/>
          <p:cNvSpPr txBox="1"/>
          <p:nvPr/>
        </p:nvSpPr>
        <p:spPr>
          <a:xfrm flipH="1">
            <a:off x="8588349" y="2271410"/>
            <a:ext cx="2106915" cy="2106915"/>
          </a:xfrm>
          <a:prstGeom prst="ellipse">
            <a:avLst/>
          </a:prstGeom>
          <a:solidFill>
            <a:schemeClr val="bg1"/>
          </a:solidFill>
          <a:ln cap="sq">
            <a:solidFill>
              <a:schemeClr val="accent1">
                <a:lumMod val="20000"/>
                <a:lumOff val="80000"/>
              </a:schemeClr>
            </a:solidFill>
          </a:ln>
          <a:effectLst>
            <a:outerShdw blurRad="190500" sx="102000" sy="102000" algn="ctr" rotWithShape="0">
              <a:schemeClr val="accent1">
                <a:alpha val="10000"/>
              </a:schemeClr>
            </a:outerShdw>
          </a:effectLst>
        </p:spPr>
        <p:txBody>
          <a:bodyPr vert="horz" wrap="square" lIns="91440" tIns="45720" rIns="91440" bIns="45720" rtlCol="0" anchor="t"/>
          <a:lstStyle/>
          <a:p>
            <a:pPr algn="l"/>
            <a:endParaRPr kumimoji="1" lang="zh-CN" altLang="en-US"/>
          </a:p>
        </p:txBody>
      </p:sp>
      <p:cxnSp>
        <p:nvCxnSpPr>
          <p:cNvPr id="15" name="标题 1"/>
          <p:cNvCxnSpPr/>
          <p:nvPr/>
        </p:nvCxnSpPr>
        <p:spPr>
          <a:xfrm>
            <a:off x="9574296" y="2681027"/>
            <a:ext cx="220573" cy="0"/>
          </a:xfrm>
          <a:prstGeom prst="line">
            <a:avLst/>
          </a:prstGeom>
          <a:noFill/>
          <a:ln w="34925" cap="rnd">
            <a:solidFill>
              <a:schemeClr val="accent1"/>
            </a:solidFill>
            <a:round/>
          </a:ln>
        </p:spPr>
      </p:cxnSp>
      <p:sp>
        <p:nvSpPr>
          <p:cNvPr id="16" name="标题 1"/>
          <p:cNvSpPr txBox="1"/>
          <p:nvPr/>
        </p:nvSpPr>
        <p:spPr>
          <a:xfrm rot="17090720" flipH="1">
            <a:off x="6179455" y="3864892"/>
            <a:ext cx="2487183" cy="2487181"/>
          </a:xfrm>
          <a:prstGeom prst="arc">
            <a:avLst>
              <a:gd name="adj1" fmla="val 927507"/>
              <a:gd name="adj2" fmla="val 12111527"/>
            </a:avLst>
          </a:prstGeom>
          <a:noFill/>
          <a:ln w="76200" cap="rnd">
            <a:gradFill>
              <a:gsLst>
                <a:gs pos="20000">
                  <a:schemeClr val="accent1"/>
                </a:gs>
                <a:gs pos="100000">
                  <a:schemeClr val="bg1">
                    <a:alpha val="0"/>
                  </a:schemeClr>
                </a:gs>
              </a:gsLst>
              <a:lin ang="10800000" scaled="0"/>
            </a:gradFill>
            <a:round/>
          </a:ln>
        </p:spPr>
        <p:txBody>
          <a:bodyPr vert="horz" wrap="square" lIns="91440" tIns="45720" rIns="91440" bIns="45720" rtlCol="0" anchor="ctr"/>
          <a:lstStyle/>
          <a:p>
            <a:pPr algn="ctr"/>
            <a:endParaRPr kumimoji="1" lang="zh-CN" altLang="en-US"/>
          </a:p>
        </p:txBody>
      </p:sp>
      <p:sp>
        <p:nvSpPr>
          <p:cNvPr id="17" name="标题 1"/>
          <p:cNvSpPr txBox="1"/>
          <p:nvPr/>
        </p:nvSpPr>
        <p:spPr>
          <a:xfrm flipH="1">
            <a:off x="6369578" y="4055025"/>
            <a:ext cx="2106915" cy="2106915"/>
          </a:xfrm>
          <a:prstGeom prst="ellipse">
            <a:avLst/>
          </a:prstGeom>
          <a:solidFill>
            <a:schemeClr val="bg1"/>
          </a:solidFill>
          <a:ln cap="sq">
            <a:solidFill>
              <a:schemeClr val="accent1">
                <a:lumMod val="20000"/>
                <a:lumOff val="80000"/>
              </a:schemeClr>
            </a:solidFill>
          </a:ln>
          <a:effectLst>
            <a:outerShdw blurRad="190500" sx="102000" sy="102000" algn="ctr" rotWithShape="0">
              <a:schemeClr val="accent1">
                <a:alpha val="10000"/>
              </a:schemeClr>
            </a:outerShdw>
          </a:effectLst>
        </p:spPr>
        <p:txBody>
          <a:bodyPr vert="horz" wrap="square" lIns="91440" tIns="45720" rIns="91440" bIns="45720" rtlCol="0" anchor="t"/>
          <a:lstStyle/>
          <a:p>
            <a:pPr algn="l"/>
            <a:endParaRPr kumimoji="1" lang="zh-CN" altLang="en-US"/>
          </a:p>
        </p:txBody>
      </p:sp>
      <p:cxnSp>
        <p:nvCxnSpPr>
          <p:cNvPr id="18" name="标题 1"/>
          <p:cNvCxnSpPr/>
          <p:nvPr/>
        </p:nvCxnSpPr>
        <p:spPr>
          <a:xfrm>
            <a:off x="7306734" y="4457904"/>
            <a:ext cx="220573" cy="0"/>
          </a:xfrm>
          <a:prstGeom prst="line">
            <a:avLst/>
          </a:prstGeom>
          <a:noFill/>
          <a:ln w="34925" cap="rnd">
            <a:solidFill>
              <a:schemeClr val="accent1"/>
            </a:solidFill>
            <a:round/>
          </a:ln>
        </p:spPr>
      </p:cxnSp>
      <p:sp>
        <p:nvSpPr>
          <p:cNvPr id="19" name="标题 1"/>
          <p:cNvSpPr txBox="1"/>
          <p:nvPr/>
        </p:nvSpPr>
        <p:spPr>
          <a:xfrm>
            <a:off x="1802069" y="2979326"/>
            <a:ext cx="1679063" cy="1198769"/>
          </a:xfrm>
          <a:prstGeom prst="rect">
            <a:avLst/>
          </a:prstGeom>
          <a:noFill/>
          <a:ln>
            <a:noFill/>
          </a:ln>
        </p:spPr>
        <p:txBody>
          <a:bodyPr vert="horz" wrap="square" lIns="0" tIns="0" rIns="0" bIns="0" rtlCol="0" anchor="t"/>
          <a:lstStyle/>
          <a:p>
            <a:pPr algn="ctr"/>
            <a:r>
              <a:rPr kumimoji="1" lang="en-US" altLang="zh-CN" sz="1200" dirty="0">
                <a:ln w="12700">
                  <a:noFill/>
                </a:ln>
                <a:solidFill>
                  <a:srgbClr val="262626">
                    <a:alpha val="100000"/>
                  </a:srgbClr>
                </a:solidFill>
                <a:latin typeface="Poppins"/>
                <a:ea typeface="Poppins"/>
                <a:cs typeface="Poppins"/>
              </a:rPr>
              <a:t>Instalación y mantenimiento de </a:t>
            </a:r>
            <a:r>
              <a:rPr kumimoji="1" lang="en-US" altLang="zh-CN" sz="1200" dirty="0" err="1">
                <a:ln w="12700">
                  <a:noFill/>
                </a:ln>
                <a:solidFill>
                  <a:srgbClr val="262626">
                    <a:alpha val="100000"/>
                  </a:srgbClr>
                </a:solidFill>
                <a:latin typeface="Poppins"/>
                <a:ea typeface="Poppins"/>
                <a:cs typeface="Poppins"/>
              </a:rPr>
              <a:t>motores</a:t>
            </a:r>
            <a:r>
              <a:rPr kumimoji="1" lang="en-US" altLang="zh-CN" sz="1200" dirty="0">
                <a:ln w="12700">
                  <a:noFill/>
                </a:ln>
                <a:solidFill>
                  <a:srgbClr val="262626">
                    <a:alpha val="100000"/>
                  </a:srgbClr>
                </a:solidFill>
                <a:latin typeface="Poppins"/>
                <a:ea typeface="Poppins"/>
                <a:cs typeface="Poppins"/>
              </a:rPr>
              <a:t> de BBDD (SQL Server, Oracle, MySQL, PostgreSQL).</a:t>
            </a:r>
            <a:endParaRPr kumimoji="1" lang="zh-CN" altLang="en-US" dirty="0"/>
          </a:p>
        </p:txBody>
      </p:sp>
      <p:sp>
        <p:nvSpPr>
          <p:cNvPr id="20" name="标题 1"/>
          <p:cNvSpPr txBox="1"/>
          <p:nvPr/>
        </p:nvSpPr>
        <p:spPr>
          <a:xfrm>
            <a:off x="3935669" y="4706526"/>
            <a:ext cx="1679063" cy="1198769"/>
          </a:xfrm>
          <a:prstGeom prst="rect">
            <a:avLst/>
          </a:prstGeom>
          <a:noFill/>
          <a:ln>
            <a:noFill/>
          </a:ln>
        </p:spPr>
        <p:txBody>
          <a:bodyPr vert="horz" wrap="square" lIns="0" tIns="0" rIns="0" bIns="0" rtlCol="0" anchor="t"/>
          <a:lstStyle/>
          <a:p>
            <a:pPr algn="ctr"/>
            <a:r>
              <a:rPr kumimoji="1" lang="en-US" altLang="zh-CN" sz="1200">
                <a:ln w="12700">
                  <a:noFill/>
                </a:ln>
                <a:solidFill>
                  <a:srgbClr val="262626">
                    <a:alpha val="100000"/>
                  </a:srgbClr>
                </a:solidFill>
                <a:latin typeface="Poppins"/>
                <a:ea typeface="Poppins"/>
                <a:cs typeface="Poppins"/>
              </a:rPr>
              <a:t>Optimización de consultas (tuning).</a:t>
            </a:r>
            <a:endParaRPr kumimoji="1" lang="zh-CN" altLang="en-US"/>
          </a:p>
        </p:txBody>
      </p:sp>
      <p:sp>
        <p:nvSpPr>
          <p:cNvPr id="21" name="标题 1"/>
          <p:cNvSpPr txBox="1"/>
          <p:nvPr/>
        </p:nvSpPr>
        <p:spPr>
          <a:xfrm>
            <a:off x="6577269" y="4706526"/>
            <a:ext cx="1679063" cy="1198769"/>
          </a:xfrm>
          <a:prstGeom prst="rect">
            <a:avLst/>
          </a:prstGeom>
          <a:noFill/>
          <a:ln>
            <a:noFill/>
          </a:ln>
        </p:spPr>
        <p:txBody>
          <a:bodyPr vert="horz" wrap="square" lIns="0" tIns="0" rIns="0" bIns="0" rtlCol="0" anchor="t"/>
          <a:lstStyle/>
          <a:p>
            <a:pPr algn="ctr"/>
            <a:r>
              <a:rPr kumimoji="1" lang="en-US" altLang="zh-CN" sz="1200">
                <a:ln w="12700">
                  <a:noFill/>
                </a:ln>
                <a:solidFill>
                  <a:srgbClr val="262626">
                    <a:alpha val="100000"/>
                  </a:srgbClr>
                </a:solidFill>
                <a:latin typeface="Poppins"/>
                <a:ea typeface="Poppins"/>
                <a:cs typeface="Poppins"/>
              </a:rPr>
              <a:t>Gestión de la seguridad de datos.</a:t>
            </a:r>
            <a:endParaRPr kumimoji="1" lang="zh-CN" altLang="en-US"/>
          </a:p>
        </p:txBody>
      </p:sp>
      <p:sp>
        <p:nvSpPr>
          <p:cNvPr id="22" name="标题 1"/>
          <p:cNvSpPr txBox="1"/>
          <p:nvPr/>
        </p:nvSpPr>
        <p:spPr>
          <a:xfrm>
            <a:off x="8850569" y="2979326"/>
            <a:ext cx="1679063" cy="1198769"/>
          </a:xfrm>
          <a:prstGeom prst="rect">
            <a:avLst/>
          </a:prstGeom>
          <a:noFill/>
          <a:ln>
            <a:noFill/>
          </a:ln>
        </p:spPr>
        <p:txBody>
          <a:bodyPr vert="horz" wrap="square" lIns="0" tIns="0" rIns="0" bIns="0" rtlCol="0" anchor="t"/>
          <a:lstStyle/>
          <a:p>
            <a:pPr algn="ctr"/>
            <a:r>
              <a:rPr kumimoji="1" lang="en-US" altLang="zh-CN" sz="1200">
                <a:ln w="12700">
                  <a:noFill/>
                </a:ln>
                <a:solidFill>
                  <a:srgbClr val="262626">
                    <a:alpha val="100000"/>
                  </a:srgbClr>
                </a:solidFill>
                <a:latin typeface="Poppins"/>
                <a:ea typeface="Poppins"/>
                <a:cs typeface="Poppins"/>
              </a:rPr>
              <a:t>Procesos de respaldo y restauración específicos de BBDD.</a:t>
            </a:r>
            <a:endParaRPr kumimoji="1" lang="zh-CN" altLang="en-US"/>
          </a:p>
        </p:txBody>
      </p:sp>
      <p:sp>
        <p:nvSpPr>
          <p:cNvPr id="23" name="标题 1"/>
          <p:cNvSpPr txBox="1"/>
          <p:nvPr/>
        </p:nvSpPr>
        <p:spPr>
          <a:xfrm>
            <a:off x="452878" y="334470"/>
            <a:ext cx="8171180" cy="655320"/>
          </a:xfrm>
          <a:prstGeom prst="roundRect">
            <a:avLst>
              <a:gd name="adj" fmla="val 50000"/>
            </a:avLst>
          </a:prstGeom>
          <a:gradFill>
            <a:gsLst>
              <a:gs pos="0">
                <a:schemeClr val="accent1">
                  <a:lumMod val="20000"/>
                  <a:lumOff val="80000"/>
                </a:schemeClr>
              </a:gs>
              <a:gs pos="80000">
                <a:schemeClr val="accent1">
                  <a:lumMod val="20000"/>
                  <a:lumOff val="80000"/>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4" name="标题 1"/>
          <p:cNvSpPr txBox="1"/>
          <p:nvPr/>
        </p:nvSpPr>
        <p:spPr>
          <a:xfrm>
            <a:off x="783617"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Administradores de Bases de Datos (DBAs)</a:t>
            </a:r>
            <a:endParaRPr kumimoji="1"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flipH="1">
            <a:off x="-24000" y="3798000"/>
            <a:ext cx="12240000" cy="3060000"/>
          </a:xfrm>
          <a:prstGeom prst="round1Rect">
            <a:avLst>
              <a:gd name="adj" fmla="val 22649"/>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452878" y="886734"/>
            <a:ext cx="10090688" cy="1376076"/>
          </a:xfrm>
          <a:prstGeom prst="rect">
            <a:avLst/>
          </a:prstGeom>
          <a:noFill/>
          <a:ln>
            <a:noFill/>
          </a:ln>
        </p:spPr>
        <p:txBody>
          <a:bodyPr vert="horz" wrap="square" lIns="0" tIns="0" rIns="0" bIns="0" rtlCol="0" anchor="ctr"/>
          <a:lstStyle/>
          <a:p>
            <a:pPr algn="ctr"/>
            <a:r>
              <a:rPr kumimoji="1" lang="en-US" altLang="zh-CN" sz="1600" dirty="0" err="1">
                <a:ln w="12700">
                  <a:noFill/>
                </a:ln>
                <a:solidFill>
                  <a:srgbClr val="FF0000"/>
                </a:solidFill>
                <a:latin typeface="poppins-bold"/>
                <a:ea typeface="poppins-bold"/>
                <a:cs typeface="poppins-bold"/>
              </a:rPr>
              <a:t>Función</a:t>
            </a:r>
            <a:r>
              <a:rPr kumimoji="1" lang="en-US" altLang="zh-CN" sz="1600" dirty="0">
                <a:ln w="12700">
                  <a:noFill/>
                </a:ln>
                <a:solidFill>
                  <a:srgbClr val="FF0000"/>
                </a:solidFill>
                <a:latin typeface="poppins-bold"/>
                <a:ea typeface="poppins-bold"/>
                <a:cs typeface="poppins-bold"/>
              </a:rPr>
              <a:t> y </a:t>
            </a:r>
            <a:r>
              <a:rPr kumimoji="1" lang="en-US" altLang="zh-CN" sz="1600" dirty="0" err="1">
                <a:ln w="12700">
                  <a:noFill/>
                </a:ln>
                <a:solidFill>
                  <a:srgbClr val="FF0000"/>
                </a:solidFill>
                <a:latin typeface="poppins-bold"/>
                <a:ea typeface="poppins-bold"/>
                <a:cs typeface="poppins-bold"/>
              </a:rPr>
              <a:t>Responsabilidades</a:t>
            </a:r>
            <a:endParaRPr kumimoji="1" lang="en-US" altLang="zh-CN" sz="1600" dirty="0">
              <a:ln w="12700">
                <a:noFill/>
              </a:ln>
              <a:solidFill>
                <a:srgbClr val="FF0000"/>
              </a:solidFill>
              <a:latin typeface="poppins-bold"/>
              <a:ea typeface="poppins-bold"/>
              <a:cs typeface="poppins-bold"/>
            </a:endParaRPr>
          </a:p>
          <a:p>
            <a:pPr algn="ctr"/>
            <a:endParaRPr kumimoji="1" lang="en-US" altLang="zh-CN" sz="1600" dirty="0">
              <a:ln w="12700">
                <a:noFill/>
              </a:ln>
              <a:solidFill>
                <a:srgbClr val="FF0000"/>
              </a:solidFill>
              <a:latin typeface="poppins-bold"/>
              <a:ea typeface="poppins-bold"/>
              <a:cs typeface="poppins-bold"/>
            </a:endParaRPr>
          </a:p>
          <a:p>
            <a:pPr algn="ctr"/>
            <a:r>
              <a:rPr kumimoji="1" lang="es-EC" sz="1400" dirty="0">
                <a:ln w="12700">
                  <a:noFill/>
                </a:ln>
                <a:solidFill>
                  <a:srgbClr val="595959">
                    <a:alpha val="100000"/>
                  </a:srgbClr>
                </a:solidFill>
                <a:latin typeface="Poppins"/>
                <a:cs typeface="Poppins"/>
              </a:rPr>
              <a:t>Proteger los activos de información contra amenazas.</a:t>
            </a:r>
            <a:endParaRPr kumimoji="1" lang="zh-CN" altLang="en-US" sz="1400" dirty="0">
              <a:ln w="12700">
                <a:noFill/>
              </a:ln>
              <a:solidFill>
                <a:srgbClr val="595959">
                  <a:alpha val="100000"/>
                </a:srgbClr>
              </a:solidFill>
              <a:latin typeface="Poppins"/>
              <a:cs typeface="Poppins"/>
            </a:endParaRPr>
          </a:p>
        </p:txBody>
      </p:sp>
      <p:sp>
        <p:nvSpPr>
          <p:cNvPr id="5" name="标题 1"/>
          <p:cNvSpPr txBox="1"/>
          <p:nvPr/>
        </p:nvSpPr>
        <p:spPr>
          <a:xfrm>
            <a:off x="1167412" y="3482600"/>
            <a:ext cx="648000" cy="648000"/>
          </a:xfrm>
          <a:prstGeom prst="ellipse">
            <a:avLst/>
          </a:prstGeom>
          <a:solidFill>
            <a:schemeClr val="bg1"/>
          </a:solidFill>
          <a:ln w="12700" cap="sq">
            <a:noFill/>
            <a:miter/>
          </a:ln>
          <a:effectLst/>
        </p:spPr>
        <p:txBody>
          <a:bodyPr vert="horz" wrap="square" lIns="91440" tIns="45720" rIns="91440" bIns="45720" rtlCol="0" anchor="ctr"/>
          <a:lstStyle/>
          <a:p>
            <a:pPr algn="ctr"/>
            <a:endParaRPr kumimoji="1" lang="zh-CN" altLang="en-US"/>
          </a:p>
        </p:txBody>
      </p:sp>
      <p:sp>
        <p:nvSpPr>
          <p:cNvPr id="6" name="标题 1"/>
          <p:cNvSpPr txBox="1"/>
          <p:nvPr/>
        </p:nvSpPr>
        <p:spPr>
          <a:xfrm>
            <a:off x="1140892" y="3576413"/>
            <a:ext cx="698500" cy="396240"/>
          </a:xfrm>
          <a:prstGeom prst="rect">
            <a:avLst/>
          </a:prstGeom>
          <a:noFill/>
          <a:ln>
            <a:noFill/>
          </a:ln>
        </p:spPr>
        <p:txBody>
          <a:bodyPr vert="horz" wrap="square" lIns="91440" tIns="45720" rIns="91440" bIns="45720" rtlCol="0" anchor="t">
            <a:spAutoFit/>
          </a:bodyPr>
          <a:lstStyle/>
          <a:p>
            <a:pPr algn="ctr"/>
            <a:r>
              <a:rPr kumimoji="1" lang="en-US" altLang="zh-CN" sz="2400">
                <a:ln w="12700">
                  <a:noFill/>
                </a:ln>
                <a:solidFill>
                  <a:srgbClr val="262626">
                    <a:alpha val="100000"/>
                  </a:srgbClr>
                </a:solidFill>
                <a:latin typeface="poppins-bold"/>
                <a:ea typeface="poppins-bold"/>
                <a:cs typeface="poppins-bold"/>
              </a:rPr>
              <a:t>1.</a:t>
            </a:r>
            <a:endParaRPr kumimoji="1" lang="zh-CN" altLang="en-US"/>
          </a:p>
        </p:txBody>
      </p:sp>
      <p:sp>
        <p:nvSpPr>
          <p:cNvPr id="7" name="标题 1"/>
          <p:cNvSpPr txBox="1"/>
          <p:nvPr/>
        </p:nvSpPr>
        <p:spPr>
          <a:xfrm>
            <a:off x="494690" y="2309716"/>
            <a:ext cx="1993444" cy="1340506"/>
          </a:xfrm>
          <a:prstGeom prst="rect">
            <a:avLst/>
          </a:prstGeom>
          <a:noFill/>
          <a:ln>
            <a:noFill/>
          </a:ln>
        </p:spPr>
        <p:txBody>
          <a:bodyPr vert="horz" wrap="square" lIns="0" tIns="0" rIns="0" bIns="0" rtlCol="0" anchor="t"/>
          <a:lstStyle/>
          <a:p>
            <a:pPr algn="ctr"/>
            <a:r>
              <a:rPr kumimoji="1" lang="en-US" altLang="zh-CN" sz="1400" dirty="0" err="1">
                <a:ln w="12700">
                  <a:noFill/>
                </a:ln>
                <a:solidFill>
                  <a:srgbClr val="595959">
                    <a:alpha val="100000"/>
                  </a:srgbClr>
                </a:solidFill>
                <a:latin typeface="Poppins"/>
                <a:ea typeface="Poppins"/>
                <a:cs typeface="Poppins"/>
              </a:rPr>
              <a:t>Monitoreo</a:t>
            </a:r>
            <a:r>
              <a:rPr kumimoji="1" lang="en-US" altLang="zh-CN" sz="1400" dirty="0">
                <a:ln w="12700">
                  <a:noFill/>
                </a:ln>
                <a:solidFill>
                  <a:srgbClr val="595959">
                    <a:alpha val="100000"/>
                  </a:srgbClr>
                </a:solidFill>
                <a:latin typeface="Poppins"/>
                <a:ea typeface="Poppins"/>
                <a:cs typeface="Poppins"/>
              </a:rPr>
              <a:t> de </a:t>
            </a:r>
            <a:r>
              <a:rPr kumimoji="1" lang="en-US" altLang="zh-CN" sz="1400" dirty="0" err="1">
                <a:ln w="12700">
                  <a:noFill/>
                </a:ln>
                <a:solidFill>
                  <a:srgbClr val="595959">
                    <a:alpha val="100000"/>
                  </a:srgbClr>
                </a:solidFill>
                <a:latin typeface="Poppins"/>
                <a:ea typeface="Poppins"/>
                <a:cs typeface="Poppins"/>
              </a:rPr>
              <a:t>eventos</a:t>
            </a:r>
            <a:r>
              <a:rPr kumimoji="1" lang="en-US" altLang="zh-CN" sz="1400" dirty="0">
                <a:ln w="12700">
                  <a:noFill/>
                </a:ln>
                <a:solidFill>
                  <a:srgbClr val="595959">
                    <a:alpha val="100000"/>
                  </a:srgbClr>
                </a:solidFill>
                <a:latin typeface="Poppins"/>
                <a:ea typeface="Poppins"/>
                <a:cs typeface="Poppins"/>
              </a:rPr>
              <a:t> de </a:t>
            </a:r>
            <a:r>
              <a:rPr kumimoji="1" lang="en-US" altLang="zh-CN" sz="1400" dirty="0" err="1">
                <a:ln w="12700">
                  <a:noFill/>
                </a:ln>
                <a:solidFill>
                  <a:srgbClr val="595959">
                    <a:alpha val="100000"/>
                  </a:srgbClr>
                </a:solidFill>
                <a:latin typeface="Poppins"/>
                <a:ea typeface="Poppins"/>
                <a:cs typeface="Poppins"/>
              </a:rPr>
              <a:t>seguridad</a:t>
            </a:r>
            <a:r>
              <a:rPr kumimoji="1" lang="en-US" altLang="zh-CN" sz="1400" dirty="0">
                <a:ln w="12700">
                  <a:noFill/>
                </a:ln>
                <a:solidFill>
                  <a:srgbClr val="595959">
                    <a:alpha val="100000"/>
                  </a:srgbClr>
                </a:solidFill>
                <a:latin typeface="Poppins"/>
                <a:ea typeface="Poppins"/>
                <a:cs typeface="Poppins"/>
              </a:rPr>
              <a:t> (SIEM).</a:t>
            </a:r>
            <a:endParaRPr kumimoji="1" lang="zh-CN" altLang="en-US" dirty="0"/>
          </a:p>
        </p:txBody>
      </p:sp>
      <p:sp>
        <p:nvSpPr>
          <p:cNvPr id="8" name="标题 1"/>
          <p:cNvSpPr txBox="1"/>
          <p:nvPr/>
        </p:nvSpPr>
        <p:spPr>
          <a:xfrm>
            <a:off x="3469706" y="3482600"/>
            <a:ext cx="648000" cy="648000"/>
          </a:xfrm>
          <a:prstGeom prst="ellipse">
            <a:avLst/>
          </a:prstGeom>
          <a:solidFill>
            <a:schemeClr val="bg1"/>
          </a:solidFill>
          <a:ln w="12700" cap="sq">
            <a:noFill/>
            <a:miter/>
          </a:ln>
          <a:effectLst/>
        </p:spPr>
        <p:txBody>
          <a:bodyPr vert="horz" wrap="square" lIns="91440" tIns="45720" rIns="91440" bIns="45720" rtlCol="0" anchor="ctr"/>
          <a:lstStyle/>
          <a:p>
            <a:pPr algn="ctr"/>
            <a:endParaRPr kumimoji="1" lang="zh-CN" altLang="en-US"/>
          </a:p>
        </p:txBody>
      </p:sp>
      <p:sp>
        <p:nvSpPr>
          <p:cNvPr id="9" name="标题 1"/>
          <p:cNvSpPr txBox="1"/>
          <p:nvPr/>
        </p:nvSpPr>
        <p:spPr>
          <a:xfrm>
            <a:off x="3443186" y="3576413"/>
            <a:ext cx="698500" cy="396240"/>
          </a:xfrm>
          <a:prstGeom prst="rect">
            <a:avLst/>
          </a:prstGeom>
          <a:noFill/>
          <a:ln>
            <a:noFill/>
          </a:ln>
        </p:spPr>
        <p:txBody>
          <a:bodyPr vert="horz" wrap="square" lIns="91440" tIns="45720" rIns="91440" bIns="45720" rtlCol="0" anchor="t">
            <a:spAutoFit/>
          </a:bodyPr>
          <a:lstStyle/>
          <a:p>
            <a:pPr algn="ctr"/>
            <a:r>
              <a:rPr kumimoji="1" lang="en-US" altLang="zh-CN" sz="2400">
                <a:ln w="12700">
                  <a:noFill/>
                </a:ln>
                <a:solidFill>
                  <a:srgbClr val="262626">
                    <a:alpha val="100000"/>
                  </a:srgbClr>
                </a:solidFill>
                <a:latin typeface="poppins-bold"/>
                <a:ea typeface="poppins-bold"/>
                <a:cs typeface="poppins-bold"/>
              </a:rPr>
              <a:t>2.</a:t>
            </a:r>
            <a:endParaRPr kumimoji="1" lang="zh-CN" altLang="en-US"/>
          </a:p>
        </p:txBody>
      </p:sp>
      <p:sp>
        <p:nvSpPr>
          <p:cNvPr id="10" name="标题 1"/>
          <p:cNvSpPr txBox="1"/>
          <p:nvPr/>
        </p:nvSpPr>
        <p:spPr>
          <a:xfrm>
            <a:off x="2796984" y="2309716"/>
            <a:ext cx="1993444" cy="1340506"/>
          </a:xfrm>
          <a:prstGeom prst="rect">
            <a:avLst/>
          </a:prstGeom>
          <a:noFill/>
          <a:ln>
            <a:noFill/>
          </a:ln>
        </p:spPr>
        <p:txBody>
          <a:bodyPr vert="horz" wrap="square" lIns="0" tIns="0" rIns="0" bIns="0" rtlCol="0" anchor="t"/>
          <a:lstStyle/>
          <a:p>
            <a:pPr algn="ctr"/>
            <a:r>
              <a:rPr kumimoji="1" lang="en-US" altLang="zh-CN" sz="1400">
                <a:ln w="12700">
                  <a:noFill/>
                </a:ln>
                <a:solidFill>
                  <a:srgbClr val="595959">
                    <a:alpha val="100000"/>
                  </a:srgbClr>
                </a:solidFill>
                <a:latin typeface="Poppins"/>
                <a:ea typeface="Poppins"/>
                <a:cs typeface="Poppins"/>
              </a:rPr>
              <a:t>Gestión de vulnerabilidades.</a:t>
            </a:r>
            <a:endParaRPr kumimoji="1" lang="zh-CN" altLang="en-US"/>
          </a:p>
        </p:txBody>
      </p:sp>
      <p:sp>
        <p:nvSpPr>
          <p:cNvPr id="11" name="标题 1"/>
          <p:cNvSpPr txBox="1"/>
          <p:nvPr/>
        </p:nvSpPr>
        <p:spPr>
          <a:xfrm>
            <a:off x="5772000" y="3482600"/>
            <a:ext cx="648000" cy="648000"/>
          </a:xfrm>
          <a:prstGeom prst="ellipse">
            <a:avLst/>
          </a:prstGeom>
          <a:solidFill>
            <a:schemeClr val="bg1"/>
          </a:solidFill>
          <a:ln w="12700" cap="sq">
            <a:noFill/>
            <a:miter/>
          </a:ln>
          <a:effectLst/>
        </p:spPr>
        <p:txBody>
          <a:bodyPr vert="horz" wrap="square" lIns="91440" tIns="45720" rIns="91440" bIns="45720" rtlCol="0" anchor="ctr"/>
          <a:lstStyle/>
          <a:p>
            <a:pPr algn="ctr"/>
            <a:endParaRPr kumimoji="1" lang="zh-CN" altLang="en-US"/>
          </a:p>
        </p:txBody>
      </p:sp>
      <p:sp>
        <p:nvSpPr>
          <p:cNvPr id="12" name="标题 1"/>
          <p:cNvSpPr txBox="1"/>
          <p:nvPr/>
        </p:nvSpPr>
        <p:spPr>
          <a:xfrm>
            <a:off x="5745480" y="3576413"/>
            <a:ext cx="698500" cy="396240"/>
          </a:xfrm>
          <a:prstGeom prst="rect">
            <a:avLst/>
          </a:prstGeom>
          <a:noFill/>
          <a:ln>
            <a:noFill/>
          </a:ln>
        </p:spPr>
        <p:txBody>
          <a:bodyPr vert="horz" wrap="square" lIns="91440" tIns="45720" rIns="91440" bIns="45720" rtlCol="0" anchor="t">
            <a:spAutoFit/>
          </a:bodyPr>
          <a:lstStyle/>
          <a:p>
            <a:pPr algn="ctr"/>
            <a:r>
              <a:rPr kumimoji="1" lang="en-US" altLang="zh-CN" sz="2400">
                <a:ln w="12700">
                  <a:noFill/>
                </a:ln>
                <a:solidFill>
                  <a:srgbClr val="262626">
                    <a:alpha val="100000"/>
                  </a:srgbClr>
                </a:solidFill>
                <a:latin typeface="poppins-bold"/>
                <a:ea typeface="poppins-bold"/>
                <a:cs typeface="poppins-bold"/>
              </a:rPr>
              <a:t>3.</a:t>
            </a:r>
            <a:endParaRPr kumimoji="1" lang="zh-CN" altLang="en-US"/>
          </a:p>
        </p:txBody>
      </p:sp>
      <p:sp>
        <p:nvSpPr>
          <p:cNvPr id="13" name="标题 1"/>
          <p:cNvSpPr txBox="1"/>
          <p:nvPr/>
        </p:nvSpPr>
        <p:spPr>
          <a:xfrm>
            <a:off x="5099278" y="2309716"/>
            <a:ext cx="1993444" cy="1340506"/>
          </a:xfrm>
          <a:prstGeom prst="rect">
            <a:avLst/>
          </a:prstGeom>
          <a:noFill/>
          <a:ln>
            <a:noFill/>
          </a:ln>
        </p:spPr>
        <p:txBody>
          <a:bodyPr vert="horz" wrap="square" lIns="0" tIns="0" rIns="0" bIns="0" rtlCol="0" anchor="t"/>
          <a:lstStyle/>
          <a:p>
            <a:pPr algn="ctr"/>
            <a:r>
              <a:rPr kumimoji="1" lang="en-US" altLang="zh-CN" sz="1400">
                <a:ln w="12700">
                  <a:noFill/>
                </a:ln>
                <a:solidFill>
                  <a:srgbClr val="595959">
                    <a:alpha val="100000"/>
                  </a:srgbClr>
                </a:solidFill>
                <a:latin typeface="Poppins"/>
                <a:ea typeface="Poppins"/>
                <a:cs typeface="Poppins"/>
              </a:rPr>
              <a:t>Respuesta a incidentes.</a:t>
            </a:r>
            <a:endParaRPr kumimoji="1" lang="zh-CN" altLang="en-US"/>
          </a:p>
        </p:txBody>
      </p:sp>
      <p:sp>
        <p:nvSpPr>
          <p:cNvPr id="14" name="标题 1"/>
          <p:cNvSpPr txBox="1"/>
          <p:nvPr/>
        </p:nvSpPr>
        <p:spPr>
          <a:xfrm>
            <a:off x="8074294" y="3482600"/>
            <a:ext cx="648000" cy="648000"/>
          </a:xfrm>
          <a:prstGeom prst="ellipse">
            <a:avLst/>
          </a:prstGeom>
          <a:solidFill>
            <a:schemeClr val="bg1"/>
          </a:solidFill>
          <a:ln w="12700" cap="sq">
            <a:noFill/>
            <a:miter/>
          </a:ln>
          <a:effectLst/>
        </p:spPr>
        <p:txBody>
          <a:bodyPr vert="horz" wrap="square" lIns="91440" tIns="45720" rIns="91440" bIns="45720" rtlCol="0" anchor="ctr"/>
          <a:lstStyle/>
          <a:p>
            <a:pPr algn="ctr"/>
            <a:endParaRPr kumimoji="1" lang="zh-CN" altLang="en-US"/>
          </a:p>
        </p:txBody>
      </p:sp>
      <p:sp>
        <p:nvSpPr>
          <p:cNvPr id="15" name="标题 1"/>
          <p:cNvSpPr txBox="1"/>
          <p:nvPr/>
        </p:nvSpPr>
        <p:spPr>
          <a:xfrm>
            <a:off x="8047774" y="3576413"/>
            <a:ext cx="698500" cy="396240"/>
          </a:xfrm>
          <a:prstGeom prst="rect">
            <a:avLst/>
          </a:prstGeom>
          <a:noFill/>
          <a:ln>
            <a:noFill/>
          </a:ln>
        </p:spPr>
        <p:txBody>
          <a:bodyPr vert="horz" wrap="square" lIns="91440" tIns="45720" rIns="91440" bIns="45720" rtlCol="0" anchor="t">
            <a:spAutoFit/>
          </a:bodyPr>
          <a:lstStyle/>
          <a:p>
            <a:pPr algn="ctr"/>
            <a:r>
              <a:rPr kumimoji="1" lang="en-US" altLang="zh-CN" sz="2400">
                <a:ln w="12700">
                  <a:noFill/>
                </a:ln>
                <a:solidFill>
                  <a:srgbClr val="262626">
                    <a:alpha val="100000"/>
                  </a:srgbClr>
                </a:solidFill>
                <a:latin typeface="poppins-bold"/>
                <a:ea typeface="poppins-bold"/>
                <a:cs typeface="poppins-bold"/>
              </a:rPr>
              <a:t>4.</a:t>
            </a:r>
            <a:endParaRPr kumimoji="1" lang="zh-CN" altLang="en-US"/>
          </a:p>
        </p:txBody>
      </p:sp>
      <p:sp>
        <p:nvSpPr>
          <p:cNvPr id="16" name="标题 1"/>
          <p:cNvSpPr txBox="1"/>
          <p:nvPr/>
        </p:nvSpPr>
        <p:spPr>
          <a:xfrm>
            <a:off x="7401572" y="2309716"/>
            <a:ext cx="1993444" cy="1340506"/>
          </a:xfrm>
          <a:prstGeom prst="rect">
            <a:avLst/>
          </a:prstGeom>
          <a:noFill/>
          <a:ln>
            <a:noFill/>
          </a:ln>
        </p:spPr>
        <p:txBody>
          <a:bodyPr vert="horz" wrap="square" lIns="0" tIns="0" rIns="0" bIns="0" rtlCol="0" anchor="t"/>
          <a:lstStyle/>
          <a:p>
            <a:pPr algn="ctr"/>
            <a:r>
              <a:rPr kumimoji="1" lang="en-US" altLang="zh-CN" sz="1400">
                <a:ln w="12700">
                  <a:noFill/>
                </a:ln>
                <a:solidFill>
                  <a:srgbClr val="595959">
                    <a:alpha val="100000"/>
                  </a:srgbClr>
                </a:solidFill>
                <a:latin typeface="Poppins"/>
                <a:ea typeface="Poppins"/>
                <a:cs typeface="Poppins"/>
              </a:rPr>
              <a:t>Administración de firewalls y sistemas de detección de intrusos (IDS/IPS).</a:t>
            </a:r>
            <a:endParaRPr kumimoji="1" lang="zh-CN" altLang="en-US"/>
          </a:p>
        </p:txBody>
      </p:sp>
      <p:sp>
        <p:nvSpPr>
          <p:cNvPr id="17" name="标题 1"/>
          <p:cNvSpPr txBox="1"/>
          <p:nvPr/>
        </p:nvSpPr>
        <p:spPr>
          <a:xfrm>
            <a:off x="9703866" y="2309716"/>
            <a:ext cx="1993444" cy="1340506"/>
          </a:xfrm>
          <a:prstGeom prst="rect">
            <a:avLst/>
          </a:prstGeom>
          <a:noFill/>
          <a:ln>
            <a:noFill/>
          </a:ln>
        </p:spPr>
        <p:txBody>
          <a:bodyPr vert="horz" wrap="square" lIns="0" tIns="0" rIns="0" bIns="0" rtlCol="0" anchor="t"/>
          <a:lstStyle/>
          <a:p>
            <a:pPr algn="ctr"/>
            <a:r>
              <a:rPr kumimoji="1" lang="en-US" altLang="zh-CN" sz="1400">
                <a:ln w="12700">
                  <a:noFill/>
                </a:ln>
                <a:solidFill>
                  <a:srgbClr val="595959">
                    <a:alpha val="100000"/>
                  </a:srgbClr>
                </a:solidFill>
                <a:latin typeface="Poppins"/>
                <a:ea typeface="Poppins"/>
                <a:cs typeface="Poppins"/>
              </a:rPr>
              <a:t>Auditorías de seguridad.</a:t>
            </a:r>
            <a:endParaRPr kumimoji="1" lang="zh-CN" altLang="en-US"/>
          </a:p>
        </p:txBody>
      </p:sp>
      <p:sp>
        <p:nvSpPr>
          <p:cNvPr id="18" name="标题 1"/>
          <p:cNvSpPr txBox="1"/>
          <p:nvPr/>
        </p:nvSpPr>
        <p:spPr>
          <a:xfrm>
            <a:off x="10376588" y="3482600"/>
            <a:ext cx="648000" cy="648000"/>
          </a:xfrm>
          <a:prstGeom prst="ellipse">
            <a:avLst/>
          </a:prstGeom>
          <a:solidFill>
            <a:schemeClr val="bg1"/>
          </a:solidFill>
          <a:ln w="12700" cap="sq">
            <a:noFill/>
            <a:miter/>
          </a:ln>
          <a:effectLst/>
        </p:spPr>
        <p:txBody>
          <a:bodyPr vert="horz" wrap="square" lIns="91440" tIns="45720" rIns="91440" bIns="45720" rtlCol="0" anchor="ctr"/>
          <a:lstStyle/>
          <a:p>
            <a:pPr algn="ctr"/>
            <a:endParaRPr kumimoji="1" lang="zh-CN" altLang="en-US"/>
          </a:p>
        </p:txBody>
      </p:sp>
      <p:sp>
        <p:nvSpPr>
          <p:cNvPr id="19" name="标题 1"/>
          <p:cNvSpPr txBox="1"/>
          <p:nvPr/>
        </p:nvSpPr>
        <p:spPr>
          <a:xfrm>
            <a:off x="10350068" y="3576413"/>
            <a:ext cx="698500" cy="396240"/>
          </a:xfrm>
          <a:prstGeom prst="rect">
            <a:avLst/>
          </a:prstGeom>
          <a:noFill/>
          <a:ln>
            <a:noFill/>
          </a:ln>
        </p:spPr>
        <p:txBody>
          <a:bodyPr vert="horz" wrap="square" lIns="91440" tIns="45720" rIns="91440" bIns="45720" rtlCol="0" anchor="t">
            <a:spAutoFit/>
          </a:bodyPr>
          <a:lstStyle/>
          <a:p>
            <a:pPr algn="ctr"/>
            <a:r>
              <a:rPr kumimoji="1" lang="en-US" altLang="zh-CN" sz="2400">
                <a:ln w="12700">
                  <a:noFill/>
                </a:ln>
                <a:solidFill>
                  <a:srgbClr val="262626">
                    <a:alpha val="100000"/>
                  </a:srgbClr>
                </a:solidFill>
                <a:latin typeface="poppins-bold"/>
                <a:ea typeface="poppins-bold"/>
                <a:cs typeface="poppins-bold"/>
              </a:rPr>
              <a:t>5.</a:t>
            </a:r>
            <a:endParaRPr kumimoji="1" lang="zh-CN" altLang="en-US"/>
          </a:p>
        </p:txBody>
      </p:sp>
      <p:sp>
        <p:nvSpPr>
          <p:cNvPr id="20" name="标题 1"/>
          <p:cNvSpPr txBox="1"/>
          <p:nvPr/>
        </p:nvSpPr>
        <p:spPr>
          <a:xfrm>
            <a:off x="452878" y="334470"/>
            <a:ext cx="8171180" cy="655320"/>
          </a:xfrm>
          <a:prstGeom prst="roundRect">
            <a:avLst>
              <a:gd name="adj" fmla="val 50000"/>
            </a:avLst>
          </a:prstGeom>
          <a:gradFill>
            <a:gsLst>
              <a:gs pos="0">
                <a:schemeClr val="accent1">
                  <a:lumMod val="20000"/>
                  <a:lumOff val="80000"/>
                </a:schemeClr>
              </a:gs>
              <a:gs pos="80000">
                <a:schemeClr val="accent1">
                  <a:lumMod val="20000"/>
                  <a:lumOff val="80000"/>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1" name="标题 1"/>
          <p:cNvSpPr txBox="1"/>
          <p:nvPr/>
        </p:nvSpPr>
        <p:spPr>
          <a:xfrm>
            <a:off x="783617"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Especialistas en Seguridad (SOC/Ciberseguridad)</a:t>
            </a:r>
            <a:endParaRPr kumimoji="1" lang="zh-CN" altLang="en-US"/>
          </a:p>
        </p:txBody>
      </p:sp>
      <p:pic>
        <p:nvPicPr>
          <p:cNvPr id="22" name="Imagen 21">
            <a:extLst>
              <a:ext uri="{FF2B5EF4-FFF2-40B4-BE49-F238E27FC236}">
                <a16:creationId xmlns:a16="http://schemas.microsoft.com/office/drawing/2014/main" id="{31C7CB7D-DAEE-4102-5442-7D587CA62D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660400" y="2117774"/>
            <a:ext cx="10816976" cy="4016326"/>
          </a:xfrm>
          <a:custGeom>
            <a:avLst/>
            <a:gdLst>
              <a:gd name="connsiteX0" fmla="*/ 0 w 10816976"/>
              <a:gd name="connsiteY0" fmla="*/ 3260407 h 5555534"/>
              <a:gd name="connsiteX1" fmla="*/ 0 w 10816976"/>
              <a:gd name="connsiteY1" fmla="*/ 5555535 h 5555534"/>
              <a:gd name="connsiteX2" fmla="*/ 10816976 w 10816976"/>
              <a:gd name="connsiteY2" fmla="*/ 5555535 h 5555534"/>
              <a:gd name="connsiteX3" fmla="*/ 10816976 w 10816976"/>
              <a:gd name="connsiteY3" fmla="*/ 0 h 5555534"/>
              <a:gd name="connsiteX4" fmla="*/ 0 w 10816976"/>
              <a:gd name="connsiteY4" fmla="*/ 3260407 h 5555534"/>
            </a:gdLst>
            <a:ahLst/>
            <a:cxnLst/>
            <a:rect l="l" t="t" r="r" b="b"/>
            <a:pathLst>
              <a:path w="10816976" h="5555534">
                <a:moveTo>
                  <a:pt x="0" y="3260407"/>
                </a:moveTo>
                <a:lnTo>
                  <a:pt x="0" y="5555535"/>
                </a:lnTo>
                <a:lnTo>
                  <a:pt x="10816976" y="5555535"/>
                </a:lnTo>
                <a:cubicBezTo>
                  <a:pt x="10816976" y="5555535"/>
                  <a:pt x="10816976" y="1300849"/>
                  <a:pt x="10816976" y="0"/>
                </a:cubicBezTo>
                <a:cubicBezTo>
                  <a:pt x="7367032" y="2618268"/>
                  <a:pt x="3276928" y="3260407"/>
                  <a:pt x="0" y="3260407"/>
                </a:cubicBezTo>
                <a:close/>
              </a:path>
            </a:pathLst>
          </a:custGeom>
          <a:gradFill>
            <a:gsLst>
              <a:gs pos="0">
                <a:schemeClr val="bg1"/>
              </a:gs>
              <a:gs pos="90000">
                <a:schemeClr val="bg1">
                  <a:lumMod val="95000"/>
                </a:schemeClr>
              </a:gs>
            </a:gsLst>
            <a:lin ang="16800000" scaled="0"/>
          </a:gradFill>
          <a:ln w="6921" cap="flat">
            <a:noFill/>
            <a:miter/>
          </a:ln>
        </p:spPr>
        <p:txBody>
          <a:bodyPr vert="horz" wrap="square" lIns="91440" tIns="45720" rIns="91440" bIns="45720" rtlCol="0" anchor="ctr"/>
          <a:lstStyle/>
          <a:p>
            <a:pPr algn="l"/>
            <a:endParaRPr kumimoji="1" lang="zh-CN" altLang="en-US"/>
          </a:p>
        </p:txBody>
      </p:sp>
      <p:sp>
        <p:nvSpPr>
          <p:cNvPr id="4" name="标题 1"/>
          <p:cNvSpPr txBox="1"/>
          <p:nvPr/>
        </p:nvSpPr>
        <p:spPr>
          <a:xfrm>
            <a:off x="660400" y="1899138"/>
            <a:ext cx="10858500" cy="2575725"/>
          </a:xfrm>
          <a:custGeom>
            <a:avLst/>
            <a:gdLst>
              <a:gd name="connsiteX0" fmla="*/ 10858500 w 10858500"/>
              <a:gd name="connsiteY0" fmla="*/ 0 h 3562841"/>
              <a:gd name="connsiteX1" fmla="*/ 0 w 10858500"/>
              <a:gd name="connsiteY1" fmla="*/ 3562834 h 3562841"/>
              <a:gd name="connsiteX2" fmla="*/ 10342912 w 10858500"/>
              <a:gd name="connsiteY2" fmla="*/ 368712 h 3562841"/>
              <a:gd name="connsiteX3" fmla="*/ 10197578 w 10858500"/>
              <a:gd name="connsiteY3" fmla="*/ 128428 h 3562841"/>
              <a:gd name="connsiteX4" fmla="*/ 10858500 w 10858500"/>
              <a:gd name="connsiteY4" fmla="*/ 0 h 3562841"/>
            </a:gdLst>
            <a:ahLst/>
            <a:cxnLst/>
            <a:rect l="l" t="t" r="r" b="b"/>
            <a:pathLst>
              <a:path w="10858500" h="3562841">
                <a:moveTo>
                  <a:pt x="10858500" y="0"/>
                </a:moveTo>
                <a:cubicBezTo>
                  <a:pt x="9232147" y="1988558"/>
                  <a:pt x="5366964" y="3566976"/>
                  <a:pt x="0" y="3562834"/>
                </a:cubicBezTo>
                <a:cubicBezTo>
                  <a:pt x="3993215" y="3455120"/>
                  <a:pt x="8034875" y="2543697"/>
                  <a:pt x="10342912" y="368712"/>
                </a:cubicBezTo>
                <a:cubicBezTo>
                  <a:pt x="10280626" y="269284"/>
                  <a:pt x="10197578" y="128428"/>
                  <a:pt x="10197578" y="128428"/>
                </a:cubicBezTo>
                <a:lnTo>
                  <a:pt x="10858500" y="0"/>
                </a:lnTo>
                <a:close/>
              </a:path>
            </a:pathLst>
          </a:custGeom>
          <a:gradFill>
            <a:gsLst>
              <a:gs pos="10000">
                <a:schemeClr val="accent1">
                  <a:lumMod val="40000"/>
                  <a:lumOff val="60000"/>
                </a:schemeClr>
              </a:gs>
              <a:gs pos="90000">
                <a:schemeClr val="accent1"/>
              </a:gs>
            </a:gsLst>
            <a:lin ang="0" scaled="0"/>
          </a:gradFill>
          <a:ln w="6921" cap="flat">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618876" y="1346692"/>
            <a:ext cx="7376958" cy="1344022"/>
          </a:xfrm>
          <a:prstGeom prst="rect">
            <a:avLst/>
          </a:prstGeom>
          <a:noFill/>
          <a:ln>
            <a:noFill/>
          </a:ln>
        </p:spPr>
        <p:txBody>
          <a:bodyPr vert="horz" wrap="square" lIns="0" tIns="0" rIns="0" bIns="0" rtlCol="0" anchor="ctr"/>
          <a:lstStyle/>
          <a:p>
            <a:r>
              <a:rPr kumimoji="1" lang="en-US" altLang="zh-CN" sz="1600" dirty="0" err="1">
                <a:ln w="12700">
                  <a:noFill/>
                </a:ln>
                <a:solidFill>
                  <a:srgbClr val="262626">
                    <a:alpha val="100000"/>
                  </a:srgbClr>
                </a:solidFill>
                <a:latin typeface="poppins-bold"/>
                <a:ea typeface="poppins-bold"/>
                <a:cs typeface="poppins-bold"/>
              </a:rPr>
              <a:t>Función</a:t>
            </a:r>
            <a:r>
              <a:rPr kumimoji="1" lang="en-US" altLang="zh-CN" sz="1600" dirty="0">
                <a:ln w="12700">
                  <a:noFill/>
                </a:ln>
                <a:solidFill>
                  <a:srgbClr val="262626">
                    <a:alpha val="100000"/>
                  </a:srgbClr>
                </a:solidFill>
                <a:latin typeface="poppins-bold"/>
                <a:ea typeface="poppins-bold"/>
                <a:cs typeface="poppins-bold"/>
              </a:rPr>
              <a:t> y </a:t>
            </a:r>
            <a:r>
              <a:rPr kumimoji="1" lang="en-US" altLang="zh-CN" sz="1600" dirty="0" err="1">
                <a:ln w="12700">
                  <a:noFill/>
                </a:ln>
                <a:solidFill>
                  <a:srgbClr val="262626">
                    <a:alpha val="100000"/>
                  </a:srgbClr>
                </a:solidFill>
                <a:latin typeface="poppins-bold"/>
                <a:ea typeface="poppins-bold"/>
                <a:cs typeface="poppins-bold"/>
              </a:rPr>
              <a:t>Responsabilidades</a:t>
            </a:r>
            <a:r>
              <a:rPr kumimoji="1" lang="en-US" altLang="zh-CN" sz="1600" dirty="0">
                <a:ln w="12700">
                  <a:noFill/>
                </a:ln>
                <a:solidFill>
                  <a:srgbClr val="262626">
                    <a:alpha val="100000"/>
                  </a:srgbClr>
                </a:solidFill>
                <a:latin typeface="poppins-bold"/>
                <a:ea typeface="poppins-bold"/>
                <a:cs typeface="poppins-bold"/>
              </a:rPr>
              <a:t>: </a:t>
            </a:r>
            <a:r>
              <a:rPr lang="es-EC" dirty="0"/>
              <a:t>La primera línea de defensa y monitoreo (a menudo 24/7).</a:t>
            </a:r>
          </a:p>
          <a:p>
            <a:pPr algn="l"/>
            <a:endParaRPr kumimoji="1" lang="zh-CN" altLang="en-US" dirty="0"/>
          </a:p>
        </p:txBody>
      </p:sp>
      <p:sp>
        <p:nvSpPr>
          <p:cNvPr id="6" name="标题 1"/>
          <p:cNvSpPr txBox="1"/>
          <p:nvPr/>
        </p:nvSpPr>
        <p:spPr>
          <a:xfrm>
            <a:off x="1574428" y="4366640"/>
            <a:ext cx="151945" cy="151945"/>
          </a:xfrm>
          <a:prstGeom prst="ellipse">
            <a:avLst/>
          </a:prstGeom>
          <a:solidFill>
            <a:schemeClr val="accent1"/>
          </a:solidFill>
          <a:ln w="25400" cap="sq">
            <a:solidFill>
              <a:schemeClr val="bg1"/>
            </a:solidFill>
            <a:miter/>
          </a:ln>
          <a:effectLst/>
        </p:spPr>
        <p:txBody>
          <a:bodyPr vert="horz" wrap="square" lIns="91440" tIns="45720" rIns="91440" bIns="45720" rtlCol="0" anchor="ctr"/>
          <a:lstStyle/>
          <a:p>
            <a:pPr algn="ctr"/>
            <a:endParaRPr kumimoji="1" lang="zh-CN" altLang="en-US"/>
          </a:p>
        </p:txBody>
      </p:sp>
      <p:sp>
        <p:nvSpPr>
          <p:cNvPr id="7" name="标题 1"/>
          <p:cNvSpPr txBox="1"/>
          <p:nvPr/>
        </p:nvSpPr>
        <p:spPr>
          <a:xfrm>
            <a:off x="660400" y="4709129"/>
            <a:ext cx="1980000" cy="1100879"/>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Monitoreo proactivo de alertas (servidores, redes, clima).</a:t>
            </a:r>
            <a:endParaRPr kumimoji="1" lang="zh-CN" altLang="en-US"/>
          </a:p>
        </p:txBody>
      </p:sp>
      <p:sp>
        <p:nvSpPr>
          <p:cNvPr id="8" name="标题 1"/>
          <p:cNvSpPr txBox="1"/>
          <p:nvPr/>
        </p:nvSpPr>
        <p:spPr>
          <a:xfrm>
            <a:off x="4362908" y="4167286"/>
            <a:ext cx="151945" cy="151945"/>
          </a:xfrm>
          <a:prstGeom prst="ellipse">
            <a:avLst/>
          </a:prstGeom>
          <a:solidFill>
            <a:schemeClr val="accent1"/>
          </a:solidFill>
          <a:ln w="25400" cap="sq">
            <a:solidFill>
              <a:schemeClr val="bg1"/>
            </a:solidFill>
            <a:miter/>
          </a:ln>
          <a:effectLst/>
        </p:spPr>
        <p:txBody>
          <a:bodyPr vert="horz" wrap="square" lIns="91440" tIns="45720" rIns="91440" bIns="45720" rtlCol="0" anchor="ctr"/>
          <a:lstStyle/>
          <a:p>
            <a:pPr algn="ctr"/>
            <a:endParaRPr kumimoji="1" lang="zh-CN" altLang="en-US"/>
          </a:p>
        </p:txBody>
      </p:sp>
      <p:sp>
        <p:nvSpPr>
          <p:cNvPr id="9" name="标题 1"/>
          <p:cNvSpPr txBox="1"/>
          <p:nvPr/>
        </p:nvSpPr>
        <p:spPr>
          <a:xfrm>
            <a:off x="3448880" y="4533220"/>
            <a:ext cx="1980000" cy="1100879"/>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Ejecución de tareas programadas (batch).</a:t>
            </a:r>
            <a:endParaRPr kumimoji="1" lang="zh-CN" altLang="en-US"/>
          </a:p>
        </p:txBody>
      </p:sp>
      <p:sp>
        <p:nvSpPr>
          <p:cNvPr id="10" name="标题 1"/>
          <p:cNvSpPr txBox="1"/>
          <p:nvPr/>
        </p:nvSpPr>
        <p:spPr>
          <a:xfrm>
            <a:off x="7151388" y="3658820"/>
            <a:ext cx="151945" cy="151945"/>
          </a:xfrm>
          <a:prstGeom prst="ellipse">
            <a:avLst/>
          </a:prstGeom>
          <a:solidFill>
            <a:schemeClr val="accent1"/>
          </a:solidFill>
          <a:ln w="25400" cap="sq">
            <a:solidFill>
              <a:schemeClr val="bg1"/>
            </a:solidFill>
            <a:miter/>
          </a:ln>
          <a:effectLst/>
        </p:spPr>
        <p:txBody>
          <a:bodyPr vert="horz" wrap="square" lIns="91440" tIns="45720" rIns="91440" bIns="45720" rtlCol="0" anchor="ctr"/>
          <a:lstStyle/>
          <a:p>
            <a:pPr algn="ctr"/>
            <a:endParaRPr kumimoji="1" lang="zh-CN" altLang="en-US"/>
          </a:p>
        </p:txBody>
      </p:sp>
      <p:sp>
        <p:nvSpPr>
          <p:cNvPr id="11" name="标题 1"/>
          <p:cNvSpPr txBox="1"/>
          <p:nvPr/>
        </p:nvSpPr>
        <p:spPr>
          <a:xfrm>
            <a:off x="6237360" y="4149799"/>
            <a:ext cx="1980000" cy="1100879"/>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Gestión de incidentes de Nivel 1.</a:t>
            </a:r>
            <a:endParaRPr kumimoji="1" lang="zh-CN" altLang="en-US"/>
          </a:p>
        </p:txBody>
      </p:sp>
      <p:sp>
        <p:nvSpPr>
          <p:cNvPr id="12" name="标题 1"/>
          <p:cNvSpPr txBox="1"/>
          <p:nvPr/>
        </p:nvSpPr>
        <p:spPr>
          <a:xfrm>
            <a:off x="9911515" y="2733818"/>
            <a:ext cx="151945" cy="151945"/>
          </a:xfrm>
          <a:prstGeom prst="ellipse">
            <a:avLst/>
          </a:prstGeom>
          <a:solidFill>
            <a:schemeClr val="accent1"/>
          </a:solidFill>
          <a:ln w="25400" cap="sq">
            <a:solidFill>
              <a:schemeClr val="bg1"/>
            </a:solidFill>
            <a:miter/>
          </a:ln>
          <a:effectLst/>
        </p:spPr>
        <p:txBody>
          <a:bodyPr vert="horz" wrap="square" lIns="91440" tIns="45720" rIns="91440" bIns="45720" rtlCol="0" anchor="ctr"/>
          <a:lstStyle/>
          <a:p>
            <a:pPr algn="ctr"/>
            <a:endParaRPr kumimoji="1" lang="zh-CN" altLang="en-US"/>
          </a:p>
        </p:txBody>
      </p:sp>
      <p:sp>
        <p:nvSpPr>
          <p:cNvPr id="13" name="标题 1"/>
          <p:cNvSpPr txBox="1"/>
          <p:nvPr/>
        </p:nvSpPr>
        <p:spPr>
          <a:xfrm>
            <a:off x="8997487" y="3451446"/>
            <a:ext cx="1980000" cy="1100879"/>
          </a:xfrm>
          <a:prstGeom prst="rect">
            <a:avLst/>
          </a:prstGeom>
          <a:noFill/>
          <a:ln>
            <a:noFill/>
          </a:ln>
        </p:spPr>
        <p:txBody>
          <a:bodyPr vert="horz" wrap="square" lIns="0" tIns="0" rIns="0" bIns="0" rtlCol="0" anchor="t"/>
          <a:lstStyle/>
          <a:p>
            <a:pPr algn="l"/>
            <a:r>
              <a:rPr kumimoji="1" lang="en-US" altLang="zh-CN" sz="1148">
                <a:ln w="12700">
                  <a:noFill/>
                </a:ln>
                <a:solidFill>
                  <a:srgbClr val="262626">
                    <a:alpha val="100000"/>
                  </a:srgbClr>
                </a:solidFill>
                <a:latin typeface="Poppins"/>
                <a:ea typeface="Poppins"/>
                <a:cs typeface="Poppins"/>
              </a:rPr>
              <a:t>Escalamiento a los equipos especializados (SysAdmins, NetAdmins).</a:t>
            </a:r>
            <a:endParaRPr kumimoji="1" lang="zh-CN" altLang="en-US"/>
          </a:p>
        </p:txBody>
      </p:sp>
      <p:sp>
        <p:nvSpPr>
          <p:cNvPr id="14" name="标题 1"/>
          <p:cNvSpPr txBox="1"/>
          <p:nvPr/>
        </p:nvSpPr>
        <p:spPr>
          <a:xfrm>
            <a:off x="452878" y="334470"/>
            <a:ext cx="8171180" cy="655320"/>
          </a:xfrm>
          <a:prstGeom prst="roundRect">
            <a:avLst>
              <a:gd name="adj" fmla="val 50000"/>
            </a:avLst>
          </a:prstGeom>
          <a:gradFill>
            <a:gsLst>
              <a:gs pos="0">
                <a:schemeClr val="accent1">
                  <a:lumMod val="20000"/>
                  <a:lumOff val="80000"/>
                </a:schemeClr>
              </a:gs>
              <a:gs pos="80000">
                <a:schemeClr val="accent1">
                  <a:lumMod val="20000"/>
                  <a:lumOff val="80000"/>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783617" y="467040"/>
            <a:ext cx="10671175" cy="468000"/>
          </a:xfrm>
          <a:prstGeom prst="rect">
            <a:avLst/>
          </a:prstGeom>
          <a:noFill/>
          <a:ln>
            <a:noFill/>
          </a:ln>
        </p:spPr>
        <p:txBody>
          <a:bodyPr vert="horz" wrap="square" lIns="0" tIns="0" rIns="0" bIns="0" rtlCol="0" anchor="ctr"/>
          <a:lstStyle/>
          <a:p>
            <a:pPr algn="l"/>
            <a:r>
              <a:rPr kumimoji="1" lang="en-US" altLang="zh-CN" sz="2094">
                <a:ln w="12700">
                  <a:noFill/>
                </a:ln>
                <a:solidFill>
                  <a:srgbClr val="262626">
                    <a:alpha val="100000"/>
                  </a:srgbClr>
                </a:solidFill>
                <a:latin typeface="poppins-bold"/>
                <a:ea typeface="poppins-bold"/>
                <a:cs typeface="poppins-bold"/>
              </a:rPr>
              <a:t>Operadores de NOC (Network Operations Center) / Operadores de Consola</a:t>
            </a:r>
            <a:endParaRPr kumimoji="1"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783749" y="2100321"/>
            <a:ext cx="540001" cy="540000"/>
          </a:xfrm>
          <a:prstGeom prst="rect">
            <a:avLst/>
          </a:prstGeom>
          <a:solidFill>
            <a:schemeClr val="accent1"/>
          </a:solidFill>
          <a:ln w="12700" cap="sq">
            <a:noFill/>
            <a:miter/>
          </a:ln>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4801749" y="2244321"/>
            <a:ext cx="504000" cy="252000"/>
          </a:xfrm>
          <a:prstGeom prst="rect">
            <a:avLst/>
          </a:prstGeom>
          <a:noFill/>
          <a:ln w="12700" cap="sq">
            <a:noFill/>
            <a:miter/>
          </a:ln>
        </p:spPr>
        <p:txBody>
          <a:bodyPr vert="horz" wrap="square" lIns="0" tIns="0" rIns="0" bIns="0" rtlCol="0" anchor="ctr"/>
          <a:lstStyle/>
          <a:p>
            <a:pPr algn="ctr"/>
            <a:r>
              <a:rPr kumimoji="1" lang="en-US" altLang="zh-CN" sz="1800">
                <a:ln w="12700">
                  <a:noFill/>
                </a:ln>
                <a:solidFill>
                  <a:srgbClr val="FFFFFF">
                    <a:alpha val="100000"/>
                  </a:srgbClr>
                </a:solidFill>
                <a:latin typeface="poppins-bold"/>
                <a:ea typeface="poppins-bold"/>
                <a:cs typeface="poppins-bold"/>
              </a:rPr>
              <a:t>01</a:t>
            </a:r>
            <a:endParaRPr kumimoji="1" lang="zh-CN" altLang="en-US"/>
          </a:p>
        </p:txBody>
      </p:sp>
      <p:sp>
        <p:nvSpPr>
          <p:cNvPr id="5" name="标题 1"/>
          <p:cNvSpPr txBox="1"/>
          <p:nvPr/>
        </p:nvSpPr>
        <p:spPr>
          <a:xfrm>
            <a:off x="5470900" y="2100321"/>
            <a:ext cx="6048000" cy="720000"/>
          </a:xfrm>
          <a:prstGeom prst="rect">
            <a:avLst/>
          </a:prstGeom>
          <a:noFill/>
          <a:ln>
            <a:noFill/>
          </a:ln>
        </p:spPr>
        <p:txBody>
          <a:bodyPr vert="horz" wrap="square" lIns="0" tIns="0" rIns="0" bIns="0" rtlCol="0" anchor="t"/>
          <a:lstStyle/>
          <a:p>
            <a:pPr algn="l"/>
            <a:r>
              <a:rPr kumimoji="1" lang="en-US" altLang="zh-CN" sz="1200">
                <a:ln w="12700">
                  <a:noFill/>
                </a:ln>
                <a:solidFill>
                  <a:srgbClr val="262626">
                    <a:alpha val="100000"/>
                  </a:srgbClr>
                </a:solidFill>
                <a:latin typeface="Poppins"/>
                <a:ea typeface="Poppins"/>
                <a:cs typeface="Poppins"/>
              </a:rPr>
              <a:t>Cableado estructurado (cobre y fibra).</a:t>
            </a:r>
            <a:endParaRPr kumimoji="1" lang="zh-CN" altLang="en-US"/>
          </a:p>
        </p:txBody>
      </p:sp>
      <p:sp>
        <p:nvSpPr>
          <p:cNvPr id="6" name="标题 1"/>
          <p:cNvSpPr txBox="1"/>
          <p:nvPr/>
        </p:nvSpPr>
        <p:spPr>
          <a:xfrm>
            <a:off x="4783749" y="2928767"/>
            <a:ext cx="540001" cy="540000"/>
          </a:xfrm>
          <a:prstGeom prst="rect">
            <a:avLst/>
          </a:prstGeom>
          <a:solidFill>
            <a:schemeClr val="accent2"/>
          </a:solidFill>
          <a:ln w="12700" cap="sq">
            <a:noFill/>
            <a:miter/>
          </a:ln>
          <a:effectLst/>
        </p:spPr>
        <p:txBody>
          <a:bodyPr vert="horz" wrap="square" lIns="91440" tIns="45720" rIns="91440" bIns="45720" rtlCol="0" anchor="ctr"/>
          <a:lstStyle/>
          <a:p>
            <a:pPr algn="ctr"/>
            <a:endParaRPr kumimoji="1" lang="zh-CN" altLang="en-US"/>
          </a:p>
        </p:txBody>
      </p:sp>
      <p:sp>
        <p:nvSpPr>
          <p:cNvPr id="7" name="标题 1"/>
          <p:cNvSpPr txBox="1"/>
          <p:nvPr/>
        </p:nvSpPr>
        <p:spPr>
          <a:xfrm>
            <a:off x="4801749" y="3072767"/>
            <a:ext cx="504000" cy="252000"/>
          </a:xfrm>
          <a:prstGeom prst="rect">
            <a:avLst/>
          </a:prstGeom>
          <a:noFill/>
          <a:ln w="12700" cap="sq">
            <a:noFill/>
            <a:miter/>
          </a:ln>
        </p:spPr>
        <p:txBody>
          <a:bodyPr vert="horz" wrap="square" lIns="0" tIns="0" rIns="0" bIns="0" rtlCol="0" anchor="ctr"/>
          <a:lstStyle/>
          <a:p>
            <a:pPr algn="ctr"/>
            <a:r>
              <a:rPr kumimoji="1" lang="en-US" altLang="zh-CN" sz="1800">
                <a:ln w="12700">
                  <a:noFill/>
                </a:ln>
                <a:solidFill>
                  <a:srgbClr val="FFFFFF">
                    <a:alpha val="100000"/>
                  </a:srgbClr>
                </a:solidFill>
                <a:latin typeface="poppins-bold"/>
                <a:ea typeface="poppins-bold"/>
                <a:cs typeface="poppins-bold"/>
              </a:rPr>
              <a:t>02</a:t>
            </a:r>
            <a:endParaRPr kumimoji="1" lang="zh-CN" altLang="en-US"/>
          </a:p>
        </p:txBody>
      </p:sp>
      <p:sp>
        <p:nvSpPr>
          <p:cNvPr id="8" name="标题 1"/>
          <p:cNvSpPr txBox="1"/>
          <p:nvPr/>
        </p:nvSpPr>
        <p:spPr>
          <a:xfrm>
            <a:off x="5470900" y="2928766"/>
            <a:ext cx="6048000" cy="720000"/>
          </a:xfrm>
          <a:prstGeom prst="rect">
            <a:avLst/>
          </a:prstGeom>
          <a:noFill/>
          <a:ln>
            <a:noFill/>
          </a:ln>
        </p:spPr>
        <p:txBody>
          <a:bodyPr vert="horz" wrap="square" lIns="0" tIns="0" rIns="0" bIns="0" rtlCol="0" anchor="t"/>
          <a:lstStyle/>
          <a:p>
            <a:pPr algn="l"/>
            <a:r>
              <a:rPr kumimoji="1" lang="en-US" altLang="zh-CN" sz="1200">
                <a:ln w="12700">
                  <a:noFill/>
                </a:ln>
                <a:solidFill>
                  <a:srgbClr val="262626">
                    <a:alpha val="100000"/>
                  </a:srgbClr>
                </a:solidFill>
                <a:latin typeface="Poppins"/>
                <a:ea typeface="Poppins"/>
                <a:cs typeface="Poppins"/>
              </a:rPr>
              <a:t>Instalación física de equipos (racking &amp; stacking).</a:t>
            </a:r>
            <a:endParaRPr kumimoji="1" lang="zh-CN" altLang="en-US"/>
          </a:p>
        </p:txBody>
      </p:sp>
      <p:sp>
        <p:nvSpPr>
          <p:cNvPr id="9" name="标题 1"/>
          <p:cNvSpPr txBox="1"/>
          <p:nvPr/>
        </p:nvSpPr>
        <p:spPr>
          <a:xfrm>
            <a:off x="4719642" y="1130302"/>
            <a:ext cx="6735150" cy="808990"/>
          </a:xfrm>
          <a:prstGeom prst="rect">
            <a:avLst/>
          </a:prstGeom>
          <a:noFill/>
          <a:ln>
            <a:noFill/>
          </a:ln>
        </p:spPr>
        <p:txBody>
          <a:bodyPr vert="horz" wrap="square" lIns="0" tIns="0" rIns="0" bIns="0" rtlCol="0" anchor="t"/>
          <a:lstStyle/>
          <a:p>
            <a:r>
              <a:rPr kumimoji="1" lang="en-US" altLang="zh-CN" sz="1600" dirty="0" err="1">
                <a:ln w="12700">
                  <a:noFill/>
                </a:ln>
                <a:solidFill>
                  <a:srgbClr val="262626">
                    <a:alpha val="100000"/>
                  </a:srgbClr>
                </a:solidFill>
                <a:latin typeface="poppins-bold"/>
                <a:ea typeface="poppins-bold"/>
                <a:cs typeface="poppins-bold"/>
              </a:rPr>
              <a:t>Función</a:t>
            </a:r>
            <a:r>
              <a:rPr kumimoji="1" lang="en-US" altLang="zh-CN" sz="1600" dirty="0">
                <a:ln w="12700">
                  <a:noFill/>
                </a:ln>
                <a:solidFill>
                  <a:srgbClr val="262626">
                    <a:alpha val="100000"/>
                  </a:srgbClr>
                </a:solidFill>
                <a:latin typeface="poppins-bold"/>
                <a:ea typeface="poppins-bold"/>
                <a:cs typeface="poppins-bold"/>
              </a:rPr>
              <a:t> y </a:t>
            </a:r>
            <a:r>
              <a:rPr kumimoji="1" lang="en-US" altLang="zh-CN" sz="1600" dirty="0" err="1">
                <a:ln w="12700">
                  <a:noFill/>
                </a:ln>
                <a:solidFill>
                  <a:srgbClr val="262626">
                    <a:alpha val="100000"/>
                  </a:srgbClr>
                </a:solidFill>
                <a:latin typeface="poppins-bold"/>
                <a:ea typeface="poppins-bold"/>
                <a:cs typeface="poppins-bold"/>
              </a:rPr>
              <a:t>Responsabilidades</a:t>
            </a:r>
            <a:r>
              <a:rPr kumimoji="1" lang="en-US" altLang="zh-CN" sz="1600" dirty="0">
                <a:ln w="12700">
                  <a:noFill/>
                </a:ln>
                <a:solidFill>
                  <a:srgbClr val="262626">
                    <a:alpha val="100000"/>
                  </a:srgbClr>
                </a:solidFill>
                <a:latin typeface="poppins-bold"/>
                <a:ea typeface="poppins-bold"/>
                <a:cs typeface="poppins-bold"/>
              </a:rPr>
              <a:t>: </a:t>
            </a:r>
            <a:r>
              <a:rPr lang="es-EC" dirty="0"/>
              <a:t>Gestión del entorno físico del centro de datos.</a:t>
            </a:r>
          </a:p>
          <a:p>
            <a:pPr algn="l"/>
            <a:endParaRPr kumimoji="1" lang="zh-CN" altLang="en-US" dirty="0"/>
          </a:p>
        </p:txBody>
      </p:sp>
      <p:sp>
        <p:nvSpPr>
          <p:cNvPr id="10" name="标题 1"/>
          <p:cNvSpPr txBox="1"/>
          <p:nvPr/>
        </p:nvSpPr>
        <p:spPr>
          <a:xfrm>
            <a:off x="4783749" y="3757212"/>
            <a:ext cx="540001" cy="540000"/>
          </a:xfrm>
          <a:prstGeom prst="rect">
            <a:avLst/>
          </a:prstGeom>
          <a:solidFill>
            <a:schemeClr val="accent1"/>
          </a:solidFill>
          <a:ln w="12700" cap="sq">
            <a:noFill/>
            <a:miter/>
          </a:ln>
          <a:effectLst/>
        </p:spPr>
        <p:txBody>
          <a:bodyPr vert="horz" wrap="square" lIns="91440" tIns="45720" rIns="91440" bIns="45720" rtlCol="0" anchor="ctr"/>
          <a:lstStyle/>
          <a:p>
            <a:pPr algn="ctr"/>
            <a:endParaRPr kumimoji="1" lang="zh-CN" altLang="en-US"/>
          </a:p>
        </p:txBody>
      </p:sp>
      <p:sp>
        <p:nvSpPr>
          <p:cNvPr id="11" name="标题 1"/>
          <p:cNvSpPr txBox="1"/>
          <p:nvPr/>
        </p:nvSpPr>
        <p:spPr>
          <a:xfrm>
            <a:off x="4801749" y="3901212"/>
            <a:ext cx="504000" cy="252000"/>
          </a:xfrm>
          <a:prstGeom prst="rect">
            <a:avLst/>
          </a:prstGeom>
          <a:noFill/>
          <a:ln w="12700" cap="sq">
            <a:noFill/>
            <a:miter/>
          </a:ln>
        </p:spPr>
        <p:txBody>
          <a:bodyPr vert="horz" wrap="square" lIns="0" tIns="0" rIns="0" bIns="0" rtlCol="0" anchor="ctr"/>
          <a:lstStyle/>
          <a:p>
            <a:pPr algn="ctr"/>
            <a:r>
              <a:rPr kumimoji="1" lang="en-US" altLang="zh-CN" sz="1800">
                <a:ln w="12700">
                  <a:noFill/>
                </a:ln>
                <a:solidFill>
                  <a:srgbClr val="FFFFFF">
                    <a:alpha val="100000"/>
                  </a:srgbClr>
                </a:solidFill>
                <a:latin typeface="poppins-bold"/>
                <a:ea typeface="poppins-bold"/>
                <a:cs typeface="poppins-bold"/>
              </a:rPr>
              <a:t>03</a:t>
            </a:r>
            <a:endParaRPr kumimoji="1" lang="zh-CN" altLang="en-US"/>
          </a:p>
        </p:txBody>
      </p:sp>
      <p:sp>
        <p:nvSpPr>
          <p:cNvPr id="12" name="标题 1"/>
          <p:cNvSpPr txBox="1"/>
          <p:nvPr/>
        </p:nvSpPr>
        <p:spPr>
          <a:xfrm>
            <a:off x="5470900" y="3757211"/>
            <a:ext cx="6048000" cy="720000"/>
          </a:xfrm>
          <a:prstGeom prst="rect">
            <a:avLst/>
          </a:prstGeom>
          <a:noFill/>
          <a:ln>
            <a:noFill/>
          </a:ln>
        </p:spPr>
        <p:txBody>
          <a:bodyPr vert="horz" wrap="square" lIns="0" tIns="0" rIns="0" bIns="0" rtlCol="0" anchor="t"/>
          <a:lstStyle/>
          <a:p>
            <a:pPr algn="l"/>
            <a:r>
              <a:rPr kumimoji="1" lang="en-US" altLang="zh-CN" sz="1200">
                <a:ln w="12700">
                  <a:noFill/>
                </a:ln>
                <a:solidFill>
                  <a:srgbClr val="262626">
                    <a:alpha val="100000"/>
                  </a:srgbClr>
                </a:solidFill>
                <a:latin typeface="Poppins"/>
                <a:ea typeface="Poppins"/>
                <a:cs typeface="Poppins"/>
              </a:rPr>
              <a:t>Gestión de energía (UPS, PDU).</a:t>
            </a:r>
            <a:endParaRPr kumimoji="1" lang="zh-CN" altLang="en-US"/>
          </a:p>
        </p:txBody>
      </p:sp>
      <p:sp>
        <p:nvSpPr>
          <p:cNvPr id="13" name="标题 1"/>
          <p:cNvSpPr txBox="1"/>
          <p:nvPr/>
        </p:nvSpPr>
        <p:spPr>
          <a:xfrm>
            <a:off x="4783749" y="4585657"/>
            <a:ext cx="540001" cy="540000"/>
          </a:xfrm>
          <a:prstGeom prst="rect">
            <a:avLst/>
          </a:prstGeom>
          <a:solidFill>
            <a:schemeClr val="accent2"/>
          </a:solidFill>
          <a:ln w="12700" cap="sq">
            <a:noFill/>
            <a:miter/>
          </a:ln>
          <a:effectLst/>
        </p:spPr>
        <p:txBody>
          <a:bodyPr vert="horz" wrap="square" lIns="91440" tIns="45720" rIns="91440" bIns="45720" rtlCol="0" anchor="ctr"/>
          <a:lstStyle/>
          <a:p>
            <a:pPr algn="ctr"/>
            <a:endParaRPr kumimoji="1" lang="zh-CN" altLang="en-US"/>
          </a:p>
        </p:txBody>
      </p:sp>
      <p:sp>
        <p:nvSpPr>
          <p:cNvPr id="14" name="标题 1"/>
          <p:cNvSpPr txBox="1"/>
          <p:nvPr/>
        </p:nvSpPr>
        <p:spPr>
          <a:xfrm>
            <a:off x="4801749" y="4729657"/>
            <a:ext cx="504000" cy="252000"/>
          </a:xfrm>
          <a:prstGeom prst="rect">
            <a:avLst/>
          </a:prstGeom>
          <a:noFill/>
          <a:ln w="12700" cap="sq">
            <a:noFill/>
            <a:miter/>
          </a:ln>
        </p:spPr>
        <p:txBody>
          <a:bodyPr vert="horz" wrap="square" lIns="0" tIns="0" rIns="0" bIns="0" rtlCol="0" anchor="ctr"/>
          <a:lstStyle/>
          <a:p>
            <a:pPr algn="ctr"/>
            <a:r>
              <a:rPr kumimoji="1" lang="en-US" altLang="zh-CN" sz="1800">
                <a:ln w="12700">
                  <a:noFill/>
                </a:ln>
                <a:solidFill>
                  <a:srgbClr val="FFFFFF">
                    <a:alpha val="100000"/>
                  </a:srgbClr>
                </a:solidFill>
                <a:latin typeface="poppins-bold"/>
                <a:ea typeface="poppins-bold"/>
                <a:cs typeface="poppins-bold"/>
              </a:rPr>
              <a:t>04</a:t>
            </a:r>
            <a:endParaRPr kumimoji="1" lang="zh-CN" altLang="en-US"/>
          </a:p>
        </p:txBody>
      </p:sp>
      <p:sp>
        <p:nvSpPr>
          <p:cNvPr id="15" name="标题 1"/>
          <p:cNvSpPr txBox="1"/>
          <p:nvPr/>
        </p:nvSpPr>
        <p:spPr>
          <a:xfrm>
            <a:off x="5470900" y="4585656"/>
            <a:ext cx="6048000" cy="720000"/>
          </a:xfrm>
          <a:prstGeom prst="rect">
            <a:avLst/>
          </a:prstGeom>
          <a:noFill/>
          <a:ln>
            <a:noFill/>
          </a:ln>
        </p:spPr>
        <p:txBody>
          <a:bodyPr vert="horz" wrap="square" lIns="0" tIns="0" rIns="0" bIns="0" rtlCol="0" anchor="t"/>
          <a:lstStyle/>
          <a:p>
            <a:pPr algn="l"/>
            <a:r>
              <a:rPr kumimoji="1" lang="en-US" altLang="zh-CN" sz="1200">
                <a:ln w="12700">
                  <a:noFill/>
                </a:ln>
                <a:solidFill>
                  <a:srgbClr val="262626">
                    <a:alpha val="100000"/>
                  </a:srgbClr>
                </a:solidFill>
                <a:latin typeface="Poppins"/>
                <a:ea typeface="Poppins"/>
                <a:cs typeface="Poppins"/>
              </a:rPr>
              <a:t>Climatización (HVAC).</a:t>
            </a:r>
            <a:endParaRPr kumimoji="1" lang="zh-CN" altLang="en-US"/>
          </a:p>
        </p:txBody>
      </p:sp>
      <p:sp>
        <p:nvSpPr>
          <p:cNvPr id="16" name="标题 1"/>
          <p:cNvSpPr txBox="1"/>
          <p:nvPr/>
        </p:nvSpPr>
        <p:spPr>
          <a:xfrm>
            <a:off x="4783749" y="5414100"/>
            <a:ext cx="540001" cy="540000"/>
          </a:xfrm>
          <a:prstGeom prst="rect">
            <a:avLst/>
          </a:prstGeom>
          <a:solidFill>
            <a:schemeClr val="accent1"/>
          </a:solidFill>
          <a:ln w="12700" cap="sq">
            <a:noFill/>
            <a:miter/>
          </a:ln>
          <a:effectLst/>
        </p:spPr>
        <p:txBody>
          <a:bodyPr vert="horz" wrap="square" lIns="91440" tIns="45720" rIns="91440" bIns="45720" rtlCol="0" anchor="ctr"/>
          <a:lstStyle/>
          <a:p>
            <a:pPr algn="ctr"/>
            <a:endParaRPr kumimoji="1" lang="zh-CN" altLang="en-US"/>
          </a:p>
        </p:txBody>
      </p:sp>
      <p:sp>
        <p:nvSpPr>
          <p:cNvPr id="17" name="标题 1"/>
          <p:cNvSpPr txBox="1"/>
          <p:nvPr/>
        </p:nvSpPr>
        <p:spPr>
          <a:xfrm>
            <a:off x="4801749" y="5558100"/>
            <a:ext cx="504000" cy="252000"/>
          </a:xfrm>
          <a:prstGeom prst="rect">
            <a:avLst/>
          </a:prstGeom>
          <a:noFill/>
          <a:ln w="12700" cap="sq">
            <a:noFill/>
            <a:miter/>
          </a:ln>
        </p:spPr>
        <p:txBody>
          <a:bodyPr vert="horz" wrap="square" lIns="0" tIns="0" rIns="0" bIns="0" rtlCol="0" anchor="ctr"/>
          <a:lstStyle/>
          <a:p>
            <a:pPr algn="ctr"/>
            <a:r>
              <a:rPr kumimoji="1" lang="en-US" altLang="zh-CN" sz="1800">
                <a:ln w="12700">
                  <a:noFill/>
                </a:ln>
                <a:solidFill>
                  <a:srgbClr val="FFFFFF">
                    <a:alpha val="100000"/>
                  </a:srgbClr>
                </a:solidFill>
                <a:latin typeface="poppins-bold"/>
                <a:ea typeface="poppins-bold"/>
                <a:cs typeface="poppins-bold"/>
              </a:rPr>
              <a:t>05</a:t>
            </a:r>
            <a:endParaRPr kumimoji="1" lang="zh-CN" altLang="en-US"/>
          </a:p>
        </p:txBody>
      </p:sp>
      <p:sp>
        <p:nvSpPr>
          <p:cNvPr id="18" name="标题 1"/>
          <p:cNvSpPr txBox="1"/>
          <p:nvPr/>
        </p:nvSpPr>
        <p:spPr>
          <a:xfrm>
            <a:off x="5470900" y="5414100"/>
            <a:ext cx="6048000" cy="720000"/>
          </a:xfrm>
          <a:prstGeom prst="rect">
            <a:avLst/>
          </a:prstGeom>
          <a:noFill/>
          <a:ln>
            <a:noFill/>
          </a:ln>
        </p:spPr>
        <p:txBody>
          <a:bodyPr vert="horz" wrap="square" lIns="0" tIns="0" rIns="0" bIns="0" rtlCol="0" anchor="t"/>
          <a:lstStyle/>
          <a:p>
            <a:pPr algn="l"/>
            <a:r>
              <a:rPr kumimoji="1" lang="en-US" altLang="zh-CN" sz="1200">
                <a:ln w="12700">
                  <a:noFill/>
                </a:ln>
                <a:solidFill>
                  <a:srgbClr val="262626">
                    <a:alpha val="100000"/>
                  </a:srgbClr>
                </a:solidFill>
                <a:latin typeface="Poppins"/>
                <a:ea typeface="Poppins"/>
                <a:cs typeface="Poppins"/>
              </a:rPr>
              <a:t>Control de acceso físico.</a:t>
            </a:r>
            <a:endParaRPr kumimoji="1" lang="zh-CN" altLang="en-US"/>
          </a:p>
        </p:txBody>
      </p:sp>
      <p:pic>
        <p:nvPicPr>
          <p:cNvPr id="19" name="Imagen 18"/>
          <p:cNvPicPr>
            <a:picLocks noChangeAspect="1"/>
          </p:cNvPicPr>
          <p:nvPr/>
        </p:nvPicPr>
        <p:blipFill>
          <a:blip r:embed="rId2">
            <a:alphaModFix/>
          </a:blip>
          <a:srcRect l="35803" t="1322" r="24425" b="1322"/>
          <a:stretch>
            <a:fillRect/>
          </a:stretch>
        </p:blipFill>
        <p:spPr>
          <a:xfrm flipH="1">
            <a:off x="660400" y="1130302"/>
            <a:ext cx="3651857" cy="5003799"/>
          </a:xfrm>
          <a:custGeom>
            <a:avLst/>
            <a:gdLst/>
            <a:ahLst/>
            <a:cxnLst/>
            <a:rect l="l" t="t" r="r" b="b"/>
            <a:pathLst>
              <a:path w="3651857" h="5003799">
                <a:moveTo>
                  <a:pt x="3651857" y="0"/>
                </a:moveTo>
                <a:lnTo>
                  <a:pt x="0" y="0"/>
                </a:lnTo>
                <a:lnTo>
                  <a:pt x="0" y="5003799"/>
                </a:lnTo>
                <a:lnTo>
                  <a:pt x="3651857" y="5003799"/>
                </a:lnTo>
                <a:lnTo>
                  <a:pt x="3651857" y="0"/>
                </a:lnTo>
                <a:close/>
              </a:path>
            </a:pathLst>
          </a:custGeom>
          <a:noFill/>
          <a:ln>
            <a:noFill/>
          </a:ln>
        </p:spPr>
      </p:pic>
      <p:sp>
        <p:nvSpPr>
          <p:cNvPr id="20" name="标题 1"/>
          <p:cNvSpPr txBox="1"/>
          <p:nvPr/>
        </p:nvSpPr>
        <p:spPr>
          <a:xfrm>
            <a:off x="452878" y="334470"/>
            <a:ext cx="8171180" cy="655320"/>
          </a:xfrm>
          <a:prstGeom prst="roundRect">
            <a:avLst>
              <a:gd name="adj" fmla="val 50000"/>
            </a:avLst>
          </a:prstGeom>
          <a:gradFill>
            <a:gsLst>
              <a:gs pos="0">
                <a:schemeClr val="accent1">
                  <a:lumMod val="20000"/>
                  <a:lumOff val="80000"/>
                </a:schemeClr>
              </a:gs>
              <a:gs pos="80000">
                <a:schemeClr val="accent1">
                  <a:lumMod val="20000"/>
                  <a:lumOff val="80000"/>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1" name="标题 1"/>
          <p:cNvSpPr txBox="1"/>
          <p:nvPr/>
        </p:nvSpPr>
        <p:spPr>
          <a:xfrm>
            <a:off x="783617" y="467040"/>
            <a:ext cx="8897593" cy="468000"/>
          </a:xfrm>
          <a:prstGeom prst="rect">
            <a:avLst/>
          </a:prstGeom>
          <a:noFill/>
          <a:ln>
            <a:noFill/>
          </a:ln>
        </p:spPr>
        <p:txBody>
          <a:bodyPr vert="horz" wrap="square" lIns="0" tIns="0" rIns="0" bIns="0" rtlCol="0" anchor="ctr"/>
          <a:lstStyle/>
          <a:p>
            <a:pPr algn="l"/>
            <a:r>
              <a:rPr kumimoji="1" lang="en-US" altLang="zh-CN" sz="2800" dirty="0">
                <a:ln w="12700">
                  <a:noFill/>
                </a:ln>
                <a:solidFill>
                  <a:srgbClr val="262626">
                    <a:alpha val="100000"/>
                  </a:srgbClr>
                </a:solidFill>
                <a:latin typeface="poppins-bold"/>
                <a:ea typeface="poppins-bold"/>
                <a:cs typeface="poppins-bold"/>
              </a:rPr>
              <a:t>Técnicos de Infraestructura </a:t>
            </a:r>
            <a:r>
              <a:rPr kumimoji="1" lang="en-US" altLang="zh-CN" sz="2800" dirty="0" err="1">
                <a:ln w="12700">
                  <a:noFill/>
                </a:ln>
                <a:solidFill>
                  <a:srgbClr val="262626">
                    <a:alpha val="100000"/>
                  </a:srgbClr>
                </a:solidFill>
                <a:latin typeface="poppins-bold"/>
                <a:ea typeface="poppins-bold"/>
                <a:cs typeface="poppins-bold"/>
              </a:rPr>
              <a:t>Física</a:t>
            </a:r>
            <a:r>
              <a:rPr kumimoji="1" lang="en-US" altLang="zh-CN" sz="2800" dirty="0">
                <a:ln w="12700">
                  <a:noFill/>
                </a:ln>
                <a:solidFill>
                  <a:srgbClr val="262626">
                    <a:alpha val="100000"/>
                  </a:srgbClr>
                </a:solidFill>
                <a:latin typeface="poppins-bold"/>
                <a:ea typeface="poppins-bold"/>
                <a:cs typeface="poppins-bold"/>
              </a:rPr>
              <a:t> (Facilities/Hardware)</a:t>
            </a:r>
            <a:endParaRPr kumimoji="1" lang="zh-CN" altLang="en-US" dirty="0"/>
          </a:p>
        </p:txBody>
      </p:sp>
      <p:pic>
        <p:nvPicPr>
          <p:cNvPr id="22" name="Imagen 21">
            <a:extLst>
              <a:ext uri="{FF2B5EF4-FFF2-40B4-BE49-F238E27FC236}">
                <a16:creationId xmlns:a16="http://schemas.microsoft.com/office/drawing/2014/main" id="{CE1187A0-C9D0-CA3E-12AF-D241B37F9E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flipH="1">
            <a:off x="174171" y="1016001"/>
            <a:ext cx="6662058" cy="4586514"/>
          </a:xfrm>
          <a:prstGeom prst="rect">
            <a:avLst/>
          </a:prstGeom>
          <a:noFill/>
          <a:ln>
            <a:noFill/>
          </a:ln>
        </p:spPr>
      </p:pic>
      <p:sp>
        <p:nvSpPr>
          <p:cNvPr id="4" name="标题 1"/>
          <p:cNvSpPr txBox="1"/>
          <p:nvPr/>
        </p:nvSpPr>
        <p:spPr>
          <a:xfrm>
            <a:off x="6879771" y="3359947"/>
            <a:ext cx="4760688" cy="1255728"/>
          </a:xfrm>
          <a:prstGeom prst="rect">
            <a:avLst/>
          </a:prstGeom>
          <a:noFill/>
          <a:ln>
            <a:noFill/>
          </a:ln>
        </p:spPr>
        <p:txBody>
          <a:bodyPr vert="horz" wrap="square" lIns="91440" tIns="45720" rIns="91440" bIns="45720" rtlCol="0" anchor="ctr"/>
          <a:lstStyle/>
          <a:p>
            <a:pPr algn="ctr"/>
            <a:r>
              <a:rPr kumimoji="1" lang="en-US" altLang="zh-CN" sz="2039">
                <a:ln w="12700">
                  <a:noFill/>
                </a:ln>
                <a:solidFill>
                  <a:srgbClr val="000000">
                    <a:alpha val="100000"/>
                  </a:srgbClr>
                </a:solidFill>
                <a:latin typeface="poppins-bold"/>
                <a:ea typeface="poppins-bold"/>
                <a:cs typeface="poppins-bold"/>
              </a:rPr>
              <a:t>Asignación y optimización de recursos humanos</a:t>
            </a:r>
            <a:endParaRPr kumimoji="1" lang="zh-CN" altLang="en-US"/>
          </a:p>
        </p:txBody>
      </p:sp>
      <p:sp>
        <p:nvSpPr>
          <p:cNvPr id="6" name="标题 1"/>
          <p:cNvSpPr txBox="1"/>
          <p:nvPr/>
        </p:nvSpPr>
        <p:spPr>
          <a:xfrm flipH="1">
            <a:off x="8745588" y="2147252"/>
            <a:ext cx="1029054" cy="1029054"/>
          </a:xfrm>
          <a:prstGeom prst="ellips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8031679" y="1262814"/>
            <a:ext cx="2456872" cy="1667352"/>
          </a:xfrm>
          <a:prstGeom prst="rect">
            <a:avLst/>
          </a:prstGeom>
          <a:noFill/>
          <a:ln>
            <a:noFill/>
          </a:ln>
        </p:spPr>
        <p:txBody>
          <a:bodyPr vert="horz" wrap="square" lIns="0" tIns="0" rIns="0" bIns="0" rtlCol="0" anchor="b"/>
          <a:lstStyle/>
          <a:p>
            <a:pPr algn="ctr"/>
            <a:r>
              <a:rPr kumimoji="1" lang="en-US" altLang="zh-CN" sz="4000">
                <a:ln w="12700">
                  <a:noFill/>
                </a:ln>
                <a:solidFill>
                  <a:srgbClr val="FFFFFF">
                    <a:alpha val="100000"/>
                  </a:srgbClr>
                </a:solidFill>
                <a:latin typeface="Barlow Condensed Medium"/>
                <a:ea typeface="Barlow Condensed Medium"/>
                <a:cs typeface="Barlow Condensed Medium"/>
              </a:rPr>
              <a:t> 02</a:t>
            </a:r>
            <a:endParaRPr kumimoji="1" lang="zh-CN" altLang="en-US"/>
          </a:p>
        </p:txBody>
      </p:sp>
      <p:pic>
        <p:nvPicPr>
          <p:cNvPr id="8" name="Imagen 7">
            <a:extLst>
              <a:ext uri="{FF2B5EF4-FFF2-40B4-BE49-F238E27FC236}">
                <a16:creationId xmlns:a16="http://schemas.microsoft.com/office/drawing/2014/main" id="{282274DE-57BF-0AC2-8CF3-E3FE02134F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1405928" y="1274851"/>
            <a:ext cx="4320000" cy="4859249"/>
          </a:xfrm>
          <a:prstGeom prst="roundRect">
            <a:avLst>
              <a:gd name="adj" fmla="val 5836"/>
            </a:avLst>
          </a:prstGeom>
          <a:solidFill>
            <a:schemeClr val="bg1"/>
          </a:solidFill>
          <a:ln w="12700" cap="flat">
            <a:noFill/>
            <a:miter/>
          </a:ln>
          <a:effectLst>
            <a:outerShdw blurRad="261620" dist="143891" dir="5400000" sx="98000" sy="98000" algn="t" rotWithShape="0">
              <a:schemeClr val="accent1">
                <a:alpha val="20000"/>
              </a:schemeClr>
            </a:outerShdw>
          </a:effectLst>
        </p:spPr>
        <p:txBody>
          <a:bodyPr vert="horz" wrap="square" lIns="94183" tIns="47092" rIns="94183" bIns="47092" rtlCol="0" anchor="ctr"/>
          <a:lstStyle/>
          <a:p>
            <a:pPr algn="ctr"/>
            <a:endParaRPr kumimoji="1" lang="zh-CN" altLang="en-US"/>
          </a:p>
        </p:txBody>
      </p:sp>
      <p:sp>
        <p:nvSpPr>
          <p:cNvPr id="4" name="标题 1"/>
          <p:cNvSpPr txBox="1"/>
          <p:nvPr/>
        </p:nvSpPr>
        <p:spPr>
          <a:xfrm>
            <a:off x="2383749" y="1563457"/>
            <a:ext cx="2364357" cy="2364357"/>
          </a:xfrm>
          <a:prstGeom prst="ellipse">
            <a:avLst/>
          </a:prstGeom>
          <a:solidFill>
            <a:schemeClr val="accent1">
              <a:lumMod val="10000"/>
              <a:lumOff val="90000"/>
            </a:schemeClr>
          </a:solidFill>
          <a:ln w="12700" cap="flat">
            <a:noFill/>
            <a:miter/>
          </a:ln>
          <a:effectLst/>
        </p:spPr>
        <p:txBody>
          <a:bodyPr vert="horz" wrap="square" lIns="91440" tIns="45720" rIns="91440" bIns="45720" rtlCol="0" anchor="ctr"/>
          <a:lstStyle/>
          <a:p>
            <a:pPr algn="ctr"/>
            <a:endParaRPr kumimoji="1" lang="zh-CN" altLang="en-US"/>
          </a:p>
        </p:txBody>
      </p:sp>
      <p:sp>
        <p:nvSpPr>
          <p:cNvPr id="5" name="标题 1"/>
          <p:cNvSpPr txBox="1"/>
          <p:nvPr/>
        </p:nvSpPr>
        <p:spPr>
          <a:xfrm>
            <a:off x="2383759" y="1563455"/>
            <a:ext cx="2364339" cy="2364355"/>
          </a:xfrm>
          <a:prstGeom prst="arc">
            <a:avLst>
              <a:gd name="adj1" fmla="val 2400754"/>
              <a:gd name="adj2" fmla="val 9711949"/>
            </a:avLst>
          </a:prstGeom>
          <a:noFill/>
          <a:ln w="30002" cap="flat">
            <a:gradFill>
              <a:gsLst>
                <a:gs pos="0">
                  <a:schemeClr val="accent1">
                    <a:lumMod val="90000"/>
                    <a:lumOff val="10000"/>
                    <a:alpha val="0"/>
                  </a:schemeClr>
                </a:gs>
                <a:gs pos="100000">
                  <a:schemeClr val="accent1">
                    <a:lumMod val="90000"/>
                    <a:lumOff val="10000"/>
                  </a:schemeClr>
                </a:gs>
              </a:gsLst>
              <a:lin ang="10800000" scaled="0"/>
            </a:gradFill>
            <a:miter/>
          </a:ln>
          <a:effectLst/>
        </p:spPr>
        <p:txBody>
          <a:bodyPr vert="horz" wrap="square" lIns="144006" tIns="72003" rIns="144006" bIns="72003" rtlCol="0" anchor="ctr"/>
          <a:lstStyle/>
          <a:p>
            <a:pPr algn="ctr"/>
            <a:endParaRPr kumimoji="1" lang="zh-CN" altLang="en-US"/>
          </a:p>
        </p:txBody>
      </p:sp>
      <p:sp>
        <p:nvSpPr>
          <p:cNvPr id="6" name="标题 1"/>
          <p:cNvSpPr txBox="1"/>
          <p:nvPr/>
        </p:nvSpPr>
        <p:spPr>
          <a:xfrm flipH="1" flipV="1">
            <a:off x="2383761" y="1563448"/>
            <a:ext cx="2364335" cy="2364341"/>
          </a:xfrm>
          <a:prstGeom prst="arc">
            <a:avLst>
              <a:gd name="adj1" fmla="val 2400747"/>
              <a:gd name="adj2" fmla="val 9711943"/>
            </a:avLst>
          </a:prstGeom>
          <a:noFill/>
          <a:ln w="30002" cap="flat">
            <a:gradFill>
              <a:gsLst>
                <a:gs pos="0">
                  <a:schemeClr val="accent1">
                    <a:lumMod val="90000"/>
                    <a:lumOff val="10000"/>
                    <a:alpha val="0"/>
                  </a:schemeClr>
                </a:gs>
                <a:gs pos="100000">
                  <a:schemeClr val="accent1">
                    <a:lumMod val="90000"/>
                    <a:lumOff val="10000"/>
                  </a:schemeClr>
                </a:gs>
              </a:gsLst>
              <a:lin ang="10800000" scaled="0"/>
            </a:gradFill>
            <a:miter/>
          </a:ln>
          <a:effectLst/>
        </p:spPr>
        <p:txBody>
          <a:bodyPr vert="horz" wrap="square" lIns="144006" tIns="72003" rIns="144006" bIns="72003" rtlCol="0" anchor="ctr"/>
          <a:lstStyle/>
          <a:p>
            <a:pPr algn="ctr"/>
            <a:endParaRPr kumimoji="1" lang="zh-CN" altLang="en-US"/>
          </a:p>
        </p:txBody>
      </p:sp>
      <p:sp>
        <p:nvSpPr>
          <p:cNvPr id="7" name="标题 1"/>
          <p:cNvSpPr txBox="1"/>
          <p:nvPr/>
        </p:nvSpPr>
        <p:spPr>
          <a:xfrm>
            <a:off x="1765927" y="4054623"/>
            <a:ext cx="3600000" cy="715380"/>
          </a:xfrm>
          <a:prstGeom prst="rect">
            <a:avLst/>
          </a:prstGeom>
          <a:noFill/>
          <a:ln>
            <a:noFill/>
          </a:ln>
        </p:spPr>
        <p:txBody>
          <a:bodyPr vert="horz" wrap="square" lIns="0" tIns="0" rIns="0" bIns="0" rtlCol="0" anchor="ctr"/>
          <a:lstStyle/>
          <a:p>
            <a:pPr algn="ctr"/>
            <a:r>
              <a:rPr kumimoji="1" lang="en-US" altLang="zh-CN" sz="1600">
                <a:ln w="12700">
                  <a:noFill/>
                </a:ln>
                <a:gradFill>
                  <a:gsLst>
                    <a:gs pos="18000">
                      <a:schemeClr val="accent1">
                        <a:lumMod val="74000"/>
                        <a:lumOff val="26000"/>
                      </a:schemeClr>
                    </a:gs>
                    <a:gs pos="93000">
                      <a:schemeClr val="accent1"/>
                    </a:gs>
                  </a:gsLst>
                  <a:lin ang="5400000" scaled="0"/>
                </a:gradFill>
                <a:latin typeface="poppins-bold"/>
                <a:ea typeface="poppins-bold"/>
                <a:cs typeface="poppins-bold"/>
              </a:rPr>
              <a:t>Matriz de Habilidades (Skills Matrix)</a:t>
            </a:r>
            <a:endParaRPr kumimoji="1" lang="zh-CN" altLang="en-US"/>
          </a:p>
        </p:txBody>
      </p:sp>
      <p:sp>
        <p:nvSpPr>
          <p:cNvPr id="8" name="标题 1"/>
          <p:cNvSpPr txBox="1"/>
          <p:nvPr/>
        </p:nvSpPr>
        <p:spPr>
          <a:xfrm>
            <a:off x="1765927" y="4796155"/>
            <a:ext cx="3600000" cy="1029878"/>
          </a:xfrm>
          <a:prstGeom prst="rect">
            <a:avLst/>
          </a:prstGeom>
          <a:noFill/>
          <a:ln>
            <a:noFill/>
          </a:ln>
          <a:effectLst/>
        </p:spPr>
        <p:txBody>
          <a:bodyPr vert="horz" wrap="square" lIns="0" tIns="0" rIns="0" bIns="0" rtlCol="0" anchor="t"/>
          <a:lstStyle/>
          <a:p>
            <a:pPr algn="ctr"/>
            <a:r>
              <a:rPr kumimoji="1" lang="en-US" altLang="zh-CN" sz="1101">
                <a:ln w="12700">
                  <a:noFill/>
                </a:ln>
                <a:solidFill>
                  <a:srgbClr val="595959">
                    <a:alpha val="100000"/>
                  </a:srgbClr>
                </a:solidFill>
                <a:latin typeface="Poppins"/>
                <a:ea typeface="Poppins"/>
                <a:cs typeface="Poppins"/>
              </a:rPr>
              <a:t>Mantener un inventario actualizado de las competencias del equipo.
Registrar quién sabe qué tecnología (ej. "Experto en Firewall Fortinet", "Junior en VMware", "Experto en Linux RHEL").</a:t>
            </a:r>
            <a:endParaRPr kumimoji="1" lang="zh-CN" altLang="en-US"/>
          </a:p>
        </p:txBody>
      </p:sp>
      <p:sp>
        <p:nvSpPr>
          <p:cNvPr id="9" name="标题 1"/>
          <p:cNvSpPr txBox="1"/>
          <p:nvPr/>
        </p:nvSpPr>
        <p:spPr>
          <a:xfrm>
            <a:off x="6453373" y="1274851"/>
            <a:ext cx="4320000" cy="4859249"/>
          </a:xfrm>
          <a:prstGeom prst="roundRect">
            <a:avLst>
              <a:gd name="adj" fmla="val 6908"/>
            </a:avLst>
          </a:prstGeom>
          <a:solidFill>
            <a:schemeClr val="bg1"/>
          </a:solidFill>
          <a:ln w="12700" cap="flat">
            <a:noFill/>
            <a:miter/>
          </a:ln>
          <a:effectLst>
            <a:outerShdw blurRad="261620" dist="143891" dir="5400000" sx="98000" sy="98000" algn="t" rotWithShape="0">
              <a:schemeClr val="accent1">
                <a:alpha val="20000"/>
              </a:schemeClr>
            </a:outerShdw>
          </a:effectLst>
        </p:spPr>
        <p:txBody>
          <a:bodyPr vert="horz" wrap="square" lIns="94183" tIns="47092" rIns="94183" bIns="47092" rtlCol="0" anchor="ctr"/>
          <a:lstStyle/>
          <a:p>
            <a:pPr algn="ctr"/>
            <a:endParaRPr kumimoji="1" lang="zh-CN" altLang="en-US"/>
          </a:p>
        </p:txBody>
      </p:sp>
      <p:sp>
        <p:nvSpPr>
          <p:cNvPr id="10" name="标题 1"/>
          <p:cNvSpPr txBox="1"/>
          <p:nvPr/>
        </p:nvSpPr>
        <p:spPr>
          <a:xfrm>
            <a:off x="7431194" y="1563457"/>
            <a:ext cx="2364357" cy="2364357"/>
          </a:xfrm>
          <a:prstGeom prst="ellipse">
            <a:avLst/>
          </a:prstGeom>
          <a:solidFill>
            <a:schemeClr val="accent1">
              <a:lumMod val="10000"/>
              <a:lumOff val="90000"/>
            </a:schemeClr>
          </a:solidFill>
          <a:ln w="12700" cap="flat">
            <a:noFill/>
            <a:miter/>
          </a:ln>
          <a:effectLst/>
        </p:spPr>
        <p:txBody>
          <a:bodyPr vert="horz" wrap="square" lIns="91440" tIns="45720" rIns="91440" bIns="45720" rtlCol="0" anchor="ctr"/>
          <a:lstStyle/>
          <a:p>
            <a:pPr algn="ctr"/>
            <a:endParaRPr kumimoji="1" lang="zh-CN" altLang="en-US"/>
          </a:p>
        </p:txBody>
      </p:sp>
      <p:sp>
        <p:nvSpPr>
          <p:cNvPr id="11" name="标题 1"/>
          <p:cNvSpPr txBox="1"/>
          <p:nvPr/>
        </p:nvSpPr>
        <p:spPr>
          <a:xfrm>
            <a:off x="7431203" y="1563455"/>
            <a:ext cx="2364339" cy="2364355"/>
          </a:xfrm>
          <a:prstGeom prst="arc">
            <a:avLst>
              <a:gd name="adj1" fmla="val 2400754"/>
              <a:gd name="adj2" fmla="val 9711949"/>
            </a:avLst>
          </a:prstGeom>
          <a:noFill/>
          <a:ln w="30002" cap="flat">
            <a:gradFill>
              <a:gsLst>
                <a:gs pos="0">
                  <a:schemeClr val="accent1">
                    <a:lumMod val="90000"/>
                    <a:lumOff val="10000"/>
                    <a:alpha val="0"/>
                  </a:schemeClr>
                </a:gs>
                <a:gs pos="100000">
                  <a:schemeClr val="accent1">
                    <a:lumMod val="90000"/>
                    <a:lumOff val="10000"/>
                  </a:schemeClr>
                </a:gs>
              </a:gsLst>
              <a:lin ang="10800000" scaled="0"/>
            </a:gradFill>
            <a:miter/>
          </a:ln>
          <a:effectLst/>
        </p:spPr>
        <p:txBody>
          <a:bodyPr vert="horz" wrap="square" lIns="144006" tIns="72003" rIns="144006" bIns="72003" rtlCol="0" anchor="ctr"/>
          <a:lstStyle/>
          <a:p>
            <a:pPr algn="ctr"/>
            <a:endParaRPr kumimoji="1" lang="zh-CN" altLang="en-US"/>
          </a:p>
        </p:txBody>
      </p:sp>
      <p:sp>
        <p:nvSpPr>
          <p:cNvPr id="12" name="标题 1"/>
          <p:cNvSpPr txBox="1"/>
          <p:nvPr/>
        </p:nvSpPr>
        <p:spPr>
          <a:xfrm flipH="1" flipV="1">
            <a:off x="7431206" y="1563448"/>
            <a:ext cx="2364335" cy="2364341"/>
          </a:xfrm>
          <a:prstGeom prst="arc">
            <a:avLst>
              <a:gd name="adj1" fmla="val 2400747"/>
              <a:gd name="adj2" fmla="val 9711943"/>
            </a:avLst>
          </a:prstGeom>
          <a:noFill/>
          <a:ln w="30002" cap="flat">
            <a:gradFill>
              <a:gsLst>
                <a:gs pos="0">
                  <a:schemeClr val="accent1">
                    <a:lumMod val="90000"/>
                    <a:lumOff val="10000"/>
                    <a:alpha val="0"/>
                  </a:schemeClr>
                </a:gs>
                <a:gs pos="100000">
                  <a:schemeClr val="accent1">
                    <a:lumMod val="90000"/>
                    <a:lumOff val="10000"/>
                  </a:schemeClr>
                </a:gs>
              </a:gsLst>
              <a:lin ang="10800000" scaled="0"/>
            </a:gradFill>
            <a:miter/>
          </a:ln>
          <a:effectLst/>
        </p:spPr>
        <p:txBody>
          <a:bodyPr vert="horz" wrap="square" lIns="144006" tIns="72003" rIns="144006" bIns="72003" rtlCol="0" anchor="ctr"/>
          <a:lstStyle/>
          <a:p>
            <a:pPr algn="ctr"/>
            <a:endParaRPr kumimoji="1" lang="zh-CN" altLang="en-US"/>
          </a:p>
        </p:txBody>
      </p:sp>
      <p:sp>
        <p:nvSpPr>
          <p:cNvPr id="13" name="标题 1"/>
          <p:cNvSpPr txBox="1"/>
          <p:nvPr/>
        </p:nvSpPr>
        <p:spPr>
          <a:xfrm>
            <a:off x="6813372" y="4054623"/>
            <a:ext cx="3600000" cy="715380"/>
          </a:xfrm>
          <a:prstGeom prst="rect">
            <a:avLst/>
          </a:prstGeom>
          <a:noFill/>
          <a:ln>
            <a:noFill/>
          </a:ln>
        </p:spPr>
        <p:txBody>
          <a:bodyPr vert="horz" wrap="square" lIns="0" tIns="0" rIns="0" bIns="0" rtlCol="0" anchor="ctr"/>
          <a:lstStyle/>
          <a:p>
            <a:pPr algn="ctr"/>
            <a:r>
              <a:rPr kumimoji="1" lang="en-US" altLang="zh-CN" sz="1600">
                <a:ln w="12700">
                  <a:noFill/>
                </a:ln>
                <a:gradFill>
                  <a:gsLst>
                    <a:gs pos="18000">
                      <a:schemeClr val="accent1">
                        <a:lumMod val="74000"/>
                        <a:lumOff val="26000"/>
                      </a:schemeClr>
                    </a:gs>
                    <a:gs pos="93000">
                      <a:schemeClr val="accent1"/>
                    </a:gs>
                  </a:gsLst>
                  <a:lin ang="5400000" scaled="0"/>
                </a:gradFill>
                <a:latin typeface="poppins-bold"/>
                <a:ea typeface="poppins-bold"/>
                <a:cs typeface="poppins-bold"/>
              </a:rPr>
              <a:t>Asignación de Tareas</a:t>
            </a:r>
            <a:endParaRPr kumimoji="1" lang="zh-CN" altLang="en-US"/>
          </a:p>
        </p:txBody>
      </p:sp>
      <p:sp>
        <p:nvSpPr>
          <p:cNvPr id="14" name="标题 1"/>
          <p:cNvSpPr txBox="1"/>
          <p:nvPr/>
        </p:nvSpPr>
        <p:spPr>
          <a:xfrm>
            <a:off x="6813372" y="4796155"/>
            <a:ext cx="3600000" cy="1029878"/>
          </a:xfrm>
          <a:prstGeom prst="rect">
            <a:avLst/>
          </a:prstGeom>
          <a:noFill/>
          <a:ln>
            <a:noFill/>
          </a:ln>
          <a:effectLst/>
        </p:spPr>
        <p:txBody>
          <a:bodyPr vert="horz" wrap="square" lIns="0" tIns="0" rIns="0" bIns="0" rtlCol="0" anchor="t"/>
          <a:lstStyle/>
          <a:p>
            <a:pPr algn="ctr"/>
            <a:r>
              <a:rPr kumimoji="1" lang="en-US" altLang="zh-CN" sz="1101">
                <a:ln w="12700">
                  <a:noFill/>
                </a:ln>
                <a:solidFill>
                  <a:srgbClr val="595959">
                    <a:alpha val="100000"/>
                  </a:srgbClr>
                </a:solidFill>
                <a:latin typeface="Poppins"/>
                <a:ea typeface="Poppins"/>
                <a:cs typeface="Poppins"/>
              </a:rPr>
              <a:t>Las tareas rutinarias y de Nivel 1 se asignan al NOC o a personal junior.
Los problemas complejos o proyectos estratégicos se asignan al personal senior o a especialistas (Nivel 2 y 3).</a:t>
            </a:r>
            <a:endParaRPr kumimoji="1" lang="zh-CN" altLang="en-US"/>
          </a:p>
        </p:txBody>
      </p:sp>
      <p:pic>
        <p:nvPicPr>
          <p:cNvPr id="15" name="Imagen 14"/>
          <p:cNvPicPr>
            <a:picLocks noChangeAspect="1"/>
          </p:cNvPicPr>
          <p:nvPr/>
        </p:nvPicPr>
        <p:blipFill>
          <a:blip r:embed="rId2">
            <a:alphaModFix/>
          </a:blip>
          <a:srcRect l="27549" t="14392" r="35162" b="29730"/>
          <a:stretch>
            <a:fillRect/>
          </a:stretch>
        </p:blipFill>
        <p:spPr>
          <a:xfrm>
            <a:off x="7626800" y="1759060"/>
            <a:ext cx="1973144" cy="1973144"/>
          </a:xfrm>
          <a:custGeom>
            <a:avLst/>
            <a:gdLst/>
            <a:ahLst/>
            <a:cxnLst/>
            <a:rect l="l" t="t" r="r" b="b"/>
            <a:pathLst>
              <a:path w="1973144" h="1973144">
                <a:moveTo>
                  <a:pt x="986572" y="0"/>
                </a:moveTo>
                <a:cubicBezTo>
                  <a:pt x="1531441" y="0"/>
                  <a:pt x="1973144" y="441703"/>
                  <a:pt x="1973144" y="986572"/>
                </a:cubicBezTo>
                <a:cubicBezTo>
                  <a:pt x="1973144" y="1531441"/>
                  <a:pt x="1531441" y="1973144"/>
                  <a:pt x="986572" y="1973144"/>
                </a:cubicBezTo>
                <a:cubicBezTo>
                  <a:pt x="441703" y="1973144"/>
                  <a:pt x="0" y="1531441"/>
                  <a:pt x="0" y="986572"/>
                </a:cubicBezTo>
                <a:cubicBezTo>
                  <a:pt x="0" y="441703"/>
                  <a:pt x="441703" y="0"/>
                  <a:pt x="986572" y="0"/>
                </a:cubicBezTo>
                <a:close/>
              </a:path>
            </a:pathLst>
          </a:custGeom>
          <a:noFill/>
          <a:ln>
            <a:noFill/>
          </a:ln>
        </p:spPr>
      </p:pic>
      <p:pic>
        <p:nvPicPr>
          <p:cNvPr id="16" name="Imagen 15"/>
          <p:cNvPicPr>
            <a:picLocks noChangeAspect="1"/>
          </p:cNvPicPr>
          <p:nvPr/>
        </p:nvPicPr>
        <p:blipFill>
          <a:blip r:embed="rId3">
            <a:alphaModFix/>
          </a:blip>
          <a:srcRect l="27189" t="23252" r="37967" b="27028"/>
          <a:stretch>
            <a:fillRect/>
          </a:stretch>
        </p:blipFill>
        <p:spPr>
          <a:xfrm>
            <a:off x="2579356" y="1759060"/>
            <a:ext cx="1973144" cy="1973144"/>
          </a:xfrm>
          <a:custGeom>
            <a:avLst/>
            <a:gdLst/>
            <a:ahLst/>
            <a:cxnLst/>
            <a:rect l="l" t="t" r="r" b="b"/>
            <a:pathLst>
              <a:path w="1973144" h="1973144">
                <a:moveTo>
                  <a:pt x="986572" y="0"/>
                </a:moveTo>
                <a:cubicBezTo>
                  <a:pt x="1531441" y="0"/>
                  <a:pt x="1973144" y="441703"/>
                  <a:pt x="1973144" y="986572"/>
                </a:cubicBezTo>
                <a:cubicBezTo>
                  <a:pt x="1973144" y="1531441"/>
                  <a:pt x="1531441" y="1973144"/>
                  <a:pt x="986572" y="1973144"/>
                </a:cubicBezTo>
                <a:cubicBezTo>
                  <a:pt x="441703" y="1973144"/>
                  <a:pt x="0" y="1531441"/>
                  <a:pt x="0" y="986572"/>
                </a:cubicBezTo>
                <a:cubicBezTo>
                  <a:pt x="0" y="441703"/>
                  <a:pt x="441703" y="0"/>
                  <a:pt x="986572" y="0"/>
                </a:cubicBezTo>
                <a:close/>
              </a:path>
            </a:pathLst>
          </a:custGeom>
          <a:noFill/>
          <a:ln>
            <a:noFill/>
          </a:ln>
        </p:spPr>
      </p:pic>
      <p:sp>
        <p:nvSpPr>
          <p:cNvPr id="17" name="标题 1"/>
          <p:cNvSpPr txBox="1"/>
          <p:nvPr/>
        </p:nvSpPr>
        <p:spPr>
          <a:xfrm>
            <a:off x="452878" y="334470"/>
            <a:ext cx="8171180" cy="655320"/>
          </a:xfrm>
          <a:prstGeom prst="roundRect">
            <a:avLst>
              <a:gd name="adj" fmla="val 50000"/>
            </a:avLst>
          </a:prstGeom>
          <a:gradFill>
            <a:gsLst>
              <a:gs pos="0">
                <a:schemeClr val="accent1">
                  <a:lumMod val="20000"/>
                  <a:lumOff val="80000"/>
                </a:schemeClr>
              </a:gs>
              <a:gs pos="80000">
                <a:schemeClr val="accent1">
                  <a:lumMod val="20000"/>
                  <a:lumOff val="80000"/>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a:off x="783617"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Asignación Basada en Competencias</a:t>
            </a:r>
            <a:endParaRPr kumimoji="1" lang="zh-CN" altLang="en-US"/>
          </a:p>
        </p:txBody>
      </p:sp>
      <p:pic>
        <p:nvPicPr>
          <p:cNvPr id="19" name="Imagen 18">
            <a:extLst>
              <a:ext uri="{FF2B5EF4-FFF2-40B4-BE49-F238E27FC236}">
                <a16:creationId xmlns:a16="http://schemas.microsoft.com/office/drawing/2014/main" id="{96C06E63-D13B-5206-95C8-E3010289F4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779546" y="2531200"/>
            <a:ext cx="1919129" cy="516890"/>
          </a:xfrm>
          <a:custGeom>
            <a:avLst/>
            <a:gdLst>
              <a:gd name="T0" fmla="*/ 1099 w 1099"/>
              <a:gd name="T1" fmla="*/ 148 h 296"/>
              <a:gd name="T2" fmla="*/ 952 w 1099"/>
              <a:gd name="T3" fmla="*/ 296 h 296"/>
              <a:gd name="T4" fmla="*/ 0 w 1099"/>
              <a:gd name="T5" fmla="*/ 296 h 296"/>
              <a:gd name="T6" fmla="*/ 148 w 1099"/>
              <a:gd name="T7" fmla="*/ 148 h 296"/>
              <a:gd name="T8" fmla="*/ 0 w 1099"/>
              <a:gd name="T9" fmla="*/ 0 h 296"/>
              <a:gd name="T10" fmla="*/ 952 w 1099"/>
              <a:gd name="T11" fmla="*/ 0 h 296"/>
              <a:gd name="T12" fmla="*/ 1099 w 1099"/>
              <a:gd name="T13" fmla="*/ 148 h 296"/>
            </a:gdLst>
            <a:ahLst/>
            <a:cxnLst/>
            <a:rect l="0" t="0" r="r" b="b"/>
            <a:pathLst>
              <a:path w="1099" h="296">
                <a:moveTo>
                  <a:pt x="1099" y="148"/>
                </a:moveTo>
                <a:lnTo>
                  <a:pt x="952" y="296"/>
                </a:lnTo>
                <a:lnTo>
                  <a:pt x="0" y="296"/>
                </a:lnTo>
                <a:lnTo>
                  <a:pt x="148" y="148"/>
                </a:lnTo>
                <a:lnTo>
                  <a:pt x="0" y="0"/>
                </a:lnTo>
                <a:lnTo>
                  <a:pt x="952" y="0"/>
                </a:lnTo>
                <a:lnTo>
                  <a:pt x="1099" y="148"/>
                </a:lnTo>
                <a:close/>
              </a:path>
            </a:pathLst>
          </a:custGeom>
          <a:solidFill>
            <a:schemeClr val="bg2">
              <a:alpha val="10000"/>
            </a:schemeClr>
          </a:solidFill>
          <a:ln cap="sq">
            <a:noFill/>
          </a:ln>
        </p:spPr>
        <p:txBody>
          <a:bodyPr vert="horz" wrap="square" lIns="91440" tIns="45720" rIns="91440" bIns="45720" rtlCol="0" anchor="t"/>
          <a:lstStyle/>
          <a:p>
            <a:pPr algn="l"/>
            <a:endParaRPr kumimoji="1" lang="zh-CN" altLang="en-US"/>
          </a:p>
        </p:txBody>
      </p:sp>
      <p:sp>
        <p:nvSpPr>
          <p:cNvPr id="4" name="标题 1"/>
          <p:cNvSpPr txBox="1"/>
          <p:nvPr/>
        </p:nvSpPr>
        <p:spPr>
          <a:xfrm>
            <a:off x="779546" y="2374037"/>
            <a:ext cx="1919129" cy="593725"/>
          </a:xfrm>
          <a:custGeom>
            <a:avLst/>
            <a:gdLst>
              <a:gd name="T0" fmla="*/ 1099 w 1099"/>
              <a:gd name="T1" fmla="*/ 148 h 340"/>
              <a:gd name="T2" fmla="*/ 1099 w 1099"/>
              <a:gd name="T3" fmla="*/ 192 h 340"/>
              <a:gd name="T4" fmla="*/ 952 w 1099"/>
              <a:gd name="T5" fmla="*/ 340 h 340"/>
              <a:gd name="T6" fmla="*/ 0 w 1099"/>
              <a:gd name="T7" fmla="*/ 340 h 340"/>
              <a:gd name="T8" fmla="*/ 0 w 1099"/>
              <a:gd name="T9" fmla="*/ 294 h 340"/>
              <a:gd name="T10" fmla="*/ 148 w 1099"/>
              <a:gd name="T11" fmla="*/ 148 h 340"/>
              <a:gd name="T12" fmla="*/ 124 w 1099"/>
              <a:gd name="T13" fmla="*/ 170 h 340"/>
              <a:gd name="T14" fmla="*/ 0 w 1099"/>
              <a:gd name="T15" fmla="*/ 46 h 340"/>
              <a:gd name="T16" fmla="*/ 0 w 1099"/>
              <a:gd name="T17" fmla="*/ 0 h 340"/>
              <a:gd name="T18" fmla="*/ 952 w 1099"/>
              <a:gd name="T19" fmla="*/ 0 h 340"/>
              <a:gd name="T20" fmla="*/ 1099 w 1099"/>
              <a:gd name="T21" fmla="*/ 148 h 340"/>
            </a:gdLst>
            <a:ahLst/>
            <a:cxnLst/>
            <a:rect l="0" t="0" r="r" b="b"/>
            <a:pathLst>
              <a:path w="1099" h="340">
                <a:moveTo>
                  <a:pt x="1099" y="148"/>
                </a:moveTo>
                <a:lnTo>
                  <a:pt x="1099" y="192"/>
                </a:lnTo>
                <a:lnTo>
                  <a:pt x="952" y="340"/>
                </a:lnTo>
                <a:lnTo>
                  <a:pt x="0" y="340"/>
                </a:lnTo>
                <a:lnTo>
                  <a:pt x="0" y="294"/>
                </a:lnTo>
                <a:lnTo>
                  <a:pt x="148" y="148"/>
                </a:lnTo>
                <a:lnTo>
                  <a:pt x="124" y="170"/>
                </a:lnTo>
                <a:lnTo>
                  <a:pt x="0" y="46"/>
                </a:lnTo>
                <a:lnTo>
                  <a:pt x="0" y="0"/>
                </a:lnTo>
                <a:lnTo>
                  <a:pt x="952" y="0"/>
                </a:lnTo>
                <a:lnTo>
                  <a:pt x="1099" y="148"/>
                </a:lnTo>
                <a:close/>
              </a:path>
            </a:pathLst>
          </a:custGeom>
          <a:solidFill>
            <a:schemeClr val="accent1"/>
          </a:solidFill>
          <a:ln cap="sq">
            <a:noFill/>
          </a:ln>
        </p:spPr>
        <p:txBody>
          <a:bodyPr vert="horz" wrap="square" lIns="91440" tIns="45720" rIns="91440" bIns="45720" rtlCol="0" anchor="t"/>
          <a:lstStyle/>
          <a:p>
            <a:pPr algn="l"/>
            <a:endParaRPr kumimoji="1" lang="zh-CN" altLang="en-US"/>
          </a:p>
        </p:txBody>
      </p:sp>
      <p:sp>
        <p:nvSpPr>
          <p:cNvPr id="5" name="标题 1"/>
          <p:cNvSpPr txBox="1"/>
          <p:nvPr/>
        </p:nvSpPr>
        <p:spPr>
          <a:xfrm>
            <a:off x="779546" y="2887435"/>
            <a:ext cx="1662430" cy="80327"/>
          </a:xfrm>
          <a:prstGeom prst="rect">
            <a:avLst/>
          </a:prstGeom>
          <a:solidFill>
            <a:schemeClr val="tx1">
              <a:alpha val="15000"/>
            </a:schemeClr>
          </a:solidFill>
          <a:ln cap="sq">
            <a:noFill/>
          </a:ln>
        </p:spPr>
        <p:txBody>
          <a:bodyPr vert="horz" wrap="square" lIns="91440" tIns="45720" rIns="91440" bIns="45720" rtlCol="0" anchor="t"/>
          <a:lstStyle/>
          <a:p>
            <a:pPr algn="l"/>
            <a:endParaRPr kumimoji="1" lang="zh-CN" altLang="en-US"/>
          </a:p>
        </p:txBody>
      </p:sp>
      <p:sp>
        <p:nvSpPr>
          <p:cNvPr id="6" name="标题 1"/>
          <p:cNvSpPr txBox="1"/>
          <p:nvPr/>
        </p:nvSpPr>
        <p:spPr>
          <a:xfrm>
            <a:off x="2441975" y="2632483"/>
            <a:ext cx="256699" cy="335280"/>
          </a:xfrm>
          <a:custGeom>
            <a:avLst/>
            <a:gdLst>
              <a:gd name="T0" fmla="*/ 0 w 147"/>
              <a:gd name="T1" fmla="*/ 192 h 192"/>
              <a:gd name="T2" fmla="*/ 0 w 147"/>
              <a:gd name="T3" fmla="*/ 146 h 192"/>
              <a:gd name="T4" fmla="*/ 147 w 147"/>
              <a:gd name="T5" fmla="*/ 0 h 192"/>
              <a:gd name="T6" fmla="*/ 147 w 147"/>
              <a:gd name="T7" fmla="*/ 44 h 192"/>
              <a:gd name="T8" fmla="*/ 0 w 147"/>
              <a:gd name="T9" fmla="*/ 192 h 192"/>
            </a:gdLst>
            <a:ahLst/>
            <a:cxnLst/>
            <a:rect l="0" t="0" r="r" b="b"/>
            <a:pathLst>
              <a:path w="147" h="192">
                <a:moveTo>
                  <a:pt x="0" y="192"/>
                </a:moveTo>
                <a:lnTo>
                  <a:pt x="0" y="146"/>
                </a:lnTo>
                <a:lnTo>
                  <a:pt x="147" y="0"/>
                </a:lnTo>
                <a:lnTo>
                  <a:pt x="147" y="44"/>
                </a:lnTo>
                <a:lnTo>
                  <a:pt x="0" y="192"/>
                </a:lnTo>
                <a:close/>
              </a:path>
            </a:pathLst>
          </a:custGeom>
          <a:solidFill>
            <a:schemeClr val="tx1">
              <a:alpha val="30000"/>
            </a:schemeClr>
          </a:solidFill>
          <a:ln cap="sq">
            <a:noFill/>
          </a:ln>
        </p:spPr>
        <p:txBody>
          <a:bodyPr vert="horz" wrap="square" lIns="91440" tIns="45720" rIns="91440" bIns="45720" rtlCol="0" anchor="t"/>
          <a:lstStyle/>
          <a:p>
            <a:pPr algn="l"/>
            <a:endParaRPr kumimoji="1" lang="zh-CN" altLang="en-US"/>
          </a:p>
        </p:txBody>
      </p:sp>
      <p:sp>
        <p:nvSpPr>
          <p:cNvPr id="7" name="标题 1"/>
          <p:cNvSpPr txBox="1"/>
          <p:nvPr/>
        </p:nvSpPr>
        <p:spPr>
          <a:xfrm>
            <a:off x="779546" y="2374037"/>
            <a:ext cx="258445" cy="296863"/>
          </a:xfrm>
          <a:custGeom>
            <a:avLst/>
            <a:gdLst>
              <a:gd name="T0" fmla="*/ 0 w 148"/>
              <a:gd name="T1" fmla="*/ 46 h 170"/>
              <a:gd name="T2" fmla="*/ 0 w 148"/>
              <a:gd name="T3" fmla="*/ 0 h 170"/>
              <a:gd name="T4" fmla="*/ 148 w 148"/>
              <a:gd name="T5" fmla="*/ 148 h 170"/>
              <a:gd name="T6" fmla="*/ 124 w 148"/>
              <a:gd name="T7" fmla="*/ 170 h 170"/>
              <a:gd name="T8" fmla="*/ 0 w 148"/>
              <a:gd name="T9" fmla="*/ 46 h 170"/>
            </a:gdLst>
            <a:ahLst/>
            <a:cxnLst/>
            <a:rect l="0" t="0" r="r" b="b"/>
            <a:pathLst>
              <a:path w="148" h="170">
                <a:moveTo>
                  <a:pt x="0" y="46"/>
                </a:moveTo>
                <a:lnTo>
                  <a:pt x="0" y="0"/>
                </a:lnTo>
                <a:lnTo>
                  <a:pt x="148" y="148"/>
                </a:lnTo>
                <a:lnTo>
                  <a:pt x="124" y="170"/>
                </a:lnTo>
                <a:lnTo>
                  <a:pt x="0" y="46"/>
                </a:lnTo>
                <a:close/>
              </a:path>
            </a:pathLst>
          </a:custGeom>
          <a:solidFill>
            <a:schemeClr val="tx1">
              <a:alpha val="30000"/>
            </a:schemeClr>
          </a:solidFill>
          <a:ln cap="sq">
            <a:noFill/>
          </a:ln>
        </p:spPr>
        <p:txBody>
          <a:bodyPr vert="horz" wrap="square" lIns="91440" tIns="45720" rIns="91440" bIns="45720" rtlCol="0" anchor="t"/>
          <a:lstStyle/>
          <a:p>
            <a:pPr algn="l"/>
            <a:endParaRPr kumimoji="1" lang="zh-CN" altLang="en-US"/>
          </a:p>
        </p:txBody>
      </p:sp>
      <p:sp>
        <p:nvSpPr>
          <p:cNvPr id="8" name="标题 1"/>
          <p:cNvSpPr txBox="1"/>
          <p:nvPr/>
        </p:nvSpPr>
        <p:spPr>
          <a:xfrm>
            <a:off x="1184676" y="2506753"/>
            <a:ext cx="1110615" cy="247967"/>
          </a:xfrm>
          <a:prstGeom prst="ellipse">
            <a:avLst/>
          </a:prstGeom>
          <a:solidFill>
            <a:schemeClr val="tx1">
              <a:alpha val="10000"/>
            </a:schemeClr>
          </a:solidFill>
          <a:ln cap="sq">
            <a:noFill/>
          </a:ln>
        </p:spPr>
        <p:txBody>
          <a:bodyPr vert="horz" wrap="square" lIns="91440" tIns="45720" rIns="91440" bIns="45720" rtlCol="0" anchor="t"/>
          <a:lstStyle/>
          <a:p>
            <a:pPr algn="l"/>
            <a:endParaRPr kumimoji="1" lang="zh-CN" altLang="en-US"/>
          </a:p>
        </p:txBody>
      </p:sp>
      <p:sp>
        <p:nvSpPr>
          <p:cNvPr id="9" name="标题 1"/>
          <p:cNvSpPr txBox="1"/>
          <p:nvPr/>
        </p:nvSpPr>
        <p:spPr>
          <a:xfrm>
            <a:off x="1325716" y="1791337"/>
            <a:ext cx="828536" cy="828534"/>
          </a:xfrm>
          <a:prstGeom prst="ellipse">
            <a:avLst/>
          </a:prstGeom>
          <a:solidFill>
            <a:schemeClr val="bg1"/>
          </a:solidFill>
          <a:ln cap="sq">
            <a:noFill/>
          </a:ln>
        </p:spPr>
        <p:txBody>
          <a:bodyPr vert="horz" wrap="square" lIns="91440" tIns="45720" rIns="91440" bIns="45720" rtlCol="0" anchor="t"/>
          <a:lstStyle/>
          <a:p>
            <a:pPr algn="l"/>
            <a:endParaRPr kumimoji="1" lang="zh-CN" altLang="en-US"/>
          </a:p>
        </p:txBody>
      </p:sp>
      <p:sp>
        <p:nvSpPr>
          <p:cNvPr id="10" name="标题 1"/>
          <p:cNvSpPr txBox="1"/>
          <p:nvPr/>
        </p:nvSpPr>
        <p:spPr>
          <a:xfrm>
            <a:off x="1315294" y="1780914"/>
            <a:ext cx="849380" cy="849378"/>
          </a:xfrm>
          <a:custGeom>
            <a:avLst/>
            <a:gdLst>
              <a:gd name="T0" fmla="*/ 163 w 326"/>
              <a:gd name="T1" fmla="*/ 326 h 326"/>
              <a:gd name="T2" fmla="*/ 0 w 326"/>
              <a:gd name="T3" fmla="*/ 163 h 326"/>
              <a:gd name="T4" fmla="*/ 163 w 326"/>
              <a:gd name="T5" fmla="*/ 0 h 326"/>
              <a:gd name="T6" fmla="*/ 326 w 326"/>
              <a:gd name="T7" fmla="*/ 163 h 326"/>
              <a:gd name="T8" fmla="*/ 163 w 326"/>
              <a:gd name="T9" fmla="*/ 326 h 326"/>
              <a:gd name="T10" fmla="*/ 163 w 326"/>
              <a:gd name="T11" fmla="*/ 8 h 326"/>
              <a:gd name="T12" fmla="*/ 8 w 326"/>
              <a:gd name="T13" fmla="*/ 163 h 326"/>
              <a:gd name="T14" fmla="*/ 163 w 326"/>
              <a:gd name="T15" fmla="*/ 318 h 326"/>
              <a:gd name="T16" fmla="*/ 318 w 326"/>
              <a:gd name="T17" fmla="*/ 163 h 326"/>
              <a:gd name="T18" fmla="*/ 163 w 326"/>
              <a:gd name="T19" fmla="*/ 8 h 326"/>
            </a:gdLst>
            <a:ahLst/>
            <a:cxnLst/>
            <a:rect l="0" t="0" r="r" b="b"/>
            <a:pathLst>
              <a:path w="326" h="326">
                <a:moveTo>
                  <a:pt x="163" y="326"/>
                </a:moveTo>
                <a:cubicBezTo>
                  <a:pt x="73" y="326"/>
                  <a:pt x="0" y="253"/>
                  <a:pt x="0" y="163"/>
                </a:cubicBezTo>
                <a:cubicBezTo>
                  <a:pt x="0" y="73"/>
                  <a:pt x="73" y="0"/>
                  <a:pt x="163" y="0"/>
                </a:cubicBezTo>
                <a:cubicBezTo>
                  <a:pt x="253" y="0"/>
                  <a:pt x="326" y="73"/>
                  <a:pt x="326" y="163"/>
                </a:cubicBezTo>
                <a:cubicBezTo>
                  <a:pt x="326" y="253"/>
                  <a:pt x="253" y="326"/>
                  <a:pt x="163" y="326"/>
                </a:cubicBezTo>
                <a:close/>
                <a:moveTo>
                  <a:pt x="163" y="8"/>
                </a:moveTo>
                <a:cubicBezTo>
                  <a:pt x="78" y="8"/>
                  <a:pt x="8" y="78"/>
                  <a:pt x="8" y="163"/>
                </a:cubicBezTo>
                <a:cubicBezTo>
                  <a:pt x="8" y="248"/>
                  <a:pt x="78" y="318"/>
                  <a:pt x="163" y="318"/>
                </a:cubicBezTo>
                <a:cubicBezTo>
                  <a:pt x="248" y="318"/>
                  <a:pt x="318" y="248"/>
                  <a:pt x="318" y="163"/>
                </a:cubicBezTo>
                <a:cubicBezTo>
                  <a:pt x="318" y="78"/>
                  <a:pt x="248" y="8"/>
                  <a:pt x="163" y="8"/>
                </a:cubicBezTo>
                <a:close/>
              </a:path>
            </a:pathLst>
          </a:custGeom>
          <a:solidFill>
            <a:schemeClr val="accent1"/>
          </a:solidFill>
          <a:ln cap="sq">
            <a:noFill/>
          </a:ln>
        </p:spPr>
        <p:txBody>
          <a:bodyPr vert="horz" wrap="square" lIns="91440" tIns="45720" rIns="91440" bIns="45720" rtlCol="0" anchor="t"/>
          <a:lstStyle/>
          <a:p>
            <a:pPr algn="l"/>
            <a:endParaRPr kumimoji="1" lang="zh-CN" altLang="en-US"/>
          </a:p>
        </p:txBody>
      </p:sp>
      <p:sp>
        <p:nvSpPr>
          <p:cNvPr id="11" name="标题 1"/>
          <p:cNvSpPr txBox="1"/>
          <p:nvPr/>
        </p:nvSpPr>
        <p:spPr>
          <a:xfrm>
            <a:off x="1509371" y="2003868"/>
            <a:ext cx="461224" cy="403794"/>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accent1"/>
          </a:solidFill>
          <a:ln cap="sq">
            <a:noFill/>
          </a:ln>
        </p:spPr>
        <p:txBody>
          <a:bodyPr vert="horz" wrap="square" lIns="91440" tIns="45720" rIns="91440" bIns="45720" rtlCol="0" anchor="t"/>
          <a:lstStyle/>
          <a:p>
            <a:pPr algn="l"/>
            <a:endParaRPr kumimoji="1" lang="zh-CN" altLang="en-US"/>
          </a:p>
        </p:txBody>
      </p:sp>
      <p:sp>
        <p:nvSpPr>
          <p:cNvPr id="12" name="标题 1"/>
          <p:cNvSpPr txBox="1"/>
          <p:nvPr/>
        </p:nvSpPr>
        <p:spPr>
          <a:xfrm>
            <a:off x="779546" y="3863487"/>
            <a:ext cx="3312000" cy="1620000"/>
          </a:xfrm>
          <a:prstGeom prst="rect">
            <a:avLst/>
          </a:prstGeom>
          <a:noFill/>
          <a:ln>
            <a:noFill/>
          </a:ln>
        </p:spPr>
        <p:txBody>
          <a:bodyPr vert="horz" wrap="square" lIns="0" tIns="0" rIns="0" bIns="0" rtlCol="0" anchor="t"/>
          <a:lstStyle/>
          <a:p>
            <a:pPr algn="l"/>
            <a:r>
              <a:rPr kumimoji="1" lang="en-US" altLang="zh-CN" sz="1400">
                <a:ln w="12700">
                  <a:noFill/>
                </a:ln>
                <a:solidFill>
                  <a:srgbClr val="000000">
                    <a:alpha val="100000"/>
                  </a:srgbClr>
                </a:solidFill>
                <a:latin typeface="Poppins"/>
                <a:ea typeface="Poppins"/>
                <a:cs typeface="Poppins"/>
              </a:rPr>
              <a:t>Las herramientas tecnológicas permiten mejorar la comunicación y la colaboración entre los miembros del equipo, así como facilitar la gestión de proyectos y la asignación de recursos.</a:t>
            </a:r>
            <a:endParaRPr kumimoji="1" lang="zh-CN" altLang="en-US"/>
          </a:p>
        </p:txBody>
      </p:sp>
      <p:cxnSp>
        <p:nvCxnSpPr>
          <p:cNvPr id="13" name="标题 1"/>
          <p:cNvCxnSpPr/>
          <p:nvPr/>
        </p:nvCxnSpPr>
        <p:spPr>
          <a:xfrm>
            <a:off x="779546" y="3744830"/>
            <a:ext cx="198000" cy="0"/>
          </a:xfrm>
          <a:prstGeom prst="line">
            <a:avLst/>
          </a:prstGeom>
          <a:noFill/>
          <a:ln w="27940" cap="rnd">
            <a:solidFill>
              <a:schemeClr val="accent1"/>
            </a:solidFill>
            <a:miter/>
          </a:ln>
        </p:spPr>
      </p:cxnSp>
      <p:sp>
        <p:nvSpPr>
          <p:cNvPr id="14" name="标题 1"/>
          <p:cNvSpPr txBox="1"/>
          <p:nvPr/>
        </p:nvSpPr>
        <p:spPr>
          <a:xfrm>
            <a:off x="767361" y="2993888"/>
            <a:ext cx="3312000" cy="653217"/>
          </a:xfrm>
          <a:prstGeom prst="rect">
            <a:avLst/>
          </a:prstGeom>
          <a:noFill/>
          <a:ln>
            <a:noFill/>
          </a:ln>
        </p:spPr>
        <p:txBody>
          <a:bodyPr vert="horz" wrap="square" lIns="0" tIns="0" rIns="0" bIns="0" rtlCol="0" anchor="b"/>
          <a:lstStyle/>
          <a:p>
            <a:pPr algn="l"/>
            <a:r>
              <a:rPr kumimoji="1" lang="en-US" altLang="zh-CN" sz="1600">
                <a:ln w="12700">
                  <a:noFill/>
                </a:ln>
                <a:solidFill>
                  <a:srgbClr val="404040">
                    <a:alpha val="100000"/>
                  </a:srgbClr>
                </a:solidFill>
                <a:latin typeface="poppins-bold"/>
                <a:ea typeface="poppins-bold"/>
                <a:cs typeface="poppins-bold"/>
              </a:rPr>
              <a:t>Herramientas tecnológicas</a:t>
            </a:r>
            <a:endParaRPr kumimoji="1" lang="zh-CN" altLang="en-US"/>
          </a:p>
        </p:txBody>
      </p:sp>
      <p:sp>
        <p:nvSpPr>
          <p:cNvPr id="15" name="标题 1"/>
          <p:cNvSpPr txBox="1"/>
          <p:nvPr/>
        </p:nvSpPr>
        <p:spPr>
          <a:xfrm>
            <a:off x="4516733" y="2534692"/>
            <a:ext cx="1920875" cy="513397"/>
          </a:xfrm>
          <a:custGeom>
            <a:avLst/>
            <a:gdLst>
              <a:gd name="T0" fmla="*/ 1100 w 1100"/>
              <a:gd name="T1" fmla="*/ 148 h 294"/>
              <a:gd name="T2" fmla="*/ 952 w 1100"/>
              <a:gd name="T3" fmla="*/ 294 h 294"/>
              <a:gd name="T4" fmla="*/ 0 w 1100"/>
              <a:gd name="T5" fmla="*/ 294 h 294"/>
              <a:gd name="T6" fmla="*/ 146 w 1100"/>
              <a:gd name="T7" fmla="*/ 148 h 294"/>
              <a:gd name="T8" fmla="*/ 0 w 1100"/>
              <a:gd name="T9" fmla="*/ 0 h 294"/>
              <a:gd name="T10" fmla="*/ 952 w 1100"/>
              <a:gd name="T11" fmla="*/ 0 h 294"/>
              <a:gd name="T12" fmla="*/ 1100 w 1100"/>
              <a:gd name="T13" fmla="*/ 148 h 294"/>
            </a:gdLst>
            <a:ahLst/>
            <a:cxnLst/>
            <a:rect l="0" t="0" r="r" b="b"/>
            <a:pathLst>
              <a:path w="1100" h="294">
                <a:moveTo>
                  <a:pt x="1100" y="148"/>
                </a:moveTo>
                <a:lnTo>
                  <a:pt x="952" y="294"/>
                </a:lnTo>
                <a:lnTo>
                  <a:pt x="0" y="294"/>
                </a:lnTo>
                <a:lnTo>
                  <a:pt x="146" y="148"/>
                </a:lnTo>
                <a:lnTo>
                  <a:pt x="0" y="0"/>
                </a:lnTo>
                <a:lnTo>
                  <a:pt x="952" y="0"/>
                </a:lnTo>
                <a:lnTo>
                  <a:pt x="1100" y="148"/>
                </a:lnTo>
                <a:close/>
              </a:path>
            </a:pathLst>
          </a:custGeom>
          <a:solidFill>
            <a:schemeClr val="bg2">
              <a:alpha val="10000"/>
            </a:schemeClr>
          </a:solidFill>
          <a:ln cap="sq">
            <a:noFill/>
          </a:ln>
        </p:spPr>
        <p:txBody>
          <a:bodyPr vert="horz" wrap="square" lIns="91440" tIns="45720" rIns="91440" bIns="45720" rtlCol="0" anchor="t"/>
          <a:lstStyle/>
          <a:p>
            <a:pPr algn="l"/>
            <a:endParaRPr kumimoji="1" lang="zh-CN" altLang="en-US"/>
          </a:p>
        </p:txBody>
      </p:sp>
      <p:sp>
        <p:nvSpPr>
          <p:cNvPr id="16" name="标题 1"/>
          <p:cNvSpPr txBox="1"/>
          <p:nvPr/>
        </p:nvSpPr>
        <p:spPr>
          <a:xfrm>
            <a:off x="4516733" y="2377529"/>
            <a:ext cx="1920875" cy="593725"/>
          </a:xfrm>
          <a:custGeom>
            <a:avLst/>
            <a:gdLst>
              <a:gd name="T0" fmla="*/ 1100 w 1100"/>
              <a:gd name="T1" fmla="*/ 146 h 340"/>
              <a:gd name="T2" fmla="*/ 1100 w 1100"/>
              <a:gd name="T3" fmla="*/ 192 h 340"/>
              <a:gd name="T4" fmla="*/ 952 w 1100"/>
              <a:gd name="T5" fmla="*/ 340 h 340"/>
              <a:gd name="T6" fmla="*/ 0 w 1100"/>
              <a:gd name="T7" fmla="*/ 340 h 340"/>
              <a:gd name="T8" fmla="*/ 0 w 1100"/>
              <a:gd name="T9" fmla="*/ 294 h 340"/>
              <a:gd name="T10" fmla="*/ 124 w 1100"/>
              <a:gd name="T11" fmla="*/ 170 h 340"/>
              <a:gd name="T12" fmla="*/ 0 w 1100"/>
              <a:gd name="T13" fmla="*/ 44 h 340"/>
              <a:gd name="T14" fmla="*/ 0 w 1100"/>
              <a:gd name="T15" fmla="*/ 0 h 340"/>
              <a:gd name="T16" fmla="*/ 952 w 1100"/>
              <a:gd name="T17" fmla="*/ 0 h 340"/>
              <a:gd name="T18" fmla="*/ 1100 w 1100"/>
              <a:gd name="T19" fmla="*/ 146 h 340"/>
            </a:gdLst>
            <a:ahLst/>
            <a:cxnLst/>
            <a:rect l="0" t="0" r="r" b="b"/>
            <a:pathLst>
              <a:path w="1100" h="340">
                <a:moveTo>
                  <a:pt x="1100" y="146"/>
                </a:moveTo>
                <a:lnTo>
                  <a:pt x="1100" y="192"/>
                </a:lnTo>
                <a:lnTo>
                  <a:pt x="952" y="340"/>
                </a:lnTo>
                <a:lnTo>
                  <a:pt x="0" y="340"/>
                </a:lnTo>
                <a:lnTo>
                  <a:pt x="0" y="294"/>
                </a:lnTo>
                <a:lnTo>
                  <a:pt x="124" y="170"/>
                </a:lnTo>
                <a:lnTo>
                  <a:pt x="0" y="44"/>
                </a:lnTo>
                <a:lnTo>
                  <a:pt x="0" y="0"/>
                </a:lnTo>
                <a:lnTo>
                  <a:pt x="952" y="0"/>
                </a:lnTo>
                <a:lnTo>
                  <a:pt x="1100" y="146"/>
                </a:lnTo>
                <a:close/>
              </a:path>
            </a:pathLst>
          </a:custGeom>
          <a:solidFill>
            <a:schemeClr val="accent2"/>
          </a:solidFill>
          <a:ln cap="sq">
            <a:noFill/>
          </a:ln>
        </p:spPr>
        <p:txBody>
          <a:bodyPr vert="horz" wrap="square" lIns="91440" tIns="45720" rIns="91440" bIns="45720" rtlCol="0" anchor="t"/>
          <a:lstStyle/>
          <a:p>
            <a:pPr algn="l"/>
            <a:endParaRPr kumimoji="1" lang="zh-CN" altLang="en-US"/>
          </a:p>
        </p:txBody>
      </p:sp>
      <p:sp>
        <p:nvSpPr>
          <p:cNvPr id="17" name="标题 1"/>
          <p:cNvSpPr txBox="1"/>
          <p:nvPr/>
        </p:nvSpPr>
        <p:spPr>
          <a:xfrm>
            <a:off x="4516733" y="2890928"/>
            <a:ext cx="1662430" cy="80327"/>
          </a:xfrm>
          <a:prstGeom prst="rect">
            <a:avLst/>
          </a:prstGeom>
          <a:solidFill>
            <a:schemeClr val="tx1">
              <a:alpha val="15000"/>
            </a:schemeClr>
          </a:solidFill>
          <a:ln cap="sq">
            <a:noFill/>
          </a:ln>
        </p:spPr>
        <p:txBody>
          <a:bodyPr vert="horz" wrap="square" lIns="91440" tIns="45720" rIns="91440" bIns="45720" rtlCol="0" anchor="t"/>
          <a:lstStyle/>
          <a:p>
            <a:pPr algn="l"/>
            <a:endParaRPr kumimoji="1" lang="zh-CN" altLang="en-US"/>
          </a:p>
        </p:txBody>
      </p:sp>
      <p:sp>
        <p:nvSpPr>
          <p:cNvPr id="18" name="标题 1"/>
          <p:cNvSpPr txBox="1"/>
          <p:nvPr/>
        </p:nvSpPr>
        <p:spPr>
          <a:xfrm>
            <a:off x="6179164" y="2632483"/>
            <a:ext cx="258445" cy="338772"/>
          </a:xfrm>
          <a:custGeom>
            <a:avLst/>
            <a:gdLst>
              <a:gd name="T0" fmla="*/ 0 w 148"/>
              <a:gd name="T1" fmla="*/ 194 h 194"/>
              <a:gd name="T2" fmla="*/ 0 w 148"/>
              <a:gd name="T3" fmla="*/ 148 h 194"/>
              <a:gd name="T4" fmla="*/ 148 w 148"/>
              <a:gd name="T5" fmla="*/ 0 h 194"/>
              <a:gd name="T6" fmla="*/ 148 w 148"/>
              <a:gd name="T7" fmla="*/ 46 h 194"/>
              <a:gd name="T8" fmla="*/ 0 w 148"/>
              <a:gd name="T9" fmla="*/ 194 h 194"/>
            </a:gdLst>
            <a:ahLst/>
            <a:cxnLst/>
            <a:rect l="0" t="0" r="r" b="b"/>
            <a:pathLst>
              <a:path w="148" h="194">
                <a:moveTo>
                  <a:pt x="0" y="194"/>
                </a:moveTo>
                <a:lnTo>
                  <a:pt x="0" y="148"/>
                </a:lnTo>
                <a:lnTo>
                  <a:pt x="148" y="0"/>
                </a:lnTo>
                <a:lnTo>
                  <a:pt x="148" y="46"/>
                </a:lnTo>
                <a:lnTo>
                  <a:pt x="0" y="194"/>
                </a:lnTo>
                <a:close/>
              </a:path>
            </a:pathLst>
          </a:custGeom>
          <a:solidFill>
            <a:schemeClr val="tx1">
              <a:alpha val="30000"/>
            </a:schemeClr>
          </a:solidFill>
          <a:ln cap="sq">
            <a:noFill/>
          </a:ln>
        </p:spPr>
        <p:txBody>
          <a:bodyPr vert="horz" wrap="square" lIns="91440" tIns="45720" rIns="91440" bIns="45720" rtlCol="0" anchor="t"/>
          <a:lstStyle/>
          <a:p>
            <a:pPr algn="l"/>
            <a:endParaRPr kumimoji="1" lang="zh-CN" altLang="en-US"/>
          </a:p>
        </p:txBody>
      </p:sp>
      <p:sp>
        <p:nvSpPr>
          <p:cNvPr id="19" name="标题 1"/>
          <p:cNvSpPr txBox="1"/>
          <p:nvPr/>
        </p:nvSpPr>
        <p:spPr>
          <a:xfrm>
            <a:off x="4516733" y="2377529"/>
            <a:ext cx="254953" cy="296863"/>
          </a:xfrm>
          <a:custGeom>
            <a:avLst/>
            <a:gdLst>
              <a:gd name="T0" fmla="*/ 0 w 146"/>
              <a:gd name="T1" fmla="*/ 44 h 170"/>
              <a:gd name="T2" fmla="*/ 0 w 146"/>
              <a:gd name="T3" fmla="*/ 0 h 170"/>
              <a:gd name="T4" fmla="*/ 146 w 146"/>
              <a:gd name="T5" fmla="*/ 146 h 170"/>
              <a:gd name="T6" fmla="*/ 124 w 146"/>
              <a:gd name="T7" fmla="*/ 170 h 170"/>
              <a:gd name="T8" fmla="*/ 0 w 146"/>
              <a:gd name="T9" fmla="*/ 44 h 170"/>
            </a:gdLst>
            <a:ahLst/>
            <a:cxnLst/>
            <a:rect l="0" t="0" r="r" b="b"/>
            <a:pathLst>
              <a:path w="146" h="170">
                <a:moveTo>
                  <a:pt x="0" y="44"/>
                </a:moveTo>
                <a:lnTo>
                  <a:pt x="0" y="0"/>
                </a:lnTo>
                <a:lnTo>
                  <a:pt x="146" y="146"/>
                </a:lnTo>
                <a:lnTo>
                  <a:pt x="124" y="170"/>
                </a:lnTo>
                <a:lnTo>
                  <a:pt x="0" y="44"/>
                </a:lnTo>
                <a:close/>
              </a:path>
            </a:pathLst>
          </a:custGeom>
          <a:solidFill>
            <a:schemeClr val="tx1">
              <a:alpha val="30000"/>
            </a:schemeClr>
          </a:solidFill>
          <a:ln cap="sq">
            <a:noFill/>
          </a:ln>
        </p:spPr>
        <p:txBody>
          <a:bodyPr vert="horz" wrap="square" lIns="91440" tIns="45720" rIns="91440" bIns="45720" rtlCol="0" anchor="t"/>
          <a:lstStyle/>
          <a:p>
            <a:pPr algn="l"/>
            <a:endParaRPr kumimoji="1" lang="zh-CN" altLang="en-US"/>
          </a:p>
        </p:txBody>
      </p:sp>
      <p:sp>
        <p:nvSpPr>
          <p:cNvPr id="20" name="标题 1"/>
          <p:cNvSpPr txBox="1"/>
          <p:nvPr/>
        </p:nvSpPr>
        <p:spPr>
          <a:xfrm>
            <a:off x="4921864" y="2510245"/>
            <a:ext cx="1107123" cy="247967"/>
          </a:xfrm>
          <a:prstGeom prst="ellipse">
            <a:avLst/>
          </a:prstGeom>
          <a:solidFill>
            <a:schemeClr val="tx1">
              <a:alpha val="10000"/>
            </a:schemeClr>
          </a:solidFill>
          <a:ln cap="sq">
            <a:noFill/>
          </a:ln>
        </p:spPr>
        <p:txBody>
          <a:bodyPr vert="horz" wrap="square" lIns="91440" tIns="45720" rIns="91440" bIns="45720" rtlCol="0" anchor="t"/>
          <a:lstStyle/>
          <a:p>
            <a:pPr algn="l"/>
            <a:endParaRPr kumimoji="1" lang="zh-CN" altLang="en-US"/>
          </a:p>
        </p:txBody>
      </p:sp>
      <p:sp>
        <p:nvSpPr>
          <p:cNvPr id="21" name="标题 1"/>
          <p:cNvSpPr txBox="1"/>
          <p:nvPr/>
        </p:nvSpPr>
        <p:spPr>
          <a:xfrm>
            <a:off x="5062460" y="1794387"/>
            <a:ext cx="825930" cy="825928"/>
          </a:xfrm>
          <a:prstGeom prst="ellipse">
            <a:avLst/>
          </a:prstGeom>
          <a:solidFill>
            <a:schemeClr val="bg1"/>
          </a:solidFill>
          <a:ln cap="sq">
            <a:noFill/>
          </a:ln>
        </p:spPr>
        <p:txBody>
          <a:bodyPr vert="horz" wrap="square" lIns="91440" tIns="45720" rIns="91440" bIns="45720" rtlCol="0" anchor="t"/>
          <a:lstStyle/>
          <a:p>
            <a:pPr algn="l"/>
            <a:endParaRPr kumimoji="1" lang="zh-CN" altLang="en-US"/>
          </a:p>
        </p:txBody>
      </p:sp>
      <p:sp>
        <p:nvSpPr>
          <p:cNvPr id="22" name="标题 1"/>
          <p:cNvSpPr txBox="1"/>
          <p:nvPr/>
        </p:nvSpPr>
        <p:spPr>
          <a:xfrm>
            <a:off x="5052039" y="1783965"/>
            <a:ext cx="846774" cy="846772"/>
          </a:xfrm>
          <a:custGeom>
            <a:avLst/>
            <a:gdLst>
              <a:gd name="T0" fmla="*/ 163 w 325"/>
              <a:gd name="T1" fmla="*/ 325 h 325"/>
              <a:gd name="T2" fmla="*/ 0 w 325"/>
              <a:gd name="T3" fmla="*/ 163 h 325"/>
              <a:gd name="T4" fmla="*/ 163 w 325"/>
              <a:gd name="T5" fmla="*/ 0 h 325"/>
              <a:gd name="T6" fmla="*/ 325 w 325"/>
              <a:gd name="T7" fmla="*/ 163 h 325"/>
              <a:gd name="T8" fmla="*/ 163 w 325"/>
              <a:gd name="T9" fmla="*/ 325 h 325"/>
              <a:gd name="T10" fmla="*/ 163 w 325"/>
              <a:gd name="T11" fmla="*/ 8 h 325"/>
              <a:gd name="T12" fmla="*/ 8 w 325"/>
              <a:gd name="T13" fmla="*/ 163 h 325"/>
              <a:gd name="T14" fmla="*/ 163 w 325"/>
              <a:gd name="T15" fmla="*/ 317 h 325"/>
              <a:gd name="T16" fmla="*/ 317 w 325"/>
              <a:gd name="T17" fmla="*/ 163 h 325"/>
              <a:gd name="T18" fmla="*/ 163 w 325"/>
              <a:gd name="T19" fmla="*/ 8 h 325"/>
            </a:gdLst>
            <a:ahLst/>
            <a:cxnLst/>
            <a:rect l="0" t="0" r="r" b="b"/>
            <a:pathLst>
              <a:path w="325" h="325">
                <a:moveTo>
                  <a:pt x="163" y="325"/>
                </a:moveTo>
                <a:cubicBezTo>
                  <a:pt x="73" y="325"/>
                  <a:pt x="0" y="252"/>
                  <a:pt x="0" y="163"/>
                </a:cubicBezTo>
                <a:cubicBezTo>
                  <a:pt x="0" y="73"/>
                  <a:pt x="73" y="0"/>
                  <a:pt x="163" y="0"/>
                </a:cubicBezTo>
                <a:cubicBezTo>
                  <a:pt x="252" y="0"/>
                  <a:pt x="325" y="73"/>
                  <a:pt x="325" y="163"/>
                </a:cubicBezTo>
                <a:cubicBezTo>
                  <a:pt x="325" y="252"/>
                  <a:pt x="252" y="325"/>
                  <a:pt x="163" y="325"/>
                </a:cubicBezTo>
                <a:close/>
                <a:moveTo>
                  <a:pt x="163" y="8"/>
                </a:moveTo>
                <a:cubicBezTo>
                  <a:pt x="77" y="8"/>
                  <a:pt x="8" y="77"/>
                  <a:pt x="8" y="163"/>
                </a:cubicBezTo>
                <a:cubicBezTo>
                  <a:pt x="8" y="248"/>
                  <a:pt x="77" y="317"/>
                  <a:pt x="163" y="317"/>
                </a:cubicBezTo>
                <a:cubicBezTo>
                  <a:pt x="248" y="317"/>
                  <a:pt x="317" y="248"/>
                  <a:pt x="317" y="163"/>
                </a:cubicBezTo>
                <a:cubicBezTo>
                  <a:pt x="317" y="77"/>
                  <a:pt x="248" y="8"/>
                  <a:pt x="163" y="8"/>
                </a:cubicBezTo>
                <a:close/>
              </a:path>
            </a:pathLst>
          </a:custGeom>
          <a:solidFill>
            <a:schemeClr val="accent2"/>
          </a:solidFill>
          <a:ln cap="sq">
            <a:noFill/>
          </a:ln>
        </p:spPr>
        <p:txBody>
          <a:bodyPr vert="horz" wrap="square" lIns="91440" tIns="45720" rIns="91440" bIns="45720" rtlCol="0" anchor="t"/>
          <a:lstStyle/>
          <a:p>
            <a:pPr algn="l"/>
            <a:endParaRPr kumimoji="1" lang="zh-CN" altLang="en-US"/>
          </a:p>
        </p:txBody>
      </p:sp>
      <p:sp>
        <p:nvSpPr>
          <p:cNvPr id="23" name="标题 1"/>
          <p:cNvSpPr txBox="1"/>
          <p:nvPr/>
        </p:nvSpPr>
        <p:spPr>
          <a:xfrm>
            <a:off x="5258994" y="2030664"/>
            <a:ext cx="436354" cy="395604"/>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accent2"/>
          </a:solidFill>
          <a:ln cap="sq">
            <a:noFill/>
          </a:ln>
        </p:spPr>
        <p:txBody>
          <a:bodyPr vert="horz" wrap="square" lIns="91440" tIns="45720" rIns="91440" bIns="45720" rtlCol="0" anchor="t"/>
          <a:lstStyle/>
          <a:p>
            <a:pPr algn="l"/>
            <a:endParaRPr kumimoji="1" lang="zh-CN" altLang="en-US"/>
          </a:p>
        </p:txBody>
      </p:sp>
      <p:sp>
        <p:nvSpPr>
          <p:cNvPr id="24" name="标题 1"/>
          <p:cNvSpPr txBox="1"/>
          <p:nvPr/>
        </p:nvSpPr>
        <p:spPr>
          <a:xfrm>
            <a:off x="4516733" y="3863487"/>
            <a:ext cx="3312000" cy="1620000"/>
          </a:xfrm>
          <a:prstGeom prst="rect">
            <a:avLst/>
          </a:prstGeom>
          <a:noFill/>
          <a:ln>
            <a:noFill/>
          </a:ln>
        </p:spPr>
        <p:txBody>
          <a:bodyPr vert="horz" wrap="square" lIns="0" tIns="0" rIns="0" bIns="0" rtlCol="0" anchor="t"/>
          <a:lstStyle/>
          <a:p>
            <a:pPr algn="l"/>
            <a:r>
              <a:rPr kumimoji="1" lang="en-US" altLang="zh-CN" sz="1400">
                <a:ln w="12700">
                  <a:noFill/>
                </a:ln>
                <a:solidFill>
                  <a:srgbClr val="000000">
                    <a:alpha val="100000"/>
                  </a:srgbClr>
                </a:solidFill>
                <a:latin typeface="Poppins"/>
                <a:ea typeface="Poppins"/>
                <a:cs typeface="Poppins"/>
              </a:rPr>
              <a:t>Las técnicas de gestión incluyen metodologías como Agile o Lean, que promueven la eficiencia en el uso de recursos y permiten adaptarse rápidamente a los cambios en el entorno.</a:t>
            </a:r>
            <a:endParaRPr kumimoji="1" lang="zh-CN" altLang="en-US"/>
          </a:p>
        </p:txBody>
      </p:sp>
      <p:cxnSp>
        <p:nvCxnSpPr>
          <p:cNvPr id="25" name="标题 1"/>
          <p:cNvCxnSpPr/>
          <p:nvPr/>
        </p:nvCxnSpPr>
        <p:spPr>
          <a:xfrm>
            <a:off x="4516733" y="3744830"/>
            <a:ext cx="198000" cy="0"/>
          </a:xfrm>
          <a:prstGeom prst="line">
            <a:avLst/>
          </a:prstGeom>
          <a:noFill/>
          <a:ln w="27940" cap="rnd">
            <a:solidFill>
              <a:schemeClr val="accent2"/>
            </a:solidFill>
            <a:miter/>
          </a:ln>
        </p:spPr>
      </p:cxnSp>
      <p:sp>
        <p:nvSpPr>
          <p:cNvPr id="26" name="标题 1"/>
          <p:cNvSpPr txBox="1"/>
          <p:nvPr/>
        </p:nvSpPr>
        <p:spPr>
          <a:xfrm>
            <a:off x="4504549" y="2993888"/>
            <a:ext cx="3312000" cy="653217"/>
          </a:xfrm>
          <a:prstGeom prst="rect">
            <a:avLst/>
          </a:prstGeom>
          <a:noFill/>
          <a:ln>
            <a:noFill/>
          </a:ln>
        </p:spPr>
        <p:txBody>
          <a:bodyPr vert="horz" wrap="square" lIns="0" tIns="0" rIns="0" bIns="0" rtlCol="0" anchor="b"/>
          <a:lstStyle/>
          <a:p>
            <a:pPr algn="l"/>
            <a:r>
              <a:rPr kumimoji="1" lang="en-US" altLang="zh-CN" sz="1600">
                <a:ln w="12700">
                  <a:noFill/>
                </a:ln>
                <a:solidFill>
                  <a:srgbClr val="404040">
                    <a:alpha val="100000"/>
                  </a:srgbClr>
                </a:solidFill>
                <a:latin typeface="poppins-bold"/>
                <a:ea typeface="poppins-bold"/>
                <a:cs typeface="poppins-bold"/>
              </a:rPr>
              <a:t>Técnicas de gestión</a:t>
            </a:r>
            <a:endParaRPr kumimoji="1" lang="zh-CN" altLang="en-US"/>
          </a:p>
        </p:txBody>
      </p:sp>
      <p:sp>
        <p:nvSpPr>
          <p:cNvPr id="27" name="标题 1"/>
          <p:cNvSpPr txBox="1"/>
          <p:nvPr/>
        </p:nvSpPr>
        <p:spPr>
          <a:xfrm>
            <a:off x="8206900" y="2531200"/>
            <a:ext cx="1920875" cy="516890"/>
          </a:xfrm>
          <a:custGeom>
            <a:avLst/>
            <a:gdLst>
              <a:gd name="T0" fmla="*/ 1100 w 1100"/>
              <a:gd name="T1" fmla="*/ 148 h 296"/>
              <a:gd name="T2" fmla="*/ 954 w 1100"/>
              <a:gd name="T3" fmla="*/ 296 h 296"/>
              <a:gd name="T4" fmla="*/ 0 w 1100"/>
              <a:gd name="T5" fmla="*/ 296 h 296"/>
              <a:gd name="T6" fmla="*/ 148 w 1100"/>
              <a:gd name="T7" fmla="*/ 148 h 296"/>
              <a:gd name="T8" fmla="*/ 0 w 1100"/>
              <a:gd name="T9" fmla="*/ 0 h 296"/>
              <a:gd name="T10" fmla="*/ 954 w 1100"/>
              <a:gd name="T11" fmla="*/ 0 h 296"/>
              <a:gd name="T12" fmla="*/ 1100 w 1100"/>
              <a:gd name="T13" fmla="*/ 148 h 296"/>
            </a:gdLst>
            <a:ahLst/>
            <a:cxnLst/>
            <a:rect l="0" t="0" r="r" b="b"/>
            <a:pathLst>
              <a:path w="1100" h="296">
                <a:moveTo>
                  <a:pt x="1100" y="148"/>
                </a:moveTo>
                <a:lnTo>
                  <a:pt x="954" y="296"/>
                </a:lnTo>
                <a:lnTo>
                  <a:pt x="0" y="296"/>
                </a:lnTo>
                <a:lnTo>
                  <a:pt x="148" y="148"/>
                </a:lnTo>
                <a:lnTo>
                  <a:pt x="0" y="0"/>
                </a:lnTo>
                <a:lnTo>
                  <a:pt x="954" y="0"/>
                </a:lnTo>
                <a:lnTo>
                  <a:pt x="1100" y="148"/>
                </a:lnTo>
                <a:close/>
              </a:path>
            </a:pathLst>
          </a:custGeom>
          <a:solidFill>
            <a:schemeClr val="bg2">
              <a:alpha val="10000"/>
            </a:schemeClr>
          </a:solidFill>
          <a:ln cap="sq">
            <a:noFill/>
          </a:ln>
        </p:spPr>
        <p:txBody>
          <a:bodyPr vert="horz" wrap="square" lIns="91440" tIns="45720" rIns="91440" bIns="45720" rtlCol="0" anchor="t"/>
          <a:lstStyle/>
          <a:p>
            <a:pPr algn="l"/>
            <a:endParaRPr kumimoji="1" lang="zh-CN" altLang="en-US"/>
          </a:p>
        </p:txBody>
      </p:sp>
      <p:sp>
        <p:nvSpPr>
          <p:cNvPr id="28" name="标题 1"/>
          <p:cNvSpPr txBox="1"/>
          <p:nvPr/>
        </p:nvSpPr>
        <p:spPr>
          <a:xfrm>
            <a:off x="8206900" y="2374037"/>
            <a:ext cx="1920875" cy="593725"/>
          </a:xfrm>
          <a:custGeom>
            <a:avLst/>
            <a:gdLst>
              <a:gd name="T0" fmla="*/ 1100 w 1100"/>
              <a:gd name="T1" fmla="*/ 148 h 340"/>
              <a:gd name="T2" fmla="*/ 1100 w 1100"/>
              <a:gd name="T3" fmla="*/ 194 h 340"/>
              <a:gd name="T4" fmla="*/ 954 w 1100"/>
              <a:gd name="T5" fmla="*/ 340 h 340"/>
              <a:gd name="T6" fmla="*/ 0 w 1100"/>
              <a:gd name="T7" fmla="*/ 340 h 340"/>
              <a:gd name="T8" fmla="*/ 0 w 1100"/>
              <a:gd name="T9" fmla="*/ 296 h 340"/>
              <a:gd name="T10" fmla="*/ 126 w 1100"/>
              <a:gd name="T11" fmla="*/ 170 h 340"/>
              <a:gd name="T12" fmla="*/ 0 w 1100"/>
              <a:gd name="T13" fmla="*/ 46 h 340"/>
              <a:gd name="T14" fmla="*/ 0 w 1100"/>
              <a:gd name="T15" fmla="*/ 0 h 340"/>
              <a:gd name="T16" fmla="*/ 954 w 1100"/>
              <a:gd name="T17" fmla="*/ 0 h 340"/>
              <a:gd name="T18" fmla="*/ 1100 w 1100"/>
              <a:gd name="T19" fmla="*/ 148 h 340"/>
            </a:gdLst>
            <a:ahLst/>
            <a:cxnLst/>
            <a:rect l="0" t="0" r="r" b="b"/>
            <a:pathLst>
              <a:path w="1100" h="340">
                <a:moveTo>
                  <a:pt x="1100" y="148"/>
                </a:moveTo>
                <a:lnTo>
                  <a:pt x="1100" y="194"/>
                </a:lnTo>
                <a:lnTo>
                  <a:pt x="954" y="340"/>
                </a:lnTo>
                <a:lnTo>
                  <a:pt x="0" y="340"/>
                </a:lnTo>
                <a:lnTo>
                  <a:pt x="0" y="296"/>
                </a:lnTo>
                <a:lnTo>
                  <a:pt x="126" y="170"/>
                </a:lnTo>
                <a:lnTo>
                  <a:pt x="0" y="46"/>
                </a:lnTo>
                <a:lnTo>
                  <a:pt x="0" y="0"/>
                </a:lnTo>
                <a:lnTo>
                  <a:pt x="954" y="0"/>
                </a:lnTo>
                <a:lnTo>
                  <a:pt x="1100" y="148"/>
                </a:lnTo>
                <a:close/>
              </a:path>
            </a:pathLst>
          </a:custGeom>
          <a:solidFill>
            <a:schemeClr val="accent1"/>
          </a:solidFill>
          <a:ln cap="sq">
            <a:noFill/>
          </a:ln>
        </p:spPr>
        <p:txBody>
          <a:bodyPr vert="horz" wrap="square" lIns="91440" tIns="45720" rIns="91440" bIns="45720" rtlCol="0" anchor="t"/>
          <a:lstStyle/>
          <a:p>
            <a:pPr algn="l"/>
            <a:endParaRPr kumimoji="1" lang="zh-CN" altLang="en-US"/>
          </a:p>
        </p:txBody>
      </p:sp>
      <p:sp>
        <p:nvSpPr>
          <p:cNvPr id="29" name="标题 1"/>
          <p:cNvSpPr txBox="1"/>
          <p:nvPr/>
        </p:nvSpPr>
        <p:spPr>
          <a:xfrm>
            <a:off x="8206900" y="2890928"/>
            <a:ext cx="1665923" cy="76835"/>
          </a:xfrm>
          <a:prstGeom prst="rect">
            <a:avLst/>
          </a:prstGeom>
          <a:solidFill>
            <a:schemeClr val="tx1">
              <a:alpha val="15000"/>
            </a:schemeClr>
          </a:solidFill>
          <a:ln cap="sq">
            <a:noFill/>
          </a:ln>
        </p:spPr>
        <p:txBody>
          <a:bodyPr vert="horz" wrap="square" lIns="91440" tIns="45720" rIns="91440" bIns="45720" rtlCol="0" anchor="t"/>
          <a:lstStyle/>
          <a:p>
            <a:pPr algn="l"/>
            <a:endParaRPr kumimoji="1" lang="zh-CN" altLang="en-US"/>
          </a:p>
        </p:txBody>
      </p:sp>
      <p:sp>
        <p:nvSpPr>
          <p:cNvPr id="30" name="标题 1"/>
          <p:cNvSpPr txBox="1"/>
          <p:nvPr/>
        </p:nvSpPr>
        <p:spPr>
          <a:xfrm>
            <a:off x="9872822" y="2632483"/>
            <a:ext cx="254953" cy="335280"/>
          </a:xfrm>
          <a:custGeom>
            <a:avLst/>
            <a:gdLst>
              <a:gd name="T0" fmla="*/ 0 w 146"/>
              <a:gd name="T1" fmla="*/ 192 h 192"/>
              <a:gd name="T2" fmla="*/ 0 w 146"/>
              <a:gd name="T3" fmla="*/ 148 h 192"/>
              <a:gd name="T4" fmla="*/ 146 w 146"/>
              <a:gd name="T5" fmla="*/ 0 h 192"/>
              <a:gd name="T6" fmla="*/ 146 w 146"/>
              <a:gd name="T7" fmla="*/ 46 h 192"/>
              <a:gd name="T8" fmla="*/ 0 w 146"/>
              <a:gd name="T9" fmla="*/ 192 h 192"/>
            </a:gdLst>
            <a:ahLst/>
            <a:cxnLst/>
            <a:rect l="0" t="0" r="r" b="b"/>
            <a:pathLst>
              <a:path w="146" h="192">
                <a:moveTo>
                  <a:pt x="0" y="192"/>
                </a:moveTo>
                <a:lnTo>
                  <a:pt x="0" y="148"/>
                </a:lnTo>
                <a:lnTo>
                  <a:pt x="146" y="0"/>
                </a:lnTo>
                <a:lnTo>
                  <a:pt x="146" y="46"/>
                </a:lnTo>
                <a:lnTo>
                  <a:pt x="0" y="192"/>
                </a:lnTo>
                <a:close/>
              </a:path>
            </a:pathLst>
          </a:custGeom>
          <a:solidFill>
            <a:schemeClr val="tx1">
              <a:alpha val="30000"/>
            </a:schemeClr>
          </a:solidFill>
          <a:ln cap="sq">
            <a:noFill/>
          </a:ln>
        </p:spPr>
        <p:txBody>
          <a:bodyPr vert="horz" wrap="square" lIns="91440" tIns="45720" rIns="91440" bIns="45720" rtlCol="0" anchor="t"/>
          <a:lstStyle/>
          <a:p>
            <a:pPr algn="l"/>
            <a:endParaRPr kumimoji="1" lang="zh-CN" altLang="en-US"/>
          </a:p>
        </p:txBody>
      </p:sp>
      <p:sp>
        <p:nvSpPr>
          <p:cNvPr id="31" name="标题 1"/>
          <p:cNvSpPr txBox="1"/>
          <p:nvPr/>
        </p:nvSpPr>
        <p:spPr>
          <a:xfrm>
            <a:off x="8206900" y="2374037"/>
            <a:ext cx="258445" cy="296863"/>
          </a:xfrm>
          <a:custGeom>
            <a:avLst/>
            <a:gdLst>
              <a:gd name="T0" fmla="*/ 0 w 148"/>
              <a:gd name="T1" fmla="*/ 46 h 170"/>
              <a:gd name="T2" fmla="*/ 0 w 148"/>
              <a:gd name="T3" fmla="*/ 0 h 170"/>
              <a:gd name="T4" fmla="*/ 148 w 148"/>
              <a:gd name="T5" fmla="*/ 148 h 170"/>
              <a:gd name="T6" fmla="*/ 126 w 148"/>
              <a:gd name="T7" fmla="*/ 170 h 170"/>
              <a:gd name="T8" fmla="*/ 0 w 148"/>
              <a:gd name="T9" fmla="*/ 46 h 170"/>
            </a:gdLst>
            <a:ahLst/>
            <a:cxnLst/>
            <a:rect l="0" t="0" r="r" b="b"/>
            <a:pathLst>
              <a:path w="148" h="170">
                <a:moveTo>
                  <a:pt x="0" y="46"/>
                </a:moveTo>
                <a:lnTo>
                  <a:pt x="0" y="0"/>
                </a:lnTo>
                <a:lnTo>
                  <a:pt x="148" y="148"/>
                </a:lnTo>
                <a:lnTo>
                  <a:pt x="126" y="170"/>
                </a:lnTo>
                <a:lnTo>
                  <a:pt x="0" y="46"/>
                </a:lnTo>
                <a:close/>
              </a:path>
            </a:pathLst>
          </a:custGeom>
          <a:solidFill>
            <a:schemeClr val="tx1">
              <a:alpha val="30000"/>
            </a:schemeClr>
          </a:solidFill>
          <a:ln cap="sq">
            <a:noFill/>
          </a:ln>
        </p:spPr>
        <p:txBody>
          <a:bodyPr vert="horz" wrap="square" lIns="91440" tIns="45720" rIns="91440" bIns="45720" rtlCol="0" anchor="t"/>
          <a:lstStyle/>
          <a:p>
            <a:pPr algn="l"/>
            <a:endParaRPr kumimoji="1" lang="zh-CN" altLang="en-US"/>
          </a:p>
        </p:txBody>
      </p:sp>
      <p:sp>
        <p:nvSpPr>
          <p:cNvPr id="32" name="标题 1"/>
          <p:cNvSpPr txBox="1"/>
          <p:nvPr/>
        </p:nvSpPr>
        <p:spPr>
          <a:xfrm>
            <a:off x="8615522" y="2506753"/>
            <a:ext cx="1107123" cy="247967"/>
          </a:xfrm>
          <a:prstGeom prst="ellipse">
            <a:avLst/>
          </a:prstGeom>
          <a:solidFill>
            <a:schemeClr val="tx1">
              <a:alpha val="10000"/>
            </a:schemeClr>
          </a:solidFill>
          <a:ln cap="sq">
            <a:noFill/>
          </a:ln>
        </p:spPr>
        <p:txBody>
          <a:bodyPr vert="horz" wrap="square" lIns="91440" tIns="45720" rIns="91440" bIns="45720" rtlCol="0" anchor="t"/>
          <a:lstStyle/>
          <a:p>
            <a:pPr algn="l"/>
            <a:endParaRPr kumimoji="1" lang="zh-CN" altLang="en-US"/>
          </a:p>
        </p:txBody>
      </p:sp>
      <p:sp>
        <p:nvSpPr>
          <p:cNvPr id="33" name="标题 1"/>
          <p:cNvSpPr txBox="1"/>
          <p:nvPr/>
        </p:nvSpPr>
        <p:spPr>
          <a:xfrm>
            <a:off x="8756119" y="1791337"/>
            <a:ext cx="825930" cy="828534"/>
          </a:xfrm>
          <a:prstGeom prst="ellipse">
            <a:avLst/>
          </a:prstGeom>
          <a:solidFill>
            <a:schemeClr val="bg1"/>
          </a:solidFill>
          <a:ln cap="sq">
            <a:noFill/>
          </a:ln>
        </p:spPr>
        <p:txBody>
          <a:bodyPr vert="horz" wrap="square" lIns="91440" tIns="45720" rIns="91440" bIns="45720" rtlCol="0" anchor="t"/>
          <a:lstStyle/>
          <a:p>
            <a:pPr algn="l"/>
            <a:endParaRPr kumimoji="1" lang="zh-CN" altLang="en-US"/>
          </a:p>
        </p:txBody>
      </p:sp>
      <p:sp>
        <p:nvSpPr>
          <p:cNvPr id="34" name="标题 1"/>
          <p:cNvSpPr txBox="1"/>
          <p:nvPr/>
        </p:nvSpPr>
        <p:spPr>
          <a:xfrm>
            <a:off x="8745697" y="1780914"/>
            <a:ext cx="846774" cy="849378"/>
          </a:xfrm>
          <a:custGeom>
            <a:avLst/>
            <a:gdLst>
              <a:gd name="T0" fmla="*/ 162 w 325"/>
              <a:gd name="T1" fmla="*/ 326 h 326"/>
              <a:gd name="T2" fmla="*/ 0 w 325"/>
              <a:gd name="T3" fmla="*/ 163 h 326"/>
              <a:gd name="T4" fmla="*/ 162 w 325"/>
              <a:gd name="T5" fmla="*/ 0 h 326"/>
              <a:gd name="T6" fmla="*/ 325 w 325"/>
              <a:gd name="T7" fmla="*/ 163 h 326"/>
              <a:gd name="T8" fmla="*/ 162 w 325"/>
              <a:gd name="T9" fmla="*/ 326 h 326"/>
              <a:gd name="T10" fmla="*/ 162 w 325"/>
              <a:gd name="T11" fmla="*/ 8 h 326"/>
              <a:gd name="T12" fmla="*/ 8 w 325"/>
              <a:gd name="T13" fmla="*/ 163 h 326"/>
              <a:gd name="T14" fmla="*/ 162 w 325"/>
              <a:gd name="T15" fmla="*/ 318 h 326"/>
              <a:gd name="T16" fmla="*/ 317 w 325"/>
              <a:gd name="T17" fmla="*/ 163 h 326"/>
              <a:gd name="T18" fmla="*/ 162 w 325"/>
              <a:gd name="T19" fmla="*/ 8 h 326"/>
            </a:gdLst>
            <a:ahLst/>
            <a:cxnLst/>
            <a:rect l="0" t="0" r="r" b="b"/>
            <a:pathLst>
              <a:path w="325" h="326">
                <a:moveTo>
                  <a:pt x="162" y="326"/>
                </a:moveTo>
                <a:cubicBezTo>
                  <a:pt x="73" y="326"/>
                  <a:pt x="0" y="253"/>
                  <a:pt x="0" y="163"/>
                </a:cubicBezTo>
                <a:cubicBezTo>
                  <a:pt x="0" y="73"/>
                  <a:pt x="73" y="0"/>
                  <a:pt x="162" y="0"/>
                </a:cubicBezTo>
                <a:cubicBezTo>
                  <a:pt x="252" y="0"/>
                  <a:pt x="325" y="73"/>
                  <a:pt x="325" y="163"/>
                </a:cubicBezTo>
                <a:cubicBezTo>
                  <a:pt x="325" y="253"/>
                  <a:pt x="252" y="326"/>
                  <a:pt x="162" y="326"/>
                </a:cubicBezTo>
                <a:close/>
                <a:moveTo>
                  <a:pt x="162" y="8"/>
                </a:moveTo>
                <a:cubicBezTo>
                  <a:pt x="77" y="8"/>
                  <a:pt x="8" y="78"/>
                  <a:pt x="8" y="163"/>
                </a:cubicBezTo>
                <a:cubicBezTo>
                  <a:pt x="8" y="248"/>
                  <a:pt x="77" y="318"/>
                  <a:pt x="162" y="318"/>
                </a:cubicBezTo>
                <a:cubicBezTo>
                  <a:pt x="248" y="318"/>
                  <a:pt x="317" y="248"/>
                  <a:pt x="317" y="163"/>
                </a:cubicBezTo>
                <a:cubicBezTo>
                  <a:pt x="317" y="78"/>
                  <a:pt x="248" y="8"/>
                  <a:pt x="162" y="8"/>
                </a:cubicBezTo>
                <a:close/>
              </a:path>
            </a:pathLst>
          </a:custGeom>
          <a:solidFill>
            <a:schemeClr val="accent1"/>
          </a:solidFill>
          <a:ln cap="sq">
            <a:noFill/>
          </a:ln>
        </p:spPr>
        <p:txBody>
          <a:bodyPr vert="horz" wrap="square" lIns="91440" tIns="45720" rIns="91440" bIns="45720" rtlCol="0" anchor="t"/>
          <a:lstStyle/>
          <a:p>
            <a:pPr algn="l"/>
            <a:endParaRPr kumimoji="1" lang="zh-CN" altLang="en-US"/>
          </a:p>
        </p:txBody>
      </p:sp>
      <p:sp>
        <p:nvSpPr>
          <p:cNvPr id="35" name="标题 1"/>
          <p:cNvSpPr txBox="1"/>
          <p:nvPr/>
        </p:nvSpPr>
        <p:spPr>
          <a:xfrm>
            <a:off x="8961597" y="2028604"/>
            <a:ext cx="411484" cy="340354"/>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accent1"/>
          </a:solidFill>
          <a:ln cap="sq">
            <a:noFill/>
          </a:ln>
        </p:spPr>
        <p:txBody>
          <a:bodyPr vert="horz" wrap="square" lIns="91440" tIns="45720" rIns="91440" bIns="45720" rtlCol="0" anchor="t"/>
          <a:lstStyle/>
          <a:p>
            <a:pPr algn="l"/>
            <a:endParaRPr kumimoji="1" lang="zh-CN" altLang="en-US"/>
          </a:p>
        </p:txBody>
      </p:sp>
      <p:sp>
        <p:nvSpPr>
          <p:cNvPr id="36" name="标题 1"/>
          <p:cNvSpPr txBox="1"/>
          <p:nvPr/>
        </p:nvSpPr>
        <p:spPr>
          <a:xfrm>
            <a:off x="8206900" y="3863487"/>
            <a:ext cx="3312000" cy="1620000"/>
          </a:xfrm>
          <a:prstGeom prst="rect">
            <a:avLst/>
          </a:prstGeom>
          <a:noFill/>
          <a:ln>
            <a:noFill/>
          </a:ln>
        </p:spPr>
        <p:txBody>
          <a:bodyPr vert="horz" wrap="square" lIns="0" tIns="0" rIns="0" bIns="0" rtlCol="0" anchor="t"/>
          <a:lstStyle/>
          <a:p>
            <a:pPr algn="l"/>
            <a:r>
              <a:rPr kumimoji="1" lang="en-US" altLang="zh-CN" sz="1400">
                <a:ln w="12700">
                  <a:noFill/>
                </a:ln>
                <a:solidFill>
                  <a:srgbClr val="000000">
                    <a:alpha val="100000"/>
                  </a:srgbClr>
                </a:solidFill>
                <a:latin typeface="Poppins"/>
                <a:ea typeface="Poppins"/>
                <a:cs typeface="Poppins"/>
              </a:rPr>
              <a:t>El seguimiento y ajuste de las estrategias de asignación son esenciales para evaluar su efectividad y realizar modificaciones necesarias que optimicen el rendimiento del equipo.</a:t>
            </a:r>
            <a:endParaRPr kumimoji="1" lang="zh-CN" altLang="en-US"/>
          </a:p>
        </p:txBody>
      </p:sp>
      <p:cxnSp>
        <p:nvCxnSpPr>
          <p:cNvPr id="37" name="标题 1"/>
          <p:cNvCxnSpPr/>
          <p:nvPr/>
        </p:nvCxnSpPr>
        <p:spPr>
          <a:xfrm>
            <a:off x="8206900" y="3744830"/>
            <a:ext cx="198000" cy="0"/>
          </a:xfrm>
          <a:prstGeom prst="line">
            <a:avLst/>
          </a:prstGeom>
          <a:noFill/>
          <a:ln w="27940" cap="rnd">
            <a:solidFill>
              <a:schemeClr val="accent3"/>
            </a:solidFill>
            <a:miter/>
          </a:ln>
        </p:spPr>
      </p:cxnSp>
      <p:sp>
        <p:nvSpPr>
          <p:cNvPr id="38" name="标题 1"/>
          <p:cNvSpPr txBox="1"/>
          <p:nvPr/>
        </p:nvSpPr>
        <p:spPr>
          <a:xfrm>
            <a:off x="8194715" y="2993888"/>
            <a:ext cx="3312000" cy="653217"/>
          </a:xfrm>
          <a:prstGeom prst="rect">
            <a:avLst/>
          </a:prstGeom>
          <a:noFill/>
          <a:ln>
            <a:noFill/>
          </a:ln>
        </p:spPr>
        <p:txBody>
          <a:bodyPr vert="horz" wrap="square" lIns="0" tIns="0" rIns="0" bIns="0" rtlCol="0" anchor="b"/>
          <a:lstStyle/>
          <a:p>
            <a:pPr algn="l"/>
            <a:r>
              <a:rPr kumimoji="1" lang="en-US" altLang="zh-CN" sz="1600">
                <a:ln w="12700">
                  <a:noFill/>
                </a:ln>
                <a:solidFill>
                  <a:srgbClr val="404040">
                    <a:alpha val="100000"/>
                  </a:srgbClr>
                </a:solidFill>
                <a:latin typeface="poppins-bold"/>
                <a:ea typeface="poppins-bold"/>
                <a:cs typeface="poppins-bold"/>
              </a:rPr>
              <a:t>Seguimiento y ajuste</a:t>
            </a:r>
            <a:endParaRPr kumimoji="1" lang="zh-CN" altLang="en-US"/>
          </a:p>
        </p:txBody>
      </p:sp>
      <p:sp>
        <p:nvSpPr>
          <p:cNvPr id="39" name="标题 1"/>
          <p:cNvSpPr txBox="1"/>
          <p:nvPr/>
        </p:nvSpPr>
        <p:spPr>
          <a:xfrm>
            <a:off x="493099" y="392345"/>
            <a:ext cx="7286484" cy="612000"/>
          </a:xfrm>
          <a:prstGeom prst="roundRect">
            <a:avLst>
              <a:gd name="adj" fmla="val 50000"/>
            </a:avLst>
          </a:prstGeom>
          <a:gradFill>
            <a:gsLst>
              <a:gs pos="5000">
                <a:schemeClr val="bg1">
                  <a:lumMod val="95000"/>
                </a:schemeClr>
              </a:gs>
              <a:gs pos="85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40" name="标题 1"/>
          <p:cNvSpPr txBox="1"/>
          <p:nvPr/>
        </p:nvSpPr>
        <p:spPr>
          <a:xfrm>
            <a:off x="466702" y="336383"/>
            <a:ext cx="216000" cy="216000"/>
          </a:xfrm>
          <a:prstGeom prst="ellipse">
            <a:avLst/>
          </a:prstGeom>
          <a:solidFill>
            <a:schemeClr val="accent1"/>
          </a:solidFill>
          <a:ln w="25400" cap="sq">
            <a:noFill/>
            <a:miter/>
          </a:ln>
        </p:spPr>
        <p:txBody>
          <a:bodyPr vert="horz" wrap="square" lIns="91440" tIns="45720" rIns="91440" bIns="45720" rtlCol="0" anchor="ctr"/>
          <a:lstStyle/>
          <a:p>
            <a:pPr algn="ctr"/>
            <a:endParaRPr kumimoji="1" lang="zh-CN" altLang="en-US"/>
          </a:p>
        </p:txBody>
      </p:sp>
      <p:sp>
        <p:nvSpPr>
          <p:cNvPr id="41" name="标题 1"/>
          <p:cNvSpPr txBox="1"/>
          <p:nvPr/>
        </p:nvSpPr>
        <p:spPr>
          <a:xfrm>
            <a:off x="781099" y="464345"/>
            <a:ext cx="10737801"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Optimización del uso de recursos</a:t>
            </a:r>
            <a:endParaRPr kumimoji="1" lang="zh-CN" altLang="en-US"/>
          </a:p>
        </p:txBody>
      </p:sp>
      <p:pic>
        <p:nvPicPr>
          <p:cNvPr id="42" name="Imagen 41">
            <a:extLst>
              <a:ext uri="{FF2B5EF4-FFF2-40B4-BE49-F238E27FC236}">
                <a16:creationId xmlns:a16="http://schemas.microsoft.com/office/drawing/2014/main" id="{059B594C-86FC-3FAD-D619-FC98077992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1566440" y="1489588"/>
            <a:ext cx="363175" cy="808435"/>
          </a:xfrm>
          <a:prstGeom prst="rect">
            <a:avLst/>
          </a:prstGeom>
          <a:gradFill>
            <a:gsLst>
              <a:gs pos="1000">
                <a:schemeClr val="accent1">
                  <a:lumMod val="60000"/>
                  <a:lumOff val="40000"/>
                  <a:alpha val="100000"/>
                </a:schemeClr>
              </a:gs>
              <a:gs pos="100000">
                <a:schemeClr val="accent1">
                  <a:lumMod val="20000"/>
                  <a:lumOff val="80000"/>
                  <a:alpha val="100000"/>
                </a:schemeClr>
              </a:gs>
            </a:gsLst>
            <a:lin ang="2700000" scaled="0"/>
          </a:gradFill>
          <a:ln w="12700" cap="sq">
            <a:noFill/>
            <a:miter/>
          </a:ln>
          <a:effectLst>
            <a:outerShdw blurRad="330200" dist="1905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4" name="标题 1"/>
          <p:cNvSpPr txBox="1"/>
          <p:nvPr/>
        </p:nvSpPr>
        <p:spPr>
          <a:xfrm>
            <a:off x="3726131" y="1932082"/>
            <a:ext cx="363175" cy="808435"/>
          </a:xfrm>
          <a:prstGeom prst="rect">
            <a:avLst/>
          </a:prstGeom>
          <a:gradFill>
            <a:gsLst>
              <a:gs pos="1000">
                <a:schemeClr val="accent1">
                  <a:lumMod val="60000"/>
                  <a:lumOff val="40000"/>
                  <a:alpha val="100000"/>
                </a:schemeClr>
              </a:gs>
              <a:gs pos="100000">
                <a:schemeClr val="accent1">
                  <a:lumMod val="20000"/>
                  <a:lumOff val="80000"/>
                  <a:alpha val="100000"/>
                </a:schemeClr>
              </a:gs>
            </a:gsLst>
            <a:lin ang="2700000" scaled="0"/>
          </a:gradFill>
          <a:ln w="12700" cap="sq">
            <a:noFill/>
            <a:miter/>
          </a:ln>
          <a:effectLst>
            <a:outerShdw blurRad="330200" dist="1905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5" name="标题 1"/>
          <p:cNvSpPr txBox="1"/>
          <p:nvPr/>
        </p:nvSpPr>
        <p:spPr>
          <a:xfrm>
            <a:off x="5885822" y="2650574"/>
            <a:ext cx="363175" cy="808435"/>
          </a:xfrm>
          <a:prstGeom prst="rect">
            <a:avLst/>
          </a:prstGeom>
          <a:gradFill>
            <a:gsLst>
              <a:gs pos="1000">
                <a:schemeClr val="accent1">
                  <a:lumMod val="60000"/>
                  <a:lumOff val="40000"/>
                  <a:alpha val="100000"/>
                </a:schemeClr>
              </a:gs>
              <a:gs pos="100000">
                <a:schemeClr val="accent1">
                  <a:lumMod val="20000"/>
                  <a:lumOff val="80000"/>
                  <a:alpha val="100000"/>
                </a:schemeClr>
              </a:gs>
            </a:gsLst>
            <a:lin ang="2700000" scaled="0"/>
          </a:gradFill>
          <a:ln w="12700" cap="sq">
            <a:noFill/>
            <a:miter/>
          </a:ln>
          <a:effectLst>
            <a:outerShdw blurRad="330200" dist="1905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6" name="标题 1"/>
          <p:cNvSpPr txBox="1"/>
          <p:nvPr/>
        </p:nvSpPr>
        <p:spPr>
          <a:xfrm>
            <a:off x="8045513" y="3645063"/>
            <a:ext cx="363175" cy="808435"/>
          </a:xfrm>
          <a:prstGeom prst="rect">
            <a:avLst/>
          </a:prstGeom>
          <a:gradFill>
            <a:gsLst>
              <a:gs pos="1000">
                <a:schemeClr val="accent1">
                  <a:lumMod val="60000"/>
                  <a:lumOff val="40000"/>
                  <a:alpha val="100000"/>
                </a:schemeClr>
              </a:gs>
              <a:gs pos="100000">
                <a:schemeClr val="accent1">
                  <a:lumMod val="20000"/>
                  <a:lumOff val="80000"/>
                  <a:alpha val="100000"/>
                </a:schemeClr>
              </a:gs>
            </a:gsLst>
            <a:lin ang="2700000" scaled="0"/>
          </a:gradFill>
          <a:ln w="12700" cap="sq">
            <a:noFill/>
            <a:miter/>
          </a:ln>
          <a:effectLst>
            <a:outerShdw blurRad="330200" dist="1905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7" name="标题 1"/>
          <p:cNvSpPr txBox="1"/>
          <p:nvPr/>
        </p:nvSpPr>
        <p:spPr>
          <a:xfrm>
            <a:off x="0" y="4546158"/>
            <a:ext cx="8864666" cy="2311842"/>
          </a:xfrm>
          <a:custGeom>
            <a:avLst/>
            <a:gdLst>
              <a:gd name="connsiteX0" fmla="*/ 371740 w 8767392"/>
              <a:gd name="connsiteY0" fmla="*/ 0 h 2311842"/>
              <a:gd name="connsiteX1" fmla="*/ 8587824 w 8767392"/>
              <a:gd name="connsiteY1" fmla="*/ 2178285 h 2311842"/>
              <a:gd name="connsiteX2" fmla="*/ 8767392 w 8767392"/>
              <a:gd name="connsiteY2" fmla="*/ 2311842 h 2311842"/>
              <a:gd name="connsiteX3" fmla="*/ 0 w 8767392"/>
              <a:gd name="connsiteY3" fmla="*/ 2311842 h 2311842"/>
              <a:gd name="connsiteX4" fmla="*/ 0 w 8767392"/>
              <a:gd name="connsiteY4" fmla="*/ 4972 h 2311842"/>
            </a:gdLst>
            <a:ahLst/>
            <a:cxnLst/>
            <a:rect l="l" t="t" r="r" b="b"/>
            <a:pathLst>
              <a:path w="8767392" h="2311842">
                <a:moveTo>
                  <a:pt x="371740" y="0"/>
                </a:moveTo>
                <a:cubicBezTo>
                  <a:pt x="3733891" y="0"/>
                  <a:pt x="6718067" y="855932"/>
                  <a:pt x="8587824" y="2178285"/>
                </a:cubicBezTo>
                <a:lnTo>
                  <a:pt x="8767392" y="2311842"/>
                </a:lnTo>
                <a:lnTo>
                  <a:pt x="0" y="2311842"/>
                </a:lnTo>
                <a:lnTo>
                  <a:pt x="0" y="4972"/>
                </a:lnTo>
                <a:close/>
              </a:path>
            </a:pathLst>
          </a:custGeom>
          <a:gradFill>
            <a:gsLst>
              <a:gs pos="1000">
                <a:schemeClr val="accent1">
                  <a:alpha val="100000"/>
                </a:schemeClr>
              </a:gs>
              <a:gs pos="100000">
                <a:schemeClr val="accent1">
                  <a:lumMod val="40000"/>
                  <a:lumOff val="60000"/>
                  <a:alpha val="100000"/>
                </a:schemeClr>
              </a:gs>
            </a:gsLst>
            <a:lin ang="2700000" scaled="0"/>
          </a:gradFill>
          <a:ln w="12700" cap="sq">
            <a:noFill/>
            <a:miter/>
          </a:ln>
          <a:effectLst>
            <a:outerShdw blurRad="330200" dist="1905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8" name="标题 1"/>
          <p:cNvSpPr txBox="1"/>
          <p:nvPr/>
        </p:nvSpPr>
        <p:spPr>
          <a:xfrm rot="21431518">
            <a:off x="745283" y="4171476"/>
            <a:ext cx="8228826" cy="2786276"/>
          </a:xfrm>
          <a:custGeom>
            <a:avLst/>
            <a:gdLst>
              <a:gd name="connsiteX0" fmla="*/ 0 w 9247286"/>
              <a:gd name="connsiteY0" fmla="*/ 0 h 3562120"/>
              <a:gd name="connsiteX1" fmla="*/ 138295 w 9247286"/>
              <a:gd name="connsiteY1" fmla="*/ 1850 h 3562120"/>
              <a:gd name="connsiteX2" fmla="*/ 9241518 w 9247286"/>
              <a:gd name="connsiteY2" fmla="*/ 3553106 h 3562120"/>
              <a:gd name="connsiteX3" fmla="*/ 9247286 w 9247286"/>
              <a:gd name="connsiteY3" fmla="*/ 3562120 h 3562120"/>
              <a:gd name="connsiteX4" fmla="*/ 9027492 w 9247286"/>
              <a:gd name="connsiteY4" fmla="*/ 3330898 h 3562120"/>
              <a:gd name="connsiteX5" fmla="*/ 95904 w 9247286"/>
              <a:gd name="connsiteY5" fmla="*/ 5154 h 3562120"/>
              <a:gd name="connsiteX6" fmla="*/ 0 w 9247286"/>
              <a:gd name="connsiteY6" fmla="*/ 0 h 3562120"/>
            </a:gdLst>
            <a:ahLst/>
            <a:cxnLst/>
            <a:rect l="l" t="t" r="r" b="b"/>
            <a:pathLst>
              <a:path w="9247286" h="3562120">
                <a:moveTo>
                  <a:pt x="0" y="0"/>
                </a:moveTo>
                <a:lnTo>
                  <a:pt x="138295" y="1850"/>
                </a:lnTo>
                <a:cubicBezTo>
                  <a:pt x="4332388" y="114296"/>
                  <a:pt x="7861553" y="1559728"/>
                  <a:pt x="9241518" y="3553106"/>
                </a:cubicBezTo>
                <a:lnTo>
                  <a:pt x="9247286" y="3562120"/>
                </a:lnTo>
                <a:lnTo>
                  <a:pt x="9027492" y="3330898"/>
                </a:lnTo>
                <a:cubicBezTo>
                  <a:pt x="6900106" y="1306763"/>
                  <a:pt x="3894809" y="219134"/>
                  <a:pt x="95904" y="5154"/>
                </a:cubicBezTo>
                <a:lnTo>
                  <a:pt x="0" y="0"/>
                </a:ln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a:off x="1626831" y="4261754"/>
            <a:ext cx="242395" cy="242395"/>
          </a:xfrm>
          <a:prstGeom prst="ellipse">
            <a:avLst/>
          </a:prstGeom>
          <a:solidFill>
            <a:schemeClr val="accent1"/>
          </a:solidFill>
          <a:ln w="2540" cap="sq">
            <a:solidFill>
              <a:schemeClr val="accent5">
                <a:lumMod val="50000"/>
                <a:alpha val="40000"/>
              </a:schemeClr>
            </a:solid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1712922" y="4347845"/>
            <a:ext cx="70213" cy="70213"/>
          </a:xfrm>
          <a:prstGeom prst="ellipse">
            <a:avLst/>
          </a:prstGeom>
          <a:solidFill>
            <a:schemeClr val="accent1"/>
          </a:solidFill>
          <a:ln w="254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3737695" y="4424960"/>
            <a:ext cx="242395" cy="242395"/>
          </a:xfrm>
          <a:prstGeom prst="ellipse">
            <a:avLst/>
          </a:prstGeom>
          <a:solidFill>
            <a:schemeClr val="accent1"/>
          </a:solidFill>
          <a:ln w="2540" cap="sq">
            <a:solidFill>
              <a:schemeClr val="accent5">
                <a:lumMod val="50000"/>
                <a:alpha val="40000"/>
              </a:schemeClr>
            </a:solid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3823786" y="4511051"/>
            <a:ext cx="70213" cy="70213"/>
          </a:xfrm>
          <a:prstGeom prst="ellipse">
            <a:avLst/>
          </a:prstGeom>
          <a:solidFill>
            <a:schemeClr val="accent1"/>
          </a:solidFill>
          <a:ln w="254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5848559" y="4947804"/>
            <a:ext cx="242395" cy="242395"/>
          </a:xfrm>
          <a:prstGeom prst="ellipse">
            <a:avLst/>
          </a:prstGeom>
          <a:solidFill>
            <a:schemeClr val="accent1"/>
          </a:solidFill>
          <a:ln w="2540" cap="sq">
            <a:solidFill>
              <a:schemeClr val="accent5">
                <a:lumMod val="50000"/>
                <a:alpha val="40000"/>
              </a:schemeClr>
            </a:solid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5934650" y="5033895"/>
            <a:ext cx="70213" cy="70213"/>
          </a:xfrm>
          <a:prstGeom prst="ellipse">
            <a:avLst/>
          </a:prstGeom>
          <a:solidFill>
            <a:schemeClr val="accent1"/>
          </a:solidFill>
          <a:ln w="254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8025295" y="5940328"/>
            <a:ext cx="242395" cy="242395"/>
          </a:xfrm>
          <a:prstGeom prst="ellipse">
            <a:avLst/>
          </a:prstGeom>
          <a:solidFill>
            <a:schemeClr val="accent1"/>
          </a:solidFill>
          <a:ln w="2540" cap="sq">
            <a:solidFill>
              <a:schemeClr val="accent5">
                <a:lumMod val="50000"/>
                <a:alpha val="40000"/>
              </a:schemeClr>
            </a:solidFill>
            <a:miter/>
          </a:ln>
        </p:spPr>
        <p:txBody>
          <a:bodyPr vert="horz" wrap="square" lIns="91440" tIns="45720" rIns="91440" bIns="45720" rtlCol="0" anchor="ctr"/>
          <a:lstStyle/>
          <a:p>
            <a:pPr algn="ctr"/>
            <a:endParaRPr kumimoji="1" lang="zh-CN" altLang="en-US"/>
          </a:p>
        </p:txBody>
      </p:sp>
      <p:sp>
        <p:nvSpPr>
          <p:cNvPr id="16" name="标题 1"/>
          <p:cNvSpPr txBox="1"/>
          <p:nvPr/>
        </p:nvSpPr>
        <p:spPr>
          <a:xfrm>
            <a:off x="8111386" y="6026419"/>
            <a:ext cx="70213" cy="70213"/>
          </a:xfrm>
          <a:prstGeom prst="ellipse">
            <a:avLst/>
          </a:prstGeom>
          <a:solidFill>
            <a:schemeClr val="accent1"/>
          </a:solidFill>
          <a:ln w="2540" cap="sq">
            <a:noFill/>
            <a:miter/>
          </a:ln>
        </p:spPr>
        <p:txBody>
          <a:bodyPr vert="horz" wrap="square" lIns="91440" tIns="45720" rIns="91440" bIns="45720" rtlCol="0" anchor="ctr"/>
          <a:lstStyle/>
          <a:p>
            <a:pPr algn="ctr"/>
            <a:endParaRPr kumimoji="1" lang="zh-CN" altLang="en-US"/>
          </a:p>
        </p:txBody>
      </p:sp>
      <p:sp>
        <p:nvSpPr>
          <p:cNvPr id="17" name="标题 1"/>
          <p:cNvSpPr txBox="1"/>
          <p:nvPr/>
        </p:nvSpPr>
        <p:spPr>
          <a:xfrm>
            <a:off x="1748651" y="1765300"/>
            <a:ext cx="1981200" cy="487875"/>
          </a:xfrm>
          <a:prstGeom prst="rect">
            <a:avLst/>
          </a:prstGeom>
          <a:noFill/>
          <a:ln cap="sq">
            <a:noFill/>
          </a:ln>
        </p:spPr>
        <p:txBody>
          <a:bodyPr vert="horz" wrap="square" lIns="0" tIns="0" rIns="0" bIns="0" rtlCol="0" anchor="b"/>
          <a:lstStyle/>
          <a:p>
            <a:pPr algn="l"/>
            <a:r>
              <a:rPr kumimoji="1" lang="en-US" altLang="zh-CN" sz="971">
                <a:ln w="12700">
                  <a:noFill/>
                </a:ln>
                <a:solidFill>
                  <a:srgbClr val="000000">
                    <a:alpha val="100000"/>
                  </a:srgbClr>
                </a:solidFill>
                <a:latin typeface="poppins-bold"/>
                <a:ea typeface="poppins-bold"/>
                <a:cs typeface="poppins-bold"/>
              </a:rPr>
              <a:t>Formación Cruzada (Cross-Training)</a:t>
            </a:r>
            <a:endParaRPr kumimoji="1" lang="zh-CN" altLang="en-US"/>
          </a:p>
        </p:txBody>
      </p:sp>
      <p:sp>
        <p:nvSpPr>
          <p:cNvPr id="18" name="标题 1"/>
          <p:cNvSpPr txBox="1"/>
          <p:nvPr/>
        </p:nvSpPr>
        <p:spPr>
          <a:xfrm>
            <a:off x="1748651" y="2362871"/>
            <a:ext cx="1778000" cy="1536030"/>
          </a:xfrm>
          <a:prstGeom prst="rect">
            <a:avLst/>
          </a:prstGeom>
          <a:noFill/>
          <a:ln cap="sq">
            <a:noFill/>
          </a:ln>
        </p:spPr>
        <p:txBody>
          <a:bodyPr vert="horz" wrap="square" lIns="0" tIns="0" rIns="0" bIns="0" rtlCol="0" anchor="t"/>
          <a:lstStyle/>
          <a:p>
            <a:pPr algn="l"/>
            <a:r>
              <a:rPr kumimoji="1" lang="en-US" altLang="zh-CN" sz="1034">
                <a:ln w="12700">
                  <a:noFill/>
                </a:ln>
                <a:solidFill>
                  <a:srgbClr val="000000">
                    <a:alpha val="100000"/>
                  </a:srgbClr>
                </a:solidFill>
                <a:latin typeface="Poppins"/>
                <a:ea typeface="Poppins"/>
                <a:cs typeface="Poppins"/>
              </a:rPr>
              <a:t>Capacitar al personal para cubrir funciones adyacentes.
Reducir los "silos" de conocimiento.
Mitigar el riesgo de "persona clave única" (key person risk).</a:t>
            </a:r>
            <a:endParaRPr kumimoji="1" lang="zh-CN" altLang="en-US"/>
          </a:p>
        </p:txBody>
      </p:sp>
      <p:sp>
        <p:nvSpPr>
          <p:cNvPr id="19" name="标题 1"/>
          <p:cNvSpPr txBox="1"/>
          <p:nvPr/>
        </p:nvSpPr>
        <p:spPr>
          <a:xfrm>
            <a:off x="3861760" y="2184400"/>
            <a:ext cx="1981200" cy="487875"/>
          </a:xfrm>
          <a:prstGeom prst="rect">
            <a:avLst/>
          </a:prstGeom>
          <a:noFill/>
          <a:ln cap="sq">
            <a:noFill/>
          </a:ln>
        </p:spPr>
        <p:txBody>
          <a:bodyPr vert="horz" wrap="square" lIns="0" tIns="0" rIns="0" bIns="0" rtlCol="0" anchor="b"/>
          <a:lstStyle/>
          <a:p>
            <a:pPr algn="l"/>
            <a:r>
              <a:rPr kumimoji="1" lang="en-US" altLang="zh-CN" sz="1600">
                <a:ln w="12700">
                  <a:noFill/>
                </a:ln>
                <a:solidFill>
                  <a:srgbClr val="000000">
                    <a:alpha val="100000"/>
                  </a:srgbClr>
                </a:solidFill>
                <a:latin typeface="poppins-bold"/>
                <a:ea typeface="poppins-bold"/>
                <a:cs typeface="poppins-bold"/>
              </a:rPr>
              <a:t>Automatización</a:t>
            </a:r>
            <a:endParaRPr kumimoji="1" lang="zh-CN" altLang="en-US"/>
          </a:p>
        </p:txBody>
      </p:sp>
      <p:sp>
        <p:nvSpPr>
          <p:cNvPr id="20" name="标题 1"/>
          <p:cNvSpPr txBox="1"/>
          <p:nvPr/>
        </p:nvSpPr>
        <p:spPr>
          <a:xfrm>
            <a:off x="3861760" y="2781970"/>
            <a:ext cx="1841500" cy="1307430"/>
          </a:xfrm>
          <a:prstGeom prst="rect">
            <a:avLst/>
          </a:prstGeom>
          <a:noFill/>
          <a:ln cap="sq">
            <a:noFill/>
          </a:ln>
        </p:spPr>
        <p:txBody>
          <a:bodyPr vert="horz" wrap="square" lIns="0" tIns="0" rIns="0" bIns="0" rtlCol="0" anchor="t"/>
          <a:lstStyle/>
          <a:p>
            <a:pPr algn="l"/>
            <a:r>
              <a:rPr kumimoji="1" lang="en-US" altLang="zh-CN" sz="880">
                <a:ln w="12700">
                  <a:noFill/>
                </a:ln>
                <a:solidFill>
                  <a:srgbClr val="000000">
                    <a:alpha val="100000"/>
                  </a:srgbClr>
                </a:solidFill>
                <a:latin typeface="Poppins"/>
                <a:ea typeface="Poppins"/>
                <a:cs typeface="Poppins"/>
              </a:rPr>
              <a:t>Automatizar tareas repetitivas (despliegues, parches, reinicios, backups) mediante scripting (PowerShell, Python, Ansible).
Usar herramientas de orquestación para mejorar la eficiencia.</a:t>
            </a:r>
            <a:endParaRPr kumimoji="1" lang="zh-CN" altLang="en-US"/>
          </a:p>
        </p:txBody>
      </p:sp>
      <p:sp>
        <p:nvSpPr>
          <p:cNvPr id="21" name="标题 1"/>
          <p:cNvSpPr txBox="1"/>
          <p:nvPr/>
        </p:nvSpPr>
        <p:spPr>
          <a:xfrm>
            <a:off x="6101869" y="2908300"/>
            <a:ext cx="1981200" cy="487875"/>
          </a:xfrm>
          <a:prstGeom prst="rect">
            <a:avLst/>
          </a:prstGeom>
          <a:noFill/>
          <a:ln cap="sq">
            <a:noFill/>
          </a:ln>
        </p:spPr>
        <p:txBody>
          <a:bodyPr vert="horz" wrap="square" lIns="0" tIns="0" rIns="0" bIns="0" rtlCol="0" anchor="b"/>
          <a:lstStyle/>
          <a:p>
            <a:pPr algn="l"/>
            <a:r>
              <a:rPr kumimoji="1" lang="en-US" altLang="zh-CN" sz="971">
                <a:ln w="12700">
                  <a:noFill/>
                </a:ln>
                <a:solidFill>
                  <a:srgbClr val="000000">
                    <a:alpha val="100000"/>
                  </a:srgbClr>
                </a:solidFill>
                <a:latin typeface="poppins-bold"/>
                <a:ea typeface="poppins-bold"/>
                <a:cs typeface="poppins-bold"/>
              </a:rPr>
              <a:t>Gestión de Carga de Trabajo (Workload Management)</a:t>
            </a:r>
            <a:endParaRPr kumimoji="1" lang="zh-CN" altLang="en-US"/>
          </a:p>
        </p:txBody>
      </p:sp>
      <p:sp>
        <p:nvSpPr>
          <p:cNvPr id="22" name="标题 1"/>
          <p:cNvSpPr txBox="1"/>
          <p:nvPr/>
        </p:nvSpPr>
        <p:spPr>
          <a:xfrm>
            <a:off x="6101869" y="3505870"/>
            <a:ext cx="1739900" cy="1332830"/>
          </a:xfrm>
          <a:prstGeom prst="rect">
            <a:avLst/>
          </a:prstGeom>
          <a:noFill/>
          <a:ln cap="sq">
            <a:noFill/>
          </a:ln>
        </p:spPr>
        <p:txBody>
          <a:bodyPr vert="horz" wrap="square" lIns="0" tIns="0" rIns="0" bIns="0" rtlCol="0" anchor="t"/>
          <a:lstStyle/>
          <a:p>
            <a:pPr algn="l"/>
            <a:r>
              <a:rPr kumimoji="1" lang="en-US" altLang="zh-CN" sz="885">
                <a:ln w="12700">
                  <a:noFill/>
                </a:ln>
                <a:solidFill>
                  <a:srgbClr val="000000">
                    <a:alpha val="100000"/>
                  </a:srgbClr>
                </a:solidFill>
                <a:latin typeface="Poppins"/>
                <a:ea typeface="Poppins"/>
                <a:cs typeface="Poppins"/>
              </a:rPr>
              <a:t>Utilizar sistemas de tickets (Jira, ServiceNow o GLPI).
Priorizar tareas (incidentes vs. requerimientos vs. proyectos).
Balancear la carga de trabajo equitativamente.
Medir el tiempo dedicado a cada tipo de tarea.</a:t>
            </a:r>
            <a:endParaRPr kumimoji="1" lang="zh-CN" altLang="en-US"/>
          </a:p>
        </p:txBody>
      </p:sp>
      <p:sp>
        <p:nvSpPr>
          <p:cNvPr id="23" name="标题 1"/>
          <p:cNvSpPr txBox="1"/>
          <p:nvPr/>
        </p:nvSpPr>
        <p:spPr>
          <a:xfrm>
            <a:off x="8265779" y="3860800"/>
            <a:ext cx="1981200" cy="487875"/>
          </a:xfrm>
          <a:prstGeom prst="rect">
            <a:avLst/>
          </a:prstGeom>
          <a:noFill/>
          <a:ln cap="sq">
            <a:noFill/>
          </a:ln>
        </p:spPr>
        <p:txBody>
          <a:bodyPr vert="horz" wrap="square" lIns="0" tIns="0" rIns="0" bIns="0" rtlCol="0" anchor="b"/>
          <a:lstStyle/>
          <a:p>
            <a:pPr algn="l"/>
            <a:r>
              <a:rPr kumimoji="1" lang="en-US" altLang="zh-CN" sz="971">
                <a:ln w="12700">
                  <a:noFill/>
                </a:ln>
                <a:solidFill>
                  <a:srgbClr val="000000">
                    <a:alpha val="100000"/>
                  </a:srgbClr>
                </a:solidFill>
                <a:latin typeface="poppins-bold"/>
                <a:ea typeface="poppins-bold"/>
                <a:cs typeface="poppins-bold"/>
              </a:rPr>
              <a:t>Planificación de Turnos (Scheduling)</a:t>
            </a:r>
            <a:endParaRPr kumimoji="1" lang="zh-CN" altLang="en-US"/>
          </a:p>
        </p:txBody>
      </p:sp>
      <p:sp>
        <p:nvSpPr>
          <p:cNvPr id="24" name="标题 1"/>
          <p:cNvSpPr txBox="1"/>
          <p:nvPr/>
        </p:nvSpPr>
        <p:spPr>
          <a:xfrm>
            <a:off x="8265779" y="4458370"/>
            <a:ext cx="1892300" cy="1320130"/>
          </a:xfrm>
          <a:prstGeom prst="rect">
            <a:avLst/>
          </a:prstGeom>
          <a:noFill/>
          <a:ln cap="sq">
            <a:noFill/>
          </a:ln>
        </p:spPr>
        <p:txBody>
          <a:bodyPr vert="horz" wrap="square" lIns="0" tIns="0" rIns="0" bIns="0" rtlCol="0" anchor="t"/>
          <a:lstStyle/>
          <a:p>
            <a:pPr algn="l"/>
            <a:r>
              <a:rPr kumimoji="1" lang="en-US" altLang="zh-CN" sz="883">
                <a:ln w="12700">
                  <a:noFill/>
                </a:ln>
                <a:solidFill>
                  <a:srgbClr val="000000">
                    <a:alpha val="100000"/>
                  </a:srgbClr>
                </a:solidFill>
                <a:latin typeface="Poppins"/>
                <a:ea typeface="Poppins"/>
                <a:cs typeface="Poppins"/>
              </a:rPr>
              <a:t>Implementar un esquema de turnos rotativos (ej. 3x2x2) para operaciones 24/7.
Garantizar cobertura constante.
Prevenir la fatiga del operador.</a:t>
            </a:r>
            <a:endParaRPr kumimoji="1" lang="zh-CN" altLang="en-US"/>
          </a:p>
        </p:txBody>
      </p:sp>
      <p:sp>
        <p:nvSpPr>
          <p:cNvPr id="25" name="标题 1"/>
          <p:cNvSpPr txBox="1"/>
          <p:nvPr/>
        </p:nvSpPr>
        <p:spPr>
          <a:xfrm>
            <a:off x="452878" y="334470"/>
            <a:ext cx="8171180" cy="655320"/>
          </a:xfrm>
          <a:prstGeom prst="roundRect">
            <a:avLst>
              <a:gd name="adj" fmla="val 50000"/>
            </a:avLst>
          </a:prstGeom>
          <a:gradFill>
            <a:gsLst>
              <a:gs pos="0">
                <a:schemeClr val="accent1">
                  <a:lumMod val="20000"/>
                  <a:lumOff val="80000"/>
                </a:schemeClr>
              </a:gs>
              <a:gs pos="80000">
                <a:schemeClr val="accent1">
                  <a:lumMod val="20000"/>
                  <a:lumOff val="80000"/>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6" name="标题 1"/>
          <p:cNvSpPr txBox="1"/>
          <p:nvPr/>
        </p:nvSpPr>
        <p:spPr>
          <a:xfrm>
            <a:off x="783617"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Optimización del Recurso</a:t>
            </a:r>
            <a:endParaRPr kumimoji="1" lang="zh-CN" altLang="en-US"/>
          </a:p>
        </p:txBody>
      </p:sp>
      <p:pic>
        <p:nvPicPr>
          <p:cNvPr id="27" name="Imagen 26">
            <a:extLst>
              <a:ext uri="{FF2B5EF4-FFF2-40B4-BE49-F238E27FC236}">
                <a16:creationId xmlns:a16="http://schemas.microsoft.com/office/drawing/2014/main" id="{6311C094-B1A3-D602-AC88-0829FAA1F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660401" y="2188571"/>
            <a:ext cx="1676400" cy="762000"/>
          </a:xfrm>
          <a:prstGeom prst="rect">
            <a:avLst/>
          </a:prstGeom>
          <a:noFill/>
          <a:ln cap="sq">
            <a:noFill/>
          </a:ln>
          <a:effectLst/>
        </p:spPr>
        <p:txBody>
          <a:bodyPr vert="horz" wrap="square" lIns="0" tIns="0" rIns="0" bIns="0" rtlCol="0" anchor="ctr">
            <a:spAutoFit/>
          </a:bodyPr>
          <a:lstStyle/>
          <a:p>
            <a:pPr algn="l"/>
            <a:r>
              <a:rPr kumimoji="1" lang="en-US" altLang="zh-CN" sz="6000">
                <a:ln w="12700">
                  <a:noFill/>
                </a:ln>
                <a:gradFill>
                  <a:gsLst>
                    <a:gs pos="0">
                      <a:schemeClr val="bg1">
                        <a:alpha val="50000"/>
                      </a:schemeClr>
                    </a:gs>
                    <a:gs pos="100000">
                      <a:schemeClr val="accent1"/>
                    </a:gs>
                  </a:gsLst>
                  <a:lin ang="16200000" scaled="0"/>
                </a:gradFill>
                <a:latin typeface="poppins-bold"/>
                <a:ea typeface="poppins-bold"/>
                <a:cs typeface="poppins-bold"/>
              </a:rPr>
              <a:t>01</a:t>
            </a:r>
            <a:endParaRPr kumimoji="1" lang="zh-CN" altLang="en-US"/>
          </a:p>
        </p:txBody>
      </p:sp>
      <p:sp>
        <p:nvSpPr>
          <p:cNvPr id="4" name="标题 1"/>
          <p:cNvSpPr txBox="1"/>
          <p:nvPr/>
        </p:nvSpPr>
        <p:spPr>
          <a:xfrm>
            <a:off x="660400" y="2783426"/>
            <a:ext cx="3240000" cy="798819"/>
          </a:xfrm>
          <a:prstGeom prst="rect">
            <a:avLst/>
          </a:prstGeom>
          <a:noFill/>
          <a:ln cap="sq">
            <a:noFill/>
          </a:ln>
          <a:effectLst/>
        </p:spPr>
        <p:txBody>
          <a:bodyPr vert="horz" wrap="square" lIns="0" tIns="0" rIns="0" bIns="0" rtlCol="0" anchor="ctr"/>
          <a:lstStyle/>
          <a:p>
            <a:pPr algn="l"/>
            <a:r>
              <a:rPr kumimoji="1" lang="en-US" altLang="zh-CN" sz="1600">
                <a:ln w="12700">
                  <a:noFill/>
                </a:ln>
                <a:solidFill>
                  <a:srgbClr val="000000">
                    <a:alpha val="100000"/>
                  </a:srgbClr>
                </a:solidFill>
                <a:latin typeface="poppins-bold"/>
                <a:ea typeface="poppins-bold"/>
                <a:cs typeface="poppins-bold"/>
              </a:rPr>
              <a:t>Indicadores de rendimiento</a:t>
            </a:r>
            <a:endParaRPr kumimoji="1" lang="zh-CN" altLang="en-US"/>
          </a:p>
        </p:txBody>
      </p:sp>
      <p:sp>
        <p:nvSpPr>
          <p:cNvPr id="5" name="标题 1"/>
          <p:cNvSpPr txBox="1"/>
          <p:nvPr/>
        </p:nvSpPr>
        <p:spPr>
          <a:xfrm>
            <a:off x="660401" y="3582246"/>
            <a:ext cx="3240000" cy="1493583"/>
          </a:xfrm>
          <a:prstGeom prst="rect">
            <a:avLst/>
          </a:prstGeom>
          <a:noFill/>
          <a:ln>
            <a:noFill/>
          </a:ln>
        </p:spPr>
        <p:txBody>
          <a:bodyPr vert="horz" wrap="square" lIns="0" tIns="0" rIns="0" bIns="0" rtlCol="0" anchor="t"/>
          <a:lstStyle/>
          <a:p>
            <a:pPr algn="l"/>
            <a:r>
              <a:rPr kumimoji="1" lang="en-US" altLang="zh-CN" sz="1177">
                <a:ln w="12700">
                  <a:noFill/>
                </a:ln>
                <a:solidFill>
                  <a:srgbClr val="000000">
                    <a:alpha val="100000"/>
                  </a:srgbClr>
                </a:solidFill>
                <a:latin typeface="Poppins"/>
                <a:ea typeface="Poppins"/>
                <a:cs typeface="Poppins"/>
              </a:rPr>
              <a:t>Los indicadores de rendimiento son métricas que permiten medir el éxito de las estrategias implementadas, ayudando a identificar áreas de mejora en la asignación de recursos.</a:t>
            </a:r>
            <a:endParaRPr kumimoji="1" lang="zh-CN" altLang="en-US"/>
          </a:p>
        </p:txBody>
      </p:sp>
      <p:sp>
        <p:nvSpPr>
          <p:cNvPr id="6" name="标题 1"/>
          <p:cNvSpPr txBox="1"/>
          <p:nvPr/>
        </p:nvSpPr>
        <p:spPr>
          <a:xfrm>
            <a:off x="4469650" y="2188571"/>
            <a:ext cx="1676400" cy="762000"/>
          </a:xfrm>
          <a:prstGeom prst="rect">
            <a:avLst/>
          </a:prstGeom>
          <a:noFill/>
          <a:ln cap="sq">
            <a:noFill/>
          </a:ln>
          <a:effectLst/>
        </p:spPr>
        <p:txBody>
          <a:bodyPr vert="horz" wrap="square" lIns="0" tIns="0" rIns="0" bIns="0" rtlCol="0" anchor="ctr">
            <a:spAutoFit/>
          </a:bodyPr>
          <a:lstStyle/>
          <a:p>
            <a:pPr algn="l"/>
            <a:r>
              <a:rPr kumimoji="1" lang="en-US" altLang="zh-CN" sz="6000">
                <a:ln w="12700">
                  <a:noFill/>
                </a:ln>
                <a:gradFill>
                  <a:gsLst>
                    <a:gs pos="0">
                      <a:schemeClr val="bg1">
                        <a:alpha val="50000"/>
                      </a:schemeClr>
                    </a:gs>
                    <a:gs pos="100000">
                      <a:schemeClr val="accent1"/>
                    </a:gs>
                  </a:gsLst>
                  <a:lin ang="16200000" scaled="0"/>
                </a:gradFill>
                <a:latin typeface="poppins-bold"/>
                <a:ea typeface="poppins-bold"/>
                <a:cs typeface="poppins-bold"/>
              </a:rPr>
              <a:t>02</a:t>
            </a:r>
            <a:endParaRPr kumimoji="1" lang="zh-CN" altLang="en-US"/>
          </a:p>
        </p:txBody>
      </p:sp>
      <p:sp>
        <p:nvSpPr>
          <p:cNvPr id="7" name="标题 1"/>
          <p:cNvSpPr txBox="1"/>
          <p:nvPr/>
        </p:nvSpPr>
        <p:spPr>
          <a:xfrm>
            <a:off x="4469650" y="2783426"/>
            <a:ext cx="3240000" cy="798819"/>
          </a:xfrm>
          <a:prstGeom prst="rect">
            <a:avLst/>
          </a:prstGeom>
          <a:noFill/>
          <a:ln cap="sq">
            <a:noFill/>
          </a:ln>
          <a:effectLst/>
        </p:spPr>
        <p:txBody>
          <a:bodyPr vert="horz" wrap="square" lIns="0" tIns="0" rIns="0" bIns="0" rtlCol="0" anchor="ctr"/>
          <a:lstStyle/>
          <a:p>
            <a:pPr algn="l"/>
            <a:r>
              <a:rPr kumimoji="1" lang="en-US" altLang="zh-CN" sz="1600">
                <a:ln w="12700">
                  <a:noFill/>
                </a:ln>
                <a:solidFill>
                  <a:srgbClr val="000000">
                    <a:alpha val="100000"/>
                  </a:srgbClr>
                </a:solidFill>
                <a:latin typeface="poppins-bold"/>
                <a:ea typeface="poppins-bold"/>
                <a:cs typeface="poppins-bold"/>
              </a:rPr>
              <a:t>Retroalimentación continua</a:t>
            </a:r>
            <a:endParaRPr kumimoji="1" lang="zh-CN" altLang="en-US"/>
          </a:p>
        </p:txBody>
      </p:sp>
      <p:sp>
        <p:nvSpPr>
          <p:cNvPr id="8" name="标题 1"/>
          <p:cNvSpPr txBox="1"/>
          <p:nvPr/>
        </p:nvSpPr>
        <p:spPr>
          <a:xfrm>
            <a:off x="4469650" y="3582246"/>
            <a:ext cx="3240000" cy="1493583"/>
          </a:xfrm>
          <a:prstGeom prst="rect">
            <a:avLst/>
          </a:prstGeom>
          <a:noFill/>
          <a:ln>
            <a:noFill/>
          </a:ln>
        </p:spPr>
        <p:txBody>
          <a:bodyPr vert="horz" wrap="square" lIns="0" tIns="0" rIns="0" bIns="0" rtlCol="0" anchor="t"/>
          <a:lstStyle/>
          <a:p>
            <a:pPr algn="l"/>
            <a:r>
              <a:rPr kumimoji="1" lang="en-US" altLang="zh-CN" sz="1177">
                <a:ln w="12700">
                  <a:noFill/>
                </a:ln>
                <a:solidFill>
                  <a:srgbClr val="000000">
                    <a:alpha val="100000"/>
                  </a:srgbClr>
                </a:solidFill>
                <a:latin typeface="Poppins"/>
                <a:ea typeface="Poppins"/>
                <a:cs typeface="Poppins"/>
              </a:rPr>
              <a:t>La retroalimentación continua implica establecer un sistema de comunicación abierta donde los miembros del equipo puedan expresar sus opiniones y sugerencias para mejorar el proceso.</a:t>
            </a:r>
            <a:endParaRPr kumimoji="1" lang="zh-CN" altLang="en-US"/>
          </a:p>
        </p:txBody>
      </p:sp>
      <p:sp>
        <p:nvSpPr>
          <p:cNvPr id="9" name="标题 1"/>
          <p:cNvSpPr txBox="1"/>
          <p:nvPr/>
        </p:nvSpPr>
        <p:spPr>
          <a:xfrm>
            <a:off x="8278900" y="2188571"/>
            <a:ext cx="1676400" cy="762000"/>
          </a:xfrm>
          <a:prstGeom prst="rect">
            <a:avLst/>
          </a:prstGeom>
          <a:noFill/>
          <a:ln cap="sq">
            <a:noFill/>
          </a:ln>
          <a:effectLst/>
        </p:spPr>
        <p:txBody>
          <a:bodyPr vert="horz" wrap="square" lIns="0" tIns="0" rIns="0" bIns="0" rtlCol="0" anchor="ctr">
            <a:spAutoFit/>
          </a:bodyPr>
          <a:lstStyle/>
          <a:p>
            <a:pPr algn="l"/>
            <a:r>
              <a:rPr kumimoji="1" lang="en-US" altLang="zh-CN" sz="6000">
                <a:ln w="12700">
                  <a:noFill/>
                </a:ln>
                <a:gradFill>
                  <a:gsLst>
                    <a:gs pos="0">
                      <a:schemeClr val="bg1">
                        <a:alpha val="50000"/>
                      </a:schemeClr>
                    </a:gs>
                    <a:gs pos="100000">
                      <a:schemeClr val="accent1"/>
                    </a:gs>
                  </a:gsLst>
                  <a:lin ang="16200000" scaled="0"/>
                </a:gradFill>
                <a:latin typeface="poppins-bold"/>
                <a:ea typeface="poppins-bold"/>
                <a:cs typeface="poppins-bold"/>
              </a:rPr>
              <a:t>03</a:t>
            </a:r>
            <a:endParaRPr kumimoji="1" lang="zh-CN" altLang="en-US"/>
          </a:p>
        </p:txBody>
      </p:sp>
      <p:sp>
        <p:nvSpPr>
          <p:cNvPr id="10" name="标题 1"/>
          <p:cNvSpPr txBox="1"/>
          <p:nvPr/>
        </p:nvSpPr>
        <p:spPr>
          <a:xfrm>
            <a:off x="8278898" y="2783426"/>
            <a:ext cx="3240000" cy="798819"/>
          </a:xfrm>
          <a:prstGeom prst="rect">
            <a:avLst/>
          </a:prstGeom>
          <a:noFill/>
          <a:ln cap="sq">
            <a:noFill/>
          </a:ln>
          <a:effectLst/>
        </p:spPr>
        <p:txBody>
          <a:bodyPr vert="horz" wrap="square" lIns="0" tIns="0" rIns="0" bIns="0" rtlCol="0" anchor="ctr"/>
          <a:lstStyle/>
          <a:p>
            <a:pPr algn="l"/>
            <a:r>
              <a:rPr kumimoji="1" lang="en-US" altLang="zh-CN" sz="1600">
                <a:ln w="12700">
                  <a:noFill/>
                </a:ln>
                <a:solidFill>
                  <a:srgbClr val="000000">
                    <a:alpha val="100000"/>
                  </a:srgbClr>
                </a:solidFill>
                <a:latin typeface="poppins-bold"/>
                <a:ea typeface="poppins-bold"/>
                <a:cs typeface="poppins-bold"/>
              </a:rPr>
              <a:t>Mejora continua</a:t>
            </a:r>
            <a:endParaRPr kumimoji="1" lang="zh-CN" altLang="en-US"/>
          </a:p>
        </p:txBody>
      </p:sp>
      <p:sp>
        <p:nvSpPr>
          <p:cNvPr id="11" name="标题 1"/>
          <p:cNvSpPr txBox="1"/>
          <p:nvPr/>
        </p:nvSpPr>
        <p:spPr>
          <a:xfrm>
            <a:off x="8278900" y="3582246"/>
            <a:ext cx="3240000" cy="1493583"/>
          </a:xfrm>
          <a:prstGeom prst="rect">
            <a:avLst/>
          </a:prstGeom>
          <a:noFill/>
          <a:ln>
            <a:noFill/>
          </a:ln>
        </p:spPr>
        <p:txBody>
          <a:bodyPr vert="horz" wrap="square" lIns="0" tIns="0" rIns="0" bIns="0" rtlCol="0" anchor="t"/>
          <a:lstStyle/>
          <a:p>
            <a:pPr algn="l"/>
            <a:r>
              <a:rPr kumimoji="1" lang="en-US" altLang="zh-CN" sz="1177">
                <a:ln w="12700">
                  <a:noFill/>
                </a:ln>
                <a:solidFill>
                  <a:srgbClr val="000000">
                    <a:alpha val="100000"/>
                  </a:srgbClr>
                </a:solidFill>
                <a:latin typeface="Poppins"/>
                <a:ea typeface="Poppins"/>
                <a:cs typeface="Poppins"/>
              </a:rPr>
              <a:t>La mejora continua se centra en realizar evaluaciones periódicas de los procesos y resultados, fomentando un ambiente de aprendizaje y adaptación que beneficia a toda la organización.</a:t>
            </a:r>
            <a:endParaRPr kumimoji="1" lang="zh-CN" altLang="en-US"/>
          </a:p>
        </p:txBody>
      </p:sp>
      <p:sp>
        <p:nvSpPr>
          <p:cNvPr id="12" name="标题 1"/>
          <p:cNvSpPr txBox="1"/>
          <p:nvPr/>
        </p:nvSpPr>
        <p:spPr>
          <a:xfrm>
            <a:off x="493099" y="392345"/>
            <a:ext cx="7286484" cy="612000"/>
          </a:xfrm>
          <a:prstGeom prst="roundRect">
            <a:avLst>
              <a:gd name="adj" fmla="val 50000"/>
            </a:avLst>
          </a:prstGeom>
          <a:gradFill>
            <a:gsLst>
              <a:gs pos="5000">
                <a:schemeClr val="bg1">
                  <a:lumMod val="95000"/>
                </a:schemeClr>
              </a:gs>
              <a:gs pos="85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466702" y="336383"/>
            <a:ext cx="216000" cy="216000"/>
          </a:xfrm>
          <a:prstGeom prst="ellipse">
            <a:avLst/>
          </a:prstGeom>
          <a:solidFill>
            <a:schemeClr val="accent1"/>
          </a:solidFill>
          <a:ln w="254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781099" y="464345"/>
            <a:ext cx="10737801"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Evaluación de la efectividad</a:t>
            </a:r>
            <a:endParaRPr kumimoji="1" lang="zh-CN" altLang="en-US"/>
          </a:p>
        </p:txBody>
      </p:sp>
      <p:pic>
        <p:nvPicPr>
          <p:cNvPr id="15" name="Imagen 14">
            <a:extLst>
              <a:ext uri="{FF2B5EF4-FFF2-40B4-BE49-F238E27FC236}">
                <a16:creationId xmlns:a16="http://schemas.microsoft.com/office/drawing/2014/main" id="{B5C00EED-8489-52D7-0D32-1D6F154AD5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flipH="1">
            <a:off x="174171" y="1016001"/>
            <a:ext cx="6662058" cy="4586514"/>
          </a:xfrm>
          <a:prstGeom prst="rect">
            <a:avLst/>
          </a:prstGeom>
          <a:noFill/>
          <a:ln>
            <a:noFill/>
          </a:ln>
        </p:spPr>
      </p:pic>
      <p:sp>
        <p:nvSpPr>
          <p:cNvPr id="4" name="标题 1"/>
          <p:cNvSpPr txBox="1"/>
          <p:nvPr/>
        </p:nvSpPr>
        <p:spPr>
          <a:xfrm>
            <a:off x="6879771" y="3359947"/>
            <a:ext cx="4760688" cy="1255728"/>
          </a:xfrm>
          <a:prstGeom prst="rect">
            <a:avLst/>
          </a:prstGeom>
          <a:noFill/>
          <a:ln>
            <a:noFill/>
          </a:ln>
        </p:spPr>
        <p:txBody>
          <a:bodyPr vert="horz" wrap="square" lIns="91440" tIns="45720" rIns="91440" bIns="45720" rtlCol="0" anchor="ctr"/>
          <a:lstStyle/>
          <a:p>
            <a:pPr algn="ctr"/>
            <a:r>
              <a:rPr kumimoji="1" lang="en-US" altLang="zh-CN" sz="2800">
                <a:ln w="12700">
                  <a:noFill/>
                </a:ln>
                <a:solidFill>
                  <a:srgbClr val="000000">
                    <a:alpha val="100000"/>
                  </a:srgbClr>
                </a:solidFill>
                <a:latin typeface="poppins-bold"/>
                <a:ea typeface="poppins-bold"/>
                <a:cs typeface="poppins-bold"/>
              </a:rPr>
              <a:t>Evaluación de desempeño</a:t>
            </a:r>
            <a:endParaRPr kumimoji="1" lang="zh-CN" altLang="en-US"/>
          </a:p>
        </p:txBody>
      </p:sp>
      <p:sp>
        <p:nvSpPr>
          <p:cNvPr id="5" name="标题 1"/>
          <p:cNvSpPr txBox="1"/>
          <p:nvPr/>
        </p:nvSpPr>
        <p:spPr>
          <a:xfrm>
            <a:off x="450898" y="419790"/>
            <a:ext cx="1745129" cy="235868"/>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tx1">
              <a:lumMod val="85000"/>
              <a:lumOff val="15000"/>
            </a:schemeClr>
          </a:solidFill>
          <a:ln w="9525"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flipH="1">
            <a:off x="8745588" y="2147252"/>
            <a:ext cx="1029054" cy="1029054"/>
          </a:xfrm>
          <a:prstGeom prst="ellips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8031679" y="1262814"/>
            <a:ext cx="2456872" cy="1667352"/>
          </a:xfrm>
          <a:prstGeom prst="rect">
            <a:avLst/>
          </a:prstGeom>
          <a:noFill/>
          <a:ln>
            <a:noFill/>
          </a:ln>
        </p:spPr>
        <p:txBody>
          <a:bodyPr vert="horz" wrap="square" lIns="0" tIns="0" rIns="0" bIns="0" rtlCol="0" anchor="b"/>
          <a:lstStyle/>
          <a:p>
            <a:pPr algn="ctr"/>
            <a:r>
              <a:rPr kumimoji="1" lang="en-US" altLang="zh-CN" sz="4000">
                <a:ln w="12700">
                  <a:noFill/>
                </a:ln>
                <a:solidFill>
                  <a:srgbClr val="FFFFFF">
                    <a:alpha val="100000"/>
                  </a:srgbClr>
                </a:solidFill>
                <a:latin typeface="Barlow Condensed Medium"/>
                <a:ea typeface="Barlow Condensed Medium"/>
                <a:cs typeface="Barlow Condensed Medium"/>
              </a:rPr>
              <a:t> 03</a:t>
            </a:r>
            <a:endParaRPr kumimoji="1" lang="zh-CN" altLang="en-US"/>
          </a:p>
        </p:txBody>
      </p:sp>
      <p:pic>
        <p:nvPicPr>
          <p:cNvPr id="8" name="Imagen 7">
            <a:extLst>
              <a:ext uri="{FF2B5EF4-FFF2-40B4-BE49-F238E27FC236}">
                <a16:creationId xmlns:a16="http://schemas.microsoft.com/office/drawing/2014/main" id="{AE4143F8-E2A0-3494-5452-D9AE855CC5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866774" y="5328067"/>
            <a:ext cx="10495132" cy="161925"/>
          </a:xfrm>
          <a:prstGeom prst="roundRect">
            <a:avLst>
              <a:gd name="adj" fmla="val 50000"/>
            </a:avLst>
          </a:prstGeom>
          <a:solidFill>
            <a:schemeClr val="accent1">
              <a:lumMod val="20000"/>
              <a:lumOff val="80000"/>
            </a:schemeClr>
          </a:solidFill>
          <a:ln cap="sq">
            <a:noFill/>
          </a:ln>
          <a:effectLst/>
        </p:spPr>
        <p:txBody>
          <a:bodyPr vert="horz" wrap="square" lIns="91440" tIns="45720" rIns="91440" bIns="45720" rtlCol="0" anchor="t"/>
          <a:lstStyle/>
          <a:p>
            <a:pPr algn="l"/>
            <a:endParaRPr kumimoji="1" lang="zh-CN" altLang="en-US"/>
          </a:p>
        </p:txBody>
      </p:sp>
      <p:sp>
        <p:nvSpPr>
          <p:cNvPr id="4" name="标题 1"/>
          <p:cNvSpPr txBox="1"/>
          <p:nvPr/>
        </p:nvSpPr>
        <p:spPr>
          <a:xfrm>
            <a:off x="2252822" y="5219847"/>
            <a:ext cx="208436" cy="208436"/>
          </a:xfrm>
          <a:prstGeom prst="ellipse">
            <a:avLst/>
          </a:prstGeom>
          <a:solidFill>
            <a:schemeClr val="accent1"/>
          </a:solidFill>
          <a:ln w="3175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1861100" y="5641657"/>
            <a:ext cx="990600" cy="406400"/>
          </a:xfrm>
          <a:prstGeom prst="rect">
            <a:avLst/>
          </a:prstGeom>
          <a:noFill/>
          <a:ln>
            <a:noFill/>
          </a:ln>
        </p:spPr>
        <p:txBody>
          <a:bodyPr vert="horz" wrap="square" lIns="0" tIns="0" rIns="0" bIns="0" rtlCol="0" anchor="t">
            <a:spAutoFit/>
          </a:bodyPr>
          <a:lstStyle/>
          <a:p>
            <a:pPr algn="ctr"/>
            <a:r>
              <a:rPr kumimoji="1" lang="en-US" altLang="zh-CN" sz="3200">
                <a:ln w="12700">
                  <a:noFill/>
                </a:ln>
                <a:solidFill>
                  <a:srgbClr val="D9D9D9">
                    <a:alpha val="100000"/>
                  </a:srgbClr>
                </a:solidFill>
                <a:latin typeface="poppins-bold"/>
                <a:ea typeface="poppins-bold"/>
                <a:cs typeface="poppins-bold"/>
              </a:rPr>
              <a:t>01</a:t>
            </a:r>
            <a:endParaRPr kumimoji="1" lang="zh-CN" altLang="en-US"/>
          </a:p>
        </p:txBody>
      </p:sp>
      <p:sp>
        <p:nvSpPr>
          <p:cNvPr id="6" name="标题 1"/>
          <p:cNvSpPr txBox="1"/>
          <p:nvPr/>
        </p:nvSpPr>
        <p:spPr>
          <a:xfrm>
            <a:off x="5987019" y="5219847"/>
            <a:ext cx="208436" cy="208436"/>
          </a:xfrm>
          <a:prstGeom prst="ellipse">
            <a:avLst/>
          </a:prstGeom>
          <a:solidFill>
            <a:schemeClr val="accent1"/>
          </a:solidFill>
          <a:ln w="3175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5593710" y="5641657"/>
            <a:ext cx="990600" cy="406400"/>
          </a:xfrm>
          <a:prstGeom prst="rect">
            <a:avLst/>
          </a:prstGeom>
          <a:noFill/>
          <a:ln>
            <a:noFill/>
          </a:ln>
        </p:spPr>
        <p:txBody>
          <a:bodyPr vert="horz" wrap="square" lIns="0" tIns="0" rIns="0" bIns="0" rtlCol="0" anchor="t">
            <a:spAutoFit/>
          </a:bodyPr>
          <a:lstStyle/>
          <a:p>
            <a:pPr algn="ctr"/>
            <a:r>
              <a:rPr kumimoji="1" lang="en-US" altLang="zh-CN" sz="3200">
                <a:ln w="12700">
                  <a:noFill/>
                </a:ln>
                <a:solidFill>
                  <a:srgbClr val="D9D9D9">
                    <a:alpha val="100000"/>
                  </a:srgbClr>
                </a:solidFill>
                <a:latin typeface="poppins-bold"/>
                <a:ea typeface="poppins-bold"/>
                <a:cs typeface="poppins-bold"/>
              </a:rPr>
              <a:t>02</a:t>
            </a:r>
            <a:endParaRPr kumimoji="1" lang="zh-CN" altLang="en-US"/>
          </a:p>
        </p:txBody>
      </p:sp>
      <p:sp>
        <p:nvSpPr>
          <p:cNvPr id="8" name="标题 1"/>
          <p:cNvSpPr txBox="1"/>
          <p:nvPr/>
        </p:nvSpPr>
        <p:spPr>
          <a:xfrm>
            <a:off x="9724364" y="5219847"/>
            <a:ext cx="208436" cy="208436"/>
          </a:xfrm>
          <a:prstGeom prst="ellipse">
            <a:avLst/>
          </a:prstGeom>
          <a:solidFill>
            <a:schemeClr val="accent1"/>
          </a:solidFill>
          <a:ln w="3175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a:off x="9332642" y="5641657"/>
            <a:ext cx="990600" cy="406400"/>
          </a:xfrm>
          <a:prstGeom prst="rect">
            <a:avLst/>
          </a:prstGeom>
          <a:noFill/>
          <a:ln>
            <a:noFill/>
          </a:ln>
        </p:spPr>
        <p:txBody>
          <a:bodyPr vert="horz" wrap="square" lIns="0" tIns="0" rIns="0" bIns="0" rtlCol="0" anchor="t">
            <a:spAutoFit/>
          </a:bodyPr>
          <a:lstStyle/>
          <a:p>
            <a:pPr algn="ctr"/>
            <a:r>
              <a:rPr kumimoji="1" lang="en-US" altLang="zh-CN" sz="3200">
                <a:ln w="12700">
                  <a:noFill/>
                </a:ln>
                <a:solidFill>
                  <a:srgbClr val="D9D9D9">
                    <a:alpha val="100000"/>
                  </a:srgbClr>
                </a:solidFill>
                <a:latin typeface="poppins-bold"/>
                <a:ea typeface="poppins-bold"/>
                <a:cs typeface="poppins-bold"/>
              </a:rPr>
              <a:t>03</a:t>
            </a:r>
            <a:endParaRPr kumimoji="1" lang="zh-CN" altLang="en-US"/>
          </a:p>
        </p:txBody>
      </p:sp>
      <p:sp>
        <p:nvSpPr>
          <p:cNvPr id="10" name="标题 1"/>
          <p:cNvSpPr txBox="1"/>
          <p:nvPr/>
        </p:nvSpPr>
        <p:spPr>
          <a:xfrm flipH="1" flipV="1">
            <a:off x="660400" y="2244440"/>
            <a:ext cx="246788" cy="293931"/>
          </a:xfrm>
          <a:prstGeom prst="rtTriangle">
            <a:avLst/>
          </a:prstGeom>
          <a:solidFill>
            <a:schemeClr val="accent1">
              <a:lumMod val="20000"/>
              <a:lumOff val="80000"/>
            </a:schemeClr>
          </a:solidFill>
          <a:ln w="3175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flipV="1">
            <a:off x="3804638" y="2244440"/>
            <a:ext cx="246788" cy="293931"/>
          </a:xfrm>
          <a:prstGeom prst="rtTriangle">
            <a:avLst/>
          </a:prstGeom>
          <a:solidFill>
            <a:schemeClr val="accent1">
              <a:lumMod val="20000"/>
              <a:lumOff val="80000"/>
            </a:schemeClr>
          </a:solidFill>
          <a:ln w="3175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899861" y="1778917"/>
            <a:ext cx="2914360" cy="3270707"/>
          </a:xfrm>
          <a:custGeom>
            <a:avLst/>
            <a:gdLst>
              <a:gd name="connsiteX0" fmla="*/ 192231 w 2914360"/>
              <a:gd name="connsiteY0" fmla="*/ 0 h 3270707"/>
              <a:gd name="connsiteX1" fmla="*/ 2722129 w 2914360"/>
              <a:gd name="connsiteY1" fmla="*/ 0 h 3270707"/>
              <a:gd name="connsiteX2" fmla="*/ 2914360 w 2914360"/>
              <a:gd name="connsiteY2" fmla="*/ 192231 h 3270707"/>
              <a:gd name="connsiteX3" fmla="*/ 2914360 w 2914360"/>
              <a:gd name="connsiteY3" fmla="*/ 2962803 h 3270707"/>
              <a:gd name="connsiteX4" fmla="*/ 2722129 w 2914360"/>
              <a:gd name="connsiteY4" fmla="*/ 3155034 h 3270707"/>
              <a:gd name="connsiteX5" fmla="*/ 1647670 w 2914360"/>
              <a:gd name="connsiteY5" fmla="*/ 3155034 h 3270707"/>
              <a:gd name="connsiteX6" fmla="*/ 1457179 w 2914360"/>
              <a:gd name="connsiteY6" fmla="*/ 3270707 h 3270707"/>
              <a:gd name="connsiteX7" fmla="*/ 1266688 w 2914360"/>
              <a:gd name="connsiteY7" fmla="*/ 3155034 h 3270707"/>
              <a:gd name="connsiteX8" fmla="*/ 192231 w 2914360"/>
              <a:gd name="connsiteY8" fmla="*/ 3155034 h 3270707"/>
              <a:gd name="connsiteX9" fmla="*/ 0 w 2914360"/>
              <a:gd name="connsiteY9" fmla="*/ 2962803 h 3270707"/>
              <a:gd name="connsiteX10" fmla="*/ 0 w 2914360"/>
              <a:gd name="connsiteY10" fmla="*/ 192231 h 3270707"/>
              <a:gd name="connsiteX11" fmla="*/ 192231 w 2914360"/>
              <a:gd name="connsiteY11" fmla="*/ 0 h 3270707"/>
            </a:gdLst>
            <a:ahLst/>
            <a:cxnLst/>
            <a:rect l="l" t="t" r="r" b="b"/>
            <a:pathLst>
              <a:path w="2914360" h="3270707">
                <a:moveTo>
                  <a:pt x="192231" y="0"/>
                </a:moveTo>
                <a:lnTo>
                  <a:pt x="2722129" y="0"/>
                </a:lnTo>
                <a:cubicBezTo>
                  <a:pt x="2828295" y="0"/>
                  <a:pt x="2914360" y="86065"/>
                  <a:pt x="2914360" y="192231"/>
                </a:cubicBezTo>
                <a:lnTo>
                  <a:pt x="2914360" y="2962803"/>
                </a:lnTo>
                <a:cubicBezTo>
                  <a:pt x="2914360" y="3068969"/>
                  <a:pt x="2828295" y="3155034"/>
                  <a:pt x="2722129" y="3155034"/>
                </a:cubicBezTo>
                <a:lnTo>
                  <a:pt x="1647670" y="3155034"/>
                </a:lnTo>
                <a:lnTo>
                  <a:pt x="1457179" y="3270707"/>
                </a:lnTo>
                <a:lnTo>
                  <a:pt x="1266688" y="3155034"/>
                </a:lnTo>
                <a:lnTo>
                  <a:pt x="192231" y="3155034"/>
                </a:lnTo>
                <a:cubicBezTo>
                  <a:pt x="86065" y="3155034"/>
                  <a:pt x="0" y="3068969"/>
                  <a:pt x="0" y="2962803"/>
                </a:cubicBezTo>
                <a:lnTo>
                  <a:pt x="0" y="192231"/>
                </a:lnTo>
                <a:cubicBezTo>
                  <a:pt x="0" y="86065"/>
                  <a:pt x="86065" y="0"/>
                  <a:pt x="192231" y="0"/>
                </a:cubicBezTo>
                <a:close/>
              </a:path>
            </a:pathLst>
          </a:custGeom>
          <a:solidFill>
            <a:schemeClr val="bg1"/>
          </a:solidFill>
          <a:ln w="3175" cap="sq">
            <a:solidFill>
              <a:schemeClr val="accent1"/>
            </a:solidFill>
          </a:ln>
          <a:effectLst/>
        </p:spPr>
        <p:txBody>
          <a:bodyPr vert="horz" wrap="square" lIns="91440" tIns="45720" rIns="91440" bIns="45720" rtlCol="0" anchor="t"/>
          <a:lstStyle/>
          <a:p>
            <a:pPr algn="l"/>
            <a:endParaRPr kumimoji="1" lang="zh-CN" altLang="en-US"/>
          </a:p>
        </p:txBody>
      </p:sp>
      <p:sp>
        <p:nvSpPr>
          <p:cNvPr id="13" name="标题 1"/>
          <p:cNvSpPr txBox="1"/>
          <p:nvPr/>
        </p:nvSpPr>
        <p:spPr>
          <a:xfrm>
            <a:off x="660400" y="1512934"/>
            <a:ext cx="3393281" cy="731507"/>
          </a:xfrm>
          <a:custGeom>
            <a:avLst/>
            <a:gdLst>
              <a:gd name="connsiteX0" fmla="*/ 287252 w 3393281"/>
              <a:gd name="connsiteY0" fmla="*/ 0 h 731507"/>
              <a:gd name="connsiteX1" fmla="*/ 3106029 w 3393281"/>
              <a:gd name="connsiteY1" fmla="*/ 0 h 731507"/>
              <a:gd name="connsiteX2" fmla="*/ 3393281 w 3393281"/>
              <a:gd name="connsiteY2" fmla="*/ 287252 h 731507"/>
              <a:gd name="connsiteX3" fmla="*/ 3393281 w 3393281"/>
              <a:gd name="connsiteY3" fmla="*/ 731027 h 731507"/>
              <a:gd name="connsiteX4" fmla="*/ 1 w 3393281"/>
              <a:gd name="connsiteY4" fmla="*/ 731027 h 731507"/>
              <a:gd name="connsiteX5" fmla="*/ 1 w 3393281"/>
              <a:gd name="connsiteY5" fmla="*/ 731507 h 731507"/>
              <a:gd name="connsiteX6" fmla="*/ 0 w 3393281"/>
              <a:gd name="connsiteY6" fmla="*/ 731507 h 731507"/>
              <a:gd name="connsiteX7" fmla="*/ 0 w 3393281"/>
              <a:gd name="connsiteY7" fmla="*/ 287252 h 731507"/>
              <a:gd name="connsiteX8" fmla="*/ 287252 w 3393281"/>
              <a:gd name="connsiteY8" fmla="*/ 0 h 731507"/>
            </a:gdLst>
            <a:ahLst/>
            <a:cxnLst/>
            <a:rect l="l" t="t" r="r" b="b"/>
            <a:pathLst>
              <a:path w="3393281" h="731507">
                <a:moveTo>
                  <a:pt x="287252" y="0"/>
                </a:moveTo>
                <a:lnTo>
                  <a:pt x="3106029" y="0"/>
                </a:lnTo>
                <a:cubicBezTo>
                  <a:pt x="3264674" y="0"/>
                  <a:pt x="3393281" y="128607"/>
                  <a:pt x="3393281" y="287252"/>
                </a:cubicBezTo>
                <a:lnTo>
                  <a:pt x="3393281" y="731027"/>
                </a:lnTo>
                <a:lnTo>
                  <a:pt x="1" y="731027"/>
                </a:lnTo>
                <a:lnTo>
                  <a:pt x="1" y="731507"/>
                </a:lnTo>
                <a:lnTo>
                  <a:pt x="0" y="731507"/>
                </a:lnTo>
                <a:lnTo>
                  <a:pt x="0" y="287252"/>
                </a:lnTo>
                <a:cubicBezTo>
                  <a:pt x="0" y="128607"/>
                  <a:pt x="128607" y="0"/>
                  <a:pt x="287252" y="0"/>
                </a:cubicBezTo>
                <a:close/>
              </a:path>
            </a:pathLst>
          </a:custGeom>
          <a:solidFill>
            <a:schemeClr val="accent1"/>
          </a:solidFill>
          <a:ln w="3175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flipH="1" flipV="1">
            <a:off x="4399360" y="2244440"/>
            <a:ext cx="246788" cy="293931"/>
          </a:xfrm>
          <a:prstGeom prst="rtTriangle">
            <a:avLst/>
          </a:prstGeom>
          <a:solidFill>
            <a:schemeClr val="accent1">
              <a:lumMod val="20000"/>
              <a:lumOff val="80000"/>
            </a:schemeClr>
          </a:solidFill>
          <a:ln w="3175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flipV="1">
            <a:off x="7543598" y="2244440"/>
            <a:ext cx="246788" cy="293931"/>
          </a:xfrm>
          <a:prstGeom prst="rtTriangle">
            <a:avLst/>
          </a:prstGeom>
          <a:solidFill>
            <a:schemeClr val="accent1">
              <a:lumMod val="20000"/>
              <a:lumOff val="80000"/>
            </a:schemeClr>
          </a:solidFill>
          <a:ln w="3175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a:off x="4638821" y="1778917"/>
            <a:ext cx="2914360" cy="3270707"/>
          </a:xfrm>
          <a:custGeom>
            <a:avLst/>
            <a:gdLst>
              <a:gd name="connsiteX0" fmla="*/ 192231 w 2914360"/>
              <a:gd name="connsiteY0" fmla="*/ 0 h 3270707"/>
              <a:gd name="connsiteX1" fmla="*/ 2722129 w 2914360"/>
              <a:gd name="connsiteY1" fmla="*/ 0 h 3270707"/>
              <a:gd name="connsiteX2" fmla="*/ 2914360 w 2914360"/>
              <a:gd name="connsiteY2" fmla="*/ 192231 h 3270707"/>
              <a:gd name="connsiteX3" fmla="*/ 2914360 w 2914360"/>
              <a:gd name="connsiteY3" fmla="*/ 2962803 h 3270707"/>
              <a:gd name="connsiteX4" fmla="*/ 2722129 w 2914360"/>
              <a:gd name="connsiteY4" fmla="*/ 3155034 h 3270707"/>
              <a:gd name="connsiteX5" fmla="*/ 1647670 w 2914360"/>
              <a:gd name="connsiteY5" fmla="*/ 3155034 h 3270707"/>
              <a:gd name="connsiteX6" fmla="*/ 1457179 w 2914360"/>
              <a:gd name="connsiteY6" fmla="*/ 3270707 h 3270707"/>
              <a:gd name="connsiteX7" fmla="*/ 1266688 w 2914360"/>
              <a:gd name="connsiteY7" fmla="*/ 3155034 h 3270707"/>
              <a:gd name="connsiteX8" fmla="*/ 192231 w 2914360"/>
              <a:gd name="connsiteY8" fmla="*/ 3155034 h 3270707"/>
              <a:gd name="connsiteX9" fmla="*/ 0 w 2914360"/>
              <a:gd name="connsiteY9" fmla="*/ 2962803 h 3270707"/>
              <a:gd name="connsiteX10" fmla="*/ 0 w 2914360"/>
              <a:gd name="connsiteY10" fmla="*/ 192231 h 3270707"/>
              <a:gd name="connsiteX11" fmla="*/ 192231 w 2914360"/>
              <a:gd name="connsiteY11" fmla="*/ 0 h 3270707"/>
            </a:gdLst>
            <a:ahLst/>
            <a:cxnLst/>
            <a:rect l="l" t="t" r="r" b="b"/>
            <a:pathLst>
              <a:path w="2914360" h="3270707">
                <a:moveTo>
                  <a:pt x="192231" y="0"/>
                </a:moveTo>
                <a:lnTo>
                  <a:pt x="2722129" y="0"/>
                </a:lnTo>
                <a:cubicBezTo>
                  <a:pt x="2828295" y="0"/>
                  <a:pt x="2914360" y="86065"/>
                  <a:pt x="2914360" y="192231"/>
                </a:cubicBezTo>
                <a:lnTo>
                  <a:pt x="2914360" y="2962803"/>
                </a:lnTo>
                <a:cubicBezTo>
                  <a:pt x="2914360" y="3068969"/>
                  <a:pt x="2828295" y="3155034"/>
                  <a:pt x="2722129" y="3155034"/>
                </a:cubicBezTo>
                <a:lnTo>
                  <a:pt x="1647670" y="3155034"/>
                </a:lnTo>
                <a:lnTo>
                  <a:pt x="1457179" y="3270707"/>
                </a:lnTo>
                <a:lnTo>
                  <a:pt x="1266688" y="3155034"/>
                </a:lnTo>
                <a:lnTo>
                  <a:pt x="192231" y="3155034"/>
                </a:lnTo>
                <a:cubicBezTo>
                  <a:pt x="86065" y="3155034"/>
                  <a:pt x="0" y="3068969"/>
                  <a:pt x="0" y="2962803"/>
                </a:cubicBezTo>
                <a:lnTo>
                  <a:pt x="0" y="192231"/>
                </a:lnTo>
                <a:cubicBezTo>
                  <a:pt x="0" y="86065"/>
                  <a:pt x="86065" y="0"/>
                  <a:pt x="192231" y="0"/>
                </a:cubicBezTo>
                <a:close/>
              </a:path>
            </a:pathLst>
          </a:custGeom>
          <a:solidFill>
            <a:schemeClr val="bg1"/>
          </a:solidFill>
          <a:ln w="3175" cap="sq">
            <a:solidFill>
              <a:schemeClr val="accent1"/>
            </a:solidFill>
          </a:ln>
          <a:effectLst/>
        </p:spPr>
        <p:txBody>
          <a:bodyPr vert="horz" wrap="square" lIns="91440" tIns="45720" rIns="91440" bIns="45720" rtlCol="0" anchor="t"/>
          <a:lstStyle/>
          <a:p>
            <a:pPr algn="l"/>
            <a:endParaRPr kumimoji="1" lang="zh-CN" altLang="en-US"/>
          </a:p>
        </p:txBody>
      </p:sp>
      <p:sp>
        <p:nvSpPr>
          <p:cNvPr id="17" name="标题 1"/>
          <p:cNvSpPr txBox="1"/>
          <p:nvPr/>
        </p:nvSpPr>
        <p:spPr>
          <a:xfrm>
            <a:off x="4399360" y="1512934"/>
            <a:ext cx="3393281" cy="731507"/>
          </a:xfrm>
          <a:custGeom>
            <a:avLst/>
            <a:gdLst>
              <a:gd name="connsiteX0" fmla="*/ 287252 w 3393281"/>
              <a:gd name="connsiteY0" fmla="*/ 0 h 731507"/>
              <a:gd name="connsiteX1" fmla="*/ 3106029 w 3393281"/>
              <a:gd name="connsiteY1" fmla="*/ 0 h 731507"/>
              <a:gd name="connsiteX2" fmla="*/ 3393281 w 3393281"/>
              <a:gd name="connsiteY2" fmla="*/ 287252 h 731507"/>
              <a:gd name="connsiteX3" fmla="*/ 3393281 w 3393281"/>
              <a:gd name="connsiteY3" fmla="*/ 731027 h 731507"/>
              <a:gd name="connsiteX4" fmla="*/ 1 w 3393281"/>
              <a:gd name="connsiteY4" fmla="*/ 731027 h 731507"/>
              <a:gd name="connsiteX5" fmla="*/ 1 w 3393281"/>
              <a:gd name="connsiteY5" fmla="*/ 731507 h 731507"/>
              <a:gd name="connsiteX6" fmla="*/ 0 w 3393281"/>
              <a:gd name="connsiteY6" fmla="*/ 731507 h 731507"/>
              <a:gd name="connsiteX7" fmla="*/ 0 w 3393281"/>
              <a:gd name="connsiteY7" fmla="*/ 287252 h 731507"/>
              <a:gd name="connsiteX8" fmla="*/ 287252 w 3393281"/>
              <a:gd name="connsiteY8" fmla="*/ 0 h 731507"/>
            </a:gdLst>
            <a:ahLst/>
            <a:cxnLst/>
            <a:rect l="l" t="t" r="r" b="b"/>
            <a:pathLst>
              <a:path w="3393281" h="731507">
                <a:moveTo>
                  <a:pt x="287252" y="0"/>
                </a:moveTo>
                <a:lnTo>
                  <a:pt x="3106029" y="0"/>
                </a:lnTo>
                <a:cubicBezTo>
                  <a:pt x="3264674" y="0"/>
                  <a:pt x="3393281" y="128607"/>
                  <a:pt x="3393281" y="287252"/>
                </a:cubicBezTo>
                <a:lnTo>
                  <a:pt x="3393281" y="731027"/>
                </a:lnTo>
                <a:lnTo>
                  <a:pt x="1" y="731027"/>
                </a:lnTo>
                <a:lnTo>
                  <a:pt x="1" y="731507"/>
                </a:lnTo>
                <a:lnTo>
                  <a:pt x="0" y="731507"/>
                </a:lnTo>
                <a:lnTo>
                  <a:pt x="0" y="287252"/>
                </a:lnTo>
                <a:cubicBezTo>
                  <a:pt x="0" y="128607"/>
                  <a:pt x="128607" y="0"/>
                  <a:pt x="287252" y="0"/>
                </a:cubicBezTo>
                <a:close/>
              </a:path>
            </a:pathLst>
          </a:custGeom>
          <a:solidFill>
            <a:schemeClr val="accent1"/>
          </a:solidFill>
          <a:ln w="3175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flipH="1" flipV="1">
            <a:off x="8131942" y="2244440"/>
            <a:ext cx="246788" cy="293931"/>
          </a:xfrm>
          <a:prstGeom prst="rtTriangle">
            <a:avLst/>
          </a:prstGeom>
          <a:solidFill>
            <a:schemeClr val="accent1">
              <a:lumMod val="20000"/>
              <a:lumOff val="80000"/>
            </a:schemeClr>
          </a:solidFill>
          <a:ln w="3175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flipV="1">
            <a:off x="11276180" y="2244440"/>
            <a:ext cx="246788" cy="293931"/>
          </a:xfrm>
          <a:prstGeom prst="rtTriangle">
            <a:avLst/>
          </a:prstGeom>
          <a:solidFill>
            <a:schemeClr val="accent1">
              <a:lumMod val="20000"/>
              <a:lumOff val="80000"/>
            </a:schemeClr>
          </a:solidFill>
          <a:ln w="31750" cap="sq">
            <a:noFill/>
            <a:miter/>
          </a:ln>
        </p:spPr>
        <p:txBody>
          <a:bodyPr vert="horz" wrap="square" lIns="91440" tIns="45720" rIns="91440" bIns="45720" rtlCol="0" anchor="ctr"/>
          <a:lstStyle/>
          <a:p>
            <a:pPr algn="ctr"/>
            <a:endParaRPr kumimoji="1" lang="zh-CN" altLang="en-US"/>
          </a:p>
        </p:txBody>
      </p:sp>
      <p:sp>
        <p:nvSpPr>
          <p:cNvPr id="20" name="标题 1"/>
          <p:cNvSpPr txBox="1"/>
          <p:nvPr/>
        </p:nvSpPr>
        <p:spPr>
          <a:xfrm>
            <a:off x="8371403" y="1778917"/>
            <a:ext cx="2914360" cy="3270707"/>
          </a:xfrm>
          <a:custGeom>
            <a:avLst/>
            <a:gdLst>
              <a:gd name="connsiteX0" fmla="*/ 192231 w 2914360"/>
              <a:gd name="connsiteY0" fmla="*/ 0 h 3270707"/>
              <a:gd name="connsiteX1" fmla="*/ 2722129 w 2914360"/>
              <a:gd name="connsiteY1" fmla="*/ 0 h 3270707"/>
              <a:gd name="connsiteX2" fmla="*/ 2914360 w 2914360"/>
              <a:gd name="connsiteY2" fmla="*/ 192231 h 3270707"/>
              <a:gd name="connsiteX3" fmla="*/ 2914360 w 2914360"/>
              <a:gd name="connsiteY3" fmla="*/ 2962803 h 3270707"/>
              <a:gd name="connsiteX4" fmla="*/ 2722129 w 2914360"/>
              <a:gd name="connsiteY4" fmla="*/ 3155034 h 3270707"/>
              <a:gd name="connsiteX5" fmla="*/ 1647670 w 2914360"/>
              <a:gd name="connsiteY5" fmla="*/ 3155034 h 3270707"/>
              <a:gd name="connsiteX6" fmla="*/ 1457179 w 2914360"/>
              <a:gd name="connsiteY6" fmla="*/ 3270707 h 3270707"/>
              <a:gd name="connsiteX7" fmla="*/ 1266688 w 2914360"/>
              <a:gd name="connsiteY7" fmla="*/ 3155034 h 3270707"/>
              <a:gd name="connsiteX8" fmla="*/ 192231 w 2914360"/>
              <a:gd name="connsiteY8" fmla="*/ 3155034 h 3270707"/>
              <a:gd name="connsiteX9" fmla="*/ 0 w 2914360"/>
              <a:gd name="connsiteY9" fmla="*/ 2962803 h 3270707"/>
              <a:gd name="connsiteX10" fmla="*/ 0 w 2914360"/>
              <a:gd name="connsiteY10" fmla="*/ 192231 h 3270707"/>
              <a:gd name="connsiteX11" fmla="*/ 192231 w 2914360"/>
              <a:gd name="connsiteY11" fmla="*/ 0 h 3270707"/>
            </a:gdLst>
            <a:ahLst/>
            <a:cxnLst/>
            <a:rect l="l" t="t" r="r" b="b"/>
            <a:pathLst>
              <a:path w="2914360" h="3270707">
                <a:moveTo>
                  <a:pt x="192231" y="0"/>
                </a:moveTo>
                <a:lnTo>
                  <a:pt x="2722129" y="0"/>
                </a:lnTo>
                <a:cubicBezTo>
                  <a:pt x="2828295" y="0"/>
                  <a:pt x="2914360" y="86065"/>
                  <a:pt x="2914360" y="192231"/>
                </a:cubicBezTo>
                <a:lnTo>
                  <a:pt x="2914360" y="2962803"/>
                </a:lnTo>
                <a:cubicBezTo>
                  <a:pt x="2914360" y="3068969"/>
                  <a:pt x="2828295" y="3155034"/>
                  <a:pt x="2722129" y="3155034"/>
                </a:cubicBezTo>
                <a:lnTo>
                  <a:pt x="1647670" y="3155034"/>
                </a:lnTo>
                <a:lnTo>
                  <a:pt x="1457179" y="3270707"/>
                </a:lnTo>
                <a:lnTo>
                  <a:pt x="1266688" y="3155034"/>
                </a:lnTo>
                <a:lnTo>
                  <a:pt x="192231" y="3155034"/>
                </a:lnTo>
                <a:cubicBezTo>
                  <a:pt x="86065" y="3155034"/>
                  <a:pt x="0" y="3068969"/>
                  <a:pt x="0" y="2962803"/>
                </a:cubicBezTo>
                <a:lnTo>
                  <a:pt x="0" y="192231"/>
                </a:lnTo>
                <a:cubicBezTo>
                  <a:pt x="0" y="86065"/>
                  <a:pt x="86065" y="0"/>
                  <a:pt x="192231" y="0"/>
                </a:cubicBezTo>
                <a:close/>
              </a:path>
            </a:pathLst>
          </a:custGeom>
          <a:solidFill>
            <a:schemeClr val="bg1"/>
          </a:solidFill>
          <a:ln w="3175" cap="sq">
            <a:solidFill>
              <a:schemeClr val="accent1"/>
            </a:solidFill>
          </a:ln>
          <a:effectLst/>
        </p:spPr>
        <p:txBody>
          <a:bodyPr vert="horz" wrap="square" lIns="91440" tIns="45720" rIns="91440" bIns="45720" rtlCol="0" anchor="t"/>
          <a:lstStyle/>
          <a:p>
            <a:pPr algn="l"/>
            <a:endParaRPr kumimoji="1" lang="zh-CN" altLang="en-US"/>
          </a:p>
        </p:txBody>
      </p:sp>
      <p:sp>
        <p:nvSpPr>
          <p:cNvPr id="21" name="标题 1"/>
          <p:cNvSpPr txBox="1"/>
          <p:nvPr/>
        </p:nvSpPr>
        <p:spPr>
          <a:xfrm>
            <a:off x="8131942" y="1512934"/>
            <a:ext cx="3393281" cy="731507"/>
          </a:xfrm>
          <a:custGeom>
            <a:avLst/>
            <a:gdLst>
              <a:gd name="connsiteX0" fmla="*/ 287252 w 3393281"/>
              <a:gd name="connsiteY0" fmla="*/ 0 h 731507"/>
              <a:gd name="connsiteX1" fmla="*/ 3106029 w 3393281"/>
              <a:gd name="connsiteY1" fmla="*/ 0 h 731507"/>
              <a:gd name="connsiteX2" fmla="*/ 3393281 w 3393281"/>
              <a:gd name="connsiteY2" fmla="*/ 287252 h 731507"/>
              <a:gd name="connsiteX3" fmla="*/ 3393281 w 3393281"/>
              <a:gd name="connsiteY3" fmla="*/ 731027 h 731507"/>
              <a:gd name="connsiteX4" fmla="*/ 1 w 3393281"/>
              <a:gd name="connsiteY4" fmla="*/ 731027 h 731507"/>
              <a:gd name="connsiteX5" fmla="*/ 1 w 3393281"/>
              <a:gd name="connsiteY5" fmla="*/ 731507 h 731507"/>
              <a:gd name="connsiteX6" fmla="*/ 0 w 3393281"/>
              <a:gd name="connsiteY6" fmla="*/ 731507 h 731507"/>
              <a:gd name="connsiteX7" fmla="*/ 0 w 3393281"/>
              <a:gd name="connsiteY7" fmla="*/ 287252 h 731507"/>
              <a:gd name="connsiteX8" fmla="*/ 287252 w 3393281"/>
              <a:gd name="connsiteY8" fmla="*/ 0 h 731507"/>
            </a:gdLst>
            <a:ahLst/>
            <a:cxnLst/>
            <a:rect l="l" t="t" r="r" b="b"/>
            <a:pathLst>
              <a:path w="3393281" h="731507">
                <a:moveTo>
                  <a:pt x="287252" y="0"/>
                </a:moveTo>
                <a:lnTo>
                  <a:pt x="3106029" y="0"/>
                </a:lnTo>
                <a:cubicBezTo>
                  <a:pt x="3264674" y="0"/>
                  <a:pt x="3393281" y="128607"/>
                  <a:pt x="3393281" y="287252"/>
                </a:cubicBezTo>
                <a:lnTo>
                  <a:pt x="3393281" y="731027"/>
                </a:lnTo>
                <a:lnTo>
                  <a:pt x="1" y="731027"/>
                </a:lnTo>
                <a:lnTo>
                  <a:pt x="1" y="731507"/>
                </a:lnTo>
                <a:lnTo>
                  <a:pt x="0" y="731507"/>
                </a:lnTo>
                <a:lnTo>
                  <a:pt x="0" y="287252"/>
                </a:lnTo>
                <a:cubicBezTo>
                  <a:pt x="0" y="128607"/>
                  <a:pt x="128607" y="0"/>
                  <a:pt x="287252" y="0"/>
                </a:cubicBezTo>
                <a:close/>
              </a:path>
            </a:pathLst>
          </a:custGeom>
          <a:solidFill>
            <a:schemeClr val="accent1"/>
          </a:solidFill>
          <a:ln w="31750" cap="sq">
            <a:noFill/>
            <a:miter/>
          </a:ln>
        </p:spPr>
        <p:txBody>
          <a:bodyPr vert="horz" wrap="square" lIns="91440" tIns="45720" rIns="91440" bIns="45720" rtlCol="0" anchor="ctr"/>
          <a:lstStyle/>
          <a:p>
            <a:pPr algn="ctr"/>
            <a:endParaRPr kumimoji="1" lang="zh-CN" altLang="en-US"/>
          </a:p>
        </p:txBody>
      </p:sp>
      <p:sp>
        <p:nvSpPr>
          <p:cNvPr id="22" name="标题 1"/>
          <p:cNvSpPr txBox="1"/>
          <p:nvPr/>
        </p:nvSpPr>
        <p:spPr>
          <a:xfrm>
            <a:off x="1131490" y="1638300"/>
            <a:ext cx="2451100" cy="487875"/>
          </a:xfrm>
          <a:prstGeom prst="rect">
            <a:avLst/>
          </a:prstGeom>
          <a:noFill/>
          <a:ln cap="sq">
            <a:noFill/>
          </a:ln>
        </p:spPr>
        <p:txBody>
          <a:bodyPr vert="horz" wrap="square" lIns="0" tIns="0" rIns="0" bIns="0" rtlCol="0" anchor="b"/>
          <a:lstStyle/>
          <a:p>
            <a:pPr algn="ctr"/>
            <a:r>
              <a:rPr kumimoji="1" lang="en-US" altLang="zh-CN" sz="1243">
                <a:ln w="12700">
                  <a:noFill/>
                </a:ln>
                <a:solidFill>
                  <a:srgbClr val="FFFFFF">
                    <a:alpha val="100000"/>
                  </a:srgbClr>
                </a:solidFill>
                <a:latin typeface="poppins-bold"/>
                <a:ea typeface="poppins-bold"/>
                <a:cs typeface="poppins-bold"/>
              </a:rPr>
              <a:t>KPIs Operativos (Resolución)</a:t>
            </a:r>
            <a:endParaRPr kumimoji="1" lang="zh-CN" altLang="en-US"/>
          </a:p>
        </p:txBody>
      </p:sp>
      <p:sp>
        <p:nvSpPr>
          <p:cNvPr id="23" name="标题 1"/>
          <p:cNvSpPr txBox="1"/>
          <p:nvPr/>
        </p:nvSpPr>
        <p:spPr>
          <a:xfrm>
            <a:off x="1118790" y="2400971"/>
            <a:ext cx="2476500" cy="2056730"/>
          </a:xfrm>
          <a:prstGeom prst="rect">
            <a:avLst/>
          </a:prstGeom>
          <a:noFill/>
          <a:ln cap="sq">
            <a:noFill/>
          </a:ln>
        </p:spPr>
        <p:txBody>
          <a:bodyPr vert="horz" wrap="square" lIns="0" tIns="0" rIns="0" bIns="0" rtlCol="0" anchor="t"/>
          <a:lstStyle/>
          <a:p>
            <a:pPr algn="ctr"/>
            <a:r>
              <a:rPr kumimoji="1" lang="en-US" altLang="zh-CN" sz="1400">
                <a:ln w="12700">
                  <a:noFill/>
                </a:ln>
                <a:solidFill>
                  <a:srgbClr val="000000">
                    <a:alpha val="100000"/>
                  </a:srgbClr>
                </a:solidFill>
                <a:latin typeface="Poppins"/>
                <a:ea typeface="Poppins"/>
                <a:cs typeface="Poppins"/>
              </a:rPr>
              <a:t>MTTR (Mean Time to Repair / Tiempo Medio de Reparación).
Volumen de Tickets Resueltos.
Tasa de Resolución en Primera Llamada (FCR).</a:t>
            </a:r>
            <a:endParaRPr kumimoji="1" lang="zh-CN" altLang="en-US"/>
          </a:p>
        </p:txBody>
      </p:sp>
      <p:sp>
        <p:nvSpPr>
          <p:cNvPr id="24" name="标题 1"/>
          <p:cNvSpPr txBox="1"/>
          <p:nvPr/>
        </p:nvSpPr>
        <p:spPr>
          <a:xfrm>
            <a:off x="4933951" y="1638300"/>
            <a:ext cx="2324100" cy="487875"/>
          </a:xfrm>
          <a:prstGeom prst="rect">
            <a:avLst/>
          </a:prstGeom>
          <a:noFill/>
          <a:ln cap="sq">
            <a:noFill/>
          </a:ln>
        </p:spPr>
        <p:txBody>
          <a:bodyPr vert="horz" wrap="square" lIns="0" tIns="0" rIns="0" bIns="0" rtlCol="0" anchor="b"/>
          <a:lstStyle/>
          <a:p>
            <a:pPr algn="ctr"/>
            <a:r>
              <a:rPr kumimoji="1" lang="en-US" altLang="zh-CN" sz="1106">
                <a:ln w="12700">
                  <a:noFill/>
                </a:ln>
                <a:solidFill>
                  <a:srgbClr val="FFFFFF">
                    <a:alpha val="100000"/>
                  </a:srgbClr>
                </a:solidFill>
                <a:latin typeface="poppins-bold"/>
                <a:ea typeface="poppins-bold"/>
                <a:cs typeface="poppins-bold"/>
              </a:rPr>
              <a:t>KPIs de Calidad y Proactividad</a:t>
            </a:r>
            <a:endParaRPr kumimoji="1" lang="zh-CN" altLang="en-US"/>
          </a:p>
        </p:txBody>
      </p:sp>
      <p:sp>
        <p:nvSpPr>
          <p:cNvPr id="25" name="标题 1"/>
          <p:cNvSpPr txBox="1"/>
          <p:nvPr/>
        </p:nvSpPr>
        <p:spPr>
          <a:xfrm>
            <a:off x="4940301" y="2400970"/>
            <a:ext cx="2311400" cy="2056730"/>
          </a:xfrm>
          <a:prstGeom prst="rect">
            <a:avLst/>
          </a:prstGeom>
          <a:noFill/>
          <a:ln cap="sq">
            <a:noFill/>
          </a:ln>
        </p:spPr>
        <p:txBody>
          <a:bodyPr vert="horz" wrap="square" lIns="0" tIns="0" rIns="0" bIns="0" rtlCol="0" anchor="t"/>
          <a:lstStyle/>
          <a:p>
            <a:pPr algn="ctr"/>
            <a:r>
              <a:rPr kumimoji="1" lang="en-US" altLang="zh-CN" sz="1400">
                <a:ln w="12700">
                  <a:noFill/>
                </a:ln>
                <a:solidFill>
                  <a:srgbClr val="000000">
                    <a:alpha val="100000"/>
                  </a:srgbClr>
                </a:solidFill>
                <a:latin typeface="Poppins"/>
                <a:ea typeface="Poppins"/>
                <a:cs typeface="Poppins"/>
              </a:rPr>
              <a:t>Tasa de Reapertura de Incidentes.
Adherencia a Procedimientos (Compliance).
Incidentes Prevenidos.</a:t>
            </a:r>
            <a:endParaRPr kumimoji="1" lang="zh-CN" altLang="en-US"/>
          </a:p>
        </p:txBody>
      </p:sp>
      <p:sp>
        <p:nvSpPr>
          <p:cNvPr id="26" name="标题 1"/>
          <p:cNvSpPr txBox="1"/>
          <p:nvPr/>
        </p:nvSpPr>
        <p:spPr>
          <a:xfrm>
            <a:off x="8634783" y="1638300"/>
            <a:ext cx="2387600" cy="487875"/>
          </a:xfrm>
          <a:prstGeom prst="rect">
            <a:avLst/>
          </a:prstGeom>
          <a:noFill/>
          <a:ln cap="sq">
            <a:noFill/>
          </a:ln>
        </p:spPr>
        <p:txBody>
          <a:bodyPr vert="horz" wrap="square" lIns="0" tIns="0" rIns="0" bIns="0" rtlCol="0" anchor="b"/>
          <a:lstStyle/>
          <a:p>
            <a:pPr algn="ctr"/>
            <a:r>
              <a:rPr kumimoji="1" lang="en-US" altLang="zh-CN" sz="971">
                <a:ln w="12700">
                  <a:noFill/>
                </a:ln>
                <a:solidFill>
                  <a:srgbClr val="FFFFFF">
                    <a:alpha val="100000"/>
                  </a:srgbClr>
                </a:solidFill>
                <a:latin typeface="poppins-bold"/>
                <a:ea typeface="poppins-bold"/>
                <a:cs typeface="poppins-bold"/>
              </a:rPr>
              <a:t>KPIs de Proyecto (Para Seniors/Especialistas)</a:t>
            </a:r>
            <a:endParaRPr kumimoji="1" lang="zh-CN" altLang="en-US"/>
          </a:p>
        </p:txBody>
      </p:sp>
      <p:sp>
        <p:nvSpPr>
          <p:cNvPr id="27" name="标题 1"/>
          <p:cNvSpPr txBox="1"/>
          <p:nvPr/>
        </p:nvSpPr>
        <p:spPr>
          <a:xfrm>
            <a:off x="8653833" y="2400970"/>
            <a:ext cx="2349500" cy="2056730"/>
          </a:xfrm>
          <a:prstGeom prst="rect">
            <a:avLst/>
          </a:prstGeom>
          <a:noFill/>
          <a:ln cap="sq">
            <a:noFill/>
          </a:ln>
        </p:spPr>
        <p:txBody>
          <a:bodyPr vert="horz" wrap="square" lIns="0" tIns="0" rIns="0" bIns="0" rtlCol="0" anchor="t"/>
          <a:lstStyle/>
          <a:p>
            <a:pPr algn="ctr"/>
            <a:r>
              <a:rPr kumimoji="1" lang="en-US" altLang="zh-CN" sz="1227">
                <a:ln w="12700">
                  <a:noFill/>
                </a:ln>
                <a:solidFill>
                  <a:srgbClr val="000000">
                    <a:alpha val="100000"/>
                  </a:srgbClr>
                </a:solidFill>
                <a:latin typeface="Poppins"/>
                <a:ea typeface="Poppins"/>
                <a:cs typeface="Poppins"/>
              </a:rPr>
              <a:t>Cumplimiento de plazos en la implementación de nuevos sistemas.
Calidad de la documentación entregada (diagramas de red, manuales de operación).</a:t>
            </a:r>
            <a:endParaRPr kumimoji="1" lang="zh-CN" altLang="en-US"/>
          </a:p>
        </p:txBody>
      </p:sp>
      <p:sp>
        <p:nvSpPr>
          <p:cNvPr id="28" name="标题 1"/>
          <p:cNvSpPr txBox="1"/>
          <p:nvPr/>
        </p:nvSpPr>
        <p:spPr>
          <a:xfrm>
            <a:off x="452878" y="334470"/>
            <a:ext cx="8171180" cy="655320"/>
          </a:xfrm>
          <a:prstGeom prst="roundRect">
            <a:avLst>
              <a:gd name="adj" fmla="val 50000"/>
            </a:avLst>
          </a:prstGeom>
          <a:gradFill>
            <a:gsLst>
              <a:gs pos="0">
                <a:schemeClr val="accent1">
                  <a:lumMod val="20000"/>
                  <a:lumOff val="80000"/>
                </a:schemeClr>
              </a:gs>
              <a:gs pos="80000">
                <a:schemeClr val="accent1">
                  <a:lumMod val="20000"/>
                  <a:lumOff val="80000"/>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9" name="标题 1"/>
          <p:cNvSpPr txBox="1"/>
          <p:nvPr/>
        </p:nvSpPr>
        <p:spPr>
          <a:xfrm>
            <a:off x="783617"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Métricas Clave (KPIs) del Personal Técnico</a:t>
            </a:r>
            <a:endParaRPr kumimoji="1" lang="zh-CN" altLang="en-US"/>
          </a:p>
        </p:txBody>
      </p:sp>
      <p:pic>
        <p:nvPicPr>
          <p:cNvPr id="30" name="Imagen 29">
            <a:extLst>
              <a:ext uri="{FF2B5EF4-FFF2-40B4-BE49-F238E27FC236}">
                <a16:creationId xmlns:a16="http://schemas.microsoft.com/office/drawing/2014/main" id="{32A2FA97-D867-E3A7-CF8D-9D7E6594B8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1817853" y="1450361"/>
            <a:ext cx="9713748" cy="4366239"/>
          </a:xfrm>
          <a:prstGeom prst="roundRect">
            <a:avLst>
              <a:gd name="adj" fmla="val 8851"/>
            </a:avLst>
          </a:prstGeom>
          <a:gradFill>
            <a:gsLst>
              <a:gs pos="0">
                <a:schemeClr val="accent1">
                  <a:alpha val="100000"/>
                </a:schemeClr>
              </a:gs>
              <a:gs pos="80000">
                <a:schemeClr val="accent1">
                  <a:lumMod val="60000"/>
                  <a:lumOff val="40000"/>
                  <a:alpha val="100000"/>
                </a:schemeClr>
              </a:gs>
            </a:gsLst>
            <a:path path="circle">
              <a:fillToRect l="50000" t="50000" r="50000" b="50000"/>
            </a:path>
            <a:tileRect/>
          </a:gradFill>
          <a:ln w="9525" cap="flat">
            <a:noFill/>
            <a:miter/>
          </a:ln>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6331390" y="4221716"/>
            <a:ext cx="4754365" cy="276999"/>
          </a:xfrm>
          <a:prstGeom prst="rect">
            <a:avLst/>
          </a:prstGeom>
          <a:noFill/>
          <a:ln cap="sq">
            <a:noFill/>
          </a:ln>
          <a:effectLst/>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Enfoque en el Desarrollo (Plan de Carrera)</a:t>
            </a:r>
            <a:endParaRPr kumimoji="1" lang="zh-CN" altLang="en-US"/>
          </a:p>
        </p:txBody>
      </p:sp>
      <p:sp>
        <p:nvSpPr>
          <p:cNvPr id="5" name="标题 1"/>
          <p:cNvSpPr txBox="1"/>
          <p:nvPr/>
        </p:nvSpPr>
        <p:spPr>
          <a:xfrm>
            <a:off x="6331390" y="4507197"/>
            <a:ext cx="4754365" cy="658153"/>
          </a:xfrm>
          <a:prstGeom prst="rect">
            <a:avLst/>
          </a:prstGeom>
          <a:noFill/>
          <a:ln>
            <a:noFill/>
          </a:ln>
        </p:spPr>
        <p:txBody>
          <a:bodyPr vert="horz" wrap="square" lIns="0" tIns="0" rIns="0" bIns="0" rtlCol="0" anchor="t"/>
          <a:lstStyle/>
          <a:p>
            <a:pPr algn="l"/>
            <a:r>
              <a:rPr kumimoji="1" lang="en-US" altLang="zh-CN" sz="908">
                <a:ln w="12700">
                  <a:noFill/>
                </a:ln>
                <a:solidFill>
                  <a:srgbClr val="FFFFFF">
                    <a:alpha val="100000"/>
                  </a:srgbClr>
                </a:solidFill>
                <a:latin typeface="Poppins"/>
                <a:ea typeface="Poppins"/>
                <a:cs typeface="Poppins"/>
              </a:rPr>
              <a:t>Concluir con un Plan de Desarrollo Individual (PDI).
Adquisición de habilidades técnicas (ej. certificaciones en nube, seguridad).
Mejora de habilidades blandas (ej. comunicación, gestión de proyectos).
Aspiraciones de crecimiento dentro del centro de cómputo.</a:t>
            </a:r>
            <a:endParaRPr kumimoji="1" lang="zh-CN" altLang="en-US"/>
          </a:p>
        </p:txBody>
      </p:sp>
      <p:sp>
        <p:nvSpPr>
          <p:cNvPr id="6" name="标题 1"/>
          <p:cNvSpPr txBox="1"/>
          <p:nvPr/>
        </p:nvSpPr>
        <p:spPr>
          <a:xfrm>
            <a:off x="6331390" y="3156228"/>
            <a:ext cx="4754365" cy="276999"/>
          </a:xfrm>
          <a:prstGeom prst="rect">
            <a:avLst/>
          </a:prstGeom>
          <a:noFill/>
          <a:ln cap="sq">
            <a:noFill/>
          </a:ln>
          <a:effectLst/>
        </p:spPr>
        <p:txBody>
          <a:bodyPr vert="horz" wrap="square" lIns="0" tIns="0" rIns="0" bIns="0" rtlCol="0" anchor="ctr"/>
          <a:lstStyle/>
          <a:p>
            <a:pPr algn="l"/>
            <a:r>
              <a:rPr kumimoji="1" lang="en-US" altLang="zh-CN" sz="1477">
                <a:ln w="12700">
                  <a:noFill/>
                </a:ln>
                <a:solidFill>
                  <a:srgbClr val="FFFFFF">
                    <a:alpha val="100000"/>
                  </a:srgbClr>
                </a:solidFill>
                <a:latin typeface="poppins-bold"/>
                <a:ea typeface="poppins-bold"/>
                <a:cs typeface="poppins-bold"/>
              </a:rPr>
              <a:t>Evaluación 360° (Opcional pero recomendada)</a:t>
            </a:r>
            <a:endParaRPr kumimoji="1" lang="zh-CN" altLang="en-US"/>
          </a:p>
        </p:txBody>
      </p:sp>
      <p:sp>
        <p:nvSpPr>
          <p:cNvPr id="7" name="标题 1"/>
          <p:cNvSpPr txBox="1"/>
          <p:nvPr/>
        </p:nvSpPr>
        <p:spPr>
          <a:xfrm>
            <a:off x="6331390" y="3438231"/>
            <a:ext cx="4754365" cy="658153"/>
          </a:xfrm>
          <a:prstGeom prst="rect">
            <a:avLst/>
          </a:prstGeom>
          <a:noFill/>
          <a:ln>
            <a:noFill/>
          </a:ln>
        </p:spPr>
        <p:txBody>
          <a:bodyPr vert="horz" wrap="square" lIns="0" tIns="0" rIns="0" bIns="0" rtlCol="0" anchor="t"/>
          <a:lstStyle/>
          <a:p>
            <a:pPr algn="l"/>
            <a:r>
              <a:rPr kumimoji="1" lang="en-US" altLang="zh-CN" sz="1200">
                <a:ln w="12700">
                  <a:noFill/>
                </a:ln>
                <a:solidFill>
                  <a:srgbClr val="FFFFFF">
                    <a:alpha val="100000"/>
                  </a:srgbClr>
                </a:solidFill>
                <a:latin typeface="Poppins"/>
                <a:ea typeface="Poppins"/>
                <a:cs typeface="Poppins"/>
              </a:rPr>
              <a:t>Recoger impresiones del supervisor, compañeros (pares) y "clientes internos" (otros departamentos).</a:t>
            </a:r>
            <a:endParaRPr kumimoji="1" lang="zh-CN" altLang="en-US"/>
          </a:p>
        </p:txBody>
      </p:sp>
      <p:sp>
        <p:nvSpPr>
          <p:cNvPr id="8" name="标题 1"/>
          <p:cNvSpPr txBox="1"/>
          <p:nvPr/>
        </p:nvSpPr>
        <p:spPr>
          <a:xfrm>
            <a:off x="6331390" y="2087262"/>
            <a:ext cx="4754365" cy="276999"/>
          </a:xfrm>
          <a:prstGeom prst="rect">
            <a:avLst/>
          </a:prstGeom>
          <a:noFill/>
          <a:ln cap="sq">
            <a:noFill/>
          </a:ln>
          <a:effectLst/>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Retroalimentación Continua (Feedback)</a:t>
            </a:r>
            <a:endParaRPr kumimoji="1" lang="zh-CN" altLang="en-US"/>
          </a:p>
        </p:txBody>
      </p:sp>
      <p:sp>
        <p:nvSpPr>
          <p:cNvPr id="9" name="标题 1"/>
          <p:cNvSpPr txBox="1"/>
          <p:nvPr/>
        </p:nvSpPr>
        <p:spPr>
          <a:xfrm>
            <a:off x="6331390" y="2372743"/>
            <a:ext cx="4754365" cy="658153"/>
          </a:xfrm>
          <a:prstGeom prst="rect">
            <a:avLst/>
          </a:prstGeom>
          <a:noFill/>
          <a:ln>
            <a:noFill/>
          </a:ln>
        </p:spPr>
        <p:txBody>
          <a:bodyPr vert="horz" wrap="square" lIns="0" tIns="0" rIns="0" bIns="0" rtlCol="0" anchor="t"/>
          <a:lstStyle/>
          <a:p>
            <a:pPr algn="l"/>
            <a:r>
              <a:rPr kumimoji="1" lang="en-US" altLang="zh-CN" sz="1200">
                <a:ln w="12700">
                  <a:noFill/>
                </a:ln>
                <a:solidFill>
                  <a:srgbClr val="FFFFFF">
                    <a:alpha val="100000"/>
                  </a:srgbClr>
                </a:solidFill>
                <a:latin typeface="Poppins"/>
                <a:ea typeface="Poppins"/>
                <a:cs typeface="Poppins"/>
              </a:rPr>
              <a:t>Reuniones 1- a- 1 (uno a uno) frecuentes (semanales o quincenales).</a:t>
            </a:r>
            <a:endParaRPr kumimoji="1" lang="zh-CN" altLang="en-US"/>
          </a:p>
        </p:txBody>
      </p:sp>
      <p:pic>
        <p:nvPicPr>
          <p:cNvPr id="10" name="Imagen 9"/>
          <p:cNvPicPr>
            <a:picLocks noChangeAspect="1"/>
          </p:cNvPicPr>
          <p:nvPr/>
        </p:nvPicPr>
        <p:blipFill>
          <a:blip r:embed="rId2">
            <a:alphaModFix/>
          </a:blip>
          <a:srcRect/>
          <a:stretch>
            <a:fillRect/>
          </a:stretch>
        </p:blipFill>
        <p:spPr>
          <a:xfrm>
            <a:off x="650080" y="2138574"/>
            <a:ext cx="3932240" cy="3144626"/>
          </a:xfrm>
          <a:prstGeom prst="rect">
            <a:avLst/>
          </a:prstGeom>
        </p:spPr>
      </p:pic>
      <p:sp>
        <p:nvSpPr>
          <p:cNvPr id="11" name="标题 1"/>
          <p:cNvSpPr txBox="1"/>
          <p:nvPr/>
        </p:nvSpPr>
        <p:spPr>
          <a:xfrm>
            <a:off x="452878" y="334470"/>
            <a:ext cx="8171180" cy="655320"/>
          </a:xfrm>
          <a:prstGeom prst="roundRect">
            <a:avLst>
              <a:gd name="adj" fmla="val 50000"/>
            </a:avLst>
          </a:prstGeom>
          <a:gradFill>
            <a:gsLst>
              <a:gs pos="0">
                <a:schemeClr val="accent1">
                  <a:lumMod val="20000"/>
                  <a:lumOff val="80000"/>
                </a:schemeClr>
              </a:gs>
              <a:gs pos="80000">
                <a:schemeClr val="accent1">
                  <a:lumMod val="20000"/>
                  <a:lumOff val="80000"/>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783617"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El Proceso de Evaluación</a:t>
            </a:r>
            <a:endParaRPr kumimoji="1" lang="zh-CN" altLang="en-US"/>
          </a:p>
        </p:txBody>
      </p:sp>
      <p:pic>
        <p:nvPicPr>
          <p:cNvPr id="13" name="Imagen 12">
            <a:extLst>
              <a:ext uri="{FF2B5EF4-FFF2-40B4-BE49-F238E27FC236}">
                <a16:creationId xmlns:a16="http://schemas.microsoft.com/office/drawing/2014/main" id="{9AAC10A5-A432-CD7F-776E-821F5F065A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1553798" y="2074781"/>
            <a:ext cx="1189020" cy="604251"/>
          </a:xfrm>
          <a:custGeom>
            <a:avLst/>
            <a:gdLst>
              <a:gd name="connsiteX0" fmla="*/ 890337 w 1780674"/>
              <a:gd name="connsiteY0" fmla="*/ 0 h 902369"/>
              <a:gd name="connsiteX1" fmla="*/ 1780674 w 1780674"/>
              <a:gd name="connsiteY1" fmla="*/ 890337 h 902369"/>
              <a:gd name="connsiteX2" fmla="*/ 1780067 w 1780674"/>
              <a:gd name="connsiteY2" fmla="*/ 902369 h 902369"/>
              <a:gd name="connsiteX3" fmla="*/ 608 w 1780674"/>
              <a:gd name="connsiteY3" fmla="*/ 902369 h 902369"/>
              <a:gd name="connsiteX4" fmla="*/ 0 w 1780674"/>
              <a:gd name="connsiteY4" fmla="*/ 890337 h 902369"/>
              <a:gd name="connsiteX5" fmla="*/ 890337 w 1780674"/>
              <a:gd name="connsiteY5" fmla="*/ 0 h 902369"/>
            </a:gdLst>
            <a:ahLst/>
            <a:cxnLst/>
            <a:rect l="l" t="t" r="r" b="b"/>
            <a:pathLst>
              <a:path w="1780674" h="902369">
                <a:moveTo>
                  <a:pt x="890337" y="0"/>
                </a:moveTo>
                <a:cubicBezTo>
                  <a:pt x="1382057" y="0"/>
                  <a:pt x="1780674" y="398617"/>
                  <a:pt x="1780674" y="890337"/>
                </a:cubicBezTo>
                <a:lnTo>
                  <a:pt x="1780067" y="902369"/>
                </a:lnTo>
                <a:lnTo>
                  <a:pt x="608" y="902369"/>
                </a:lnTo>
                <a:lnTo>
                  <a:pt x="0" y="890337"/>
                </a:lnTo>
                <a:cubicBezTo>
                  <a:pt x="0" y="398617"/>
                  <a:pt x="398617" y="0"/>
                  <a:pt x="890337" y="0"/>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660400" y="2679032"/>
            <a:ext cx="2975816" cy="3061368"/>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796556" y="3436077"/>
            <a:ext cx="2703504" cy="2101123"/>
          </a:xfrm>
          <a:prstGeom prst="rect">
            <a:avLst/>
          </a:prstGeom>
          <a:noFill/>
          <a:ln>
            <a:noFill/>
          </a:ln>
        </p:spPr>
        <p:txBody>
          <a:bodyPr vert="horz" wrap="square" lIns="0" tIns="0" rIns="0" bIns="0" rtlCol="0" anchor="t"/>
          <a:lstStyle/>
          <a:p>
            <a:pPr algn="ctr"/>
            <a:r>
              <a:rPr kumimoji="1" lang="en-US" altLang="zh-CN" sz="1200">
                <a:ln w="12700">
                  <a:noFill/>
                </a:ln>
                <a:solidFill>
                  <a:srgbClr val="262626">
                    <a:alpha val="100000"/>
                  </a:srgbClr>
                </a:solidFill>
                <a:latin typeface="Poppins"/>
                <a:ea typeface="Poppins"/>
                <a:cs typeface="Poppins"/>
              </a:rPr>
              <a:t>Los planes de mejora se desarrollan a partir de las evaluaciones para ayudar a los estudiantes a identificar áreas de crecimiento y establecer objetivos concretos para su progreso.</a:t>
            </a:r>
            <a:endParaRPr kumimoji="1" lang="zh-CN" altLang="en-US"/>
          </a:p>
        </p:txBody>
      </p:sp>
      <p:sp>
        <p:nvSpPr>
          <p:cNvPr id="6" name="标题 1"/>
          <p:cNvSpPr txBox="1"/>
          <p:nvPr/>
        </p:nvSpPr>
        <p:spPr>
          <a:xfrm>
            <a:off x="660400" y="5729011"/>
            <a:ext cx="2975816" cy="106639"/>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796556" y="3027614"/>
            <a:ext cx="2703504" cy="376714"/>
          </a:xfrm>
          <a:prstGeom prst="rect">
            <a:avLst/>
          </a:prstGeom>
          <a:noFill/>
          <a:ln>
            <a:noFill/>
          </a:ln>
        </p:spPr>
        <p:txBody>
          <a:bodyPr vert="horz" wrap="square" lIns="0" tIns="0" rIns="0" bIns="0" rtlCol="0" anchor="b"/>
          <a:lstStyle/>
          <a:p>
            <a:pPr algn="ctr"/>
            <a:r>
              <a:rPr kumimoji="1" lang="en-US" altLang="zh-CN" sz="1600">
                <a:ln w="12700">
                  <a:noFill/>
                </a:ln>
                <a:solidFill>
                  <a:srgbClr val="262626">
                    <a:alpha val="100000"/>
                  </a:srgbClr>
                </a:solidFill>
                <a:latin typeface="poppins-bold"/>
                <a:ea typeface="poppins-bold"/>
                <a:cs typeface="poppins-bold"/>
              </a:rPr>
              <a:t>Planes de mejora</a:t>
            </a:r>
            <a:endParaRPr kumimoji="1" lang="zh-CN" altLang="en-US"/>
          </a:p>
        </p:txBody>
      </p:sp>
      <p:sp>
        <p:nvSpPr>
          <p:cNvPr id="8" name="标题 1"/>
          <p:cNvSpPr txBox="1"/>
          <p:nvPr/>
        </p:nvSpPr>
        <p:spPr>
          <a:xfrm>
            <a:off x="1994104" y="2283260"/>
            <a:ext cx="308408" cy="308408"/>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9436482" y="2074781"/>
            <a:ext cx="1189020" cy="604251"/>
          </a:xfrm>
          <a:custGeom>
            <a:avLst/>
            <a:gdLst>
              <a:gd name="connsiteX0" fmla="*/ 890337 w 1780674"/>
              <a:gd name="connsiteY0" fmla="*/ 0 h 902369"/>
              <a:gd name="connsiteX1" fmla="*/ 1780674 w 1780674"/>
              <a:gd name="connsiteY1" fmla="*/ 890337 h 902369"/>
              <a:gd name="connsiteX2" fmla="*/ 1780067 w 1780674"/>
              <a:gd name="connsiteY2" fmla="*/ 902369 h 902369"/>
              <a:gd name="connsiteX3" fmla="*/ 608 w 1780674"/>
              <a:gd name="connsiteY3" fmla="*/ 902369 h 902369"/>
              <a:gd name="connsiteX4" fmla="*/ 0 w 1780674"/>
              <a:gd name="connsiteY4" fmla="*/ 890337 h 902369"/>
              <a:gd name="connsiteX5" fmla="*/ 890337 w 1780674"/>
              <a:gd name="connsiteY5" fmla="*/ 0 h 902369"/>
            </a:gdLst>
            <a:ahLst/>
            <a:cxnLst/>
            <a:rect l="l" t="t" r="r" b="b"/>
            <a:pathLst>
              <a:path w="1780674" h="902369">
                <a:moveTo>
                  <a:pt x="890337" y="0"/>
                </a:moveTo>
                <a:cubicBezTo>
                  <a:pt x="1382057" y="0"/>
                  <a:pt x="1780674" y="398617"/>
                  <a:pt x="1780674" y="890337"/>
                </a:cubicBezTo>
                <a:lnTo>
                  <a:pt x="1780067" y="902369"/>
                </a:lnTo>
                <a:lnTo>
                  <a:pt x="608" y="902369"/>
                </a:lnTo>
                <a:lnTo>
                  <a:pt x="0" y="890337"/>
                </a:lnTo>
                <a:cubicBezTo>
                  <a:pt x="0" y="398617"/>
                  <a:pt x="398617" y="0"/>
                  <a:pt x="890337" y="0"/>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8543084" y="2679032"/>
            <a:ext cx="2975816" cy="3061368"/>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8679240" y="3436077"/>
            <a:ext cx="2703504" cy="2096083"/>
          </a:xfrm>
          <a:prstGeom prst="rect">
            <a:avLst/>
          </a:prstGeom>
          <a:noFill/>
          <a:ln>
            <a:noFill/>
          </a:ln>
        </p:spPr>
        <p:txBody>
          <a:bodyPr vert="horz" wrap="square" lIns="0" tIns="0" rIns="0" bIns="0" rtlCol="0" anchor="t"/>
          <a:lstStyle/>
          <a:p>
            <a:pPr algn="ctr"/>
            <a:r>
              <a:rPr kumimoji="1" lang="en-US" altLang="zh-CN" sz="1200">
                <a:ln w="12700">
                  <a:noFill/>
                </a:ln>
                <a:solidFill>
                  <a:srgbClr val="262626">
                    <a:alpha val="100000"/>
                  </a:srgbClr>
                </a:solidFill>
                <a:latin typeface="Poppins"/>
                <a:ea typeface="Poppins"/>
                <a:cs typeface="Poppins"/>
              </a:rPr>
              <a:t>El ajuste de roles y funciones se refiere a la reevaluación de las responsabilidades dentro de un grupo, asegurando que cada estudiante esté en la posición que mejor se adapte a sus habilidades y competencias.</a:t>
            </a:r>
            <a:endParaRPr kumimoji="1" lang="zh-CN" altLang="en-US"/>
          </a:p>
        </p:txBody>
      </p:sp>
      <p:sp>
        <p:nvSpPr>
          <p:cNvPr id="12" name="标题 1"/>
          <p:cNvSpPr txBox="1"/>
          <p:nvPr/>
        </p:nvSpPr>
        <p:spPr>
          <a:xfrm>
            <a:off x="8543084" y="5729011"/>
            <a:ext cx="2975816" cy="106639"/>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8679240" y="3022600"/>
            <a:ext cx="2703504" cy="381728"/>
          </a:xfrm>
          <a:prstGeom prst="rect">
            <a:avLst/>
          </a:prstGeom>
          <a:noFill/>
          <a:ln>
            <a:noFill/>
          </a:ln>
        </p:spPr>
        <p:txBody>
          <a:bodyPr vert="horz" wrap="square" lIns="0" tIns="0" rIns="0" bIns="0" rtlCol="0" anchor="b"/>
          <a:lstStyle/>
          <a:p>
            <a:pPr algn="ctr"/>
            <a:r>
              <a:rPr kumimoji="1" lang="en-US" altLang="zh-CN" sz="1480">
                <a:ln w="12700">
                  <a:noFill/>
                </a:ln>
                <a:solidFill>
                  <a:srgbClr val="262626">
                    <a:alpha val="100000"/>
                  </a:srgbClr>
                </a:solidFill>
                <a:latin typeface="poppins-bold"/>
                <a:ea typeface="poppins-bold"/>
                <a:cs typeface="poppins-bold"/>
              </a:rPr>
              <a:t>Ajuste de roles y funciones</a:t>
            </a:r>
            <a:endParaRPr kumimoji="1" lang="zh-CN" altLang="en-US"/>
          </a:p>
        </p:txBody>
      </p:sp>
      <p:sp>
        <p:nvSpPr>
          <p:cNvPr id="14" name="标题 1"/>
          <p:cNvSpPr txBox="1"/>
          <p:nvPr/>
        </p:nvSpPr>
        <p:spPr>
          <a:xfrm>
            <a:off x="9876810" y="2283260"/>
            <a:ext cx="308363" cy="308407"/>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5495140" y="2074781"/>
            <a:ext cx="1189020" cy="604251"/>
          </a:xfrm>
          <a:custGeom>
            <a:avLst/>
            <a:gdLst>
              <a:gd name="connsiteX0" fmla="*/ 890337 w 1780674"/>
              <a:gd name="connsiteY0" fmla="*/ 0 h 902369"/>
              <a:gd name="connsiteX1" fmla="*/ 1780674 w 1780674"/>
              <a:gd name="connsiteY1" fmla="*/ 890337 h 902369"/>
              <a:gd name="connsiteX2" fmla="*/ 1780067 w 1780674"/>
              <a:gd name="connsiteY2" fmla="*/ 902369 h 902369"/>
              <a:gd name="connsiteX3" fmla="*/ 608 w 1780674"/>
              <a:gd name="connsiteY3" fmla="*/ 902369 h 902369"/>
              <a:gd name="connsiteX4" fmla="*/ 0 w 1780674"/>
              <a:gd name="connsiteY4" fmla="*/ 890337 h 902369"/>
              <a:gd name="connsiteX5" fmla="*/ 890337 w 1780674"/>
              <a:gd name="connsiteY5" fmla="*/ 0 h 902369"/>
            </a:gdLst>
            <a:ahLst/>
            <a:cxnLst/>
            <a:rect l="l" t="t" r="r" b="b"/>
            <a:pathLst>
              <a:path w="1780674" h="902369">
                <a:moveTo>
                  <a:pt x="890337" y="0"/>
                </a:moveTo>
                <a:cubicBezTo>
                  <a:pt x="1382057" y="0"/>
                  <a:pt x="1780674" y="398617"/>
                  <a:pt x="1780674" y="890337"/>
                </a:cubicBezTo>
                <a:lnTo>
                  <a:pt x="1780067" y="902369"/>
                </a:lnTo>
                <a:lnTo>
                  <a:pt x="608" y="902369"/>
                </a:lnTo>
                <a:lnTo>
                  <a:pt x="0" y="890337"/>
                </a:lnTo>
                <a:cubicBezTo>
                  <a:pt x="0" y="398617"/>
                  <a:pt x="398617" y="0"/>
                  <a:pt x="890337" y="0"/>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a:off x="4601742" y="2679032"/>
            <a:ext cx="2975816" cy="3061368"/>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7" name="标题 1"/>
          <p:cNvSpPr txBox="1"/>
          <p:nvPr/>
        </p:nvSpPr>
        <p:spPr>
          <a:xfrm>
            <a:off x="4737898" y="3436077"/>
            <a:ext cx="2703504" cy="2101123"/>
          </a:xfrm>
          <a:prstGeom prst="rect">
            <a:avLst/>
          </a:prstGeom>
          <a:noFill/>
          <a:ln>
            <a:noFill/>
          </a:ln>
        </p:spPr>
        <p:txBody>
          <a:bodyPr vert="horz" wrap="square" lIns="0" tIns="0" rIns="0" bIns="0" rtlCol="0" anchor="t"/>
          <a:lstStyle/>
          <a:p>
            <a:pPr algn="ctr"/>
            <a:r>
              <a:rPr kumimoji="1" lang="en-US" altLang="zh-CN" sz="1200">
                <a:ln w="12700">
                  <a:noFill/>
                </a:ln>
                <a:solidFill>
                  <a:srgbClr val="262626">
                    <a:alpha val="100000"/>
                  </a:srgbClr>
                </a:solidFill>
                <a:latin typeface="Poppins"/>
                <a:ea typeface="Poppins"/>
                <a:cs typeface="Poppins"/>
              </a:rPr>
              <a:t>El reconocimiento y las recompensas motivan a los estudiantes a esforzarse y alcanzar sus metas, celebrando sus logros y alentando un ambiente de competencia saludable.</a:t>
            </a:r>
            <a:endParaRPr kumimoji="1" lang="zh-CN" altLang="en-US"/>
          </a:p>
        </p:txBody>
      </p:sp>
      <p:sp>
        <p:nvSpPr>
          <p:cNvPr id="18" name="标题 1"/>
          <p:cNvSpPr txBox="1"/>
          <p:nvPr/>
        </p:nvSpPr>
        <p:spPr>
          <a:xfrm>
            <a:off x="4601742" y="5729011"/>
            <a:ext cx="2975816" cy="106639"/>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a:off x="4737898" y="3022600"/>
            <a:ext cx="2703504" cy="381728"/>
          </a:xfrm>
          <a:prstGeom prst="rect">
            <a:avLst/>
          </a:prstGeom>
          <a:noFill/>
          <a:ln>
            <a:noFill/>
          </a:ln>
        </p:spPr>
        <p:txBody>
          <a:bodyPr vert="horz" wrap="square" lIns="0" tIns="0" rIns="0" bIns="0" rtlCol="0" anchor="b"/>
          <a:lstStyle/>
          <a:p>
            <a:pPr algn="ctr"/>
            <a:r>
              <a:rPr kumimoji="1" lang="en-US" altLang="zh-CN" sz="1236">
                <a:ln w="12700">
                  <a:noFill/>
                </a:ln>
                <a:solidFill>
                  <a:srgbClr val="262626">
                    <a:alpha val="100000"/>
                  </a:srgbClr>
                </a:solidFill>
                <a:latin typeface="poppins-bold"/>
                <a:ea typeface="poppins-bold"/>
                <a:cs typeface="poppins-bold"/>
              </a:rPr>
              <a:t>Reconocimiento y recompensas</a:t>
            </a:r>
            <a:endParaRPr kumimoji="1" lang="zh-CN" altLang="en-US"/>
          </a:p>
        </p:txBody>
      </p:sp>
      <p:sp>
        <p:nvSpPr>
          <p:cNvPr id="20" name="标题 1"/>
          <p:cNvSpPr txBox="1"/>
          <p:nvPr/>
        </p:nvSpPr>
        <p:spPr>
          <a:xfrm>
            <a:off x="5935447" y="2292123"/>
            <a:ext cx="308407" cy="290681"/>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21" name="标题 1"/>
          <p:cNvSpPr txBox="1"/>
          <p:nvPr/>
        </p:nvSpPr>
        <p:spPr>
          <a:xfrm>
            <a:off x="493099" y="392345"/>
            <a:ext cx="7286484" cy="612000"/>
          </a:xfrm>
          <a:prstGeom prst="roundRect">
            <a:avLst>
              <a:gd name="adj" fmla="val 50000"/>
            </a:avLst>
          </a:prstGeom>
          <a:gradFill>
            <a:gsLst>
              <a:gs pos="5000">
                <a:schemeClr val="bg1">
                  <a:lumMod val="95000"/>
                </a:schemeClr>
              </a:gs>
              <a:gs pos="85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2" name="标题 1"/>
          <p:cNvSpPr txBox="1"/>
          <p:nvPr/>
        </p:nvSpPr>
        <p:spPr>
          <a:xfrm>
            <a:off x="466702" y="336383"/>
            <a:ext cx="216000" cy="216000"/>
          </a:xfrm>
          <a:prstGeom prst="ellipse">
            <a:avLst/>
          </a:prstGeom>
          <a:solidFill>
            <a:schemeClr val="accent1"/>
          </a:solidFill>
          <a:ln w="25400" cap="sq">
            <a:noFill/>
            <a:miter/>
          </a:ln>
        </p:spPr>
        <p:txBody>
          <a:bodyPr vert="horz" wrap="square" lIns="91440" tIns="45720" rIns="91440" bIns="45720" rtlCol="0" anchor="ctr"/>
          <a:lstStyle/>
          <a:p>
            <a:pPr algn="ctr"/>
            <a:endParaRPr kumimoji="1" lang="zh-CN" altLang="en-US"/>
          </a:p>
        </p:txBody>
      </p:sp>
      <p:sp>
        <p:nvSpPr>
          <p:cNvPr id="23" name="标题 1"/>
          <p:cNvSpPr txBox="1"/>
          <p:nvPr/>
        </p:nvSpPr>
        <p:spPr>
          <a:xfrm>
            <a:off x="781099" y="464345"/>
            <a:ext cx="10737801"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Acciones post-evaluación</a:t>
            </a:r>
            <a:endParaRPr kumimoji="1" lang="zh-CN" altLang="en-US"/>
          </a:p>
        </p:txBody>
      </p:sp>
      <p:pic>
        <p:nvPicPr>
          <p:cNvPr id="24" name="Imagen 23">
            <a:extLst>
              <a:ext uri="{FF2B5EF4-FFF2-40B4-BE49-F238E27FC236}">
                <a16:creationId xmlns:a16="http://schemas.microsoft.com/office/drawing/2014/main" id="{0AEBCC42-5A03-67C2-000B-39B4529875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a:off x="5355771" y="1016001"/>
            <a:ext cx="6662058" cy="4586514"/>
          </a:xfrm>
          <a:prstGeom prst="rect">
            <a:avLst/>
          </a:prstGeom>
          <a:noFill/>
          <a:ln>
            <a:noFill/>
          </a:ln>
        </p:spPr>
      </p:pic>
      <p:sp>
        <p:nvSpPr>
          <p:cNvPr id="4" name="标题 1"/>
          <p:cNvSpPr txBox="1"/>
          <p:nvPr/>
        </p:nvSpPr>
        <p:spPr>
          <a:xfrm>
            <a:off x="518144" y="2073584"/>
            <a:ext cx="4823112" cy="2086725"/>
          </a:xfrm>
          <a:prstGeom prst="rect">
            <a:avLst/>
          </a:prstGeom>
          <a:noFill/>
          <a:ln>
            <a:noFill/>
          </a:ln>
        </p:spPr>
        <p:txBody>
          <a:bodyPr vert="horz" wrap="square" lIns="91440" tIns="45720" rIns="91440" bIns="45720" rtlCol="0" anchor="ctr"/>
          <a:lstStyle/>
          <a:p>
            <a:pPr algn="l"/>
            <a:r>
              <a:rPr kumimoji="1" lang="en-US" altLang="zh-CN" sz="7100">
                <a:ln w="12700">
                  <a:noFill/>
                </a:ln>
                <a:solidFill>
                  <a:srgbClr val="000000">
                    <a:alpha val="100000"/>
                  </a:srgbClr>
                </a:solidFill>
                <a:latin typeface="Barlow Condensed Medium"/>
                <a:ea typeface="Barlow Condensed Medium"/>
                <a:cs typeface="Barlow Condensed Medium"/>
              </a:rPr>
              <a:t>Thanks</a:t>
            </a:r>
            <a:endParaRPr kumimoji="1" lang="zh-CN" altLang="en-US"/>
          </a:p>
        </p:txBody>
      </p:sp>
      <p:sp>
        <p:nvSpPr>
          <p:cNvPr id="5" name="标题 1"/>
          <p:cNvSpPr txBox="1"/>
          <p:nvPr/>
        </p:nvSpPr>
        <p:spPr>
          <a:xfrm>
            <a:off x="648773" y="4259273"/>
            <a:ext cx="4483841" cy="559469"/>
          </a:xfrm>
          <a:prstGeom prst="rect">
            <a:avLst/>
          </a:prstGeom>
          <a:noFill/>
          <a:ln w="12700" cap="sq">
            <a:noFill/>
            <a:miter/>
          </a:ln>
        </p:spPr>
        <p:txBody>
          <a:bodyPr vert="horz" wrap="square" lIns="0" tIns="0" rIns="0" bIns="0" rtlCol="0" anchor="ctr"/>
          <a:lstStyle/>
          <a:p>
            <a:pPr algn="l"/>
            <a:r>
              <a:rPr kumimoji="1" lang="en-US" altLang="zh-CN" sz="1600" dirty="0">
                <a:ln w="12700">
                  <a:noFill/>
                </a:ln>
                <a:solidFill>
                  <a:srgbClr val="000000">
                    <a:alpha val="100000"/>
                  </a:srgbClr>
                </a:solidFill>
                <a:latin typeface="Poppins"/>
                <a:ea typeface="Poppins"/>
                <a:cs typeface="Poppins"/>
              </a:rPr>
              <a:t>MGS JOSE FRANCO LAMILLA</a:t>
            </a:r>
            <a:endParaRPr kumimoji="1" lang="zh-CN" altLang="en-US" dirty="0"/>
          </a:p>
        </p:txBody>
      </p:sp>
      <p:sp>
        <p:nvSpPr>
          <p:cNvPr id="6" name="标题 1"/>
          <p:cNvSpPr txBox="1"/>
          <p:nvPr/>
        </p:nvSpPr>
        <p:spPr>
          <a:xfrm>
            <a:off x="648773" y="1276132"/>
            <a:ext cx="1745129" cy="235868"/>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tx1">
              <a:lumMod val="85000"/>
              <a:lumOff val="15000"/>
            </a:schemeClr>
          </a:solidFill>
          <a:ln w="9525" cap="flat">
            <a:noFill/>
            <a:miter/>
          </a:ln>
        </p:spPr>
        <p:txBody>
          <a:bodyPr vert="horz" wrap="square" lIns="91440" tIns="45720" rIns="91440" bIns="45720" rtlCol="0" anchor="ctr"/>
          <a:lstStyle/>
          <a:p>
            <a:pPr algn="l"/>
            <a:endParaRPr kumimoji="1" lang="zh-CN" altLang="en-US"/>
          </a:p>
        </p:txBody>
      </p:sp>
      <p:pic>
        <p:nvPicPr>
          <p:cNvPr id="7" name="Imagen 6">
            <a:extLst>
              <a:ext uri="{FF2B5EF4-FFF2-40B4-BE49-F238E27FC236}">
                <a16:creationId xmlns:a16="http://schemas.microsoft.com/office/drawing/2014/main" id="{8F8B5966-475A-8BA2-BE99-2C104CC5AE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1576</Words>
  <Application>Microsoft Office PowerPoint</Application>
  <PresentationFormat>Panorámica</PresentationFormat>
  <Paragraphs>160</Paragraphs>
  <Slides>23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Barlow Condensed Medium</vt:lpstr>
      <vt:lpstr>Poppins</vt:lpstr>
      <vt:lpstr>poppins-bold</vt:lpstr>
      <vt:lpstr>Arial</vt:lpstr>
      <vt:lpstr>Office 主题​​</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TICS</dc:creator>
  <cp:lastModifiedBy>TICS</cp:lastModifiedBy>
  <cp:revision>4</cp:revision>
  <dcterms:modified xsi:type="dcterms:W3CDTF">2025-10-21T18:05:24Z</dcterms:modified>
</cp:coreProperties>
</file>
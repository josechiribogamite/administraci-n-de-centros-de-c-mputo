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72" r:id="rId10"/>
    <p:sldId id="266" r:id="rId11"/>
    <p:sldId id="267" r:id="rId12"/>
    <p:sldId id="268" r:id="rId13"/>
    <p:sldId id="269" r:id="rId14"/>
    <p:sldId id="270" r:id="rId15"/>
    <p:sldId id="271" r:id="rId16"/>
  </p:sldIdLst>
  <p:sldSz cx="12192000" cy="6858000"/>
  <p:notesSz cx="6858000" cy="9144000"/>
  <p:embeddedFontLst>
    <p:embeddedFont>
      <p:font typeface="Poppins" panose="00000500000000000000" pitchFamily="2" charset="0"/>
      <p:regular r:id="rId17"/>
      <p:bold r:id="rId18"/>
      <p:italic r:id="rId19"/>
      <p:boldItalic r:id="rId20"/>
    </p:embeddedFont>
    <p:embeddedFont>
      <p:font typeface="poppins-bold" panose="020B0604020202020204" charset="0"/>
      <p:regular r:id="rId21"/>
    </p:embeddedFont>
  </p:embeddedFontLst>
  <p:defaultTextStyle>
    <a:defPPr>
      <a:defRPr lang="es-EC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78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C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/>
          <p:cNvSpPr txBox="1"/>
          <p:nvPr/>
        </p:nvSpPr>
        <p:spPr>
          <a:xfrm>
            <a:off x="3026373" y="2923820"/>
            <a:ext cx="7989608" cy="212365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/>
          <a:lstStyle/>
          <a:p>
            <a:pPr algn="r"/>
            <a:r>
              <a:rPr kumimoji="1" lang="en-US" altLang="zh-CN" sz="30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cs typeface="poppins-bold"/>
              </a:rPr>
              <a:t>Monitoreo</a:t>
            </a:r>
            <a:r>
              <a:rPr kumimoji="1" lang="en-US" altLang="zh-CN" sz="30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cs typeface="poppins-bold"/>
              </a:rPr>
              <a:t> y Administración de Redes y </a:t>
            </a:r>
            <a:r>
              <a:rPr kumimoji="1" lang="en-US" altLang="zh-CN" sz="30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cs typeface="poppins-bold"/>
              </a:rPr>
              <a:t>Servicios</a:t>
            </a:r>
            <a:r>
              <a:rPr kumimoji="1" lang="en-US" altLang="zh-CN" sz="30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cs typeface="poppins-bold"/>
              </a:rPr>
              <a:t> </a:t>
            </a:r>
            <a:r>
              <a:rPr kumimoji="1" lang="en-US" altLang="zh-CN" sz="30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cs typeface="poppins-bold"/>
              </a:rPr>
              <a:t>en</a:t>
            </a:r>
            <a:r>
              <a:rPr kumimoji="1" lang="en-US" altLang="zh-CN" sz="30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cs typeface="poppins-bold"/>
              </a:rPr>
              <a:t> </a:t>
            </a:r>
            <a:r>
              <a:rPr kumimoji="1" lang="en-US" altLang="zh-CN" sz="30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cs typeface="poppins-bold"/>
              </a:rPr>
              <a:t>el</a:t>
            </a:r>
            <a:r>
              <a:rPr kumimoji="1" lang="en-US" altLang="zh-CN" sz="30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cs typeface="poppins-bold"/>
              </a:rPr>
              <a:t> Centro de </a:t>
            </a:r>
            <a:r>
              <a:rPr kumimoji="1" lang="en-US" altLang="zh-CN" sz="30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cs typeface="poppins-bold"/>
              </a:rPr>
              <a:t>Cómputo</a:t>
            </a:r>
            <a:endParaRPr kumimoji="1" lang="zh-CN" altLang="en-US" sz="3000" dirty="0">
              <a:ln w="12700">
                <a:noFill/>
              </a:ln>
              <a:solidFill>
                <a:srgbClr val="262626">
                  <a:alpha val="100000"/>
                </a:srgbClr>
              </a:solidFill>
              <a:latin typeface="poppins-bold"/>
              <a:cs typeface="poppins-bold"/>
            </a:endParaRP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0EEC0A09-3F28-3236-2C80-A58AF7B6D04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 txBox="1"/>
          <p:nvPr/>
        </p:nvSpPr>
        <p:spPr>
          <a:xfrm>
            <a:off x="11276664" y="496265"/>
            <a:ext cx="193613" cy="193613"/>
          </a:xfrm>
          <a:prstGeom prst="ellipse">
            <a:avLst/>
          </a:prstGeom>
          <a:solidFill>
            <a:schemeClr val="bg1"/>
          </a:solidFill>
          <a:ln cap="sq">
            <a:noFill/>
          </a:ln>
        </p:spPr>
        <p:txBody>
          <a:bodyPr vert="horz" wrap="square" lIns="0" tIns="0" rIns="0" bIns="0"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2287940" y="1357439"/>
            <a:ext cx="7714675" cy="141128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/>
            <a:r>
              <a:rPr kumimoji="1" lang="en-US" altLang="zh-CN" sz="8800" dirty="0">
                <a:ln w="12700">
                  <a:noFill/>
                </a:ln>
                <a:solidFill>
                  <a:srgbClr val="4472C4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CONTENTIDO</a:t>
            </a:r>
            <a:endParaRPr kumimoji="1" lang="zh-CN" altLang="en-US" dirty="0"/>
          </a:p>
        </p:txBody>
      </p:sp>
      <p:sp>
        <p:nvSpPr>
          <p:cNvPr id="9" name="标题 1"/>
          <p:cNvSpPr txBox="1"/>
          <p:nvPr/>
        </p:nvSpPr>
        <p:spPr>
          <a:xfrm>
            <a:off x="3205641" y="2654288"/>
            <a:ext cx="1416945" cy="879812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2969108" y="2553271"/>
            <a:ext cx="6352341" cy="108184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254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2970859" y="2553271"/>
            <a:ext cx="1587056" cy="1081847"/>
          </a:xfrm>
          <a:prstGeom prst="rect">
            <a:avLst/>
          </a:prstGeom>
          <a:solidFill>
            <a:schemeClr val="accent1"/>
          </a:solidFill>
          <a:ln w="254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>
            <a:off x="4863718" y="2626166"/>
            <a:ext cx="4147398" cy="879813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/>
            <a:r>
              <a:rPr kumimoji="1" lang="en-US" altLang="zh-CN" sz="18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Herramientas de Monitoreo en Tiempo Real</a:t>
            </a: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>
            <a:off x="2924893" y="2433311"/>
            <a:ext cx="1714504" cy="131949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ctr"/>
            <a:r>
              <a:rPr kumimoji="1" lang="en-US" altLang="zh-CN" sz="44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01</a:t>
            </a:r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>
            <a:off x="3205641" y="3971304"/>
            <a:ext cx="1416945" cy="879812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/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>
            <a:off x="2969108" y="3870287"/>
            <a:ext cx="6352341" cy="108184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254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/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>
            <a:off x="2970859" y="3870287"/>
            <a:ext cx="1587056" cy="1081847"/>
          </a:xfrm>
          <a:prstGeom prst="rect">
            <a:avLst/>
          </a:prstGeom>
          <a:solidFill>
            <a:schemeClr val="accent1"/>
          </a:solidFill>
          <a:ln w="254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标题 1"/>
          <p:cNvSpPr txBox="1"/>
          <p:nvPr/>
        </p:nvSpPr>
        <p:spPr>
          <a:xfrm>
            <a:off x="2924893" y="3750327"/>
            <a:ext cx="1714504" cy="131949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ctr"/>
            <a:r>
              <a:rPr kumimoji="1" lang="en-US" altLang="zh-CN" sz="44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02</a:t>
            </a:r>
            <a:endParaRPr kumimoji="1" lang="zh-CN" altLang="en-US"/>
          </a:p>
        </p:txBody>
      </p:sp>
      <p:sp>
        <p:nvSpPr>
          <p:cNvPr id="18" name="标题 1"/>
          <p:cNvSpPr txBox="1"/>
          <p:nvPr/>
        </p:nvSpPr>
        <p:spPr>
          <a:xfrm>
            <a:off x="4863718" y="3958605"/>
            <a:ext cx="4147398" cy="879813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/>
            <a:r>
              <a:rPr kumimoji="1" lang="en-US" altLang="zh-CN" sz="18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Análisis de Rendimiento y Disponibilidad</a:t>
            </a:r>
            <a:endParaRPr kumimoji="1" lang="zh-CN" altLang="en-US"/>
          </a:p>
        </p:txBody>
      </p:sp>
      <p:sp>
        <p:nvSpPr>
          <p:cNvPr id="19" name="标题 1"/>
          <p:cNvSpPr txBox="1"/>
          <p:nvPr/>
        </p:nvSpPr>
        <p:spPr>
          <a:xfrm>
            <a:off x="3205641" y="5288319"/>
            <a:ext cx="1416945" cy="879812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/>
            <a:endParaRPr kumimoji="1" lang="zh-CN" altLang="en-US"/>
          </a:p>
        </p:txBody>
      </p:sp>
      <p:sp>
        <p:nvSpPr>
          <p:cNvPr id="20" name="标题 1"/>
          <p:cNvSpPr txBox="1"/>
          <p:nvPr/>
        </p:nvSpPr>
        <p:spPr>
          <a:xfrm>
            <a:off x="2969108" y="5187302"/>
            <a:ext cx="6352341" cy="108184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254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/>
            <a:endParaRPr kumimoji="1" lang="zh-CN" altLang="en-US"/>
          </a:p>
        </p:txBody>
      </p:sp>
      <p:sp>
        <p:nvSpPr>
          <p:cNvPr id="21" name="标题 1"/>
          <p:cNvSpPr txBox="1"/>
          <p:nvPr/>
        </p:nvSpPr>
        <p:spPr>
          <a:xfrm>
            <a:off x="2970859" y="5187302"/>
            <a:ext cx="1587056" cy="1081847"/>
          </a:xfrm>
          <a:prstGeom prst="rect">
            <a:avLst/>
          </a:prstGeom>
          <a:solidFill>
            <a:schemeClr val="accent1"/>
          </a:solidFill>
          <a:ln w="254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标题 1"/>
          <p:cNvSpPr txBox="1"/>
          <p:nvPr/>
        </p:nvSpPr>
        <p:spPr>
          <a:xfrm>
            <a:off x="2924893" y="5067342"/>
            <a:ext cx="1714504" cy="131949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ctr"/>
            <a:r>
              <a:rPr kumimoji="1" lang="en-US" altLang="zh-CN" sz="44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03</a:t>
            </a:r>
            <a:endParaRPr kumimoji="1" lang="zh-CN" altLang="en-US"/>
          </a:p>
        </p:txBody>
      </p:sp>
      <p:sp>
        <p:nvSpPr>
          <p:cNvPr id="23" name="标题 1"/>
          <p:cNvSpPr txBox="1"/>
          <p:nvPr/>
        </p:nvSpPr>
        <p:spPr>
          <a:xfrm>
            <a:off x="4863718" y="5275620"/>
            <a:ext cx="4147398" cy="879813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/>
            <a:r>
              <a:rPr kumimoji="1" lang="en-US" altLang="zh-CN" sz="18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Detección de Fallos y Escalamiento</a:t>
            </a:r>
            <a:endParaRPr kumimoji="1" lang="zh-CN" altLang="en-US"/>
          </a:p>
        </p:txBody>
      </p:sp>
      <p:pic>
        <p:nvPicPr>
          <p:cNvPr id="25" name="Imagen 24">
            <a:extLst>
              <a:ext uri="{FF2B5EF4-FFF2-40B4-BE49-F238E27FC236}">
                <a16:creationId xmlns:a16="http://schemas.microsoft.com/office/drawing/2014/main" id="{A4FED216-D400-6471-F828-40A01E23ABC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/>
          <p:cNvSpPr txBox="1"/>
          <p:nvPr/>
        </p:nvSpPr>
        <p:spPr>
          <a:xfrm>
            <a:off x="1210308" y="1769390"/>
            <a:ext cx="3425191" cy="110799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/>
          <a:lstStyle/>
          <a:p>
            <a:pPr algn="l"/>
            <a:r>
              <a:rPr kumimoji="1" lang="en-US" altLang="zh-CN" sz="66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PART.</a:t>
            </a: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1210308" y="2955645"/>
            <a:ext cx="7011708" cy="156966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/>
          <a:lstStyle/>
          <a:p>
            <a:pPr algn="l"/>
            <a:r>
              <a:rPr kumimoji="1" lang="en-US" altLang="zh-CN" sz="30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Herramientas de </a:t>
            </a:r>
            <a:r>
              <a:rPr kumimoji="1" lang="en-US" altLang="zh-CN" sz="30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Monitoreo</a:t>
            </a:r>
            <a:r>
              <a:rPr kumimoji="1" lang="en-US" altLang="zh-CN" sz="30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 </a:t>
            </a:r>
            <a:r>
              <a:rPr kumimoji="1" lang="en-US" altLang="zh-CN" sz="30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en</a:t>
            </a:r>
            <a:r>
              <a:rPr kumimoji="1" lang="en-US" altLang="zh-CN" sz="30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 Tiempo Real</a:t>
            </a:r>
            <a:endParaRPr kumimoji="1" lang="zh-CN" altLang="en-US" dirty="0"/>
          </a:p>
        </p:txBody>
      </p:sp>
      <p:sp>
        <p:nvSpPr>
          <p:cNvPr id="12" name="标题 1"/>
          <p:cNvSpPr txBox="1"/>
          <p:nvPr/>
        </p:nvSpPr>
        <p:spPr>
          <a:xfrm>
            <a:off x="3278504" y="1769390"/>
            <a:ext cx="2220589" cy="110799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/>
          <a:lstStyle/>
          <a:p>
            <a:pPr algn="r"/>
            <a:r>
              <a:rPr kumimoji="1" lang="en-US" altLang="zh-CN" sz="66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 01</a:t>
            </a:r>
            <a:endParaRPr kumimoji="1" lang="zh-CN" altLang="en-US"/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DC13C65F-50D4-5522-1D02-3695CC49939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660399" y="4261505"/>
            <a:ext cx="3401284" cy="2164794"/>
          </a:xfrm>
          <a:prstGeom prst="rect">
            <a:avLst/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2205582" y="1958912"/>
            <a:ext cx="310918" cy="310918"/>
          </a:xfrm>
          <a:custGeom>
            <a:avLst/>
            <a:gdLst>
              <a:gd name="connsiteX0" fmla="*/ 457070 w 720001"/>
              <a:gd name="connsiteY0" fmla="*/ 57166 h 720001"/>
              <a:gd name="connsiteX1" fmla="*/ 457070 w 720001"/>
              <a:gd name="connsiteY1" fmla="*/ 263017 h 720001"/>
              <a:gd name="connsiteX2" fmla="*/ 662921 w 720001"/>
              <a:gd name="connsiteY2" fmla="*/ 263017 h 720001"/>
              <a:gd name="connsiteX3" fmla="*/ 647393 w 720001"/>
              <a:gd name="connsiteY3" fmla="*/ 212704 h 720001"/>
              <a:gd name="connsiteX4" fmla="*/ 591008 w 720001"/>
              <a:gd name="connsiteY4" fmla="*/ 129079 h 720001"/>
              <a:gd name="connsiteX5" fmla="*/ 507383 w 720001"/>
              <a:gd name="connsiteY5" fmla="*/ 72694 h 720001"/>
              <a:gd name="connsiteX6" fmla="*/ 457070 w 720001"/>
              <a:gd name="connsiteY6" fmla="*/ 57166 h 720001"/>
              <a:gd name="connsiteX7" fmla="*/ 307952 w 720001"/>
              <a:gd name="connsiteY7" fmla="*/ 56386 h 720001"/>
              <a:gd name="connsiteX8" fmla="*/ 240115 w 720001"/>
              <a:gd name="connsiteY8" fmla="*/ 76251 h 720001"/>
              <a:gd name="connsiteX9" fmla="*/ 142092 w 720001"/>
              <a:gd name="connsiteY9" fmla="*/ 142179 h 720001"/>
              <a:gd name="connsiteX10" fmla="*/ 76077 w 720001"/>
              <a:gd name="connsiteY10" fmla="*/ 240116 h 720001"/>
              <a:gd name="connsiteX11" fmla="*/ 51874 w 720001"/>
              <a:gd name="connsiteY11" fmla="*/ 360000 h 720001"/>
              <a:gd name="connsiteX12" fmla="*/ 76077 w 720001"/>
              <a:gd name="connsiteY12" fmla="*/ 479885 h 720001"/>
              <a:gd name="connsiteX13" fmla="*/ 142092 w 720001"/>
              <a:gd name="connsiteY13" fmla="*/ 577822 h 720001"/>
              <a:gd name="connsiteX14" fmla="*/ 240029 w 720001"/>
              <a:gd name="connsiteY14" fmla="*/ 643837 h 720001"/>
              <a:gd name="connsiteX15" fmla="*/ 359913 w 720001"/>
              <a:gd name="connsiteY15" fmla="*/ 668039 h 720001"/>
              <a:gd name="connsiteX16" fmla="*/ 479798 w 720001"/>
              <a:gd name="connsiteY16" fmla="*/ 643837 h 720001"/>
              <a:gd name="connsiteX17" fmla="*/ 577735 w 720001"/>
              <a:gd name="connsiteY17" fmla="*/ 577822 h 720001"/>
              <a:gd name="connsiteX18" fmla="*/ 643750 w 720001"/>
              <a:gd name="connsiteY18" fmla="*/ 479885 h 720001"/>
              <a:gd name="connsiteX19" fmla="*/ 663615 w 720001"/>
              <a:gd name="connsiteY19" fmla="*/ 412049 h 720001"/>
              <a:gd name="connsiteX20" fmla="*/ 360000 w 720001"/>
              <a:gd name="connsiteY20" fmla="*/ 412049 h 720001"/>
              <a:gd name="connsiteX21" fmla="*/ 307952 w 720001"/>
              <a:gd name="connsiteY21" fmla="*/ 360000 h 720001"/>
              <a:gd name="connsiteX22" fmla="*/ 405022 w 720001"/>
              <a:gd name="connsiteY22" fmla="*/ 0 h 720001"/>
              <a:gd name="connsiteX23" fmla="*/ 720001 w 720001"/>
              <a:gd name="connsiteY23" fmla="*/ 314979 h 720001"/>
              <a:gd name="connsiteX24" fmla="*/ 405022 w 720001"/>
              <a:gd name="connsiteY24" fmla="*/ 314979 h 720001"/>
              <a:gd name="connsiteX25" fmla="*/ 360000 w 720001"/>
              <a:gd name="connsiteY25" fmla="*/ 0 h 720001"/>
              <a:gd name="connsiteX26" fmla="*/ 360000 w 720001"/>
              <a:gd name="connsiteY26" fmla="*/ 360000 h 720001"/>
              <a:gd name="connsiteX27" fmla="*/ 720001 w 720001"/>
              <a:gd name="connsiteY27" fmla="*/ 360000 h 720001"/>
              <a:gd name="connsiteX28" fmla="*/ 360000 w 720001"/>
              <a:gd name="connsiteY28" fmla="*/ 720001 h 720001"/>
              <a:gd name="connsiteX29" fmla="*/ 0 w 720001"/>
              <a:gd name="connsiteY29" fmla="*/ 360000 h 720001"/>
              <a:gd name="connsiteX30" fmla="*/ 360000 w 720001"/>
              <a:gd name="connsiteY30" fmla="*/ 0 h 720001"/>
            </a:gdLst>
            <a:ahLst/>
            <a:cxnLst/>
            <a:rect l="l" t="t" r="r" b="b"/>
            <a:pathLst>
              <a:path w="720001" h="720001">
                <a:moveTo>
                  <a:pt x="457070" y="57166"/>
                </a:moveTo>
                <a:lnTo>
                  <a:pt x="457070" y="263017"/>
                </a:lnTo>
                <a:lnTo>
                  <a:pt x="662921" y="263017"/>
                </a:lnTo>
                <a:cubicBezTo>
                  <a:pt x="659451" y="245755"/>
                  <a:pt x="654246" y="229012"/>
                  <a:pt x="647393" y="212704"/>
                </a:cubicBezTo>
                <a:cubicBezTo>
                  <a:pt x="634121" y="181388"/>
                  <a:pt x="615210" y="153282"/>
                  <a:pt x="591008" y="129079"/>
                </a:cubicBezTo>
                <a:cubicBezTo>
                  <a:pt x="566806" y="104877"/>
                  <a:pt x="538699" y="85966"/>
                  <a:pt x="507383" y="72694"/>
                </a:cubicBezTo>
                <a:cubicBezTo>
                  <a:pt x="491075" y="65755"/>
                  <a:pt x="474246" y="60636"/>
                  <a:pt x="457070" y="57166"/>
                </a:cubicBezTo>
                <a:close/>
                <a:moveTo>
                  <a:pt x="307952" y="56386"/>
                </a:moveTo>
                <a:cubicBezTo>
                  <a:pt x="284703" y="60376"/>
                  <a:pt x="262062" y="66969"/>
                  <a:pt x="240115" y="76251"/>
                </a:cubicBezTo>
                <a:cubicBezTo>
                  <a:pt x="203508" y="91778"/>
                  <a:pt x="170544" y="113986"/>
                  <a:pt x="142092" y="142179"/>
                </a:cubicBezTo>
                <a:cubicBezTo>
                  <a:pt x="113812" y="170545"/>
                  <a:pt x="91605" y="203422"/>
                  <a:pt x="76077" y="240116"/>
                </a:cubicBezTo>
                <a:cubicBezTo>
                  <a:pt x="60029" y="278111"/>
                  <a:pt x="51874" y="318362"/>
                  <a:pt x="51874" y="360000"/>
                </a:cubicBezTo>
                <a:cubicBezTo>
                  <a:pt x="51874" y="401639"/>
                  <a:pt x="60029" y="441976"/>
                  <a:pt x="76077" y="479885"/>
                </a:cubicBezTo>
                <a:cubicBezTo>
                  <a:pt x="91605" y="516579"/>
                  <a:pt x="113812" y="549543"/>
                  <a:pt x="142092" y="577822"/>
                </a:cubicBezTo>
                <a:cubicBezTo>
                  <a:pt x="170458" y="606102"/>
                  <a:pt x="203335" y="628309"/>
                  <a:pt x="240029" y="643837"/>
                </a:cubicBezTo>
                <a:cubicBezTo>
                  <a:pt x="278024" y="659885"/>
                  <a:pt x="318275" y="668039"/>
                  <a:pt x="359913" y="668039"/>
                </a:cubicBezTo>
                <a:cubicBezTo>
                  <a:pt x="401552" y="668039"/>
                  <a:pt x="441890" y="659885"/>
                  <a:pt x="479798" y="643837"/>
                </a:cubicBezTo>
                <a:cubicBezTo>
                  <a:pt x="516492" y="628309"/>
                  <a:pt x="549456" y="606102"/>
                  <a:pt x="577735" y="577822"/>
                </a:cubicBezTo>
                <a:cubicBezTo>
                  <a:pt x="606015" y="549456"/>
                  <a:pt x="628222" y="516579"/>
                  <a:pt x="643750" y="479885"/>
                </a:cubicBezTo>
                <a:cubicBezTo>
                  <a:pt x="653032" y="457938"/>
                  <a:pt x="659625" y="435297"/>
                  <a:pt x="663615" y="412049"/>
                </a:cubicBezTo>
                <a:lnTo>
                  <a:pt x="360000" y="412049"/>
                </a:lnTo>
                <a:cubicBezTo>
                  <a:pt x="331287" y="412049"/>
                  <a:pt x="307952" y="388714"/>
                  <a:pt x="307952" y="360000"/>
                </a:cubicBezTo>
                <a:close/>
                <a:moveTo>
                  <a:pt x="405022" y="0"/>
                </a:moveTo>
                <a:cubicBezTo>
                  <a:pt x="578950" y="0"/>
                  <a:pt x="720001" y="141051"/>
                  <a:pt x="720001" y="314979"/>
                </a:cubicBezTo>
                <a:lnTo>
                  <a:pt x="405022" y="314979"/>
                </a:lnTo>
                <a:close/>
                <a:moveTo>
                  <a:pt x="360000" y="0"/>
                </a:moveTo>
                <a:lnTo>
                  <a:pt x="360000" y="360000"/>
                </a:lnTo>
                <a:lnTo>
                  <a:pt x="720001" y="360000"/>
                </a:lnTo>
                <a:cubicBezTo>
                  <a:pt x="720001" y="558825"/>
                  <a:pt x="558824" y="720001"/>
                  <a:pt x="360000" y="720001"/>
                </a:cubicBezTo>
                <a:cubicBezTo>
                  <a:pt x="161176" y="720001"/>
                  <a:pt x="0" y="558825"/>
                  <a:pt x="0" y="360000"/>
                </a:cubicBezTo>
                <a:cubicBezTo>
                  <a:pt x="0" y="161176"/>
                  <a:pt x="161176" y="0"/>
                  <a:pt x="360000" y="0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/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730432" y="5255443"/>
            <a:ext cx="3194892" cy="88548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/>
            <a:r>
              <a:rPr kumimoji="1" lang="en-US" altLang="zh-CN" sz="12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Estado de </a:t>
            </a:r>
            <a:r>
              <a:rPr kumimoji="1" lang="en-US" altLang="zh-CN" sz="12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puertos</a:t>
            </a:r>
            <a:r>
              <a:rPr kumimoji="1" lang="en-US" altLang="zh-CN" sz="12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
</a:t>
            </a:r>
            <a:r>
              <a:rPr kumimoji="1" lang="en-US" altLang="zh-CN" sz="12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Tráfico</a:t>
            </a:r>
            <a:r>
              <a:rPr kumimoji="1" lang="en-US" altLang="zh-CN" sz="12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 (ancho de </a:t>
            </a:r>
            <a:r>
              <a:rPr kumimoji="1" lang="en-US" altLang="zh-CN" sz="12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banda</a:t>
            </a:r>
            <a:r>
              <a:rPr kumimoji="1" lang="en-US" altLang="zh-CN" sz="12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)
</a:t>
            </a:r>
            <a:r>
              <a:rPr kumimoji="1" lang="en-US" altLang="zh-CN" sz="12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Latencia</a:t>
            </a:r>
            <a:r>
              <a:rPr kumimoji="1" lang="en-US" altLang="zh-CN" sz="12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
Pérdida de </a:t>
            </a:r>
            <a:r>
              <a:rPr kumimoji="1" lang="en-US" altLang="zh-CN" sz="12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paquetes</a:t>
            </a:r>
            <a:r>
              <a:rPr kumimoji="1" lang="en-US" altLang="zh-CN" sz="12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 y errores </a:t>
            </a:r>
            <a:r>
              <a:rPr kumimoji="1" lang="en-US" altLang="zh-CN" sz="12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en</a:t>
            </a:r>
            <a:r>
              <a:rPr kumimoji="1" lang="en-US" altLang="zh-CN" sz="12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 routers, switches y firewalls</a:t>
            </a:r>
            <a:endParaRPr kumimoji="1" lang="zh-CN" altLang="en-US" dirty="0"/>
          </a:p>
        </p:txBody>
      </p:sp>
      <p:sp>
        <p:nvSpPr>
          <p:cNvPr id="9" name="标题 1"/>
          <p:cNvSpPr txBox="1"/>
          <p:nvPr/>
        </p:nvSpPr>
        <p:spPr>
          <a:xfrm>
            <a:off x="660399" y="4530134"/>
            <a:ext cx="3194892" cy="43993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ctr"/>
            <a:r>
              <a:rPr kumimoji="1" lang="en-US" altLang="zh-CN" sz="16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Dispositivos</a:t>
            </a:r>
            <a:r>
              <a:rPr kumimoji="1" lang="en-US" altLang="zh-CN" sz="16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 de Red</a:t>
            </a:r>
            <a:endParaRPr kumimoji="1" lang="zh-CN" altLang="en-US" dirty="0"/>
          </a:p>
        </p:txBody>
      </p:sp>
      <p:sp>
        <p:nvSpPr>
          <p:cNvPr id="10" name="标题 1"/>
          <p:cNvSpPr txBox="1"/>
          <p:nvPr/>
        </p:nvSpPr>
        <p:spPr>
          <a:xfrm>
            <a:off x="4389007" y="4261505"/>
            <a:ext cx="3401284" cy="2164794"/>
          </a:xfrm>
          <a:prstGeom prst="rect">
            <a:avLst/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 rot="10800000">
            <a:off x="5933386" y="3932635"/>
            <a:ext cx="535426" cy="265670"/>
          </a:xfrm>
          <a:prstGeom prst="flowChartExtract">
            <a:avLst/>
          </a:prstGeom>
          <a:solidFill>
            <a:schemeClr val="accent1">
              <a:lumMod val="60000"/>
              <a:lumOff val="4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>
            <a:off x="5934190" y="1970560"/>
            <a:ext cx="310918" cy="287621"/>
          </a:xfrm>
          <a:custGeom>
            <a:avLst/>
            <a:gdLst>
              <a:gd name="connsiteX0" fmla="*/ 56258 w 778320"/>
              <a:gd name="connsiteY0" fmla="*/ 333700 h 720001"/>
              <a:gd name="connsiteX1" fmla="*/ 56258 w 778320"/>
              <a:gd name="connsiteY1" fmla="*/ 627457 h 720001"/>
              <a:gd name="connsiteX2" fmla="*/ 66946 w 778320"/>
              <a:gd name="connsiteY2" fmla="*/ 653054 h 720001"/>
              <a:gd name="connsiteX3" fmla="*/ 92544 w 778320"/>
              <a:gd name="connsiteY3" fmla="*/ 663743 h 720001"/>
              <a:gd name="connsiteX4" fmla="*/ 685683 w 778320"/>
              <a:gd name="connsiteY4" fmla="*/ 663743 h 720001"/>
              <a:gd name="connsiteX5" fmla="*/ 711281 w 778320"/>
              <a:gd name="connsiteY5" fmla="*/ 653054 h 720001"/>
              <a:gd name="connsiteX6" fmla="*/ 721969 w 778320"/>
              <a:gd name="connsiteY6" fmla="*/ 627457 h 720001"/>
              <a:gd name="connsiteX7" fmla="*/ 721969 w 778320"/>
              <a:gd name="connsiteY7" fmla="*/ 333700 h 720001"/>
              <a:gd name="connsiteX8" fmla="*/ 92544 w 778320"/>
              <a:gd name="connsiteY8" fmla="*/ 142049 h 720001"/>
              <a:gd name="connsiteX9" fmla="*/ 56258 w 778320"/>
              <a:gd name="connsiteY9" fmla="*/ 178336 h 720001"/>
              <a:gd name="connsiteX10" fmla="*/ 56258 w 778320"/>
              <a:gd name="connsiteY10" fmla="*/ 277443 h 720001"/>
              <a:gd name="connsiteX11" fmla="*/ 721969 w 778320"/>
              <a:gd name="connsiteY11" fmla="*/ 277443 h 720001"/>
              <a:gd name="connsiteX12" fmla="*/ 721969 w 778320"/>
              <a:gd name="connsiteY12" fmla="*/ 178336 h 720001"/>
              <a:gd name="connsiteX13" fmla="*/ 685683 w 778320"/>
              <a:gd name="connsiteY13" fmla="*/ 142049 h 720001"/>
              <a:gd name="connsiteX14" fmla="*/ 561355 w 778320"/>
              <a:gd name="connsiteY14" fmla="*/ 142049 h 720001"/>
              <a:gd name="connsiteX15" fmla="*/ 561355 w 778320"/>
              <a:gd name="connsiteY15" fmla="*/ 201026 h 720001"/>
              <a:gd name="connsiteX16" fmla="*/ 533226 w 778320"/>
              <a:gd name="connsiteY16" fmla="*/ 229249 h 720001"/>
              <a:gd name="connsiteX17" fmla="*/ 505097 w 778320"/>
              <a:gd name="connsiteY17" fmla="*/ 201120 h 720001"/>
              <a:gd name="connsiteX18" fmla="*/ 505097 w 778320"/>
              <a:gd name="connsiteY18" fmla="*/ 142049 h 720001"/>
              <a:gd name="connsiteX19" fmla="*/ 273129 w 778320"/>
              <a:gd name="connsiteY19" fmla="*/ 142049 h 720001"/>
              <a:gd name="connsiteX20" fmla="*/ 273129 w 778320"/>
              <a:gd name="connsiteY20" fmla="*/ 201026 h 720001"/>
              <a:gd name="connsiteX21" fmla="*/ 245001 w 778320"/>
              <a:gd name="connsiteY21" fmla="*/ 229249 h 720001"/>
              <a:gd name="connsiteX22" fmla="*/ 216872 w 778320"/>
              <a:gd name="connsiteY22" fmla="*/ 201120 h 720001"/>
              <a:gd name="connsiteX23" fmla="*/ 216872 w 778320"/>
              <a:gd name="connsiteY23" fmla="*/ 142049 h 720001"/>
              <a:gd name="connsiteX24" fmla="*/ 245001 w 778320"/>
              <a:gd name="connsiteY24" fmla="*/ 0 h 720001"/>
              <a:gd name="connsiteX25" fmla="*/ 273129 w 778320"/>
              <a:gd name="connsiteY25" fmla="*/ 28129 h 720001"/>
              <a:gd name="connsiteX26" fmla="*/ 273129 w 778320"/>
              <a:gd name="connsiteY26" fmla="*/ 85792 h 720001"/>
              <a:gd name="connsiteX27" fmla="*/ 505097 w 778320"/>
              <a:gd name="connsiteY27" fmla="*/ 85792 h 720001"/>
              <a:gd name="connsiteX28" fmla="*/ 505097 w 778320"/>
              <a:gd name="connsiteY28" fmla="*/ 28129 h 720001"/>
              <a:gd name="connsiteX29" fmla="*/ 533226 w 778320"/>
              <a:gd name="connsiteY29" fmla="*/ 0 h 720001"/>
              <a:gd name="connsiteX30" fmla="*/ 561355 w 778320"/>
              <a:gd name="connsiteY30" fmla="*/ 28129 h 720001"/>
              <a:gd name="connsiteX31" fmla="*/ 561355 w 778320"/>
              <a:gd name="connsiteY31" fmla="*/ 85792 h 720001"/>
              <a:gd name="connsiteX32" fmla="*/ 685683 w 778320"/>
              <a:gd name="connsiteY32" fmla="*/ 85792 h 720001"/>
              <a:gd name="connsiteX33" fmla="*/ 778320 w 778320"/>
              <a:gd name="connsiteY33" fmla="*/ 178336 h 720001"/>
              <a:gd name="connsiteX34" fmla="*/ 778320 w 778320"/>
              <a:gd name="connsiteY34" fmla="*/ 627457 h 720001"/>
              <a:gd name="connsiteX35" fmla="*/ 685777 w 778320"/>
              <a:gd name="connsiteY35" fmla="*/ 720001 h 720001"/>
              <a:gd name="connsiteX36" fmla="*/ 92544 w 778320"/>
              <a:gd name="connsiteY36" fmla="*/ 720001 h 720001"/>
              <a:gd name="connsiteX37" fmla="*/ 0 w 778320"/>
              <a:gd name="connsiteY37" fmla="*/ 627457 h 720001"/>
              <a:gd name="connsiteX38" fmla="*/ 0 w 778320"/>
              <a:gd name="connsiteY38" fmla="*/ 333700 h 720001"/>
              <a:gd name="connsiteX39" fmla="*/ 0 w 778320"/>
              <a:gd name="connsiteY39" fmla="*/ 277443 h 720001"/>
              <a:gd name="connsiteX40" fmla="*/ 0 w 778320"/>
              <a:gd name="connsiteY40" fmla="*/ 178336 h 720001"/>
              <a:gd name="connsiteX41" fmla="*/ 92544 w 778320"/>
              <a:gd name="connsiteY41" fmla="*/ 85792 h 720001"/>
              <a:gd name="connsiteX42" fmla="*/ 216872 w 778320"/>
              <a:gd name="connsiteY42" fmla="*/ 85792 h 720001"/>
              <a:gd name="connsiteX43" fmla="*/ 216872 w 778320"/>
              <a:gd name="connsiteY43" fmla="*/ 28129 h 720001"/>
              <a:gd name="connsiteX44" fmla="*/ 245001 w 778320"/>
              <a:gd name="connsiteY44" fmla="*/ 0 h 720001"/>
            </a:gdLst>
            <a:ahLst/>
            <a:cxnLst/>
            <a:rect l="l" t="t" r="r" b="b"/>
            <a:pathLst>
              <a:path w="778320" h="720001">
                <a:moveTo>
                  <a:pt x="56258" y="333700"/>
                </a:moveTo>
                <a:lnTo>
                  <a:pt x="56258" y="627457"/>
                </a:lnTo>
                <a:cubicBezTo>
                  <a:pt x="56258" y="637115"/>
                  <a:pt x="60008" y="646116"/>
                  <a:pt x="66946" y="653054"/>
                </a:cubicBezTo>
                <a:cubicBezTo>
                  <a:pt x="73885" y="659899"/>
                  <a:pt x="82980" y="663743"/>
                  <a:pt x="92544" y="663743"/>
                </a:cubicBezTo>
                <a:lnTo>
                  <a:pt x="685683" y="663743"/>
                </a:lnTo>
                <a:cubicBezTo>
                  <a:pt x="695341" y="663743"/>
                  <a:pt x="704342" y="659993"/>
                  <a:pt x="711281" y="653054"/>
                </a:cubicBezTo>
                <a:cubicBezTo>
                  <a:pt x="718125" y="646116"/>
                  <a:pt x="721969" y="637021"/>
                  <a:pt x="721969" y="627457"/>
                </a:cubicBezTo>
                <a:lnTo>
                  <a:pt x="721969" y="333700"/>
                </a:lnTo>
                <a:close/>
                <a:moveTo>
                  <a:pt x="92544" y="142049"/>
                </a:moveTo>
                <a:cubicBezTo>
                  <a:pt x="72478" y="142049"/>
                  <a:pt x="56258" y="158364"/>
                  <a:pt x="56258" y="178336"/>
                </a:cubicBezTo>
                <a:lnTo>
                  <a:pt x="56258" y="277443"/>
                </a:lnTo>
                <a:lnTo>
                  <a:pt x="721969" y="277443"/>
                </a:lnTo>
                <a:lnTo>
                  <a:pt x="721969" y="178336"/>
                </a:lnTo>
                <a:cubicBezTo>
                  <a:pt x="721969" y="158270"/>
                  <a:pt x="705655" y="142049"/>
                  <a:pt x="685683" y="142049"/>
                </a:cubicBezTo>
                <a:lnTo>
                  <a:pt x="561355" y="142049"/>
                </a:lnTo>
                <a:lnTo>
                  <a:pt x="561355" y="201026"/>
                </a:lnTo>
                <a:cubicBezTo>
                  <a:pt x="561355" y="216591"/>
                  <a:pt x="548790" y="229249"/>
                  <a:pt x="533226" y="229249"/>
                </a:cubicBezTo>
                <a:cubicBezTo>
                  <a:pt x="517661" y="229249"/>
                  <a:pt x="505097" y="216685"/>
                  <a:pt x="505097" y="201120"/>
                </a:cubicBezTo>
                <a:lnTo>
                  <a:pt x="505097" y="142049"/>
                </a:lnTo>
                <a:lnTo>
                  <a:pt x="273129" y="142049"/>
                </a:lnTo>
                <a:lnTo>
                  <a:pt x="273129" y="201026"/>
                </a:lnTo>
                <a:cubicBezTo>
                  <a:pt x="273129" y="216591"/>
                  <a:pt x="260565" y="229249"/>
                  <a:pt x="245001" y="229249"/>
                </a:cubicBezTo>
                <a:cubicBezTo>
                  <a:pt x="229436" y="229249"/>
                  <a:pt x="216872" y="216685"/>
                  <a:pt x="216872" y="201120"/>
                </a:cubicBezTo>
                <a:lnTo>
                  <a:pt x="216872" y="142049"/>
                </a:lnTo>
                <a:close/>
                <a:moveTo>
                  <a:pt x="245001" y="0"/>
                </a:moveTo>
                <a:cubicBezTo>
                  <a:pt x="260565" y="0"/>
                  <a:pt x="273129" y="12564"/>
                  <a:pt x="273129" y="28129"/>
                </a:cubicBezTo>
                <a:lnTo>
                  <a:pt x="273129" y="85792"/>
                </a:lnTo>
                <a:lnTo>
                  <a:pt x="505097" y="85792"/>
                </a:lnTo>
                <a:lnTo>
                  <a:pt x="505097" y="28129"/>
                </a:lnTo>
                <a:cubicBezTo>
                  <a:pt x="505097" y="12564"/>
                  <a:pt x="517661" y="0"/>
                  <a:pt x="533226" y="0"/>
                </a:cubicBezTo>
                <a:cubicBezTo>
                  <a:pt x="548790" y="0"/>
                  <a:pt x="561355" y="12564"/>
                  <a:pt x="561355" y="28129"/>
                </a:cubicBezTo>
                <a:lnTo>
                  <a:pt x="561355" y="85792"/>
                </a:lnTo>
                <a:lnTo>
                  <a:pt x="685683" y="85792"/>
                </a:lnTo>
                <a:cubicBezTo>
                  <a:pt x="736784" y="85792"/>
                  <a:pt x="778227" y="127235"/>
                  <a:pt x="778320" y="178336"/>
                </a:cubicBezTo>
                <a:lnTo>
                  <a:pt x="778320" y="627457"/>
                </a:lnTo>
                <a:cubicBezTo>
                  <a:pt x="778320" y="678370"/>
                  <a:pt x="736690" y="720001"/>
                  <a:pt x="685777" y="720001"/>
                </a:cubicBezTo>
                <a:lnTo>
                  <a:pt x="92544" y="720001"/>
                </a:lnTo>
                <a:cubicBezTo>
                  <a:pt x="41631" y="720001"/>
                  <a:pt x="0" y="678370"/>
                  <a:pt x="0" y="627457"/>
                </a:cubicBezTo>
                <a:lnTo>
                  <a:pt x="0" y="333700"/>
                </a:lnTo>
                <a:lnTo>
                  <a:pt x="0" y="277443"/>
                </a:lnTo>
                <a:lnTo>
                  <a:pt x="0" y="178336"/>
                </a:lnTo>
                <a:cubicBezTo>
                  <a:pt x="0" y="127235"/>
                  <a:pt x="41443" y="85792"/>
                  <a:pt x="92544" y="85792"/>
                </a:cubicBezTo>
                <a:lnTo>
                  <a:pt x="216872" y="85792"/>
                </a:lnTo>
                <a:lnTo>
                  <a:pt x="216872" y="28129"/>
                </a:lnTo>
                <a:cubicBezTo>
                  <a:pt x="216872" y="12564"/>
                  <a:pt x="229436" y="0"/>
                  <a:pt x="245001" y="0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/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>
            <a:off x="4371603" y="5167987"/>
            <a:ext cx="3194892" cy="106039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/>
            <a:r>
              <a:rPr kumimoji="1" lang="en-US" altLang="zh-CN" sz="12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Uso de CPU
</a:t>
            </a:r>
            <a:r>
              <a:rPr kumimoji="1" lang="en-US" altLang="zh-CN" sz="12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Consumo</a:t>
            </a:r>
            <a:r>
              <a:rPr kumimoji="1" lang="en-US" altLang="zh-CN" sz="12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 de </a:t>
            </a:r>
            <a:r>
              <a:rPr kumimoji="1" lang="en-US" altLang="zh-CN" sz="12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memoria</a:t>
            </a:r>
            <a:r>
              <a:rPr kumimoji="1" lang="en-US" altLang="zh-CN" sz="12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 (RAM)
E/S de disco (IOPS)
Espacio </a:t>
            </a:r>
            <a:r>
              <a:rPr kumimoji="1" lang="en-US" altLang="zh-CN" sz="12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en</a:t>
            </a:r>
            <a:r>
              <a:rPr kumimoji="1" lang="en-US" altLang="zh-CN" sz="12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 disco
</a:t>
            </a:r>
            <a:r>
              <a:rPr kumimoji="1" lang="en-US" altLang="zh-CN" sz="12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Temperatura</a:t>
            </a:r>
            <a:r>
              <a:rPr kumimoji="1" lang="en-US" altLang="zh-CN" sz="12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 del hardware</a:t>
            </a:r>
            <a:endParaRPr kumimoji="1" lang="zh-CN" altLang="en-US" dirty="0"/>
          </a:p>
        </p:txBody>
      </p:sp>
      <p:sp>
        <p:nvSpPr>
          <p:cNvPr id="15" name="标题 1"/>
          <p:cNvSpPr txBox="1"/>
          <p:nvPr/>
        </p:nvSpPr>
        <p:spPr>
          <a:xfrm>
            <a:off x="4535076" y="4486431"/>
            <a:ext cx="3194892" cy="43993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ctr"/>
            <a:r>
              <a:rPr kumimoji="1" lang="en-US" altLang="zh-CN" sz="16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Servidores</a:t>
            </a:r>
            <a:r>
              <a:rPr kumimoji="1" lang="en-US" altLang="zh-CN" sz="16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 </a:t>
            </a:r>
            <a:r>
              <a:rPr kumimoji="1" lang="en-US" altLang="zh-CN" sz="16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Físicos</a:t>
            </a:r>
            <a:r>
              <a:rPr kumimoji="1" lang="en-US" altLang="zh-CN" sz="16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 y </a:t>
            </a:r>
            <a:r>
              <a:rPr kumimoji="1" lang="en-US" altLang="zh-CN" sz="16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Virtuales</a:t>
            </a:r>
            <a:endParaRPr kumimoji="1" lang="zh-CN" altLang="en-US" dirty="0"/>
          </a:p>
        </p:txBody>
      </p:sp>
      <p:sp>
        <p:nvSpPr>
          <p:cNvPr id="16" name="标题 1"/>
          <p:cNvSpPr txBox="1"/>
          <p:nvPr/>
        </p:nvSpPr>
        <p:spPr>
          <a:xfrm>
            <a:off x="8130317" y="4261505"/>
            <a:ext cx="3401284" cy="2164794"/>
          </a:xfrm>
          <a:prstGeom prst="rect">
            <a:avLst/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标题 1"/>
          <p:cNvSpPr txBox="1"/>
          <p:nvPr/>
        </p:nvSpPr>
        <p:spPr>
          <a:xfrm>
            <a:off x="9662798" y="1985784"/>
            <a:ext cx="310918" cy="257173"/>
          </a:xfrm>
          <a:custGeom>
            <a:avLst/>
            <a:gdLst>
              <a:gd name="connsiteX0" fmla="*/ 153878 w 870468"/>
              <a:gd name="connsiteY0" fmla="*/ 353026 h 720000"/>
              <a:gd name="connsiteX1" fmla="*/ 449972 w 870468"/>
              <a:gd name="connsiteY1" fmla="*/ 353026 h 720000"/>
              <a:gd name="connsiteX2" fmla="*/ 489985 w 870468"/>
              <a:gd name="connsiteY2" fmla="*/ 393039 h 720000"/>
              <a:gd name="connsiteX3" fmla="*/ 449972 w 870468"/>
              <a:gd name="connsiteY3" fmla="*/ 433051 h 720000"/>
              <a:gd name="connsiteX4" fmla="*/ 153878 w 870468"/>
              <a:gd name="connsiteY4" fmla="*/ 433051 h 720000"/>
              <a:gd name="connsiteX5" fmla="*/ 113865 w 870468"/>
              <a:gd name="connsiteY5" fmla="*/ 393039 h 720000"/>
              <a:gd name="connsiteX6" fmla="*/ 153878 w 870468"/>
              <a:gd name="connsiteY6" fmla="*/ 353026 h 720000"/>
              <a:gd name="connsiteX7" fmla="*/ 68708 w 870468"/>
              <a:gd name="connsiteY7" fmla="*/ 275858 h 720000"/>
              <a:gd name="connsiteX8" fmla="*/ 68708 w 870468"/>
              <a:gd name="connsiteY8" fmla="*/ 603735 h 720000"/>
              <a:gd name="connsiteX9" fmla="*/ 116266 w 870468"/>
              <a:gd name="connsiteY9" fmla="*/ 651293 h 720000"/>
              <a:gd name="connsiteX10" fmla="*/ 598821 w 870468"/>
              <a:gd name="connsiteY10" fmla="*/ 651293 h 720000"/>
              <a:gd name="connsiteX11" fmla="*/ 754317 w 870468"/>
              <a:gd name="connsiteY11" fmla="*/ 651293 h 720000"/>
              <a:gd name="connsiteX12" fmla="*/ 801875 w 870468"/>
              <a:gd name="connsiteY12" fmla="*/ 603735 h 720000"/>
              <a:gd name="connsiteX13" fmla="*/ 801875 w 870468"/>
              <a:gd name="connsiteY13" fmla="*/ 275858 h 720000"/>
              <a:gd name="connsiteX14" fmla="*/ 598821 w 870468"/>
              <a:gd name="connsiteY14" fmla="*/ 275858 h 720000"/>
              <a:gd name="connsiteX15" fmla="*/ 116266 w 870468"/>
              <a:gd name="connsiteY15" fmla="*/ 68593 h 720000"/>
              <a:gd name="connsiteX16" fmla="*/ 68708 w 870468"/>
              <a:gd name="connsiteY16" fmla="*/ 116151 h 720000"/>
              <a:gd name="connsiteX17" fmla="*/ 68708 w 870468"/>
              <a:gd name="connsiteY17" fmla="*/ 207265 h 720000"/>
              <a:gd name="connsiteX18" fmla="*/ 598821 w 870468"/>
              <a:gd name="connsiteY18" fmla="*/ 207265 h 720000"/>
              <a:gd name="connsiteX19" fmla="*/ 801875 w 870468"/>
              <a:gd name="connsiteY19" fmla="*/ 207265 h 720000"/>
              <a:gd name="connsiteX20" fmla="*/ 801875 w 870468"/>
              <a:gd name="connsiteY20" fmla="*/ 116151 h 720000"/>
              <a:gd name="connsiteX21" fmla="*/ 754317 w 870468"/>
              <a:gd name="connsiteY21" fmla="*/ 68593 h 720000"/>
              <a:gd name="connsiteX22" fmla="*/ 598821 w 870468"/>
              <a:gd name="connsiteY22" fmla="*/ 68593 h 720000"/>
              <a:gd name="connsiteX23" fmla="*/ 116266 w 870468"/>
              <a:gd name="connsiteY23" fmla="*/ 0 h 720000"/>
              <a:gd name="connsiteX24" fmla="*/ 598821 w 870468"/>
              <a:gd name="connsiteY24" fmla="*/ 0 h 720000"/>
              <a:gd name="connsiteX25" fmla="*/ 754317 w 870468"/>
              <a:gd name="connsiteY25" fmla="*/ 0 h 720000"/>
              <a:gd name="connsiteX26" fmla="*/ 870468 w 870468"/>
              <a:gd name="connsiteY26" fmla="*/ 116151 h 720000"/>
              <a:gd name="connsiteX27" fmla="*/ 870468 w 870468"/>
              <a:gd name="connsiteY27" fmla="*/ 241562 h 720000"/>
              <a:gd name="connsiteX28" fmla="*/ 870468 w 870468"/>
              <a:gd name="connsiteY28" fmla="*/ 603735 h 720000"/>
              <a:gd name="connsiteX29" fmla="*/ 754317 w 870468"/>
              <a:gd name="connsiteY29" fmla="*/ 720000 h 720000"/>
              <a:gd name="connsiteX30" fmla="*/ 598821 w 870468"/>
              <a:gd name="connsiteY30" fmla="*/ 720000 h 720000"/>
              <a:gd name="connsiteX31" fmla="*/ 116266 w 870468"/>
              <a:gd name="connsiteY31" fmla="*/ 720000 h 720000"/>
              <a:gd name="connsiteX32" fmla="*/ 115 w 870468"/>
              <a:gd name="connsiteY32" fmla="*/ 603849 h 720000"/>
              <a:gd name="connsiteX33" fmla="*/ 115 w 870468"/>
              <a:gd name="connsiteY33" fmla="*/ 241841 h 720000"/>
              <a:gd name="connsiteX34" fmla="*/ 0 w 870468"/>
              <a:gd name="connsiteY34" fmla="*/ 241562 h 720000"/>
              <a:gd name="connsiteX35" fmla="*/ 115 w 870468"/>
              <a:gd name="connsiteY35" fmla="*/ 241284 h 720000"/>
              <a:gd name="connsiteX36" fmla="*/ 115 w 870468"/>
              <a:gd name="connsiteY36" fmla="*/ 116151 h 720000"/>
              <a:gd name="connsiteX37" fmla="*/ 116266 w 870468"/>
              <a:gd name="connsiteY37" fmla="*/ 0 h 720000"/>
            </a:gdLst>
            <a:ahLst/>
            <a:cxnLst/>
            <a:rect l="l" t="t" r="r" b="b"/>
            <a:pathLst>
              <a:path w="870468" h="720000">
                <a:moveTo>
                  <a:pt x="153878" y="353026"/>
                </a:moveTo>
                <a:lnTo>
                  <a:pt x="449972" y="353026"/>
                </a:lnTo>
                <a:cubicBezTo>
                  <a:pt x="472036" y="353026"/>
                  <a:pt x="489985" y="370975"/>
                  <a:pt x="489985" y="393039"/>
                </a:cubicBezTo>
                <a:cubicBezTo>
                  <a:pt x="489985" y="415103"/>
                  <a:pt x="472150" y="433051"/>
                  <a:pt x="449972" y="433051"/>
                </a:cubicBezTo>
                <a:lnTo>
                  <a:pt x="153878" y="433051"/>
                </a:lnTo>
                <a:cubicBezTo>
                  <a:pt x="131814" y="433051"/>
                  <a:pt x="113865" y="415103"/>
                  <a:pt x="113865" y="393039"/>
                </a:cubicBezTo>
                <a:cubicBezTo>
                  <a:pt x="113865" y="370975"/>
                  <a:pt x="131814" y="353026"/>
                  <a:pt x="153878" y="353026"/>
                </a:cubicBezTo>
                <a:close/>
                <a:moveTo>
                  <a:pt x="68708" y="275858"/>
                </a:moveTo>
                <a:lnTo>
                  <a:pt x="68708" y="603735"/>
                </a:lnTo>
                <a:cubicBezTo>
                  <a:pt x="68708" y="630029"/>
                  <a:pt x="90087" y="651293"/>
                  <a:pt x="116266" y="651293"/>
                </a:cubicBezTo>
                <a:lnTo>
                  <a:pt x="598821" y="651293"/>
                </a:lnTo>
                <a:lnTo>
                  <a:pt x="754317" y="651293"/>
                </a:lnTo>
                <a:cubicBezTo>
                  <a:pt x="780611" y="651293"/>
                  <a:pt x="801875" y="629915"/>
                  <a:pt x="801875" y="603735"/>
                </a:cubicBezTo>
                <a:lnTo>
                  <a:pt x="801875" y="275858"/>
                </a:lnTo>
                <a:lnTo>
                  <a:pt x="598821" y="275858"/>
                </a:lnTo>
                <a:close/>
                <a:moveTo>
                  <a:pt x="116266" y="68593"/>
                </a:moveTo>
                <a:cubicBezTo>
                  <a:pt x="89972" y="68593"/>
                  <a:pt x="68708" y="89972"/>
                  <a:pt x="68708" y="116151"/>
                </a:cubicBezTo>
                <a:lnTo>
                  <a:pt x="68708" y="207265"/>
                </a:lnTo>
                <a:lnTo>
                  <a:pt x="598821" y="207265"/>
                </a:lnTo>
                <a:lnTo>
                  <a:pt x="801875" y="207265"/>
                </a:lnTo>
                <a:lnTo>
                  <a:pt x="801875" y="116151"/>
                </a:lnTo>
                <a:cubicBezTo>
                  <a:pt x="801875" y="89857"/>
                  <a:pt x="780497" y="68593"/>
                  <a:pt x="754317" y="68593"/>
                </a:cubicBezTo>
                <a:lnTo>
                  <a:pt x="598821" y="68593"/>
                </a:lnTo>
                <a:close/>
                <a:moveTo>
                  <a:pt x="116266" y="0"/>
                </a:moveTo>
                <a:lnTo>
                  <a:pt x="598821" y="0"/>
                </a:lnTo>
                <a:lnTo>
                  <a:pt x="754317" y="0"/>
                </a:lnTo>
                <a:cubicBezTo>
                  <a:pt x="818338" y="0"/>
                  <a:pt x="870468" y="52131"/>
                  <a:pt x="870468" y="116151"/>
                </a:cubicBezTo>
                <a:lnTo>
                  <a:pt x="870468" y="241562"/>
                </a:lnTo>
                <a:lnTo>
                  <a:pt x="870468" y="603735"/>
                </a:lnTo>
                <a:cubicBezTo>
                  <a:pt x="870468" y="667869"/>
                  <a:pt x="818338" y="720000"/>
                  <a:pt x="754317" y="720000"/>
                </a:cubicBezTo>
                <a:lnTo>
                  <a:pt x="598821" y="720000"/>
                </a:lnTo>
                <a:lnTo>
                  <a:pt x="116266" y="720000"/>
                </a:lnTo>
                <a:cubicBezTo>
                  <a:pt x="52246" y="720000"/>
                  <a:pt x="115" y="667869"/>
                  <a:pt x="115" y="603849"/>
                </a:cubicBezTo>
                <a:lnTo>
                  <a:pt x="115" y="241841"/>
                </a:lnTo>
                <a:lnTo>
                  <a:pt x="0" y="241562"/>
                </a:lnTo>
                <a:lnTo>
                  <a:pt x="115" y="241284"/>
                </a:lnTo>
                <a:lnTo>
                  <a:pt x="115" y="116151"/>
                </a:lnTo>
                <a:cubicBezTo>
                  <a:pt x="115" y="52131"/>
                  <a:pt x="52246" y="0"/>
                  <a:pt x="116266" y="0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/>
            <a:endParaRPr kumimoji="1" lang="zh-CN" altLang="en-US"/>
          </a:p>
        </p:txBody>
      </p:sp>
      <p:sp>
        <p:nvSpPr>
          <p:cNvPr id="20" name="标题 1"/>
          <p:cNvSpPr txBox="1"/>
          <p:nvPr/>
        </p:nvSpPr>
        <p:spPr>
          <a:xfrm>
            <a:off x="8179621" y="5358687"/>
            <a:ext cx="3194892" cy="74551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/>
            <a:r>
              <a:rPr kumimoji="1" lang="en-US" altLang="zh-CN" sz="12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Supervisión</a:t>
            </a:r>
            <a:r>
              <a:rPr kumimoji="1" lang="en-US" altLang="zh-CN" sz="12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 de </a:t>
            </a:r>
            <a:r>
              <a:rPr kumimoji="1" lang="en-US" altLang="zh-CN" sz="12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energía</a:t>
            </a:r>
            <a:r>
              <a:rPr kumimoji="1" lang="en-US" altLang="zh-CN" sz="12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 (UPS, PDU)
Condiciones </a:t>
            </a:r>
            <a:r>
              <a:rPr kumimoji="1" lang="en-US" altLang="zh-CN" sz="12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ambientales</a:t>
            </a:r>
            <a:r>
              <a:rPr kumimoji="1" lang="en-US" altLang="zh-CN" sz="12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 (</a:t>
            </a:r>
            <a:r>
              <a:rPr kumimoji="1" lang="en-US" altLang="zh-CN" sz="12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temperatura</a:t>
            </a:r>
            <a:r>
              <a:rPr kumimoji="1" lang="en-US" altLang="zh-CN" sz="12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, </a:t>
            </a:r>
            <a:r>
              <a:rPr kumimoji="1" lang="en-US" altLang="zh-CN" sz="12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humedad</a:t>
            </a:r>
            <a:r>
              <a:rPr kumimoji="1" lang="en-US" altLang="zh-CN" sz="12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)</a:t>
            </a:r>
            <a:endParaRPr kumimoji="1" lang="zh-CN" altLang="en-US" dirty="0"/>
          </a:p>
        </p:txBody>
      </p:sp>
      <p:sp>
        <p:nvSpPr>
          <p:cNvPr id="21" name="标题 1"/>
          <p:cNvSpPr txBox="1"/>
          <p:nvPr/>
        </p:nvSpPr>
        <p:spPr>
          <a:xfrm>
            <a:off x="8209717" y="4486431"/>
            <a:ext cx="3194892" cy="43993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ctr"/>
            <a:r>
              <a:rPr kumimoji="1" lang="en-US" altLang="zh-CN" sz="16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Entorno</a:t>
            </a:r>
            <a:endParaRPr kumimoji="1" lang="zh-CN" altLang="en-US" dirty="0"/>
          </a:p>
        </p:txBody>
      </p:sp>
      <p:sp>
        <p:nvSpPr>
          <p:cNvPr id="22" name="标题 1"/>
          <p:cNvSpPr txBox="1"/>
          <p:nvPr/>
        </p:nvSpPr>
        <p:spPr>
          <a:xfrm>
            <a:off x="3011229" y="623483"/>
            <a:ext cx="8171180" cy="65532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bg1">
                  <a:lumMod val="95000"/>
                </a:schemeClr>
              </a:gs>
              <a:gs pos="80000">
                <a:schemeClr val="bg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r>
              <a:rPr kumimoji="1" lang="en-US" altLang="zh-CN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Herramientas de Monitoreo en Tiempo Real</a:t>
            </a:r>
            <a:endParaRPr kumimoji="1" lang="zh-CN" altLang="en-US" dirty="0"/>
          </a:p>
        </p:txBody>
      </p:sp>
      <p:sp>
        <p:nvSpPr>
          <p:cNvPr id="23" name="标题 1"/>
          <p:cNvSpPr txBox="1"/>
          <p:nvPr/>
        </p:nvSpPr>
        <p:spPr>
          <a:xfrm>
            <a:off x="3442069" y="3530536"/>
            <a:ext cx="5976251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/>
            <a:r>
              <a:rPr kumimoji="1" lang="en-US" altLang="zh-CN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Monitoreo</a:t>
            </a:r>
            <a:r>
              <a:rPr kumimoji="1" lang="en-US" altLang="zh-CN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 de Infraestructura (Red y </a:t>
            </a:r>
            <a:r>
              <a:rPr kumimoji="1" lang="en-US" altLang="zh-CN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Servidores</a:t>
            </a:r>
            <a:r>
              <a:rPr kumimoji="1" lang="en-US" altLang="zh-CN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)</a:t>
            </a:r>
            <a:endParaRPr kumimoji="1" lang="zh-CN" altLang="en-US" dirty="0"/>
          </a:p>
        </p:txBody>
      </p:sp>
      <p:sp>
        <p:nvSpPr>
          <p:cNvPr id="27" name="标题 1">
            <a:extLst>
              <a:ext uri="{FF2B5EF4-FFF2-40B4-BE49-F238E27FC236}">
                <a16:creationId xmlns:a16="http://schemas.microsoft.com/office/drawing/2014/main" id="{8A5F2E3E-1A12-B328-16F2-80C966F725C2}"/>
              </a:ext>
            </a:extLst>
          </p:cNvPr>
          <p:cNvSpPr txBox="1"/>
          <p:nvPr/>
        </p:nvSpPr>
        <p:spPr>
          <a:xfrm>
            <a:off x="660399" y="1675887"/>
            <a:ext cx="10871202" cy="179144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254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/>
            <a:endParaRPr kumimoji="1" lang="zh-CN" altLang="en-US"/>
          </a:p>
        </p:txBody>
      </p:sp>
      <p:sp>
        <p:nvSpPr>
          <p:cNvPr id="28" name="标题 1">
            <a:extLst>
              <a:ext uri="{FF2B5EF4-FFF2-40B4-BE49-F238E27FC236}">
                <a16:creationId xmlns:a16="http://schemas.microsoft.com/office/drawing/2014/main" id="{0D033931-9B52-C7FB-81F2-2900AF06C8F3}"/>
              </a:ext>
            </a:extLst>
          </p:cNvPr>
          <p:cNvSpPr txBox="1"/>
          <p:nvPr/>
        </p:nvSpPr>
        <p:spPr>
          <a:xfrm>
            <a:off x="1082635" y="1958912"/>
            <a:ext cx="10099774" cy="139983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r>
              <a:rPr lang="es-EC" dirty="0"/>
              <a:t>El monitoreo en tiempo real es el sistema nervioso central del centro de cómputo. Nos permite pasar de una administración </a:t>
            </a:r>
            <a:r>
              <a:rPr lang="es-EC" b="1" dirty="0"/>
              <a:t>reactiva</a:t>
            </a:r>
            <a:r>
              <a:rPr lang="es-EC" dirty="0"/>
              <a:t> (apagar incendios) a una </a:t>
            </a:r>
            <a:r>
              <a:rPr lang="es-EC" b="1" dirty="0"/>
              <a:t>proactiva</a:t>
            </a:r>
            <a:r>
              <a:rPr lang="es-EC" dirty="0"/>
              <a:t> (prevenir incendios).</a:t>
            </a:r>
          </a:p>
          <a:p>
            <a:r>
              <a:rPr lang="es-EC" b="1" dirty="0"/>
              <a:t>¿Qué monitoreamos?</a:t>
            </a:r>
            <a:endParaRPr lang="es-EC" dirty="0"/>
          </a:p>
          <a:p>
            <a:r>
              <a:rPr lang="es-EC" dirty="0"/>
              <a:t>En un centro de cómputo, el monitoreo se divide en tres pilares:</a:t>
            </a:r>
          </a:p>
        </p:txBody>
      </p:sp>
      <p:pic>
        <p:nvPicPr>
          <p:cNvPr id="29" name="Imagen 28">
            <a:extLst>
              <a:ext uri="{FF2B5EF4-FFF2-40B4-BE49-F238E27FC236}">
                <a16:creationId xmlns:a16="http://schemas.microsoft.com/office/drawing/2014/main" id="{4D60A2B1-BCD8-81A9-CF59-F7514101A15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2089785" y="1702090"/>
            <a:ext cx="3478942" cy="4344380"/>
          </a:xfrm>
          <a:prstGeom prst="roundRect">
            <a:avLst>
              <a:gd name="adj" fmla="val 7042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85000"/>
                  <a:lumOff val="15000"/>
                </a:schemeClr>
              </a:gs>
            </a:gsLst>
            <a:lin ang="16200000" scaled="0"/>
          </a:gradFill>
          <a:ln w="12700" cap="sq">
            <a:noFill/>
            <a:miter/>
          </a:ln>
          <a:effectLst>
            <a:outerShdw blurRad="330200" dist="25400" dir="5400000" sx="90000" sy="90000" algn="t" rotWithShape="0">
              <a:schemeClr val="accent1">
                <a:lumMod val="75000"/>
                <a:alpha val="43000"/>
              </a:schemeClr>
            </a:outerShdw>
          </a:effectLst>
        </p:spPr>
        <p:txBody>
          <a:bodyPr vert="horz" wrap="square" lIns="45720" tIns="22860" rIns="45720" bIns="22860"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3956822" y="1702090"/>
            <a:ext cx="1611906" cy="1236830"/>
          </a:xfrm>
          <a:custGeom>
            <a:avLst/>
            <a:gdLst>
              <a:gd name="connsiteX0" fmla="*/ 0 w 1115135"/>
              <a:gd name="connsiteY0" fmla="*/ 0 h 1236830"/>
              <a:gd name="connsiteX1" fmla="*/ 945650 w 1115135"/>
              <a:gd name="connsiteY1" fmla="*/ 0 h 1236830"/>
              <a:gd name="connsiteX2" fmla="*/ 1115135 w 1115135"/>
              <a:gd name="connsiteY2" fmla="*/ 169485 h 1236830"/>
              <a:gd name="connsiteX3" fmla="*/ 1115135 w 1115135"/>
              <a:gd name="connsiteY3" fmla="*/ 1236830 h 1236830"/>
            </a:gdLst>
            <a:ahLst/>
            <a:cxnLst/>
            <a:rect l="l" t="t" r="r" b="b"/>
            <a:pathLst>
              <a:path w="1115135" h="1236830">
                <a:moveTo>
                  <a:pt x="0" y="0"/>
                </a:moveTo>
                <a:lnTo>
                  <a:pt x="945650" y="0"/>
                </a:lnTo>
                <a:cubicBezTo>
                  <a:pt x="1039254" y="0"/>
                  <a:pt x="1115135" y="75881"/>
                  <a:pt x="1115135" y="169485"/>
                </a:cubicBezTo>
                <a:lnTo>
                  <a:pt x="1115135" y="1236830"/>
                </a:lnTo>
                <a:close/>
              </a:path>
            </a:pathLst>
          </a:custGeom>
          <a:solidFill>
            <a:schemeClr val="bg1">
              <a:alpha val="17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2089786" y="3592608"/>
            <a:ext cx="2489165" cy="1909957"/>
          </a:xfrm>
          <a:custGeom>
            <a:avLst/>
            <a:gdLst>
              <a:gd name="connsiteX0" fmla="*/ 0 w 1722033"/>
              <a:gd name="connsiteY0" fmla="*/ 0 h 1909957"/>
              <a:gd name="connsiteX1" fmla="*/ 1722033 w 1722033"/>
              <a:gd name="connsiteY1" fmla="*/ 1909957 h 1909957"/>
              <a:gd name="connsiteX2" fmla="*/ 169485 w 1722033"/>
              <a:gd name="connsiteY2" fmla="*/ 1909957 h 1909957"/>
              <a:gd name="connsiteX3" fmla="*/ 0 w 1722033"/>
              <a:gd name="connsiteY3" fmla="*/ 1740472 h 1909957"/>
            </a:gdLst>
            <a:ahLst/>
            <a:cxnLst/>
            <a:rect l="l" t="t" r="r" b="b"/>
            <a:pathLst>
              <a:path w="1722033" h="1909957">
                <a:moveTo>
                  <a:pt x="0" y="0"/>
                </a:moveTo>
                <a:lnTo>
                  <a:pt x="1722033" y="1909957"/>
                </a:lnTo>
                <a:lnTo>
                  <a:pt x="169485" y="1909957"/>
                </a:lnTo>
                <a:cubicBezTo>
                  <a:pt x="75881" y="1909957"/>
                  <a:pt x="0" y="1834076"/>
                  <a:pt x="0" y="1740472"/>
                </a:cubicBezTo>
                <a:close/>
              </a:path>
            </a:pathLst>
          </a:custGeom>
          <a:solidFill>
            <a:schemeClr val="bg1">
              <a:alpha val="17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 rot="1786366">
            <a:off x="3108956" y="1923284"/>
            <a:ext cx="1440600" cy="1319890"/>
          </a:xfrm>
          <a:custGeom>
            <a:avLst/>
            <a:gdLst>
              <a:gd name="connsiteX0" fmla="*/ 946270 w 1440600"/>
              <a:gd name="connsiteY0" fmla="*/ -941 h 1319890"/>
              <a:gd name="connsiteX1" fmla="*/ 495739 w 1440600"/>
              <a:gd name="connsiteY1" fmla="*/ -941 h 1319890"/>
              <a:gd name="connsiteX2" fmla="*/ 262091 w 1440600"/>
              <a:gd name="connsiteY2" fmla="*/ 133944 h 1319890"/>
              <a:gd name="connsiteX3" fmla="*/ 36826 w 1440600"/>
              <a:gd name="connsiteY3" fmla="*/ 524119 h 1319890"/>
              <a:gd name="connsiteX4" fmla="*/ 36826 w 1440600"/>
              <a:gd name="connsiteY4" fmla="*/ 793888 h 1319890"/>
              <a:gd name="connsiteX5" fmla="*/ 262091 w 1440600"/>
              <a:gd name="connsiteY5" fmla="*/ 1184064 h 1319890"/>
              <a:gd name="connsiteX6" fmla="*/ 495739 w 1440600"/>
              <a:gd name="connsiteY6" fmla="*/ 1318949 h 1319890"/>
              <a:gd name="connsiteX7" fmla="*/ 946270 w 1440600"/>
              <a:gd name="connsiteY7" fmla="*/ 1318949 h 1319890"/>
              <a:gd name="connsiteX8" fmla="*/ 1179917 w 1440600"/>
              <a:gd name="connsiteY8" fmla="*/ 1184064 h 1319890"/>
              <a:gd name="connsiteX9" fmla="*/ 1405183 w 1440600"/>
              <a:gd name="connsiteY9" fmla="*/ 793888 h 1319890"/>
              <a:gd name="connsiteX10" fmla="*/ 1405183 w 1440600"/>
              <a:gd name="connsiteY10" fmla="*/ 524119 h 1319890"/>
              <a:gd name="connsiteX11" fmla="*/ 1179917 w 1440600"/>
              <a:gd name="connsiteY11" fmla="*/ 133944 h 1319890"/>
              <a:gd name="connsiteX12" fmla="*/ 946270 w 1440600"/>
              <a:gd name="connsiteY12" fmla="*/ -941 h 1319890"/>
            </a:gdLst>
            <a:ahLst/>
            <a:cxnLst/>
            <a:rect l="l" t="t" r="r" b="b"/>
            <a:pathLst>
              <a:path w="1440600" h="1319890">
                <a:moveTo>
                  <a:pt x="946270" y="-941"/>
                </a:moveTo>
                <a:lnTo>
                  <a:pt x="495739" y="-941"/>
                </a:lnTo>
                <a:cubicBezTo>
                  <a:pt x="399354" y="-941"/>
                  <a:pt x="310284" y="50468"/>
                  <a:pt x="262091" y="133944"/>
                </a:cubicBezTo>
                <a:lnTo>
                  <a:pt x="36826" y="524119"/>
                </a:lnTo>
                <a:cubicBezTo>
                  <a:pt x="-11336" y="607595"/>
                  <a:pt x="-11336" y="710412"/>
                  <a:pt x="36826" y="793888"/>
                </a:cubicBezTo>
                <a:lnTo>
                  <a:pt x="262091" y="1184064"/>
                </a:lnTo>
                <a:cubicBezTo>
                  <a:pt x="310284" y="1267586"/>
                  <a:pt x="399354" y="1318949"/>
                  <a:pt x="495739" y="1318949"/>
                </a:cubicBezTo>
                <a:lnTo>
                  <a:pt x="946270" y="1318949"/>
                </a:lnTo>
                <a:cubicBezTo>
                  <a:pt x="1042655" y="1318949"/>
                  <a:pt x="1131725" y="1267586"/>
                  <a:pt x="1179917" y="1184064"/>
                </a:cubicBezTo>
                <a:lnTo>
                  <a:pt x="1405183" y="793888"/>
                </a:lnTo>
                <a:cubicBezTo>
                  <a:pt x="1453345" y="710412"/>
                  <a:pt x="1453345" y="607595"/>
                  <a:pt x="1405183" y="524119"/>
                </a:cubicBezTo>
                <a:lnTo>
                  <a:pt x="1179917" y="133944"/>
                </a:lnTo>
                <a:cubicBezTo>
                  <a:pt x="1131725" y="50468"/>
                  <a:pt x="1042655" y="-941"/>
                  <a:pt x="946270" y="-941"/>
                </a:cubicBezTo>
                <a:close/>
              </a:path>
            </a:pathLst>
          </a:custGeom>
          <a:solidFill>
            <a:schemeClr val="bg1"/>
          </a:solidFill>
          <a:ln w="1524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/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6480397" y="1702090"/>
            <a:ext cx="3478942" cy="3800475"/>
          </a:xfrm>
          <a:prstGeom prst="roundRect">
            <a:avLst>
              <a:gd name="adj" fmla="val 7042"/>
            </a:avLst>
          </a:prstGeom>
          <a:gradFill>
            <a:gsLst>
              <a:gs pos="0">
                <a:schemeClr val="accent2"/>
              </a:gs>
              <a:gs pos="100000">
                <a:schemeClr val="accent2">
                  <a:lumMod val="85000"/>
                  <a:lumOff val="15000"/>
                </a:schemeClr>
              </a:gs>
            </a:gsLst>
            <a:lin ang="16200000" scaled="0"/>
          </a:gradFill>
          <a:ln w="12700" cap="sq">
            <a:noFill/>
            <a:miter/>
          </a:ln>
          <a:effectLst>
            <a:outerShdw blurRad="330200" dist="25400" dir="5400000" sx="90000" sy="90000" algn="t" rotWithShape="0">
              <a:schemeClr val="accent2">
                <a:lumMod val="75000"/>
                <a:alpha val="43000"/>
              </a:schemeClr>
            </a:outerShdw>
          </a:effectLst>
        </p:spPr>
        <p:txBody>
          <a:bodyPr vert="horz" wrap="square" lIns="45720" tIns="22860" rIns="45720" bIns="22860"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8347434" y="1702090"/>
            <a:ext cx="1611906" cy="1236830"/>
          </a:xfrm>
          <a:custGeom>
            <a:avLst/>
            <a:gdLst>
              <a:gd name="connsiteX0" fmla="*/ 0 w 1115135"/>
              <a:gd name="connsiteY0" fmla="*/ 0 h 1236830"/>
              <a:gd name="connsiteX1" fmla="*/ 945650 w 1115135"/>
              <a:gd name="connsiteY1" fmla="*/ 0 h 1236830"/>
              <a:gd name="connsiteX2" fmla="*/ 1115135 w 1115135"/>
              <a:gd name="connsiteY2" fmla="*/ 169485 h 1236830"/>
              <a:gd name="connsiteX3" fmla="*/ 1115135 w 1115135"/>
              <a:gd name="connsiteY3" fmla="*/ 1236830 h 1236830"/>
            </a:gdLst>
            <a:ahLst/>
            <a:cxnLst/>
            <a:rect l="l" t="t" r="r" b="b"/>
            <a:pathLst>
              <a:path w="1115135" h="1236830">
                <a:moveTo>
                  <a:pt x="0" y="0"/>
                </a:moveTo>
                <a:lnTo>
                  <a:pt x="945650" y="0"/>
                </a:lnTo>
                <a:cubicBezTo>
                  <a:pt x="1039254" y="0"/>
                  <a:pt x="1115135" y="75881"/>
                  <a:pt x="1115135" y="169485"/>
                </a:cubicBezTo>
                <a:lnTo>
                  <a:pt x="1115135" y="1236830"/>
                </a:lnTo>
                <a:close/>
              </a:path>
            </a:pathLst>
          </a:custGeom>
          <a:solidFill>
            <a:schemeClr val="bg1">
              <a:alpha val="17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6480398" y="3592608"/>
            <a:ext cx="2489165" cy="1909957"/>
          </a:xfrm>
          <a:custGeom>
            <a:avLst/>
            <a:gdLst>
              <a:gd name="connsiteX0" fmla="*/ 0 w 1722033"/>
              <a:gd name="connsiteY0" fmla="*/ 0 h 1909957"/>
              <a:gd name="connsiteX1" fmla="*/ 1722033 w 1722033"/>
              <a:gd name="connsiteY1" fmla="*/ 1909957 h 1909957"/>
              <a:gd name="connsiteX2" fmla="*/ 169485 w 1722033"/>
              <a:gd name="connsiteY2" fmla="*/ 1909957 h 1909957"/>
              <a:gd name="connsiteX3" fmla="*/ 0 w 1722033"/>
              <a:gd name="connsiteY3" fmla="*/ 1740472 h 1909957"/>
            </a:gdLst>
            <a:ahLst/>
            <a:cxnLst/>
            <a:rect l="l" t="t" r="r" b="b"/>
            <a:pathLst>
              <a:path w="1722033" h="1909957">
                <a:moveTo>
                  <a:pt x="0" y="0"/>
                </a:moveTo>
                <a:lnTo>
                  <a:pt x="1722033" y="1909957"/>
                </a:lnTo>
                <a:lnTo>
                  <a:pt x="169485" y="1909957"/>
                </a:lnTo>
                <a:cubicBezTo>
                  <a:pt x="75881" y="1909957"/>
                  <a:pt x="0" y="1834076"/>
                  <a:pt x="0" y="1740472"/>
                </a:cubicBezTo>
                <a:close/>
              </a:path>
            </a:pathLst>
          </a:custGeom>
          <a:solidFill>
            <a:schemeClr val="bg1">
              <a:alpha val="17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 rot="1786366">
            <a:off x="7499568" y="1923284"/>
            <a:ext cx="1440600" cy="1319890"/>
          </a:xfrm>
          <a:custGeom>
            <a:avLst/>
            <a:gdLst>
              <a:gd name="connsiteX0" fmla="*/ 946270 w 1440600"/>
              <a:gd name="connsiteY0" fmla="*/ -941 h 1319890"/>
              <a:gd name="connsiteX1" fmla="*/ 495739 w 1440600"/>
              <a:gd name="connsiteY1" fmla="*/ -941 h 1319890"/>
              <a:gd name="connsiteX2" fmla="*/ 262091 w 1440600"/>
              <a:gd name="connsiteY2" fmla="*/ 133944 h 1319890"/>
              <a:gd name="connsiteX3" fmla="*/ 36826 w 1440600"/>
              <a:gd name="connsiteY3" fmla="*/ 524119 h 1319890"/>
              <a:gd name="connsiteX4" fmla="*/ 36826 w 1440600"/>
              <a:gd name="connsiteY4" fmla="*/ 793888 h 1319890"/>
              <a:gd name="connsiteX5" fmla="*/ 262091 w 1440600"/>
              <a:gd name="connsiteY5" fmla="*/ 1184064 h 1319890"/>
              <a:gd name="connsiteX6" fmla="*/ 495739 w 1440600"/>
              <a:gd name="connsiteY6" fmla="*/ 1318949 h 1319890"/>
              <a:gd name="connsiteX7" fmla="*/ 946270 w 1440600"/>
              <a:gd name="connsiteY7" fmla="*/ 1318949 h 1319890"/>
              <a:gd name="connsiteX8" fmla="*/ 1179917 w 1440600"/>
              <a:gd name="connsiteY8" fmla="*/ 1184064 h 1319890"/>
              <a:gd name="connsiteX9" fmla="*/ 1405183 w 1440600"/>
              <a:gd name="connsiteY9" fmla="*/ 793888 h 1319890"/>
              <a:gd name="connsiteX10" fmla="*/ 1405183 w 1440600"/>
              <a:gd name="connsiteY10" fmla="*/ 524119 h 1319890"/>
              <a:gd name="connsiteX11" fmla="*/ 1179917 w 1440600"/>
              <a:gd name="connsiteY11" fmla="*/ 133944 h 1319890"/>
              <a:gd name="connsiteX12" fmla="*/ 946270 w 1440600"/>
              <a:gd name="connsiteY12" fmla="*/ -941 h 1319890"/>
            </a:gdLst>
            <a:ahLst/>
            <a:cxnLst/>
            <a:rect l="l" t="t" r="r" b="b"/>
            <a:pathLst>
              <a:path w="1440600" h="1319890">
                <a:moveTo>
                  <a:pt x="946270" y="-941"/>
                </a:moveTo>
                <a:lnTo>
                  <a:pt x="495739" y="-941"/>
                </a:lnTo>
                <a:cubicBezTo>
                  <a:pt x="399354" y="-941"/>
                  <a:pt x="310284" y="50468"/>
                  <a:pt x="262091" y="133944"/>
                </a:cubicBezTo>
                <a:lnTo>
                  <a:pt x="36826" y="524119"/>
                </a:lnTo>
                <a:cubicBezTo>
                  <a:pt x="-11336" y="607595"/>
                  <a:pt x="-11336" y="710412"/>
                  <a:pt x="36826" y="793888"/>
                </a:cubicBezTo>
                <a:lnTo>
                  <a:pt x="262091" y="1184064"/>
                </a:lnTo>
                <a:cubicBezTo>
                  <a:pt x="310284" y="1267586"/>
                  <a:pt x="399354" y="1318949"/>
                  <a:pt x="495739" y="1318949"/>
                </a:cubicBezTo>
                <a:lnTo>
                  <a:pt x="946270" y="1318949"/>
                </a:lnTo>
                <a:cubicBezTo>
                  <a:pt x="1042655" y="1318949"/>
                  <a:pt x="1131725" y="1267586"/>
                  <a:pt x="1179917" y="1184064"/>
                </a:cubicBezTo>
                <a:lnTo>
                  <a:pt x="1405183" y="793888"/>
                </a:lnTo>
                <a:cubicBezTo>
                  <a:pt x="1453345" y="710412"/>
                  <a:pt x="1453345" y="607595"/>
                  <a:pt x="1405183" y="524119"/>
                </a:cubicBezTo>
                <a:lnTo>
                  <a:pt x="1179917" y="133944"/>
                </a:lnTo>
                <a:cubicBezTo>
                  <a:pt x="1131725" y="50468"/>
                  <a:pt x="1042655" y="-941"/>
                  <a:pt x="946270" y="-941"/>
                </a:cubicBezTo>
                <a:close/>
              </a:path>
            </a:pathLst>
          </a:custGeom>
          <a:solidFill>
            <a:schemeClr val="bg1"/>
          </a:solidFill>
          <a:ln w="1524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/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>
            <a:off x="1718146" y="4195563"/>
            <a:ext cx="3850581" cy="152019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/>
          <a:lstStyle/>
          <a:p>
            <a:pPr lvl="1"/>
            <a:r>
              <a:rPr lang="es-EC" sz="1400" dirty="0">
                <a:solidFill>
                  <a:schemeClr val="bg2"/>
                </a:solidFill>
              </a:rPr>
              <a:t>¿Está el servicio </a:t>
            </a:r>
            <a:r>
              <a:rPr lang="es-EC" sz="1400" i="1" dirty="0">
                <a:solidFill>
                  <a:schemeClr val="bg2"/>
                </a:solidFill>
              </a:rPr>
              <a:t>funcionando</a:t>
            </a:r>
            <a:r>
              <a:rPr lang="es-EC" sz="1400" dirty="0">
                <a:solidFill>
                  <a:schemeClr val="bg2"/>
                </a:solidFill>
              </a:rPr>
              <a:t>? (Ej. ¿Responde el servidor web? ¿La base de datos acepta conexiones?).</a:t>
            </a:r>
          </a:p>
          <a:p>
            <a:pPr lvl="1"/>
            <a:endParaRPr lang="es-EC" sz="1400" dirty="0">
              <a:solidFill>
                <a:schemeClr val="bg2"/>
              </a:solidFill>
            </a:endParaRPr>
          </a:p>
          <a:p>
            <a:pPr lvl="1"/>
            <a:r>
              <a:rPr lang="es-EC" sz="1400" dirty="0">
                <a:solidFill>
                  <a:schemeClr val="bg2"/>
                </a:solidFill>
              </a:rPr>
              <a:t>¿Cómo está </a:t>
            </a:r>
            <a:r>
              <a:rPr lang="es-EC" sz="1400" i="1" dirty="0">
                <a:solidFill>
                  <a:schemeClr val="bg2"/>
                </a:solidFill>
              </a:rPr>
              <a:t>funcionado</a:t>
            </a:r>
            <a:r>
              <a:rPr lang="es-EC" sz="1400" dirty="0">
                <a:solidFill>
                  <a:schemeClr val="bg2"/>
                </a:solidFill>
              </a:rPr>
              <a:t>? (Ej. Tiempos de respuesta de la aplicación, tasas de error, rendimiento de consultas a la BD).</a:t>
            </a:r>
          </a:p>
        </p:txBody>
      </p:sp>
      <p:sp>
        <p:nvSpPr>
          <p:cNvPr id="13" name="标题 1"/>
          <p:cNvSpPr txBox="1"/>
          <p:nvPr/>
        </p:nvSpPr>
        <p:spPr>
          <a:xfrm>
            <a:off x="2251042" y="2988288"/>
            <a:ext cx="3369168" cy="1116352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b"/>
          <a:lstStyle/>
          <a:p>
            <a:pPr lvl="0"/>
            <a:r>
              <a:rPr lang="es-EC" sz="1400" b="1" dirty="0">
                <a:solidFill>
                  <a:schemeClr val="bg2"/>
                </a:solidFill>
              </a:rPr>
              <a:t>Monitoreo de Servicios y Aplicaciones (APM - </a:t>
            </a:r>
            <a:r>
              <a:rPr lang="es-EC" sz="1400" b="1" dirty="0" err="1">
                <a:solidFill>
                  <a:schemeClr val="bg2"/>
                </a:solidFill>
              </a:rPr>
              <a:t>Application</a:t>
            </a:r>
            <a:r>
              <a:rPr lang="es-EC" sz="1400" b="1" dirty="0">
                <a:solidFill>
                  <a:schemeClr val="bg2"/>
                </a:solidFill>
              </a:rPr>
              <a:t> Performance </a:t>
            </a:r>
            <a:r>
              <a:rPr lang="es-EC" sz="1400" b="1" dirty="0" err="1">
                <a:solidFill>
                  <a:schemeClr val="bg2"/>
                </a:solidFill>
              </a:rPr>
              <a:t>Monitoring</a:t>
            </a:r>
            <a:r>
              <a:rPr lang="es-EC" sz="1400" b="1" dirty="0">
                <a:solidFill>
                  <a:schemeClr val="bg2"/>
                </a:solidFill>
              </a:rPr>
              <a:t>):</a:t>
            </a:r>
          </a:p>
        </p:txBody>
      </p:sp>
      <p:sp>
        <p:nvSpPr>
          <p:cNvPr id="14" name="标题 1"/>
          <p:cNvSpPr txBox="1"/>
          <p:nvPr/>
        </p:nvSpPr>
        <p:spPr>
          <a:xfrm>
            <a:off x="6720537" y="4168804"/>
            <a:ext cx="2998661" cy="111333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/>
          <a:lstStyle/>
          <a:p>
            <a:pPr algn="ctr"/>
            <a:r>
              <a:rPr lang="es-EC" sz="1400" dirty="0">
                <a:solidFill>
                  <a:schemeClr val="bg2"/>
                </a:solidFill>
              </a:rPr>
              <a:t>Centralización y análisis de logs de eventos para auditoría, seguridad (detección de intrusiones) y </a:t>
            </a:r>
            <a:r>
              <a:rPr lang="es-EC" sz="1400" dirty="0" err="1">
                <a:solidFill>
                  <a:schemeClr val="bg2"/>
                </a:solidFill>
              </a:rPr>
              <a:t>troubleshooting</a:t>
            </a:r>
            <a:r>
              <a:rPr lang="es-EC" sz="1400" dirty="0">
                <a:solidFill>
                  <a:schemeClr val="bg2"/>
                </a:solidFill>
              </a:rPr>
              <a:t> avanzado</a:t>
            </a:r>
            <a:endParaRPr lang="zh-CN" altLang="en-US" sz="1400" dirty="0">
              <a:solidFill>
                <a:schemeClr val="bg2"/>
              </a:solidFill>
            </a:endParaRPr>
          </a:p>
        </p:txBody>
      </p:sp>
      <p:sp>
        <p:nvSpPr>
          <p:cNvPr id="15" name="标题 1"/>
          <p:cNvSpPr txBox="1"/>
          <p:nvPr/>
        </p:nvSpPr>
        <p:spPr>
          <a:xfrm>
            <a:off x="6941679" y="3084406"/>
            <a:ext cx="2994660" cy="67056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b"/>
          <a:lstStyle/>
          <a:p>
            <a:pPr lvl="0"/>
            <a:r>
              <a:rPr lang="es-EC" sz="1400" b="1" dirty="0">
                <a:solidFill>
                  <a:schemeClr val="bg2"/>
                </a:solidFill>
              </a:rPr>
              <a:t>Monitoreo de Logs (Registros):</a:t>
            </a:r>
          </a:p>
        </p:txBody>
      </p:sp>
      <p:sp>
        <p:nvSpPr>
          <p:cNvPr id="16" name="标题 1"/>
          <p:cNvSpPr txBox="1"/>
          <p:nvPr/>
        </p:nvSpPr>
        <p:spPr>
          <a:xfrm>
            <a:off x="3562179" y="2316152"/>
            <a:ext cx="534154" cy="534154"/>
          </a:xfrm>
          <a:custGeom>
            <a:avLst/>
            <a:gdLst>
              <a:gd name="connsiteX0" fmla="*/ 438553 w 720000"/>
              <a:gd name="connsiteY0" fmla="*/ 189601 h 720000"/>
              <a:gd name="connsiteX1" fmla="*/ 503636 w 720000"/>
              <a:gd name="connsiteY1" fmla="*/ 216365 h 720000"/>
              <a:gd name="connsiteX2" fmla="*/ 503636 w 720000"/>
              <a:gd name="connsiteY2" fmla="*/ 346445 h 720000"/>
              <a:gd name="connsiteX3" fmla="*/ 362260 w 720000"/>
              <a:gd name="connsiteY3" fmla="*/ 487907 h 720000"/>
              <a:gd name="connsiteX4" fmla="*/ 191861 w 720000"/>
              <a:gd name="connsiteY4" fmla="*/ 528226 h 720000"/>
              <a:gd name="connsiteX5" fmla="*/ 232180 w 720000"/>
              <a:gd name="connsiteY5" fmla="*/ 357827 h 720000"/>
              <a:gd name="connsiteX6" fmla="*/ 373556 w 720000"/>
              <a:gd name="connsiteY6" fmla="*/ 216452 h 720000"/>
              <a:gd name="connsiteX7" fmla="*/ 438553 w 720000"/>
              <a:gd name="connsiteY7" fmla="*/ 189601 h 720000"/>
              <a:gd name="connsiteX8" fmla="*/ 438553 w 720000"/>
              <a:gd name="connsiteY8" fmla="*/ 141636 h 720000"/>
              <a:gd name="connsiteX9" fmla="*/ 339581 w 720000"/>
              <a:gd name="connsiteY9" fmla="*/ 182476 h 720000"/>
              <a:gd name="connsiteX10" fmla="*/ 198205 w 720000"/>
              <a:gd name="connsiteY10" fmla="*/ 323852 h 720000"/>
              <a:gd name="connsiteX11" fmla="*/ 141637 w 720000"/>
              <a:gd name="connsiteY11" fmla="*/ 578364 h 720000"/>
              <a:gd name="connsiteX12" fmla="*/ 396149 w 720000"/>
              <a:gd name="connsiteY12" fmla="*/ 521796 h 720000"/>
              <a:gd name="connsiteX13" fmla="*/ 537524 w 720000"/>
              <a:gd name="connsiteY13" fmla="*/ 380420 h 720000"/>
              <a:gd name="connsiteX14" fmla="*/ 537524 w 720000"/>
              <a:gd name="connsiteY14" fmla="*/ 182476 h 720000"/>
              <a:gd name="connsiteX15" fmla="*/ 438553 w 720000"/>
              <a:gd name="connsiteY15" fmla="*/ 141636 h 720000"/>
              <a:gd name="connsiteX16" fmla="*/ 120000 w 720000"/>
              <a:gd name="connsiteY16" fmla="*/ 0 h 720000"/>
              <a:gd name="connsiteX17" fmla="*/ 600000 w 720000"/>
              <a:gd name="connsiteY17" fmla="*/ 0 h 720000"/>
              <a:gd name="connsiteX18" fmla="*/ 720000 w 720000"/>
              <a:gd name="connsiteY18" fmla="*/ 120000 h 720000"/>
              <a:gd name="connsiteX19" fmla="*/ 720000 w 720000"/>
              <a:gd name="connsiteY19" fmla="*/ 600000 h 720000"/>
              <a:gd name="connsiteX20" fmla="*/ 600000 w 720000"/>
              <a:gd name="connsiteY20" fmla="*/ 720000 h 720000"/>
              <a:gd name="connsiteX21" fmla="*/ 120000 w 720000"/>
              <a:gd name="connsiteY21" fmla="*/ 720000 h 720000"/>
              <a:gd name="connsiteX22" fmla="*/ 0 w 720000"/>
              <a:gd name="connsiteY22" fmla="*/ 600000 h 720000"/>
              <a:gd name="connsiteX23" fmla="*/ 0 w 720000"/>
              <a:gd name="connsiteY23" fmla="*/ 120000 h 720000"/>
              <a:gd name="connsiteX24" fmla="*/ 120000 w 720000"/>
              <a:gd name="connsiteY24" fmla="*/ 0 h 720000"/>
            </a:gdLst>
            <a:ahLst/>
            <a:cxnLst/>
            <a:rect l="l" t="t" r="r" b="b"/>
            <a:pathLst>
              <a:path w="720000" h="720000">
                <a:moveTo>
                  <a:pt x="438553" y="189601"/>
                </a:moveTo>
                <a:cubicBezTo>
                  <a:pt x="463230" y="189601"/>
                  <a:pt x="486344" y="199073"/>
                  <a:pt x="503636" y="216365"/>
                </a:cubicBezTo>
                <a:cubicBezTo>
                  <a:pt x="539523" y="252252"/>
                  <a:pt x="539523" y="310557"/>
                  <a:pt x="503636" y="346445"/>
                </a:cubicBezTo>
                <a:lnTo>
                  <a:pt x="362260" y="487907"/>
                </a:lnTo>
                <a:cubicBezTo>
                  <a:pt x="342622" y="507545"/>
                  <a:pt x="266503" y="522665"/>
                  <a:pt x="191861" y="528226"/>
                </a:cubicBezTo>
                <a:cubicBezTo>
                  <a:pt x="197336" y="453584"/>
                  <a:pt x="212456" y="377465"/>
                  <a:pt x="232180" y="357827"/>
                </a:cubicBezTo>
                <a:lnTo>
                  <a:pt x="373556" y="216452"/>
                </a:lnTo>
                <a:cubicBezTo>
                  <a:pt x="390761" y="199073"/>
                  <a:pt x="413875" y="189601"/>
                  <a:pt x="438553" y="189601"/>
                </a:cubicBezTo>
                <a:close/>
                <a:moveTo>
                  <a:pt x="438553" y="141636"/>
                </a:moveTo>
                <a:cubicBezTo>
                  <a:pt x="402666" y="141636"/>
                  <a:pt x="366778" y="155278"/>
                  <a:pt x="339581" y="182476"/>
                </a:cubicBezTo>
                <a:lnTo>
                  <a:pt x="198205" y="323852"/>
                </a:lnTo>
                <a:cubicBezTo>
                  <a:pt x="143723" y="378335"/>
                  <a:pt x="141637" y="578364"/>
                  <a:pt x="141637" y="578364"/>
                </a:cubicBezTo>
                <a:cubicBezTo>
                  <a:pt x="141637" y="578364"/>
                  <a:pt x="341753" y="576278"/>
                  <a:pt x="396149" y="521796"/>
                </a:cubicBezTo>
                <a:lnTo>
                  <a:pt x="537524" y="380420"/>
                </a:lnTo>
                <a:cubicBezTo>
                  <a:pt x="592007" y="325938"/>
                  <a:pt x="592007" y="236872"/>
                  <a:pt x="537524" y="182476"/>
                </a:cubicBezTo>
                <a:cubicBezTo>
                  <a:pt x="510327" y="155191"/>
                  <a:pt x="474440" y="141636"/>
                  <a:pt x="438553" y="141636"/>
                </a:cubicBezTo>
                <a:close/>
                <a:moveTo>
                  <a:pt x="120000" y="0"/>
                </a:moveTo>
                <a:lnTo>
                  <a:pt x="600000" y="0"/>
                </a:lnTo>
                <a:cubicBezTo>
                  <a:pt x="666040" y="0"/>
                  <a:pt x="720000" y="54048"/>
                  <a:pt x="720000" y="120000"/>
                </a:cubicBezTo>
                <a:lnTo>
                  <a:pt x="720000" y="600000"/>
                </a:lnTo>
                <a:cubicBezTo>
                  <a:pt x="720000" y="666039"/>
                  <a:pt x="666040" y="720000"/>
                  <a:pt x="600000" y="720000"/>
                </a:cubicBezTo>
                <a:lnTo>
                  <a:pt x="120000" y="720000"/>
                </a:lnTo>
                <a:cubicBezTo>
                  <a:pt x="53961" y="720000"/>
                  <a:pt x="0" y="666039"/>
                  <a:pt x="0" y="600000"/>
                </a:cubicBezTo>
                <a:lnTo>
                  <a:pt x="0" y="120000"/>
                </a:lnTo>
                <a:cubicBezTo>
                  <a:pt x="0" y="53961"/>
                  <a:pt x="53961" y="0"/>
                  <a:pt x="120000" y="0"/>
                </a:cubicBez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  <a:effectLst/>
        </p:spPr>
        <p:txBody>
          <a:bodyPr vert="horz" wrap="square" lIns="45720" tIns="22860" rIns="45720" bIns="22860"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标题 1"/>
          <p:cNvSpPr txBox="1"/>
          <p:nvPr/>
        </p:nvSpPr>
        <p:spPr>
          <a:xfrm>
            <a:off x="7952791" y="2331503"/>
            <a:ext cx="534154" cy="503452"/>
          </a:xfrm>
          <a:custGeom>
            <a:avLst/>
            <a:gdLst>
              <a:gd name="connsiteX0" fmla="*/ 565749 w 763907"/>
              <a:gd name="connsiteY0" fmla="*/ 529546 h 720000"/>
              <a:gd name="connsiteX1" fmla="*/ 585849 w 763907"/>
              <a:gd name="connsiteY1" fmla="*/ 537865 h 720000"/>
              <a:gd name="connsiteX2" fmla="*/ 698960 w 763907"/>
              <a:gd name="connsiteY2" fmla="*/ 650977 h 720000"/>
              <a:gd name="connsiteX3" fmla="*/ 698960 w 763907"/>
              <a:gd name="connsiteY3" fmla="*/ 691178 h 720000"/>
              <a:gd name="connsiteX4" fmla="*/ 678860 w 763907"/>
              <a:gd name="connsiteY4" fmla="*/ 699521 h 720000"/>
              <a:gd name="connsiteX5" fmla="*/ 658760 w 763907"/>
              <a:gd name="connsiteY5" fmla="*/ 691178 h 720000"/>
              <a:gd name="connsiteX6" fmla="*/ 545648 w 763907"/>
              <a:gd name="connsiteY6" fmla="*/ 578066 h 720000"/>
              <a:gd name="connsiteX7" fmla="*/ 545648 w 763907"/>
              <a:gd name="connsiteY7" fmla="*/ 537865 h 720000"/>
              <a:gd name="connsiteX8" fmla="*/ 565749 w 763907"/>
              <a:gd name="connsiteY8" fmla="*/ 529546 h 720000"/>
              <a:gd name="connsiteX9" fmla="*/ 565749 w 763907"/>
              <a:gd name="connsiteY9" fmla="*/ 359807 h 720000"/>
              <a:gd name="connsiteX10" fmla="*/ 735464 w 763907"/>
              <a:gd name="connsiteY10" fmla="*/ 359807 h 720000"/>
              <a:gd name="connsiteX11" fmla="*/ 763907 w 763907"/>
              <a:gd name="connsiteY11" fmla="*/ 388251 h 720000"/>
              <a:gd name="connsiteX12" fmla="*/ 735464 w 763907"/>
              <a:gd name="connsiteY12" fmla="*/ 416695 h 720000"/>
              <a:gd name="connsiteX13" fmla="*/ 565749 w 763907"/>
              <a:gd name="connsiteY13" fmla="*/ 416695 h 720000"/>
              <a:gd name="connsiteX14" fmla="*/ 537305 w 763907"/>
              <a:gd name="connsiteY14" fmla="*/ 388251 h 720000"/>
              <a:gd name="connsiteX15" fmla="*/ 565749 w 763907"/>
              <a:gd name="connsiteY15" fmla="*/ 359807 h 720000"/>
              <a:gd name="connsiteX16" fmla="*/ 678860 w 763907"/>
              <a:gd name="connsiteY16" fmla="*/ 77005 h 720000"/>
              <a:gd name="connsiteX17" fmla="*/ 698960 w 763907"/>
              <a:gd name="connsiteY17" fmla="*/ 85325 h 720000"/>
              <a:gd name="connsiteX18" fmla="*/ 698960 w 763907"/>
              <a:gd name="connsiteY18" fmla="*/ 125525 h 720000"/>
              <a:gd name="connsiteX19" fmla="*/ 585849 w 763907"/>
              <a:gd name="connsiteY19" fmla="*/ 238636 h 720000"/>
              <a:gd name="connsiteX20" fmla="*/ 565749 w 763907"/>
              <a:gd name="connsiteY20" fmla="*/ 246980 h 720000"/>
              <a:gd name="connsiteX21" fmla="*/ 545648 w 763907"/>
              <a:gd name="connsiteY21" fmla="*/ 238636 h 720000"/>
              <a:gd name="connsiteX22" fmla="*/ 545648 w 763907"/>
              <a:gd name="connsiteY22" fmla="*/ 198436 h 720000"/>
              <a:gd name="connsiteX23" fmla="*/ 658760 w 763907"/>
              <a:gd name="connsiteY23" fmla="*/ 85325 h 720000"/>
              <a:gd name="connsiteX24" fmla="*/ 678860 w 763907"/>
              <a:gd name="connsiteY24" fmla="*/ 77005 h 720000"/>
              <a:gd name="connsiteX25" fmla="*/ 362802 w 763907"/>
              <a:gd name="connsiteY25" fmla="*/ 5 h 720000"/>
              <a:gd name="connsiteX26" fmla="*/ 422012 w 763907"/>
              <a:gd name="connsiteY26" fmla="*/ 16490 h 720000"/>
              <a:gd name="connsiteX27" fmla="*/ 481080 w 763907"/>
              <a:gd name="connsiteY27" fmla="*/ 119457 h 720000"/>
              <a:gd name="connsiteX28" fmla="*/ 481080 w 763907"/>
              <a:gd name="connsiteY28" fmla="*/ 600631 h 720000"/>
              <a:gd name="connsiteX29" fmla="*/ 422012 w 763907"/>
              <a:gd name="connsiteY29" fmla="*/ 703598 h 720000"/>
              <a:gd name="connsiteX30" fmla="*/ 361806 w 763907"/>
              <a:gd name="connsiteY30" fmla="*/ 720000 h 720000"/>
              <a:gd name="connsiteX31" fmla="*/ 303306 w 763907"/>
              <a:gd name="connsiteY31" fmla="*/ 704546 h 720000"/>
              <a:gd name="connsiteX32" fmla="*/ 60870 w 763907"/>
              <a:gd name="connsiteY32" fmla="*/ 568300 h 720000"/>
              <a:gd name="connsiteX33" fmla="*/ 0 w 763907"/>
              <a:gd name="connsiteY33" fmla="*/ 464291 h 720000"/>
              <a:gd name="connsiteX34" fmla="*/ 0 w 763907"/>
              <a:gd name="connsiteY34" fmla="*/ 255702 h 720000"/>
              <a:gd name="connsiteX35" fmla="*/ 60870 w 763907"/>
              <a:gd name="connsiteY35" fmla="*/ 151693 h 720000"/>
              <a:gd name="connsiteX36" fmla="*/ 303306 w 763907"/>
              <a:gd name="connsiteY36" fmla="*/ 15447 h 720000"/>
              <a:gd name="connsiteX37" fmla="*/ 362802 w 763907"/>
              <a:gd name="connsiteY37" fmla="*/ 5 h 720000"/>
            </a:gdLst>
            <a:ahLst/>
            <a:cxnLst/>
            <a:rect l="l" t="t" r="r" b="b"/>
            <a:pathLst>
              <a:path w="763907" h="720000">
                <a:moveTo>
                  <a:pt x="565749" y="529546"/>
                </a:moveTo>
                <a:cubicBezTo>
                  <a:pt x="573025" y="529546"/>
                  <a:pt x="580302" y="532319"/>
                  <a:pt x="585849" y="537865"/>
                </a:cubicBezTo>
                <a:lnTo>
                  <a:pt x="698960" y="650977"/>
                </a:lnTo>
                <a:cubicBezTo>
                  <a:pt x="710054" y="662070"/>
                  <a:pt x="710054" y="680084"/>
                  <a:pt x="698960" y="691178"/>
                </a:cubicBezTo>
                <a:cubicBezTo>
                  <a:pt x="693461" y="696677"/>
                  <a:pt x="686161" y="699521"/>
                  <a:pt x="678860" y="699521"/>
                </a:cubicBezTo>
                <a:cubicBezTo>
                  <a:pt x="671560" y="699521"/>
                  <a:pt x="664259" y="696771"/>
                  <a:pt x="658760" y="691178"/>
                </a:cubicBezTo>
                <a:lnTo>
                  <a:pt x="545648" y="578066"/>
                </a:lnTo>
                <a:cubicBezTo>
                  <a:pt x="534555" y="566973"/>
                  <a:pt x="534555" y="548959"/>
                  <a:pt x="545648" y="537865"/>
                </a:cubicBezTo>
                <a:cubicBezTo>
                  <a:pt x="551195" y="532319"/>
                  <a:pt x="558471" y="529546"/>
                  <a:pt x="565749" y="529546"/>
                </a:cubicBezTo>
                <a:close/>
                <a:moveTo>
                  <a:pt x="565749" y="359807"/>
                </a:moveTo>
                <a:lnTo>
                  <a:pt x="735464" y="359807"/>
                </a:lnTo>
                <a:cubicBezTo>
                  <a:pt x="751202" y="359807"/>
                  <a:pt x="763907" y="372512"/>
                  <a:pt x="763907" y="388251"/>
                </a:cubicBezTo>
                <a:cubicBezTo>
                  <a:pt x="763907" y="403990"/>
                  <a:pt x="751107" y="416695"/>
                  <a:pt x="735464" y="416695"/>
                </a:cubicBezTo>
                <a:lnTo>
                  <a:pt x="565749" y="416695"/>
                </a:lnTo>
                <a:cubicBezTo>
                  <a:pt x="550010" y="416695"/>
                  <a:pt x="537305" y="403990"/>
                  <a:pt x="537305" y="388251"/>
                </a:cubicBezTo>
                <a:cubicBezTo>
                  <a:pt x="537305" y="372512"/>
                  <a:pt x="550010" y="359807"/>
                  <a:pt x="565749" y="359807"/>
                </a:cubicBezTo>
                <a:close/>
                <a:moveTo>
                  <a:pt x="678860" y="77005"/>
                </a:moveTo>
                <a:cubicBezTo>
                  <a:pt x="686137" y="77005"/>
                  <a:pt x="693414" y="79778"/>
                  <a:pt x="698960" y="85325"/>
                </a:cubicBezTo>
                <a:cubicBezTo>
                  <a:pt x="710054" y="96418"/>
                  <a:pt x="710054" y="114432"/>
                  <a:pt x="698960" y="125525"/>
                </a:cubicBezTo>
                <a:lnTo>
                  <a:pt x="585849" y="238636"/>
                </a:lnTo>
                <a:cubicBezTo>
                  <a:pt x="580350" y="244231"/>
                  <a:pt x="573049" y="246980"/>
                  <a:pt x="565749" y="246980"/>
                </a:cubicBezTo>
                <a:cubicBezTo>
                  <a:pt x="558448" y="246980"/>
                  <a:pt x="551147" y="244231"/>
                  <a:pt x="545648" y="238636"/>
                </a:cubicBezTo>
                <a:cubicBezTo>
                  <a:pt x="534555" y="227543"/>
                  <a:pt x="534555" y="209529"/>
                  <a:pt x="545648" y="198436"/>
                </a:cubicBezTo>
                <a:lnTo>
                  <a:pt x="658760" y="85325"/>
                </a:lnTo>
                <a:cubicBezTo>
                  <a:pt x="664306" y="79778"/>
                  <a:pt x="671583" y="77005"/>
                  <a:pt x="678860" y="77005"/>
                </a:cubicBezTo>
                <a:close/>
                <a:moveTo>
                  <a:pt x="362802" y="5"/>
                </a:moveTo>
                <a:cubicBezTo>
                  <a:pt x="383186" y="183"/>
                  <a:pt x="403524" y="5682"/>
                  <a:pt x="422012" y="16490"/>
                </a:cubicBezTo>
                <a:cubicBezTo>
                  <a:pt x="458989" y="38108"/>
                  <a:pt x="481080" y="76601"/>
                  <a:pt x="481080" y="119457"/>
                </a:cubicBezTo>
                <a:lnTo>
                  <a:pt x="481080" y="600631"/>
                </a:lnTo>
                <a:cubicBezTo>
                  <a:pt x="481080" y="643486"/>
                  <a:pt x="458989" y="681980"/>
                  <a:pt x="422012" y="703598"/>
                </a:cubicBezTo>
                <a:cubicBezTo>
                  <a:pt x="403240" y="714501"/>
                  <a:pt x="382475" y="720000"/>
                  <a:pt x="361806" y="720000"/>
                </a:cubicBezTo>
                <a:cubicBezTo>
                  <a:pt x="341706" y="720000"/>
                  <a:pt x="321700" y="714881"/>
                  <a:pt x="303306" y="704546"/>
                </a:cubicBezTo>
                <a:lnTo>
                  <a:pt x="60870" y="568300"/>
                </a:lnTo>
                <a:cubicBezTo>
                  <a:pt x="23324" y="547157"/>
                  <a:pt x="0" y="507336"/>
                  <a:pt x="0" y="464291"/>
                </a:cubicBezTo>
                <a:lnTo>
                  <a:pt x="0" y="255702"/>
                </a:lnTo>
                <a:cubicBezTo>
                  <a:pt x="0" y="212657"/>
                  <a:pt x="23324" y="172742"/>
                  <a:pt x="60870" y="151693"/>
                </a:cubicBezTo>
                <a:lnTo>
                  <a:pt x="303306" y="15447"/>
                </a:lnTo>
                <a:cubicBezTo>
                  <a:pt x="321984" y="4970"/>
                  <a:pt x="342417" y="-173"/>
                  <a:pt x="362802" y="5"/>
                </a:cubicBezTo>
                <a:close/>
              </a:path>
            </a:pathLst>
          </a:custGeom>
          <a:solidFill>
            <a:schemeClr val="accent2"/>
          </a:solidFill>
          <a:ln w="12700" cap="sq">
            <a:noFill/>
            <a:miter/>
          </a:ln>
          <a:effectLst/>
        </p:spPr>
        <p:txBody>
          <a:bodyPr vert="horz" wrap="square" lIns="45720" tIns="22860" rIns="45720" bIns="22860" rtlCol="0" anchor="ctr"/>
          <a:lstStyle/>
          <a:p>
            <a:pPr algn="ctr"/>
            <a:endParaRPr kumimoji="1" lang="zh-CN" altLang="en-US"/>
          </a:p>
        </p:txBody>
      </p:sp>
      <p:pic>
        <p:nvPicPr>
          <p:cNvPr id="22" name="Imagen 21">
            <a:extLst>
              <a:ext uri="{FF2B5EF4-FFF2-40B4-BE49-F238E27FC236}">
                <a16:creationId xmlns:a16="http://schemas.microsoft.com/office/drawing/2014/main" id="{B5980319-5B13-E93A-5E0C-3306F0EAF25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2205538" y="1540042"/>
            <a:ext cx="8319754" cy="1380175"/>
          </a:xfrm>
          <a:prstGeom prst="parallelogram">
            <a:avLst>
              <a:gd name="adj" fmla="val 68750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 flipV="1">
            <a:off x="1654008" y="1820779"/>
            <a:ext cx="1524000" cy="1099438"/>
          </a:xfrm>
          <a:prstGeom prst="triangle">
            <a:avLst/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 flipV="1">
            <a:off x="1654008" y="1540042"/>
            <a:ext cx="1524000" cy="1099438"/>
          </a:xfrm>
          <a:prstGeom prst="triangle">
            <a:avLst/>
          </a:prstGeom>
          <a:solidFill>
            <a:schemeClr val="accent1"/>
          </a:solidFill>
          <a:ln w="12700" cap="sq">
            <a:solidFill>
              <a:schemeClr val="accent1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2145214" y="1664368"/>
            <a:ext cx="541588" cy="529390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ctr"/>
            <a:r>
              <a:rPr kumimoji="1" lang="en-US" altLang="zh-CN" sz="28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01</a:t>
            </a: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3325326" y="1987671"/>
            <a:ext cx="6257129" cy="830455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1048" b="1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Zabbix: </a:t>
            </a:r>
            <a:r>
              <a:rPr kumimoji="1" lang="en-US" altLang="zh-CN" sz="1048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Monitoreo</a:t>
            </a:r>
            <a:r>
              <a:rPr kumimoji="1" lang="en-US" altLang="zh-CN" sz="1048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 de </a:t>
            </a:r>
            <a:r>
              <a:rPr kumimoji="1" lang="en-US" altLang="zh-CN" sz="1048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infraestructura</a:t>
            </a:r>
            <a:r>
              <a:rPr kumimoji="1" lang="en-US" altLang="zh-CN" sz="1048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, </a:t>
            </a:r>
            <a:r>
              <a:rPr kumimoji="1" lang="en-US" altLang="zh-CN" sz="1048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servicios</a:t>
            </a:r>
            <a:r>
              <a:rPr kumimoji="1" lang="en-US" altLang="zh-CN" sz="1048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 y </a:t>
            </a:r>
            <a:r>
              <a:rPr kumimoji="1" lang="en-US" altLang="zh-CN" sz="1048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métricas</a:t>
            </a:r>
            <a:r>
              <a:rPr kumimoji="1" lang="en-US" altLang="zh-CN" sz="1048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 de </a:t>
            </a:r>
            <a:r>
              <a:rPr kumimoji="1" lang="en-US" altLang="zh-CN" sz="1048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negocio</a:t>
            </a:r>
            <a:endParaRPr kumimoji="1" lang="en-US" altLang="zh-CN" sz="1048" dirty="0">
              <a:ln w="12700">
                <a:noFill/>
              </a:ln>
              <a:solidFill>
                <a:srgbClr val="262626">
                  <a:alpha val="100000"/>
                </a:srgbClr>
              </a:solidFill>
              <a:latin typeface="Poppins"/>
              <a:ea typeface="Poppins"/>
              <a:cs typeface="Poppins"/>
            </a:endParaRPr>
          </a:p>
          <a:p>
            <a:pPr algn="l"/>
            <a:r>
              <a:rPr kumimoji="1" lang="en-US" altLang="zh-CN" sz="1048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
</a:t>
            </a:r>
            <a:r>
              <a:rPr kumimoji="1" lang="en-US" altLang="zh-CN" sz="1048" b="1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Prometheus + Grafana: </a:t>
            </a:r>
            <a:r>
              <a:rPr kumimoji="1" lang="en-US" altLang="zh-CN" sz="1048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Monitoreo</a:t>
            </a:r>
            <a:r>
              <a:rPr kumimoji="1" lang="en-US" altLang="zh-CN" sz="1048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 de </a:t>
            </a:r>
            <a:r>
              <a:rPr kumimoji="1" lang="en-US" altLang="zh-CN" sz="1048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sistemas</a:t>
            </a:r>
            <a:r>
              <a:rPr kumimoji="1" lang="en-US" altLang="zh-CN" sz="1048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 </a:t>
            </a:r>
            <a:r>
              <a:rPr kumimoji="1" lang="en-US" altLang="zh-CN" sz="1048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nativos</a:t>
            </a:r>
            <a:r>
              <a:rPr kumimoji="1" lang="en-US" altLang="zh-CN" sz="1048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 de la </a:t>
            </a:r>
            <a:r>
              <a:rPr kumimoji="1" lang="en-US" altLang="zh-CN" sz="1048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nube</a:t>
            </a:r>
            <a:r>
              <a:rPr kumimoji="1" lang="en-US" altLang="zh-CN" sz="1048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 y </a:t>
            </a:r>
            <a:r>
              <a:rPr kumimoji="1" lang="en-US" altLang="zh-CN" sz="1048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microservicios</a:t>
            </a:r>
            <a:r>
              <a:rPr kumimoji="1" lang="en-US" altLang="zh-CN" sz="1048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 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kumimoji="1" lang="en-US" altLang="zh-CN" sz="1048" b="1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Grafana: </a:t>
            </a:r>
            <a:r>
              <a:rPr kumimoji="1" lang="en-US" altLang="zh-CN" sz="1048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Visualización</a:t>
            </a:r>
            <a:r>
              <a:rPr kumimoji="1" lang="en-US" altLang="zh-CN" sz="1048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 (dashboards) de </a:t>
            </a:r>
            <a:r>
              <a:rPr kumimoji="1" lang="en-US" altLang="zh-CN" sz="1048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datos</a:t>
            </a:r>
            <a:r>
              <a:rPr kumimoji="1" lang="en-US" altLang="zh-CN" sz="1048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 de </a:t>
            </a:r>
            <a:r>
              <a:rPr kumimoji="1" lang="en-US" altLang="zh-CN" sz="1048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múltiples</a:t>
            </a:r>
            <a:r>
              <a:rPr kumimoji="1" lang="en-US" altLang="zh-CN" sz="1048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 </a:t>
            </a:r>
            <a:r>
              <a:rPr kumimoji="1" lang="en-US" altLang="zh-CN" sz="1048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fuentes</a:t>
            </a:r>
            <a:endParaRPr kumimoji="1" lang="zh-CN" altLang="en-US" dirty="0"/>
          </a:p>
        </p:txBody>
      </p:sp>
      <p:sp>
        <p:nvSpPr>
          <p:cNvPr id="9" name="标题 1"/>
          <p:cNvSpPr txBox="1"/>
          <p:nvPr/>
        </p:nvSpPr>
        <p:spPr>
          <a:xfrm flipV="1">
            <a:off x="1890211" y="2691584"/>
            <a:ext cx="255003" cy="183963"/>
          </a:xfrm>
          <a:prstGeom prst="triangle">
            <a:avLst/>
          </a:prstGeom>
          <a:solidFill>
            <a:schemeClr val="accent1">
              <a:lumMod val="40000"/>
              <a:lumOff val="6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3336756" y="1460311"/>
            <a:ext cx="6257128" cy="429128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b"/>
          <a:lstStyle/>
          <a:p>
            <a:pPr algn="l"/>
            <a:r>
              <a:rPr kumimoji="1" lang="en-US" altLang="zh-CN" sz="1600" dirty="0" err="1">
                <a:ln w="12700">
                  <a:noFill/>
                </a:ln>
                <a:solidFill>
                  <a:srgbClr val="4472C4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Plataformas</a:t>
            </a:r>
            <a:r>
              <a:rPr kumimoji="1" lang="en-US" altLang="zh-CN" sz="1600" dirty="0">
                <a:ln w="12700">
                  <a:noFill/>
                </a:ln>
                <a:solidFill>
                  <a:srgbClr val="4472C4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 </a:t>
            </a:r>
            <a:r>
              <a:rPr kumimoji="1" lang="en-US" altLang="zh-CN" sz="1600" dirty="0" err="1">
                <a:ln w="12700">
                  <a:noFill/>
                </a:ln>
                <a:solidFill>
                  <a:srgbClr val="4472C4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Integrales</a:t>
            </a:r>
            <a:r>
              <a:rPr kumimoji="1" lang="en-US" altLang="zh-CN" sz="1600" dirty="0">
                <a:ln w="12700">
                  <a:noFill/>
                </a:ln>
                <a:solidFill>
                  <a:srgbClr val="4472C4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 (Open Source)</a:t>
            </a:r>
            <a:endParaRPr kumimoji="1" lang="zh-CN" altLang="en-US" dirty="0"/>
          </a:p>
        </p:txBody>
      </p:sp>
      <p:sp>
        <p:nvSpPr>
          <p:cNvPr id="11" name="标题 1"/>
          <p:cNvSpPr txBox="1"/>
          <p:nvPr/>
        </p:nvSpPr>
        <p:spPr>
          <a:xfrm>
            <a:off x="2205538" y="3737811"/>
            <a:ext cx="8319754" cy="1380175"/>
          </a:xfrm>
          <a:prstGeom prst="parallelogram">
            <a:avLst>
              <a:gd name="adj" fmla="val 68750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 flipV="1">
            <a:off x="1654008" y="4018548"/>
            <a:ext cx="1524000" cy="1099438"/>
          </a:xfrm>
          <a:prstGeom prst="triangle">
            <a:avLst/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 flipV="1">
            <a:off x="1654008" y="3737811"/>
            <a:ext cx="1524000" cy="1099438"/>
          </a:xfrm>
          <a:prstGeom prst="triangle">
            <a:avLst/>
          </a:prstGeom>
          <a:solidFill>
            <a:schemeClr val="accent1"/>
          </a:solidFill>
          <a:ln w="12700" cap="sq">
            <a:solidFill>
              <a:schemeClr val="accent1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>
            <a:off x="2145214" y="3862137"/>
            <a:ext cx="541588" cy="529390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ctr"/>
            <a:r>
              <a:rPr kumimoji="1" lang="en-US" altLang="zh-CN" sz="28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02</a:t>
            </a:r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>
            <a:off x="3336756" y="4411700"/>
            <a:ext cx="6257129" cy="601823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r>
              <a:rPr kumimoji="1" lang="en-US" altLang="zh-CN" sz="1048" b="1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cs typeface="Poppins"/>
              </a:rPr>
              <a:t>SolarWinds (NPM): </a:t>
            </a:r>
            <a:r>
              <a:rPr kumimoji="1" lang="en-US" altLang="zh-CN" sz="1048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cs typeface="Poppins"/>
              </a:rPr>
              <a:t>Monitoreo</a:t>
            </a:r>
            <a:r>
              <a:rPr kumimoji="1" lang="en-US" altLang="zh-CN" sz="1048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cs typeface="Poppins"/>
              </a:rPr>
              <a:t> </a:t>
            </a:r>
            <a:r>
              <a:rPr kumimoji="1" lang="en-US" altLang="zh-CN" sz="1048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cs typeface="Poppins"/>
              </a:rPr>
              <a:t>específico</a:t>
            </a:r>
            <a:r>
              <a:rPr kumimoji="1" lang="en-US" altLang="zh-CN" sz="1048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cs typeface="Poppins"/>
              </a:rPr>
              <a:t> de redes</a:t>
            </a:r>
          </a:p>
          <a:p>
            <a:r>
              <a:rPr kumimoji="1" lang="en-US" altLang="zh-CN" sz="1048" b="1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cs typeface="Poppins"/>
              </a:rPr>
              <a:t>
Datadog / Dynatrace: </a:t>
            </a:r>
            <a:r>
              <a:rPr kumimoji="1" lang="en-US" altLang="zh-CN" sz="1048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cs typeface="Poppins"/>
              </a:rPr>
              <a:t>Monitoreo</a:t>
            </a:r>
            <a:r>
              <a:rPr kumimoji="1" lang="en-US" altLang="zh-CN" sz="1048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cs typeface="Poppins"/>
              </a:rPr>
              <a:t> de </a:t>
            </a:r>
            <a:r>
              <a:rPr kumimoji="1" lang="en-US" altLang="zh-CN" sz="1048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cs typeface="Poppins"/>
              </a:rPr>
              <a:t>nube</a:t>
            </a:r>
            <a:r>
              <a:rPr kumimoji="1" lang="en-US" altLang="zh-CN" sz="1048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cs typeface="Poppins"/>
              </a:rPr>
              <a:t> y </a:t>
            </a:r>
            <a:r>
              <a:rPr kumimoji="1" lang="en-US" altLang="zh-CN" sz="1048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cs typeface="Poppins"/>
              </a:rPr>
              <a:t>análisis</a:t>
            </a:r>
            <a:r>
              <a:rPr kumimoji="1" lang="en-US" altLang="zh-CN" sz="1048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cs typeface="Poppins"/>
              </a:rPr>
              <a:t> </a:t>
            </a:r>
            <a:r>
              <a:rPr kumimoji="1" lang="en-US" altLang="zh-CN" sz="1048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cs typeface="Poppins"/>
              </a:rPr>
              <a:t>predictivo</a:t>
            </a:r>
            <a:r>
              <a:rPr kumimoji="1" lang="en-US" altLang="zh-CN" sz="1048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cs typeface="Poppins"/>
              </a:rPr>
              <a:t> </a:t>
            </a:r>
            <a:r>
              <a:rPr kumimoji="1" lang="en-US" altLang="zh-CN" sz="1048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cs typeface="Poppins"/>
              </a:rPr>
              <a:t>basado</a:t>
            </a:r>
            <a:r>
              <a:rPr kumimoji="1" lang="en-US" altLang="zh-CN" sz="1048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cs typeface="Poppins"/>
              </a:rPr>
              <a:t> </a:t>
            </a:r>
            <a:r>
              <a:rPr kumimoji="1" lang="en-US" altLang="zh-CN" sz="1048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cs typeface="Poppins"/>
              </a:rPr>
              <a:t>en</a:t>
            </a:r>
            <a:r>
              <a:rPr kumimoji="1" lang="en-US" altLang="zh-CN" sz="1048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cs typeface="Poppins"/>
              </a:rPr>
              <a:t> IA (AIOps</a:t>
            </a:r>
            <a:r>
              <a:rPr kumimoji="1" lang="en-US" altLang="zh-CN" sz="1048" b="1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cs typeface="Poppins"/>
              </a:rPr>
              <a:t>)</a:t>
            </a:r>
            <a:endParaRPr kumimoji="1" lang="zh-CN" altLang="en-US" sz="1048" b="1" dirty="0">
              <a:ln w="12700">
                <a:noFill/>
              </a:ln>
              <a:solidFill>
                <a:srgbClr val="262626">
                  <a:alpha val="100000"/>
                </a:srgbClr>
              </a:solidFill>
              <a:latin typeface="Poppins"/>
              <a:cs typeface="Poppins"/>
            </a:endParaRPr>
          </a:p>
        </p:txBody>
      </p:sp>
      <p:sp>
        <p:nvSpPr>
          <p:cNvPr id="16" name="标题 1"/>
          <p:cNvSpPr txBox="1"/>
          <p:nvPr/>
        </p:nvSpPr>
        <p:spPr>
          <a:xfrm flipV="1">
            <a:off x="1890211" y="4889353"/>
            <a:ext cx="255003" cy="183963"/>
          </a:xfrm>
          <a:prstGeom prst="triangle">
            <a:avLst/>
          </a:prstGeom>
          <a:solidFill>
            <a:schemeClr val="accent1">
              <a:lumMod val="40000"/>
              <a:lumOff val="6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标题 1"/>
          <p:cNvSpPr txBox="1"/>
          <p:nvPr/>
        </p:nvSpPr>
        <p:spPr>
          <a:xfrm>
            <a:off x="3336756" y="3858402"/>
            <a:ext cx="6257128" cy="429128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b"/>
          <a:lstStyle/>
          <a:p>
            <a:pPr algn="l"/>
            <a:r>
              <a:rPr kumimoji="1" lang="en-US" altLang="zh-CN" sz="1600">
                <a:ln w="12700">
                  <a:noFill/>
                </a:ln>
                <a:solidFill>
                  <a:srgbClr val="4472C4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Plataformas Comerciales (Enterprise)</a:t>
            </a:r>
            <a:endParaRPr kumimoji="1" lang="zh-CN" altLang="en-US"/>
          </a:p>
        </p:txBody>
      </p:sp>
      <p:sp>
        <p:nvSpPr>
          <p:cNvPr id="19" name="标题 1"/>
          <p:cNvSpPr txBox="1"/>
          <p:nvPr/>
        </p:nvSpPr>
        <p:spPr>
          <a:xfrm>
            <a:off x="2985585" y="563183"/>
            <a:ext cx="8319755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/>
            <a:r>
              <a:rPr kumimoji="1" lang="en-US" altLang="zh-CN" sz="28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Tipos</a:t>
            </a:r>
            <a:r>
              <a:rPr kumimoji="1" lang="en-US" altLang="zh-CN" sz="28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 de Herramientas </a:t>
            </a:r>
            <a:r>
              <a:rPr kumimoji="1" lang="en-US" altLang="zh-CN" sz="28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Esenciales</a:t>
            </a:r>
            <a:endParaRPr kumimoji="1" lang="zh-CN" altLang="en-US" dirty="0"/>
          </a:p>
        </p:txBody>
      </p:sp>
      <p:pic>
        <p:nvPicPr>
          <p:cNvPr id="22" name="Imagen 21">
            <a:extLst>
              <a:ext uri="{FF2B5EF4-FFF2-40B4-BE49-F238E27FC236}">
                <a16:creationId xmlns:a16="http://schemas.microsoft.com/office/drawing/2014/main" id="{D76FB6F9-1D1C-9A90-DD41-EE9963CA8A9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6570232" y="2492444"/>
            <a:ext cx="3979135" cy="2579914"/>
          </a:xfrm>
          <a:prstGeom prst="round1Rect">
            <a:avLst>
              <a:gd name="adj" fmla="val 22948"/>
            </a:avLst>
          </a:prstGeom>
          <a:solidFill>
            <a:schemeClr val="bg1"/>
          </a:solidFill>
          <a:ln w="9525" cap="flat">
            <a:noFill/>
            <a:miter/>
          </a:ln>
          <a:effectLst>
            <a:outerShdw blurRad="254000" dist="127000" dir="5400000" sx="102000" sy="102000" algn="t" rotWithShape="0">
              <a:srgbClr val="000000">
                <a:alpha val="10000"/>
              </a:srgb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1642632" y="2492444"/>
            <a:ext cx="3979135" cy="2579914"/>
          </a:xfrm>
          <a:prstGeom prst="round1Rect">
            <a:avLst>
              <a:gd name="adj" fmla="val 22948"/>
            </a:avLst>
          </a:prstGeom>
          <a:solidFill>
            <a:schemeClr val="bg1"/>
          </a:solidFill>
          <a:ln w="9525" cap="flat">
            <a:noFill/>
            <a:miter/>
          </a:ln>
          <a:effectLst>
            <a:outerShdw blurRad="254000" dist="127000" dir="5400000" sx="102000" sy="102000" algn="t" rotWithShape="0">
              <a:srgbClr val="000000">
                <a:alpha val="10000"/>
              </a:srgb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2036172" y="2779776"/>
            <a:ext cx="2340755" cy="649224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b"/>
          <a:lstStyle/>
          <a:p>
            <a:pPr algn="l"/>
            <a:r>
              <a:rPr kumimoji="1" lang="en-US" altLang="zh-CN" sz="1188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SNMP (Simple Network Management Protocol)</a:t>
            </a: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1956861" y="3583609"/>
            <a:ext cx="3313975" cy="1183124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16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Consultar el estado de dispositivos de red y servidores</a:t>
            </a: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1997205" y="2080260"/>
            <a:ext cx="824480" cy="824478"/>
          </a:xfrm>
          <a:prstGeom prst="ellipse">
            <a:avLst/>
          </a:prstGeom>
          <a:solidFill>
            <a:schemeClr val="accent1">
              <a:alpha val="20000"/>
            </a:schemeClr>
          </a:solidFill>
          <a:ln w="254000" cap="sq">
            <a:noFill/>
            <a:miter/>
          </a:ln>
          <a:effectLst/>
        </p:spPr>
        <p:txBody>
          <a:bodyPr vert="horz" wrap="square" lIns="0" tIns="0" rIns="0" bIns="0"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2067526" y="2150580"/>
            <a:ext cx="683840" cy="683838"/>
          </a:xfrm>
          <a:prstGeom prst="ellipse">
            <a:avLst/>
          </a:prstGeom>
          <a:gradFill>
            <a:gsLst>
              <a:gs pos="0">
                <a:schemeClr val="accent1">
                  <a:lumMod val="40000"/>
                  <a:lumOff val="60000"/>
                </a:schemeClr>
              </a:gs>
              <a:gs pos="54000">
                <a:schemeClr val="accent1"/>
              </a:gs>
            </a:gsLst>
            <a:lin ang="3240000" scaled="0"/>
          </a:gradFill>
          <a:ln w="9525" cap="flat">
            <a:noFill/>
            <a:miter/>
          </a:ln>
          <a:effectLst>
            <a:outerShdw blurRad="254000" dist="190500" dir="2700000" sx="103000" sy="103000" algn="t" rotWithShape="0">
              <a:schemeClr val="tx1">
                <a:alpha val="10000"/>
              </a:schemeClr>
            </a:outerShdw>
          </a:effectLst>
        </p:spPr>
        <p:txBody>
          <a:bodyPr vert="horz" wrap="square" lIns="0" tIns="0" rIns="0" bIns="0"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2252081" y="2346871"/>
            <a:ext cx="314730" cy="291147"/>
          </a:xfrm>
          <a:custGeom>
            <a:avLst/>
            <a:gdLst>
              <a:gd name="connsiteX0" fmla="*/ 2136435 w 5834559"/>
              <a:gd name="connsiteY0" fmla="*/ 643126 h 5397372"/>
              <a:gd name="connsiteX1" fmla="*/ 3716657 w 5834559"/>
              <a:gd name="connsiteY1" fmla="*/ 643126 h 5397372"/>
              <a:gd name="connsiteX2" fmla="*/ 3716657 w 5834559"/>
              <a:gd name="connsiteY2" fmla="*/ 1064855 h 5397372"/>
              <a:gd name="connsiteX3" fmla="*/ 2136435 w 5834559"/>
              <a:gd name="connsiteY3" fmla="*/ 1064855 h 5397372"/>
              <a:gd name="connsiteX4" fmla="*/ 693741 w 5834559"/>
              <a:gd name="connsiteY4" fmla="*/ 643126 h 5397372"/>
              <a:gd name="connsiteX5" fmla="*/ 1550121 w 5834559"/>
              <a:gd name="connsiteY5" fmla="*/ 643126 h 5397372"/>
              <a:gd name="connsiteX6" fmla="*/ 1550121 w 5834559"/>
              <a:gd name="connsiteY6" fmla="*/ 1064855 h 5397372"/>
              <a:gd name="connsiteX7" fmla="*/ 693741 w 5834559"/>
              <a:gd name="connsiteY7" fmla="*/ 1064855 h 5397372"/>
              <a:gd name="connsiteX8" fmla="*/ 421729 w 5834559"/>
              <a:gd name="connsiteY8" fmla="*/ 1336867 h 5397372"/>
              <a:gd name="connsiteX9" fmla="*/ 421729 w 5834559"/>
              <a:gd name="connsiteY9" fmla="*/ 2079805 h 5397372"/>
              <a:gd name="connsiteX10" fmla="*/ 5412133 w 5834559"/>
              <a:gd name="connsiteY10" fmla="*/ 2079805 h 5397372"/>
              <a:gd name="connsiteX11" fmla="*/ 5412133 w 5834559"/>
              <a:gd name="connsiteY11" fmla="*/ 1336867 h 5397372"/>
              <a:gd name="connsiteX12" fmla="*/ 5140113 w 5834559"/>
              <a:gd name="connsiteY12" fmla="*/ 1064855 h 5397372"/>
              <a:gd name="connsiteX13" fmla="*/ 4302971 w 5834559"/>
              <a:gd name="connsiteY13" fmla="*/ 1064855 h 5397372"/>
              <a:gd name="connsiteX14" fmla="*/ 4302971 w 5834559"/>
              <a:gd name="connsiteY14" fmla="*/ 643126 h 5397372"/>
              <a:gd name="connsiteX15" fmla="*/ 5140113 w 5834559"/>
              <a:gd name="connsiteY15" fmla="*/ 643126 h 5397372"/>
              <a:gd name="connsiteX16" fmla="*/ 5834559 w 5834559"/>
              <a:gd name="connsiteY16" fmla="*/ 1336867 h 5397372"/>
              <a:gd name="connsiteX17" fmla="*/ 5834559 w 5834559"/>
              <a:gd name="connsiteY17" fmla="*/ 4703631 h 5397372"/>
              <a:gd name="connsiteX18" fmla="*/ 5140818 w 5834559"/>
              <a:gd name="connsiteY18" fmla="*/ 5397372 h 5397372"/>
              <a:gd name="connsiteX19" fmla="*/ 693741 w 5834559"/>
              <a:gd name="connsiteY19" fmla="*/ 5397372 h 5397372"/>
              <a:gd name="connsiteX20" fmla="*/ 0 w 5834559"/>
              <a:gd name="connsiteY20" fmla="*/ 4703631 h 5397372"/>
              <a:gd name="connsiteX21" fmla="*/ 0 w 5834559"/>
              <a:gd name="connsiteY21" fmla="*/ 2501529 h 5397372"/>
              <a:gd name="connsiteX22" fmla="*/ 0 w 5834559"/>
              <a:gd name="connsiteY22" fmla="*/ 2079805 h 5397372"/>
              <a:gd name="connsiteX23" fmla="*/ 0 w 5834559"/>
              <a:gd name="connsiteY23" fmla="*/ 1336867 h 5397372"/>
              <a:gd name="connsiteX24" fmla="*/ 693741 w 5834559"/>
              <a:gd name="connsiteY24" fmla="*/ 643126 h 5397372"/>
              <a:gd name="connsiteX25" fmla="*/ 3997242 w 5834559"/>
              <a:gd name="connsiteY25" fmla="*/ 0 h 5397372"/>
              <a:gd name="connsiteX26" fmla="*/ 4208106 w 5834559"/>
              <a:gd name="connsiteY26" fmla="*/ 210864 h 5397372"/>
              <a:gd name="connsiteX27" fmla="*/ 4208106 w 5834559"/>
              <a:gd name="connsiteY27" fmla="*/ 1506961 h 5397372"/>
              <a:gd name="connsiteX28" fmla="*/ 3997242 w 5834559"/>
              <a:gd name="connsiteY28" fmla="*/ 1718528 h 5397372"/>
              <a:gd name="connsiteX29" fmla="*/ 3786378 w 5834559"/>
              <a:gd name="connsiteY29" fmla="*/ 1507664 h 5397372"/>
              <a:gd name="connsiteX30" fmla="*/ 3786378 w 5834559"/>
              <a:gd name="connsiteY30" fmla="*/ 210864 h 5397372"/>
              <a:gd name="connsiteX31" fmla="*/ 3997242 w 5834559"/>
              <a:gd name="connsiteY31" fmla="*/ 0 h 5397372"/>
              <a:gd name="connsiteX32" fmla="*/ 1836609 w 5834559"/>
              <a:gd name="connsiteY32" fmla="*/ 0 h 5397372"/>
              <a:gd name="connsiteX33" fmla="*/ 2047469 w 5834559"/>
              <a:gd name="connsiteY33" fmla="*/ 210864 h 5397372"/>
              <a:gd name="connsiteX34" fmla="*/ 2047469 w 5834559"/>
              <a:gd name="connsiteY34" fmla="*/ 1506961 h 5397372"/>
              <a:gd name="connsiteX35" fmla="*/ 1836609 w 5834559"/>
              <a:gd name="connsiteY35" fmla="*/ 1718528 h 5397372"/>
              <a:gd name="connsiteX36" fmla="*/ 1625745 w 5834559"/>
              <a:gd name="connsiteY36" fmla="*/ 1507664 h 5397372"/>
              <a:gd name="connsiteX37" fmla="*/ 1625745 w 5834559"/>
              <a:gd name="connsiteY37" fmla="*/ 210864 h 5397372"/>
              <a:gd name="connsiteX38" fmla="*/ 1836609 w 5834559"/>
              <a:gd name="connsiteY38" fmla="*/ 0 h 5397372"/>
            </a:gdLst>
            <a:ahLst/>
            <a:cxnLst/>
            <a:rect l="l" t="t" r="r" b="b"/>
            <a:pathLst>
              <a:path w="5834559" h="5397372">
                <a:moveTo>
                  <a:pt x="2136435" y="643126"/>
                </a:moveTo>
                <a:lnTo>
                  <a:pt x="3716657" y="643126"/>
                </a:lnTo>
                <a:lnTo>
                  <a:pt x="3716657" y="1064855"/>
                </a:lnTo>
                <a:lnTo>
                  <a:pt x="2136435" y="1064855"/>
                </a:lnTo>
                <a:close/>
                <a:moveTo>
                  <a:pt x="693741" y="643126"/>
                </a:moveTo>
                <a:lnTo>
                  <a:pt x="1550121" y="643126"/>
                </a:lnTo>
                <a:lnTo>
                  <a:pt x="1550121" y="1064855"/>
                </a:lnTo>
                <a:lnTo>
                  <a:pt x="693741" y="1064855"/>
                </a:lnTo>
                <a:cubicBezTo>
                  <a:pt x="543320" y="1064855"/>
                  <a:pt x="421729" y="1187151"/>
                  <a:pt x="421729" y="1336867"/>
                </a:cubicBezTo>
                <a:lnTo>
                  <a:pt x="421729" y="2079805"/>
                </a:lnTo>
                <a:lnTo>
                  <a:pt x="5412133" y="2079805"/>
                </a:lnTo>
                <a:lnTo>
                  <a:pt x="5412133" y="1336867"/>
                </a:lnTo>
                <a:cubicBezTo>
                  <a:pt x="5412133" y="1186446"/>
                  <a:pt x="5289830" y="1064855"/>
                  <a:pt x="5140113" y="1064855"/>
                </a:cubicBezTo>
                <a:lnTo>
                  <a:pt x="4302971" y="1064855"/>
                </a:lnTo>
                <a:lnTo>
                  <a:pt x="4302971" y="643126"/>
                </a:lnTo>
                <a:lnTo>
                  <a:pt x="5140113" y="643126"/>
                </a:lnTo>
                <a:cubicBezTo>
                  <a:pt x="5523184" y="643126"/>
                  <a:pt x="5833854" y="953797"/>
                  <a:pt x="5834559" y="1336867"/>
                </a:cubicBezTo>
                <a:lnTo>
                  <a:pt x="5834559" y="4703631"/>
                </a:lnTo>
                <a:cubicBezTo>
                  <a:pt x="5834559" y="5085292"/>
                  <a:pt x="5522479" y="5397372"/>
                  <a:pt x="5140818" y="5397372"/>
                </a:cubicBezTo>
                <a:lnTo>
                  <a:pt x="693741" y="5397372"/>
                </a:lnTo>
                <a:cubicBezTo>
                  <a:pt x="312080" y="5397372"/>
                  <a:pt x="0" y="5085292"/>
                  <a:pt x="0" y="4703631"/>
                </a:cubicBezTo>
                <a:lnTo>
                  <a:pt x="0" y="2501529"/>
                </a:lnTo>
                <a:lnTo>
                  <a:pt x="0" y="2079805"/>
                </a:lnTo>
                <a:lnTo>
                  <a:pt x="0" y="1336867"/>
                </a:lnTo>
                <a:cubicBezTo>
                  <a:pt x="0" y="953797"/>
                  <a:pt x="310671" y="643126"/>
                  <a:pt x="693741" y="643126"/>
                </a:cubicBezTo>
                <a:close/>
                <a:moveTo>
                  <a:pt x="3997242" y="0"/>
                </a:moveTo>
                <a:cubicBezTo>
                  <a:pt x="4113920" y="0"/>
                  <a:pt x="4208106" y="94186"/>
                  <a:pt x="4208106" y="210864"/>
                </a:cubicBezTo>
                <a:lnTo>
                  <a:pt x="4208106" y="1506961"/>
                </a:lnTo>
                <a:cubicBezTo>
                  <a:pt x="4208106" y="1623639"/>
                  <a:pt x="4113920" y="1718528"/>
                  <a:pt x="3997242" y="1718528"/>
                </a:cubicBezTo>
                <a:cubicBezTo>
                  <a:pt x="3880564" y="1718528"/>
                  <a:pt x="3786378" y="1624342"/>
                  <a:pt x="3786378" y="1507664"/>
                </a:cubicBezTo>
                <a:lnTo>
                  <a:pt x="3786378" y="210864"/>
                </a:lnTo>
                <a:cubicBezTo>
                  <a:pt x="3786378" y="94186"/>
                  <a:pt x="3880564" y="0"/>
                  <a:pt x="3997242" y="0"/>
                </a:cubicBezTo>
                <a:close/>
                <a:moveTo>
                  <a:pt x="1836609" y="0"/>
                </a:moveTo>
                <a:cubicBezTo>
                  <a:pt x="1953287" y="0"/>
                  <a:pt x="2047469" y="94186"/>
                  <a:pt x="2047469" y="210864"/>
                </a:cubicBezTo>
                <a:lnTo>
                  <a:pt x="2047469" y="1506961"/>
                </a:lnTo>
                <a:cubicBezTo>
                  <a:pt x="2047469" y="1623639"/>
                  <a:pt x="1953287" y="1718528"/>
                  <a:pt x="1836609" y="1718528"/>
                </a:cubicBezTo>
                <a:cubicBezTo>
                  <a:pt x="1719932" y="1718528"/>
                  <a:pt x="1625745" y="1624342"/>
                  <a:pt x="1625745" y="1507664"/>
                </a:cubicBezTo>
                <a:lnTo>
                  <a:pt x="1625745" y="210864"/>
                </a:lnTo>
                <a:cubicBezTo>
                  <a:pt x="1625745" y="94186"/>
                  <a:pt x="1719932" y="0"/>
                  <a:pt x="1836609" y="0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/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6967669" y="2793850"/>
            <a:ext cx="3490600" cy="649224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b"/>
          <a:lstStyle/>
          <a:p>
            <a:pPr algn="l"/>
            <a:r>
              <a:rPr kumimoji="1" lang="en-US" altLang="zh-CN" sz="16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NetFlow/sFlow</a:t>
            </a: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>
            <a:off x="6888357" y="3583609"/>
            <a:ext cx="3313975" cy="1183124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16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Análisis profundo del tipo de tráfico que cruza la red</a:t>
            </a: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>
            <a:off x="6928701" y="2080260"/>
            <a:ext cx="824480" cy="824478"/>
          </a:xfrm>
          <a:prstGeom prst="ellipse">
            <a:avLst/>
          </a:prstGeom>
          <a:solidFill>
            <a:schemeClr val="accent1">
              <a:alpha val="20000"/>
            </a:schemeClr>
          </a:solidFill>
          <a:ln w="254000" cap="sq">
            <a:noFill/>
            <a:miter/>
          </a:ln>
          <a:effectLst/>
        </p:spPr>
        <p:txBody>
          <a:bodyPr vert="horz" wrap="square" lIns="0" tIns="0" rIns="0" bIns="0"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>
            <a:off x="6999021" y="2150580"/>
            <a:ext cx="683840" cy="683838"/>
          </a:xfrm>
          <a:prstGeom prst="ellipse">
            <a:avLst/>
          </a:prstGeom>
          <a:gradFill>
            <a:gsLst>
              <a:gs pos="0">
                <a:schemeClr val="accent1">
                  <a:lumMod val="40000"/>
                  <a:lumOff val="60000"/>
                </a:schemeClr>
              </a:gs>
              <a:gs pos="54000">
                <a:schemeClr val="accent1"/>
              </a:gs>
            </a:gsLst>
            <a:lin ang="3240000" scaled="0"/>
          </a:gradFill>
          <a:ln w="9525" cap="flat">
            <a:noFill/>
            <a:miter/>
          </a:ln>
          <a:effectLst>
            <a:outerShdw blurRad="254000" dist="190500" dir="2700000" sx="103000" sy="103000" algn="t" rotWithShape="0">
              <a:schemeClr val="tx1">
                <a:alpha val="10000"/>
              </a:schemeClr>
            </a:outerShdw>
          </a:effectLst>
        </p:spPr>
        <p:txBody>
          <a:bodyPr vert="horz" wrap="square" lIns="0" tIns="0" rIns="0" bIns="0" rtlCol="0" anchor="ctr"/>
          <a:lstStyle/>
          <a:p>
            <a:pPr algn="ctr"/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>
            <a:off x="7183577" y="2335080"/>
            <a:ext cx="314730" cy="314730"/>
          </a:xfrm>
          <a:custGeom>
            <a:avLst/>
            <a:gdLst>
              <a:gd name="connsiteX0" fmla="*/ 438553 w 720000"/>
              <a:gd name="connsiteY0" fmla="*/ 189601 h 720000"/>
              <a:gd name="connsiteX1" fmla="*/ 503636 w 720000"/>
              <a:gd name="connsiteY1" fmla="*/ 216365 h 720000"/>
              <a:gd name="connsiteX2" fmla="*/ 503636 w 720000"/>
              <a:gd name="connsiteY2" fmla="*/ 346445 h 720000"/>
              <a:gd name="connsiteX3" fmla="*/ 362260 w 720000"/>
              <a:gd name="connsiteY3" fmla="*/ 487907 h 720000"/>
              <a:gd name="connsiteX4" fmla="*/ 191861 w 720000"/>
              <a:gd name="connsiteY4" fmla="*/ 528226 h 720000"/>
              <a:gd name="connsiteX5" fmla="*/ 232180 w 720000"/>
              <a:gd name="connsiteY5" fmla="*/ 357827 h 720000"/>
              <a:gd name="connsiteX6" fmla="*/ 373556 w 720000"/>
              <a:gd name="connsiteY6" fmla="*/ 216452 h 720000"/>
              <a:gd name="connsiteX7" fmla="*/ 438553 w 720000"/>
              <a:gd name="connsiteY7" fmla="*/ 189601 h 720000"/>
              <a:gd name="connsiteX8" fmla="*/ 438553 w 720000"/>
              <a:gd name="connsiteY8" fmla="*/ 141636 h 720000"/>
              <a:gd name="connsiteX9" fmla="*/ 339581 w 720000"/>
              <a:gd name="connsiteY9" fmla="*/ 182476 h 720000"/>
              <a:gd name="connsiteX10" fmla="*/ 198205 w 720000"/>
              <a:gd name="connsiteY10" fmla="*/ 323852 h 720000"/>
              <a:gd name="connsiteX11" fmla="*/ 141637 w 720000"/>
              <a:gd name="connsiteY11" fmla="*/ 578364 h 720000"/>
              <a:gd name="connsiteX12" fmla="*/ 396149 w 720000"/>
              <a:gd name="connsiteY12" fmla="*/ 521796 h 720000"/>
              <a:gd name="connsiteX13" fmla="*/ 537524 w 720000"/>
              <a:gd name="connsiteY13" fmla="*/ 380420 h 720000"/>
              <a:gd name="connsiteX14" fmla="*/ 537524 w 720000"/>
              <a:gd name="connsiteY14" fmla="*/ 182476 h 720000"/>
              <a:gd name="connsiteX15" fmla="*/ 438553 w 720000"/>
              <a:gd name="connsiteY15" fmla="*/ 141636 h 720000"/>
              <a:gd name="connsiteX16" fmla="*/ 120000 w 720000"/>
              <a:gd name="connsiteY16" fmla="*/ 0 h 720000"/>
              <a:gd name="connsiteX17" fmla="*/ 600000 w 720000"/>
              <a:gd name="connsiteY17" fmla="*/ 0 h 720000"/>
              <a:gd name="connsiteX18" fmla="*/ 720000 w 720000"/>
              <a:gd name="connsiteY18" fmla="*/ 120000 h 720000"/>
              <a:gd name="connsiteX19" fmla="*/ 720000 w 720000"/>
              <a:gd name="connsiteY19" fmla="*/ 600000 h 720000"/>
              <a:gd name="connsiteX20" fmla="*/ 600000 w 720000"/>
              <a:gd name="connsiteY20" fmla="*/ 720000 h 720000"/>
              <a:gd name="connsiteX21" fmla="*/ 120000 w 720000"/>
              <a:gd name="connsiteY21" fmla="*/ 720000 h 720000"/>
              <a:gd name="connsiteX22" fmla="*/ 0 w 720000"/>
              <a:gd name="connsiteY22" fmla="*/ 600000 h 720000"/>
              <a:gd name="connsiteX23" fmla="*/ 0 w 720000"/>
              <a:gd name="connsiteY23" fmla="*/ 120000 h 720000"/>
              <a:gd name="connsiteX24" fmla="*/ 120000 w 720000"/>
              <a:gd name="connsiteY24" fmla="*/ 0 h 720000"/>
            </a:gdLst>
            <a:ahLst/>
            <a:cxnLst/>
            <a:rect l="l" t="t" r="r" b="b"/>
            <a:pathLst>
              <a:path w="720000" h="720000">
                <a:moveTo>
                  <a:pt x="438553" y="189601"/>
                </a:moveTo>
                <a:cubicBezTo>
                  <a:pt x="463230" y="189601"/>
                  <a:pt x="486344" y="199073"/>
                  <a:pt x="503636" y="216365"/>
                </a:cubicBezTo>
                <a:cubicBezTo>
                  <a:pt x="539523" y="252252"/>
                  <a:pt x="539523" y="310557"/>
                  <a:pt x="503636" y="346445"/>
                </a:cubicBezTo>
                <a:lnTo>
                  <a:pt x="362260" y="487907"/>
                </a:lnTo>
                <a:cubicBezTo>
                  <a:pt x="342622" y="507545"/>
                  <a:pt x="266503" y="522665"/>
                  <a:pt x="191861" y="528226"/>
                </a:cubicBezTo>
                <a:cubicBezTo>
                  <a:pt x="197336" y="453584"/>
                  <a:pt x="212456" y="377465"/>
                  <a:pt x="232180" y="357827"/>
                </a:cubicBezTo>
                <a:lnTo>
                  <a:pt x="373556" y="216452"/>
                </a:lnTo>
                <a:cubicBezTo>
                  <a:pt x="390761" y="199073"/>
                  <a:pt x="413875" y="189601"/>
                  <a:pt x="438553" y="189601"/>
                </a:cubicBezTo>
                <a:close/>
                <a:moveTo>
                  <a:pt x="438553" y="141636"/>
                </a:moveTo>
                <a:cubicBezTo>
                  <a:pt x="402666" y="141636"/>
                  <a:pt x="366778" y="155278"/>
                  <a:pt x="339581" y="182476"/>
                </a:cubicBezTo>
                <a:lnTo>
                  <a:pt x="198205" y="323852"/>
                </a:lnTo>
                <a:cubicBezTo>
                  <a:pt x="143723" y="378335"/>
                  <a:pt x="141637" y="578364"/>
                  <a:pt x="141637" y="578364"/>
                </a:cubicBezTo>
                <a:cubicBezTo>
                  <a:pt x="141637" y="578364"/>
                  <a:pt x="341753" y="576278"/>
                  <a:pt x="396149" y="521796"/>
                </a:cubicBezTo>
                <a:lnTo>
                  <a:pt x="537524" y="380420"/>
                </a:lnTo>
                <a:cubicBezTo>
                  <a:pt x="592007" y="325938"/>
                  <a:pt x="592007" y="236872"/>
                  <a:pt x="537524" y="182476"/>
                </a:cubicBezTo>
                <a:cubicBezTo>
                  <a:pt x="510327" y="155191"/>
                  <a:pt x="474440" y="141636"/>
                  <a:pt x="438553" y="141636"/>
                </a:cubicBezTo>
                <a:close/>
                <a:moveTo>
                  <a:pt x="120000" y="0"/>
                </a:moveTo>
                <a:lnTo>
                  <a:pt x="600000" y="0"/>
                </a:lnTo>
                <a:cubicBezTo>
                  <a:pt x="666040" y="0"/>
                  <a:pt x="720000" y="54048"/>
                  <a:pt x="720000" y="120000"/>
                </a:cubicBezTo>
                <a:lnTo>
                  <a:pt x="720000" y="600000"/>
                </a:lnTo>
                <a:cubicBezTo>
                  <a:pt x="720000" y="666039"/>
                  <a:pt x="666040" y="720000"/>
                  <a:pt x="600000" y="720000"/>
                </a:cubicBezTo>
                <a:lnTo>
                  <a:pt x="120000" y="720000"/>
                </a:lnTo>
                <a:cubicBezTo>
                  <a:pt x="53961" y="720000"/>
                  <a:pt x="0" y="666039"/>
                  <a:pt x="0" y="600000"/>
                </a:cubicBezTo>
                <a:lnTo>
                  <a:pt x="0" y="120000"/>
                </a:lnTo>
                <a:cubicBezTo>
                  <a:pt x="0" y="53961"/>
                  <a:pt x="53961" y="0"/>
                  <a:pt x="120000" y="0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/>
            <a:endParaRPr kumimoji="1" lang="zh-CN" altLang="en-US"/>
          </a:p>
        </p:txBody>
      </p:sp>
      <p:sp>
        <p:nvSpPr>
          <p:cNvPr id="17" name="标题 1"/>
          <p:cNvSpPr txBox="1"/>
          <p:nvPr/>
        </p:nvSpPr>
        <p:spPr>
          <a:xfrm>
            <a:off x="962475" y="450990"/>
            <a:ext cx="10671175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ctr"/>
            <a:r>
              <a:rPr kumimoji="1" lang="en-US" altLang="zh-CN" sz="28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Protocolos</a:t>
            </a:r>
            <a:r>
              <a:rPr kumimoji="1" lang="en-US" altLang="zh-CN" sz="28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 Clave</a:t>
            </a:r>
            <a:endParaRPr kumimoji="1" lang="zh-CN" altLang="en-US" dirty="0"/>
          </a:p>
        </p:txBody>
      </p:sp>
      <p:pic>
        <p:nvPicPr>
          <p:cNvPr id="20" name="Imagen 19">
            <a:extLst>
              <a:ext uri="{FF2B5EF4-FFF2-40B4-BE49-F238E27FC236}">
                <a16:creationId xmlns:a16="http://schemas.microsoft.com/office/drawing/2014/main" id="{2F36D34E-2233-54F9-E82E-899BB47D7D3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/>
          <p:cNvSpPr txBox="1"/>
          <p:nvPr/>
        </p:nvSpPr>
        <p:spPr>
          <a:xfrm>
            <a:off x="1210308" y="1769390"/>
            <a:ext cx="3425191" cy="110799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/>
          <a:lstStyle/>
          <a:p>
            <a:pPr algn="l"/>
            <a:r>
              <a:rPr kumimoji="1" lang="en-US" altLang="zh-CN" sz="66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PART.</a:t>
            </a: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1210308" y="2955645"/>
            <a:ext cx="7011708" cy="156966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/>
          <a:lstStyle/>
          <a:p>
            <a:pPr algn="l"/>
            <a:r>
              <a:rPr kumimoji="1" lang="en-US" altLang="zh-CN" sz="3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Análisis de Rendimiento y Disponibilidad</a:t>
            </a: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>
            <a:off x="3278504" y="1769390"/>
            <a:ext cx="2220589" cy="110799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/>
          <a:lstStyle/>
          <a:p>
            <a:pPr algn="r"/>
            <a:r>
              <a:rPr kumimoji="1" lang="en-US" altLang="zh-CN" sz="66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 02</a:t>
            </a:r>
            <a:endParaRPr kumimoji="1" lang="zh-CN" altLang="en-US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C708223E-E9C0-353B-6612-98AEE8D9419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BF9711-A483-7B2E-F1E1-1708FC02FD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A5BE6F42-065F-5B3A-4CD1-DF9A34E689CF}"/>
              </a:ext>
            </a:extLst>
          </p:cNvPr>
          <p:cNvSpPr txBox="1"/>
          <p:nvPr/>
        </p:nvSpPr>
        <p:spPr>
          <a:xfrm>
            <a:off x="2205582" y="1958912"/>
            <a:ext cx="310918" cy="310918"/>
          </a:xfrm>
          <a:custGeom>
            <a:avLst/>
            <a:gdLst>
              <a:gd name="connsiteX0" fmla="*/ 457070 w 720001"/>
              <a:gd name="connsiteY0" fmla="*/ 57166 h 720001"/>
              <a:gd name="connsiteX1" fmla="*/ 457070 w 720001"/>
              <a:gd name="connsiteY1" fmla="*/ 263017 h 720001"/>
              <a:gd name="connsiteX2" fmla="*/ 662921 w 720001"/>
              <a:gd name="connsiteY2" fmla="*/ 263017 h 720001"/>
              <a:gd name="connsiteX3" fmla="*/ 647393 w 720001"/>
              <a:gd name="connsiteY3" fmla="*/ 212704 h 720001"/>
              <a:gd name="connsiteX4" fmla="*/ 591008 w 720001"/>
              <a:gd name="connsiteY4" fmla="*/ 129079 h 720001"/>
              <a:gd name="connsiteX5" fmla="*/ 507383 w 720001"/>
              <a:gd name="connsiteY5" fmla="*/ 72694 h 720001"/>
              <a:gd name="connsiteX6" fmla="*/ 457070 w 720001"/>
              <a:gd name="connsiteY6" fmla="*/ 57166 h 720001"/>
              <a:gd name="connsiteX7" fmla="*/ 307952 w 720001"/>
              <a:gd name="connsiteY7" fmla="*/ 56386 h 720001"/>
              <a:gd name="connsiteX8" fmla="*/ 240115 w 720001"/>
              <a:gd name="connsiteY8" fmla="*/ 76251 h 720001"/>
              <a:gd name="connsiteX9" fmla="*/ 142092 w 720001"/>
              <a:gd name="connsiteY9" fmla="*/ 142179 h 720001"/>
              <a:gd name="connsiteX10" fmla="*/ 76077 w 720001"/>
              <a:gd name="connsiteY10" fmla="*/ 240116 h 720001"/>
              <a:gd name="connsiteX11" fmla="*/ 51874 w 720001"/>
              <a:gd name="connsiteY11" fmla="*/ 360000 h 720001"/>
              <a:gd name="connsiteX12" fmla="*/ 76077 w 720001"/>
              <a:gd name="connsiteY12" fmla="*/ 479885 h 720001"/>
              <a:gd name="connsiteX13" fmla="*/ 142092 w 720001"/>
              <a:gd name="connsiteY13" fmla="*/ 577822 h 720001"/>
              <a:gd name="connsiteX14" fmla="*/ 240029 w 720001"/>
              <a:gd name="connsiteY14" fmla="*/ 643837 h 720001"/>
              <a:gd name="connsiteX15" fmla="*/ 359913 w 720001"/>
              <a:gd name="connsiteY15" fmla="*/ 668039 h 720001"/>
              <a:gd name="connsiteX16" fmla="*/ 479798 w 720001"/>
              <a:gd name="connsiteY16" fmla="*/ 643837 h 720001"/>
              <a:gd name="connsiteX17" fmla="*/ 577735 w 720001"/>
              <a:gd name="connsiteY17" fmla="*/ 577822 h 720001"/>
              <a:gd name="connsiteX18" fmla="*/ 643750 w 720001"/>
              <a:gd name="connsiteY18" fmla="*/ 479885 h 720001"/>
              <a:gd name="connsiteX19" fmla="*/ 663615 w 720001"/>
              <a:gd name="connsiteY19" fmla="*/ 412049 h 720001"/>
              <a:gd name="connsiteX20" fmla="*/ 360000 w 720001"/>
              <a:gd name="connsiteY20" fmla="*/ 412049 h 720001"/>
              <a:gd name="connsiteX21" fmla="*/ 307952 w 720001"/>
              <a:gd name="connsiteY21" fmla="*/ 360000 h 720001"/>
              <a:gd name="connsiteX22" fmla="*/ 405022 w 720001"/>
              <a:gd name="connsiteY22" fmla="*/ 0 h 720001"/>
              <a:gd name="connsiteX23" fmla="*/ 720001 w 720001"/>
              <a:gd name="connsiteY23" fmla="*/ 314979 h 720001"/>
              <a:gd name="connsiteX24" fmla="*/ 405022 w 720001"/>
              <a:gd name="connsiteY24" fmla="*/ 314979 h 720001"/>
              <a:gd name="connsiteX25" fmla="*/ 360000 w 720001"/>
              <a:gd name="connsiteY25" fmla="*/ 0 h 720001"/>
              <a:gd name="connsiteX26" fmla="*/ 360000 w 720001"/>
              <a:gd name="connsiteY26" fmla="*/ 360000 h 720001"/>
              <a:gd name="connsiteX27" fmla="*/ 720001 w 720001"/>
              <a:gd name="connsiteY27" fmla="*/ 360000 h 720001"/>
              <a:gd name="connsiteX28" fmla="*/ 360000 w 720001"/>
              <a:gd name="connsiteY28" fmla="*/ 720001 h 720001"/>
              <a:gd name="connsiteX29" fmla="*/ 0 w 720001"/>
              <a:gd name="connsiteY29" fmla="*/ 360000 h 720001"/>
              <a:gd name="connsiteX30" fmla="*/ 360000 w 720001"/>
              <a:gd name="connsiteY30" fmla="*/ 0 h 720001"/>
            </a:gdLst>
            <a:ahLst/>
            <a:cxnLst/>
            <a:rect l="l" t="t" r="r" b="b"/>
            <a:pathLst>
              <a:path w="720001" h="720001">
                <a:moveTo>
                  <a:pt x="457070" y="57166"/>
                </a:moveTo>
                <a:lnTo>
                  <a:pt x="457070" y="263017"/>
                </a:lnTo>
                <a:lnTo>
                  <a:pt x="662921" y="263017"/>
                </a:lnTo>
                <a:cubicBezTo>
                  <a:pt x="659451" y="245755"/>
                  <a:pt x="654246" y="229012"/>
                  <a:pt x="647393" y="212704"/>
                </a:cubicBezTo>
                <a:cubicBezTo>
                  <a:pt x="634121" y="181388"/>
                  <a:pt x="615210" y="153282"/>
                  <a:pt x="591008" y="129079"/>
                </a:cubicBezTo>
                <a:cubicBezTo>
                  <a:pt x="566806" y="104877"/>
                  <a:pt x="538699" y="85966"/>
                  <a:pt x="507383" y="72694"/>
                </a:cubicBezTo>
                <a:cubicBezTo>
                  <a:pt x="491075" y="65755"/>
                  <a:pt x="474246" y="60636"/>
                  <a:pt x="457070" y="57166"/>
                </a:cubicBezTo>
                <a:close/>
                <a:moveTo>
                  <a:pt x="307952" y="56386"/>
                </a:moveTo>
                <a:cubicBezTo>
                  <a:pt x="284703" y="60376"/>
                  <a:pt x="262062" y="66969"/>
                  <a:pt x="240115" y="76251"/>
                </a:cubicBezTo>
                <a:cubicBezTo>
                  <a:pt x="203508" y="91778"/>
                  <a:pt x="170544" y="113986"/>
                  <a:pt x="142092" y="142179"/>
                </a:cubicBezTo>
                <a:cubicBezTo>
                  <a:pt x="113812" y="170545"/>
                  <a:pt x="91605" y="203422"/>
                  <a:pt x="76077" y="240116"/>
                </a:cubicBezTo>
                <a:cubicBezTo>
                  <a:pt x="60029" y="278111"/>
                  <a:pt x="51874" y="318362"/>
                  <a:pt x="51874" y="360000"/>
                </a:cubicBezTo>
                <a:cubicBezTo>
                  <a:pt x="51874" y="401639"/>
                  <a:pt x="60029" y="441976"/>
                  <a:pt x="76077" y="479885"/>
                </a:cubicBezTo>
                <a:cubicBezTo>
                  <a:pt x="91605" y="516579"/>
                  <a:pt x="113812" y="549543"/>
                  <a:pt x="142092" y="577822"/>
                </a:cubicBezTo>
                <a:cubicBezTo>
                  <a:pt x="170458" y="606102"/>
                  <a:pt x="203335" y="628309"/>
                  <a:pt x="240029" y="643837"/>
                </a:cubicBezTo>
                <a:cubicBezTo>
                  <a:pt x="278024" y="659885"/>
                  <a:pt x="318275" y="668039"/>
                  <a:pt x="359913" y="668039"/>
                </a:cubicBezTo>
                <a:cubicBezTo>
                  <a:pt x="401552" y="668039"/>
                  <a:pt x="441890" y="659885"/>
                  <a:pt x="479798" y="643837"/>
                </a:cubicBezTo>
                <a:cubicBezTo>
                  <a:pt x="516492" y="628309"/>
                  <a:pt x="549456" y="606102"/>
                  <a:pt x="577735" y="577822"/>
                </a:cubicBezTo>
                <a:cubicBezTo>
                  <a:pt x="606015" y="549456"/>
                  <a:pt x="628222" y="516579"/>
                  <a:pt x="643750" y="479885"/>
                </a:cubicBezTo>
                <a:cubicBezTo>
                  <a:pt x="653032" y="457938"/>
                  <a:pt x="659625" y="435297"/>
                  <a:pt x="663615" y="412049"/>
                </a:cubicBezTo>
                <a:lnTo>
                  <a:pt x="360000" y="412049"/>
                </a:lnTo>
                <a:cubicBezTo>
                  <a:pt x="331287" y="412049"/>
                  <a:pt x="307952" y="388714"/>
                  <a:pt x="307952" y="360000"/>
                </a:cubicBezTo>
                <a:close/>
                <a:moveTo>
                  <a:pt x="405022" y="0"/>
                </a:moveTo>
                <a:cubicBezTo>
                  <a:pt x="578950" y="0"/>
                  <a:pt x="720001" y="141051"/>
                  <a:pt x="720001" y="314979"/>
                </a:cubicBezTo>
                <a:lnTo>
                  <a:pt x="405022" y="314979"/>
                </a:lnTo>
                <a:close/>
                <a:moveTo>
                  <a:pt x="360000" y="0"/>
                </a:moveTo>
                <a:lnTo>
                  <a:pt x="360000" y="360000"/>
                </a:lnTo>
                <a:lnTo>
                  <a:pt x="720001" y="360000"/>
                </a:lnTo>
                <a:cubicBezTo>
                  <a:pt x="720001" y="558825"/>
                  <a:pt x="558824" y="720001"/>
                  <a:pt x="360000" y="720001"/>
                </a:cubicBezTo>
                <a:cubicBezTo>
                  <a:pt x="161176" y="720001"/>
                  <a:pt x="0" y="558825"/>
                  <a:pt x="0" y="360000"/>
                </a:cubicBezTo>
                <a:cubicBezTo>
                  <a:pt x="0" y="161176"/>
                  <a:pt x="161176" y="0"/>
                  <a:pt x="360000" y="0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/>
            <a:endParaRPr kumimoji="1" lang="zh-CN" altLang="en-US"/>
          </a:p>
        </p:txBody>
      </p:sp>
      <p:sp>
        <p:nvSpPr>
          <p:cNvPr id="10" name="标题 1">
            <a:extLst>
              <a:ext uri="{FF2B5EF4-FFF2-40B4-BE49-F238E27FC236}">
                <a16:creationId xmlns:a16="http://schemas.microsoft.com/office/drawing/2014/main" id="{F11925C5-0132-14A1-9349-E5B69CDA985F}"/>
              </a:ext>
            </a:extLst>
          </p:cNvPr>
          <p:cNvSpPr txBox="1"/>
          <p:nvPr/>
        </p:nvSpPr>
        <p:spPr>
          <a:xfrm>
            <a:off x="4389006" y="2025725"/>
            <a:ext cx="5976251" cy="2164794"/>
          </a:xfrm>
          <a:prstGeom prst="rect">
            <a:avLst/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标题 1">
            <a:extLst>
              <a:ext uri="{FF2B5EF4-FFF2-40B4-BE49-F238E27FC236}">
                <a16:creationId xmlns:a16="http://schemas.microsoft.com/office/drawing/2014/main" id="{74E8ADF4-9926-655D-036C-C0E202C664F4}"/>
              </a:ext>
            </a:extLst>
          </p:cNvPr>
          <p:cNvSpPr txBox="1"/>
          <p:nvPr/>
        </p:nvSpPr>
        <p:spPr>
          <a:xfrm>
            <a:off x="5940541" y="1829426"/>
            <a:ext cx="310918" cy="287621"/>
          </a:xfrm>
          <a:custGeom>
            <a:avLst/>
            <a:gdLst>
              <a:gd name="connsiteX0" fmla="*/ 56258 w 778320"/>
              <a:gd name="connsiteY0" fmla="*/ 333700 h 720001"/>
              <a:gd name="connsiteX1" fmla="*/ 56258 w 778320"/>
              <a:gd name="connsiteY1" fmla="*/ 627457 h 720001"/>
              <a:gd name="connsiteX2" fmla="*/ 66946 w 778320"/>
              <a:gd name="connsiteY2" fmla="*/ 653054 h 720001"/>
              <a:gd name="connsiteX3" fmla="*/ 92544 w 778320"/>
              <a:gd name="connsiteY3" fmla="*/ 663743 h 720001"/>
              <a:gd name="connsiteX4" fmla="*/ 685683 w 778320"/>
              <a:gd name="connsiteY4" fmla="*/ 663743 h 720001"/>
              <a:gd name="connsiteX5" fmla="*/ 711281 w 778320"/>
              <a:gd name="connsiteY5" fmla="*/ 653054 h 720001"/>
              <a:gd name="connsiteX6" fmla="*/ 721969 w 778320"/>
              <a:gd name="connsiteY6" fmla="*/ 627457 h 720001"/>
              <a:gd name="connsiteX7" fmla="*/ 721969 w 778320"/>
              <a:gd name="connsiteY7" fmla="*/ 333700 h 720001"/>
              <a:gd name="connsiteX8" fmla="*/ 92544 w 778320"/>
              <a:gd name="connsiteY8" fmla="*/ 142049 h 720001"/>
              <a:gd name="connsiteX9" fmla="*/ 56258 w 778320"/>
              <a:gd name="connsiteY9" fmla="*/ 178336 h 720001"/>
              <a:gd name="connsiteX10" fmla="*/ 56258 w 778320"/>
              <a:gd name="connsiteY10" fmla="*/ 277443 h 720001"/>
              <a:gd name="connsiteX11" fmla="*/ 721969 w 778320"/>
              <a:gd name="connsiteY11" fmla="*/ 277443 h 720001"/>
              <a:gd name="connsiteX12" fmla="*/ 721969 w 778320"/>
              <a:gd name="connsiteY12" fmla="*/ 178336 h 720001"/>
              <a:gd name="connsiteX13" fmla="*/ 685683 w 778320"/>
              <a:gd name="connsiteY13" fmla="*/ 142049 h 720001"/>
              <a:gd name="connsiteX14" fmla="*/ 561355 w 778320"/>
              <a:gd name="connsiteY14" fmla="*/ 142049 h 720001"/>
              <a:gd name="connsiteX15" fmla="*/ 561355 w 778320"/>
              <a:gd name="connsiteY15" fmla="*/ 201026 h 720001"/>
              <a:gd name="connsiteX16" fmla="*/ 533226 w 778320"/>
              <a:gd name="connsiteY16" fmla="*/ 229249 h 720001"/>
              <a:gd name="connsiteX17" fmla="*/ 505097 w 778320"/>
              <a:gd name="connsiteY17" fmla="*/ 201120 h 720001"/>
              <a:gd name="connsiteX18" fmla="*/ 505097 w 778320"/>
              <a:gd name="connsiteY18" fmla="*/ 142049 h 720001"/>
              <a:gd name="connsiteX19" fmla="*/ 273129 w 778320"/>
              <a:gd name="connsiteY19" fmla="*/ 142049 h 720001"/>
              <a:gd name="connsiteX20" fmla="*/ 273129 w 778320"/>
              <a:gd name="connsiteY20" fmla="*/ 201026 h 720001"/>
              <a:gd name="connsiteX21" fmla="*/ 245001 w 778320"/>
              <a:gd name="connsiteY21" fmla="*/ 229249 h 720001"/>
              <a:gd name="connsiteX22" fmla="*/ 216872 w 778320"/>
              <a:gd name="connsiteY22" fmla="*/ 201120 h 720001"/>
              <a:gd name="connsiteX23" fmla="*/ 216872 w 778320"/>
              <a:gd name="connsiteY23" fmla="*/ 142049 h 720001"/>
              <a:gd name="connsiteX24" fmla="*/ 245001 w 778320"/>
              <a:gd name="connsiteY24" fmla="*/ 0 h 720001"/>
              <a:gd name="connsiteX25" fmla="*/ 273129 w 778320"/>
              <a:gd name="connsiteY25" fmla="*/ 28129 h 720001"/>
              <a:gd name="connsiteX26" fmla="*/ 273129 w 778320"/>
              <a:gd name="connsiteY26" fmla="*/ 85792 h 720001"/>
              <a:gd name="connsiteX27" fmla="*/ 505097 w 778320"/>
              <a:gd name="connsiteY27" fmla="*/ 85792 h 720001"/>
              <a:gd name="connsiteX28" fmla="*/ 505097 w 778320"/>
              <a:gd name="connsiteY28" fmla="*/ 28129 h 720001"/>
              <a:gd name="connsiteX29" fmla="*/ 533226 w 778320"/>
              <a:gd name="connsiteY29" fmla="*/ 0 h 720001"/>
              <a:gd name="connsiteX30" fmla="*/ 561355 w 778320"/>
              <a:gd name="connsiteY30" fmla="*/ 28129 h 720001"/>
              <a:gd name="connsiteX31" fmla="*/ 561355 w 778320"/>
              <a:gd name="connsiteY31" fmla="*/ 85792 h 720001"/>
              <a:gd name="connsiteX32" fmla="*/ 685683 w 778320"/>
              <a:gd name="connsiteY32" fmla="*/ 85792 h 720001"/>
              <a:gd name="connsiteX33" fmla="*/ 778320 w 778320"/>
              <a:gd name="connsiteY33" fmla="*/ 178336 h 720001"/>
              <a:gd name="connsiteX34" fmla="*/ 778320 w 778320"/>
              <a:gd name="connsiteY34" fmla="*/ 627457 h 720001"/>
              <a:gd name="connsiteX35" fmla="*/ 685777 w 778320"/>
              <a:gd name="connsiteY35" fmla="*/ 720001 h 720001"/>
              <a:gd name="connsiteX36" fmla="*/ 92544 w 778320"/>
              <a:gd name="connsiteY36" fmla="*/ 720001 h 720001"/>
              <a:gd name="connsiteX37" fmla="*/ 0 w 778320"/>
              <a:gd name="connsiteY37" fmla="*/ 627457 h 720001"/>
              <a:gd name="connsiteX38" fmla="*/ 0 w 778320"/>
              <a:gd name="connsiteY38" fmla="*/ 333700 h 720001"/>
              <a:gd name="connsiteX39" fmla="*/ 0 w 778320"/>
              <a:gd name="connsiteY39" fmla="*/ 277443 h 720001"/>
              <a:gd name="connsiteX40" fmla="*/ 0 w 778320"/>
              <a:gd name="connsiteY40" fmla="*/ 178336 h 720001"/>
              <a:gd name="connsiteX41" fmla="*/ 92544 w 778320"/>
              <a:gd name="connsiteY41" fmla="*/ 85792 h 720001"/>
              <a:gd name="connsiteX42" fmla="*/ 216872 w 778320"/>
              <a:gd name="connsiteY42" fmla="*/ 85792 h 720001"/>
              <a:gd name="connsiteX43" fmla="*/ 216872 w 778320"/>
              <a:gd name="connsiteY43" fmla="*/ 28129 h 720001"/>
              <a:gd name="connsiteX44" fmla="*/ 245001 w 778320"/>
              <a:gd name="connsiteY44" fmla="*/ 0 h 720001"/>
            </a:gdLst>
            <a:ahLst/>
            <a:cxnLst/>
            <a:rect l="l" t="t" r="r" b="b"/>
            <a:pathLst>
              <a:path w="778320" h="720001">
                <a:moveTo>
                  <a:pt x="56258" y="333700"/>
                </a:moveTo>
                <a:lnTo>
                  <a:pt x="56258" y="627457"/>
                </a:lnTo>
                <a:cubicBezTo>
                  <a:pt x="56258" y="637115"/>
                  <a:pt x="60008" y="646116"/>
                  <a:pt x="66946" y="653054"/>
                </a:cubicBezTo>
                <a:cubicBezTo>
                  <a:pt x="73885" y="659899"/>
                  <a:pt x="82980" y="663743"/>
                  <a:pt x="92544" y="663743"/>
                </a:cubicBezTo>
                <a:lnTo>
                  <a:pt x="685683" y="663743"/>
                </a:lnTo>
                <a:cubicBezTo>
                  <a:pt x="695341" y="663743"/>
                  <a:pt x="704342" y="659993"/>
                  <a:pt x="711281" y="653054"/>
                </a:cubicBezTo>
                <a:cubicBezTo>
                  <a:pt x="718125" y="646116"/>
                  <a:pt x="721969" y="637021"/>
                  <a:pt x="721969" y="627457"/>
                </a:cubicBezTo>
                <a:lnTo>
                  <a:pt x="721969" y="333700"/>
                </a:lnTo>
                <a:close/>
                <a:moveTo>
                  <a:pt x="92544" y="142049"/>
                </a:moveTo>
                <a:cubicBezTo>
                  <a:pt x="72478" y="142049"/>
                  <a:pt x="56258" y="158364"/>
                  <a:pt x="56258" y="178336"/>
                </a:cubicBezTo>
                <a:lnTo>
                  <a:pt x="56258" y="277443"/>
                </a:lnTo>
                <a:lnTo>
                  <a:pt x="721969" y="277443"/>
                </a:lnTo>
                <a:lnTo>
                  <a:pt x="721969" y="178336"/>
                </a:lnTo>
                <a:cubicBezTo>
                  <a:pt x="721969" y="158270"/>
                  <a:pt x="705655" y="142049"/>
                  <a:pt x="685683" y="142049"/>
                </a:cubicBezTo>
                <a:lnTo>
                  <a:pt x="561355" y="142049"/>
                </a:lnTo>
                <a:lnTo>
                  <a:pt x="561355" y="201026"/>
                </a:lnTo>
                <a:cubicBezTo>
                  <a:pt x="561355" y="216591"/>
                  <a:pt x="548790" y="229249"/>
                  <a:pt x="533226" y="229249"/>
                </a:cubicBezTo>
                <a:cubicBezTo>
                  <a:pt x="517661" y="229249"/>
                  <a:pt x="505097" y="216685"/>
                  <a:pt x="505097" y="201120"/>
                </a:cubicBezTo>
                <a:lnTo>
                  <a:pt x="505097" y="142049"/>
                </a:lnTo>
                <a:lnTo>
                  <a:pt x="273129" y="142049"/>
                </a:lnTo>
                <a:lnTo>
                  <a:pt x="273129" y="201026"/>
                </a:lnTo>
                <a:cubicBezTo>
                  <a:pt x="273129" y="216591"/>
                  <a:pt x="260565" y="229249"/>
                  <a:pt x="245001" y="229249"/>
                </a:cubicBezTo>
                <a:cubicBezTo>
                  <a:pt x="229436" y="229249"/>
                  <a:pt x="216872" y="216685"/>
                  <a:pt x="216872" y="201120"/>
                </a:cubicBezTo>
                <a:lnTo>
                  <a:pt x="216872" y="142049"/>
                </a:lnTo>
                <a:close/>
                <a:moveTo>
                  <a:pt x="245001" y="0"/>
                </a:moveTo>
                <a:cubicBezTo>
                  <a:pt x="260565" y="0"/>
                  <a:pt x="273129" y="12564"/>
                  <a:pt x="273129" y="28129"/>
                </a:cubicBezTo>
                <a:lnTo>
                  <a:pt x="273129" y="85792"/>
                </a:lnTo>
                <a:lnTo>
                  <a:pt x="505097" y="85792"/>
                </a:lnTo>
                <a:lnTo>
                  <a:pt x="505097" y="28129"/>
                </a:lnTo>
                <a:cubicBezTo>
                  <a:pt x="505097" y="12564"/>
                  <a:pt x="517661" y="0"/>
                  <a:pt x="533226" y="0"/>
                </a:cubicBezTo>
                <a:cubicBezTo>
                  <a:pt x="548790" y="0"/>
                  <a:pt x="561355" y="12564"/>
                  <a:pt x="561355" y="28129"/>
                </a:cubicBezTo>
                <a:lnTo>
                  <a:pt x="561355" y="85792"/>
                </a:lnTo>
                <a:lnTo>
                  <a:pt x="685683" y="85792"/>
                </a:lnTo>
                <a:cubicBezTo>
                  <a:pt x="736784" y="85792"/>
                  <a:pt x="778227" y="127235"/>
                  <a:pt x="778320" y="178336"/>
                </a:cubicBezTo>
                <a:lnTo>
                  <a:pt x="778320" y="627457"/>
                </a:lnTo>
                <a:cubicBezTo>
                  <a:pt x="778320" y="678370"/>
                  <a:pt x="736690" y="720001"/>
                  <a:pt x="685777" y="720001"/>
                </a:cubicBezTo>
                <a:lnTo>
                  <a:pt x="92544" y="720001"/>
                </a:lnTo>
                <a:cubicBezTo>
                  <a:pt x="41631" y="720001"/>
                  <a:pt x="0" y="678370"/>
                  <a:pt x="0" y="627457"/>
                </a:cubicBezTo>
                <a:lnTo>
                  <a:pt x="0" y="333700"/>
                </a:lnTo>
                <a:lnTo>
                  <a:pt x="0" y="277443"/>
                </a:lnTo>
                <a:lnTo>
                  <a:pt x="0" y="178336"/>
                </a:lnTo>
                <a:cubicBezTo>
                  <a:pt x="0" y="127235"/>
                  <a:pt x="41443" y="85792"/>
                  <a:pt x="92544" y="85792"/>
                </a:cubicBezTo>
                <a:lnTo>
                  <a:pt x="216872" y="85792"/>
                </a:lnTo>
                <a:lnTo>
                  <a:pt x="216872" y="28129"/>
                </a:lnTo>
                <a:cubicBezTo>
                  <a:pt x="216872" y="12564"/>
                  <a:pt x="229436" y="0"/>
                  <a:pt x="245001" y="0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/>
            <a:endParaRPr kumimoji="1" lang="zh-CN" altLang="en-US"/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22C23864-0A1A-606E-05FF-AF9156580B29}"/>
              </a:ext>
            </a:extLst>
          </p:cNvPr>
          <p:cNvSpPr txBox="1"/>
          <p:nvPr/>
        </p:nvSpPr>
        <p:spPr>
          <a:xfrm>
            <a:off x="4535076" y="2151816"/>
            <a:ext cx="5511684" cy="191405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lvl="0"/>
            <a:r>
              <a:rPr lang="es-EC" sz="1400" b="1" dirty="0"/>
              <a:t>Métrica Clave:</a:t>
            </a:r>
            <a:r>
              <a:rPr lang="es-EC" sz="1400" dirty="0"/>
              <a:t> El porcentaje de tiempo que un servicio está operativo. Es el famoso "número de nueves".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s-EC" sz="1400" b="1" dirty="0"/>
              <a:t>99.9%</a:t>
            </a:r>
            <a:r>
              <a:rPr lang="es-EC" sz="1400" dirty="0"/>
              <a:t> (Tres nueves): ~8.76 horas de caída al año. (Aceptable para servicios internos no críticos).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s-EC" sz="1400" b="1" dirty="0"/>
              <a:t>99.99%</a:t>
            </a:r>
            <a:r>
              <a:rPr lang="es-EC" sz="1400" dirty="0"/>
              <a:t> (Cuatro nueves): ~52.6 minutos de caída al año. (Estándar para servicios críticos).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s-EC" sz="1400" b="1" dirty="0"/>
              <a:t>99.999%</a:t>
            </a:r>
            <a:r>
              <a:rPr lang="es-EC" sz="1400" dirty="0"/>
              <a:t> (Cinco nueves): ~5.26 minutos de caída al año. (Nivel de </a:t>
            </a:r>
            <a:r>
              <a:rPr lang="es-EC" sz="1400" i="1" dirty="0"/>
              <a:t>Carrier-Grade</a:t>
            </a:r>
            <a:r>
              <a:rPr lang="es-EC" sz="1400" dirty="0"/>
              <a:t> o banca).</a:t>
            </a:r>
          </a:p>
        </p:txBody>
      </p:sp>
      <p:sp>
        <p:nvSpPr>
          <p:cNvPr id="16" name="标题 1">
            <a:extLst>
              <a:ext uri="{FF2B5EF4-FFF2-40B4-BE49-F238E27FC236}">
                <a16:creationId xmlns:a16="http://schemas.microsoft.com/office/drawing/2014/main" id="{D96668A8-17F3-7F54-7ABF-3647CEDF76E8}"/>
              </a:ext>
            </a:extLst>
          </p:cNvPr>
          <p:cNvSpPr txBox="1"/>
          <p:nvPr/>
        </p:nvSpPr>
        <p:spPr>
          <a:xfrm>
            <a:off x="4389006" y="4316610"/>
            <a:ext cx="3401284" cy="2164794"/>
          </a:xfrm>
          <a:prstGeom prst="rect">
            <a:avLst/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标题 1">
            <a:extLst>
              <a:ext uri="{FF2B5EF4-FFF2-40B4-BE49-F238E27FC236}">
                <a16:creationId xmlns:a16="http://schemas.microsoft.com/office/drawing/2014/main" id="{4FD8665F-AA53-F025-FA0E-ECCB8F775015}"/>
              </a:ext>
            </a:extLst>
          </p:cNvPr>
          <p:cNvSpPr txBox="1"/>
          <p:nvPr/>
        </p:nvSpPr>
        <p:spPr>
          <a:xfrm>
            <a:off x="9662798" y="1985784"/>
            <a:ext cx="310918" cy="257173"/>
          </a:xfrm>
          <a:custGeom>
            <a:avLst/>
            <a:gdLst>
              <a:gd name="connsiteX0" fmla="*/ 153878 w 870468"/>
              <a:gd name="connsiteY0" fmla="*/ 353026 h 720000"/>
              <a:gd name="connsiteX1" fmla="*/ 449972 w 870468"/>
              <a:gd name="connsiteY1" fmla="*/ 353026 h 720000"/>
              <a:gd name="connsiteX2" fmla="*/ 489985 w 870468"/>
              <a:gd name="connsiteY2" fmla="*/ 393039 h 720000"/>
              <a:gd name="connsiteX3" fmla="*/ 449972 w 870468"/>
              <a:gd name="connsiteY3" fmla="*/ 433051 h 720000"/>
              <a:gd name="connsiteX4" fmla="*/ 153878 w 870468"/>
              <a:gd name="connsiteY4" fmla="*/ 433051 h 720000"/>
              <a:gd name="connsiteX5" fmla="*/ 113865 w 870468"/>
              <a:gd name="connsiteY5" fmla="*/ 393039 h 720000"/>
              <a:gd name="connsiteX6" fmla="*/ 153878 w 870468"/>
              <a:gd name="connsiteY6" fmla="*/ 353026 h 720000"/>
              <a:gd name="connsiteX7" fmla="*/ 68708 w 870468"/>
              <a:gd name="connsiteY7" fmla="*/ 275858 h 720000"/>
              <a:gd name="connsiteX8" fmla="*/ 68708 w 870468"/>
              <a:gd name="connsiteY8" fmla="*/ 603735 h 720000"/>
              <a:gd name="connsiteX9" fmla="*/ 116266 w 870468"/>
              <a:gd name="connsiteY9" fmla="*/ 651293 h 720000"/>
              <a:gd name="connsiteX10" fmla="*/ 598821 w 870468"/>
              <a:gd name="connsiteY10" fmla="*/ 651293 h 720000"/>
              <a:gd name="connsiteX11" fmla="*/ 754317 w 870468"/>
              <a:gd name="connsiteY11" fmla="*/ 651293 h 720000"/>
              <a:gd name="connsiteX12" fmla="*/ 801875 w 870468"/>
              <a:gd name="connsiteY12" fmla="*/ 603735 h 720000"/>
              <a:gd name="connsiteX13" fmla="*/ 801875 w 870468"/>
              <a:gd name="connsiteY13" fmla="*/ 275858 h 720000"/>
              <a:gd name="connsiteX14" fmla="*/ 598821 w 870468"/>
              <a:gd name="connsiteY14" fmla="*/ 275858 h 720000"/>
              <a:gd name="connsiteX15" fmla="*/ 116266 w 870468"/>
              <a:gd name="connsiteY15" fmla="*/ 68593 h 720000"/>
              <a:gd name="connsiteX16" fmla="*/ 68708 w 870468"/>
              <a:gd name="connsiteY16" fmla="*/ 116151 h 720000"/>
              <a:gd name="connsiteX17" fmla="*/ 68708 w 870468"/>
              <a:gd name="connsiteY17" fmla="*/ 207265 h 720000"/>
              <a:gd name="connsiteX18" fmla="*/ 598821 w 870468"/>
              <a:gd name="connsiteY18" fmla="*/ 207265 h 720000"/>
              <a:gd name="connsiteX19" fmla="*/ 801875 w 870468"/>
              <a:gd name="connsiteY19" fmla="*/ 207265 h 720000"/>
              <a:gd name="connsiteX20" fmla="*/ 801875 w 870468"/>
              <a:gd name="connsiteY20" fmla="*/ 116151 h 720000"/>
              <a:gd name="connsiteX21" fmla="*/ 754317 w 870468"/>
              <a:gd name="connsiteY21" fmla="*/ 68593 h 720000"/>
              <a:gd name="connsiteX22" fmla="*/ 598821 w 870468"/>
              <a:gd name="connsiteY22" fmla="*/ 68593 h 720000"/>
              <a:gd name="connsiteX23" fmla="*/ 116266 w 870468"/>
              <a:gd name="connsiteY23" fmla="*/ 0 h 720000"/>
              <a:gd name="connsiteX24" fmla="*/ 598821 w 870468"/>
              <a:gd name="connsiteY24" fmla="*/ 0 h 720000"/>
              <a:gd name="connsiteX25" fmla="*/ 754317 w 870468"/>
              <a:gd name="connsiteY25" fmla="*/ 0 h 720000"/>
              <a:gd name="connsiteX26" fmla="*/ 870468 w 870468"/>
              <a:gd name="connsiteY26" fmla="*/ 116151 h 720000"/>
              <a:gd name="connsiteX27" fmla="*/ 870468 w 870468"/>
              <a:gd name="connsiteY27" fmla="*/ 241562 h 720000"/>
              <a:gd name="connsiteX28" fmla="*/ 870468 w 870468"/>
              <a:gd name="connsiteY28" fmla="*/ 603735 h 720000"/>
              <a:gd name="connsiteX29" fmla="*/ 754317 w 870468"/>
              <a:gd name="connsiteY29" fmla="*/ 720000 h 720000"/>
              <a:gd name="connsiteX30" fmla="*/ 598821 w 870468"/>
              <a:gd name="connsiteY30" fmla="*/ 720000 h 720000"/>
              <a:gd name="connsiteX31" fmla="*/ 116266 w 870468"/>
              <a:gd name="connsiteY31" fmla="*/ 720000 h 720000"/>
              <a:gd name="connsiteX32" fmla="*/ 115 w 870468"/>
              <a:gd name="connsiteY32" fmla="*/ 603849 h 720000"/>
              <a:gd name="connsiteX33" fmla="*/ 115 w 870468"/>
              <a:gd name="connsiteY33" fmla="*/ 241841 h 720000"/>
              <a:gd name="connsiteX34" fmla="*/ 0 w 870468"/>
              <a:gd name="connsiteY34" fmla="*/ 241562 h 720000"/>
              <a:gd name="connsiteX35" fmla="*/ 115 w 870468"/>
              <a:gd name="connsiteY35" fmla="*/ 241284 h 720000"/>
              <a:gd name="connsiteX36" fmla="*/ 115 w 870468"/>
              <a:gd name="connsiteY36" fmla="*/ 116151 h 720000"/>
              <a:gd name="connsiteX37" fmla="*/ 116266 w 870468"/>
              <a:gd name="connsiteY37" fmla="*/ 0 h 720000"/>
            </a:gdLst>
            <a:ahLst/>
            <a:cxnLst/>
            <a:rect l="l" t="t" r="r" b="b"/>
            <a:pathLst>
              <a:path w="870468" h="720000">
                <a:moveTo>
                  <a:pt x="153878" y="353026"/>
                </a:moveTo>
                <a:lnTo>
                  <a:pt x="449972" y="353026"/>
                </a:lnTo>
                <a:cubicBezTo>
                  <a:pt x="472036" y="353026"/>
                  <a:pt x="489985" y="370975"/>
                  <a:pt x="489985" y="393039"/>
                </a:cubicBezTo>
                <a:cubicBezTo>
                  <a:pt x="489985" y="415103"/>
                  <a:pt x="472150" y="433051"/>
                  <a:pt x="449972" y="433051"/>
                </a:cubicBezTo>
                <a:lnTo>
                  <a:pt x="153878" y="433051"/>
                </a:lnTo>
                <a:cubicBezTo>
                  <a:pt x="131814" y="433051"/>
                  <a:pt x="113865" y="415103"/>
                  <a:pt x="113865" y="393039"/>
                </a:cubicBezTo>
                <a:cubicBezTo>
                  <a:pt x="113865" y="370975"/>
                  <a:pt x="131814" y="353026"/>
                  <a:pt x="153878" y="353026"/>
                </a:cubicBezTo>
                <a:close/>
                <a:moveTo>
                  <a:pt x="68708" y="275858"/>
                </a:moveTo>
                <a:lnTo>
                  <a:pt x="68708" y="603735"/>
                </a:lnTo>
                <a:cubicBezTo>
                  <a:pt x="68708" y="630029"/>
                  <a:pt x="90087" y="651293"/>
                  <a:pt x="116266" y="651293"/>
                </a:cubicBezTo>
                <a:lnTo>
                  <a:pt x="598821" y="651293"/>
                </a:lnTo>
                <a:lnTo>
                  <a:pt x="754317" y="651293"/>
                </a:lnTo>
                <a:cubicBezTo>
                  <a:pt x="780611" y="651293"/>
                  <a:pt x="801875" y="629915"/>
                  <a:pt x="801875" y="603735"/>
                </a:cubicBezTo>
                <a:lnTo>
                  <a:pt x="801875" y="275858"/>
                </a:lnTo>
                <a:lnTo>
                  <a:pt x="598821" y="275858"/>
                </a:lnTo>
                <a:close/>
                <a:moveTo>
                  <a:pt x="116266" y="68593"/>
                </a:moveTo>
                <a:cubicBezTo>
                  <a:pt x="89972" y="68593"/>
                  <a:pt x="68708" y="89972"/>
                  <a:pt x="68708" y="116151"/>
                </a:cubicBezTo>
                <a:lnTo>
                  <a:pt x="68708" y="207265"/>
                </a:lnTo>
                <a:lnTo>
                  <a:pt x="598821" y="207265"/>
                </a:lnTo>
                <a:lnTo>
                  <a:pt x="801875" y="207265"/>
                </a:lnTo>
                <a:lnTo>
                  <a:pt x="801875" y="116151"/>
                </a:lnTo>
                <a:cubicBezTo>
                  <a:pt x="801875" y="89857"/>
                  <a:pt x="780497" y="68593"/>
                  <a:pt x="754317" y="68593"/>
                </a:cubicBezTo>
                <a:lnTo>
                  <a:pt x="598821" y="68593"/>
                </a:lnTo>
                <a:close/>
                <a:moveTo>
                  <a:pt x="116266" y="0"/>
                </a:moveTo>
                <a:lnTo>
                  <a:pt x="598821" y="0"/>
                </a:lnTo>
                <a:lnTo>
                  <a:pt x="754317" y="0"/>
                </a:lnTo>
                <a:cubicBezTo>
                  <a:pt x="818338" y="0"/>
                  <a:pt x="870468" y="52131"/>
                  <a:pt x="870468" y="116151"/>
                </a:cubicBezTo>
                <a:lnTo>
                  <a:pt x="870468" y="241562"/>
                </a:lnTo>
                <a:lnTo>
                  <a:pt x="870468" y="603735"/>
                </a:lnTo>
                <a:cubicBezTo>
                  <a:pt x="870468" y="667869"/>
                  <a:pt x="818338" y="720000"/>
                  <a:pt x="754317" y="720000"/>
                </a:cubicBezTo>
                <a:lnTo>
                  <a:pt x="598821" y="720000"/>
                </a:lnTo>
                <a:lnTo>
                  <a:pt x="116266" y="720000"/>
                </a:lnTo>
                <a:cubicBezTo>
                  <a:pt x="52246" y="720000"/>
                  <a:pt x="115" y="667869"/>
                  <a:pt x="115" y="603849"/>
                </a:cubicBezTo>
                <a:lnTo>
                  <a:pt x="115" y="241841"/>
                </a:lnTo>
                <a:lnTo>
                  <a:pt x="0" y="241562"/>
                </a:lnTo>
                <a:lnTo>
                  <a:pt x="115" y="241284"/>
                </a:lnTo>
                <a:lnTo>
                  <a:pt x="115" y="116151"/>
                </a:lnTo>
                <a:cubicBezTo>
                  <a:pt x="115" y="52131"/>
                  <a:pt x="52246" y="0"/>
                  <a:pt x="116266" y="0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/>
            <a:endParaRPr kumimoji="1" lang="zh-CN" altLang="en-US"/>
          </a:p>
        </p:txBody>
      </p:sp>
      <p:sp>
        <p:nvSpPr>
          <p:cNvPr id="20" name="标题 1">
            <a:extLst>
              <a:ext uri="{FF2B5EF4-FFF2-40B4-BE49-F238E27FC236}">
                <a16:creationId xmlns:a16="http://schemas.microsoft.com/office/drawing/2014/main" id="{57549FFE-3C7C-9AC7-43C9-E3F2104D3565}"/>
              </a:ext>
            </a:extLst>
          </p:cNvPr>
          <p:cNvSpPr txBox="1"/>
          <p:nvPr/>
        </p:nvSpPr>
        <p:spPr>
          <a:xfrm>
            <a:off x="4182239" y="4639461"/>
            <a:ext cx="3194892" cy="135119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lvl="1"/>
            <a:r>
              <a:rPr lang="es-EC" sz="1400" b="1" dirty="0"/>
              <a:t>Gestión</a:t>
            </a:r>
            <a:r>
              <a:rPr lang="es-EC" sz="1400" dirty="0"/>
              <a:t>: El rol del administrador del centro de cómputo es medir esto (usando las herramientas) y reportarlo contra los Acuerdos de Nivel de Servicio (</a:t>
            </a:r>
            <a:r>
              <a:rPr lang="es-EC" sz="1400" dirty="0" err="1"/>
              <a:t>SLAs</a:t>
            </a:r>
            <a:r>
              <a:rPr lang="es-EC" sz="1400" dirty="0"/>
              <a:t>) definidos con el negocio.</a:t>
            </a:r>
          </a:p>
        </p:txBody>
      </p:sp>
      <p:sp>
        <p:nvSpPr>
          <p:cNvPr id="22" name="标题 1">
            <a:extLst>
              <a:ext uri="{FF2B5EF4-FFF2-40B4-BE49-F238E27FC236}">
                <a16:creationId xmlns:a16="http://schemas.microsoft.com/office/drawing/2014/main" id="{1B26B41F-043B-EC5D-1B2A-A0F92345B902}"/>
              </a:ext>
            </a:extLst>
          </p:cNvPr>
          <p:cNvSpPr txBox="1"/>
          <p:nvPr/>
        </p:nvSpPr>
        <p:spPr>
          <a:xfrm>
            <a:off x="3026662" y="605655"/>
            <a:ext cx="8171180" cy="65532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bg1">
                  <a:lumMod val="95000"/>
                </a:schemeClr>
              </a:gs>
              <a:gs pos="80000">
                <a:schemeClr val="bg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r>
              <a:rPr kumimoji="1" lang="es-EC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cs typeface="poppins-bold"/>
              </a:rPr>
              <a:t>Análisis de Rendimiento y Disponibilidad</a:t>
            </a:r>
          </a:p>
        </p:txBody>
      </p:sp>
      <p:sp>
        <p:nvSpPr>
          <p:cNvPr id="23" name="标题 1">
            <a:extLst>
              <a:ext uri="{FF2B5EF4-FFF2-40B4-BE49-F238E27FC236}">
                <a16:creationId xmlns:a16="http://schemas.microsoft.com/office/drawing/2014/main" id="{E91AF125-0DBA-2A35-E650-AE02C177B22E}"/>
              </a:ext>
            </a:extLst>
          </p:cNvPr>
          <p:cNvSpPr txBox="1"/>
          <p:nvPr/>
        </p:nvSpPr>
        <p:spPr>
          <a:xfrm>
            <a:off x="4389006" y="1542940"/>
            <a:ext cx="5976251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r>
              <a:rPr lang="es-EC" b="1" dirty="0"/>
              <a:t>Disponibilidad (</a:t>
            </a:r>
            <a:r>
              <a:rPr lang="es-EC" b="1" dirty="0" err="1"/>
              <a:t>Availability</a:t>
            </a:r>
            <a:r>
              <a:rPr lang="es-EC" b="1" dirty="0"/>
              <a:t>)</a:t>
            </a:r>
            <a:endParaRPr lang="es-EC" dirty="0"/>
          </a:p>
        </p:txBody>
      </p:sp>
      <p:sp>
        <p:nvSpPr>
          <p:cNvPr id="27" name="标题 1">
            <a:extLst>
              <a:ext uri="{FF2B5EF4-FFF2-40B4-BE49-F238E27FC236}">
                <a16:creationId xmlns:a16="http://schemas.microsoft.com/office/drawing/2014/main" id="{F960BE8C-97E6-4FAA-1C2B-15970EA3EAB1}"/>
              </a:ext>
            </a:extLst>
          </p:cNvPr>
          <p:cNvSpPr txBox="1"/>
          <p:nvPr/>
        </p:nvSpPr>
        <p:spPr>
          <a:xfrm>
            <a:off x="660399" y="1675887"/>
            <a:ext cx="3031491" cy="252241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254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/>
            <a:endParaRPr kumimoji="1" lang="zh-CN" altLang="en-US"/>
          </a:p>
        </p:txBody>
      </p:sp>
      <p:sp>
        <p:nvSpPr>
          <p:cNvPr id="28" name="标题 1">
            <a:extLst>
              <a:ext uri="{FF2B5EF4-FFF2-40B4-BE49-F238E27FC236}">
                <a16:creationId xmlns:a16="http://schemas.microsoft.com/office/drawing/2014/main" id="{72D3374A-1A4C-B762-1005-50A13E18C84B}"/>
              </a:ext>
            </a:extLst>
          </p:cNvPr>
          <p:cNvSpPr txBox="1"/>
          <p:nvPr/>
        </p:nvSpPr>
        <p:spPr>
          <a:xfrm>
            <a:off x="911521" y="1879426"/>
            <a:ext cx="2529245" cy="223939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r>
              <a:rPr lang="es-EC" dirty="0"/>
              <a:t>Recolectar datos (monitoreo) no sirve de nada si no se analizan. El objetivo de este análisis es doble: garantizar que los servicios estén </a:t>
            </a:r>
            <a:r>
              <a:rPr lang="es-EC" i="1" dirty="0"/>
              <a:t>disponibles</a:t>
            </a:r>
            <a:r>
              <a:rPr lang="es-EC" dirty="0"/>
              <a:t> y que funcionen </a:t>
            </a:r>
            <a:r>
              <a:rPr lang="es-EC" i="1" dirty="0"/>
              <a:t>bien</a:t>
            </a:r>
            <a:r>
              <a:rPr lang="es-EC" dirty="0"/>
              <a:t>.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C9E87996-B09C-2D18-4353-4D0CA0231F7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4593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1319539" y="1879632"/>
            <a:ext cx="1675682" cy="1823386"/>
          </a:xfrm>
          <a:custGeom>
            <a:avLst/>
            <a:gdLst>
              <a:gd name="connsiteX0" fmla="*/ 1319463 w 2638926"/>
              <a:gd name="connsiteY0" fmla="*/ 0 h 2871536"/>
              <a:gd name="connsiteX1" fmla="*/ 2638926 w 2638926"/>
              <a:gd name="connsiteY1" fmla="*/ 1319463 h 2871536"/>
              <a:gd name="connsiteX2" fmla="*/ 1454371 w 2638926"/>
              <a:gd name="connsiteY2" fmla="*/ 2632114 h 2871536"/>
              <a:gd name="connsiteX3" fmla="*/ 1438781 w 2638926"/>
              <a:gd name="connsiteY3" fmla="*/ 2632901 h 2871536"/>
              <a:gd name="connsiteX4" fmla="*/ 1319463 w 2638926"/>
              <a:gd name="connsiteY4" fmla="*/ 2871536 h 2871536"/>
              <a:gd name="connsiteX5" fmla="*/ 1200146 w 2638926"/>
              <a:gd name="connsiteY5" fmla="*/ 2632901 h 2871536"/>
              <a:gd name="connsiteX6" fmla="*/ 1184556 w 2638926"/>
              <a:gd name="connsiteY6" fmla="*/ 2632114 h 2871536"/>
              <a:gd name="connsiteX7" fmla="*/ 0 w 2638926"/>
              <a:gd name="connsiteY7" fmla="*/ 1319463 h 2871536"/>
              <a:gd name="connsiteX8" fmla="*/ 1319463 w 2638926"/>
              <a:gd name="connsiteY8" fmla="*/ 0 h 2871536"/>
            </a:gdLst>
            <a:ahLst/>
            <a:cxnLst/>
            <a:rect l="l" t="t" r="r" b="b"/>
            <a:pathLst>
              <a:path w="2638926" h="2871536">
                <a:moveTo>
                  <a:pt x="1319463" y="0"/>
                </a:moveTo>
                <a:cubicBezTo>
                  <a:pt x="2048182" y="0"/>
                  <a:pt x="2638926" y="590744"/>
                  <a:pt x="2638926" y="1319463"/>
                </a:cubicBezTo>
                <a:cubicBezTo>
                  <a:pt x="2638926" y="2002637"/>
                  <a:pt x="2119718" y="2564544"/>
                  <a:pt x="1454371" y="2632114"/>
                </a:cubicBezTo>
                <a:lnTo>
                  <a:pt x="1438781" y="2632901"/>
                </a:lnTo>
                <a:lnTo>
                  <a:pt x="1319463" y="2871536"/>
                </a:lnTo>
                <a:lnTo>
                  <a:pt x="1200146" y="2632901"/>
                </a:lnTo>
                <a:lnTo>
                  <a:pt x="1184556" y="2632114"/>
                </a:lnTo>
                <a:cubicBezTo>
                  <a:pt x="519208" y="2564544"/>
                  <a:pt x="0" y="2002637"/>
                  <a:pt x="0" y="1319463"/>
                </a:cubicBezTo>
                <a:cubicBezTo>
                  <a:pt x="0" y="590744"/>
                  <a:pt x="590744" y="0"/>
                  <a:pt x="1319463" y="0"/>
                </a:cubicBez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1395937" y="1957360"/>
            <a:ext cx="1522886" cy="1522884"/>
          </a:xfrm>
          <a:prstGeom prst="ellipse">
            <a:avLst/>
          </a:prstGeom>
          <a:solidFill>
            <a:schemeClr val="bg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660400" y="4293750"/>
            <a:ext cx="2993960" cy="205865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lvl="0"/>
            <a:r>
              <a:rPr lang="es-EC" sz="1600" dirty="0"/>
              <a:t>Un servicio puede estar "disponible" (el servidor responde al ping) pero ser "inusable" (la web tarda 30 segundos en cargar). El rendimiento mide la </a:t>
            </a:r>
            <a:r>
              <a:rPr lang="es-EC" sz="1600" i="1" dirty="0"/>
              <a:t>calidad</a:t>
            </a:r>
            <a:r>
              <a:rPr lang="es-EC" sz="1600" dirty="0"/>
              <a:t> de esa disponibilidad.</a:t>
            </a:r>
          </a:p>
        </p:txBody>
      </p:sp>
      <p:sp>
        <p:nvSpPr>
          <p:cNvPr id="7" name="标题 1"/>
          <p:cNvSpPr txBox="1"/>
          <p:nvPr/>
        </p:nvSpPr>
        <p:spPr>
          <a:xfrm>
            <a:off x="1237597" y="1931960"/>
            <a:ext cx="534930" cy="53493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1378629" y="2072992"/>
            <a:ext cx="252864" cy="252864"/>
          </a:xfrm>
          <a:custGeom>
            <a:avLst/>
            <a:gdLst>
              <a:gd name="connsiteX0" fmla="*/ 457070 w 720001"/>
              <a:gd name="connsiteY0" fmla="*/ 57166 h 720001"/>
              <a:gd name="connsiteX1" fmla="*/ 457070 w 720001"/>
              <a:gd name="connsiteY1" fmla="*/ 263017 h 720001"/>
              <a:gd name="connsiteX2" fmla="*/ 662921 w 720001"/>
              <a:gd name="connsiteY2" fmla="*/ 263017 h 720001"/>
              <a:gd name="connsiteX3" fmla="*/ 647393 w 720001"/>
              <a:gd name="connsiteY3" fmla="*/ 212704 h 720001"/>
              <a:gd name="connsiteX4" fmla="*/ 591008 w 720001"/>
              <a:gd name="connsiteY4" fmla="*/ 129079 h 720001"/>
              <a:gd name="connsiteX5" fmla="*/ 507383 w 720001"/>
              <a:gd name="connsiteY5" fmla="*/ 72694 h 720001"/>
              <a:gd name="connsiteX6" fmla="*/ 457070 w 720001"/>
              <a:gd name="connsiteY6" fmla="*/ 57166 h 720001"/>
              <a:gd name="connsiteX7" fmla="*/ 307952 w 720001"/>
              <a:gd name="connsiteY7" fmla="*/ 56386 h 720001"/>
              <a:gd name="connsiteX8" fmla="*/ 240115 w 720001"/>
              <a:gd name="connsiteY8" fmla="*/ 76251 h 720001"/>
              <a:gd name="connsiteX9" fmla="*/ 142092 w 720001"/>
              <a:gd name="connsiteY9" fmla="*/ 142179 h 720001"/>
              <a:gd name="connsiteX10" fmla="*/ 76077 w 720001"/>
              <a:gd name="connsiteY10" fmla="*/ 240116 h 720001"/>
              <a:gd name="connsiteX11" fmla="*/ 51874 w 720001"/>
              <a:gd name="connsiteY11" fmla="*/ 360000 h 720001"/>
              <a:gd name="connsiteX12" fmla="*/ 76077 w 720001"/>
              <a:gd name="connsiteY12" fmla="*/ 479885 h 720001"/>
              <a:gd name="connsiteX13" fmla="*/ 142092 w 720001"/>
              <a:gd name="connsiteY13" fmla="*/ 577822 h 720001"/>
              <a:gd name="connsiteX14" fmla="*/ 240029 w 720001"/>
              <a:gd name="connsiteY14" fmla="*/ 643837 h 720001"/>
              <a:gd name="connsiteX15" fmla="*/ 359913 w 720001"/>
              <a:gd name="connsiteY15" fmla="*/ 668039 h 720001"/>
              <a:gd name="connsiteX16" fmla="*/ 479798 w 720001"/>
              <a:gd name="connsiteY16" fmla="*/ 643837 h 720001"/>
              <a:gd name="connsiteX17" fmla="*/ 577735 w 720001"/>
              <a:gd name="connsiteY17" fmla="*/ 577822 h 720001"/>
              <a:gd name="connsiteX18" fmla="*/ 643750 w 720001"/>
              <a:gd name="connsiteY18" fmla="*/ 479885 h 720001"/>
              <a:gd name="connsiteX19" fmla="*/ 663615 w 720001"/>
              <a:gd name="connsiteY19" fmla="*/ 412049 h 720001"/>
              <a:gd name="connsiteX20" fmla="*/ 360000 w 720001"/>
              <a:gd name="connsiteY20" fmla="*/ 412049 h 720001"/>
              <a:gd name="connsiteX21" fmla="*/ 307952 w 720001"/>
              <a:gd name="connsiteY21" fmla="*/ 360000 h 720001"/>
              <a:gd name="connsiteX22" fmla="*/ 405022 w 720001"/>
              <a:gd name="connsiteY22" fmla="*/ 0 h 720001"/>
              <a:gd name="connsiteX23" fmla="*/ 720001 w 720001"/>
              <a:gd name="connsiteY23" fmla="*/ 314979 h 720001"/>
              <a:gd name="connsiteX24" fmla="*/ 405022 w 720001"/>
              <a:gd name="connsiteY24" fmla="*/ 314979 h 720001"/>
              <a:gd name="connsiteX25" fmla="*/ 360000 w 720001"/>
              <a:gd name="connsiteY25" fmla="*/ 0 h 720001"/>
              <a:gd name="connsiteX26" fmla="*/ 360000 w 720001"/>
              <a:gd name="connsiteY26" fmla="*/ 360000 h 720001"/>
              <a:gd name="connsiteX27" fmla="*/ 720001 w 720001"/>
              <a:gd name="connsiteY27" fmla="*/ 360000 h 720001"/>
              <a:gd name="connsiteX28" fmla="*/ 360000 w 720001"/>
              <a:gd name="connsiteY28" fmla="*/ 720001 h 720001"/>
              <a:gd name="connsiteX29" fmla="*/ 0 w 720001"/>
              <a:gd name="connsiteY29" fmla="*/ 360000 h 720001"/>
              <a:gd name="connsiteX30" fmla="*/ 360000 w 720001"/>
              <a:gd name="connsiteY30" fmla="*/ 0 h 720001"/>
            </a:gdLst>
            <a:ahLst/>
            <a:cxnLst/>
            <a:rect l="l" t="t" r="r" b="b"/>
            <a:pathLst>
              <a:path w="720001" h="720001">
                <a:moveTo>
                  <a:pt x="457070" y="57166"/>
                </a:moveTo>
                <a:lnTo>
                  <a:pt x="457070" y="263017"/>
                </a:lnTo>
                <a:lnTo>
                  <a:pt x="662921" y="263017"/>
                </a:lnTo>
                <a:cubicBezTo>
                  <a:pt x="659451" y="245755"/>
                  <a:pt x="654246" y="229012"/>
                  <a:pt x="647393" y="212704"/>
                </a:cubicBezTo>
                <a:cubicBezTo>
                  <a:pt x="634121" y="181388"/>
                  <a:pt x="615210" y="153282"/>
                  <a:pt x="591008" y="129079"/>
                </a:cubicBezTo>
                <a:cubicBezTo>
                  <a:pt x="566806" y="104877"/>
                  <a:pt x="538699" y="85966"/>
                  <a:pt x="507383" y="72694"/>
                </a:cubicBezTo>
                <a:cubicBezTo>
                  <a:pt x="491075" y="65755"/>
                  <a:pt x="474246" y="60636"/>
                  <a:pt x="457070" y="57166"/>
                </a:cubicBezTo>
                <a:close/>
                <a:moveTo>
                  <a:pt x="307952" y="56386"/>
                </a:moveTo>
                <a:cubicBezTo>
                  <a:pt x="284703" y="60376"/>
                  <a:pt x="262062" y="66969"/>
                  <a:pt x="240115" y="76251"/>
                </a:cubicBezTo>
                <a:cubicBezTo>
                  <a:pt x="203508" y="91778"/>
                  <a:pt x="170544" y="113986"/>
                  <a:pt x="142092" y="142179"/>
                </a:cubicBezTo>
                <a:cubicBezTo>
                  <a:pt x="113812" y="170545"/>
                  <a:pt x="91605" y="203422"/>
                  <a:pt x="76077" y="240116"/>
                </a:cubicBezTo>
                <a:cubicBezTo>
                  <a:pt x="60029" y="278111"/>
                  <a:pt x="51874" y="318362"/>
                  <a:pt x="51874" y="360000"/>
                </a:cubicBezTo>
                <a:cubicBezTo>
                  <a:pt x="51874" y="401639"/>
                  <a:pt x="60029" y="441976"/>
                  <a:pt x="76077" y="479885"/>
                </a:cubicBezTo>
                <a:cubicBezTo>
                  <a:pt x="91605" y="516579"/>
                  <a:pt x="113812" y="549543"/>
                  <a:pt x="142092" y="577822"/>
                </a:cubicBezTo>
                <a:cubicBezTo>
                  <a:pt x="170458" y="606102"/>
                  <a:pt x="203335" y="628309"/>
                  <a:pt x="240029" y="643837"/>
                </a:cubicBezTo>
                <a:cubicBezTo>
                  <a:pt x="278024" y="659885"/>
                  <a:pt x="318275" y="668039"/>
                  <a:pt x="359913" y="668039"/>
                </a:cubicBezTo>
                <a:cubicBezTo>
                  <a:pt x="401552" y="668039"/>
                  <a:pt x="441890" y="659885"/>
                  <a:pt x="479798" y="643837"/>
                </a:cubicBezTo>
                <a:cubicBezTo>
                  <a:pt x="516492" y="628309"/>
                  <a:pt x="549456" y="606102"/>
                  <a:pt x="577735" y="577822"/>
                </a:cubicBezTo>
                <a:cubicBezTo>
                  <a:pt x="606015" y="549456"/>
                  <a:pt x="628222" y="516579"/>
                  <a:pt x="643750" y="479885"/>
                </a:cubicBezTo>
                <a:cubicBezTo>
                  <a:pt x="653032" y="457938"/>
                  <a:pt x="659625" y="435297"/>
                  <a:pt x="663615" y="412049"/>
                </a:cubicBezTo>
                <a:lnTo>
                  <a:pt x="360000" y="412049"/>
                </a:lnTo>
                <a:cubicBezTo>
                  <a:pt x="331287" y="412049"/>
                  <a:pt x="307952" y="388714"/>
                  <a:pt x="307952" y="360000"/>
                </a:cubicBezTo>
                <a:close/>
                <a:moveTo>
                  <a:pt x="405022" y="0"/>
                </a:moveTo>
                <a:cubicBezTo>
                  <a:pt x="578950" y="0"/>
                  <a:pt x="720001" y="141051"/>
                  <a:pt x="720001" y="314979"/>
                </a:cubicBezTo>
                <a:lnTo>
                  <a:pt x="405022" y="314979"/>
                </a:lnTo>
                <a:close/>
                <a:moveTo>
                  <a:pt x="360000" y="0"/>
                </a:moveTo>
                <a:lnTo>
                  <a:pt x="360000" y="360000"/>
                </a:lnTo>
                <a:lnTo>
                  <a:pt x="720001" y="360000"/>
                </a:lnTo>
                <a:cubicBezTo>
                  <a:pt x="720001" y="558825"/>
                  <a:pt x="558824" y="720001"/>
                  <a:pt x="360000" y="720001"/>
                </a:cubicBezTo>
                <a:cubicBezTo>
                  <a:pt x="161176" y="720001"/>
                  <a:pt x="0" y="558825"/>
                  <a:pt x="0" y="360000"/>
                </a:cubicBezTo>
                <a:cubicBezTo>
                  <a:pt x="0" y="161176"/>
                  <a:pt x="161176" y="0"/>
                  <a:pt x="360000" y="0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/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1703064" y="2337671"/>
            <a:ext cx="908632" cy="88926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/>
            <a:r>
              <a:rPr kumimoji="1" lang="en-US" altLang="zh-CN" sz="4400">
                <a:ln w="12700">
                  <a:noFill/>
                </a:ln>
                <a:solidFill>
                  <a:srgbClr val="4472C4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01</a:t>
            </a: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5251809" y="1879632"/>
            <a:ext cx="1675682" cy="1823386"/>
          </a:xfrm>
          <a:custGeom>
            <a:avLst/>
            <a:gdLst>
              <a:gd name="connsiteX0" fmla="*/ 1319463 w 2638926"/>
              <a:gd name="connsiteY0" fmla="*/ 0 h 2871536"/>
              <a:gd name="connsiteX1" fmla="*/ 2638926 w 2638926"/>
              <a:gd name="connsiteY1" fmla="*/ 1319463 h 2871536"/>
              <a:gd name="connsiteX2" fmla="*/ 1454371 w 2638926"/>
              <a:gd name="connsiteY2" fmla="*/ 2632114 h 2871536"/>
              <a:gd name="connsiteX3" fmla="*/ 1438781 w 2638926"/>
              <a:gd name="connsiteY3" fmla="*/ 2632901 h 2871536"/>
              <a:gd name="connsiteX4" fmla="*/ 1319463 w 2638926"/>
              <a:gd name="connsiteY4" fmla="*/ 2871536 h 2871536"/>
              <a:gd name="connsiteX5" fmla="*/ 1200146 w 2638926"/>
              <a:gd name="connsiteY5" fmla="*/ 2632901 h 2871536"/>
              <a:gd name="connsiteX6" fmla="*/ 1184556 w 2638926"/>
              <a:gd name="connsiteY6" fmla="*/ 2632114 h 2871536"/>
              <a:gd name="connsiteX7" fmla="*/ 0 w 2638926"/>
              <a:gd name="connsiteY7" fmla="*/ 1319463 h 2871536"/>
              <a:gd name="connsiteX8" fmla="*/ 1319463 w 2638926"/>
              <a:gd name="connsiteY8" fmla="*/ 0 h 2871536"/>
            </a:gdLst>
            <a:ahLst/>
            <a:cxnLst/>
            <a:rect l="l" t="t" r="r" b="b"/>
            <a:pathLst>
              <a:path w="2638926" h="2871536">
                <a:moveTo>
                  <a:pt x="1319463" y="0"/>
                </a:moveTo>
                <a:cubicBezTo>
                  <a:pt x="2048182" y="0"/>
                  <a:pt x="2638926" y="590744"/>
                  <a:pt x="2638926" y="1319463"/>
                </a:cubicBezTo>
                <a:cubicBezTo>
                  <a:pt x="2638926" y="2002637"/>
                  <a:pt x="2119718" y="2564544"/>
                  <a:pt x="1454371" y="2632114"/>
                </a:cubicBezTo>
                <a:lnTo>
                  <a:pt x="1438781" y="2632901"/>
                </a:lnTo>
                <a:lnTo>
                  <a:pt x="1319463" y="2871536"/>
                </a:lnTo>
                <a:lnTo>
                  <a:pt x="1200146" y="2632901"/>
                </a:lnTo>
                <a:lnTo>
                  <a:pt x="1184556" y="2632114"/>
                </a:lnTo>
                <a:cubicBezTo>
                  <a:pt x="519208" y="2564544"/>
                  <a:pt x="0" y="2002637"/>
                  <a:pt x="0" y="1319463"/>
                </a:cubicBezTo>
                <a:cubicBezTo>
                  <a:pt x="0" y="590744"/>
                  <a:pt x="590744" y="0"/>
                  <a:pt x="1319463" y="0"/>
                </a:cubicBez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5328207" y="1957360"/>
            <a:ext cx="1522886" cy="1522884"/>
          </a:xfrm>
          <a:prstGeom prst="ellipse">
            <a:avLst/>
          </a:prstGeom>
          <a:solidFill>
            <a:schemeClr val="bg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>
            <a:off x="4022137" y="4291746"/>
            <a:ext cx="3563270" cy="235222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lvl="1"/>
            <a:r>
              <a:rPr kumimoji="1" lang="es-EC" sz="1200" b="1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cs typeface="Poppins"/>
              </a:rPr>
              <a:t>Latencia (Ping/RTT): </a:t>
            </a:r>
            <a:r>
              <a:rPr kumimoji="1" lang="es-EC" sz="12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cs typeface="Poppins"/>
              </a:rPr>
              <a:t>El tiempo de ida y vuelta de un paquete. Vital para la sensación de velocidad.</a:t>
            </a:r>
          </a:p>
          <a:p>
            <a:pPr lvl="1"/>
            <a:endParaRPr kumimoji="1" lang="es-EC" sz="1200" dirty="0">
              <a:ln w="12700">
                <a:noFill/>
              </a:ln>
              <a:solidFill>
                <a:srgbClr val="262626">
                  <a:alpha val="100000"/>
                </a:srgbClr>
              </a:solidFill>
              <a:latin typeface="Poppins"/>
              <a:cs typeface="Poppins"/>
            </a:endParaRPr>
          </a:p>
          <a:p>
            <a:pPr lvl="1"/>
            <a:r>
              <a:rPr kumimoji="1" lang="es-EC" sz="1200" b="1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cs typeface="Poppins"/>
              </a:rPr>
              <a:t>Throughput</a:t>
            </a:r>
            <a:r>
              <a:rPr kumimoji="1" lang="es-EC" sz="1200" b="1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cs typeface="Poppins"/>
              </a:rPr>
              <a:t> (Ancho de Banda Efectivo): </a:t>
            </a:r>
            <a:r>
              <a:rPr kumimoji="1" lang="es-EC" sz="12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cs typeface="Poppins"/>
              </a:rPr>
              <a:t>Cuántos datos realmente pueden pasar</a:t>
            </a:r>
          </a:p>
          <a:p>
            <a:pPr lvl="1"/>
            <a:endParaRPr kumimoji="1" lang="es-EC" sz="1200" b="1" dirty="0">
              <a:ln w="12700">
                <a:noFill/>
              </a:ln>
              <a:solidFill>
                <a:srgbClr val="262626">
                  <a:alpha val="100000"/>
                </a:srgbClr>
              </a:solidFill>
              <a:latin typeface="Poppins"/>
              <a:cs typeface="Poppins"/>
            </a:endParaRPr>
          </a:p>
          <a:p>
            <a:pPr lvl="1"/>
            <a:r>
              <a:rPr kumimoji="1" lang="es-EC" sz="1200" b="1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cs typeface="Poppins"/>
              </a:rPr>
              <a:t>Tasa de Errores: </a:t>
            </a:r>
            <a:r>
              <a:rPr kumimoji="1" lang="es-EC" sz="12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cs typeface="Poppins"/>
              </a:rPr>
              <a:t>.</a:t>
            </a:r>
          </a:p>
          <a:p>
            <a:pPr lvl="1"/>
            <a:r>
              <a:rPr kumimoji="1" lang="es-EC" sz="12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cs typeface="Poppins"/>
              </a:rPr>
              <a:t>Porcentaje de solicitudes que fallan (ej. errores HTTP 500).</a:t>
            </a:r>
          </a:p>
          <a:p>
            <a:pPr lvl="1"/>
            <a:endParaRPr kumimoji="1" lang="es-EC" sz="1200" dirty="0">
              <a:ln w="12700">
                <a:noFill/>
              </a:ln>
              <a:solidFill>
                <a:srgbClr val="262626">
                  <a:alpha val="100000"/>
                </a:srgbClr>
              </a:solidFill>
              <a:latin typeface="Poppins"/>
              <a:cs typeface="Poppins"/>
            </a:endParaRPr>
          </a:p>
          <a:p>
            <a:pPr lvl="1"/>
            <a:r>
              <a:rPr kumimoji="1" lang="es-EC" sz="1200" b="1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cs typeface="Poppins"/>
              </a:rPr>
              <a:t>Uso de Recursos: </a:t>
            </a:r>
            <a:r>
              <a:rPr kumimoji="1" lang="es-EC" sz="12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cs typeface="Poppins"/>
              </a:rPr>
              <a:t>CPU, RAM, Disco.</a:t>
            </a:r>
          </a:p>
        </p:txBody>
      </p:sp>
      <p:sp>
        <p:nvSpPr>
          <p:cNvPr id="13" name="标题 1"/>
          <p:cNvSpPr txBox="1"/>
          <p:nvPr/>
        </p:nvSpPr>
        <p:spPr>
          <a:xfrm>
            <a:off x="5169867" y="1931960"/>
            <a:ext cx="534930" cy="53493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>
            <a:off x="5310899" y="2082466"/>
            <a:ext cx="252864" cy="233917"/>
          </a:xfrm>
          <a:custGeom>
            <a:avLst/>
            <a:gdLst>
              <a:gd name="connsiteX0" fmla="*/ 56258 w 778320"/>
              <a:gd name="connsiteY0" fmla="*/ 333700 h 720001"/>
              <a:gd name="connsiteX1" fmla="*/ 56258 w 778320"/>
              <a:gd name="connsiteY1" fmla="*/ 627457 h 720001"/>
              <a:gd name="connsiteX2" fmla="*/ 66946 w 778320"/>
              <a:gd name="connsiteY2" fmla="*/ 653054 h 720001"/>
              <a:gd name="connsiteX3" fmla="*/ 92544 w 778320"/>
              <a:gd name="connsiteY3" fmla="*/ 663743 h 720001"/>
              <a:gd name="connsiteX4" fmla="*/ 685683 w 778320"/>
              <a:gd name="connsiteY4" fmla="*/ 663743 h 720001"/>
              <a:gd name="connsiteX5" fmla="*/ 711281 w 778320"/>
              <a:gd name="connsiteY5" fmla="*/ 653054 h 720001"/>
              <a:gd name="connsiteX6" fmla="*/ 721969 w 778320"/>
              <a:gd name="connsiteY6" fmla="*/ 627457 h 720001"/>
              <a:gd name="connsiteX7" fmla="*/ 721969 w 778320"/>
              <a:gd name="connsiteY7" fmla="*/ 333700 h 720001"/>
              <a:gd name="connsiteX8" fmla="*/ 92544 w 778320"/>
              <a:gd name="connsiteY8" fmla="*/ 142049 h 720001"/>
              <a:gd name="connsiteX9" fmla="*/ 56258 w 778320"/>
              <a:gd name="connsiteY9" fmla="*/ 178336 h 720001"/>
              <a:gd name="connsiteX10" fmla="*/ 56258 w 778320"/>
              <a:gd name="connsiteY10" fmla="*/ 277443 h 720001"/>
              <a:gd name="connsiteX11" fmla="*/ 721969 w 778320"/>
              <a:gd name="connsiteY11" fmla="*/ 277443 h 720001"/>
              <a:gd name="connsiteX12" fmla="*/ 721969 w 778320"/>
              <a:gd name="connsiteY12" fmla="*/ 178336 h 720001"/>
              <a:gd name="connsiteX13" fmla="*/ 685683 w 778320"/>
              <a:gd name="connsiteY13" fmla="*/ 142049 h 720001"/>
              <a:gd name="connsiteX14" fmla="*/ 561355 w 778320"/>
              <a:gd name="connsiteY14" fmla="*/ 142049 h 720001"/>
              <a:gd name="connsiteX15" fmla="*/ 561355 w 778320"/>
              <a:gd name="connsiteY15" fmla="*/ 201026 h 720001"/>
              <a:gd name="connsiteX16" fmla="*/ 533226 w 778320"/>
              <a:gd name="connsiteY16" fmla="*/ 229249 h 720001"/>
              <a:gd name="connsiteX17" fmla="*/ 505097 w 778320"/>
              <a:gd name="connsiteY17" fmla="*/ 201120 h 720001"/>
              <a:gd name="connsiteX18" fmla="*/ 505097 w 778320"/>
              <a:gd name="connsiteY18" fmla="*/ 142049 h 720001"/>
              <a:gd name="connsiteX19" fmla="*/ 273129 w 778320"/>
              <a:gd name="connsiteY19" fmla="*/ 142049 h 720001"/>
              <a:gd name="connsiteX20" fmla="*/ 273129 w 778320"/>
              <a:gd name="connsiteY20" fmla="*/ 201026 h 720001"/>
              <a:gd name="connsiteX21" fmla="*/ 245001 w 778320"/>
              <a:gd name="connsiteY21" fmla="*/ 229249 h 720001"/>
              <a:gd name="connsiteX22" fmla="*/ 216872 w 778320"/>
              <a:gd name="connsiteY22" fmla="*/ 201120 h 720001"/>
              <a:gd name="connsiteX23" fmla="*/ 216872 w 778320"/>
              <a:gd name="connsiteY23" fmla="*/ 142049 h 720001"/>
              <a:gd name="connsiteX24" fmla="*/ 245001 w 778320"/>
              <a:gd name="connsiteY24" fmla="*/ 0 h 720001"/>
              <a:gd name="connsiteX25" fmla="*/ 273129 w 778320"/>
              <a:gd name="connsiteY25" fmla="*/ 28129 h 720001"/>
              <a:gd name="connsiteX26" fmla="*/ 273129 w 778320"/>
              <a:gd name="connsiteY26" fmla="*/ 85792 h 720001"/>
              <a:gd name="connsiteX27" fmla="*/ 505097 w 778320"/>
              <a:gd name="connsiteY27" fmla="*/ 85792 h 720001"/>
              <a:gd name="connsiteX28" fmla="*/ 505097 w 778320"/>
              <a:gd name="connsiteY28" fmla="*/ 28129 h 720001"/>
              <a:gd name="connsiteX29" fmla="*/ 533226 w 778320"/>
              <a:gd name="connsiteY29" fmla="*/ 0 h 720001"/>
              <a:gd name="connsiteX30" fmla="*/ 561355 w 778320"/>
              <a:gd name="connsiteY30" fmla="*/ 28129 h 720001"/>
              <a:gd name="connsiteX31" fmla="*/ 561355 w 778320"/>
              <a:gd name="connsiteY31" fmla="*/ 85792 h 720001"/>
              <a:gd name="connsiteX32" fmla="*/ 685683 w 778320"/>
              <a:gd name="connsiteY32" fmla="*/ 85792 h 720001"/>
              <a:gd name="connsiteX33" fmla="*/ 778320 w 778320"/>
              <a:gd name="connsiteY33" fmla="*/ 178336 h 720001"/>
              <a:gd name="connsiteX34" fmla="*/ 778320 w 778320"/>
              <a:gd name="connsiteY34" fmla="*/ 627457 h 720001"/>
              <a:gd name="connsiteX35" fmla="*/ 685777 w 778320"/>
              <a:gd name="connsiteY35" fmla="*/ 720001 h 720001"/>
              <a:gd name="connsiteX36" fmla="*/ 92544 w 778320"/>
              <a:gd name="connsiteY36" fmla="*/ 720001 h 720001"/>
              <a:gd name="connsiteX37" fmla="*/ 0 w 778320"/>
              <a:gd name="connsiteY37" fmla="*/ 627457 h 720001"/>
              <a:gd name="connsiteX38" fmla="*/ 0 w 778320"/>
              <a:gd name="connsiteY38" fmla="*/ 333700 h 720001"/>
              <a:gd name="connsiteX39" fmla="*/ 0 w 778320"/>
              <a:gd name="connsiteY39" fmla="*/ 277443 h 720001"/>
              <a:gd name="connsiteX40" fmla="*/ 0 w 778320"/>
              <a:gd name="connsiteY40" fmla="*/ 178336 h 720001"/>
              <a:gd name="connsiteX41" fmla="*/ 92544 w 778320"/>
              <a:gd name="connsiteY41" fmla="*/ 85792 h 720001"/>
              <a:gd name="connsiteX42" fmla="*/ 216872 w 778320"/>
              <a:gd name="connsiteY42" fmla="*/ 85792 h 720001"/>
              <a:gd name="connsiteX43" fmla="*/ 216872 w 778320"/>
              <a:gd name="connsiteY43" fmla="*/ 28129 h 720001"/>
              <a:gd name="connsiteX44" fmla="*/ 245001 w 778320"/>
              <a:gd name="connsiteY44" fmla="*/ 0 h 720001"/>
            </a:gdLst>
            <a:ahLst/>
            <a:cxnLst/>
            <a:rect l="l" t="t" r="r" b="b"/>
            <a:pathLst>
              <a:path w="778320" h="720001">
                <a:moveTo>
                  <a:pt x="56258" y="333700"/>
                </a:moveTo>
                <a:lnTo>
                  <a:pt x="56258" y="627457"/>
                </a:lnTo>
                <a:cubicBezTo>
                  <a:pt x="56258" y="637115"/>
                  <a:pt x="60008" y="646116"/>
                  <a:pt x="66946" y="653054"/>
                </a:cubicBezTo>
                <a:cubicBezTo>
                  <a:pt x="73885" y="659899"/>
                  <a:pt x="82980" y="663743"/>
                  <a:pt x="92544" y="663743"/>
                </a:cubicBezTo>
                <a:lnTo>
                  <a:pt x="685683" y="663743"/>
                </a:lnTo>
                <a:cubicBezTo>
                  <a:pt x="695341" y="663743"/>
                  <a:pt x="704342" y="659993"/>
                  <a:pt x="711281" y="653054"/>
                </a:cubicBezTo>
                <a:cubicBezTo>
                  <a:pt x="718125" y="646116"/>
                  <a:pt x="721969" y="637021"/>
                  <a:pt x="721969" y="627457"/>
                </a:cubicBezTo>
                <a:lnTo>
                  <a:pt x="721969" y="333700"/>
                </a:lnTo>
                <a:close/>
                <a:moveTo>
                  <a:pt x="92544" y="142049"/>
                </a:moveTo>
                <a:cubicBezTo>
                  <a:pt x="72478" y="142049"/>
                  <a:pt x="56258" y="158364"/>
                  <a:pt x="56258" y="178336"/>
                </a:cubicBezTo>
                <a:lnTo>
                  <a:pt x="56258" y="277443"/>
                </a:lnTo>
                <a:lnTo>
                  <a:pt x="721969" y="277443"/>
                </a:lnTo>
                <a:lnTo>
                  <a:pt x="721969" y="178336"/>
                </a:lnTo>
                <a:cubicBezTo>
                  <a:pt x="721969" y="158270"/>
                  <a:pt x="705655" y="142049"/>
                  <a:pt x="685683" y="142049"/>
                </a:cubicBezTo>
                <a:lnTo>
                  <a:pt x="561355" y="142049"/>
                </a:lnTo>
                <a:lnTo>
                  <a:pt x="561355" y="201026"/>
                </a:lnTo>
                <a:cubicBezTo>
                  <a:pt x="561355" y="216591"/>
                  <a:pt x="548790" y="229249"/>
                  <a:pt x="533226" y="229249"/>
                </a:cubicBezTo>
                <a:cubicBezTo>
                  <a:pt x="517661" y="229249"/>
                  <a:pt x="505097" y="216685"/>
                  <a:pt x="505097" y="201120"/>
                </a:cubicBezTo>
                <a:lnTo>
                  <a:pt x="505097" y="142049"/>
                </a:lnTo>
                <a:lnTo>
                  <a:pt x="273129" y="142049"/>
                </a:lnTo>
                <a:lnTo>
                  <a:pt x="273129" y="201026"/>
                </a:lnTo>
                <a:cubicBezTo>
                  <a:pt x="273129" y="216591"/>
                  <a:pt x="260565" y="229249"/>
                  <a:pt x="245001" y="229249"/>
                </a:cubicBezTo>
                <a:cubicBezTo>
                  <a:pt x="229436" y="229249"/>
                  <a:pt x="216872" y="216685"/>
                  <a:pt x="216872" y="201120"/>
                </a:cubicBezTo>
                <a:lnTo>
                  <a:pt x="216872" y="142049"/>
                </a:lnTo>
                <a:close/>
                <a:moveTo>
                  <a:pt x="245001" y="0"/>
                </a:moveTo>
                <a:cubicBezTo>
                  <a:pt x="260565" y="0"/>
                  <a:pt x="273129" y="12564"/>
                  <a:pt x="273129" y="28129"/>
                </a:cubicBezTo>
                <a:lnTo>
                  <a:pt x="273129" y="85792"/>
                </a:lnTo>
                <a:lnTo>
                  <a:pt x="505097" y="85792"/>
                </a:lnTo>
                <a:lnTo>
                  <a:pt x="505097" y="28129"/>
                </a:lnTo>
                <a:cubicBezTo>
                  <a:pt x="505097" y="12564"/>
                  <a:pt x="517661" y="0"/>
                  <a:pt x="533226" y="0"/>
                </a:cubicBezTo>
                <a:cubicBezTo>
                  <a:pt x="548790" y="0"/>
                  <a:pt x="561355" y="12564"/>
                  <a:pt x="561355" y="28129"/>
                </a:cubicBezTo>
                <a:lnTo>
                  <a:pt x="561355" y="85792"/>
                </a:lnTo>
                <a:lnTo>
                  <a:pt x="685683" y="85792"/>
                </a:lnTo>
                <a:cubicBezTo>
                  <a:pt x="736784" y="85792"/>
                  <a:pt x="778227" y="127235"/>
                  <a:pt x="778320" y="178336"/>
                </a:cubicBezTo>
                <a:lnTo>
                  <a:pt x="778320" y="627457"/>
                </a:lnTo>
                <a:cubicBezTo>
                  <a:pt x="778320" y="678370"/>
                  <a:pt x="736690" y="720001"/>
                  <a:pt x="685777" y="720001"/>
                </a:cubicBezTo>
                <a:lnTo>
                  <a:pt x="92544" y="720001"/>
                </a:lnTo>
                <a:cubicBezTo>
                  <a:pt x="41631" y="720001"/>
                  <a:pt x="0" y="678370"/>
                  <a:pt x="0" y="627457"/>
                </a:cubicBezTo>
                <a:lnTo>
                  <a:pt x="0" y="333700"/>
                </a:lnTo>
                <a:lnTo>
                  <a:pt x="0" y="277443"/>
                </a:lnTo>
                <a:lnTo>
                  <a:pt x="0" y="178336"/>
                </a:lnTo>
                <a:cubicBezTo>
                  <a:pt x="0" y="127235"/>
                  <a:pt x="41443" y="85792"/>
                  <a:pt x="92544" y="85792"/>
                </a:cubicBezTo>
                <a:lnTo>
                  <a:pt x="216872" y="85792"/>
                </a:lnTo>
                <a:lnTo>
                  <a:pt x="216872" y="28129"/>
                </a:lnTo>
                <a:cubicBezTo>
                  <a:pt x="216872" y="12564"/>
                  <a:pt x="229436" y="0"/>
                  <a:pt x="245001" y="0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/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>
            <a:off x="5635334" y="2337671"/>
            <a:ext cx="908632" cy="88926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/>
            <a:r>
              <a:rPr kumimoji="1" lang="en-US" altLang="zh-CN" sz="4400">
                <a:ln w="12700">
                  <a:noFill/>
                </a:ln>
                <a:solidFill>
                  <a:srgbClr val="4472C4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02</a:t>
            </a:r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>
            <a:off x="9184080" y="1879632"/>
            <a:ext cx="1675682" cy="1823386"/>
          </a:xfrm>
          <a:custGeom>
            <a:avLst/>
            <a:gdLst>
              <a:gd name="connsiteX0" fmla="*/ 1319463 w 2638926"/>
              <a:gd name="connsiteY0" fmla="*/ 0 h 2871536"/>
              <a:gd name="connsiteX1" fmla="*/ 2638926 w 2638926"/>
              <a:gd name="connsiteY1" fmla="*/ 1319463 h 2871536"/>
              <a:gd name="connsiteX2" fmla="*/ 1454371 w 2638926"/>
              <a:gd name="connsiteY2" fmla="*/ 2632114 h 2871536"/>
              <a:gd name="connsiteX3" fmla="*/ 1438781 w 2638926"/>
              <a:gd name="connsiteY3" fmla="*/ 2632901 h 2871536"/>
              <a:gd name="connsiteX4" fmla="*/ 1319463 w 2638926"/>
              <a:gd name="connsiteY4" fmla="*/ 2871536 h 2871536"/>
              <a:gd name="connsiteX5" fmla="*/ 1200146 w 2638926"/>
              <a:gd name="connsiteY5" fmla="*/ 2632901 h 2871536"/>
              <a:gd name="connsiteX6" fmla="*/ 1184556 w 2638926"/>
              <a:gd name="connsiteY6" fmla="*/ 2632114 h 2871536"/>
              <a:gd name="connsiteX7" fmla="*/ 0 w 2638926"/>
              <a:gd name="connsiteY7" fmla="*/ 1319463 h 2871536"/>
              <a:gd name="connsiteX8" fmla="*/ 1319463 w 2638926"/>
              <a:gd name="connsiteY8" fmla="*/ 0 h 2871536"/>
            </a:gdLst>
            <a:ahLst/>
            <a:cxnLst/>
            <a:rect l="l" t="t" r="r" b="b"/>
            <a:pathLst>
              <a:path w="2638926" h="2871536">
                <a:moveTo>
                  <a:pt x="1319463" y="0"/>
                </a:moveTo>
                <a:cubicBezTo>
                  <a:pt x="2048182" y="0"/>
                  <a:pt x="2638926" y="590744"/>
                  <a:pt x="2638926" y="1319463"/>
                </a:cubicBezTo>
                <a:cubicBezTo>
                  <a:pt x="2638926" y="2002637"/>
                  <a:pt x="2119718" y="2564544"/>
                  <a:pt x="1454371" y="2632114"/>
                </a:cubicBezTo>
                <a:lnTo>
                  <a:pt x="1438781" y="2632901"/>
                </a:lnTo>
                <a:lnTo>
                  <a:pt x="1319463" y="2871536"/>
                </a:lnTo>
                <a:lnTo>
                  <a:pt x="1200146" y="2632901"/>
                </a:lnTo>
                <a:lnTo>
                  <a:pt x="1184556" y="2632114"/>
                </a:lnTo>
                <a:cubicBezTo>
                  <a:pt x="519208" y="2564544"/>
                  <a:pt x="0" y="2002637"/>
                  <a:pt x="0" y="1319463"/>
                </a:cubicBezTo>
                <a:cubicBezTo>
                  <a:pt x="0" y="590744"/>
                  <a:pt x="590744" y="0"/>
                  <a:pt x="1319463" y="0"/>
                </a:cubicBez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标题 1"/>
          <p:cNvSpPr txBox="1"/>
          <p:nvPr/>
        </p:nvSpPr>
        <p:spPr>
          <a:xfrm>
            <a:off x="9260477" y="1957360"/>
            <a:ext cx="1522886" cy="1522884"/>
          </a:xfrm>
          <a:prstGeom prst="ellipse">
            <a:avLst/>
          </a:prstGeom>
          <a:solidFill>
            <a:schemeClr val="bg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8" name="标题 1"/>
          <p:cNvSpPr txBox="1"/>
          <p:nvPr/>
        </p:nvSpPr>
        <p:spPr>
          <a:xfrm>
            <a:off x="7763575" y="4450678"/>
            <a:ext cx="4192205" cy="190172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lvl="1"/>
            <a:r>
              <a:rPr kumimoji="1" lang="es-EC" sz="1200" b="1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cs typeface="Poppins"/>
              </a:rPr>
              <a:t>Identificación de Cuellos de Botella: </a:t>
            </a:r>
            <a:r>
              <a:rPr kumimoji="1" lang="es-EC" sz="12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cs typeface="Poppins"/>
              </a:rPr>
              <a:t>"El servicio está lento porque el servidor de base de datos tiene un 100% de espera de E/S de disco".</a:t>
            </a:r>
          </a:p>
          <a:p>
            <a:pPr lvl="1"/>
            <a:endParaRPr kumimoji="1" lang="es-EC" sz="1200" dirty="0">
              <a:ln w="12700">
                <a:noFill/>
              </a:ln>
              <a:solidFill>
                <a:srgbClr val="262626">
                  <a:alpha val="100000"/>
                </a:srgbClr>
              </a:solidFill>
              <a:latin typeface="Poppins"/>
              <a:cs typeface="Poppins"/>
            </a:endParaRPr>
          </a:p>
          <a:p>
            <a:pPr lvl="1"/>
            <a:r>
              <a:rPr kumimoji="1" lang="es-EC" sz="1200" b="1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cs typeface="Poppins"/>
              </a:rPr>
              <a:t>Análisis de Tendencias: </a:t>
            </a:r>
            <a:r>
              <a:rPr kumimoji="1" lang="es-EC" sz="12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cs typeface="Poppins"/>
              </a:rPr>
              <a:t>"El uso de ancho de banda ha crecido un 20% mes a mes. Si la tendencia sigue, saturaremos el enlace en 3 meses". Esto permite justificar presupuestos para actualizaciones antes de que ocurra el fallo.</a:t>
            </a:r>
          </a:p>
        </p:txBody>
      </p:sp>
      <p:sp>
        <p:nvSpPr>
          <p:cNvPr id="19" name="标题 1"/>
          <p:cNvSpPr txBox="1"/>
          <p:nvPr/>
        </p:nvSpPr>
        <p:spPr>
          <a:xfrm>
            <a:off x="9102137" y="1931960"/>
            <a:ext cx="534930" cy="53493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20" name="标题 1"/>
          <p:cNvSpPr txBox="1"/>
          <p:nvPr/>
        </p:nvSpPr>
        <p:spPr>
          <a:xfrm>
            <a:off x="9243169" y="2094847"/>
            <a:ext cx="252864" cy="209154"/>
          </a:xfrm>
          <a:custGeom>
            <a:avLst/>
            <a:gdLst>
              <a:gd name="connsiteX0" fmla="*/ 153878 w 870468"/>
              <a:gd name="connsiteY0" fmla="*/ 353026 h 720000"/>
              <a:gd name="connsiteX1" fmla="*/ 449972 w 870468"/>
              <a:gd name="connsiteY1" fmla="*/ 353026 h 720000"/>
              <a:gd name="connsiteX2" fmla="*/ 489985 w 870468"/>
              <a:gd name="connsiteY2" fmla="*/ 393039 h 720000"/>
              <a:gd name="connsiteX3" fmla="*/ 449972 w 870468"/>
              <a:gd name="connsiteY3" fmla="*/ 433051 h 720000"/>
              <a:gd name="connsiteX4" fmla="*/ 153878 w 870468"/>
              <a:gd name="connsiteY4" fmla="*/ 433051 h 720000"/>
              <a:gd name="connsiteX5" fmla="*/ 113865 w 870468"/>
              <a:gd name="connsiteY5" fmla="*/ 393039 h 720000"/>
              <a:gd name="connsiteX6" fmla="*/ 153878 w 870468"/>
              <a:gd name="connsiteY6" fmla="*/ 353026 h 720000"/>
              <a:gd name="connsiteX7" fmla="*/ 68708 w 870468"/>
              <a:gd name="connsiteY7" fmla="*/ 275858 h 720000"/>
              <a:gd name="connsiteX8" fmla="*/ 68708 w 870468"/>
              <a:gd name="connsiteY8" fmla="*/ 603735 h 720000"/>
              <a:gd name="connsiteX9" fmla="*/ 116266 w 870468"/>
              <a:gd name="connsiteY9" fmla="*/ 651293 h 720000"/>
              <a:gd name="connsiteX10" fmla="*/ 598821 w 870468"/>
              <a:gd name="connsiteY10" fmla="*/ 651293 h 720000"/>
              <a:gd name="connsiteX11" fmla="*/ 754317 w 870468"/>
              <a:gd name="connsiteY11" fmla="*/ 651293 h 720000"/>
              <a:gd name="connsiteX12" fmla="*/ 801875 w 870468"/>
              <a:gd name="connsiteY12" fmla="*/ 603735 h 720000"/>
              <a:gd name="connsiteX13" fmla="*/ 801875 w 870468"/>
              <a:gd name="connsiteY13" fmla="*/ 275858 h 720000"/>
              <a:gd name="connsiteX14" fmla="*/ 598821 w 870468"/>
              <a:gd name="connsiteY14" fmla="*/ 275858 h 720000"/>
              <a:gd name="connsiteX15" fmla="*/ 116266 w 870468"/>
              <a:gd name="connsiteY15" fmla="*/ 68593 h 720000"/>
              <a:gd name="connsiteX16" fmla="*/ 68708 w 870468"/>
              <a:gd name="connsiteY16" fmla="*/ 116151 h 720000"/>
              <a:gd name="connsiteX17" fmla="*/ 68708 w 870468"/>
              <a:gd name="connsiteY17" fmla="*/ 207265 h 720000"/>
              <a:gd name="connsiteX18" fmla="*/ 598821 w 870468"/>
              <a:gd name="connsiteY18" fmla="*/ 207265 h 720000"/>
              <a:gd name="connsiteX19" fmla="*/ 801875 w 870468"/>
              <a:gd name="connsiteY19" fmla="*/ 207265 h 720000"/>
              <a:gd name="connsiteX20" fmla="*/ 801875 w 870468"/>
              <a:gd name="connsiteY20" fmla="*/ 116151 h 720000"/>
              <a:gd name="connsiteX21" fmla="*/ 754317 w 870468"/>
              <a:gd name="connsiteY21" fmla="*/ 68593 h 720000"/>
              <a:gd name="connsiteX22" fmla="*/ 598821 w 870468"/>
              <a:gd name="connsiteY22" fmla="*/ 68593 h 720000"/>
              <a:gd name="connsiteX23" fmla="*/ 116266 w 870468"/>
              <a:gd name="connsiteY23" fmla="*/ 0 h 720000"/>
              <a:gd name="connsiteX24" fmla="*/ 598821 w 870468"/>
              <a:gd name="connsiteY24" fmla="*/ 0 h 720000"/>
              <a:gd name="connsiteX25" fmla="*/ 754317 w 870468"/>
              <a:gd name="connsiteY25" fmla="*/ 0 h 720000"/>
              <a:gd name="connsiteX26" fmla="*/ 870468 w 870468"/>
              <a:gd name="connsiteY26" fmla="*/ 116151 h 720000"/>
              <a:gd name="connsiteX27" fmla="*/ 870468 w 870468"/>
              <a:gd name="connsiteY27" fmla="*/ 241562 h 720000"/>
              <a:gd name="connsiteX28" fmla="*/ 870468 w 870468"/>
              <a:gd name="connsiteY28" fmla="*/ 603735 h 720000"/>
              <a:gd name="connsiteX29" fmla="*/ 754317 w 870468"/>
              <a:gd name="connsiteY29" fmla="*/ 720000 h 720000"/>
              <a:gd name="connsiteX30" fmla="*/ 598821 w 870468"/>
              <a:gd name="connsiteY30" fmla="*/ 720000 h 720000"/>
              <a:gd name="connsiteX31" fmla="*/ 116266 w 870468"/>
              <a:gd name="connsiteY31" fmla="*/ 720000 h 720000"/>
              <a:gd name="connsiteX32" fmla="*/ 115 w 870468"/>
              <a:gd name="connsiteY32" fmla="*/ 603849 h 720000"/>
              <a:gd name="connsiteX33" fmla="*/ 115 w 870468"/>
              <a:gd name="connsiteY33" fmla="*/ 241841 h 720000"/>
              <a:gd name="connsiteX34" fmla="*/ 0 w 870468"/>
              <a:gd name="connsiteY34" fmla="*/ 241562 h 720000"/>
              <a:gd name="connsiteX35" fmla="*/ 115 w 870468"/>
              <a:gd name="connsiteY35" fmla="*/ 241284 h 720000"/>
              <a:gd name="connsiteX36" fmla="*/ 115 w 870468"/>
              <a:gd name="connsiteY36" fmla="*/ 116151 h 720000"/>
              <a:gd name="connsiteX37" fmla="*/ 116266 w 870468"/>
              <a:gd name="connsiteY37" fmla="*/ 0 h 720000"/>
            </a:gdLst>
            <a:ahLst/>
            <a:cxnLst/>
            <a:rect l="l" t="t" r="r" b="b"/>
            <a:pathLst>
              <a:path w="870468" h="720000">
                <a:moveTo>
                  <a:pt x="153878" y="353026"/>
                </a:moveTo>
                <a:lnTo>
                  <a:pt x="449972" y="353026"/>
                </a:lnTo>
                <a:cubicBezTo>
                  <a:pt x="472036" y="353026"/>
                  <a:pt x="489985" y="370975"/>
                  <a:pt x="489985" y="393039"/>
                </a:cubicBezTo>
                <a:cubicBezTo>
                  <a:pt x="489985" y="415103"/>
                  <a:pt x="472150" y="433051"/>
                  <a:pt x="449972" y="433051"/>
                </a:cubicBezTo>
                <a:lnTo>
                  <a:pt x="153878" y="433051"/>
                </a:lnTo>
                <a:cubicBezTo>
                  <a:pt x="131814" y="433051"/>
                  <a:pt x="113865" y="415103"/>
                  <a:pt x="113865" y="393039"/>
                </a:cubicBezTo>
                <a:cubicBezTo>
                  <a:pt x="113865" y="370975"/>
                  <a:pt x="131814" y="353026"/>
                  <a:pt x="153878" y="353026"/>
                </a:cubicBezTo>
                <a:close/>
                <a:moveTo>
                  <a:pt x="68708" y="275858"/>
                </a:moveTo>
                <a:lnTo>
                  <a:pt x="68708" y="603735"/>
                </a:lnTo>
                <a:cubicBezTo>
                  <a:pt x="68708" y="630029"/>
                  <a:pt x="90087" y="651293"/>
                  <a:pt x="116266" y="651293"/>
                </a:cubicBezTo>
                <a:lnTo>
                  <a:pt x="598821" y="651293"/>
                </a:lnTo>
                <a:lnTo>
                  <a:pt x="754317" y="651293"/>
                </a:lnTo>
                <a:cubicBezTo>
                  <a:pt x="780611" y="651293"/>
                  <a:pt x="801875" y="629915"/>
                  <a:pt x="801875" y="603735"/>
                </a:cubicBezTo>
                <a:lnTo>
                  <a:pt x="801875" y="275858"/>
                </a:lnTo>
                <a:lnTo>
                  <a:pt x="598821" y="275858"/>
                </a:lnTo>
                <a:close/>
                <a:moveTo>
                  <a:pt x="116266" y="68593"/>
                </a:moveTo>
                <a:cubicBezTo>
                  <a:pt x="89972" y="68593"/>
                  <a:pt x="68708" y="89972"/>
                  <a:pt x="68708" y="116151"/>
                </a:cubicBezTo>
                <a:lnTo>
                  <a:pt x="68708" y="207265"/>
                </a:lnTo>
                <a:lnTo>
                  <a:pt x="598821" y="207265"/>
                </a:lnTo>
                <a:lnTo>
                  <a:pt x="801875" y="207265"/>
                </a:lnTo>
                <a:lnTo>
                  <a:pt x="801875" y="116151"/>
                </a:lnTo>
                <a:cubicBezTo>
                  <a:pt x="801875" y="89857"/>
                  <a:pt x="780497" y="68593"/>
                  <a:pt x="754317" y="68593"/>
                </a:cubicBezTo>
                <a:lnTo>
                  <a:pt x="598821" y="68593"/>
                </a:lnTo>
                <a:close/>
                <a:moveTo>
                  <a:pt x="116266" y="0"/>
                </a:moveTo>
                <a:lnTo>
                  <a:pt x="598821" y="0"/>
                </a:lnTo>
                <a:lnTo>
                  <a:pt x="754317" y="0"/>
                </a:lnTo>
                <a:cubicBezTo>
                  <a:pt x="818338" y="0"/>
                  <a:pt x="870468" y="52131"/>
                  <a:pt x="870468" y="116151"/>
                </a:cubicBezTo>
                <a:lnTo>
                  <a:pt x="870468" y="241562"/>
                </a:lnTo>
                <a:lnTo>
                  <a:pt x="870468" y="603735"/>
                </a:lnTo>
                <a:cubicBezTo>
                  <a:pt x="870468" y="667869"/>
                  <a:pt x="818338" y="720000"/>
                  <a:pt x="754317" y="720000"/>
                </a:cubicBezTo>
                <a:lnTo>
                  <a:pt x="598821" y="720000"/>
                </a:lnTo>
                <a:lnTo>
                  <a:pt x="116266" y="720000"/>
                </a:lnTo>
                <a:cubicBezTo>
                  <a:pt x="52246" y="720000"/>
                  <a:pt x="115" y="667869"/>
                  <a:pt x="115" y="603849"/>
                </a:cubicBezTo>
                <a:lnTo>
                  <a:pt x="115" y="241841"/>
                </a:lnTo>
                <a:lnTo>
                  <a:pt x="0" y="241562"/>
                </a:lnTo>
                <a:lnTo>
                  <a:pt x="115" y="241284"/>
                </a:lnTo>
                <a:lnTo>
                  <a:pt x="115" y="116151"/>
                </a:lnTo>
                <a:cubicBezTo>
                  <a:pt x="115" y="52131"/>
                  <a:pt x="52246" y="0"/>
                  <a:pt x="116266" y="0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/>
            <a:endParaRPr kumimoji="1" lang="zh-CN" altLang="en-US"/>
          </a:p>
        </p:txBody>
      </p:sp>
      <p:sp>
        <p:nvSpPr>
          <p:cNvPr id="21" name="标题 1"/>
          <p:cNvSpPr txBox="1"/>
          <p:nvPr/>
        </p:nvSpPr>
        <p:spPr>
          <a:xfrm>
            <a:off x="9567604" y="2337671"/>
            <a:ext cx="908632" cy="88926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/>
            <a:r>
              <a:rPr kumimoji="1" lang="en-US" altLang="zh-CN" sz="4400">
                <a:ln w="12700">
                  <a:noFill/>
                </a:ln>
                <a:solidFill>
                  <a:srgbClr val="4472C4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03</a:t>
            </a:r>
            <a:endParaRPr kumimoji="1" lang="zh-CN" altLang="en-US"/>
          </a:p>
        </p:txBody>
      </p:sp>
      <p:sp>
        <p:nvSpPr>
          <p:cNvPr id="22" name="标题 1"/>
          <p:cNvSpPr txBox="1"/>
          <p:nvPr/>
        </p:nvSpPr>
        <p:spPr>
          <a:xfrm>
            <a:off x="663640" y="3861950"/>
            <a:ext cx="2993960" cy="42979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ctr"/>
            <a:r>
              <a:rPr kumimoji="1" lang="en-US" altLang="zh-CN" sz="16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Concepto</a:t>
            </a:r>
            <a:endParaRPr kumimoji="1" lang="zh-CN" altLang="en-US"/>
          </a:p>
        </p:txBody>
      </p:sp>
      <p:sp>
        <p:nvSpPr>
          <p:cNvPr id="23" name="标题 1"/>
          <p:cNvSpPr txBox="1"/>
          <p:nvPr/>
        </p:nvSpPr>
        <p:spPr>
          <a:xfrm>
            <a:off x="4587940" y="3861950"/>
            <a:ext cx="2993960" cy="42979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ctr"/>
            <a:r>
              <a:rPr kumimoji="1" lang="en-US" altLang="zh-CN" sz="16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Métricas Clave</a:t>
            </a:r>
            <a:endParaRPr kumimoji="1" lang="zh-CN" altLang="en-US"/>
          </a:p>
        </p:txBody>
      </p:sp>
      <p:sp>
        <p:nvSpPr>
          <p:cNvPr id="24" name="标题 1"/>
          <p:cNvSpPr txBox="1"/>
          <p:nvPr/>
        </p:nvSpPr>
        <p:spPr>
          <a:xfrm>
            <a:off x="8524940" y="3861950"/>
            <a:ext cx="2993960" cy="42979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ctr"/>
            <a:r>
              <a:rPr kumimoji="1" lang="en-US" altLang="zh-CN" sz="937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Análisis y Acción (Planificación de Capacidad)</a:t>
            </a:r>
            <a:endParaRPr kumimoji="1" lang="zh-CN" altLang="en-US"/>
          </a:p>
        </p:txBody>
      </p:sp>
      <p:sp>
        <p:nvSpPr>
          <p:cNvPr id="26" name="标题 1"/>
          <p:cNvSpPr txBox="1"/>
          <p:nvPr/>
        </p:nvSpPr>
        <p:spPr>
          <a:xfrm>
            <a:off x="962475" y="450990"/>
            <a:ext cx="10671175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ctr"/>
            <a:r>
              <a:rPr kumimoji="1" lang="en-US" altLang="zh-CN" sz="28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Rendimiento</a:t>
            </a:r>
            <a:r>
              <a:rPr kumimoji="1" lang="en-US" altLang="zh-CN" sz="28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 (Performance)</a:t>
            </a:r>
            <a:endParaRPr kumimoji="1" lang="zh-CN" altLang="en-US" dirty="0"/>
          </a:p>
        </p:txBody>
      </p:sp>
      <p:pic>
        <p:nvPicPr>
          <p:cNvPr id="29" name="Imagen 28">
            <a:extLst>
              <a:ext uri="{FF2B5EF4-FFF2-40B4-BE49-F238E27FC236}">
                <a16:creationId xmlns:a16="http://schemas.microsoft.com/office/drawing/2014/main" id="{47E6AFA6-7628-7169-6054-A2C36F57788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/>
          <p:cNvSpPr txBox="1"/>
          <p:nvPr/>
        </p:nvSpPr>
        <p:spPr>
          <a:xfrm>
            <a:off x="1210308" y="1769390"/>
            <a:ext cx="3425191" cy="110799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/>
          <a:lstStyle/>
          <a:p>
            <a:pPr algn="l"/>
            <a:r>
              <a:rPr kumimoji="1" lang="en-US" altLang="zh-CN" sz="66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PART.</a:t>
            </a: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1210308" y="2955645"/>
            <a:ext cx="7011708" cy="156966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/>
          <a:lstStyle/>
          <a:p>
            <a:pPr algn="l"/>
            <a:r>
              <a:rPr kumimoji="1" lang="en-US" altLang="zh-CN" sz="3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Detección de Fallos y Escalamiento</a:t>
            </a: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>
            <a:off x="3278504" y="1769390"/>
            <a:ext cx="2220589" cy="110799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/>
          <a:lstStyle/>
          <a:p>
            <a:pPr algn="r"/>
            <a:r>
              <a:rPr kumimoji="1" lang="en-US" altLang="zh-CN" sz="66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 03</a:t>
            </a:r>
            <a:endParaRPr kumimoji="1" lang="zh-CN" altLang="en-US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BCECDA55-9921-7B0B-8E0F-464765C5A8C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 txBox="1"/>
          <p:nvPr/>
        </p:nvSpPr>
        <p:spPr>
          <a:xfrm>
            <a:off x="836256" y="853329"/>
            <a:ext cx="4320000" cy="3050047"/>
          </a:xfrm>
          <a:prstGeom prst="ellipse">
            <a:avLst/>
          </a:prstGeom>
          <a:solidFill>
            <a:schemeClr val="accent1">
              <a:lumMod val="10000"/>
              <a:lumOff val="90000"/>
            </a:schemeClr>
          </a:solidFill>
          <a:ln w="12700" cap="flat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1180594" y="1417975"/>
            <a:ext cx="3757654" cy="2364355"/>
          </a:xfrm>
          <a:prstGeom prst="arc">
            <a:avLst>
              <a:gd name="adj1" fmla="val 2400754"/>
              <a:gd name="adj2" fmla="val 9711949"/>
            </a:avLst>
          </a:prstGeom>
          <a:noFill/>
          <a:ln w="30002" cap="flat">
            <a:gradFill>
              <a:gsLst>
                <a:gs pos="0">
                  <a:schemeClr val="accent1">
                    <a:lumMod val="90000"/>
                    <a:lumOff val="10000"/>
                    <a:alpha val="0"/>
                  </a:schemeClr>
                </a:gs>
                <a:gs pos="100000">
                  <a:schemeClr val="accent1">
                    <a:lumMod val="90000"/>
                    <a:lumOff val="10000"/>
                  </a:schemeClr>
                </a:gs>
              </a:gsLst>
              <a:lin ang="10800000" scaled="0"/>
            </a:gradFill>
            <a:miter/>
          </a:ln>
          <a:effectLst/>
        </p:spPr>
        <p:txBody>
          <a:bodyPr vert="horz" wrap="square" lIns="144006" tIns="72003" rIns="144006" bIns="72003"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7" name="标题 1"/>
          <p:cNvSpPr txBox="1"/>
          <p:nvPr/>
        </p:nvSpPr>
        <p:spPr>
          <a:xfrm flipH="1" flipV="1">
            <a:off x="962475" y="945141"/>
            <a:ext cx="3849554" cy="2338188"/>
          </a:xfrm>
          <a:prstGeom prst="arc">
            <a:avLst>
              <a:gd name="adj1" fmla="val 2878841"/>
              <a:gd name="adj2" fmla="val 9711943"/>
            </a:avLst>
          </a:prstGeom>
          <a:noFill/>
          <a:ln w="30002" cap="flat">
            <a:gradFill>
              <a:gsLst>
                <a:gs pos="0">
                  <a:schemeClr val="accent1">
                    <a:lumMod val="90000"/>
                    <a:lumOff val="10000"/>
                    <a:alpha val="0"/>
                  </a:schemeClr>
                </a:gs>
                <a:gs pos="100000">
                  <a:schemeClr val="accent1">
                    <a:lumMod val="90000"/>
                    <a:lumOff val="10000"/>
                  </a:schemeClr>
                </a:gs>
              </a:gsLst>
              <a:lin ang="10800000" scaled="0"/>
            </a:gradFill>
            <a:miter/>
          </a:ln>
          <a:effectLst/>
        </p:spPr>
        <p:txBody>
          <a:bodyPr vert="horz" wrap="square" lIns="144006" tIns="72003" rIns="144006" bIns="72003"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8" name="标题 1"/>
          <p:cNvSpPr txBox="1"/>
          <p:nvPr/>
        </p:nvSpPr>
        <p:spPr>
          <a:xfrm>
            <a:off x="6813372" y="1421668"/>
            <a:ext cx="3600000" cy="71538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ctr"/>
            <a:r>
              <a:rPr kumimoji="1" lang="en-US" altLang="zh-CN" sz="1600" dirty="0">
                <a:ln w="12700">
                  <a:noFill/>
                </a:ln>
                <a:gradFill>
                  <a:gsLst>
                    <a:gs pos="18000">
                      <a:schemeClr val="accent1">
                        <a:lumMod val="74000"/>
                        <a:lumOff val="26000"/>
                      </a:schemeClr>
                    </a:gs>
                    <a:gs pos="93000">
                      <a:schemeClr val="accent1"/>
                    </a:gs>
                  </a:gsLst>
                  <a:lin ang="5400000" scaled="0"/>
                </a:gradFill>
                <a:latin typeface="poppins-bold"/>
                <a:ea typeface="poppins-bold"/>
                <a:cs typeface="poppins-bold"/>
              </a:rPr>
              <a:t>Definición de </a:t>
            </a:r>
            <a:r>
              <a:rPr kumimoji="1" lang="en-US" altLang="zh-CN" sz="1600" dirty="0" err="1">
                <a:ln w="12700">
                  <a:noFill/>
                </a:ln>
                <a:gradFill>
                  <a:gsLst>
                    <a:gs pos="18000">
                      <a:schemeClr val="accent1">
                        <a:lumMod val="74000"/>
                        <a:lumOff val="26000"/>
                      </a:schemeClr>
                    </a:gs>
                    <a:gs pos="93000">
                      <a:schemeClr val="accent1"/>
                    </a:gs>
                  </a:gsLst>
                  <a:lin ang="5400000" scaled="0"/>
                </a:gradFill>
                <a:latin typeface="poppins-bold"/>
                <a:ea typeface="poppins-bold"/>
                <a:cs typeface="poppins-bold"/>
              </a:rPr>
              <a:t>Umbrales</a:t>
            </a:r>
            <a:r>
              <a:rPr kumimoji="1" lang="en-US" altLang="zh-CN" sz="1600" dirty="0">
                <a:ln w="12700">
                  <a:noFill/>
                </a:ln>
                <a:gradFill>
                  <a:gsLst>
                    <a:gs pos="18000">
                      <a:schemeClr val="accent1">
                        <a:lumMod val="74000"/>
                        <a:lumOff val="26000"/>
                      </a:schemeClr>
                    </a:gs>
                    <a:gs pos="93000">
                      <a:schemeClr val="accent1"/>
                    </a:gs>
                  </a:gsLst>
                  <a:lin ang="5400000" scaled="0"/>
                </a:gradFill>
                <a:latin typeface="poppins-bold"/>
                <a:ea typeface="poppins-bold"/>
                <a:cs typeface="poppins-bold"/>
              </a:rPr>
              <a:t> (Thresholds)</a:t>
            </a:r>
            <a:endParaRPr kumimoji="1" lang="zh-CN" altLang="en-US" dirty="0"/>
          </a:p>
        </p:txBody>
      </p:sp>
      <p:sp>
        <p:nvSpPr>
          <p:cNvPr id="9" name="标题 1"/>
          <p:cNvSpPr txBox="1"/>
          <p:nvPr/>
        </p:nvSpPr>
        <p:spPr>
          <a:xfrm>
            <a:off x="6699072" y="2243547"/>
            <a:ext cx="3600000" cy="351717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rtlCol="0" anchor="t"/>
          <a:lstStyle/>
          <a:p>
            <a:pPr lvl="1"/>
            <a:r>
              <a:rPr kumimoji="1" lang="es-EC" sz="1400" dirty="0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Poppins"/>
                <a:cs typeface="Poppins"/>
              </a:rPr>
              <a:t>El sistema no debe alertar solo cuando algo falla (ej. Servidor caído), sino cuando está a punto de fallar.</a:t>
            </a:r>
          </a:p>
          <a:p>
            <a:pPr lvl="1"/>
            <a:endParaRPr kumimoji="1" lang="es-EC" sz="1400" dirty="0">
              <a:ln w="12700">
                <a:noFill/>
              </a:ln>
              <a:solidFill>
                <a:srgbClr val="595959">
                  <a:alpha val="100000"/>
                </a:srgbClr>
              </a:solidFill>
              <a:latin typeface="Poppins"/>
              <a:cs typeface="Poppins"/>
            </a:endParaRPr>
          </a:p>
          <a:p>
            <a:pPr lvl="1"/>
            <a:r>
              <a:rPr kumimoji="1" lang="es-EC" sz="1400" b="1" dirty="0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Poppins"/>
                <a:cs typeface="Poppins"/>
              </a:rPr>
              <a:t>Ejemplos de Umbrales: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kumimoji="1" lang="es-EC" sz="1400" dirty="0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Poppins"/>
                <a:cs typeface="Poppins"/>
              </a:rPr>
              <a:t>ALERTA (</a:t>
            </a:r>
            <a:r>
              <a:rPr kumimoji="1" lang="es-EC" sz="1400" dirty="0" err="1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Poppins"/>
                <a:cs typeface="Poppins"/>
              </a:rPr>
              <a:t>Warning</a:t>
            </a:r>
            <a:r>
              <a:rPr kumimoji="1" lang="es-EC" sz="1400" dirty="0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Poppins"/>
                <a:cs typeface="Poppins"/>
              </a:rPr>
              <a:t>): Uso de CPU &gt; 80% durante 10 minutos.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kumimoji="1" lang="es-EC" sz="1400" dirty="0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Poppins"/>
                <a:cs typeface="Poppins"/>
              </a:rPr>
              <a:t>CRÍTICO (</a:t>
            </a:r>
            <a:r>
              <a:rPr kumimoji="1" lang="es-EC" sz="1400" dirty="0" err="1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Poppins"/>
                <a:cs typeface="Poppins"/>
              </a:rPr>
              <a:t>Critical</a:t>
            </a:r>
            <a:r>
              <a:rPr kumimoji="1" lang="es-EC" sz="1400" dirty="0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Poppins"/>
                <a:cs typeface="Poppins"/>
              </a:rPr>
              <a:t>): Uso de CPU &gt; 95% durante 5 minutos.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kumimoji="1" lang="es-EC" sz="1400" dirty="0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Poppins"/>
                <a:cs typeface="Poppins"/>
              </a:rPr>
              <a:t>CRÍTICO: Espacio en disco &lt; 5%.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kumimoji="1" lang="es-EC" sz="1400" dirty="0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Poppins"/>
                <a:cs typeface="Poppins"/>
              </a:rPr>
              <a:t>CRÍTICO: Pérdida de paquetes &gt; 2%.</a:t>
            </a:r>
          </a:p>
        </p:txBody>
      </p:sp>
      <p:sp>
        <p:nvSpPr>
          <p:cNvPr id="14" name="标题 1"/>
          <p:cNvSpPr txBox="1"/>
          <p:nvPr/>
        </p:nvSpPr>
        <p:spPr>
          <a:xfrm>
            <a:off x="1338248" y="4156340"/>
            <a:ext cx="3600000" cy="71538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ctr"/>
            <a:r>
              <a:rPr kumimoji="1" lang="en-US" altLang="zh-CN" sz="1600" dirty="0" err="1">
                <a:ln w="12700">
                  <a:noFill/>
                </a:ln>
                <a:gradFill>
                  <a:gsLst>
                    <a:gs pos="18000">
                      <a:schemeClr val="accent1">
                        <a:lumMod val="74000"/>
                        <a:lumOff val="26000"/>
                      </a:schemeClr>
                    </a:gs>
                    <a:gs pos="93000">
                      <a:schemeClr val="accent1"/>
                    </a:gs>
                  </a:gsLst>
                  <a:lin ang="5400000" scaled="0"/>
                </a:gradFill>
                <a:latin typeface="poppins-bold"/>
                <a:ea typeface="poppins-bold"/>
                <a:cs typeface="poppins-bold"/>
              </a:rPr>
              <a:t>Reducción</a:t>
            </a:r>
            <a:r>
              <a:rPr kumimoji="1" lang="en-US" altLang="zh-CN" sz="1600" dirty="0">
                <a:ln w="12700">
                  <a:noFill/>
                </a:ln>
                <a:gradFill>
                  <a:gsLst>
                    <a:gs pos="18000">
                      <a:schemeClr val="accent1">
                        <a:lumMod val="74000"/>
                        <a:lumOff val="26000"/>
                      </a:schemeClr>
                    </a:gs>
                    <a:gs pos="93000">
                      <a:schemeClr val="accent1"/>
                    </a:gs>
                  </a:gsLst>
                  <a:lin ang="5400000" scaled="0"/>
                </a:gradFill>
                <a:latin typeface="poppins-bold"/>
                <a:ea typeface="poppins-bold"/>
                <a:cs typeface="poppins-bold"/>
              </a:rPr>
              <a:t> de </a:t>
            </a:r>
            <a:r>
              <a:rPr kumimoji="1" lang="en-US" altLang="zh-CN" sz="1600" dirty="0" err="1">
                <a:ln w="12700">
                  <a:noFill/>
                </a:ln>
                <a:gradFill>
                  <a:gsLst>
                    <a:gs pos="18000">
                      <a:schemeClr val="accent1">
                        <a:lumMod val="74000"/>
                        <a:lumOff val="26000"/>
                      </a:schemeClr>
                    </a:gs>
                    <a:gs pos="93000">
                      <a:schemeClr val="accent1"/>
                    </a:gs>
                  </a:gsLst>
                  <a:lin ang="5400000" scaled="0"/>
                </a:gradFill>
                <a:latin typeface="poppins-bold"/>
                <a:ea typeface="poppins-bold"/>
                <a:cs typeface="poppins-bold"/>
              </a:rPr>
              <a:t>Ruido</a:t>
            </a:r>
            <a:endParaRPr kumimoji="1" lang="zh-CN" altLang="en-US" dirty="0"/>
          </a:p>
        </p:txBody>
      </p:sp>
      <p:sp>
        <p:nvSpPr>
          <p:cNvPr id="15" name="标题 1"/>
          <p:cNvSpPr txBox="1"/>
          <p:nvPr/>
        </p:nvSpPr>
        <p:spPr>
          <a:xfrm>
            <a:off x="1074870" y="4871720"/>
            <a:ext cx="3600000" cy="176911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rtlCol="0" anchor="t"/>
          <a:lstStyle/>
          <a:p>
            <a:pPr lvl="1"/>
            <a:r>
              <a:rPr kumimoji="1" lang="es-EC" sz="1400" dirty="0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Poppins"/>
                <a:cs typeface="Poppins"/>
              </a:rPr>
              <a:t>Evitar la "fatiga de alertas". Un error común es alertar por todo.</a:t>
            </a:r>
          </a:p>
          <a:p>
            <a:pPr lvl="1"/>
            <a:r>
              <a:rPr kumimoji="1" lang="es-EC" sz="1400" dirty="0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Poppins"/>
                <a:cs typeface="Poppins"/>
              </a:rPr>
              <a:t>Técnica: Configurar dependencias. "No me alertes que 10 servidores virtuales están caídos si ya me alertaste que el host de virtualización que los contiene está caído".</a:t>
            </a:r>
          </a:p>
        </p:txBody>
      </p:sp>
      <p:sp>
        <p:nvSpPr>
          <p:cNvPr id="19" name="标题 1"/>
          <p:cNvSpPr txBox="1"/>
          <p:nvPr/>
        </p:nvSpPr>
        <p:spPr>
          <a:xfrm>
            <a:off x="962475" y="450990"/>
            <a:ext cx="10671175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ctr"/>
            <a:r>
              <a:rPr kumimoji="1" lang="en-US" altLang="zh-CN" sz="28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Detección</a:t>
            </a:r>
            <a:r>
              <a:rPr kumimoji="1" lang="en-US" altLang="zh-CN" sz="28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 de </a:t>
            </a:r>
            <a:r>
              <a:rPr kumimoji="1" lang="en-US" altLang="zh-CN" sz="28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Fallos</a:t>
            </a:r>
            <a:endParaRPr kumimoji="1" lang="zh-CN" altLang="en-US" dirty="0"/>
          </a:p>
        </p:txBody>
      </p:sp>
      <p:sp>
        <p:nvSpPr>
          <p:cNvPr id="22" name="标题 1">
            <a:extLst>
              <a:ext uri="{FF2B5EF4-FFF2-40B4-BE49-F238E27FC236}">
                <a16:creationId xmlns:a16="http://schemas.microsoft.com/office/drawing/2014/main" id="{088C9ED5-0718-2CF1-AD60-D4B373954F51}"/>
              </a:ext>
            </a:extLst>
          </p:cNvPr>
          <p:cNvSpPr txBox="1"/>
          <p:nvPr/>
        </p:nvSpPr>
        <p:spPr>
          <a:xfrm>
            <a:off x="1598308" y="1689320"/>
            <a:ext cx="3076562" cy="135564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r>
              <a:rPr lang="es-EC" sz="1400" dirty="0"/>
              <a:t>Esta es la parte operativa que define la madurez de un centro de cómputo. ¿Qué hacemos </a:t>
            </a:r>
            <a:r>
              <a:rPr lang="es-EC" sz="1400" i="1" dirty="0"/>
              <a:t>exactamente</a:t>
            </a:r>
            <a:r>
              <a:rPr lang="es-EC" sz="1400" dirty="0"/>
              <a:t> cuando algo falla?</a:t>
            </a:r>
          </a:p>
          <a:p>
            <a:r>
              <a:rPr lang="es-EC" sz="1400" b="1" dirty="0"/>
              <a:t>Detección de Fallos</a:t>
            </a:r>
            <a:endParaRPr lang="es-EC" sz="1400" dirty="0"/>
          </a:p>
          <a:p>
            <a:r>
              <a:rPr lang="es-EC" sz="1400" dirty="0"/>
              <a:t>La detección debe ser automática, no depender de la llamada de un usuario</a:t>
            </a:r>
            <a:r>
              <a:rPr lang="es-EC" dirty="0"/>
              <a:t>.</a:t>
            </a:r>
          </a:p>
        </p:txBody>
      </p:sp>
      <p:pic>
        <p:nvPicPr>
          <p:cNvPr id="23" name="Imagen 22">
            <a:extLst>
              <a:ext uri="{FF2B5EF4-FFF2-40B4-BE49-F238E27FC236}">
                <a16:creationId xmlns:a16="http://schemas.microsoft.com/office/drawing/2014/main" id="{FA3B5BB4-68A9-C600-DAAC-4EF29066E91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 rot="5400000">
            <a:off x="5949579" y="3773030"/>
            <a:ext cx="1810723" cy="1489020"/>
          </a:xfrm>
          <a:prstGeom prst="hexagon">
            <a:avLst>
              <a:gd name="adj" fmla="val 30118"/>
              <a:gd name="vf" fmla="val 115470"/>
            </a:avLst>
          </a:prstGeom>
          <a:solidFill>
            <a:schemeClr val="bg1"/>
          </a:solidFill>
          <a:ln w="9525" cap="sq">
            <a:solidFill>
              <a:schemeClr val="bg1">
                <a:lumMod val="95000"/>
              </a:schemeClr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 rot="5400000">
            <a:off x="4457225" y="3773030"/>
            <a:ext cx="1810723" cy="1489020"/>
          </a:xfrm>
          <a:prstGeom prst="hexagon">
            <a:avLst>
              <a:gd name="adj" fmla="val 30118"/>
              <a:gd name="vf" fmla="val 115470"/>
            </a:avLst>
          </a:prstGeom>
          <a:solidFill>
            <a:schemeClr val="bg1"/>
          </a:solidFill>
          <a:ln w="9525" cap="sq">
            <a:solidFill>
              <a:schemeClr val="bg1">
                <a:lumMod val="95000"/>
              </a:schemeClr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 rot="5400000">
            <a:off x="2212742" y="2401429"/>
            <a:ext cx="1810723" cy="1489020"/>
          </a:xfrm>
          <a:prstGeom prst="hexagon">
            <a:avLst>
              <a:gd name="adj" fmla="val 30118"/>
              <a:gd name="vf" fmla="val 115470"/>
            </a:avLst>
          </a:prstGeom>
          <a:solidFill>
            <a:schemeClr val="bg1"/>
          </a:solidFill>
          <a:ln w="9525" cap="sq">
            <a:solidFill>
              <a:schemeClr val="bg1">
                <a:lumMod val="95000"/>
              </a:schemeClr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 rot="5400000">
            <a:off x="3705096" y="2401429"/>
            <a:ext cx="1810723" cy="1489020"/>
          </a:xfrm>
          <a:prstGeom prst="hexagon">
            <a:avLst>
              <a:gd name="adj" fmla="val 30118"/>
              <a:gd name="vf" fmla="val 115470"/>
            </a:avLst>
          </a:prstGeom>
          <a:solidFill>
            <a:schemeClr val="bg1"/>
          </a:solidFill>
          <a:ln w="9525" cap="sq">
            <a:solidFill>
              <a:schemeClr val="bg1">
                <a:lumMod val="95000"/>
              </a:schemeClr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 rot="5400000">
            <a:off x="6689804" y="2401429"/>
            <a:ext cx="1810723" cy="1489020"/>
          </a:xfrm>
          <a:prstGeom prst="hexagon">
            <a:avLst>
              <a:gd name="adj" fmla="val 30118"/>
              <a:gd name="vf" fmla="val 115470"/>
            </a:avLst>
          </a:prstGeom>
          <a:solidFill>
            <a:schemeClr val="bg1"/>
          </a:solidFill>
          <a:ln w="9525" cap="sq">
            <a:solidFill>
              <a:schemeClr val="bg1">
                <a:lumMod val="95000"/>
              </a:schemeClr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 rot="5400000">
            <a:off x="8182159" y="2401429"/>
            <a:ext cx="1810723" cy="1489020"/>
          </a:xfrm>
          <a:prstGeom prst="hexagon">
            <a:avLst>
              <a:gd name="adj" fmla="val 30118"/>
              <a:gd name="vf" fmla="val 115470"/>
            </a:avLst>
          </a:prstGeom>
          <a:solidFill>
            <a:schemeClr val="bg1"/>
          </a:solidFill>
          <a:ln w="9525" cap="sq">
            <a:solidFill>
              <a:schemeClr val="bg1">
                <a:lumMod val="95000"/>
              </a:schemeClr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 rot="5400000">
            <a:off x="784100" y="2401429"/>
            <a:ext cx="1810723" cy="1489020"/>
          </a:xfrm>
          <a:prstGeom prst="hexagon">
            <a:avLst>
              <a:gd name="adj" fmla="val 30118"/>
              <a:gd name="vf" fmla="val 115470"/>
            </a:avLst>
          </a:prstGeom>
          <a:solidFill>
            <a:schemeClr val="bg1"/>
          </a:solidFill>
          <a:ln w="19050" cap="sq">
            <a:solidFill>
              <a:schemeClr val="accent1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 rot="5400000">
            <a:off x="5196988" y="2401429"/>
            <a:ext cx="1810723" cy="1489020"/>
          </a:xfrm>
          <a:prstGeom prst="hexagon">
            <a:avLst>
              <a:gd name="adj" fmla="val 30118"/>
              <a:gd name="vf" fmla="val 115470"/>
            </a:avLst>
          </a:prstGeom>
          <a:solidFill>
            <a:schemeClr val="bg1"/>
          </a:solidFill>
          <a:ln w="19050" cap="sq">
            <a:solidFill>
              <a:schemeClr val="accent1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 rot="5400000">
            <a:off x="9609876" y="2401429"/>
            <a:ext cx="1810723" cy="1489020"/>
          </a:xfrm>
          <a:prstGeom prst="hexagon">
            <a:avLst>
              <a:gd name="adj" fmla="val 30118"/>
              <a:gd name="vf" fmla="val 115470"/>
            </a:avLst>
          </a:prstGeom>
          <a:solidFill>
            <a:schemeClr val="bg1"/>
          </a:solidFill>
          <a:ln w="19050" cap="sq">
            <a:solidFill>
              <a:schemeClr val="accent1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 rot="5400000">
            <a:off x="2965144" y="3760330"/>
            <a:ext cx="1810723" cy="1489020"/>
          </a:xfrm>
          <a:prstGeom prst="hexagon">
            <a:avLst>
              <a:gd name="adj" fmla="val 30118"/>
              <a:gd name="vf" fmla="val 115470"/>
            </a:avLst>
          </a:prstGeom>
          <a:solidFill>
            <a:schemeClr val="bg1"/>
          </a:solidFill>
          <a:ln w="19050" cap="sq">
            <a:solidFill>
              <a:schemeClr val="accent2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 rot="5400000">
            <a:off x="7441532" y="3773031"/>
            <a:ext cx="1810723" cy="1489020"/>
          </a:xfrm>
          <a:prstGeom prst="hexagon">
            <a:avLst>
              <a:gd name="adj" fmla="val 30118"/>
              <a:gd name="vf" fmla="val 115470"/>
            </a:avLst>
          </a:prstGeom>
          <a:solidFill>
            <a:schemeClr val="bg1"/>
          </a:solidFill>
          <a:ln w="19050" cap="sq">
            <a:solidFill>
              <a:schemeClr val="accent2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>
            <a:off x="1410084" y="2858380"/>
            <a:ext cx="558756" cy="558756"/>
          </a:xfrm>
          <a:custGeom>
            <a:avLst/>
            <a:gdLst>
              <a:gd name="connsiteX0" fmla="*/ 457070 w 720001"/>
              <a:gd name="connsiteY0" fmla="*/ 57166 h 720001"/>
              <a:gd name="connsiteX1" fmla="*/ 457070 w 720001"/>
              <a:gd name="connsiteY1" fmla="*/ 263017 h 720001"/>
              <a:gd name="connsiteX2" fmla="*/ 662921 w 720001"/>
              <a:gd name="connsiteY2" fmla="*/ 263017 h 720001"/>
              <a:gd name="connsiteX3" fmla="*/ 647393 w 720001"/>
              <a:gd name="connsiteY3" fmla="*/ 212704 h 720001"/>
              <a:gd name="connsiteX4" fmla="*/ 591008 w 720001"/>
              <a:gd name="connsiteY4" fmla="*/ 129080 h 720001"/>
              <a:gd name="connsiteX5" fmla="*/ 507383 w 720001"/>
              <a:gd name="connsiteY5" fmla="*/ 72694 h 720001"/>
              <a:gd name="connsiteX6" fmla="*/ 457070 w 720001"/>
              <a:gd name="connsiteY6" fmla="*/ 57166 h 720001"/>
              <a:gd name="connsiteX7" fmla="*/ 405022 w 720001"/>
              <a:gd name="connsiteY7" fmla="*/ 0 h 720001"/>
              <a:gd name="connsiteX8" fmla="*/ 720001 w 720001"/>
              <a:gd name="connsiteY8" fmla="*/ 314979 h 720001"/>
              <a:gd name="connsiteX9" fmla="*/ 405022 w 720001"/>
              <a:gd name="connsiteY9" fmla="*/ 314979 h 720001"/>
              <a:gd name="connsiteX10" fmla="*/ 360000 w 720001"/>
              <a:gd name="connsiteY10" fmla="*/ 0 h 720001"/>
              <a:gd name="connsiteX11" fmla="*/ 360000 w 720001"/>
              <a:gd name="connsiteY11" fmla="*/ 360000 h 720001"/>
              <a:gd name="connsiteX12" fmla="*/ 720000 w 720001"/>
              <a:gd name="connsiteY12" fmla="*/ 360000 h 720001"/>
              <a:gd name="connsiteX13" fmla="*/ 360000 w 720001"/>
              <a:gd name="connsiteY13" fmla="*/ 720001 h 720001"/>
              <a:gd name="connsiteX14" fmla="*/ 0 w 720001"/>
              <a:gd name="connsiteY14" fmla="*/ 360000 h 720001"/>
              <a:gd name="connsiteX15" fmla="*/ 360000 w 720001"/>
              <a:gd name="connsiteY15" fmla="*/ 0 h 720001"/>
            </a:gdLst>
            <a:ahLst/>
            <a:cxnLst/>
            <a:rect l="l" t="t" r="r" b="b"/>
            <a:pathLst>
              <a:path w="720001" h="720001">
                <a:moveTo>
                  <a:pt x="457070" y="57166"/>
                </a:moveTo>
                <a:lnTo>
                  <a:pt x="457070" y="263017"/>
                </a:lnTo>
                <a:lnTo>
                  <a:pt x="662921" y="263017"/>
                </a:lnTo>
                <a:cubicBezTo>
                  <a:pt x="659451" y="245755"/>
                  <a:pt x="654246" y="229012"/>
                  <a:pt x="647393" y="212704"/>
                </a:cubicBezTo>
                <a:cubicBezTo>
                  <a:pt x="634121" y="181388"/>
                  <a:pt x="615210" y="153282"/>
                  <a:pt x="591008" y="129080"/>
                </a:cubicBezTo>
                <a:cubicBezTo>
                  <a:pt x="566806" y="104878"/>
                  <a:pt x="538699" y="85967"/>
                  <a:pt x="507383" y="72694"/>
                </a:cubicBezTo>
                <a:cubicBezTo>
                  <a:pt x="491075" y="65755"/>
                  <a:pt x="474246" y="60637"/>
                  <a:pt x="457070" y="57166"/>
                </a:cubicBezTo>
                <a:close/>
                <a:moveTo>
                  <a:pt x="405022" y="0"/>
                </a:moveTo>
                <a:cubicBezTo>
                  <a:pt x="578950" y="0"/>
                  <a:pt x="720001" y="141051"/>
                  <a:pt x="720001" y="314979"/>
                </a:cubicBezTo>
                <a:lnTo>
                  <a:pt x="405022" y="314979"/>
                </a:lnTo>
                <a:close/>
                <a:moveTo>
                  <a:pt x="360000" y="0"/>
                </a:moveTo>
                <a:lnTo>
                  <a:pt x="360000" y="360000"/>
                </a:lnTo>
                <a:lnTo>
                  <a:pt x="720000" y="360000"/>
                </a:lnTo>
                <a:cubicBezTo>
                  <a:pt x="720000" y="558825"/>
                  <a:pt x="558824" y="720001"/>
                  <a:pt x="360000" y="720001"/>
                </a:cubicBezTo>
                <a:cubicBezTo>
                  <a:pt x="161176" y="720001"/>
                  <a:pt x="0" y="558825"/>
                  <a:pt x="0" y="360000"/>
                </a:cubicBezTo>
                <a:cubicBezTo>
                  <a:pt x="0" y="161176"/>
                  <a:pt x="161176" y="0"/>
                  <a:pt x="360000" y="0"/>
                </a:cubicBezTo>
                <a:close/>
              </a:path>
            </a:pathLst>
          </a:custGeom>
          <a:solidFill>
            <a:schemeClr val="accent1"/>
          </a:solidFill>
          <a:ln w="12128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/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>
            <a:off x="3591128" y="4246396"/>
            <a:ext cx="558756" cy="516888"/>
          </a:xfrm>
          <a:custGeom>
            <a:avLst/>
            <a:gdLst>
              <a:gd name="connsiteX0" fmla="*/ 2136435 w 5834559"/>
              <a:gd name="connsiteY0" fmla="*/ 643126 h 5397372"/>
              <a:gd name="connsiteX1" fmla="*/ 3716657 w 5834559"/>
              <a:gd name="connsiteY1" fmla="*/ 643126 h 5397372"/>
              <a:gd name="connsiteX2" fmla="*/ 3716657 w 5834559"/>
              <a:gd name="connsiteY2" fmla="*/ 1064855 h 5397372"/>
              <a:gd name="connsiteX3" fmla="*/ 2136435 w 5834559"/>
              <a:gd name="connsiteY3" fmla="*/ 1064855 h 5397372"/>
              <a:gd name="connsiteX4" fmla="*/ 693741 w 5834559"/>
              <a:gd name="connsiteY4" fmla="*/ 643126 h 5397372"/>
              <a:gd name="connsiteX5" fmla="*/ 1550121 w 5834559"/>
              <a:gd name="connsiteY5" fmla="*/ 643126 h 5397372"/>
              <a:gd name="connsiteX6" fmla="*/ 1550121 w 5834559"/>
              <a:gd name="connsiteY6" fmla="*/ 1064855 h 5397372"/>
              <a:gd name="connsiteX7" fmla="*/ 693741 w 5834559"/>
              <a:gd name="connsiteY7" fmla="*/ 1064855 h 5397372"/>
              <a:gd name="connsiteX8" fmla="*/ 421729 w 5834559"/>
              <a:gd name="connsiteY8" fmla="*/ 1336867 h 5397372"/>
              <a:gd name="connsiteX9" fmla="*/ 421729 w 5834559"/>
              <a:gd name="connsiteY9" fmla="*/ 2079805 h 5397372"/>
              <a:gd name="connsiteX10" fmla="*/ 5412133 w 5834559"/>
              <a:gd name="connsiteY10" fmla="*/ 2079805 h 5397372"/>
              <a:gd name="connsiteX11" fmla="*/ 5412133 w 5834559"/>
              <a:gd name="connsiteY11" fmla="*/ 1336867 h 5397372"/>
              <a:gd name="connsiteX12" fmla="*/ 5140113 w 5834559"/>
              <a:gd name="connsiteY12" fmla="*/ 1064855 h 5397372"/>
              <a:gd name="connsiteX13" fmla="*/ 4302971 w 5834559"/>
              <a:gd name="connsiteY13" fmla="*/ 1064855 h 5397372"/>
              <a:gd name="connsiteX14" fmla="*/ 4302971 w 5834559"/>
              <a:gd name="connsiteY14" fmla="*/ 643126 h 5397372"/>
              <a:gd name="connsiteX15" fmla="*/ 5140113 w 5834559"/>
              <a:gd name="connsiteY15" fmla="*/ 643126 h 5397372"/>
              <a:gd name="connsiteX16" fmla="*/ 5834559 w 5834559"/>
              <a:gd name="connsiteY16" fmla="*/ 1336867 h 5397372"/>
              <a:gd name="connsiteX17" fmla="*/ 5834559 w 5834559"/>
              <a:gd name="connsiteY17" fmla="*/ 4703631 h 5397372"/>
              <a:gd name="connsiteX18" fmla="*/ 5140818 w 5834559"/>
              <a:gd name="connsiteY18" fmla="*/ 5397372 h 5397372"/>
              <a:gd name="connsiteX19" fmla="*/ 693741 w 5834559"/>
              <a:gd name="connsiteY19" fmla="*/ 5397372 h 5397372"/>
              <a:gd name="connsiteX20" fmla="*/ 0 w 5834559"/>
              <a:gd name="connsiteY20" fmla="*/ 4703631 h 5397372"/>
              <a:gd name="connsiteX21" fmla="*/ 0 w 5834559"/>
              <a:gd name="connsiteY21" fmla="*/ 2501529 h 5397372"/>
              <a:gd name="connsiteX22" fmla="*/ 0 w 5834559"/>
              <a:gd name="connsiteY22" fmla="*/ 2079805 h 5397372"/>
              <a:gd name="connsiteX23" fmla="*/ 0 w 5834559"/>
              <a:gd name="connsiteY23" fmla="*/ 1336867 h 5397372"/>
              <a:gd name="connsiteX24" fmla="*/ 693741 w 5834559"/>
              <a:gd name="connsiteY24" fmla="*/ 643126 h 5397372"/>
              <a:gd name="connsiteX25" fmla="*/ 3997242 w 5834559"/>
              <a:gd name="connsiteY25" fmla="*/ 0 h 5397372"/>
              <a:gd name="connsiteX26" fmla="*/ 4208106 w 5834559"/>
              <a:gd name="connsiteY26" fmla="*/ 210864 h 5397372"/>
              <a:gd name="connsiteX27" fmla="*/ 4208106 w 5834559"/>
              <a:gd name="connsiteY27" fmla="*/ 1506961 h 5397372"/>
              <a:gd name="connsiteX28" fmla="*/ 3997242 w 5834559"/>
              <a:gd name="connsiteY28" fmla="*/ 1718528 h 5397372"/>
              <a:gd name="connsiteX29" fmla="*/ 3786378 w 5834559"/>
              <a:gd name="connsiteY29" fmla="*/ 1507664 h 5397372"/>
              <a:gd name="connsiteX30" fmla="*/ 3786378 w 5834559"/>
              <a:gd name="connsiteY30" fmla="*/ 210864 h 5397372"/>
              <a:gd name="connsiteX31" fmla="*/ 3997242 w 5834559"/>
              <a:gd name="connsiteY31" fmla="*/ 0 h 5397372"/>
              <a:gd name="connsiteX32" fmla="*/ 1836609 w 5834559"/>
              <a:gd name="connsiteY32" fmla="*/ 0 h 5397372"/>
              <a:gd name="connsiteX33" fmla="*/ 2047469 w 5834559"/>
              <a:gd name="connsiteY33" fmla="*/ 210864 h 5397372"/>
              <a:gd name="connsiteX34" fmla="*/ 2047469 w 5834559"/>
              <a:gd name="connsiteY34" fmla="*/ 1506961 h 5397372"/>
              <a:gd name="connsiteX35" fmla="*/ 1836609 w 5834559"/>
              <a:gd name="connsiteY35" fmla="*/ 1718528 h 5397372"/>
              <a:gd name="connsiteX36" fmla="*/ 1625745 w 5834559"/>
              <a:gd name="connsiteY36" fmla="*/ 1507664 h 5397372"/>
              <a:gd name="connsiteX37" fmla="*/ 1625745 w 5834559"/>
              <a:gd name="connsiteY37" fmla="*/ 210864 h 5397372"/>
              <a:gd name="connsiteX38" fmla="*/ 1836609 w 5834559"/>
              <a:gd name="connsiteY38" fmla="*/ 0 h 5397372"/>
            </a:gdLst>
            <a:ahLst/>
            <a:cxnLst/>
            <a:rect l="l" t="t" r="r" b="b"/>
            <a:pathLst>
              <a:path w="5834559" h="5397372">
                <a:moveTo>
                  <a:pt x="2136435" y="643126"/>
                </a:moveTo>
                <a:lnTo>
                  <a:pt x="3716657" y="643126"/>
                </a:lnTo>
                <a:lnTo>
                  <a:pt x="3716657" y="1064855"/>
                </a:lnTo>
                <a:lnTo>
                  <a:pt x="2136435" y="1064855"/>
                </a:lnTo>
                <a:close/>
                <a:moveTo>
                  <a:pt x="693741" y="643126"/>
                </a:moveTo>
                <a:lnTo>
                  <a:pt x="1550121" y="643126"/>
                </a:lnTo>
                <a:lnTo>
                  <a:pt x="1550121" y="1064855"/>
                </a:lnTo>
                <a:lnTo>
                  <a:pt x="693741" y="1064855"/>
                </a:lnTo>
                <a:cubicBezTo>
                  <a:pt x="543320" y="1064855"/>
                  <a:pt x="421729" y="1187151"/>
                  <a:pt x="421729" y="1336867"/>
                </a:cubicBezTo>
                <a:lnTo>
                  <a:pt x="421729" y="2079805"/>
                </a:lnTo>
                <a:lnTo>
                  <a:pt x="5412133" y="2079805"/>
                </a:lnTo>
                <a:lnTo>
                  <a:pt x="5412133" y="1336867"/>
                </a:lnTo>
                <a:cubicBezTo>
                  <a:pt x="5412133" y="1186446"/>
                  <a:pt x="5289830" y="1064855"/>
                  <a:pt x="5140113" y="1064855"/>
                </a:cubicBezTo>
                <a:lnTo>
                  <a:pt x="4302971" y="1064855"/>
                </a:lnTo>
                <a:lnTo>
                  <a:pt x="4302971" y="643126"/>
                </a:lnTo>
                <a:lnTo>
                  <a:pt x="5140113" y="643126"/>
                </a:lnTo>
                <a:cubicBezTo>
                  <a:pt x="5523184" y="643126"/>
                  <a:pt x="5833854" y="953797"/>
                  <a:pt x="5834559" y="1336867"/>
                </a:cubicBezTo>
                <a:lnTo>
                  <a:pt x="5834559" y="4703631"/>
                </a:lnTo>
                <a:cubicBezTo>
                  <a:pt x="5834559" y="5085292"/>
                  <a:pt x="5522479" y="5397372"/>
                  <a:pt x="5140818" y="5397372"/>
                </a:cubicBezTo>
                <a:lnTo>
                  <a:pt x="693741" y="5397372"/>
                </a:lnTo>
                <a:cubicBezTo>
                  <a:pt x="312080" y="5397372"/>
                  <a:pt x="0" y="5085292"/>
                  <a:pt x="0" y="4703631"/>
                </a:cubicBezTo>
                <a:lnTo>
                  <a:pt x="0" y="2501529"/>
                </a:lnTo>
                <a:lnTo>
                  <a:pt x="0" y="2079805"/>
                </a:lnTo>
                <a:lnTo>
                  <a:pt x="0" y="1336867"/>
                </a:lnTo>
                <a:cubicBezTo>
                  <a:pt x="0" y="953797"/>
                  <a:pt x="310671" y="643126"/>
                  <a:pt x="693741" y="643126"/>
                </a:cubicBezTo>
                <a:close/>
                <a:moveTo>
                  <a:pt x="3997242" y="0"/>
                </a:moveTo>
                <a:cubicBezTo>
                  <a:pt x="4113920" y="0"/>
                  <a:pt x="4208106" y="94186"/>
                  <a:pt x="4208106" y="210864"/>
                </a:cubicBezTo>
                <a:lnTo>
                  <a:pt x="4208106" y="1506961"/>
                </a:lnTo>
                <a:cubicBezTo>
                  <a:pt x="4208106" y="1623639"/>
                  <a:pt x="4113920" y="1718528"/>
                  <a:pt x="3997242" y="1718528"/>
                </a:cubicBezTo>
                <a:cubicBezTo>
                  <a:pt x="3880564" y="1718528"/>
                  <a:pt x="3786378" y="1624342"/>
                  <a:pt x="3786378" y="1507664"/>
                </a:cubicBezTo>
                <a:lnTo>
                  <a:pt x="3786378" y="210864"/>
                </a:lnTo>
                <a:cubicBezTo>
                  <a:pt x="3786378" y="94186"/>
                  <a:pt x="3880564" y="0"/>
                  <a:pt x="3997242" y="0"/>
                </a:cubicBezTo>
                <a:close/>
                <a:moveTo>
                  <a:pt x="1836609" y="0"/>
                </a:moveTo>
                <a:cubicBezTo>
                  <a:pt x="1953287" y="0"/>
                  <a:pt x="2047469" y="94186"/>
                  <a:pt x="2047469" y="210864"/>
                </a:cubicBezTo>
                <a:lnTo>
                  <a:pt x="2047469" y="1506961"/>
                </a:lnTo>
                <a:cubicBezTo>
                  <a:pt x="2047469" y="1623639"/>
                  <a:pt x="1953287" y="1718528"/>
                  <a:pt x="1836609" y="1718528"/>
                </a:cubicBezTo>
                <a:cubicBezTo>
                  <a:pt x="1719932" y="1718528"/>
                  <a:pt x="1625745" y="1624342"/>
                  <a:pt x="1625745" y="1507664"/>
                </a:cubicBezTo>
                <a:lnTo>
                  <a:pt x="1625745" y="210864"/>
                </a:lnTo>
                <a:cubicBezTo>
                  <a:pt x="1625745" y="94186"/>
                  <a:pt x="1719932" y="0"/>
                  <a:pt x="1836609" y="0"/>
                </a:cubicBezTo>
                <a:close/>
              </a:path>
            </a:pathLst>
          </a:custGeom>
          <a:solidFill>
            <a:schemeClr val="accent2"/>
          </a:solidFill>
          <a:ln w="12128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/>
            <a:endParaRPr kumimoji="1" lang="zh-CN" altLang="en-US"/>
          </a:p>
        </p:txBody>
      </p:sp>
      <p:sp>
        <p:nvSpPr>
          <p:cNvPr id="17" name="标题 1"/>
          <p:cNvSpPr txBox="1"/>
          <p:nvPr/>
        </p:nvSpPr>
        <p:spPr>
          <a:xfrm>
            <a:off x="5822972" y="2893167"/>
            <a:ext cx="558756" cy="489182"/>
          </a:xfrm>
          <a:custGeom>
            <a:avLst/>
            <a:gdLst>
              <a:gd name="connsiteX0" fmla="*/ 411293 w 822401"/>
              <a:gd name="connsiteY0" fmla="*/ 234366 h 720000"/>
              <a:gd name="connsiteX1" fmla="*/ 536928 w 822401"/>
              <a:gd name="connsiteY1" fmla="*/ 360000 h 720000"/>
              <a:gd name="connsiteX2" fmla="*/ 411293 w 822401"/>
              <a:gd name="connsiteY2" fmla="*/ 485635 h 720000"/>
              <a:gd name="connsiteX3" fmla="*/ 285659 w 822401"/>
              <a:gd name="connsiteY3" fmla="*/ 360000 h 720000"/>
              <a:gd name="connsiteX4" fmla="*/ 411293 w 822401"/>
              <a:gd name="connsiteY4" fmla="*/ 234366 h 720000"/>
              <a:gd name="connsiteX5" fmla="*/ 411293 w 822401"/>
              <a:gd name="connsiteY5" fmla="*/ 178938 h 720000"/>
              <a:gd name="connsiteX6" fmla="*/ 230231 w 822401"/>
              <a:gd name="connsiteY6" fmla="*/ 360000 h 720000"/>
              <a:gd name="connsiteX7" fmla="*/ 411293 w 822401"/>
              <a:gd name="connsiteY7" fmla="*/ 541063 h 720000"/>
              <a:gd name="connsiteX8" fmla="*/ 592355 w 822401"/>
              <a:gd name="connsiteY8" fmla="*/ 360000 h 720000"/>
              <a:gd name="connsiteX9" fmla="*/ 411293 w 822401"/>
              <a:gd name="connsiteY9" fmla="*/ 178938 h 720000"/>
              <a:gd name="connsiteX10" fmla="*/ 219884 w 822401"/>
              <a:gd name="connsiteY10" fmla="*/ 0 h 720000"/>
              <a:gd name="connsiteX11" fmla="*/ 602517 w 822401"/>
              <a:gd name="connsiteY11" fmla="*/ 0 h 720000"/>
              <a:gd name="connsiteX12" fmla="*/ 627275 w 822401"/>
              <a:gd name="connsiteY12" fmla="*/ 14319 h 720000"/>
              <a:gd name="connsiteX13" fmla="*/ 818591 w 822401"/>
              <a:gd name="connsiteY13" fmla="*/ 345682 h 720000"/>
              <a:gd name="connsiteX14" fmla="*/ 818591 w 822401"/>
              <a:gd name="connsiteY14" fmla="*/ 374319 h 720000"/>
              <a:gd name="connsiteX15" fmla="*/ 627367 w 822401"/>
              <a:gd name="connsiteY15" fmla="*/ 705682 h 720000"/>
              <a:gd name="connsiteX16" fmla="*/ 602609 w 822401"/>
              <a:gd name="connsiteY16" fmla="*/ 720000 h 720000"/>
              <a:gd name="connsiteX17" fmla="*/ 219977 w 822401"/>
              <a:gd name="connsiteY17" fmla="*/ 720000 h 720000"/>
              <a:gd name="connsiteX18" fmla="*/ 195219 w 822401"/>
              <a:gd name="connsiteY18" fmla="*/ 705682 h 720000"/>
              <a:gd name="connsiteX19" fmla="*/ 3811 w 822401"/>
              <a:gd name="connsiteY19" fmla="*/ 374319 h 720000"/>
              <a:gd name="connsiteX20" fmla="*/ 3811 w 822401"/>
              <a:gd name="connsiteY20" fmla="*/ 345682 h 720000"/>
              <a:gd name="connsiteX21" fmla="*/ 195127 w 822401"/>
              <a:gd name="connsiteY21" fmla="*/ 14319 h 720000"/>
              <a:gd name="connsiteX22" fmla="*/ 219884 w 822401"/>
              <a:gd name="connsiteY22" fmla="*/ 0 h 720000"/>
            </a:gdLst>
            <a:ahLst/>
            <a:cxnLst/>
            <a:rect l="l" t="t" r="r" b="b"/>
            <a:pathLst>
              <a:path w="822401" h="720000">
                <a:moveTo>
                  <a:pt x="411293" y="234366"/>
                </a:moveTo>
                <a:cubicBezTo>
                  <a:pt x="480577" y="234366"/>
                  <a:pt x="536928" y="290716"/>
                  <a:pt x="536928" y="360000"/>
                </a:cubicBezTo>
                <a:cubicBezTo>
                  <a:pt x="536928" y="429284"/>
                  <a:pt x="480577" y="485635"/>
                  <a:pt x="411293" y="485635"/>
                </a:cubicBezTo>
                <a:cubicBezTo>
                  <a:pt x="342009" y="485635"/>
                  <a:pt x="285659" y="429284"/>
                  <a:pt x="285659" y="360000"/>
                </a:cubicBezTo>
                <a:cubicBezTo>
                  <a:pt x="285659" y="290716"/>
                  <a:pt x="342009" y="234366"/>
                  <a:pt x="411293" y="234366"/>
                </a:cubicBezTo>
                <a:close/>
                <a:moveTo>
                  <a:pt x="411293" y="178938"/>
                </a:moveTo>
                <a:cubicBezTo>
                  <a:pt x="311432" y="178938"/>
                  <a:pt x="230231" y="260139"/>
                  <a:pt x="230231" y="360000"/>
                </a:cubicBezTo>
                <a:cubicBezTo>
                  <a:pt x="230231" y="459862"/>
                  <a:pt x="311432" y="541063"/>
                  <a:pt x="411293" y="541063"/>
                </a:cubicBezTo>
                <a:cubicBezTo>
                  <a:pt x="511154" y="541063"/>
                  <a:pt x="592355" y="459862"/>
                  <a:pt x="592355" y="360000"/>
                </a:cubicBezTo>
                <a:cubicBezTo>
                  <a:pt x="592355" y="260139"/>
                  <a:pt x="511154" y="178938"/>
                  <a:pt x="411293" y="178938"/>
                </a:cubicBezTo>
                <a:close/>
                <a:moveTo>
                  <a:pt x="219884" y="0"/>
                </a:moveTo>
                <a:lnTo>
                  <a:pt x="602517" y="0"/>
                </a:lnTo>
                <a:cubicBezTo>
                  <a:pt x="612679" y="0"/>
                  <a:pt x="622194" y="5451"/>
                  <a:pt x="627275" y="14319"/>
                </a:cubicBezTo>
                <a:lnTo>
                  <a:pt x="818591" y="345682"/>
                </a:lnTo>
                <a:cubicBezTo>
                  <a:pt x="823672" y="354550"/>
                  <a:pt x="823672" y="365451"/>
                  <a:pt x="818591" y="374319"/>
                </a:cubicBezTo>
                <a:lnTo>
                  <a:pt x="627367" y="705682"/>
                </a:lnTo>
                <a:cubicBezTo>
                  <a:pt x="622286" y="714550"/>
                  <a:pt x="612771" y="720000"/>
                  <a:pt x="602609" y="720000"/>
                </a:cubicBezTo>
                <a:lnTo>
                  <a:pt x="219977" y="720000"/>
                </a:lnTo>
                <a:cubicBezTo>
                  <a:pt x="209815" y="720000"/>
                  <a:pt x="200300" y="714550"/>
                  <a:pt x="195219" y="705682"/>
                </a:cubicBezTo>
                <a:lnTo>
                  <a:pt x="3811" y="374319"/>
                </a:lnTo>
                <a:cubicBezTo>
                  <a:pt x="-1270" y="365543"/>
                  <a:pt x="-1270" y="354550"/>
                  <a:pt x="3811" y="345682"/>
                </a:cubicBezTo>
                <a:lnTo>
                  <a:pt x="195127" y="14319"/>
                </a:lnTo>
                <a:cubicBezTo>
                  <a:pt x="200208" y="5451"/>
                  <a:pt x="209723" y="0"/>
                  <a:pt x="219884" y="0"/>
                </a:cubicBezTo>
                <a:close/>
              </a:path>
            </a:pathLst>
          </a:custGeom>
          <a:solidFill>
            <a:schemeClr val="accent3"/>
          </a:solidFill>
          <a:ln w="12128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/>
            <a:endParaRPr kumimoji="1" lang="zh-CN" altLang="en-US"/>
          </a:p>
        </p:txBody>
      </p:sp>
      <p:sp>
        <p:nvSpPr>
          <p:cNvPr id="18" name="标题 1"/>
          <p:cNvSpPr txBox="1"/>
          <p:nvPr/>
        </p:nvSpPr>
        <p:spPr>
          <a:xfrm>
            <a:off x="8067557" y="4238162"/>
            <a:ext cx="558674" cy="558756"/>
          </a:xfrm>
          <a:custGeom>
            <a:avLst/>
            <a:gdLst>
              <a:gd name="connsiteX0" fmla="*/ 579031 w 719895"/>
              <a:gd name="connsiteY0" fmla="*/ 554022 h 720000"/>
              <a:gd name="connsiteX1" fmla="*/ 596778 w 719895"/>
              <a:gd name="connsiteY1" fmla="*/ 561368 h 720000"/>
              <a:gd name="connsiteX2" fmla="*/ 712550 w 719895"/>
              <a:gd name="connsiteY2" fmla="*/ 677140 h 720000"/>
              <a:gd name="connsiteX3" fmla="*/ 712550 w 719895"/>
              <a:gd name="connsiteY3" fmla="*/ 712634 h 720000"/>
              <a:gd name="connsiteX4" fmla="*/ 694887 w 719895"/>
              <a:gd name="connsiteY4" fmla="*/ 720000 h 720000"/>
              <a:gd name="connsiteX5" fmla="*/ 677140 w 719895"/>
              <a:gd name="connsiteY5" fmla="*/ 712634 h 720000"/>
              <a:gd name="connsiteX6" fmla="*/ 561284 w 719895"/>
              <a:gd name="connsiteY6" fmla="*/ 596861 h 720000"/>
              <a:gd name="connsiteX7" fmla="*/ 561284 w 719895"/>
              <a:gd name="connsiteY7" fmla="*/ 561368 h 720000"/>
              <a:gd name="connsiteX8" fmla="*/ 579031 w 719895"/>
              <a:gd name="connsiteY8" fmla="*/ 554022 h 720000"/>
              <a:gd name="connsiteX9" fmla="*/ 301109 w 719895"/>
              <a:gd name="connsiteY9" fmla="*/ 0 h 720000"/>
              <a:gd name="connsiteX10" fmla="*/ 602219 w 719895"/>
              <a:gd name="connsiteY10" fmla="*/ 301109 h 720000"/>
              <a:gd name="connsiteX11" fmla="*/ 301109 w 719895"/>
              <a:gd name="connsiteY11" fmla="*/ 602219 h 720000"/>
              <a:gd name="connsiteX12" fmla="*/ 0 w 719895"/>
              <a:gd name="connsiteY12" fmla="*/ 301109 h 720000"/>
              <a:gd name="connsiteX13" fmla="*/ 301109 w 719895"/>
              <a:gd name="connsiteY13" fmla="*/ 0 h 720000"/>
            </a:gdLst>
            <a:ahLst/>
            <a:cxnLst/>
            <a:rect l="l" t="t" r="r" b="b"/>
            <a:pathLst>
              <a:path w="719895" h="720000">
                <a:moveTo>
                  <a:pt x="579031" y="554022"/>
                </a:moveTo>
                <a:cubicBezTo>
                  <a:pt x="585456" y="554022"/>
                  <a:pt x="591880" y="556471"/>
                  <a:pt x="596778" y="561368"/>
                </a:cubicBezTo>
                <a:lnTo>
                  <a:pt x="712550" y="677140"/>
                </a:lnTo>
                <a:cubicBezTo>
                  <a:pt x="722344" y="686935"/>
                  <a:pt x="722344" y="702840"/>
                  <a:pt x="712550" y="712634"/>
                </a:cubicBezTo>
                <a:cubicBezTo>
                  <a:pt x="707778" y="717573"/>
                  <a:pt x="701333" y="720000"/>
                  <a:pt x="694887" y="720000"/>
                </a:cubicBezTo>
                <a:cubicBezTo>
                  <a:pt x="688441" y="720000"/>
                  <a:pt x="681995" y="717573"/>
                  <a:pt x="677140" y="712634"/>
                </a:cubicBezTo>
                <a:lnTo>
                  <a:pt x="561284" y="596861"/>
                </a:lnTo>
                <a:cubicBezTo>
                  <a:pt x="551490" y="587067"/>
                  <a:pt x="551490" y="571162"/>
                  <a:pt x="561284" y="561368"/>
                </a:cubicBezTo>
                <a:cubicBezTo>
                  <a:pt x="566181" y="556471"/>
                  <a:pt x="572606" y="554022"/>
                  <a:pt x="579031" y="554022"/>
                </a:cubicBezTo>
                <a:close/>
                <a:moveTo>
                  <a:pt x="301109" y="0"/>
                </a:moveTo>
                <a:cubicBezTo>
                  <a:pt x="467443" y="0"/>
                  <a:pt x="602219" y="134859"/>
                  <a:pt x="602219" y="301109"/>
                </a:cubicBezTo>
                <a:cubicBezTo>
                  <a:pt x="602219" y="467443"/>
                  <a:pt x="467443" y="602219"/>
                  <a:pt x="301109" y="602219"/>
                </a:cubicBezTo>
                <a:cubicBezTo>
                  <a:pt x="134775" y="602219"/>
                  <a:pt x="0" y="467443"/>
                  <a:pt x="0" y="301109"/>
                </a:cubicBezTo>
                <a:cubicBezTo>
                  <a:pt x="0" y="134775"/>
                  <a:pt x="134775" y="0"/>
                  <a:pt x="301109" y="0"/>
                </a:cubicBezTo>
                <a:close/>
              </a:path>
            </a:pathLst>
          </a:custGeom>
          <a:solidFill>
            <a:schemeClr val="accent2"/>
          </a:solidFill>
          <a:ln w="12128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/>
            <a:endParaRPr kumimoji="1" lang="zh-CN" altLang="en-US"/>
          </a:p>
        </p:txBody>
      </p:sp>
      <p:sp>
        <p:nvSpPr>
          <p:cNvPr id="19" name="标题 1"/>
          <p:cNvSpPr txBox="1"/>
          <p:nvPr/>
        </p:nvSpPr>
        <p:spPr>
          <a:xfrm>
            <a:off x="10235860" y="2874438"/>
            <a:ext cx="558756" cy="526640"/>
          </a:xfrm>
          <a:custGeom>
            <a:avLst/>
            <a:gdLst>
              <a:gd name="connsiteX0" fmla="*/ 565749 w 763907"/>
              <a:gd name="connsiteY0" fmla="*/ 529546 h 720000"/>
              <a:gd name="connsiteX1" fmla="*/ 585849 w 763907"/>
              <a:gd name="connsiteY1" fmla="*/ 537865 h 720000"/>
              <a:gd name="connsiteX2" fmla="*/ 698960 w 763907"/>
              <a:gd name="connsiteY2" fmla="*/ 650977 h 720000"/>
              <a:gd name="connsiteX3" fmla="*/ 698960 w 763907"/>
              <a:gd name="connsiteY3" fmla="*/ 691178 h 720000"/>
              <a:gd name="connsiteX4" fmla="*/ 678860 w 763907"/>
              <a:gd name="connsiteY4" fmla="*/ 699521 h 720000"/>
              <a:gd name="connsiteX5" fmla="*/ 658760 w 763907"/>
              <a:gd name="connsiteY5" fmla="*/ 691178 h 720000"/>
              <a:gd name="connsiteX6" fmla="*/ 545648 w 763907"/>
              <a:gd name="connsiteY6" fmla="*/ 578066 h 720000"/>
              <a:gd name="connsiteX7" fmla="*/ 545648 w 763907"/>
              <a:gd name="connsiteY7" fmla="*/ 537865 h 720000"/>
              <a:gd name="connsiteX8" fmla="*/ 565749 w 763907"/>
              <a:gd name="connsiteY8" fmla="*/ 529546 h 720000"/>
              <a:gd name="connsiteX9" fmla="*/ 565749 w 763907"/>
              <a:gd name="connsiteY9" fmla="*/ 359807 h 720000"/>
              <a:gd name="connsiteX10" fmla="*/ 735464 w 763907"/>
              <a:gd name="connsiteY10" fmla="*/ 359807 h 720000"/>
              <a:gd name="connsiteX11" fmla="*/ 763907 w 763907"/>
              <a:gd name="connsiteY11" fmla="*/ 388251 h 720000"/>
              <a:gd name="connsiteX12" fmla="*/ 735464 w 763907"/>
              <a:gd name="connsiteY12" fmla="*/ 416695 h 720000"/>
              <a:gd name="connsiteX13" fmla="*/ 565749 w 763907"/>
              <a:gd name="connsiteY13" fmla="*/ 416695 h 720000"/>
              <a:gd name="connsiteX14" fmla="*/ 537305 w 763907"/>
              <a:gd name="connsiteY14" fmla="*/ 388251 h 720000"/>
              <a:gd name="connsiteX15" fmla="*/ 565749 w 763907"/>
              <a:gd name="connsiteY15" fmla="*/ 359807 h 720000"/>
              <a:gd name="connsiteX16" fmla="*/ 678860 w 763907"/>
              <a:gd name="connsiteY16" fmla="*/ 77005 h 720000"/>
              <a:gd name="connsiteX17" fmla="*/ 698960 w 763907"/>
              <a:gd name="connsiteY17" fmla="*/ 85325 h 720000"/>
              <a:gd name="connsiteX18" fmla="*/ 698960 w 763907"/>
              <a:gd name="connsiteY18" fmla="*/ 125525 h 720000"/>
              <a:gd name="connsiteX19" fmla="*/ 585849 w 763907"/>
              <a:gd name="connsiteY19" fmla="*/ 238636 h 720000"/>
              <a:gd name="connsiteX20" fmla="*/ 565749 w 763907"/>
              <a:gd name="connsiteY20" fmla="*/ 246980 h 720000"/>
              <a:gd name="connsiteX21" fmla="*/ 545648 w 763907"/>
              <a:gd name="connsiteY21" fmla="*/ 238636 h 720000"/>
              <a:gd name="connsiteX22" fmla="*/ 545648 w 763907"/>
              <a:gd name="connsiteY22" fmla="*/ 198436 h 720000"/>
              <a:gd name="connsiteX23" fmla="*/ 658760 w 763907"/>
              <a:gd name="connsiteY23" fmla="*/ 85325 h 720000"/>
              <a:gd name="connsiteX24" fmla="*/ 678860 w 763907"/>
              <a:gd name="connsiteY24" fmla="*/ 77005 h 720000"/>
              <a:gd name="connsiteX25" fmla="*/ 362802 w 763907"/>
              <a:gd name="connsiteY25" fmla="*/ 5 h 720000"/>
              <a:gd name="connsiteX26" fmla="*/ 422012 w 763907"/>
              <a:gd name="connsiteY26" fmla="*/ 16490 h 720000"/>
              <a:gd name="connsiteX27" fmla="*/ 481080 w 763907"/>
              <a:gd name="connsiteY27" fmla="*/ 119457 h 720000"/>
              <a:gd name="connsiteX28" fmla="*/ 481080 w 763907"/>
              <a:gd name="connsiteY28" fmla="*/ 600631 h 720000"/>
              <a:gd name="connsiteX29" fmla="*/ 422012 w 763907"/>
              <a:gd name="connsiteY29" fmla="*/ 703598 h 720000"/>
              <a:gd name="connsiteX30" fmla="*/ 361806 w 763907"/>
              <a:gd name="connsiteY30" fmla="*/ 720000 h 720000"/>
              <a:gd name="connsiteX31" fmla="*/ 303306 w 763907"/>
              <a:gd name="connsiteY31" fmla="*/ 704546 h 720000"/>
              <a:gd name="connsiteX32" fmla="*/ 60870 w 763907"/>
              <a:gd name="connsiteY32" fmla="*/ 568300 h 720000"/>
              <a:gd name="connsiteX33" fmla="*/ 0 w 763907"/>
              <a:gd name="connsiteY33" fmla="*/ 464291 h 720000"/>
              <a:gd name="connsiteX34" fmla="*/ 0 w 763907"/>
              <a:gd name="connsiteY34" fmla="*/ 255702 h 720000"/>
              <a:gd name="connsiteX35" fmla="*/ 60870 w 763907"/>
              <a:gd name="connsiteY35" fmla="*/ 151693 h 720000"/>
              <a:gd name="connsiteX36" fmla="*/ 303306 w 763907"/>
              <a:gd name="connsiteY36" fmla="*/ 15447 h 720000"/>
              <a:gd name="connsiteX37" fmla="*/ 362802 w 763907"/>
              <a:gd name="connsiteY37" fmla="*/ 5 h 720000"/>
            </a:gdLst>
            <a:ahLst/>
            <a:cxnLst/>
            <a:rect l="l" t="t" r="r" b="b"/>
            <a:pathLst>
              <a:path w="763907" h="720000">
                <a:moveTo>
                  <a:pt x="565749" y="529546"/>
                </a:moveTo>
                <a:cubicBezTo>
                  <a:pt x="573025" y="529546"/>
                  <a:pt x="580302" y="532319"/>
                  <a:pt x="585849" y="537865"/>
                </a:cubicBezTo>
                <a:lnTo>
                  <a:pt x="698960" y="650977"/>
                </a:lnTo>
                <a:cubicBezTo>
                  <a:pt x="710054" y="662070"/>
                  <a:pt x="710054" y="680084"/>
                  <a:pt x="698960" y="691178"/>
                </a:cubicBezTo>
                <a:cubicBezTo>
                  <a:pt x="693461" y="696677"/>
                  <a:pt x="686161" y="699521"/>
                  <a:pt x="678860" y="699521"/>
                </a:cubicBezTo>
                <a:cubicBezTo>
                  <a:pt x="671560" y="699521"/>
                  <a:pt x="664259" y="696771"/>
                  <a:pt x="658760" y="691178"/>
                </a:cubicBezTo>
                <a:lnTo>
                  <a:pt x="545648" y="578066"/>
                </a:lnTo>
                <a:cubicBezTo>
                  <a:pt x="534555" y="566973"/>
                  <a:pt x="534555" y="548959"/>
                  <a:pt x="545648" y="537865"/>
                </a:cubicBezTo>
                <a:cubicBezTo>
                  <a:pt x="551195" y="532319"/>
                  <a:pt x="558471" y="529546"/>
                  <a:pt x="565749" y="529546"/>
                </a:cubicBezTo>
                <a:close/>
                <a:moveTo>
                  <a:pt x="565749" y="359807"/>
                </a:moveTo>
                <a:lnTo>
                  <a:pt x="735464" y="359807"/>
                </a:lnTo>
                <a:cubicBezTo>
                  <a:pt x="751202" y="359807"/>
                  <a:pt x="763907" y="372512"/>
                  <a:pt x="763907" y="388251"/>
                </a:cubicBezTo>
                <a:cubicBezTo>
                  <a:pt x="763907" y="403990"/>
                  <a:pt x="751107" y="416695"/>
                  <a:pt x="735464" y="416695"/>
                </a:cubicBezTo>
                <a:lnTo>
                  <a:pt x="565749" y="416695"/>
                </a:lnTo>
                <a:cubicBezTo>
                  <a:pt x="550010" y="416695"/>
                  <a:pt x="537305" y="403990"/>
                  <a:pt x="537305" y="388251"/>
                </a:cubicBezTo>
                <a:cubicBezTo>
                  <a:pt x="537305" y="372512"/>
                  <a:pt x="550010" y="359807"/>
                  <a:pt x="565749" y="359807"/>
                </a:cubicBezTo>
                <a:close/>
                <a:moveTo>
                  <a:pt x="678860" y="77005"/>
                </a:moveTo>
                <a:cubicBezTo>
                  <a:pt x="686137" y="77005"/>
                  <a:pt x="693414" y="79778"/>
                  <a:pt x="698960" y="85325"/>
                </a:cubicBezTo>
                <a:cubicBezTo>
                  <a:pt x="710054" y="96418"/>
                  <a:pt x="710054" y="114432"/>
                  <a:pt x="698960" y="125525"/>
                </a:cubicBezTo>
                <a:lnTo>
                  <a:pt x="585849" y="238636"/>
                </a:lnTo>
                <a:cubicBezTo>
                  <a:pt x="580350" y="244231"/>
                  <a:pt x="573049" y="246980"/>
                  <a:pt x="565749" y="246980"/>
                </a:cubicBezTo>
                <a:cubicBezTo>
                  <a:pt x="558448" y="246980"/>
                  <a:pt x="551147" y="244231"/>
                  <a:pt x="545648" y="238636"/>
                </a:cubicBezTo>
                <a:cubicBezTo>
                  <a:pt x="534555" y="227543"/>
                  <a:pt x="534555" y="209529"/>
                  <a:pt x="545648" y="198436"/>
                </a:cubicBezTo>
                <a:lnTo>
                  <a:pt x="658760" y="85325"/>
                </a:lnTo>
                <a:cubicBezTo>
                  <a:pt x="664306" y="79778"/>
                  <a:pt x="671583" y="77005"/>
                  <a:pt x="678860" y="77005"/>
                </a:cubicBezTo>
                <a:close/>
                <a:moveTo>
                  <a:pt x="362802" y="5"/>
                </a:moveTo>
                <a:cubicBezTo>
                  <a:pt x="383186" y="183"/>
                  <a:pt x="403524" y="5682"/>
                  <a:pt x="422012" y="16490"/>
                </a:cubicBezTo>
                <a:cubicBezTo>
                  <a:pt x="458989" y="38108"/>
                  <a:pt x="481080" y="76601"/>
                  <a:pt x="481080" y="119457"/>
                </a:cubicBezTo>
                <a:lnTo>
                  <a:pt x="481080" y="600631"/>
                </a:lnTo>
                <a:cubicBezTo>
                  <a:pt x="481080" y="643486"/>
                  <a:pt x="458989" y="681980"/>
                  <a:pt x="422012" y="703598"/>
                </a:cubicBezTo>
                <a:cubicBezTo>
                  <a:pt x="403240" y="714501"/>
                  <a:pt x="382475" y="720000"/>
                  <a:pt x="361806" y="720000"/>
                </a:cubicBezTo>
                <a:cubicBezTo>
                  <a:pt x="341706" y="720000"/>
                  <a:pt x="321700" y="714881"/>
                  <a:pt x="303306" y="704546"/>
                </a:cubicBezTo>
                <a:lnTo>
                  <a:pt x="60870" y="568300"/>
                </a:lnTo>
                <a:cubicBezTo>
                  <a:pt x="23324" y="547157"/>
                  <a:pt x="0" y="507336"/>
                  <a:pt x="0" y="464291"/>
                </a:cubicBezTo>
                <a:lnTo>
                  <a:pt x="0" y="255702"/>
                </a:lnTo>
                <a:cubicBezTo>
                  <a:pt x="0" y="212657"/>
                  <a:pt x="23324" y="172742"/>
                  <a:pt x="60870" y="151693"/>
                </a:cubicBezTo>
                <a:lnTo>
                  <a:pt x="303306" y="15447"/>
                </a:lnTo>
                <a:cubicBezTo>
                  <a:pt x="321984" y="4970"/>
                  <a:pt x="342417" y="-173"/>
                  <a:pt x="362802" y="5"/>
                </a:cubicBezTo>
                <a:close/>
              </a:path>
            </a:pathLst>
          </a:custGeom>
          <a:solidFill>
            <a:schemeClr val="accent1"/>
          </a:solidFill>
          <a:ln w="12128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/>
            <a:endParaRPr kumimoji="1" lang="zh-CN" altLang="en-US"/>
          </a:p>
        </p:txBody>
      </p:sp>
      <p:sp>
        <p:nvSpPr>
          <p:cNvPr id="20" name="标题 1"/>
          <p:cNvSpPr txBox="1"/>
          <p:nvPr/>
        </p:nvSpPr>
        <p:spPr>
          <a:xfrm>
            <a:off x="2340506" y="2028099"/>
            <a:ext cx="3060000" cy="324000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/>
            <a:r>
              <a:rPr kumimoji="1" lang="en-US" altLang="zh-CN" sz="958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Nivel 0: Centro de Operaciones de Red (NOC) / Operadores</a:t>
            </a:r>
            <a:endParaRPr kumimoji="1" lang="zh-CN" altLang="en-US"/>
          </a:p>
        </p:txBody>
      </p:sp>
      <p:sp>
        <p:nvSpPr>
          <p:cNvPr id="21" name="标题 1"/>
          <p:cNvSpPr txBox="1"/>
          <p:nvPr/>
        </p:nvSpPr>
        <p:spPr>
          <a:xfrm>
            <a:off x="2182729" y="2407083"/>
            <a:ext cx="2932027" cy="111106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marL="628650" lvl="1" indent="-171450">
              <a:buFont typeface="Arial" panose="020B0604020202020204" pitchFamily="34" charset="0"/>
              <a:buChar char="•"/>
            </a:pPr>
            <a:r>
              <a:rPr kumimoji="1" lang="es-EC" sz="10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cs typeface="Poppins"/>
              </a:rPr>
              <a:t>Reciben todas las alertas.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kumimoji="1" lang="es-EC" sz="10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cs typeface="Poppins"/>
              </a:rPr>
              <a:t>Su función es el </a:t>
            </a:r>
            <a:r>
              <a:rPr kumimoji="1" lang="es-EC" sz="10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cs typeface="Poppins"/>
              </a:rPr>
              <a:t>Triaje</a:t>
            </a:r>
            <a:r>
              <a:rPr kumimoji="1" lang="es-EC" sz="10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cs typeface="Poppins"/>
              </a:rPr>
              <a:t>: ¿Es una alerta real o un falso positivo?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kumimoji="1" lang="es-EC" sz="10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cs typeface="Poppins"/>
              </a:rPr>
              <a:t>Intentan la solución usando un Manual de Actuación (</a:t>
            </a:r>
            <a:r>
              <a:rPr kumimoji="1" lang="es-EC" sz="10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cs typeface="Poppins"/>
              </a:rPr>
              <a:t>Playbook</a:t>
            </a:r>
            <a:r>
              <a:rPr kumimoji="1" lang="es-EC" sz="10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cs typeface="Poppins"/>
              </a:rPr>
              <a:t>). (Ej. "Alerta de 'Servicio X detenido' -&gt; Procedimiento: Reiniciar servicio X").</a:t>
            </a:r>
          </a:p>
          <a:p>
            <a:pPr algn="ctr"/>
            <a:endParaRPr kumimoji="1" lang="zh-CN" altLang="en-US" sz="1000" dirty="0">
              <a:ln w="12700">
                <a:noFill/>
              </a:ln>
              <a:solidFill>
                <a:srgbClr val="262626">
                  <a:alpha val="100000"/>
                </a:srgbClr>
              </a:solidFill>
              <a:latin typeface="Poppins"/>
              <a:cs typeface="Poppins"/>
            </a:endParaRPr>
          </a:p>
        </p:txBody>
      </p:sp>
      <p:sp>
        <p:nvSpPr>
          <p:cNvPr id="22" name="标题 1"/>
          <p:cNvSpPr txBox="1"/>
          <p:nvPr/>
        </p:nvSpPr>
        <p:spPr>
          <a:xfrm>
            <a:off x="6816894" y="2040799"/>
            <a:ext cx="3060000" cy="324000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/>
            <a:r>
              <a:rPr kumimoji="1" lang="en-US" altLang="zh-CN" sz="958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Nivel 1: Técnicos de Soporte / Administradores Jr.</a:t>
            </a:r>
            <a:endParaRPr kumimoji="1" lang="zh-CN" altLang="en-US"/>
          </a:p>
        </p:txBody>
      </p:sp>
      <p:sp>
        <p:nvSpPr>
          <p:cNvPr id="23" name="标题 1"/>
          <p:cNvSpPr txBox="1"/>
          <p:nvPr/>
        </p:nvSpPr>
        <p:spPr>
          <a:xfrm>
            <a:off x="6637808" y="2405684"/>
            <a:ext cx="2859498" cy="1296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marL="628650" lvl="1" indent="-171450">
              <a:buFont typeface="Arial" panose="020B0604020202020204" pitchFamily="34" charset="0"/>
              <a:buChar char="•"/>
            </a:pPr>
            <a:r>
              <a:rPr kumimoji="1" lang="es-EC" sz="10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cs typeface="Poppins"/>
              </a:rPr>
              <a:t>Si el Nivel 0 no puede resolverlo en X minutos (definido por el SLA), se escala al Nivel 1.</a:t>
            </a:r>
          </a:p>
          <a:p>
            <a:pPr lvl="1"/>
            <a:endParaRPr kumimoji="1" lang="es-EC" sz="1000" dirty="0">
              <a:ln w="12700">
                <a:noFill/>
              </a:ln>
              <a:solidFill>
                <a:srgbClr val="262626">
                  <a:alpha val="100000"/>
                </a:srgbClr>
              </a:solidFill>
              <a:latin typeface="Poppins"/>
              <a:cs typeface="Poppins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kumimoji="1" lang="es-EC" sz="10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cs typeface="Poppins"/>
              </a:rPr>
              <a:t>Realizan un </a:t>
            </a:r>
            <a:r>
              <a:rPr kumimoji="1" lang="es-EC" sz="10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cs typeface="Poppins"/>
              </a:rPr>
              <a:t>troubleshooting</a:t>
            </a:r>
            <a:r>
              <a:rPr kumimoji="1" lang="es-EC" sz="10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cs typeface="Poppins"/>
              </a:rPr>
              <a:t> más profundo (revisión de logs, análisis básico).</a:t>
            </a:r>
          </a:p>
        </p:txBody>
      </p:sp>
      <p:sp>
        <p:nvSpPr>
          <p:cNvPr id="24" name="标题 1"/>
          <p:cNvSpPr txBox="1"/>
          <p:nvPr/>
        </p:nvSpPr>
        <p:spPr>
          <a:xfrm>
            <a:off x="4648549" y="4165068"/>
            <a:ext cx="2837749" cy="324000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/>
            <a:r>
              <a:rPr kumimoji="1" lang="en-US" altLang="zh-CN" sz="999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Nivel 3: Ingenieros Sr. / </a:t>
            </a:r>
            <a:r>
              <a:rPr kumimoji="1" lang="en-US" altLang="zh-CN" sz="999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Proveedores</a:t>
            </a:r>
            <a:r>
              <a:rPr kumimoji="1" lang="en-US" altLang="zh-CN" sz="999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 </a:t>
            </a:r>
            <a:r>
              <a:rPr kumimoji="1" lang="en-US" altLang="zh-CN" sz="999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Externos</a:t>
            </a:r>
            <a:endParaRPr kumimoji="1" lang="zh-CN" altLang="en-US" dirty="0"/>
          </a:p>
        </p:txBody>
      </p:sp>
      <p:sp>
        <p:nvSpPr>
          <p:cNvPr id="25" name="标题 1"/>
          <p:cNvSpPr txBox="1"/>
          <p:nvPr/>
        </p:nvSpPr>
        <p:spPr>
          <a:xfrm>
            <a:off x="4678676" y="4663380"/>
            <a:ext cx="2564700" cy="1296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marL="628650" lvl="1" indent="-171450">
              <a:buFont typeface="Arial" panose="020B0604020202020204" pitchFamily="34" charset="0"/>
              <a:buChar char="•"/>
            </a:pPr>
            <a:r>
              <a:rPr kumimoji="1" lang="es-EC" sz="10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cs typeface="Poppins"/>
              </a:rPr>
              <a:t>Problemas de muy alta complejidad, bugs de software, o fallos de hardware.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kumimoji="1" lang="es-EC" sz="10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cs typeface="Poppins"/>
              </a:rPr>
              <a:t>Aquí se contacta a soporte de proveedores (Ej. </a:t>
            </a:r>
            <a:r>
              <a:rPr kumimoji="1" lang="en-US" sz="10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cs typeface="Poppins"/>
              </a:rPr>
              <a:t>Cisco TAC, Microsoft, Red Hat, Oracle).</a:t>
            </a:r>
            <a:endParaRPr kumimoji="1" lang="es-EC" sz="1000" dirty="0">
              <a:ln w="12700">
                <a:noFill/>
              </a:ln>
              <a:solidFill>
                <a:srgbClr val="262626">
                  <a:alpha val="100000"/>
                </a:srgbClr>
              </a:solidFill>
              <a:latin typeface="Poppins"/>
              <a:cs typeface="Poppins"/>
            </a:endParaRPr>
          </a:p>
        </p:txBody>
      </p:sp>
      <p:sp>
        <p:nvSpPr>
          <p:cNvPr id="26" name="标题 1"/>
          <p:cNvSpPr txBox="1"/>
          <p:nvPr/>
        </p:nvSpPr>
        <p:spPr>
          <a:xfrm>
            <a:off x="159462" y="4165068"/>
            <a:ext cx="2774249" cy="324000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/>
            <a:r>
              <a:rPr kumimoji="1" lang="en-US" altLang="zh-CN" sz="1055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Nivel 2: Especialistas / Administradores Sr.</a:t>
            </a:r>
            <a:endParaRPr kumimoji="1" lang="zh-CN" altLang="en-US"/>
          </a:p>
        </p:txBody>
      </p:sp>
      <p:sp>
        <p:nvSpPr>
          <p:cNvPr id="27" name="标题 1"/>
          <p:cNvSpPr txBox="1"/>
          <p:nvPr/>
        </p:nvSpPr>
        <p:spPr>
          <a:xfrm>
            <a:off x="255988" y="4613587"/>
            <a:ext cx="2463100" cy="1296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marL="628650" lvl="1" indent="-171450">
              <a:buFont typeface="Arial" panose="020B0604020202020204" pitchFamily="34" charset="0"/>
              <a:buChar char="•"/>
            </a:pPr>
            <a:r>
              <a:rPr kumimoji="1" lang="es-EC" sz="10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cs typeface="Poppins"/>
              </a:rPr>
              <a:t>El Nivel 1 escala a grupos específicos.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kumimoji="1" lang="es-EC" sz="10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cs typeface="Poppins"/>
              </a:rPr>
              <a:t>Ejemplos: Administrador de Redes, Administrador de Bases de Datos (DBA), Administrador de Almacenamiento (Storage).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kumimoji="1" lang="es-EC" sz="10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cs typeface="Poppins"/>
              </a:rPr>
              <a:t>Manejan problemas complejos que requieren conocimiento experto.</a:t>
            </a:r>
          </a:p>
        </p:txBody>
      </p:sp>
      <p:sp>
        <p:nvSpPr>
          <p:cNvPr id="28" name="标题 1"/>
          <p:cNvSpPr txBox="1"/>
          <p:nvPr/>
        </p:nvSpPr>
        <p:spPr>
          <a:xfrm>
            <a:off x="8985237" y="4195855"/>
            <a:ext cx="3060000" cy="324000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/>
            <a:r>
              <a:rPr kumimoji="1" lang="en-US" altLang="zh-CN" sz="16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Escalamiento</a:t>
            </a:r>
            <a:r>
              <a:rPr kumimoji="1" lang="en-US" altLang="zh-CN" sz="16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 </a:t>
            </a:r>
            <a:r>
              <a:rPr kumimoji="1" lang="en-US" altLang="zh-CN" sz="16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Gerencial</a:t>
            </a:r>
            <a:endParaRPr kumimoji="1" lang="zh-CN" altLang="en-US" dirty="0"/>
          </a:p>
        </p:txBody>
      </p:sp>
      <p:sp>
        <p:nvSpPr>
          <p:cNvPr id="29" name="标题 1"/>
          <p:cNvSpPr txBox="1"/>
          <p:nvPr/>
        </p:nvSpPr>
        <p:spPr>
          <a:xfrm>
            <a:off x="9283688" y="4544052"/>
            <a:ext cx="2463100" cy="1296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/>
            <a:r>
              <a:rPr kumimoji="1" lang="en-US" altLang="zh-CN" sz="1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Notificación a Gerentes de TI y líderes de unidades de negocio</a:t>
            </a:r>
            <a:endParaRPr kumimoji="1" lang="zh-CN" altLang="en-US"/>
          </a:p>
        </p:txBody>
      </p:sp>
      <p:sp>
        <p:nvSpPr>
          <p:cNvPr id="31" name="标题 1"/>
          <p:cNvSpPr txBox="1"/>
          <p:nvPr/>
        </p:nvSpPr>
        <p:spPr>
          <a:xfrm>
            <a:off x="888091" y="783948"/>
            <a:ext cx="10671175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ctr"/>
            <a:r>
              <a:rPr kumimoji="1" lang="en-US" altLang="zh-CN" sz="28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Proceso</a:t>
            </a:r>
            <a:r>
              <a:rPr kumimoji="1" lang="en-US" altLang="zh-CN" sz="28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 de </a:t>
            </a:r>
            <a:r>
              <a:rPr kumimoji="1" lang="en-US" altLang="zh-CN" sz="28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Escalamiento</a:t>
            </a:r>
            <a:r>
              <a:rPr kumimoji="1" lang="en-US" altLang="zh-CN" sz="28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 </a:t>
            </a:r>
            <a:endParaRPr kumimoji="1" lang="zh-CN" altLang="en-US" dirty="0"/>
          </a:p>
        </p:txBody>
      </p:sp>
      <p:pic>
        <p:nvPicPr>
          <p:cNvPr id="34" name="Imagen 33">
            <a:extLst>
              <a:ext uri="{FF2B5EF4-FFF2-40B4-BE49-F238E27FC236}">
                <a16:creationId xmlns:a16="http://schemas.microsoft.com/office/drawing/2014/main" id="{E05F062B-AF55-D55A-C236-00CC3F47507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 flipH="1">
            <a:off x="2582535" y="3830100"/>
            <a:ext cx="5040000" cy="2304000"/>
          </a:xfrm>
          <a:prstGeom prst="round1Rect">
            <a:avLst/>
          </a:prstGeom>
          <a:solidFill>
            <a:schemeClr val="bg1">
              <a:lumMod val="95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4558346" y="1315640"/>
            <a:ext cx="5040000" cy="2304000"/>
          </a:xfrm>
          <a:prstGeom prst="round1Rect">
            <a:avLst/>
          </a:prstGeom>
          <a:solidFill>
            <a:schemeClr val="bg1">
              <a:lumMod val="95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4918346" y="1676682"/>
            <a:ext cx="4320000" cy="360000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1392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Software de Alertas (Ej. PagerDuty, Opsgenie)</a:t>
            </a: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5098346" y="2036682"/>
            <a:ext cx="4320000" cy="1152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r>
              <a:rPr lang="es-EC" dirty="0"/>
              <a:t>Gestionan las guardias (</a:t>
            </a:r>
            <a:r>
              <a:rPr lang="es-EC" dirty="0" err="1"/>
              <a:t>on-call</a:t>
            </a:r>
            <a:r>
              <a:rPr lang="es-EC" dirty="0"/>
              <a:t>), aseguran que la persona correcta sea notificada (SMS, llamada, app) y escalan automáticamente si no hay respuesta.</a:t>
            </a:r>
            <a:endParaRPr kumimoji="1" lang="zh-CN" altLang="en-US" dirty="0"/>
          </a:p>
        </p:txBody>
      </p:sp>
      <p:sp>
        <p:nvSpPr>
          <p:cNvPr id="12" name="标题 1"/>
          <p:cNvSpPr txBox="1"/>
          <p:nvPr/>
        </p:nvSpPr>
        <p:spPr>
          <a:xfrm>
            <a:off x="2942535" y="4181345"/>
            <a:ext cx="4320000" cy="360000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1566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Sistema de Tickets (Ej. Jira, ServiceNow)</a:t>
            </a: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>
            <a:off x="2839665" y="4541345"/>
            <a:ext cx="4320000" cy="1152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lvl="0"/>
            <a:r>
              <a:rPr lang="es-EC" dirty="0"/>
              <a:t>Cada alerta </a:t>
            </a:r>
            <a:r>
              <a:rPr lang="es-EC" i="1" dirty="0"/>
              <a:t>crítica</a:t>
            </a:r>
            <a:r>
              <a:rPr lang="es-EC" dirty="0"/>
              <a:t> debe generar un ticket para documentar el incidente, su causa raíz y su solución (vital para el análisis </a:t>
            </a:r>
            <a:r>
              <a:rPr lang="es-EC" dirty="0" err="1"/>
              <a:t>post-mortem</a:t>
            </a:r>
            <a:r>
              <a:rPr lang="es-EC" dirty="0"/>
              <a:t>).</a:t>
            </a:r>
          </a:p>
        </p:txBody>
      </p:sp>
      <p:sp>
        <p:nvSpPr>
          <p:cNvPr id="15" name="标题 1"/>
          <p:cNvSpPr txBox="1"/>
          <p:nvPr/>
        </p:nvSpPr>
        <p:spPr>
          <a:xfrm>
            <a:off x="1485401" y="794161"/>
            <a:ext cx="8112945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ctr"/>
            <a:r>
              <a:rPr kumimoji="1" lang="en-US" altLang="zh-CN" sz="28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Herramientas Clave para </a:t>
            </a:r>
            <a:r>
              <a:rPr kumimoji="1" lang="en-US" altLang="zh-CN" sz="28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el</a:t>
            </a:r>
            <a:r>
              <a:rPr kumimoji="1" lang="en-US" altLang="zh-CN" sz="28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 </a:t>
            </a:r>
            <a:r>
              <a:rPr kumimoji="1" lang="en-US" altLang="zh-CN" sz="28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Escalamiento</a:t>
            </a:r>
            <a:endParaRPr kumimoji="1" lang="zh-CN" altLang="en-US" dirty="0"/>
          </a:p>
        </p:txBody>
      </p:sp>
      <p:pic>
        <p:nvPicPr>
          <p:cNvPr id="20" name="Imagen 19">
            <a:extLst>
              <a:ext uri="{FF2B5EF4-FFF2-40B4-BE49-F238E27FC236}">
                <a16:creationId xmlns:a16="http://schemas.microsoft.com/office/drawing/2014/main" id="{B9CFA292-F7F8-6A05-3791-D89907D079B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/>
          <p:cNvSpPr txBox="1"/>
          <p:nvPr/>
        </p:nvSpPr>
        <p:spPr>
          <a:xfrm>
            <a:off x="792440" y="2367171"/>
            <a:ext cx="7989608" cy="212365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/>
          <a:lstStyle/>
          <a:p>
            <a:r>
              <a:rPr kumimoji="1" lang="en-US" altLang="zh-CN" sz="65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Thanks</a:t>
            </a:r>
            <a:endParaRPr kumimoji="1" lang="zh-CN" altLang="en-US" dirty="0"/>
          </a:p>
        </p:txBody>
      </p:sp>
      <p:sp>
        <p:nvSpPr>
          <p:cNvPr id="10" name="标题 1"/>
          <p:cNvSpPr txBox="1"/>
          <p:nvPr/>
        </p:nvSpPr>
        <p:spPr>
          <a:xfrm>
            <a:off x="1306790" y="3429000"/>
            <a:ext cx="4911130" cy="830997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/>
          <a:lstStyle/>
          <a:p>
            <a:r>
              <a:rPr kumimoji="1" lang="en-US" altLang="zh-CN" sz="24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MGS. JOSE FRANCO LAMILLA</a:t>
            </a:r>
            <a:endParaRPr kumimoji="1" lang="zh-CN" altLang="en-US"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5EB85E9C-DB87-63F1-9DE3-1F604722CF2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1213</Words>
  <Application>Microsoft Office PowerPoint</Application>
  <PresentationFormat>Panorámica</PresentationFormat>
  <Paragraphs>116</Paragraphs>
  <Slides>15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20" baseType="lpstr">
      <vt:lpstr>poppins-bold</vt:lpstr>
      <vt:lpstr>Courier New</vt:lpstr>
      <vt:lpstr>Poppins</vt:lpstr>
      <vt:lpstr>Arial</vt:lpstr>
      <vt:lpstr>Office 主题​​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TICS</cp:lastModifiedBy>
  <cp:revision>1</cp:revision>
  <dcterms:modified xsi:type="dcterms:W3CDTF">2025-10-27T19:53:04Z</dcterms:modified>
</cp:coreProperties>
</file>
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embeddedFontLst>
    <p:embeddedFont>
      <p:font typeface="Poppins" panose="00000500000000000000" pitchFamily="2" charset="0"/>
      <p:regular r:id="rId22"/>
      <p:bold r:id="rId23"/>
      <p:italic r:id="rId24"/>
      <p:boldItalic r:id="rId25"/>
    </p:embeddedFont>
    <p:embeddedFont>
      <p:font typeface="poppins-bold" panose="020B0604020202020204" charset="0"/>
      <p:regular r:id="rId26"/>
    </p:embeddedFont>
  </p:embeddedFontLst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914399" y="1200625"/>
            <a:ext cx="8748461" cy="2881022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32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Inventario, Control y Mantenimiento de Hardware y Software en la Administración de Centros de Cómputo</a:t>
            </a:r>
            <a:endParaRPr kumimoji="1" lang="zh-CN" altLang="en-US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9433CAFE-3A1B-FEF4-8095-4D830FE507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/>
          <p:nvPr/>
        </p:nvSpPr>
        <p:spPr>
          <a:xfrm>
            <a:off x="11276664" y="496265"/>
            <a:ext cx="193613" cy="193613"/>
          </a:xfrm>
          <a:prstGeom prst="ellipse">
            <a:avLst/>
          </a:prstGeom>
          <a:solidFill>
            <a:schemeClr val="bg1"/>
          </a:solidFill>
          <a:ln cap="sq">
            <a:noFill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2385636" y="799123"/>
            <a:ext cx="7420729" cy="141128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8800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CONTENTS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1445470" y="2514587"/>
            <a:ext cx="967793" cy="87981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371357" y="2413570"/>
            <a:ext cx="4338734" cy="1081847"/>
          </a:xfrm>
          <a:prstGeom prst="rect">
            <a:avLst/>
          </a:prstGeom>
          <a:solidFill>
            <a:schemeClr val="accent1">
              <a:lumMod val="75000"/>
              <a:lumOff val="25000"/>
            </a:schemeClr>
          </a:solidFill>
          <a:ln w="254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387376" y="2413570"/>
            <a:ext cx="1083980" cy="1081847"/>
          </a:xfrm>
          <a:prstGeom prst="rect">
            <a:avLst/>
          </a:prstGeom>
          <a:solidFill>
            <a:schemeClr val="accent1"/>
          </a:solidFill>
          <a:ln w="254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2624399" y="2520360"/>
            <a:ext cx="2832729" cy="86826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Introducción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343852" y="2458816"/>
            <a:ext cx="1171029" cy="99135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4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445470" y="3848070"/>
            <a:ext cx="967793" cy="87981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1371357" y="3747053"/>
            <a:ext cx="4338734" cy="1081847"/>
          </a:xfrm>
          <a:prstGeom prst="rect">
            <a:avLst/>
          </a:prstGeom>
          <a:solidFill>
            <a:schemeClr val="accent1">
              <a:lumMod val="75000"/>
              <a:lumOff val="25000"/>
            </a:schemeClr>
          </a:solidFill>
          <a:ln w="254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1387376" y="3747053"/>
            <a:ext cx="1083980" cy="1081847"/>
          </a:xfrm>
          <a:prstGeom prst="rect">
            <a:avLst/>
          </a:prstGeom>
          <a:solidFill>
            <a:schemeClr val="accent1"/>
          </a:solidFill>
          <a:ln w="254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1343852" y="3792299"/>
            <a:ext cx="1171029" cy="99135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4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6583528" y="2514587"/>
            <a:ext cx="967793" cy="87981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6509415" y="2413570"/>
            <a:ext cx="4338734" cy="1081847"/>
          </a:xfrm>
          <a:prstGeom prst="rect">
            <a:avLst/>
          </a:prstGeom>
          <a:solidFill>
            <a:schemeClr val="accent1">
              <a:lumMod val="75000"/>
              <a:lumOff val="25000"/>
            </a:schemeClr>
          </a:solidFill>
          <a:ln w="254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6525434" y="2413570"/>
            <a:ext cx="1083980" cy="1081847"/>
          </a:xfrm>
          <a:prstGeom prst="rect">
            <a:avLst/>
          </a:prstGeom>
          <a:solidFill>
            <a:schemeClr val="accent1"/>
          </a:solidFill>
          <a:ln w="254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6481910" y="2458816"/>
            <a:ext cx="1171029" cy="99135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4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04</a:t>
            </a: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6583528" y="3848070"/>
            <a:ext cx="967793" cy="87981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6509415" y="3747053"/>
            <a:ext cx="4338734" cy="1081847"/>
          </a:xfrm>
          <a:prstGeom prst="rect">
            <a:avLst/>
          </a:prstGeom>
          <a:solidFill>
            <a:schemeClr val="accent1">
              <a:lumMod val="75000"/>
              <a:lumOff val="25000"/>
            </a:schemeClr>
          </a:solidFill>
          <a:ln w="254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6525434" y="3747053"/>
            <a:ext cx="1083980" cy="1081847"/>
          </a:xfrm>
          <a:prstGeom prst="rect">
            <a:avLst/>
          </a:prstGeom>
          <a:solidFill>
            <a:schemeClr val="accent1"/>
          </a:solidFill>
          <a:ln w="254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6481910" y="3792299"/>
            <a:ext cx="1171029" cy="99135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4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05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7836256" y="2520360"/>
            <a:ext cx="2832729" cy="86826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Registro y Trazabilidad de Activos Tecnológicos</a:t>
            </a: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2624399" y="3853843"/>
            <a:ext cx="2832729" cy="86826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Herramientas de Inventario en un Centro de Cómputo</a:t>
            </a:r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>
            <a:off x="7836256" y="3853843"/>
            <a:ext cx="2832729" cy="86826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Buenas Prácticas Administrativas</a:t>
            </a: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>
            <a:off x="1445470" y="5181552"/>
            <a:ext cx="967793" cy="87981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371357" y="5080535"/>
            <a:ext cx="4338734" cy="1081847"/>
          </a:xfrm>
          <a:prstGeom prst="rect">
            <a:avLst/>
          </a:prstGeom>
          <a:solidFill>
            <a:schemeClr val="accent1">
              <a:lumMod val="75000"/>
              <a:lumOff val="25000"/>
            </a:schemeClr>
          </a:solidFill>
          <a:ln w="254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1387376" y="5080535"/>
            <a:ext cx="1083980" cy="1081847"/>
          </a:xfrm>
          <a:prstGeom prst="rect">
            <a:avLst/>
          </a:prstGeom>
          <a:solidFill>
            <a:schemeClr val="accent1"/>
          </a:solidFill>
          <a:ln w="254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1343852" y="5125781"/>
            <a:ext cx="1171029" cy="99135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4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03</a:t>
            </a: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6583528" y="5181552"/>
            <a:ext cx="967793" cy="879812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>
            <a:off x="6509415" y="5080535"/>
            <a:ext cx="4338734" cy="1081847"/>
          </a:xfrm>
          <a:prstGeom prst="rect">
            <a:avLst/>
          </a:prstGeom>
          <a:solidFill>
            <a:schemeClr val="accent1">
              <a:lumMod val="75000"/>
              <a:lumOff val="25000"/>
            </a:schemeClr>
          </a:solidFill>
          <a:ln w="254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6525434" y="5080535"/>
            <a:ext cx="1083980" cy="1081847"/>
          </a:xfrm>
          <a:prstGeom prst="rect">
            <a:avLst/>
          </a:prstGeom>
          <a:solidFill>
            <a:schemeClr val="accent1"/>
          </a:solidFill>
          <a:ln w="254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>
            <a:off x="6481910" y="5125781"/>
            <a:ext cx="1171029" cy="99135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4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06</a:t>
            </a: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624399" y="5187325"/>
            <a:ext cx="2832729" cy="86826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Mantenimiento Preventivo y Correctivo</a:t>
            </a: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7836256" y="5187325"/>
            <a:ext cx="2832729" cy="868267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Conclusión</a:t>
            </a:r>
            <a:endParaRPr kumimoji="1" lang="zh-CN" altLang="en-US"/>
          </a:p>
        </p:txBody>
      </p:sp>
      <p:pic>
        <p:nvPicPr>
          <p:cNvPr id="38" name="Imagen 37">
            <a:extLst>
              <a:ext uri="{FF2B5EF4-FFF2-40B4-BE49-F238E27FC236}">
                <a16:creationId xmlns:a16="http://schemas.microsoft.com/office/drawing/2014/main" id="{4D271C79-9253-CB9D-82E2-221123388C7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1033670" y="1614089"/>
            <a:ext cx="1755485" cy="111711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8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01</a:t>
            </a:r>
            <a:endParaRPr kumimoji="1" lang="zh-CN" altLang="en-US" dirty="0"/>
          </a:p>
        </p:txBody>
      </p:sp>
      <p:sp>
        <p:nvSpPr>
          <p:cNvPr id="7" name="标题 1"/>
          <p:cNvSpPr txBox="1"/>
          <p:nvPr/>
        </p:nvSpPr>
        <p:spPr>
          <a:xfrm>
            <a:off x="1911412" y="2731204"/>
            <a:ext cx="5911783" cy="202036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Introducción</a:t>
            </a:r>
            <a:endParaRPr kumimoji="1" lang="zh-CN" altLang="en-U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0F7DFCA-A4F4-3005-85BC-C8AD12F31A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706064" y="2602333"/>
            <a:ext cx="1582360" cy="158236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/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706064" y="4373132"/>
            <a:ext cx="3726356" cy="17983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36000" rIns="0" bIns="36000" rtlCol="0" anchor="t"/>
          <a:lstStyle/>
          <a:p>
            <a:pPr algn="l"/>
            <a:r>
              <a:rPr kumimoji="1" lang="en-US" altLang="zh-CN" sz="120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En la administración de un centro de cómputo, mantener un control eficiente sobre el hardware y el software es fundamental para garantizar la continuidad operativa, la seguridad de la información y la optimización de los recursos tecnológicos.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6960363" y="2602332"/>
            <a:ext cx="1582360" cy="158236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  <a:effectLst/>
        </p:spPr>
        <p:txBody>
          <a:bodyPr vert="horz" wrap="square" lIns="0" tIns="0" rIns="0" bIns="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960366" y="4373132"/>
            <a:ext cx="3942256" cy="17983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36000" rIns="0" bIns="36000" rtlCol="0" anchor="t"/>
          <a:lstStyle/>
          <a:p>
            <a:pPr algn="l"/>
            <a:r>
              <a:rPr kumimoji="1" lang="en-US" altLang="zh-CN" sz="1201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El inventario y mantenimiento no son solo tareas técnicas, sino también procesos de gestión estratégica, ya que permiten planificar compras, prevenir fallas y asegurar que los servicios tecnológicos estén siempre disponibles para los usuarios académicos y administrativos.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184668" y="3279934"/>
            <a:ext cx="285852" cy="285852"/>
          </a:xfrm>
          <a:prstGeom prst="chevron">
            <a:avLst/>
          </a:prstGeom>
          <a:solidFill>
            <a:schemeClr val="accent1">
              <a:lumMod val="20000"/>
              <a:lumOff val="80000"/>
            </a:schemeClr>
          </a:solidFill>
          <a:ln cap="sq">
            <a:noFill/>
            <a:prstDash val="solid"/>
            <a:miter/>
          </a:ln>
          <a:effectLst>
            <a:outerShdw blurRad="38100" dist="12700" dir="5400000" algn="ctr" rotWithShape="0">
              <a:srgbClr val="000000">
                <a:alpha val="15000"/>
              </a:srgbClr>
            </a:outerShdw>
          </a:effectLst>
        </p:spPr>
        <p:txBody>
          <a:bodyPr vert="horz" wrap="square" lIns="0" tIns="0" rIns="0" bIns="0" rtlCol="0" anchor="t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918236" y="1174526"/>
            <a:ext cx="500415" cy="397129"/>
          </a:xfrm>
          <a:custGeom>
            <a:avLst/>
            <a:gdLst>
              <a:gd name="connsiteX0" fmla="*/ 476250 w 476250"/>
              <a:gd name="connsiteY0" fmla="*/ 0 h 377952"/>
              <a:gd name="connsiteX1" fmla="*/ 476250 w 476250"/>
              <a:gd name="connsiteY1" fmla="*/ 81725 h 377952"/>
              <a:gd name="connsiteX2" fmla="*/ 367570 w 476250"/>
              <a:gd name="connsiteY2" fmla="*/ 187452 h 377952"/>
              <a:gd name="connsiteX3" fmla="*/ 476250 w 476250"/>
              <a:gd name="connsiteY3" fmla="*/ 187452 h 377952"/>
              <a:gd name="connsiteX4" fmla="*/ 476250 w 476250"/>
              <a:gd name="connsiteY4" fmla="*/ 377952 h 377952"/>
              <a:gd name="connsiteX5" fmla="*/ 285750 w 476250"/>
              <a:gd name="connsiteY5" fmla="*/ 377952 h 377952"/>
              <a:gd name="connsiteX6" fmla="*/ 285750 w 476250"/>
              <a:gd name="connsiteY6" fmla="*/ 187452 h 377952"/>
              <a:gd name="connsiteX7" fmla="*/ 476250 w 476250"/>
              <a:gd name="connsiteY7" fmla="*/ 0 h 377952"/>
              <a:gd name="connsiteX8" fmla="*/ 190500 w 476250"/>
              <a:gd name="connsiteY8" fmla="*/ 0 h 377952"/>
              <a:gd name="connsiteX9" fmla="*/ 190500 w 476250"/>
              <a:gd name="connsiteY9" fmla="*/ 81725 h 377952"/>
              <a:gd name="connsiteX10" fmla="*/ 81820 w 476250"/>
              <a:gd name="connsiteY10" fmla="*/ 187452 h 377952"/>
              <a:gd name="connsiteX11" fmla="*/ 190500 w 476250"/>
              <a:gd name="connsiteY11" fmla="*/ 187452 h 377952"/>
              <a:gd name="connsiteX12" fmla="*/ 190500 w 476250"/>
              <a:gd name="connsiteY12" fmla="*/ 377952 h 377952"/>
              <a:gd name="connsiteX13" fmla="*/ 0 w 476250"/>
              <a:gd name="connsiteY13" fmla="*/ 377952 h 377952"/>
              <a:gd name="connsiteX14" fmla="*/ 0 w 476250"/>
              <a:gd name="connsiteY14" fmla="*/ 187452 h 377952"/>
              <a:gd name="connsiteX15" fmla="*/ 190500 w 476250"/>
              <a:gd name="connsiteY15" fmla="*/ 0 h 377952"/>
            </a:gdLst>
            <a:ahLst/>
            <a:cxnLst/>
            <a:rect l="l" t="t" r="r" b="b"/>
            <a:pathLst>
              <a:path w="476250" h="377952">
                <a:moveTo>
                  <a:pt x="476250" y="0"/>
                </a:moveTo>
                <a:lnTo>
                  <a:pt x="476250" y="81725"/>
                </a:lnTo>
                <a:cubicBezTo>
                  <a:pt x="417383" y="81753"/>
                  <a:pt x="369219" y="128608"/>
                  <a:pt x="367570" y="187452"/>
                </a:cubicBezTo>
                <a:lnTo>
                  <a:pt x="476250" y="187452"/>
                </a:lnTo>
                <a:lnTo>
                  <a:pt x="476250" y="377952"/>
                </a:lnTo>
                <a:lnTo>
                  <a:pt x="285750" y="377952"/>
                </a:lnTo>
                <a:lnTo>
                  <a:pt x="285750" y="187452"/>
                </a:lnTo>
                <a:cubicBezTo>
                  <a:pt x="287415" y="83434"/>
                  <a:pt x="372219" y="-13"/>
                  <a:pt x="476250" y="0"/>
                </a:cubicBezTo>
                <a:close/>
                <a:moveTo>
                  <a:pt x="190500" y="0"/>
                </a:moveTo>
                <a:lnTo>
                  <a:pt x="190500" y="81725"/>
                </a:lnTo>
                <a:cubicBezTo>
                  <a:pt x="131633" y="81753"/>
                  <a:pt x="83469" y="128608"/>
                  <a:pt x="81820" y="187452"/>
                </a:cubicBezTo>
                <a:lnTo>
                  <a:pt x="190500" y="187452"/>
                </a:lnTo>
                <a:lnTo>
                  <a:pt x="190500" y="377952"/>
                </a:lnTo>
                <a:lnTo>
                  <a:pt x="0" y="377952"/>
                </a:lnTo>
                <a:lnTo>
                  <a:pt x="0" y="187452"/>
                </a:lnTo>
                <a:cubicBezTo>
                  <a:pt x="1665" y="83434"/>
                  <a:pt x="86469" y="-13"/>
                  <a:pt x="190500" y="0"/>
                </a:cubicBezTo>
                <a:close/>
              </a:path>
            </a:pathLst>
          </a:custGeom>
          <a:solidFill>
            <a:schemeClr val="accent1"/>
          </a:solidFill>
          <a:ln w="605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1648841" y="1235561"/>
            <a:ext cx="9612538" cy="13605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Introducción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422721" y="2899748"/>
            <a:ext cx="2138856" cy="106164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36000" rIns="0" bIns="36000" rtlCol="0" anchor="ctr"/>
          <a:lstStyle/>
          <a:p>
            <a:pPr algn="ctr"/>
            <a:r>
              <a:rPr kumimoji="1" lang="en-US" altLang="zh-CN" sz="52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6675937" y="2899748"/>
            <a:ext cx="2138856" cy="106164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36000" rIns="0" bIns="36000" rtlCol="0" anchor="ctr"/>
          <a:lstStyle/>
          <a:p>
            <a:pPr algn="ctr"/>
            <a:r>
              <a:rPr kumimoji="1" lang="en-US" altLang="zh-CN" sz="52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-1" y="218915"/>
            <a:ext cx="621792" cy="326730"/>
          </a:xfrm>
          <a:custGeom>
            <a:avLst/>
            <a:gdLst>
              <a:gd name="connsiteX0" fmla="*/ 0 w 621792"/>
              <a:gd name="connsiteY0" fmla="*/ 0 h 326730"/>
              <a:gd name="connsiteX1" fmla="*/ 146813 w 621792"/>
              <a:gd name="connsiteY1" fmla="*/ 0 h 326730"/>
              <a:gd name="connsiteX2" fmla="*/ 474979 w 621792"/>
              <a:gd name="connsiteY2" fmla="*/ 0 h 326730"/>
              <a:gd name="connsiteX3" fmla="*/ 621792 w 621792"/>
              <a:gd name="connsiteY3" fmla="*/ 0 h 326730"/>
              <a:gd name="connsiteX4" fmla="*/ 412064 w 621792"/>
              <a:gd name="connsiteY4" fmla="*/ 326730 h 326730"/>
              <a:gd name="connsiteX5" fmla="*/ 265251 w 621792"/>
              <a:gd name="connsiteY5" fmla="*/ 326730 h 326730"/>
              <a:gd name="connsiteX6" fmla="*/ 146813 w 621792"/>
              <a:gd name="connsiteY6" fmla="*/ 326730 h 326730"/>
              <a:gd name="connsiteX7" fmla="*/ 0 w 621792"/>
              <a:gd name="connsiteY7" fmla="*/ 326730 h 326730"/>
            </a:gdLst>
            <a:ahLst/>
            <a:cxnLst/>
            <a:rect l="l" t="t" r="r" b="b"/>
            <a:pathLst>
              <a:path w="621792" h="326730">
                <a:moveTo>
                  <a:pt x="0" y="0"/>
                </a:moveTo>
                <a:lnTo>
                  <a:pt x="146813" y="0"/>
                </a:lnTo>
                <a:lnTo>
                  <a:pt x="474979" y="0"/>
                </a:lnTo>
                <a:lnTo>
                  <a:pt x="621792" y="0"/>
                </a:lnTo>
                <a:lnTo>
                  <a:pt x="412064" y="326730"/>
                </a:lnTo>
                <a:lnTo>
                  <a:pt x="265251" y="326730"/>
                </a:lnTo>
                <a:lnTo>
                  <a:pt x="146813" y="326730"/>
                </a:lnTo>
                <a:lnTo>
                  <a:pt x="0" y="32673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621792" y="163502"/>
            <a:ext cx="10706100" cy="4216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Introducción</a:t>
            </a:r>
            <a:endParaRPr kumimoji="1" lang="zh-CN" alt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0252D480-0173-AE34-523F-B6CD745867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850790" y="1408349"/>
            <a:ext cx="1755485" cy="111711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8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02</a:t>
            </a:r>
            <a:endParaRPr kumimoji="1" lang="zh-CN" altLang="en-US" dirty="0"/>
          </a:p>
        </p:txBody>
      </p:sp>
      <p:sp>
        <p:nvSpPr>
          <p:cNvPr id="7" name="标题 1"/>
          <p:cNvSpPr txBox="1"/>
          <p:nvPr/>
        </p:nvSpPr>
        <p:spPr>
          <a:xfrm>
            <a:off x="1879490" y="2680625"/>
            <a:ext cx="5911783" cy="202036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Herramientas de 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Inventario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en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un Centro de 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Cómputo</a:t>
            </a:r>
            <a:endParaRPr kumimoji="1" lang="zh-CN" altLang="en-U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CD522DE-DFD2-C648-BB52-BDD407B027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2568617" y="3404717"/>
            <a:ext cx="3240000" cy="1646374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193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El inventario en un centro de cómputo busca identificar, registrar y monitorear todos los activos tecnológicosequipos de cómputo, periféricos, servidores, licencias de software, cables de red, switches, routers y demás componentes de la infraestructura.</a:t>
            </a: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8164600" y="3404717"/>
            <a:ext cx="3240000" cy="1646374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Un inventario actualizado permite administrar los recursos de manera centralizada, detectar necesidades de renovación y garantizar el cumplimiento de políticas institucionales.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flipV="1">
            <a:off x="761263" y="3288124"/>
            <a:ext cx="1646374" cy="1646374"/>
          </a:xfrm>
          <a:custGeom>
            <a:avLst/>
            <a:gdLst>
              <a:gd name="T0" fmla="*/ 283 w 566"/>
              <a:gd name="T1" fmla="*/ 566 h 566"/>
              <a:gd name="T2" fmla="*/ 0 w 566"/>
              <a:gd name="T3" fmla="*/ 383 h 566"/>
              <a:gd name="T4" fmla="*/ 97 w 566"/>
              <a:gd name="T5" fmla="*/ 136 h 566"/>
              <a:gd name="T6" fmla="*/ 283 w 566"/>
              <a:gd name="T7" fmla="*/ 0 h 566"/>
              <a:gd name="T8" fmla="*/ 469 w 566"/>
              <a:gd name="T9" fmla="*/ 136 h 566"/>
              <a:gd name="T10" fmla="*/ 566 w 566"/>
              <a:gd name="T11" fmla="*/ 383 h 566"/>
              <a:gd name="T12" fmla="*/ 283 w 566"/>
              <a:gd name="T13" fmla="*/ 566 h 566"/>
            </a:gdLst>
            <a:ahLst/>
            <a:cxnLst/>
            <a:rect l="0" t="0" r="r" b="b"/>
            <a:pathLst>
              <a:path w="566" h="566">
                <a:moveTo>
                  <a:pt x="283" y="566"/>
                </a:moveTo>
                <a:cubicBezTo>
                  <a:pt x="93" y="566"/>
                  <a:pt x="0" y="506"/>
                  <a:pt x="0" y="383"/>
                </a:cubicBezTo>
                <a:cubicBezTo>
                  <a:pt x="0" y="314"/>
                  <a:pt x="37" y="219"/>
                  <a:pt x="97" y="136"/>
                </a:cubicBezTo>
                <a:cubicBezTo>
                  <a:pt x="158" y="51"/>
                  <a:pt x="228" y="0"/>
                  <a:pt x="283" y="0"/>
                </a:cubicBezTo>
                <a:cubicBezTo>
                  <a:pt x="338" y="0"/>
                  <a:pt x="408" y="51"/>
                  <a:pt x="469" y="136"/>
                </a:cubicBezTo>
                <a:cubicBezTo>
                  <a:pt x="529" y="219"/>
                  <a:pt x="566" y="314"/>
                  <a:pt x="566" y="383"/>
                </a:cubicBezTo>
                <a:cubicBezTo>
                  <a:pt x="566" y="506"/>
                  <a:pt x="473" y="566"/>
                  <a:pt x="283" y="566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293446" y="3652537"/>
            <a:ext cx="630111" cy="682563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/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387087" y="3288124"/>
            <a:ext cx="1646374" cy="1646374"/>
          </a:xfrm>
          <a:custGeom>
            <a:avLst/>
            <a:gdLst>
              <a:gd name="T0" fmla="*/ 283 w 566"/>
              <a:gd name="T1" fmla="*/ 566 h 566"/>
              <a:gd name="T2" fmla="*/ 0 w 566"/>
              <a:gd name="T3" fmla="*/ 383 h 566"/>
              <a:gd name="T4" fmla="*/ 97 w 566"/>
              <a:gd name="T5" fmla="*/ 136 h 566"/>
              <a:gd name="T6" fmla="*/ 283 w 566"/>
              <a:gd name="T7" fmla="*/ 0 h 566"/>
              <a:gd name="T8" fmla="*/ 469 w 566"/>
              <a:gd name="T9" fmla="*/ 136 h 566"/>
              <a:gd name="T10" fmla="*/ 566 w 566"/>
              <a:gd name="T11" fmla="*/ 383 h 566"/>
              <a:gd name="T12" fmla="*/ 283 w 566"/>
              <a:gd name="T13" fmla="*/ 566 h 566"/>
            </a:gdLst>
            <a:ahLst/>
            <a:cxnLst/>
            <a:rect l="0" t="0" r="r" b="b"/>
            <a:pathLst>
              <a:path w="566" h="566">
                <a:moveTo>
                  <a:pt x="283" y="566"/>
                </a:moveTo>
                <a:cubicBezTo>
                  <a:pt x="93" y="566"/>
                  <a:pt x="0" y="506"/>
                  <a:pt x="0" y="383"/>
                </a:cubicBezTo>
                <a:cubicBezTo>
                  <a:pt x="0" y="314"/>
                  <a:pt x="37" y="219"/>
                  <a:pt x="97" y="136"/>
                </a:cubicBezTo>
                <a:cubicBezTo>
                  <a:pt x="158" y="51"/>
                  <a:pt x="228" y="0"/>
                  <a:pt x="283" y="0"/>
                </a:cubicBezTo>
                <a:cubicBezTo>
                  <a:pt x="338" y="0"/>
                  <a:pt x="408" y="51"/>
                  <a:pt x="469" y="136"/>
                </a:cubicBezTo>
                <a:cubicBezTo>
                  <a:pt x="529" y="219"/>
                  <a:pt x="566" y="314"/>
                  <a:pt x="566" y="383"/>
                </a:cubicBezTo>
                <a:cubicBezTo>
                  <a:pt x="566" y="506"/>
                  <a:pt x="473" y="566"/>
                  <a:pt x="283" y="566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883058" y="3808077"/>
            <a:ext cx="682563" cy="643331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/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758651" y="1787961"/>
            <a:ext cx="476250" cy="377952"/>
          </a:xfrm>
          <a:custGeom>
            <a:avLst/>
            <a:gdLst>
              <a:gd name="connsiteX0" fmla="*/ 476250 w 476250"/>
              <a:gd name="connsiteY0" fmla="*/ 0 h 377952"/>
              <a:gd name="connsiteX1" fmla="*/ 476250 w 476250"/>
              <a:gd name="connsiteY1" fmla="*/ 81725 h 377952"/>
              <a:gd name="connsiteX2" fmla="*/ 367570 w 476250"/>
              <a:gd name="connsiteY2" fmla="*/ 187452 h 377952"/>
              <a:gd name="connsiteX3" fmla="*/ 476250 w 476250"/>
              <a:gd name="connsiteY3" fmla="*/ 187452 h 377952"/>
              <a:gd name="connsiteX4" fmla="*/ 476250 w 476250"/>
              <a:gd name="connsiteY4" fmla="*/ 377952 h 377952"/>
              <a:gd name="connsiteX5" fmla="*/ 285750 w 476250"/>
              <a:gd name="connsiteY5" fmla="*/ 377952 h 377952"/>
              <a:gd name="connsiteX6" fmla="*/ 285750 w 476250"/>
              <a:gd name="connsiteY6" fmla="*/ 187452 h 377952"/>
              <a:gd name="connsiteX7" fmla="*/ 476250 w 476250"/>
              <a:gd name="connsiteY7" fmla="*/ 0 h 377952"/>
              <a:gd name="connsiteX8" fmla="*/ 190500 w 476250"/>
              <a:gd name="connsiteY8" fmla="*/ 0 h 377952"/>
              <a:gd name="connsiteX9" fmla="*/ 190500 w 476250"/>
              <a:gd name="connsiteY9" fmla="*/ 81725 h 377952"/>
              <a:gd name="connsiteX10" fmla="*/ 81820 w 476250"/>
              <a:gd name="connsiteY10" fmla="*/ 187452 h 377952"/>
              <a:gd name="connsiteX11" fmla="*/ 190500 w 476250"/>
              <a:gd name="connsiteY11" fmla="*/ 187452 h 377952"/>
              <a:gd name="connsiteX12" fmla="*/ 190500 w 476250"/>
              <a:gd name="connsiteY12" fmla="*/ 377952 h 377952"/>
              <a:gd name="connsiteX13" fmla="*/ 0 w 476250"/>
              <a:gd name="connsiteY13" fmla="*/ 377952 h 377952"/>
              <a:gd name="connsiteX14" fmla="*/ 0 w 476250"/>
              <a:gd name="connsiteY14" fmla="*/ 187452 h 377952"/>
              <a:gd name="connsiteX15" fmla="*/ 190500 w 476250"/>
              <a:gd name="connsiteY15" fmla="*/ 0 h 377952"/>
            </a:gdLst>
            <a:ahLst/>
            <a:cxnLst/>
            <a:rect l="l" t="t" r="r" b="b"/>
            <a:pathLst>
              <a:path w="476250" h="377952">
                <a:moveTo>
                  <a:pt x="476250" y="0"/>
                </a:moveTo>
                <a:lnTo>
                  <a:pt x="476250" y="81725"/>
                </a:lnTo>
                <a:cubicBezTo>
                  <a:pt x="417383" y="81753"/>
                  <a:pt x="369219" y="128608"/>
                  <a:pt x="367570" y="187452"/>
                </a:cubicBezTo>
                <a:lnTo>
                  <a:pt x="476250" y="187452"/>
                </a:lnTo>
                <a:lnTo>
                  <a:pt x="476250" y="377952"/>
                </a:lnTo>
                <a:lnTo>
                  <a:pt x="285750" y="377952"/>
                </a:lnTo>
                <a:lnTo>
                  <a:pt x="285750" y="187452"/>
                </a:lnTo>
                <a:cubicBezTo>
                  <a:pt x="287415" y="83434"/>
                  <a:pt x="372219" y="-13"/>
                  <a:pt x="476250" y="0"/>
                </a:cubicBezTo>
                <a:close/>
                <a:moveTo>
                  <a:pt x="190500" y="0"/>
                </a:moveTo>
                <a:lnTo>
                  <a:pt x="190500" y="81725"/>
                </a:lnTo>
                <a:cubicBezTo>
                  <a:pt x="131633" y="81753"/>
                  <a:pt x="83469" y="128608"/>
                  <a:pt x="81820" y="187452"/>
                </a:cubicBezTo>
                <a:lnTo>
                  <a:pt x="190500" y="187452"/>
                </a:lnTo>
                <a:lnTo>
                  <a:pt x="190500" y="377952"/>
                </a:lnTo>
                <a:lnTo>
                  <a:pt x="0" y="377952"/>
                </a:lnTo>
                <a:lnTo>
                  <a:pt x="0" y="187452"/>
                </a:lnTo>
                <a:cubicBezTo>
                  <a:pt x="1665" y="83434"/>
                  <a:pt x="86469" y="-13"/>
                  <a:pt x="190500" y="0"/>
                </a:cubicBezTo>
                <a:close/>
              </a:path>
            </a:pathLst>
          </a:custGeom>
          <a:solidFill>
            <a:schemeClr val="accent1"/>
          </a:solidFill>
          <a:ln w="6055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403176" y="1846049"/>
            <a:ext cx="10001424" cy="12948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Objetivo del inventario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-1" y="218915"/>
            <a:ext cx="621792" cy="326730"/>
          </a:xfrm>
          <a:custGeom>
            <a:avLst/>
            <a:gdLst>
              <a:gd name="connsiteX0" fmla="*/ 0 w 621792"/>
              <a:gd name="connsiteY0" fmla="*/ 0 h 326730"/>
              <a:gd name="connsiteX1" fmla="*/ 146813 w 621792"/>
              <a:gd name="connsiteY1" fmla="*/ 0 h 326730"/>
              <a:gd name="connsiteX2" fmla="*/ 474979 w 621792"/>
              <a:gd name="connsiteY2" fmla="*/ 0 h 326730"/>
              <a:gd name="connsiteX3" fmla="*/ 621792 w 621792"/>
              <a:gd name="connsiteY3" fmla="*/ 0 h 326730"/>
              <a:gd name="connsiteX4" fmla="*/ 412064 w 621792"/>
              <a:gd name="connsiteY4" fmla="*/ 326730 h 326730"/>
              <a:gd name="connsiteX5" fmla="*/ 265251 w 621792"/>
              <a:gd name="connsiteY5" fmla="*/ 326730 h 326730"/>
              <a:gd name="connsiteX6" fmla="*/ 146813 w 621792"/>
              <a:gd name="connsiteY6" fmla="*/ 326730 h 326730"/>
              <a:gd name="connsiteX7" fmla="*/ 0 w 621792"/>
              <a:gd name="connsiteY7" fmla="*/ 326730 h 326730"/>
            </a:gdLst>
            <a:ahLst/>
            <a:cxnLst/>
            <a:rect l="l" t="t" r="r" b="b"/>
            <a:pathLst>
              <a:path w="621792" h="326730">
                <a:moveTo>
                  <a:pt x="0" y="0"/>
                </a:moveTo>
                <a:lnTo>
                  <a:pt x="146813" y="0"/>
                </a:lnTo>
                <a:lnTo>
                  <a:pt x="474979" y="0"/>
                </a:lnTo>
                <a:lnTo>
                  <a:pt x="621792" y="0"/>
                </a:lnTo>
                <a:lnTo>
                  <a:pt x="412064" y="326730"/>
                </a:lnTo>
                <a:lnTo>
                  <a:pt x="265251" y="326730"/>
                </a:lnTo>
                <a:lnTo>
                  <a:pt x="146813" y="326730"/>
                </a:lnTo>
                <a:lnTo>
                  <a:pt x="0" y="32673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21792" y="163502"/>
            <a:ext cx="10706100" cy="4216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Objetivo del inventario</a:t>
            </a:r>
            <a:endParaRPr kumimoji="1" lang="zh-CN" altLang="en-U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04E8A06-A674-16AB-4599-B1F17568D6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标题 1"/>
          <p:cNvCxnSpPr/>
          <p:nvPr/>
        </p:nvCxnSpPr>
        <p:spPr>
          <a:xfrm>
            <a:off x="6556891" y="2994929"/>
            <a:ext cx="938041" cy="0"/>
          </a:xfrm>
          <a:prstGeom prst="line">
            <a:avLst/>
          </a:prstGeom>
          <a:solidFill>
            <a:schemeClr val="accent5">
              <a:alpha val="15000"/>
            </a:schemeClr>
          </a:solidFill>
          <a:ln w="12700" cap="rnd">
            <a:solidFill>
              <a:schemeClr val="accent1">
                <a:lumMod val="20000"/>
                <a:lumOff val="80000"/>
              </a:schemeClr>
            </a:solidFill>
            <a:round/>
          </a:ln>
        </p:spPr>
      </p:cxnSp>
      <p:cxnSp>
        <p:nvCxnSpPr>
          <p:cNvPr id="3" name="标题 1"/>
          <p:cNvCxnSpPr/>
          <p:nvPr/>
        </p:nvCxnSpPr>
        <p:spPr>
          <a:xfrm flipV="1">
            <a:off x="2380025" y="2921781"/>
            <a:ext cx="7596161" cy="68723"/>
          </a:xfrm>
          <a:prstGeom prst="line">
            <a:avLst/>
          </a:prstGeom>
          <a:solidFill>
            <a:schemeClr val="accent3">
              <a:alpha val="15000"/>
            </a:schemeClr>
          </a:solidFill>
          <a:ln w="12700" cap="rnd">
            <a:solidFill>
              <a:schemeClr val="accent1">
                <a:lumMod val="20000"/>
                <a:lumOff val="80000"/>
              </a:schemeClr>
            </a:solidFill>
            <a:round/>
          </a:ln>
        </p:spPr>
      </p:cxnSp>
      <p:sp>
        <p:nvSpPr>
          <p:cNvPr id="4" name="标题 1"/>
          <p:cNvSpPr txBox="1"/>
          <p:nvPr/>
        </p:nvSpPr>
        <p:spPr>
          <a:xfrm>
            <a:off x="4052114" y="2813781"/>
            <a:ext cx="1552675" cy="216000"/>
          </a:xfrm>
          <a:prstGeom prst="roundRect">
            <a:avLst>
              <a:gd name="adj" fmla="val 24900"/>
            </a:avLst>
          </a:prstGeom>
          <a:solidFill>
            <a:schemeClr val="bg1"/>
          </a:solidFill>
          <a:ln w="3175" cap="sq">
            <a:solidFill>
              <a:schemeClr val="accent1"/>
            </a:solidFill>
          </a:ln>
          <a:effectLst>
            <a:outerShdw blurRad="190500" sx="102000" sy="102000" algn="ctr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030122" y="2813781"/>
            <a:ext cx="1552675" cy="216000"/>
          </a:xfrm>
          <a:prstGeom prst="roundRect">
            <a:avLst>
              <a:gd name="adj" fmla="val 24900"/>
            </a:avLst>
          </a:prstGeom>
          <a:solidFill>
            <a:schemeClr val="bg1"/>
          </a:solidFill>
          <a:ln w="3175" cap="sq">
            <a:solidFill>
              <a:schemeClr val="accent1"/>
            </a:solidFill>
          </a:ln>
          <a:effectLst>
            <a:outerShdw blurRad="190500" sx="102000" sy="102000" algn="ctr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010285" y="3508434"/>
            <a:ext cx="1562100" cy="109222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kumimoji="1" lang="en-US" altLang="zh-CN" sz="1183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DWService</a:t>
            </a:r>
            <a:r>
              <a:rPr kumimoji="1" lang="en-US" altLang="zh-CN" sz="1183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/ Zabbix:</a:t>
            </a:r>
          </a:p>
          <a:p>
            <a:pPr algn="ctr"/>
            <a:r>
              <a:rPr kumimoji="1" lang="en-US" altLang="zh-CN" sz="1183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Permiten</a:t>
            </a:r>
            <a:r>
              <a:rPr kumimoji="1" lang="en-US" altLang="zh-CN" sz="1183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183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el</a:t>
            </a:r>
            <a:r>
              <a:rPr kumimoji="1" lang="en-US" altLang="zh-CN" sz="1183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control </a:t>
            </a:r>
            <a:r>
              <a:rPr kumimoji="1" lang="en-US" altLang="zh-CN" sz="1183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remoto</a:t>
            </a:r>
            <a:r>
              <a:rPr kumimoji="1" lang="en-US" altLang="zh-CN" sz="1183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, </a:t>
            </a:r>
            <a:r>
              <a:rPr kumimoji="1" lang="en-US" altLang="zh-CN" sz="1183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monitoreo</a:t>
            </a:r>
            <a:r>
              <a:rPr kumimoji="1" lang="en-US" altLang="zh-CN" sz="1183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y </a:t>
            </a:r>
            <a:r>
              <a:rPr kumimoji="1" lang="en-US" altLang="zh-CN" sz="1183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reporte</a:t>
            </a:r>
            <a:r>
              <a:rPr kumimoji="1" lang="en-US" altLang="zh-CN" sz="1183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del </a:t>
            </a:r>
            <a:r>
              <a:rPr kumimoji="1" lang="en-US" altLang="zh-CN" sz="1183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estado</a:t>
            </a:r>
            <a:r>
              <a:rPr kumimoji="1" lang="en-US" altLang="zh-CN" sz="1183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 </a:t>
            </a:r>
            <a:r>
              <a:rPr kumimoji="1" lang="en-US" altLang="zh-CN" sz="1183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los</a:t>
            </a:r>
            <a:r>
              <a:rPr kumimoji="1" lang="en-US" altLang="zh-CN" sz="1183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183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equipos</a:t>
            </a:r>
            <a:r>
              <a:rPr kumimoji="1" lang="en-US" altLang="zh-CN" sz="1183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183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conectados</a:t>
            </a:r>
            <a:r>
              <a:rPr kumimoji="1" lang="en-US" altLang="zh-CN" sz="1183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183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en</a:t>
            </a:r>
            <a:r>
              <a:rPr kumimoji="1" lang="en-US" altLang="zh-CN" sz="1183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red.</a:t>
            </a:r>
            <a:endParaRPr kumimoji="1" lang="zh-CN" altLang="en-US" dirty="0"/>
          </a:p>
        </p:txBody>
      </p:sp>
      <p:sp>
        <p:nvSpPr>
          <p:cNvPr id="7" name="标题 1"/>
          <p:cNvSpPr txBox="1"/>
          <p:nvPr/>
        </p:nvSpPr>
        <p:spPr>
          <a:xfrm>
            <a:off x="4032277" y="3508434"/>
            <a:ext cx="1562100" cy="182037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r>
              <a:rPr kumimoji="1" lang="en-US" altLang="zh-CN" sz="1183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GLPI + OCS Inventory NG:</a:t>
            </a:r>
          </a:p>
          <a:p>
            <a:r>
              <a:rPr kumimoji="1" lang="en-US" altLang="zh-CN" sz="1183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Solución libre </a:t>
            </a:r>
            <a:r>
              <a:rPr kumimoji="1" lang="en-US" altLang="zh-CN" sz="1183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ampliamente</a:t>
            </a:r>
            <a:r>
              <a:rPr kumimoji="1" lang="en-US" altLang="zh-CN" sz="1183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</a:t>
            </a:r>
            <a:r>
              <a:rPr kumimoji="1" lang="en-US" altLang="zh-CN" sz="1183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usada</a:t>
            </a:r>
            <a:r>
              <a:rPr kumimoji="1" lang="en-US" altLang="zh-CN" sz="1183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para </a:t>
            </a:r>
            <a:r>
              <a:rPr kumimoji="1" lang="en-US" altLang="zh-CN" sz="1183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centros</a:t>
            </a:r>
            <a:r>
              <a:rPr kumimoji="1" lang="en-US" altLang="zh-CN" sz="1183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de </a:t>
            </a:r>
            <a:r>
              <a:rPr kumimoji="1" lang="en-US" altLang="zh-CN" sz="1183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cómputo</a:t>
            </a:r>
            <a:r>
              <a:rPr kumimoji="1" lang="en-US" altLang="zh-CN" sz="1183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</a:t>
            </a:r>
            <a:r>
              <a:rPr kumimoji="1" lang="en-US" altLang="zh-CN" sz="1183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educativos</a:t>
            </a:r>
            <a:r>
              <a:rPr kumimoji="1" lang="en-US" altLang="zh-CN" sz="1183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; </a:t>
            </a:r>
            <a:r>
              <a:rPr kumimoji="1" lang="en-US" altLang="zh-CN" sz="1183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permite</a:t>
            </a:r>
            <a:r>
              <a:rPr kumimoji="1" lang="en-US" altLang="zh-CN" sz="1183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</a:t>
            </a:r>
            <a:r>
              <a:rPr kumimoji="1" lang="en-US" altLang="zh-CN" sz="1183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gestión</a:t>
            </a:r>
            <a:r>
              <a:rPr kumimoji="1" lang="en-US" altLang="zh-CN" sz="1183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de </a:t>
            </a:r>
            <a:r>
              <a:rPr kumimoji="1" lang="en-US" altLang="zh-CN" sz="1183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inventario</a:t>
            </a:r>
            <a:r>
              <a:rPr kumimoji="1" lang="en-US" altLang="zh-CN" sz="1183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, soporte técnico y tickets.</a:t>
            </a:r>
            <a:endParaRPr kumimoji="1" lang="zh-CN" altLang="en-US" sz="1183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Poppins"/>
              <a:cs typeface="Poppins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950480" y="2109437"/>
            <a:ext cx="2688771" cy="3545958"/>
          </a:xfrm>
          <a:prstGeom prst="roundRect">
            <a:avLst>
              <a:gd name="adj" fmla="val 9089"/>
            </a:avLst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1707015" y="1609005"/>
            <a:ext cx="1000864" cy="1000864"/>
          </a:xfrm>
          <a:prstGeom prst="ellipse">
            <a:avLst/>
          </a:prstGeom>
          <a:solidFill>
            <a:schemeClr val="bg1"/>
          </a:solidFill>
          <a:ln w="3175" cap="sq">
            <a:solidFill>
              <a:schemeClr val="accent1"/>
            </a:solidFill>
          </a:ln>
          <a:effectLst>
            <a:outerShdw blurRad="190500" sx="102000" sy="102000" algn="ctr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2034871" y="1952976"/>
            <a:ext cx="345154" cy="312922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ahLst/>
            <a:cxnLst/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183851" y="2766329"/>
            <a:ext cx="2189569" cy="264352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Herramientas recomendadas para la gestión de activos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7990569" y="2813781"/>
            <a:ext cx="1552675" cy="216000"/>
          </a:xfrm>
          <a:prstGeom prst="roundRect">
            <a:avLst>
              <a:gd name="adj" fmla="val 24900"/>
            </a:avLst>
          </a:prstGeom>
          <a:solidFill>
            <a:schemeClr val="bg1"/>
          </a:solidFill>
          <a:ln w="3175" cap="sq">
            <a:solidFill>
              <a:schemeClr val="accent1"/>
            </a:solidFill>
          </a:ln>
          <a:effectLst>
            <a:outerShdw blurRad="190500" sx="102000" sy="102000" algn="ctr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7970732" y="3511898"/>
            <a:ext cx="1562100" cy="129163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kumimoji="1" lang="en-US" altLang="zh-CN" sz="1049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Microsoft SCCM o Lansweeper</a:t>
            </a:r>
          </a:p>
          <a:p>
            <a:pPr algn="ctr"/>
            <a:r>
              <a:rPr kumimoji="1" lang="en-US" altLang="zh-CN" sz="1049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Utilizadas</a:t>
            </a:r>
            <a:r>
              <a:rPr kumimoji="1" lang="en-US" altLang="zh-CN" sz="1049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049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en</a:t>
            </a:r>
            <a:r>
              <a:rPr kumimoji="1" lang="en-US" altLang="zh-CN" sz="1049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049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entornos</a:t>
            </a:r>
            <a:r>
              <a:rPr kumimoji="1" lang="en-US" altLang="zh-CN" sz="1049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049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corporativos</a:t>
            </a:r>
            <a:r>
              <a:rPr kumimoji="1" lang="en-US" altLang="zh-CN" sz="1049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para </a:t>
            </a:r>
            <a:r>
              <a:rPr kumimoji="1" lang="en-US" altLang="zh-CN" sz="1049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detectar</a:t>
            </a:r>
            <a:r>
              <a:rPr kumimoji="1" lang="en-US" altLang="zh-CN" sz="1049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049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automáticamente</a:t>
            </a:r>
            <a:r>
              <a:rPr kumimoji="1" lang="en-US" altLang="zh-CN" sz="1049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049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equipos</a:t>
            </a:r>
            <a:r>
              <a:rPr kumimoji="1" lang="en-US" altLang="zh-CN" sz="1049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y software </a:t>
            </a:r>
            <a:r>
              <a:rPr kumimoji="1" lang="en-US" altLang="zh-CN" sz="1049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instalado</a:t>
            </a:r>
            <a:r>
              <a:rPr kumimoji="1" lang="en-US" altLang="zh-CN" sz="1049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.</a:t>
            </a:r>
            <a:endParaRPr kumimoji="1" lang="zh-CN" altLang="en-US" dirty="0"/>
          </a:p>
        </p:txBody>
      </p:sp>
      <p:sp>
        <p:nvSpPr>
          <p:cNvPr id="14" name="标题 1"/>
          <p:cNvSpPr txBox="1"/>
          <p:nvPr/>
        </p:nvSpPr>
        <p:spPr>
          <a:xfrm>
            <a:off x="9976186" y="2813781"/>
            <a:ext cx="1552675" cy="216000"/>
          </a:xfrm>
          <a:prstGeom prst="roundRect">
            <a:avLst>
              <a:gd name="adj" fmla="val 24900"/>
            </a:avLst>
          </a:prstGeom>
          <a:solidFill>
            <a:schemeClr val="bg1"/>
          </a:solidFill>
          <a:ln w="3175" cap="sq">
            <a:solidFill>
              <a:schemeClr val="accent1"/>
            </a:solidFill>
          </a:ln>
          <a:effectLst>
            <a:outerShdw blurRad="190500" sx="102000" sy="102000" algn="ctr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9956349" y="3511898"/>
            <a:ext cx="1562100" cy="14530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kumimoji="1" lang="en-US" altLang="zh-CN" sz="1049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Inventarios</a:t>
            </a:r>
            <a:r>
              <a:rPr kumimoji="1" lang="en-US" altLang="zh-CN" sz="1049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</a:t>
            </a:r>
            <a:r>
              <a:rPr kumimoji="1" lang="en-US" altLang="zh-CN" sz="1049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internos</a:t>
            </a:r>
            <a:r>
              <a:rPr kumimoji="1" lang="en-US" altLang="zh-CN" sz="1049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con </a:t>
            </a:r>
            <a:r>
              <a:rPr kumimoji="1" lang="en-US" altLang="zh-CN" sz="1049" b="1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código</a:t>
            </a:r>
            <a:r>
              <a:rPr kumimoji="1" lang="en-US" altLang="zh-CN" sz="1049" b="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QR:</a:t>
            </a:r>
          </a:p>
          <a:p>
            <a:pPr algn="ctr"/>
            <a:r>
              <a:rPr kumimoji="1" lang="en-US" altLang="zh-CN" sz="1049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El </a:t>
            </a:r>
            <a:r>
              <a:rPr kumimoji="1" lang="en-US" altLang="zh-CN" sz="1049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centro</a:t>
            </a:r>
            <a:r>
              <a:rPr kumimoji="1" lang="en-US" altLang="zh-CN" sz="1049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de </a:t>
            </a:r>
            <a:r>
              <a:rPr kumimoji="1" lang="en-US" altLang="zh-CN" sz="1049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cómputo</a:t>
            </a:r>
            <a:r>
              <a:rPr kumimoji="1" lang="en-US" altLang="zh-CN" sz="1049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</a:t>
            </a:r>
            <a:r>
              <a:rPr kumimoji="1" lang="en-US" altLang="zh-CN" sz="1049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puede</a:t>
            </a:r>
            <a:r>
              <a:rPr kumimoji="1" lang="en-US" altLang="zh-CN" sz="1049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</a:t>
            </a:r>
            <a:r>
              <a:rPr kumimoji="1" lang="en-US" altLang="zh-CN" sz="1049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generar</a:t>
            </a:r>
            <a:r>
              <a:rPr kumimoji="1" lang="en-US" altLang="zh-CN" sz="1049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</a:t>
            </a:r>
            <a:r>
              <a:rPr kumimoji="1" lang="en-US" altLang="zh-CN" sz="1049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etiquetas</a:t>
            </a:r>
            <a:r>
              <a:rPr kumimoji="1" lang="en-US" altLang="zh-CN" sz="1049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QR para </a:t>
            </a:r>
            <a:r>
              <a:rPr kumimoji="1" lang="en-US" altLang="zh-CN" sz="1049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cada</a:t>
            </a:r>
            <a:r>
              <a:rPr kumimoji="1" lang="en-US" altLang="zh-CN" sz="1049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</a:t>
            </a:r>
            <a:r>
              <a:rPr kumimoji="1" lang="en-US" altLang="zh-CN" sz="1049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equipo</a:t>
            </a:r>
            <a:r>
              <a:rPr kumimoji="1" lang="en-US" altLang="zh-CN" sz="1049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, </a:t>
            </a:r>
            <a:r>
              <a:rPr kumimoji="1" lang="en-US" altLang="zh-CN" sz="1049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vinculadas</a:t>
            </a:r>
            <a:r>
              <a:rPr kumimoji="1" lang="en-US" altLang="zh-CN" sz="1049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a </a:t>
            </a:r>
            <a:r>
              <a:rPr kumimoji="1" lang="en-US" altLang="zh-CN" sz="1049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una</a:t>
            </a:r>
            <a:r>
              <a:rPr kumimoji="1" lang="en-US" altLang="zh-CN" sz="1049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base de </a:t>
            </a:r>
            <a:r>
              <a:rPr kumimoji="1" lang="en-US" altLang="zh-CN" sz="1049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datos</a:t>
            </a:r>
            <a:r>
              <a:rPr kumimoji="1" lang="en-US" altLang="zh-CN" sz="1049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</a:t>
            </a:r>
            <a:r>
              <a:rPr kumimoji="1" lang="en-US" altLang="zh-CN" sz="1049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que</a:t>
            </a:r>
            <a:r>
              <a:rPr kumimoji="1" lang="en-US" altLang="zh-CN" sz="1049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</a:t>
            </a:r>
            <a:r>
              <a:rPr kumimoji="1" lang="en-US" altLang="zh-CN" sz="1049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muestre</a:t>
            </a:r>
            <a:r>
              <a:rPr kumimoji="1" lang="en-US" altLang="zh-CN" sz="1049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</a:t>
            </a:r>
            <a:r>
              <a:rPr kumimoji="1" lang="en-US" altLang="zh-CN" sz="1049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su</a:t>
            </a:r>
            <a:r>
              <a:rPr kumimoji="1" lang="en-US" altLang="zh-CN" sz="1049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</a:t>
            </a:r>
            <a:r>
              <a:rPr kumimoji="1" lang="en-US" altLang="zh-CN" sz="1049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historial</a:t>
            </a:r>
            <a:r>
              <a:rPr kumimoji="1" lang="en-US" altLang="zh-CN" sz="1049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y </a:t>
            </a:r>
            <a:r>
              <a:rPr kumimoji="1" lang="en-US" altLang="zh-CN" sz="1049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ubicación</a:t>
            </a:r>
            <a:r>
              <a:rPr kumimoji="1" lang="en-US" altLang="zh-CN" sz="1049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.</a:t>
            </a:r>
            <a:endParaRPr kumimoji="1" lang="zh-CN" altLang="en-US" sz="1049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Poppins"/>
              <a:cs typeface="Poppins"/>
            </a:endParaRPr>
          </a:p>
        </p:txBody>
      </p:sp>
      <p:sp>
        <p:nvSpPr>
          <p:cNvPr id="16" name="标题 1"/>
          <p:cNvSpPr txBox="1"/>
          <p:nvPr/>
        </p:nvSpPr>
        <p:spPr>
          <a:xfrm>
            <a:off x="-1" y="218915"/>
            <a:ext cx="621792" cy="326730"/>
          </a:xfrm>
          <a:custGeom>
            <a:avLst/>
            <a:gdLst>
              <a:gd name="connsiteX0" fmla="*/ 0 w 621792"/>
              <a:gd name="connsiteY0" fmla="*/ 0 h 326730"/>
              <a:gd name="connsiteX1" fmla="*/ 146813 w 621792"/>
              <a:gd name="connsiteY1" fmla="*/ 0 h 326730"/>
              <a:gd name="connsiteX2" fmla="*/ 474979 w 621792"/>
              <a:gd name="connsiteY2" fmla="*/ 0 h 326730"/>
              <a:gd name="connsiteX3" fmla="*/ 621792 w 621792"/>
              <a:gd name="connsiteY3" fmla="*/ 0 h 326730"/>
              <a:gd name="connsiteX4" fmla="*/ 412064 w 621792"/>
              <a:gd name="connsiteY4" fmla="*/ 326730 h 326730"/>
              <a:gd name="connsiteX5" fmla="*/ 265251 w 621792"/>
              <a:gd name="connsiteY5" fmla="*/ 326730 h 326730"/>
              <a:gd name="connsiteX6" fmla="*/ 146813 w 621792"/>
              <a:gd name="connsiteY6" fmla="*/ 326730 h 326730"/>
              <a:gd name="connsiteX7" fmla="*/ 0 w 621792"/>
              <a:gd name="connsiteY7" fmla="*/ 326730 h 326730"/>
            </a:gdLst>
            <a:ahLst/>
            <a:cxnLst/>
            <a:rect l="l" t="t" r="r" b="b"/>
            <a:pathLst>
              <a:path w="621792" h="326730">
                <a:moveTo>
                  <a:pt x="0" y="0"/>
                </a:moveTo>
                <a:lnTo>
                  <a:pt x="146813" y="0"/>
                </a:lnTo>
                <a:lnTo>
                  <a:pt x="474979" y="0"/>
                </a:lnTo>
                <a:lnTo>
                  <a:pt x="621792" y="0"/>
                </a:lnTo>
                <a:lnTo>
                  <a:pt x="412064" y="326730"/>
                </a:lnTo>
                <a:lnTo>
                  <a:pt x="265251" y="326730"/>
                </a:lnTo>
                <a:lnTo>
                  <a:pt x="146813" y="326730"/>
                </a:lnTo>
                <a:lnTo>
                  <a:pt x="0" y="32673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621792" y="163502"/>
            <a:ext cx="10706100" cy="4216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Herramientas recomendadas para la gestión de activos</a:t>
            </a:r>
            <a:endParaRPr kumimoji="1" lang="zh-CN" altLang="en-US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21B25809-9AAF-97BA-36D9-984F22B78E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6121400" y="2347321"/>
            <a:ext cx="457200" cy="23461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1845567" y="2707039"/>
            <a:ext cx="3807152" cy="879204"/>
          </a:xfrm>
          <a:prstGeom prst="rect">
            <a:avLst/>
          </a:prstGeom>
          <a:solidFill>
            <a:schemeClr val="accent1"/>
          </a:solidFill>
          <a:ln w="57150" cap="rnd">
            <a:noFill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833479" y="2800561"/>
            <a:ext cx="3044648" cy="7815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1400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Permite</a:t>
            </a:r>
            <a:r>
              <a:rPr kumimoji="1" lang="en-US" altLang="zh-CN" sz="1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planificar</a:t>
            </a:r>
            <a:r>
              <a:rPr kumimoji="1" lang="en-US" altLang="zh-CN" sz="1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mantenimiento y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renovación</a:t>
            </a:r>
            <a:r>
              <a:rPr kumimoji="1" lang="en-US" altLang="zh-CN" sz="1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equipos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.</a:t>
            </a:r>
            <a:endParaRPr kumimoji="1" lang="zh-CN" altLang="en-US" dirty="0"/>
          </a:p>
        </p:txBody>
      </p:sp>
      <p:sp>
        <p:nvSpPr>
          <p:cNvPr id="5" name="标题 1"/>
          <p:cNvSpPr txBox="1"/>
          <p:nvPr/>
        </p:nvSpPr>
        <p:spPr>
          <a:xfrm>
            <a:off x="4590891" y="2891312"/>
            <a:ext cx="1295400" cy="828413"/>
          </a:xfrm>
          <a:custGeom>
            <a:avLst/>
            <a:gdLst>
              <a:gd name="connsiteX0" fmla="*/ 400050 w 1295400"/>
              <a:gd name="connsiteY0" fmla="*/ 0 h 1016455"/>
              <a:gd name="connsiteX1" fmla="*/ 1295400 w 1295400"/>
              <a:gd name="connsiteY1" fmla="*/ 793 h 1016455"/>
              <a:gd name="connsiteX2" fmla="*/ 1295400 w 1295400"/>
              <a:gd name="connsiteY2" fmla="*/ 1016455 h 1016455"/>
              <a:gd name="connsiteX3" fmla="*/ 0 w 1295400"/>
              <a:gd name="connsiteY3" fmla="*/ 1016455 h 1016455"/>
              <a:gd name="connsiteX4" fmla="*/ 400050 w 1295400"/>
              <a:gd name="connsiteY4" fmla="*/ 0 h 1016455"/>
            </a:gdLst>
            <a:ahLst/>
            <a:cxnLst/>
            <a:rect l="l" t="t" r="r" b="b"/>
            <a:pathLst>
              <a:path w="1295400" h="1016455">
                <a:moveTo>
                  <a:pt x="400050" y="0"/>
                </a:moveTo>
                <a:lnTo>
                  <a:pt x="1295400" y="793"/>
                </a:lnTo>
                <a:lnTo>
                  <a:pt x="1295400" y="1016455"/>
                </a:lnTo>
                <a:lnTo>
                  <a:pt x="0" y="1016455"/>
                </a:lnTo>
                <a:lnTo>
                  <a:pt x="400050" y="0"/>
                </a:lnTo>
                <a:close/>
              </a:path>
            </a:pathLst>
          </a:custGeom>
          <a:solidFill>
            <a:schemeClr val="bg1"/>
          </a:solidFill>
          <a:ln w="57150" cap="rnd">
            <a:noFill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5011369" y="3042462"/>
            <a:ext cx="678180" cy="5994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kumimoji="1" lang="en-US" altLang="zh-CN" sz="3600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813709" y="2707039"/>
            <a:ext cx="3807152" cy="879204"/>
          </a:xfrm>
          <a:prstGeom prst="rect">
            <a:avLst/>
          </a:prstGeom>
          <a:solidFill>
            <a:schemeClr val="accent2"/>
          </a:solidFill>
          <a:ln w="57150" cap="rnd">
            <a:noFill/>
            <a:round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850539" y="2914750"/>
            <a:ext cx="3468612" cy="7815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1400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Facilita</a:t>
            </a:r>
            <a:r>
              <a:rPr kumimoji="1" lang="en-US" altLang="zh-CN" sz="1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auditorías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tecnológicas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.</a:t>
            </a:r>
            <a:endParaRPr kumimoji="1" lang="zh-CN" altLang="en-US" dirty="0"/>
          </a:p>
        </p:txBody>
      </p:sp>
      <p:sp>
        <p:nvSpPr>
          <p:cNvPr id="9" name="标题 1"/>
          <p:cNvSpPr txBox="1"/>
          <p:nvPr/>
        </p:nvSpPr>
        <p:spPr>
          <a:xfrm>
            <a:off x="9559033" y="2891312"/>
            <a:ext cx="1295400" cy="828413"/>
          </a:xfrm>
          <a:custGeom>
            <a:avLst/>
            <a:gdLst>
              <a:gd name="connsiteX0" fmla="*/ 400050 w 1295400"/>
              <a:gd name="connsiteY0" fmla="*/ 0 h 1016455"/>
              <a:gd name="connsiteX1" fmla="*/ 1295400 w 1295400"/>
              <a:gd name="connsiteY1" fmla="*/ 793 h 1016455"/>
              <a:gd name="connsiteX2" fmla="*/ 1295400 w 1295400"/>
              <a:gd name="connsiteY2" fmla="*/ 1016455 h 1016455"/>
              <a:gd name="connsiteX3" fmla="*/ 0 w 1295400"/>
              <a:gd name="connsiteY3" fmla="*/ 1016455 h 1016455"/>
              <a:gd name="connsiteX4" fmla="*/ 400050 w 1295400"/>
              <a:gd name="connsiteY4" fmla="*/ 0 h 1016455"/>
            </a:gdLst>
            <a:ahLst/>
            <a:cxnLst/>
            <a:rect l="l" t="t" r="r" b="b"/>
            <a:pathLst>
              <a:path w="1295400" h="1016455">
                <a:moveTo>
                  <a:pt x="400050" y="0"/>
                </a:moveTo>
                <a:lnTo>
                  <a:pt x="1295400" y="793"/>
                </a:lnTo>
                <a:lnTo>
                  <a:pt x="1295400" y="1016455"/>
                </a:lnTo>
                <a:lnTo>
                  <a:pt x="0" y="1016455"/>
                </a:lnTo>
                <a:lnTo>
                  <a:pt x="400050" y="0"/>
                </a:lnTo>
                <a:close/>
              </a:path>
            </a:pathLst>
          </a:custGeom>
          <a:solidFill>
            <a:schemeClr val="bg1"/>
          </a:solidFill>
          <a:ln w="57150" cap="rnd">
            <a:noFill/>
            <a:round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979511" y="3042462"/>
            <a:ext cx="741680" cy="5994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kumimoji="1" lang="en-US" altLang="zh-CN" sz="3600">
                <a:ln w="12700">
                  <a:noFill/>
                </a:ln>
                <a:solidFill>
                  <a:srgbClr val="30556B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845567" y="4041729"/>
            <a:ext cx="3807152" cy="879204"/>
          </a:xfrm>
          <a:prstGeom prst="rect">
            <a:avLst/>
          </a:prstGeom>
          <a:solidFill>
            <a:schemeClr val="accent2"/>
          </a:solidFill>
          <a:ln w="57150" cap="rnd">
            <a:noFill/>
            <a:round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1932647" y="4188165"/>
            <a:ext cx="3468612" cy="7815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1400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Detecta</a:t>
            </a:r>
            <a:r>
              <a:rPr kumimoji="1" lang="en-US" altLang="zh-CN" sz="1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software sin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licencia</a:t>
            </a:r>
            <a:r>
              <a:rPr kumimoji="1" lang="en-US" altLang="zh-CN" sz="1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o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desactualizado</a:t>
            </a:r>
            <a:r>
              <a:rPr kumimoji="1" lang="en-US" altLang="zh-CN" sz="1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.</a:t>
            </a:r>
            <a:endParaRPr kumimoji="1" lang="zh-CN" altLang="en-US" dirty="0"/>
          </a:p>
        </p:txBody>
      </p:sp>
      <p:sp>
        <p:nvSpPr>
          <p:cNvPr id="13" name="标题 1"/>
          <p:cNvSpPr txBox="1"/>
          <p:nvPr/>
        </p:nvSpPr>
        <p:spPr>
          <a:xfrm>
            <a:off x="4590891" y="4226003"/>
            <a:ext cx="1295400" cy="828413"/>
          </a:xfrm>
          <a:custGeom>
            <a:avLst/>
            <a:gdLst>
              <a:gd name="connsiteX0" fmla="*/ 400050 w 1295400"/>
              <a:gd name="connsiteY0" fmla="*/ 0 h 1016455"/>
              <a:gd name="connsiteX1" fmla="*/ 1295400 w 1295400"/>
              <a:gd name="connsiteY1" fmla="*/ 793 h 1016455"/>
              <a:gd name="connsiteX2" fmla="*/ 1295400 w 1295400"/>
              <a:gd name="connsiteY2" fmla="*/ 1016455 h 1016455"/>
              <a:gd name="connsiteX3" fmla="*/ 0 w 1295400"/>
              <a:gd name="connsiteY3" fmla="*/ 1016455 h 1016455"/>
              <a:gd name="connsiteX4" fmla="*/ 400050 w 1295400"/>
              <a:gd name="connsiteY4" fmla="*/ 0 h 1016455"/>
            </a:gdLst>
            <a:ahLst/>
            <a:cxnLst/>
            <a:rect l="l" t="t" r="r" b="b"/>
            <a:pathLst>
              <a:path w="1295400" h="1016455">
                <a:moveTo>
                  <a:pt x="400050" y="0"/>
                </a:moveTo>
                <a:lnTo>
                  <a:pt x="1295400" y="793"/>
                </a:lnTo>
                <a:lnTo>
                  <a:pt x="1295400" y="1016455"/>
                </a:lnTo>
                <a:lnTo>
                  <a:pt x="0" y="1016455"/>
                </a:lnTo>
                <a:lnTo>
                  <a:pt x="400050" y="0"/>
                </a:lnTo>
                <a:close/>
              </a:path>
            </a:pathLst>
          </a:custGeom>
          <a:solidFill>
            <a:schemeClr val="bg1"/>
          </a:solidFill>
          <a:ln w="57150" cap="rnd">
            <a:noFill/>
            <a:round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5011369" y="4377152"/>
            <a:ext cx="754380" cy="5994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kumimoji="1" lang="en-US" altLang="zh-CN" sz="3600">
                <a:ln w="12700">
                  <a:noFill/>
                </a:ln>
                <a:solidFill>
                  <a:srgbClr val="30556B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03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6813709" y="4041729"/>
            <a:ext cx="3807152" cy="879204"/>
          </a:xfrm>
          <a:prstGeom prst="rect">
            <a:avLst/>
          </a:prstGeom>
          <a:solidFill>
            <a:schemeClr val="accent1"/>
          </a:solidFill>
          <a:ln w="57150" cap="rnd">
            <a:noFill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6877821" y="4148180"/>
            <a:ext cx="2950560" cy="7815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1400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Optimiza</a:t>
            </a:r>
            <a:r>
              <a:rPr kumimoji="1" lang="en-US" altLang="zh-CN" sz="1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la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asignación</a:t>
            </a:r>
            <a:r>
              <a:rPr kumimoji="1" lang="en-US" altLang="zh-CN" sz="1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recursos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a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laboratorios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o departamentos.</a:t>
            </a:r>
            <a:endParaRPr kumimoji="1" lang="zh-CN" altLang="en-US" dirty="0"/>
          </a:p>
        </p:txBody>
      </p:sp>
      <p:sp>
        <p:nvSpPr>
          <p:cNvPr id="17" name="标题 1"/>
          <p:cNvSpPr txBox="1"/>
          <p:nvPr/>
        </p:nvSpPr>
        <p:spPr>
          <a:xfrm>
            <a:off x="9559033" y="4226003"/>
            <a:ext cx="1295400" cy="828413"/>
          </a:xfrm>
          <a:custGeom>
            <a:avLst/>
            <a:gdLst>
              <a:gd name="connsiteX0" fmla="*/ 400050 w 1295400"/>
              <a:gd name="connsiteY0" fmla="*/ 0 h 1016455"/>
              <a:gd name="connsiteX1" fmla="*/ 1295400 w 1295400"/>
              <a:gd name="connsiteY1" fmla="*/ 793 h 1016455"/>
              <a:gd name="connsiteX2" fmla="*/ 1295400 w 1295400"/>
              <a:gd name="connsiteY2" fmla="*/ 1016455 h 1016455"/>
              <a:gd name="connsiteX3" fmla="*/ 0 w 1295400"/>
              <a:gd name="connsiteY3" fmla="*/ 1016455 h 1016455"/>
              <a:gd name="connsiteX4" fmla="*/ 400050 w 1295400"/>
              <a:gd name="connsiteY4" fmla="*/ 0 h 1016455"/>
            </a:gdLst>
            <a:ahLst/>
            <a:cxnLst/>
            <a:rect l="l" t="t" r="r" b="b"/>
            <a:pathLst>
              <a:path w="1295400" h="1016455">
                <a:moveTo>
                  <a:pt x="400050" y="0"/>
                </a:moveTo>
                <a:lnTo>
                  <a:pt x="1295400" y="793"/>
                </a:lnTo>
                <a:lnTo>
                  <a:pt x="1295400" y="1016455"/>
                </a:lnTo>
                <a:lnTo>
                  <a:pt x="0" y="1016455"/>
                </a:lnTo>
                <a:lnTo>
                  <a:pt x="400050" y="0"/>
                </a:lnTo>
                <a:close/>
              </a:path>
            </a:pathLst>
          </a:custGeom>
          <a:solidFill>
            <a:schemeClr val="bg1"/>
          </a:solidFill>
          <a:ln w="57150" cap="rnd">
            <a:noFill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9979511" y="4377152"/>
            <a:ext cx="792480" cy="5994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kumimoji="1" lang="en-US" altLang="zh-CN" sz="3600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04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1845567" y="5376420"/>
            <a:ext cx="3807152" cy="879204"/>
          </a:xfrm>
          <a:prstGeom prst="rect">
            <a:avLst/>
          </a:prstGeom>
          <a:solidFill>
            <a:schemeClr val="accent1"/>
          </a:solidFill>
          <a:ln w="57150" cap="rnd">
            <a:noFill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1881847" y="5523445"/>
            <a:ext cx="2996280" cy="7815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/>
          <a:lstStyle/>
          <a:p>
            <a:pPr algn="l"/>
            <a:r>
              <a:rPr kumimoji="1" lang="en-US" altLang="zh-CN" sz="1400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Mejora</a:t>
            </a:r>
            <a:r>
              <a:rPr kumimoji="1" lang="en-US" altLang="zh-CN" sz="1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la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trazabilidad</a:t>
            </a:r>
            <a:r>
              <a:rPr kumimoji="1" lang="en-US" altLang="zh-CN" sz="1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y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seguridad</a:t>
            </a:r>
            <a:r>
              <a:rPr kumimoji="1" lang="en-US" altLang="zh-CN" sz="1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los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activos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.</a:t>
            </a:r>
            <a:endParaRPr kumimoji="1" lang="zh-CN" altLang="en-US" dirty="0"/>
          </a:p>
        </p:txBody>
      </p:sp>
      <p:sp>
        <p:nvSpPr>
          <p:cNvPr id="21" name="标题 1"/>
          <p:cNvSpPr txBox="1"/>
          <p:nvPr/>
        </p:nvSpPr>
        <p:spPr>
          <a:xfrm>
            <a:off x="4590891" y="5560693"/>
            <a:ext cx="1295400" cy="828413"/>
          </a:xfrm>
          <a:custGeom>
            <a:avLst/>
            <a:gdLst>
              <a:gd name="connsiteX0" fmla="*/ 400050 w 1295400"/>
              <a:gd name="connsiteY0" fmla="*/ 0 h 1016455"/>
              <a:gd name="connsiteX1" fmla="*/ 1295400 w 1295400"/>
              <a:gd name="connsiteY1" fmla="*/ 793 h 1016455"/>
              <a:gd name="connsiteX2" fmla="*/ 1295400 w 1295400"/>
              <a:gd name="connsiteY2" fmla="*/ 1016455 h 1016455"/>
              <a:gd name="connsiteX3" fmla="*/ 0 w 1295400"/>
              <a:gd name="connsiteY3" fmla="*/ 1016455 h 1016455"/>
              <a:gd name="connsiteX4" fmla="*/ 400050 w 1295400"/>
              <a:gd name="connsiteY4" fmla="*/ 0 h 1016455"/>
            </a:gdLst>
            <a:ahLst/>
            <a:cxnLst/>
            <a:rect l="l" t="t" r="r" b="b"/>
            <a:pathLst>
              <a:path w="1295400" h="1016455">
                <a:moveTo>
                  <a:pt x="400050" y="0"/>
                </a:moveTo>
                <a:lnTo>
                  <a:pt x="1295400" y="793"/>
                </a:lnTo>
                <a:lnTo>
                  <a:pt x="1295400" y="1016455"/>
                </a:lnTo>
                <a:lnTo>
                  <a:pt x="0" y="1016455"/>
                </a:lnTo>
                <a:lnTo>
                  <a:pt x="400050" y="0"/>
                </a:lnTo>
                <a:close/>
              </a:path>
            </a:pathLst>
          </a:custGeom>
          <a:solidFill>
            <a:schemeClr val="bg1"/>
          </a:solidFill>
          <a:ln w="57150" cap="rnd">
            <a:noFill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5011369" y="5711843"/>
            <a:ext cx="779780" cy="5994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kumimoji="1" lang="en-US" altLang="zh-CN" sz="3600">
                <a:ln w="12700">
                  <a:noFill/>
                </a:ln>
                <a:solidFill>
                  <a:srgbClr val="C53645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05</a:t>
            </a:r>
            <a:endParaRPr kumimoji="1" lang="zh-CN" altLang="en-US"/>
          </a:p>
        </p:txBody>
      </p:sp>
      <p:sp>
        <p:nvSpPr>
          <p:cNvPr id="23" name="标题 1"/>
          <p:cNvSpPr txBox="1"/>
          <p:nvPr/>
        </p:nvSpPr>
        <p:spPr>
          <a:xfrm>
            <a:off x="1303244" y="1360829"/>
            <a:ext cx="10085312" cy="8577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Ventajas para la administración</a:t>
            </a: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-1" y="218915"/>
            <a:ext cx="621792" cy="326730"/>
          </a:xfrm>
          <a:custGeom>
            <a:avLst/>
            <a:gdLst>
              <a:gd name="connsiteX0" fmla="*/ 0 w 621792"/>
              <a:gd name="connsiteY0" fmla="*/ 0 h 326730"/>
              <a:gd name="connsiteX1" fmla="*/ 146813 w 621792"/>
              <a:gd name="connsiteY1" fmla="*/ 0 h 326730"/>
              <a:gd name="connsiteX2" fmla="*/ 474979 w 621792"/>
              <a:gd name="connsiteY2" fmla="*/ 0 h 326730"/>
              <a:gd name="connsiteX3" fmla="*/ 621792 w 621792"/>
              <a:gd name="connsiteY3" fmla="*/ 0 h 326730"/>
              <a:gd name="connsiteX4" fmla="*/ 412064 w 621792"/>
              <a:gd name="connsiteY4" fmla="*/ 326730 h 326730"/>
              <a:gd name="connsiteX5" fmla="*/ 265251 w 621792"/>
              <a:gd name="connsiteY5" fmla="*/ 326730 h 326730"/>
              <a:gd name="connsiteX6" fmla="*/ 146813 w 621792"/>
              <a:gd name="connsiteY6" fmla="*/ 326730 h 326730"/>
              <a:gd name="connsiteX7" fmla="*/ 0 w 621792"/>
              <a:gd name="connsiteY7" fmla="*/ 326730 h 326730"/>
            </a:gdLst>
            <a:ahLst/>
            <a:cxnLst/>
            <a:rect l="l" t="t" r="r" b="b"/>
            <a:pathLst>
              <a:path w="621792" h="326730">
                <a:moveTo>
                  <a:pt x="0" y="0"/>
                </a:moveTo>
                <a:lnTo>
                  <a:pt x="146813" y="0"/>
                </a:lnTo>
                <a:lnTo>
                  <a:pt x="474979" y="0"/>
                </a:lnTo>
                <a:lnTo>
                  <a:pt x="621792" y="0"/>
                </a:lnTo>
                <a:lnTo>
                  <a:pt x="412064" y="326730"/>
                </a:lnTo>
                <a:lnTo>
                  <a:pt x="265251" y="326730"/>
                </a:lnTo>
                <a:lnTo>
                  <a:pt x="146813" y="326730"/>
                </a:lnTo>
                <a:lnTo>
                  <a:pt x="0" y="32673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621792" y="163502"/>
            <a:ext cx="10706100" cy="4216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Ventajas para la administración</a:t>
            </a:r>
            <a:endParaRPr kumimoji="1" lang="zh-CN" altLang="en-US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7AF34E7A-B764-8A74-E6DB-5ED21322E3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862220" y="1476929"/>
            <a:ext cx="1755485" cy="111711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8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03</a:t>
            </a:r>
            <a:endParaRPr kumimoji="1" lang="zh-CN" altLang="en-US" dirty="0"/>
          </a:p>
        </p:txBody>
      </p:sp>
      <p:sp>
        <p:nvSpPr>
          <p:cNvPr id="7" name="标题 1"/>
          <p:cNvSpPr txBox="1"/>
          <p:nvPr/>
        </p:nvSpPr>
        <p:spPr>
          <a:xfrm>
            <a:off x="1822340" y="2829215"/>
            <a:ext cx="5911783" cy="202036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Mantenimiento 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Preventivo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y 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Correctivo</a:t>
            </a:r>
            <a:endParaRPr kumimoji="1" lang="zh-CN" altLang="en-U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29D2C70-9A14-2E99-AE0B-4FF21266E3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/>
          <p:nvPr/>
        </p:nvSpPr>
        <p:spPr>
          <a:xfrm>
            <a:off x="8605465" y="2227191"/>
            <a:ext cx="468000" cy="409726"/>
          </a:xfrm>
          <a:custGeom>
            <a:avLst/>
            <a:gdLst>
              <a:gd name="connsiteX0" fmla="*/ 411292 w 822400"/>
              <a:gd name="connsiteY0" fmla="*/ 234366 h 720000"/>
              <a:gd name="connsiteX1" fmla="*/ 285658 w 822400"/>
              <a:gd name="connsiteY1" fmla="*/ 360000 h 720000"/>
              <a:gd name="connsiteX2" fmla="*/ 411292 w 822400"/>
              <a:gd name="connsiteY2" fmla="*/ 485635 h 720000"/>
              <a:gd name="connsiteX3" fmla="*/ 536927 w 822400"/>
              <a:gd name="connsiteY3" fmla="*/ 360000 h 720000"/>
              <a:gd name="connsiteX4" fmla="*/ 411292 w 822400"/>
              <a:gd name="connsiteY4" fmla="*/ 234366 h 720000"/>
              <a:gd name="connsiteX5" fmla="*/ 411292 w 822400"/>
              <a:gd name="connsiteY5" fmla="*/ 178938 h 720000"/>
              <a:gd name="connsiteX6" fmla="*/ 592354 w 822400"/>
              <a:gd name="connsiteY6" fmla="*/ 360000 h 720000"/>
              <a:gd name="connsiteX7" fmla="*/ 411292 w 822400"/>
              <a:gd name="connsiteY7" fmla="*/ 541063 h 720000"/>
              <a:gd name="connsiteX8" fmla="*/ 230230 w 822400"/>
              <a:gd name="connsiteY8" fmla="*/ 360000 h 720000"/>
              <a:gd name="connsiteX9" fmla="*/ 411292 w 822400"/>
              <a:gd name="connsiteY9" fmla="*/ 178938 h 720000"/>
              <a:gd name="connsiteX10" fmla="*/ 235403 w 822400"/>
              <a:gd name="connsiteY10" fmla="*/ 55427 h 720000"/>
              <a:gd name="connsiteX11" fmla="*/ 59514 w 822400"/>
              <a:gd name="connsiteY11" fmla="*/ 360000 h 720000"/>
              <a:gd name="connsiteX12" fmla="*/ 235403 w 822400"/>
              <a:gd name="connsiteY12" fmla="*/ 664573 h 720000"/>
              <a:gd name="connsiteX13" fmla="*/ 587089 w 822400"/>
              <a:gd name="connsiteY13" fmla="*/ 664573 h 720000"/>
              <a:gd name="connsiteX14" fmla="*/ 762978 w 822400"/>
              <a:gd name="connsiteY14" fmla="*/ 360000 h 720000"/>
              <a:gd name="connsiteX15" fmla="*/ 587089 w 822400"/>
              <a:gd name="connsiteY15" fmla="*/ 55427 h 720000"/>
              <a:gd name="connsiteX16" fmla="*/ 219883 w 822400"/>
              <a:gd name="connsiteY16" fmla="*/ 0 h 720000"/>
              <a:gd name="connsiteX17" fmla="*/ 602516 w 822400"/>
              <a:gd name="connsiteY17" fmla="*/ 0 h 720000"/>
              <a:gd name="connsiteX18" fmla="*/ 627274 w 822400"/>
              <a:gd name="connsiteY18" fmla="*/ 14319 h 720000"/>
              <a:gd name="connsiteX19" fmla="*/ 818590 w 822400"/>
              <a:gd name="connsiteY19" fmla="*/ 345682 h 720000"/>
              <a:gd name="connsiteX20" fmla="*/ 818590 w 822400"/>
              <a:gd name="connsiteY20" fmla="*/ 374319 h 720000"/>
              <a:gd name="connsiteX21" fmla="*/ 627366 w 822400"/>
              <a:gd name="connsiteY21" fmla="*/ 705682 h 720000"/>
              <a:gd name="connsiteX22" fmla="*/ 602608 w 822400"/>
              <a:gd name="connsiteY22" fmla="*/ 720000 h 720000"/>
              <a:gd name="connsiteX23" fmla="*/ 219976 w 822400"/>
              <a:gd name="connsiteY23" fmla="*/ 720000 h 720000"/>
              <a:gd name="connsiteX24" fmla="*/ 195218 w 822400"/>
              <a:gd name="connsiteY24" fmla="*/ 705682 h 720000"/>
              <a:gd name="connsiteX25" fmla="*/ 3810 w 822400"/>
              <a:gd name="connsiteY25" fmla="*/ 374319 h 720000"/>
              <a:gd name="connsiteX26" fmla="*/ 3810 w 822400"/>
              <a:gd name="connsiteY26" fmla="*/ 345682 h 720000"/>
              <a:gd name="connsiteX27" fmla="*/ 195126 w 822400"/>
              <a:gd name="connsiteY27" fmla="*/ 14319 h 720000"/>
              <a:gd name="connsiteX28" fmla="*/ 219883 w 822400"/>
              <a:gd name="connsiteY28" fmla="*/ 0 h 720000"/>
            </a:gdLst>
            <a:ahLst/>
            <a:cxnLst/>
            <a:rect l="l" t="t" r="r" b="b"/>
            <a:pathLst>
              <a:path w="822400" h="720000">
                <a:moveTo>
                  <a:pt x="411292" y="234366"/>
                </a:moveTo>
                <a:cubicBezTo>
                  <a:pt x="342008" y="234366"/>
                  <a:pt x="285658" y="290716"/>
                  <a:pt x="285658" y="360000"/>
                </a:cubicBezTo>
                <a:cubicBezTo>
                  <a:pt x="285658" y="429284"/>
                  <a:pt x="342008" y="485635"/>
                  <a:pt x="411292" y="485635"/>
                </a:cubicBezTo>
                <a:cubicBezTo>
                  <a:pt x="480576" y="485635"/>
                  <a:pt x="536927" y="429284"/>
                  <a:pt x="536927" y="360000"/>
                </a:cubicBezTo>
                <a:cubicBezTo>
                  <a:pt x="536927" y="290716"/>
                  <a:pt x="480576" y="234366"/>
                  <a:pt x="411292" y="234366"/>
                </a:cubicBezTo>
                <a:close/>
                <a:moveTo>
                  <a:pt x="411292" y="178938"/>
                </a:moveTo>
                <a:cubicBezTo>
                  <a:pt x="511153" y="178938"/>
                  <a:pt x="592354" y="260139"/>
                  <a:pt x="592354" y="360000"/>
                </a:cubicBezTo>
                <a:cubicBezTo>
                  <a:pt x="592354" y="459861"/>
                  <a:pt x="511153" y="541063"/>
                  <a:pt x="411292" y="541063"/>
                </a:cubicBezTo>
                <a:cubicBezTo>
                  <a:pt x="311431" y="541063"/>
                  <a:pt x="230230" y="459861"/>
                  <a:pt x="230230" y="360000"/>
                </a:cubicBezTo>
                <a:cubicBezTo>
                  <a:pt x="230230" y="260139"/>
                  <a:pt x="311431" y="178938"/>
                  <a:pt x="411292" y="178938"/>
                </a:cubicBezTo>
                <a:close/>
                <a:moveTo>
                  <a:pt x="235403" y="55427"/>
                </a:moveTo>
                <a:lnTo>
                  <a:pt x="59514" y="360000"/>
                </a:lnTo>
                <a:lnTo>
                  <a:pt x="235403" y="664573"/>
                </a:lnTo>
                <a:lnTo>
                  <a:pt x="587089" y="664573"/>
                </a:lnTo>
                <a:lnTo>
                  <a:pt x="762978" y="360000"/>
                </a:lnTo>
                <a:lnTo>
                  <a:pt x="587089" y="55427"/>
                </a:lnTo>
                <a:close/>
                <a:moveTo>
                  <a:pt x="219883" y="0"/>
                </a:moveTo>
                <a:lnTo>
                  <a:pt x="602516" y="0"/>
                </a:lnTo>
                <a:cubicBezTo>
                  <a:pt x="612678" y="0"/>
                  <a:pt x="622193" y="5450"/>
                  <a:pt x="627274" y="14319"/>
                </a:cubicBezTo>
                <a:lnTo>
                  <a:pt x="818590" y="345682"/>
                </a:lnTo>
                <a:cubicBezTo>
                  <a:pt x="823671" y="354550"/>
                  <a:pt x="823671" y="365451"/>
                  <a:pt x="818590" y="374319"/>
                </a:cubicBezTo>
                <a:lnTo>
                  <a:pt x="627366" y="705682"/>
                </a:lnTo>
                <a:cubicBezTo>
                  <a:pt x="622285" y="714550"/>
                  <a:pt x="612770" y="720000"/>
                  <a:pt x="602608" y="720000"/>
                </a:cubicBezTo>
                <a:lnTo>
                  <a:pt x="219976" y="720000"/>
                </a:lnTo>
                <a:cubicBezTo>
                  <a:pt x="209814" y="720000"/>
                  <a:pt x="200299" y="714550"/>
                  <a:pt x="195218" y="705682"/>
                </a:cubicBezTo>
                <a:lnTo>
                  <a:pt x="3810" y="374319"/>
                </a:lnTo>
                <a:cubicBezTo>
                  <a:pt x="-1271" y="365543"/>
                  <a:pt x="-1271" y="354550"/>
                  <a:pt x="3810" y="345682"/>
                </a:cubicBezTo>
                <a:lnTo>
                  <a:pt x="195126" y="14319"/>
                </a:lnTo>
                <a:cubicBezTo>
                  <a:pt x="200207" y="5450"/>
                  <a:pt x="209721" y="0"/>
                  <a:pt x="219883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577077" y="1162525"/>
            <a:ext cx="4524776" cy="829323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Aplicación</a:t>
            </a: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r>
              <a:rPr kumimoji="1" lang="en-US" altLang="zh-CN" sz="16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práctica</a:t>
            </a:r>
            <a:endParaRPr kumimoji="1" lang="zh-CN" altLang="en-US" dirty="0"/>
          </a:p>
        </p:txBody>
      </p:sp>
      <p:sp>
        <p:nvSpPr>
          <p:cNvPr id="7" name="标题 1"/>
          <p:cNvSpPr txBox="1"/>
          <p:nvPr/>
        </p:nvSpPr>
        <p:spPr>
          <a:xfrm>
            <a:off x="6666103" y="1928054"/>
            <a:ext cx="4346724" cy="144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En la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administración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del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centro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, se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pueden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programar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mantenimientos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trimestrales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mediante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cronogramas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que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incluyan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a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los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técnicos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responsables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,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fechas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,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áreas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y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observaciones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.</a:t>
            </a:r>
            <a:endParaRPr kumimoji="1" lang="zh-CN" altLang="en-US" dirty="0"/>
          </a:p>
        </p:txBody>
      </p:sp>
      <p:sp>
        <p:nvSpPr>
          <p:cNvPr id="10" name="标题 1"/>
          <p:cNvSpPr txBox="1"/>
          <p:nvPr/>
        </p:nvSpPr>
        <p:spPr>
          <a:xfrm>
            <a:off x="3123835" y="2216054"/>
            <a:ext cx="432000" cy="432000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2700" cap="sq">
            <a:noFill/>
            <a:miter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77447" y="1162526"/>
            <a:ext cx="4524776" cy="829323"/>
          </a:xfrm>
          <a:prstGeom prst="rect">
            <a:avLst/>
          </a:prstGeom>
          <a:noFill/>
          <a:ln cap="sq">
            <a:noFill/>
          </a:ln>
          <a:effectLst/>
        </p:spPr>
        <p:txBody>
          <a:bodyPr vert="horz" wrap="square" lIns="0" tIns="0" rIns="0" bIns="0" rtlCol="0" anchor="ctr"/>
          <a:lstStyle/>
          <a:p>
            <a:pPr algn="ctr"/>
            <a:r>
              <a:rPr kumimoji="1" lang="en-US" altLang="zh-CN" sz="16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Actividades</a:t>
            </a: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clave</a:t>
            </a:r>
            <a:endParaRPr kumimoji="1" lang="zh-CN" altLang="en-US" dirty="0"/>
          </a:p>
        </p:txBody>
      </p:sp>
      <p:sp>
        <p:nvSpPr>
          <p:cNvPr id="12" name="标题 1"/>
          <p:cNvSpPr txBox="1"/>
          <p:nvPr/>
        </p:nvSpPr>
        <p:spPr>
          <a:xfrm>
            <a:off x="752458" y="1892054"/>
            <a:ext cx="5174753" cy="331413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Limpieza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 interna y externa de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equipos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 de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laboratorio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 y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servidores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.</a:t>
            </a:r>
          </a:p>
          <a:p>
            <a:pPr algn="ctr"/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
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Comprobación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 de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sistemas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 de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ventilación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, UPS y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energía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regulada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.</a:t>
            </a:r>
          </a:p>
          <a:p>
            <a:pPr algn="ctr"/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
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Verificación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 de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respaldos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automáticos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en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servidores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.</a:t>
            </a:r>
          </a:p>
          <a:p>
            <a:pPr algn="ctr"/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
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Actualización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 de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sistemas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operativos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, antivirus y software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institucional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.</a:t>
            </a:r>
          </a:p>
          <a:p>
            <a:pPr algn="ctr"/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
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Monitoreo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 de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temperatura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 y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humedad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 del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centro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 de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cómputo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.</a:t>
            </a:r>
          </a:p>
          <a:p>
            <a:pPr algn="ctr"/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
Control del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uso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 de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licencias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 y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cumplimiento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 de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políticas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Poppins"/>
                <a:cs typeface="Poppins"/>
              </a:rPr>
              <a:t> de software.</a:t>
            </a:r>
            <a:endParaRPr kumimoji="1" lang="zh-CN" altLang="en-US" sz="1400" dirty="0">
              <a:ln w="12700">
                <a:noFill/>
              </a:ln>
              <a:solidFill>
                <a:srgbClr val="000000">
                  <a:alpha val="100000"/>
                </a:srgbClr>
              </a:solidFill>
              <a:latin typeface="Poppins"/>
              <a:cs typeface="Poppins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-1" y="218915"/>
            <a:ext cx="621792" cy="326730"/>
          </a:xfrm>
          <a:custGeom>
            <a:avLst/>
            <a:gdLst>
              <a:gd name="connsiteX0" fmla="*/ 0 w 621792"/>
              <a:gd name="connsiteY0" fmla="*/ 0 h 326730"/>
              <a:gd name="connsiteX1" fmla="*/ 146813 w 621792"/>
              <a:gd name="connsiteY1" fmla="*/ 0 h 326730"/>
              <a:gd name="connsiteX2" fmla="*/ 474979 w 621792"/>
              <a:gd name="connsiteY2" fmla="*/ 0 h 326730"/>
              <a:gd name="connsiteX3" fmla="*/ 621792 w 621792"/>
              <a:gd name="connsiteY3" fmla="*/ 0 h 326730"/>
              <a:gd name="connsiteX4" fmla="*/ 412064 w 621792"/>
              <a:gd name="connsiteY4" fmla="*/ 326730 h 326730"/>
              <a:gd name="connsiteX5" fmla="*/ 265251 w 621792"/>
              <a:gd name="connsiteY5" fmla="*/ 326730 h 326730"/>
              <a:gd name="connsiteX6" fmla="*/ 146813 w 621792"/>
              <a:gd name="connsiteY6" fmla="*/ 326730 h 326730"/>
              <a:gd name="connsiteX7" fmla="*/ 0 w 621792"/>
              <a:gd name="connsiteY7" fmla="*/ 326730 h 326730"/>
            </a:gdLst>
            <a:ahLst/>
            <a:cxnLst/>
            <a:rect l="l" t="t" r="r" b="b"/>
            <a:pathLst>
              <a:path w="621792" h="326730">
                <a:moveTo>
                  <a:pt x="0" y="0"/>
                </a:moveTo>
                <a:lnTo>
                  <a:pt x="146813" y="0"/>
                </a:lnTo>
                <a:lnTo>
                  <a:pt x="474979" y="0"/>
                </a:lnTo>
                <a:lnTo>
                  <a:pt x="621792" y="0"/>
                </a:lnTo>
                <a:lnTo>
                  <a:pt x="412064" y="326730"/>
                </a:lnTo>
                <a:lnTo>
                  <a:pt x="265251" y="326730"/>
                </a:lnTo>
                <a:lnTo>
                  <a:pt x="146813" y="326730"/>
                </a:lnTo>
                <a:lnTo>
                  <a:pt x="0" y="32673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621792" y="163502"/>
            <a:ext cx="10706100" cy="4216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Mantenimiento Preventivo</a:t>
            </a:r>
            <a:endParaRPr kumimoji="1" lang="zh-CN" altLang="en-US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4E945ABB-BB9B-826B-B150-67ABF95DB1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flipH="1">
            <a:off x="2569169" y="1699034"/>
            <a:ext cx="6480000" cy="1728000"/>
          </a:xfrm>
          <a:prstGeom prst="roundRect">
            <a:avLst>
              <a:gd name="adj" fmla="val 7202"/>
            </a:avLst>
          </a:prstGeom>
          <a:solidFill>
            <a:schemeClr val="bg1">
              <a:lumMod val="95000"/>
            </a:schemeClr>
          </a:solidFill>
          <a:ln w="57150" cap="rnd">
            <a:noFill/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flipH="1">
            <a:off x="3130131" y="3789660"/>
            <a:ext cx="6480000" cy="1728000"/>
          </a:xfrm>
          <a:prstGeom prst="roundRect">
            <a:avLst>
              <a:gd name="adj" fmla="val 7683"/>
            </a:avLst>
          </a:prstGeom>
          <a:solidFill>
            <a:schemeClr val="bg1">
              <a:lumMod val="95000"/>
            </a:schemeClr>
          </a:solidFill>
          <a:ln w="57150" cap="rnd">
            <a:noFill/>
            <a:round/>
          </a:ln>
          <a:effectLst/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rot="10800000">
            <a:off x="952131" y="1517722"/>
            <a:ext cx="2340000" cy="2090625"/>
          </a:xfrm>
          <a:custGeom>
            <a:avLst/>
            <a:gdLst>
              <a:gd name="connsiteX0" fmla="*/ 5240153 w 7498005"/>
              <a:gd name="connsiteY0" fmla="*/ 0 h 6698932"/>
              <a:gd name="connsiteX1" fmla="*/ 2257875 w 7498005"/>
              <a:gd name="connsiteY1" fmla="*/ 0 h 6698932"/>
              <a:gd name="connsiteX2" fmla="*/ 1593887 w 7498005"/>
              <a:gd name="connsiteY2" fmla="*/ 383381 h 6698932"/>
              <a:gd name="connsiteX3" fmla="*/ 102653 w 7498005"/>
              <a:gd name="connsiteY3" fmla="*/ 2966085 h 6698932"/>
              <a:gd name="connsiteX4" fmla="*/ 102653 w 7498005"/>
              <a:gd name="connsiteY4" fmla="*/ 3732848 h 6698932"/>
              <a:gd name="connsiteX5" fmla="*/ 1593887 w 7498005"/>
              <a:gd name="connsiteY5" fmla="*/ 6315551 h 6698932"/>
              <a:gd name="connsiteX6" fmla="*/ 2257875 w 7498005"/>
              <a:gd name="connsiteY6" fmla="*/ 6698933 h 6698932"/>
              <a:gd name="connsiteX7" fmla="*/ 5240153 w 7498005"/>
              <a:gd name="connsiteY7" fmla="*/ 6698933 h 6698932"/>
              <a:gd name="connsiteX8" fmla="*/ 5904140 w 7498005"/>
              <a:gd name="connsiteY8" fmla="*/ 6315551 h 6698932"/>
              <a:gd name="connsiteX9" fmla="*/ 7395279 w 7498005"/>
              <a:gd name="connsiteY9" fmla="*/ 3732848 h 6698932"/>
              <a:gd name="connsiteX10" fmla="*/ 7395279 w 7498005"/>
              <a:gd name="connsiteY10" fmla="*/ 2966085 h 6698932"/>
              <a:gd name="connsiteX11" fmla="*/ 5904140 w 7498005"/>
              <a:gd name="connsiteY11" fmla="*/ 383381 h 6698932"/>
              <a:gd name="connsiteX12" fmla="*/ 5240153 w 7498005"/>
              <a:gd name="connsiteY12" fmla="*/ 0 h 6698932"/>
            </a:gdLst>
            <a:ahLst/>
            <a:cxnLst/>
            <a:rect l="l" t="t" r="r" b="b"/>
            <a:pathLst>
              <a:path w="7498005" h="6698932">
                <a:moveTo>
                  <a:pt x="5240153" y="0"/>
                </a:moveTo>
                <a:lnTo>
                  <a:pt x="2257875" y="0"/>
                </a:lnTo>
                <a:cubicBezTo>
                  <a:pt x="1983945" y="-2"/>
                  <a:pt x="1730838" y="146145"/>
                  <a:pt x="1593887" y="383381"/>
                </a:cubicBezTo>
                <a:lnTo>
                  <a:pt x="102653" y="2966085"/>
                </a:lnTo>
                <a:cubicBezTo>
                  <a:pt x="-34218" y="3203353"/>
                  <a:pt x="-34218" y="3495580"/>
                  <a:pt x="102653" y="3732848"/>
                </a:cubicBezTo>
                <a:lnTo>
                  <a:pt x="1593887" y="6315551"/>
                </a:lnTo>
                <a:cubicBezTo>
                  <a:pt x="1730838" y="6552790"/>
                  <a:pt x="1983945" y="6698933"/>
                  <a:pt x="2257875" y="6698933"/>
                </a:cubicBezTo>
                <a:lnTo>
                  <a:pt x="5240153" y="6698933"/>
                </a:lnTo>
                <a:cubicBezTo>
                  <a:pt x="5514082" y="6698933"/>
                  <a:pt x="5767190" y="6552790"/>
                  <a:pt x="5904140" y="6315551"/>
                </a:cubicBezTo>
                <a:lnTo>
                  <a:pt x="7395279" y="3732848"/>
                </a:lnTo>
                <a:cubicBezTo>
                  <a:pt x="7532248" y="3495609"/>
                  <a:pt x="7532248" y="3203324"/>
                  <a:pt x="7395279" y="2966085"/>
                </a:cubicBezTo>
                <a:lnTo>
                  <a:pt x="5904140" y="383381"/>
                </a:lnTo>
                <a:cubicBezTo>
                  <a:pt x="5767190" y="146145"/>
                  <a:pt x="5514082" y="-2"/>
                  <a:pt x="5240153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2700000" scaled="0"/>
          </a:gradFill>
          <a:ln w="50800" cap="flat">
            <a:noFill/>
            <a:miter/>
          </a:ln>
          <a:effectLst>
            <a:outerShdw blurRad="508000" dist="127000" dir="3000000" sx="102000" sy="102000" algn="t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rot="10800000">
            <a:off x="8887169" y="3608347"/>
            <a:ext cx="2340000" cy="2090625"/>
          </a:xfrm>
          <a:custGeom>
            <a:avLst/>
            <a:gdLst>
              <a:gd name="connsiteX0" fmla="*/ 5240153 w 7498005"/>
              <a:gd name="connsiteY0" fmla="*/ 0 h 6698932"/>
              <a:gd name="connsiteX1" fmla="*/ 2257875 w 7498005"/>
              <a:gd name="connsiteY1" fmla="*/ 0 h 6698932"/>
              <a:gd name="connsiteX2" fmla="*/ 1593887 w 7498005"/>
              <a:gd name="connsiteY2" fmla="*/ 383381 h 6698932"/>
              <a:gd name="connsiteX3" fmla="*/ 102653 w 7498005"/>
              <a:gd name="connsiteY3" fmla="*/ 2966085 h 6698932"/>
              <a:gd name="connsiteX4" fmla="*/ 102653 w 7498005"/>
              <a:gd name="connsiteY4" fmla="*/ 3732848 h 6698932"/>
              <a:gd name="connsiteX5" fmla="*/ 1593887 w 7498005"/>
              <a:gd name="connsiteY5" fmla="*/ 6315551 h 6698932"/>
              <a:gd name="connsiteX6" fmla="*/ 2257875 w 7498005"/>
              <a:gd name="connsiteY6" fmla="*/ 6698933 h 6698932"/>
              <a:gd name="connsiteX7" fmla="*/ 5240153 w 7498005"/>
              <a:gd name="connsiteY7" fmla="*/ 6698933 h 6698932"/>
              <a:gd name="connsiteX8" fmla="*/ 5904140 w 7498005"/>
              <a:gd name="connsiteY8" fmla="*/ 6315551 h 6698932"/>
              <a:gd name="connsiteX9" fmla="*/ 7395279 w 7498005"/>
              <a:gd name="connsiteY9" fmla="*/ 3732848 h 6698932"/>
              <a:gd name="connsiteX10" fmla="*/ 7395279 w 7498005"/>
              <a:gd name="connsiteY10" fmla="*/ 2966085 h 6698932"/>
              <a:gd name="connsiteX11" fmla="*/ 5904140 w 7498005"/>
              <a:gd name="connsiteY11" fmla="*/ 383381 h 6698932"/>
              <a:gd name="connsiteX12" fmla="*/ 5240153 w 7498005"/>
              <a:gd name="connsiteY12" fmla="*/ 0 h 6698932"/>
            </a:gdLst>
            <a:ahLst/>
            <a:cxnLst/>
            <a:rect l="l" t="t" r="r" b="b"/>
            <a:pathLst>
              <a:path w="7498005" h="6698932">
                <a:moveTo>
                  <a:pt x="5240153" y="0"/>
                </a:moveTo>
                <a:lnTo>
                  <a:pt x="2257875" y="0"/>
                </a:lnTo>
                <a:cubicBezTo>
                  <a:pt x="1983945" y="-2"/>
                  <a:pt x="1730838" y="146145"/>
                  <a:pt x="1593887" y="383381"/>
                </a:cubicBezTo>
                <a:lnTo>
                  <a:pt x="102653" y="2966085"/>
                </a:lnTo>
                <a:cubicBezTo>
                  <a:pt x="-34218" y="3203353"/>
                  <a:pt x="-34218" y="3495580"/>
                  <a:pt x="102653" y="3732848"/>
                </a:cubicBezTo>
                <a:lnTo>
                  <a:pt x="1593887" y="6315551"/>
                </a:lnTo>
                <a:cubicBezTo>
                  <a:pt x="1730838" y="6552790"/>
                  <a:pt x="1983945" y="6698933"/>
                  <a:pt x="2257875" y="6698933"/>
                </a:cubicBezTo>
                <a:lnTo>
                  <a:pt x="5240153" y="6698933"/>
                </a:lnTo>
                <a:cubicBezTo>
                  <a:pt x="5514082" y="6698933"/>
                  <a:pt x="5767190" y="6552790"/>
                  <a:pt x="5904140" y="6315551"/>
                </a:cubicBezTo>
                <a:lnTo>
                  <a:pt x="7395279" y="3732848"/>
                </a:lnTo>
                <a:cubicBezTo>
                  <a:pt x="7532248" y="3495609"/>
                  <a:pt x="7532248" y="3203324"/>
                  <a:pt x="7395279" y="2966085"/>
                </a:cubicBezTo>
                <a:lnTo>
                  <a:pt x="5904140" y="383381"/>
                </a:lnTo>
                <a:cubicBezTo>
                  <a:pt x="5767190" y="146145"/>
                  <a:pt x="5514082" y="-2"/>
                  <a:pt x="5240153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2700000" scaled="0"/>
          </a:gradFill>
          <a:ln w="50800" cap="flat">
            <a:noFill/>
            <a:miter/>
          </a:ln>
          <a:effectLst>
            <a:outerShdw blurRad="508000" dist="127000" dir="3000000" sx="102000" sy="102000" algn="t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569650" y="2369982"/>
            <a:ext cx="5040000" cy="93328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Sustitución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componentes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dañados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(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fuentes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, discos,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memorias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,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ventiladores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).
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Reparación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 switches o puntos de red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defectuosos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.
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Reinstalación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sistemas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operativos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dañados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o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infectados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.
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Recuperación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información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ante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fallas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en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discos o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sistemas</a:t>
            </a:r>
            <a:r>
              <a:rPr kumimoji="1" lang="en-US" altLang="zh-CN" sz="826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.</a:t>
            </a:r>
            <a:endParaRPr kumimoji="1" lang="zh-CN" altLang="en-US" dirty="0"/>
          </a:p>
        </p:txBody>
      </p:sp>
      <p:sp>
        <p:nvSpPr>
          <p:cNvPr id="7" name="标题 1"/>
          <p:cNvSpPr txBox="1"/>
          <p:nvPr/>
        </p:nvSpPr>
        <p:spPr>
          <a:xfrm>
            <a:off x="3569650" y="1946274"/>
            <a:ext cx="5040000" cy="3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Ejemplos</a:t>
            </a:r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3569650" y="4460230"/>
            <a:ext cx="5040000" cy="79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Cada mantenimiento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correctivo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debe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registrarse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con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su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fecha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,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diagnóstico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, causa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raíz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,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repuestos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utilizados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y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responsable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técnico,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fortaleciendo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la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trazabilidad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del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servicio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.</a:t>
            </a:r>
            <a:endParaRPr kumimoji="1" lang="zh-CN" altLang="en-US" sz="1200" dirty="0"/>
          </a:p>
        </p:txBody>
      </p:sp>
      <p:sp>
        <p:nvSpPr>
          <p:cNvPr id="9" name="标题 1"/>
          <p:cNvSpPr txBox="1"/>
          <p:nvPr/>
        </p:nvSpPr>
        <p:spPr>
          <a:xfrm>
            <a:off x="3569650" y="4036520"/>
            <a:ext cx="5040000" cy="3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Importante</a:t>
            </a:r>
            <a:endParaRPr kumimoji="1" lang="zh-CN" altLang="en-US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2">
            <a:alphaModFix/>
          </a:blip>
          <a:srcRect l="26435" t="1797" r="5472" b="2638"/>
          <a:stretch>
            <a:fillRect/>
          </a:stretch>
        </p:blipFill>
        <p:spPr>
          <a:xfrm>
            <a:off x="9049169" y="3753083"/>
            <a:ext cx="2016001" cy="1801155"/>
          </a:xfrm>
          <a:custGeom>
            <a:avLst/>
            <a:gdLst/>
            <a:ahLst/>
            <a:cxnLst/>
            <a:rect l="l" t="t" r="r" b="b"/>
            <a:pathLst>
              <a:path w="2016001" h="1801155">
                <a:moveTo>
                  <a:pt x="607073" y="0"/>
                </a:moveTo>
                <a:lnTo>
                  <a:pt x="1408923" y="0"/>
                </a:lnTo>
                <a:cubicBezTo>
                  <a:pt x="1482575" y="0"/>
                  <a:pt x="1550628" y="39294"/>
                  <a:pt x="1587450" y="103081"/>
                </a:cubicBezTo>
                <a:lnTo>
                  <a:pt x="1988401" y="797497"/>
                </a:lnTo>
                <a:cubicBezTo>
                  <a:pt x="2025201" y="861292"/>
                  <a:pt x="2025201" y="939863"/>
                  <a:pt x="1988401" y="1003658"/>
                </a:cubicBezTo>
                <a:lnTo>
                  <a:pt x="1587450" y="1698075"/>
                </a:lnTo>
                <a:cubicBezTo>
                  <a:pt x="1550628" y="1761861"/>
                  <a:pt x="1482575" y="1801156"/>
                  <a:pt x="1408923" y="1801155"/>
                </a:cubicBezTo>
                <a:lnTo>
                  <a:pt x="607073" y="1801155"/>
                </a:lnTo>
                <a:cubicBezTo>
                  <a:pt x="533421" y="1801156"/>
                  <a:pt x="465368" y="1761861"/>
                  <a:pt x="428546" y="1698075"/>
                </a:cubicBezTo>
                <a:lnTo>
                  <a:pt x="27621" y="1003658"/>
                </a:lnTo>
                <a:cubicBezTo>
                  <a:pt x="-9206" y="939871"/>
                  <a:pt x="-9206" y="861284"/>
                  <a:pt x="27621" y="797497"/>
                </a:cubicBezTo>
                <a:lnTo>
                  <a:pt x="428546" y="103081"/>
                </a:lnTo>
                <a:cubicBezTo>
                  <a:pt x="465368" y="39294"/>
                  <a:pt x="533421" y="0"/>
                  <a:pt x="607073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3">
            <a:alphaModFix/>
          </a:blip>
          <a:srcRect l="18865" t="17158" r="19907" b="779"/>
          <a:stretch>
            <a:fillRect/>
          </a:stretch>
        </p:blipFill>
        <p:spPr>
          <a:xfrm>
            <a:off x="1114130" y="1662456"/>
            <a:ext cx="2016001" cy="1801155"/>
          </a:xfrm>
          <a:custGeom>
            <a:avLst/>
            <a:gdLst/>
            <a:ahLst/>
            <a:cxnLst/>
            <a:rect l="l" t="t" r="r" b="b"/>
            <a:pathLst>
              <a:path w="2016001" h="1801155">
                <a:moveTo>
                  <a:pt x="607073" y="0"/>
                </a:moveTo>
                <a:lnTo>
                  <a:pt x="1408923" y="0"/>
                </a:lnTo>
                <a:cubicBezTo>
                  <a:pt x="1482575" y="0"/>
                  <a:pt x="1550628" y="39294"/>
                  <a:pt x="1587450" y="103080"/>
                </a:cubicBezTo>
                <a:lnTo>
                  <a:pt x="1988401" y="797497"/>
                </a:lnTo>
                <a:cubicBezTo>
                  <a:pt x="2025201" y="861292"/>
                  <a:pt x="2025201" y="939863"/>
                  <a:pt x="1988401" y="1003658"/>
                </a:cubicBezTo>
                <a:lnTo>
                  <a:pt x="1587450" y="1698075"/>
                </a:lnTo>
                <a:cubicBezTo>
                  <a:pt x="1550628" y="1761861"/>
                  <a:pt x="1482575" y="1801156"/>
                  <a:pt x="1408923" y="1801155"/>
                </a:cubicBezTo>
                <a:lnTo>
                  <a:pt x="607073" y="1801155"/>
                </a:lnTo>
                <a:cubicBezTo>
                  <a:pt x="533421" y="1801156"/>
                  <a:pt x="465368" y="1761861"/>
                  <a:pt x="428546" y="1698075"/>
                </a:cubicBezTo>
                <a:lnTo>
                  <a:pt x="27621" y="1003658"/>
                </a:lnTo>
                <a:cubicBezTo>
                  <a:pt x="-9206" y="939871"/>
                  <a:pt x="-9206" y="861284"/>
                  <a:pt x="27621" y="797497"/>
                </a:cubicBezTo>
                <a:lnTo>
                  <a:pt x="428546" y="103080"/>
                </a:lnTo>
                <a:cubicBezTo>
                  <a:pt x="465368" y="39294"/>
                  <a:pt x="533421" y="0"/>
                  <a:pt x="60707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2" name="标题 1"/>
          <p:cNvSpPr txBox="1"/>
          <p:nvPr/>
        </p:nvSpPr>
        <p:spPr>
          <a:xfrm>
            <a:off x="-1" y="218915"/>
            <a:ext cx="621792" cy="326730"/>
          </a:xfrm>
          <a:custGeom>
            <a:avLst/>
            <a:gdLst>
              <a:gd name="connsiteX0" fmla="*/ 0 w 621792"/>
              <a:gd name="connsiteY0" fmla="*/ 0 h 326730"/>
              <a:gd name="connsiteX1" fmla="*/ 146813 w 621792"/>
              <a:gd name="connsiteY1" fmla="*/ 0 h 326730"/>
              <a:gd name="connsiteX2" fmla="*/ 474979 w 621792"/>
              <a:gd name="connsiteY2" fmla="*/ 0 h 326730"/>
              <a:gd name="connsiteX3" fmla="*/ 621792 w 621792"/>
              <a:gd name="connsiteY3" fmla="*/ 0 h 326730"/>
              <a:gd name="connsiteX4" fmla="*/ 412064 w 621792"/>
              <a:gd name="connsiteY4" fmla="*/ 326730 h 326730"/>
              <a:gd name="connsiteX5" fmla="*/ 265251 w 621792"/>
              <a:gd name="connsiteY5" fmla="*/ 326730 h 326730"/>
              <a:gd name="connsiteX6" fmla="*/ 146813 w 621792"/>
              <a:gd name="connsiteY6" fmla="*/ 326730 h 326730"/>
              <a:gd name="connsiteX7" fmla="*/ 0 w 621792"/>
              <a:gd name="connsiteY7" fmla="*/ 326730 h 326730"/>
            </a:gdLst>
            <a:ahLst/>
            <a:cxnLst/>
            <a:rect l="l" t="t" r="r" b="b"/>
            <a:pathLst>
              <a:path w="621792" h="326730">
                <a:moveTo>
                  <a:pt x="0" y="0"/>
                </a:moveTo>
                <a:lnTo>
                  <a:pt x="146813" y="0"/>
                </a:lnTo>
                <a:lnTo>
                  <a:pt x="474979" y="0"/>
                </a:lnTo>
                <a:lnTo>
                  <a:pt x="621792" y="0"/>
                </a:lnTo>
                <a:lnTo>
                  <a:pt x="412064" y="326730"/>
                </a:lnTo>
                <a:lnTo>
                  <a:pt x="265251" y="326730"/>
                </a:lnTo>
                <a:lnTo>
                  <a:pt x="146813" y="326730"/>
                </a:lnTo>
                <a:lnTo>
                  <a:pt x="0" y="32673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621792" y="163502"/>
            <a:ext cx="10706100" cy="4216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Mantenimiento Correctivo</a:t>
            </a:r>
            <a:endParaRPr kumimoji="1" lang="zh-CN" altLang="en-US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C5A93A54-DA0A-A178-C22D-758AB4C41E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770780" y="1602659"/>
            <a:ext cx="1755485" cy="111711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8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04</a:t>
            </a:r>
            <a:endParaRPr kumimoji="1" lang="zh-CN" altLang="en-US" dirty="0"/>
          </a:p>
        </p:txBody>
      </p:sp>
      <p:sp>
        <p:nvSpPr>
          <p:cNvPr id="7" name="标题 1"/>
          <p:cNvSpPr txBox="1"/>
          <p:nvPr/>
        </p:nvSpPr>
        <p:spPr>
          <a:xfrm>
            <a:off x="1788050" y="2954945"/>
            <a:ext cx="5911783" cy="202036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Registro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y 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Trazabilidad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de Activos 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Tecnológicos</a:t>
            </a:r>
            <a:endParaRPr kumimoji="1" lang="zh-CN" altLang="en-U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E8DBD91-F730-E331-2DF2-C3549EE6A0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 flipH="1">
            <a:off x="5651578" y="3409466"/>
            <a:ext cx="2823432" cy="1343589"/>
          </a:xfrm>
          <a:prstGeom prst="snip1Rect">
            <a:avLst>
              <a:gd name="adj" fmla="val 0"/>
            </a:avLst>
          </a:prstGeom>
          <a:solidFill>
            <a:schemeClr val="bg1"/>
          </a:solidFill>
          <a:ln w="22225" cap="sq">
            <a:solidFill>
              <a:schemeClr val="accent1">
                <a:lumMod val="60000"/>
                <a:lumOff val="40000"/>
              </a:schemeClr>
            </a:solidFill>
          </a:ln>
          <a:effectLst/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rot="10800000" flipH="1" flipV="1">
            <a:off x="788696" y="1523087"/>
            <a:ext cx="4530287" cy="2615110"/>
          </a:xfrm>
          <a:prstGeom prst="snip1Rect">
            <a:avLst/>
          </a:prstGeom>
          <a:solidFill>
            <a:schemeClr val="accent1"/>
          </a:solidFill>
          <a:ln w="1416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 flipH="1">
            <a:off x="5651578" y="4873515"/>
            <a:ext cx="2823432" cy="1343589"/>
          </a:xfrm>
          <a:prstGeom prst="rect">
            <a:avLst/>
          </a:prstGeom>
          <a:solidFill>
            <a:schemeClr val="bg1"/>
          </a:solidFill>
          <a:ln w="22225" cap="sq">
            <a:solidFill>
              <a:schemeClr val="accent1">
                <a:lumMod val="60000"/>
                <a:lumOff val="40000"/>
              </a:schemeClr>
            </a:solidFill>
          </a:ln>
          <a:effectLst/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 flipV="1">
            <a:off x="8661939" y="1904295"/>
            <a:ext cx="2823432" cy="1343589"/>
          </a:xfrm>
          <a:prstGeom prst="snip1Rect">
            <a:avLst>
              <a:gd name="adj" fmla="val 120"/>
            </a:avLst>
          </a:prstGeom>
          <a:solidFill>
            <a:schemeClr val="bg1"/>
          </a:solidFill>
          <a:ln w="22225" cap="sq">
            <a:solidFill>
              <a:schemeClr val="accent1">
                <a:lumMod val="60000"/>
                <a:lumOff val="40000"/>
              </a:schemeClr>
            </a:solidFill>
          </a:ln>
          <a:effectLst/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1057356" y="2142347"/>
            <a:ext cx="4068087" cy="199585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600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Elementos</a:t>
            </a:r>
            <a:r>
              <a:rPr kumimoji="1" lang="en-US" altLang="zh-CN" sz="16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r>
              <a:rPr kumimoji="1" lang="en-US" altLang="zh-CN" sz="1600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esenciales</a:t>
            </a:r>
            <a:r>
              <a:rPr kumimoji="1" lang="en-US" altLang="zh-CN" sz="1600" dirty="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del </a:t>
            </a:r>
            <a:r>
              <a:rPr kumimoji="1" lang="en-US" altLang="zh-CN" sz="1600" dirty="0" err="1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registro</a:t>
            </a:r>
            <a:endParaRPr kumimoji="1" lang="zh-CN" altLang="en-US" dirty="0"/>
          </a:p>
        </p:txBody>
      </p:sp>
      <p:cxnSp>
        <p:nvCxnSpPr>
          <p:cNvPr id="7" name="标题 1"/>
          <p:cNvCxnSpPr/>
          <p:nvPr/>
        </p:nvCxnSpPr>
        <p:spPr>
          <a:xfrm flipH="1">
            <a:off x="989695" y="3590750"/>
            <a:ext cx="364589" cy="0"/>
          </a:xfrm>
          <a:prstGeom prst="line">
            <a:avLst/>
          </a:prstGeom>
          <a:noFill/>
          <a:ln w="28575" cap="sq">
            <a:solidFill>
              <a:schemeClr val="bg1">
                <a:alpha val="35000"/>
              </a:schemeClr>
            </a:solidFill>
            <a:miter/>
          </a:ln>
        </p:spPr>
      </p:cxnSp>
      <p:sp>
        <p:nvSpPr>
          <p:cNvPr id="8" name="标题 1"/>
          <p:cNvSpPr txBox="1"/>
          <p:nvPr/>
        </p:nvSpPr>
        <p:spPr>
          <a:xfrm>
            <a:off x="6603627" y="3867037"/>
            <a:ext cx="1663700" cy="553998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Ubicación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física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(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laboratorio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,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oficina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, rack,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servidor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, etc.).</a:t>
            </a:r>
            <a:endParaRPr kumimoji="1" lang="zh-CN" altLang="en-US" sz="1200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Poppins"/>
              <a:cs typeface="Poppins"/>
            </a:endParaRPr>
          </a:p>
        </p:txBody>
      </p:sp>
      <p:cxnSp>
        <p:nvCxnSpPr>
          <p:cNvPr id="9" name="标题 1"/>
          <p:cNvCxnSpPr/>
          <p:nvPr/>
        </p:nvCxnSpPr>
        <p:spPr>
          <a:xfrm>
            <a:off x="6649099" y="3727735"/>
            <a:ext cx="371475" cy="0"/>
          </a:xfrm>
          <a:prstGeom prst="line">
            <a:avLst/>
          </a:prstGeom>
          <a:noFill/>
          <a:ln w="19050" cap="sq">
            <a:solidFill>
              <a:schemeClr val="tx1">
                <a:lumMod val="85000"/>
                <a:lumOff val="15000"/>
              </a:schemeClr>
            </a:solidFill>
            <a:miter/>
          </a:ln>
        </p:spPr>
      </p:cxnSp>
      <p:sp>
        <p:nvSpPr>
          <p:cNvPr id="10" name="标题 1"/>
          <p:cNvSpPr txBox="1"/>
          <p:nvPr/>
        </p:nvSpPr>
        <p:spPr>
          <a:xfrm>
            <a:off x="5974975" y="3918036"/>
            <a:ext cx="289255" cy="289255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5811632" y="3754693"/>
            <a:ext cx="615941" cy="615941"/>
          </a:xfrm>
          <a:prstGeom prst="ellipse">
            <a:avLst/>
          </a:prstGeom>
          <a:noFill/>
          <a:ln w="22225" cap="sq">
            <a:solidFill>
              <a:schemeClr val="tx1">
                <a:lumMod val="85000"/>
                <a:lumOff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6645193" y="5326059"/>
            <a:ext cx="1663700" cy="369332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l"/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Usuario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o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área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responsable</a:t>
            </a:r>
            <a:r>
              <a:rPr kumimoji="1" lang="en-US" altLang="zh-CN" sz="931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.</a:t>
            </a:r>
            <a:endParaRPr kumimoji="1" lang="zh-CN" altLang="en-US" dirty="0"/>
          </a:p>
        </p:txBody>
      </p:sp>
      <p:cxnSp>
        <p:nvCxnSpPr>
          <p:cNvPr id="13" name="标题 1"/>
          <p:cNvCxnSpPr/>
          <p:nvPr/>
        </p:nvCxnSpPr>
        <p:spPr>
          <a:xfrm>
            <a:off x="6664865" y="5159483"/>
            <a:ext cx="371475" cy="0"/>
          </a:xfrm>
          <a:prstGeom prst="line">
            <a:avLst/>
          </a:prstGeom>
          <a:noFill/>
          <a:ln w="19050" cap="sq">
            <a:solidFill>
              <a:schemeClr val="tx1">
                <a:lumMod val="85000"/>
                <a:lumOff val="15000"/>
              </a:schemeClr>
            </a:solidFill>
            <a:miter/>
          </a:ln>
        </p:spPr>
      </p:cxnSp>
      <p:sp>
        <p:nvSpPr>
          <p:cNvPr id="14" name="标题 1"/>
          <p:cNvSpPr txBox="1"/>
          <p:nvPr/>
        </p:nvSpPr>
        <p:spPr>
          <a:xfrm>
            <a:off x="5974975" y="5395591"/>
            <a:ext cx="289255" cy="262244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ahLst/>
            <a:cxnLst/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5811632" y="5218742"/>
            <a:ext cx="615941" cy="615941"/>
          </a:xfrm>
          <a:prstGeom prst="ellipse">
            <a:avLst/>
          </a:prstGeom>
          <a:noFill/>
          <a:ln w="22225" cap="sq">
            <a:solidFill>
              <a:schemeClr val="tx1">
                <a:lumMod val="85000"/>
                <a:lumOff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9635986" y="2320640"/>
            <a:ext cx="1663700" cy="369332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l"/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Fecha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de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adquisición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y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proveedor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.</a:t>
            </a:r>
            <a:endParaRPr kumimoji="1" lang="zh-CN" altLang="en-US" sz="1200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Poppins"/>
              <a:cs typeface="Poppins"/>
            </a:endParaRPr>
          </a:p>
        </p:txBody>
      </p:sp>
      <p:cxnSp>
        <p:nvCxnSpPr>
          <p:cNvPr id="17" name="标题 1"/>
          <p:cNvCxnSpPr/>
          <p:nvPr/>
        </p:nvCxnSpPr>
        <p:spPr>
          <a:xfrm>
            <a:off x="9733096" y="2252856"/>
            <a:ext cx="371475" cy="0"/>
          </a:xfrm>
          <a:prstGeom prst="line">
            <a:avLst/>
          </a:prstGeom>
          <a:noFill/>
          <a:ln w="19050" cap="sq">
            <a:solidFill>
              <a:schemeClr val="tx1">
                <a:lumMod val="85000"/>
                <a:lumOff val="15000"/>
              </a:schemeClr>
            </a:solidFill>
            <a:miter/>
          </a:ln>
        </p:spPr>
      </p:cxnSp>
      <p:sp>
        <p:nvSpPr>
          <p:cNvPr id="18" name="标题 1"/>
          <p:cNvSpPr txBox="1"/>
          <p:nvPr/>
        </p:nvSpPr>
        <p:spPr>
          <a:xfrm>
            <a:off x="9027440" y="2485525"/>
            <a:ext cx="289255" cy="267580"/>
          </a:xfrm>
          <a:custGeom>
            <a:avLst/>
            <a:gdLst>
              <a:gd name="connsiteX0" fmla="*/ 56258 w 778320"/>
              <a:gd name="connsiteY0" fmla="*/ 333700 h 720001"/>
              <a:gd name="connsiteX1" fmla="*/ 56258 w 778320"/>
              <a:gd name="connsiteY1" fmla="*/ 627457 h 720001"/>
              <a:gd name="connsiteX2" fmla="*/ 66946 w 778320"/>
              <a:gd name="connsiteY2" fmla="*/ 653054 h 720001"/>
              <a:gd name="connsiteX3" fmla="*/ 92544 w 778320"/>
              <a:gd name="connsiteY3" fmla="*/ 663743 h 720001"/>
              <a:gd name="connsiteX4" fmla="*/ 685683 w 778320"/>
              <a:gd name="connsiteY4" fmla="*/ 663743 h 720001"/>
              <a:gd name="connsiteX5" fmla="*/ 711281 w 778320"/>
              <a:gd name="connsiteY5" fmla="*/ 653054 h 720001"/>
              <a:gd name="connsiteX6" fmla="*/ 721969 w 778320"/>
              <a:gd name="connsiteY6" fmla="*/ 627457 h 720001"/>
              <a:gd name="connsiteX7" fmla="*/ 721969 w 778320"/>
              <a:gd name="connsiteY7" fmla="*/ 333700 h 720001"/>
              <a:gd name="connsiteX8" fmla="*/ 92544 w 778320"/>
              <a:gd name="connsiteY8" fmla="*/ 142049 h 720001"/>
              <a:gd name="connsiteX9" fmla="*/ 56258 w 778320"/>
              <a:gd name="connsiteY9" fmla="*/ 178336 h 720001"/>
              <a:gd name="connsiteX10" fmla="*/ 56258 w 778320"/>
              <a:gd name="connsiteY10" fmla="*/ 277443 h 720001"/>
              <a:gd name="connsiteX11" fmla="*/ 721969 w 778320"/>
              <a:gd name="connsiteY11" fmla="*/ 277443 h 720001"/>
              <a:gd name="connsiteX12" fmla="*/ 721969 w 778320"/>
              <a:gd name="connsiteY12" fmla="*/ 178336 h 720001"/>
              <a:gd name="connsiteX13" fmla="*/ 685683 w 778320"/>
              <a:gd name="connsiteY13" fmla="*/ 142049 h 720001"/>
              <a:gd name="connsiteX14" fmla="*/ 561355 w 778320"/>
              <a:gd name="connsiteY14" fmla="*/ 142049 h 720001"/>
              <a:gd name="connsiteX15" fmla="*/ 561355 w 778320"/>
              <a:gd name="connsiteY15" fmla="*/ 201026 h 720001"/>
              <a:gd name="connsiteX16" fmla="*/ 533226 w 778320"/>
              <a:gd name="connsiteY16" fmla="*/ 229249 h 720001"/>
              <a:gd name="connsiteX17" fmla="*/ 505097 w 778320"/>
              <a:gd name="connsiteY17" fmla="*/ 201120 h 720001"/>
              <a:gd name="connsiteX18" fmla="*/ 505097 w 778320"/>
              <a:gd name="connsiteY18" fmla="*/ 142049 h 720001"/>
              <a:gd name="connsiteX19" fmla="*/ 273129 w 778320"/>
              <a:gd name="connsiteY19" fmla="*/ 142049 h 720001"/>
              <a:gd name="connsiteX20" fmla="*/ 273129 w 778320"/>
              <a:gd name="connsiteY20" fmla="*/ 201026 h 720001"/>
              <a:gd name="connsiteX21" fmla="*/ 245001 w 778320"/>
              <a:gd name="connsiteY21" fmla="*/ 229249 h 720001"/>
              <a:gd name="connsiteX22" fmla="*/ 216872 w 778320"/>
              <a:gd name="connsiteY22" fmla="*/ 201120 h 720001"/>
              <a:gd name="connsiteX23" fmla="*/ 216872 w 778320"/>
              <a:gd name="connsiteY23" fmla="*/ 142049 h 720001"/>
              <a:gd name="connsiteX24" fmla="*/ 245001 w 778320"/>
              <a:gd name="connsiteY24" fmla="*/ 0 h 720001"/>
              <a:gd name="connsiteX25" fmla="*/ 273129 w 778320"/>
              <a:gd name="connsiteY25" fmla="*/ 28129 h 720001"/>
              <a:gd name="connsiteX26" fmla="*/ 273129 w 778320"/>
              <a:gd name="connsiteY26" fmla="*/ 85792 h 720001"/>
              <a:gd name="connsiteX27" fmla="*/ 505097 w 778320"/>
              <a:gd name="connsiteY27" fmla="*/ 85792 h 720001"/>
              <a:gd name="connsiteX28" fmla="*/ 505097 w 778320"/>
              <a:gd name="connsiteY28" fmla="*/ 28129 h 720001"/>
              <a:gd name="connsiteX29" fmla="*/ 533226 w 778320"/>
              <a:gd name="connsiteY29" fmla="*/ 0 h 720001"/>
              <a:gd name="connsiteX30" fmla="*/ 561355 w 778320"/>
              <a:gd name="connsiteY30" fmla="*/ 28129 h 720001"/>
              <a:gd name="connsiteX31" fmla="*/ 561355 w 778320"/>
              <a:gd name="connsiteY31" fmla="*/ 85792 h 720001"/>
              <a:gd name="connsiteX32" fmla="*/ 685683 w 778320"/>
              <a:gd name="connsiteY32" fmla="*/ 85792 h 720001"/>
              <a:gd name="connsiteX33" fmla="*/ 778320 w 778320"/>
              <a:gd name="connsiteY33" fmla="*/ 178336 h 720001"/>
              <a:gd name="connsiteX34" fmla="*/ 778320 w 778320"/>
              <a:gd name="connsiteY34" fmla="*/ 627457 h 720001"/>
              <a:gd name="connsiteX35" fmla="*/ 685777 w 778320"/>
              <a:gd name="connsiteY35" fmla="*/ 720001 h 720001"/>
              <a:gd name="connsiteX36" fmla="*/ 92544 w 778320"/>
              <a:gd name="connsiteY36" fmla="*/ 720001 h 720001"/>
              <a:gd name="connsiteX37" fmla="*/ 0 w 778320"/>
              <a:gd name="connsiteY37" fmla="*/ 627457 h 720001"/>
              <a:gd name="connsiteX38" fmla="*/ 0 w 778320"/>
              <a:gd name="connsiteY38" fmla="*/ 333700 h 720001"/>
              <a:gd name="connsiteX39" fmla="*/ 0 w 778320"/>
              <a:gd name="connsiteY39" fmla="*/ 277443 h 720001"/>
              <a:gd name="connsiteX40" fmla="*/ 0 w 778320"/>
              <a:gd name="connsiteY40" fmla="*/ 178336 h 720001"/>
              <a:gd name="connsiteX41" fmla="*/ 92544 w 778320"/>
              <a:gd name="connsiteY41" fmla="*/ 85792 h 720001"/>
              <a:gd name="connsiteX42" fmla="*/ 216872 w 778320"/>
              <a:gd name="connsiteY42" fmla="*/ 85792 h 720001"/>
              <a:gd name="connsiteX43" fmla="*/ 216872 w 778320"/>
              <a:gd name="connsiteY43" fmla="*/ 28129 h 720001"/>
              <a:gd name="connsiteX44" fmla="*/ 245001 w 778320"/>
              <a:gd name="connsiteY44" fmla="*/ 0 h 720001"/>
            </a:gdLst>
            <a:ahLst/>
            <a:cxnLst/>
            <a:rect l="l" t="t" r="r" b="b"/>
            <a:pathLst>
              <a:path w="778320" h="720001">
                <a:moveTo>
                  <a:pt x="56258" y="333700"/>
                </a:moveTo>
                <a:lnTo>
                  <a:pt x="56258" y="627457"/>
                </a:lnTo>
                <a:cubicBezTo>
                  <a:pt x="56258" y="637115"/>
                  <a:pt x="60008" y="646116"/>
                  <a:pt x="66946" y="653054"/>
                </a:cubicBezTo>
                <a:cubicBezTo>
                  <a:pt x="73885" y="659899"/>
                  <a:pt x="82980" y="663743"/>
                  <a:pt x="92544" y="663743"/>
                </a:cubicBezTo>
                <a:lnTo>
                  <a:pt x="685683" y="663743"/>
                </a:lnTo>
                <a:cubicBezTo>
                  <a:pt x="695341" y="663743"/>
                  <a:pt x="704342" y="659993"/>
                  <a:pt x="711281" y="653054"/>
                </a:cubicBezTo>
                <a:cubicBezTo>
                  <a:pt x="718125" y="646116"/>
                  <a:pt x="721969" y="637021"/>
                  <a:pt x="721969" y="627457"/>
                </a:cubicBezTo>
                <a:lnTo>
                  <a:pt x="721969" y="333700"/>
                </a:lnTo>
                <a:close/>
                <a:moveTo>
                  <a:pt x="92544" y="142049"/>
                </a:moveTo>
                <a:cubicBezTo>
                  <a:pt x="72478" y="142049"/>
                  <a:pt x="56258" y="158364"/>
                  <a:pt x="56258" y="178336"/>
                </a:cubicBezTo>
                <a:lnTo>
                  <a:pt x="56258" y="277443"/>
                </a:lnTo>
                <a:lnTo>
                  <a:pt x="721969" y="277443"/>
                </a:lnTo>
                <a:lnTo>
                  <a:pt x="721969" y="178336"/>
                </a:lnTo>
                <a:cubicBezTo>
                  <a:pt x="721969" y="158270"/>
                  <a:pt x="705655" y="142049"/>
                  <a:pt x="685683" y="142049"/>
                </a:cubicBezTo>
                <a:lnTo>
                  <a:pt x="561355" y="142049"/>
                </a:lnTo>
                <a:lnTo>
                  <a:pt x="561355" y="201026"/>
                </a:lnTo>
                <a:cubicBezTo>
                  <a:pt x="561355" y="216591"/>
                  <a:pt x="548790" y="229249"/>
                  <a:pt x="533226" y="229249"/>
                </a:cubicBezTo>
                <a:cubicBezTo>
                  <a:pt x="517661" y="229249"/>
                  <a:pt x="505097" y="216685"/>
                  <a:pt x="505097" y="201120"/>
                </a:cubicBezTo>
                <a:lnTo>
                  <a:pt x="505097" y="142049"/>
                </a:lnTo>
                <a:lnTo>
                  <a:pt x="273129" y="142049"/>
                </a:lnTo>
                <a:lnTo>
                  <a:pt x="273129" y="201026"/>
                </a:lnTo>
                <a:cubicBezTo>
                  <a:pt x="273129" y="216591"/>
                  <a:pt x="260565" y="229249"/>
                  <a:pt x="245001" y="229249"/>
                </a:cubicBezTo>
                <a:cubicBezTo>
                  <a:pt x="229436" y="229249"/>
                  <a:pt x="216872" y="216685"/>
                  <a:pt x="216872" y="201120"/>
                </a:cubicBezTo>
                <a:lnTo>
                  <a:pt x="216872" y="142049"/>
                </a:lnTo>
                <a:close/>
                <a:moveTo>
                  <a:pt x="245001" y="0"/>
                </a:moveTo>
                <a:cubicBezTo>
                  <a:pt x="260565" y="0"/>
                  <a:pt x="273129" y="12564"/>
                  <a:pt x="273129" y="28129"/>
                </a:cubicBezTo>
                <a:lnTo>
                  <a:pt x="273129" y="85792"/>
                </a:lnTo>
                <a:lnTo>
                  <a:pt x="505097" y="85792"/>
                </a:lnTo>
                <a:lnTo>
                  <a:pt x="505097" y="28129"/>
                </a:lnTo>
                <a:cubicBezTo>
                  <a:pt x="505097" y="12564"/>
                  <a:pt x="517661" y="0"/>
                  <a:pt x="533226" y="0"/>
                </a:cubicBezTo>
                <a:cubicBezTo>
                  <a:pt x="548790" y="0"/>
                  <a:pt x="561355" y="12564"/>
                  <a:pt x="561355" y="28129"/>
                </a:cubicBezTo>
                <a:lnTo>
                  <a:pt x="561355" y="85792"/>
                </a:lnTo>
                <a:lnTo>
                  <a:pt x="685683" y="85792"/>
                </a:lnTo>
                <a:cubicBezTo>
                  <a:pt x="736784" y="85792"/>
                  <a:pt x="778227" y="127235"/>
                  <a:pt x="778320" y="178336"/>
                </a:cubicBezTo>
                <a:lnTo>
                  <a:pt x="778320" y="627457"/>
                </a:lnTo>
                <a:cubicBezTo>
                  <a:pt x="778320" y="678370"/>
                  <a:pt x="736690" y="720001"/>
                  <a:pt x="685777" y="720001"/>
                </a:cubicBezTo>
                <a:lnTo>
                  <a:pt x="92544" y="720001"/>
                </a:lnTo>
                <a:cubicBezTo>
                  <a:pt x="41631" y="720001"/>
                  <a:pt x="0" y="678370"/>
                  <a:pt x="0" y="627457"/>
                </a:cubicBezTo>
                <a:lnTo>
                  <a:pt x="0" y="333700"/>
                </a:lnTo>
                <a:lnTo>
                  <a:pt x="0" y="277443"/>
                </a:lnTo>
                <a:lnTo>
                  <a:pt x="0" y="178336"/>
                </a:lnTo>
                <a:cubicBezTo>
                  <a:pt x="0" y="127235"/>
                  <a:pt x="41443" y="85792"/>
                  <a:pt x="92544" y="85792"/>
                </a:cubicBezTo>
                <a:lnTo>
                  <a:pt x="216872" y="85792"/>
                </a:lnTo>
                <a:lnTo>
                  <a:pt x="216872" y="28129"/>
                </a:lnTo>
                <a:cubicBezTo>
                  <a:pt x="216872" y="12564"/>
                  <a:pt x="229436" y="0"/>
                  <a:pt x="245001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9525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8864097" y="2311345"/>
            <a:ext cx="615941" cy="615941"/>
          </a:xfrm>
          <a:prstGeom prst="ellipse">
            <a:avLst/>
          </a:prstGeom>
          <a:noFill/>
          <a:ln w="22225" cap="sq">
            <a:solidFill>
              <a:schemeClr val="tx1">
                <a:lumMod val="85000"/>
                <a:lumOff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 flipH="1">
            <a:off x="5651578" y="1945534"/>
            <a:ext cx="2823432" cy="1343589"/>
          </a:xfrm>
          <a:prstGeom prst="snip1Rect">
            <a:avLst>
              <a:gd name="adj" fmla="val 27343"/>
            </a:avLst>
          </a:prstGeom>
          <a:solidFill>
            <a:schemeClr val="bg1"/>
          </a:solidFill>
          <a:ln w="22225" cap="sq">
            <a:solidFill>
              <a:schemeClr val="accent1">
                <a:lumMod val="60000"/>
                <a:lumOff val="40000"/>
              </a:schemeClr>
            </a:solidFill>
          </a:ln>
          <a:effectLst/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6548811" y="2430674"/>
            <a:ext cx="1663700" cy="369332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l"/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Código o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etiqueta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del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activo</a:t>
            </a:r>
            <a:r>
              <a:rPr kumimoji="1" lang="en-US" altLang="zh-CN" sz="903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.</a:t>
            </a:r>
            <a:endParaRPr kumimoji="1" lang="zh-CN" altLang="en-US" dirty="0"/>
          </a:p>
        </p:txBody>
      </p:sp>
      <p:cxnSp>
        <p:nvCxnSpPr>
          <p:cNvPr id="22" name="标题 1"/>
          <p:cNvCxnSpPr/>
          <p:nvPr/>
        </p:nvCxnSpPr>
        <p:spPr>
          <a:xfrm>
            <a:off x="6661223" y="2248881"/>
            <a:ext cx="371475" cy="0"/>
          </a:xfrm>
          <a:prstGeom prst="line">
            <a:avLst/>
          </a:prstGeom>
          <a:noFill/>
          <a:ln w="19050" cap="sq">
            <a:solidFill>
              <a:schemeClr val="tx1">
                <a:lumMod val="85000"/>
                <a:lumOff val="15000"/>
              </a:schemeClr>
            </a:solidFill>
            <a:miter/>
          </a:ln>
        </p:spPr>
      </p:cxnSp>
      <p:sp>
        <p:nvSpPr>
          <p:cNvPr id="23" name="标题 1"/>
          <p:cNvSpPr txBox="1"/>
          <p:nvPr/>
        </p:nvSpPr>
        <p:spPr>
          <a:xfrm>
            <a:off x="5792224" y="2307370"/>
            <a:ext cx="615941" cy="615941"/>
          </a:xfrm>
          <a:prstGeom prst="ellipse">
            <a:avLst/>
          </a:prstGeom>
          <a:noFill/>
          <a:ln w="22225" cap="sq">
            <a:solidFill>
              <a:schemeClr val="tx1">
                <a:lumMod val="85000"/>
                <a:lumOff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5949942" y="2473724"/>
            <a:ext cx="300505" cy="283233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/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 flipH="1">
            <a:off x="8695467" y="3409466"/>
            <a:ext cx="2823432" cy="1343589"/>
          </a:xfrm>
          <a:prstGeom prst="snip1Rect">
            <a:avLst>
              <a:gd name="adj" fmla="val 0"/>
            </a:avLst>
          </a:prstGeom>
          <a:solidFill>
            <a:schemeClr val="bg1"/>
          </a:solidFill>
          <a:ln w="22225" cap="sq">
            <a:solidFill>
              <a:schemeClr val="accent1">
                <a:lumMod val="60000"/>
                <a:lumOff val="40000"/>
              </a:schemeClr>
            </a:solidFill>
          </a:ln>
          <a:effectLst/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26" name="标题 1"/>
          <p:cNvSpPr txBox="1"/>
          <p:nvPr/>
        </p:nvSpPr>
        <p:spPr>
          <a:xfrm rot="10800000" flipH="1">
            <a:off x="8695468" y="4873512"/>
            <a:ext cx="2823432" cy="1343589"/>
          </a:xfrm>
          <a:prstGeom prst="snip1Rect">
            <a:avLst>
              <a:gd name="adj" fmla="val 24881"/>
            </a:avLst>
          </a:prstGeom>
          <a:solidFill>
            <a:schemeClr val="bg1"/>
          </a:solidFill>
          <a:ln w="22225" cap="sq">
            <a:solidFill>
              <a:schemeClr val="accent1">
                <a:lumMod val="60000"/>
                <a:lumOff val="40000"/>
              </a:schemeClr>
            </a:solidFill>
          </a:ln>
          <a:effectLst/>
        </p:spPr>
        <p:txBody>
          <a:bodyPr vert="horz" wrap="square" lIns="91440" tIns="45720" rIns="91440" bIns="45720" rtlCol="0" anchor="t"/>
          <a:lstStyle/>
          <a:p>
            <a:pPr algn="l"/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>
            <a:off x="9663931" y="3828373"/>
            <a:ext cx="1663700" cy="738664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Historial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de mantenimiento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preventivo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y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correctivo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.</a:t>
            </a:r>
            <a:endParaRPr kumimoji="1" lang="zh-CN" altLang="en-US" sz="1200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Poppins"/>
              <a:cs typeface="Poppins"/>
            </a:endParaRPr>
          </a:p>
        </p:txBody>
      </p:sp>
      <p:cxnSp>
        <p:nvCxnSpPr>
          <p:cNvPr id="28" name="标题 1"/>
          <p:cNvCxnSpPr/>
          <p:nvPr/>
        </p:nvCxnSpPr>
        <p:spPr>
          <a:xfrm>
            <a:off x="9665000" y="3764928"/>
            <a:ext cx="371475" cy="0"/>
          </a:xfrm>
          <a:prstGeom prst="line">
            <a:avLst/>
          </a:prstGeom>
          <a:noFill/>
          <a:ln w="19050" cap="sq">
            <a:solidFill>
              <a:schemeClr val="tx1">
                <a:lumMod val="85000"/>
                <a:lumOff val="15000"/>
              </a:schemeClr>
            </a:solidFill>
            <a:miter/>
          </a:ln>
        </p:spPr>
      </p:cxnSp>
      <p:sp>
        <p:nvSpPr>
          <p:cNvPr id="29" name="标题 1"/>
          <p:cNvSpPr txBox="1"/>
          <p:nvPr/>
        </p:nvSpPr>
        <p:spPr>
          <a:xfrm>
            <a:off x="8827533" y="3791886"/>
            <a:ext cx="615941" cy="615941"/>
          </a:xfrm>
          <a:prstGeom prst="ellipse">
            <a:avLst/>
          </a:prstGeom>
          <a:noFill/>
          <a:ln w="22225" cap="sq">
            <a:solidFill>
              <a:schemeClr val="tx1">
                <a:lumMod val="85000"/>
                <a:lumOff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9635986" y="5317134"/>
            <a:ext cx="1663700" cy="553998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>
            <a:spAutoFit/>
          </a:bodyPr>
          <a:lstStyle/>
          <a:p>
            <a:pPr algn="l"/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Estado actual (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activo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,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en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 </a:t>
            </a:r>
            <a:r>
              <a:rPr kumimoji="1" lang="en-US" altLang="zh-CN" sz="12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reparación</a:t>
            </a:r>
            <a:r>
              <a:rPr kumimoji="1" lang="en-US" altLang="zh-CN" sz="12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cs typeface="Poppins"/>
              </a:rPr>
              <a:t>, dado de baja).</a:t>
            </a:r>
            <a:endParaRPr kumimoji="1" lang="zh-CN" altLang="en-US" sz="1200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latin typeface="Poppins"/>
              <a:cs typeface="Poppins"/>
            </a:endParaRPr>
          </a:p>
        </p:txBody>
      </p:sp>
      <p:cxnSp>
        <p:nvCxnSpPr>
          <p:cNvPr id="31" name="标题 1"/>
          <p:cNvCxnSpPr/>
          <p:nvPr/>
        </p:nvCxnSpPr>
        <p:spPr>
          <a:xfrm>
            <a:off x="9680766" y="5196676"/>
            <a:ext cx="371475" cy="0"/>
          </a:xfrm>
          <a:prstGeom prst="line">
            <a:avLst/>
          </a:prstGeom>
          <a:noFill/>
          <a:ln w="19050" cap="sq">
            <a:solidFill>
              <a:schemeClr val="tx1">
                <a:lumMod val="85000"/>
                <a:lumOff val="15000"/>
              </a:schemeClr>
            </a:solidFill>
            <a:miter/>
          </a:ln>
        </p:spPr>
      </p:cxnSp>
      <p:sp>
        <p:nvSpPr>
          <p:cNvPr id="32" name="标题 1"/>
          <p:cNvSpPr txBox="1"/>
          <p:nvPr/>
        </p:nvSpPr>
        <p:spPr>
          <a:xfrm>
            <a:off x="8827533" y="5255935"/>
            <a:ext cx="615941" cy="615941"/>
          </a:xfrm>
          <a:prstGeom prst="ellipse">
            <a:avLst/>
          </a:prstGeom>
          <a:noFill/>
          <a:ln w="22225" cap="sq">
            <a:solidFill>
              <a:schemeClr val="tx1">
                <a:lumMod val="85000"/>
                <a:lumOff val="15000"/>
              </a:schemeClr>
            </a:solidFill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8974019" y="5402421"/>
            <a:ext cx="322968" cy="322968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79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307952 w 720001"/>
              <a:gd name="connsiteY7" fmla="*/ 56386 h 720001"/>
              <a:gd name="connsiteX8" fmla="*/ 240115 w 720001"/>
              <a:gd name="connsiteY8" fmla="*/ 76251 h 720001"/>
              <a:gd name="connsiteX9" fmla="*/ 142092 w 720001"/>
              <a:gd name="connsiteY9" fmla="*/ 142179 h 720001"/>
              <a:gd name="connsiteX10" fmla="*/ 76077 w 720001"/>
              <a:gd name="connsiteY10" fmla="*/ 240116 h 720001"/>
              <a:gd name="connsiteX11" fmla="*/ 51874 w 720001"/>
              <a:gd name="connsiteY11" fmla="*/ 360000 h 720001"/>
              <a:gd name="connsiteX12" fmla="*/ 76077 w 720001"/>
              <a:gd name="connsiteY12" fmla="*/ 479885 h 720001"/>
              <a:gd name="connsiteX13" fmla="*/ 142092 w 720001"/>
              <a:gd name="connsiteY13" fmla="*/ 577822 h 720001"/>
              <a:gd name="connsiteX14" fmla="*/ 240029 w 720001"/>
              <a:gd name="connsiteY14" fmla="*/ 643837 h 720001"/>
              <a:gd name="connsiteX15" fmla="*/ 359913 w 720001"/>
              <a:gd name="connsiteY15" fmla="*/ 668039 h 720001"/>
              <a:gd name="connsiteX16" fmla="*/ 479798 w 720001"/>
              <a:gd name="connsiteY16" fmla="*/ 643837 h 720001"/>
              <a:gd name="connsiteX17" fmla="*/ 577735 w 720001"/>
              <a:gd name="connsiteY17" fmla="*/ 577822 h 720001"/>
              <a:gd name="connsiteX18" fmla="*/ 643750 w 720001"/>
              <a:gd name="connsiteY18" fmla="*/ 479885 h 720001"/>
              <a:gd name="connsiteX19" fmla="*/ 663615 w 720001"/>
              <a:gd name="connsiteY19" fmla="*/ 412049 h 720001"/>
              <a:gd name="connsiteX20" fmla="*/ 360000 w 720001"/>
              <a:gd name="connsiteY20" fmla="*/ 412049 h 720001"/>
              <a:gd name="connsiteX21" fmla="*/ 307952 w 720001"/>
              <a:gd name="connsiteY21" fmla="*/ 360000 h 720001"/>
              <a:gd name="connsiteX22" fmla="*/ 405022 w 720001"/>
              <a:gd name="connsiteY22" fmla="*/ 0 h 720001"/>
              <a:gd name="connsiteX23" fmla="*/ 720001 w 720001"/>
              <a:gd name="connsiteY23" fmla="*/ 314979 h 720001"/>
              <a:gd name="connsiteX24" fmla="*/ 405022 w 720001"/>
              <a:gd name="connsiteY24" fmla="*/ 314979 h 720001"/>
              <a:gd name="connsiteX25" fmla="*/ 360000 w 720001"/>
              <a:gd name="connsiteY25" fmla="*/ 0 h 720001"/>
              <a:gd name="connsiteX26" fmla="*/ 360000 w 720001"/>
              <a:gd name="connsiteY26" fmla="*/ 360000 h 720001"/>
              <a:gd name="connsiteX27" fmla="*/ 720001 w 720001"/>
              <a:gd name="connsiteY27" fmla="*/ 360000 h 720001"/>
              <a:gd name="connsiteX28" fmla="*/ 360000 w 720001"/>
              <a:gd name="connsiteY28" fmla="*/ 720001 h 720001"/>
              <a:gd name="connsiteX29" fmla="*/ 0 w 720001"/>
              <a:gd name="connsiteY29" fmla="*/ 360000 h 720001"/>
              <a:gd name="connsiteX30" fmla="*/ 360000 w 720001"/>
              <a:gd name="connsiteY30" fmla="*/ 0 h 720001"/>
            </a:gdLst>
            <a:ahLst/>
            <a:cxnLst/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79"/>
                </a:cubicBezTo>
                <a:cubicBezTo>
                  <a:pt x="566806" y="104877"/>
                  <a:pt x="538699" y="85966"/>
                  <a:pt x="507383" y="72694"/>
                </a:cubicBezTo>
                <a:cubicBezTo>
                  <a:pt x="491075" y="65755"/>
                  <a:pt x="474246" y="60636"/>
                  <a:pt x="457070" y="57166"/>
                </a:cubicBezTo>
                <a:close/>
                <a:moveTo>
                  <a:pt x="307952" y="56386"/>
                </a:moveTo>
                <a:cubicBezTo>
                  <a:pt x="284703" y="60376"/>
                  <a:pt x="262062" y="66969"/>
                  <a:pt x="240115" y="76251"/>
                </a:cubicBezTo>
                <a:cubicBezTo>
                  <a:pt x="203508" y="91778"/>
                  <a:pt x="170544" y="113986"/>
                  <a:pt x="142092" y="142179"/>
                </a:cubicBezTo>
                <a:cubicBezTo>
                  <a:pt x="113812" y="170545"/>
                  <a:pt x="91605" y="203422"/>
                  <a:pt x="76077" y="240116"/>
                </a:cubicBezTo>
                <a:cubicBezTo>
                  <a:pt x="60029" y="278111"/>
                  <a:pt x="51874" y="318362"/>
                  <a:pt x="51874" y="360000"/>
                </a:cubicBezTo>
                <a:cubicBezTo>
                  <a:pt x="51874" y="401639"/>
                  <a:pt x="60029" y="441976"/>
                  <a:pt x="76077" y="479885"/>
                </a:cubicBezTo>
                <a:cubicBezTo>
                  <a:pt x="91605" y="516579"/>
                  <a:pt x="113812" y="549543"/>
                  <a:pt x="142092" y="577822"/>
                </a:cubicBezTo>
                <a:cubicBezTo>
                  <a:pt x="170458" y="606102"/>
                  <a:pt x="203335" y="628309"/>
                  <a:pt x="240029" y="643837"/>
                </a:cubicBezTo>
                <a:cubicBezTo>
                  <a:pt x="278024" y="659885"/>
                  <a:pt x="318275" y="668039"/>
                  <a:pt x="359913" y="668039"/>
                </a:cubicBezTo>
                <a:cubicBezTo>
                  <a:pt x="401552" y="668039"/>
                  <a:pt x="441890" y="659885"/>
                  <a:pt x="479798" y="643837"/>
                </a:cubicBezTo>
                <a:cubicBezTo>
                  <a:pt x="516492" y="628309"/>
                  <a:pt x="549456" y="606102"/>
                  <a:pt x="577735" y="577822"/>
                </a:cubicBezTo>
                <a:cubicBezTo>
                  <a:pt x="606015" y="549456"/>
                  <a:pt x="628222" y="516579"/>
                  <a:pt x="643750" y="479885"/>
                </a:cubicBezTo>
                <a:cubicBezTo>
                  <a:pt x="653032" y="457938"/>
                  <a:pt x="659625" y="435297"/>
                  <a:pt x="663615" y="412049"/>
                </a:cubicBezTo>
                <a:lnTo>
                  <a:pt x="360000" y="412049"/>
                </a:lnTo>
                <a:cubicBezTo>
                  <a:pt x="331287" y="412049"/>
                  <a:pt x="307952" y="388714"/>
                  <a:pt x="307952" y="360000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1" y="360000"/>
                </a:lnTo>
                <a:cubicBezTo>
                  <a:pt x="720001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>
            <a:off x="8974019" y="3938372"/>
            <a:ext cx="322968" cy="322968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860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-1" y="218915"/>
            <a:ext cx="621792" cy="326730"/>
          </a:xfrm>
          <a:custGeom>
            <a:avLst/>
            <a:gdLst>
              <a:gd name="connsiteX0" fmla="*/ 0 w 621792"/>
              <a:gd name="connsiteY0" fmla="*/ 0 h 326730"/>
              <a:gd name="connsiteX1" fmla="*/ 146813 w 621792"/>
              <a:gd name="connsiteY1" fmla="*/ 0 h 326730"/>
              <a:gd name="connsiteX2" fmla="*/ 474979 w 621792"/>
              <a:gd name="connsiteY2" fmla="*/ 0 h 326730"/>
              <a:gd name="connsiteX3" fmla="*/ 621792 w 621792"/>
              <a:gd name="connsiteY3" fmla="*/ 0 h 326730"/>
              <a:gd name="connsiteX4" fmla="*/ 412064 w 621792"/>
              <a:gd name="connsiteY4" fmla="*/ 326730 h 326730"/>
              <a:gd name="connsiteX5" fmla="*/ 265251 w 621792"/>
              <a:gd name="connsiteY5" fmla="*/ 326730 h 326730"/>
              <a:gd name="connsiteX6" fmla="*/ 146813 w 621792"/>
              <a:gd name="connsiteY6" fmla="*/ 326730 h 326730"/>
              <a:gd name="connsiteX7" fmla="*/ 0 w 621792"/>
              <a:gd name="connsiteY7" fmla="*/ 326730 h 326730"/>
            </a:gdLst>
            <a:ahLst/>
            <a:cxnLst/>
            <a:rect l="l" t="t" r="r" b="b"/>
            <a:pathLst>
              <a:path w="621792" h="326730">
                <a:moveTo>
                  <a:pt x="0" y="0"/>
                </a:moveTo>
                <a:lnTo>
                  <a:pt x="146813" y="0"/>
                </a:lnTo>
                <a:lnTo>
                  <a:pt x="474979" y="0"/>
                </a:lnTo>
                <a:lnTo>
                  <a:pt x="621792" y="0"/>
                </a:lnTo>
                <a:lnTo>
                  <a:pt x="412064" y="326730"/>
                </a:lnTo>
                <a:lnTo>
                  <a:pt x="265251" y="326730"/>
                </a:lnTo>
                <a:lnTo>
                  <a:pt x="146813" y="326730"/>
                </a:lnTo>
                <a:lnTo>
                  <a:pt x="0" y="32673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621792" y="163502"/>
            <a:ext cx="10706100" cy="4216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Elementos esenciales del registro</a:t>
            </a:r>
            <a:endParaRPr kumimoji="1" lang="zh-CN" altLang="en-US"/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9F92ADA7-D31E-16AB-BAC9-00BD529EEC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847090" y="1582288"/>
            <a:ext cx="6644640" cy="3177413"/>
          </a:xfrm>
          <a:custGeom>
            <a:avLst/>
            <a:gdLst>
              <a:gd name="connsiteX0" fmla="*/ 3987939 w 3987939"/>
              <a:gd name="connsiteY0" fmla="*/ 534734 h 1907000"/>
              <a:gd name="connsiteX1" fmla="*/ 3131737 w 3987939"/>
              <a:gd name="connsiteY1" fmla="*/ 0 h 1907000"/>
              <a:gd name="connsiteX2" fmla="*/ 2164949 w 3987939"/>
              <a:gd name="connsiteY2" fmla="*/ 669227 h 1907000"/>
              <a:gd name="connsiteX3" fmla="*/ 1912537 w 3987939"/>
              <a:gd name="connsiteY3" fmla="*/ 1259777 h 1907000"/>
              <a:gd name="connsiteX4" fmla="*/ 952893 w 3987939"/>
              <a:gd name="connsiteY4" fmla="*/ 1907000 h 1907000"/>
              <a:gd name="connsiteX5" fmla="*/ 0 w 3987939"/>
              <a:gd name="connsiteY5" fmla="*/ 954891 h 1907000"/>
              <a:gd name="connsiteX6" fmla="*/ 952102 w 3987939"/>
              <a:gd name="connsiteY6" fmla="*/ 2000 h 1907000"/>
              <a:gd name="connsiteX7" fmla="*/ 1602974 w 3987939"/>
              <a:gd name="connsiteY7" fmla="*/ 258699 h 1907000"/>
            </a:gdLst>
            <a:ahLst/>
            <a:cxnLst/>
            <a:rect l="l" t="t" r="r" b="b"/>
            <a:pathLst>
              <a:path w="3987939" h="1907000">
                <a:moveTo>
                  <a:pt x="3987939" y="534734"/>
                </a:moveTo>
                <a:cubicBezTo>
                  <a:pt x="3828224" y="207475"/>
                  <a:pt x="3495887" y="-79"/>
                  <a:pt x="3131737" y="0"/>
                </a:cubicBezTo>
                <a:cubicBezTo>
                  <a:pt x="2704350" y="0"/>
                  <a:pt x="2350687" y="276225"/>
                  <a:pt x="2164949" y="669227"/>
                </a:cubicBezTo>
                <a:cubicBezTo>
                  <a:pt x="2104656" y="796671"/>
                  <a:pt x="1988737" y="1104900"/>
                  <a:pt x="1912537" y="1259777"/>
                </a:cubicBezTo>
                <a:cubicBezTo>
                  <a:pt x="1736896" y="1617917"/>
                  <a:pt x="1372184" y="1907000"/>
                  <a:pt x="952893" y="1907000"/>
                </a:cubicBezTo>
                <a:cubicBezTo>
                  <a:pt x="426842" y="1907219"/>
                  <a:pt x="217" y="1480947"/>
                  <a:pt x="0" y="954891"/>
                </a:cubicBezTo>
                <a:cubicBezTo>
                  <a:pt x="-217" y="428842"/>
                  <a:pt x="426056" y="2218"/>
                  <a:pt x="952102" y="2000"/>
                </a:cubicBezTo>
                <a:cubicBezTo>
                  <a:pt x="1193771" y="1901"/>
                  <a:pt x="1426438" y="93663"/>
                  <a:pt x="1602974" y="258699"/>
                </a:cubicBezTo>
              </a:path>
            </a:pathLst>
          </a:custGeom>
          <a:noFill/>
          <a:ln w="50800" cap="flat"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800000" scaled="0"/>
            </a:gradFill>
            <a:miter/>
            <a:headEnd type="oval"/>
            <a:tailEnd type="oval"/>
          </a:ln>
          <a:effectLst>
            <a:outerShdw blurRad="190500" dist="127000" dir="5400000" algn="t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 flipH="1" flipV="1">
            <a:off x="4687570" y="1582288"/>
            <a:ext cx="6644640" cy="3177413"/>
          </a:xfrm>
          <a:custGeom>
            <a:avLst/>
            <a:gdLst>
              <a:gd name="connsiteX0" fmla="*/ 3987939 w 3987939"/>
              <a:gd name="connsiteY0" fmla="*/ 534734 h 1907000"/>
              <a:gd name="connsiteX1" fmla="*/ 3131737 w 3987939"/>
              <a:gd name="connsiteY1" fmla="*/ 0 h 1907000"/>
              <a:gd name="connsiteX2" fmla="*/ 2164949 w 3987939"/>
              <a:gd name="connsiteY2" fmla="*/ 669227 h 1907000"/>
              <a:gd name="connsiteX3" fmla="*/ 1912537 w 3987939"/>
              <a:gd name="connsiteY3" fmla="*/ 1259777 h 1907000"/>
              <a:gd name="connsiteX4" fmla="*/ 952893 w 3987939"/>
              <a:gd name="connsiteY4" fmla="*/ 1907000 h 1907000"/>
              <a:gd name="connsiteX5" fmla="*/ 0 w 3987939"/>
              <a:gd name="connsiteY5" fmla="*/ 954891 h 1907000"/>
              <a:gd name="connsiteX6" fmla="*/ 952102 w 3987939"/>
              <a:gd name="connsiteY6" fmla="*/ 2000 h 1907000"/>
              <a:gd name="connsiteX7" fmla="*/ 1602974 w 3987939"/>
              <a:gd name="connsiteY7" fmla="*/ 258699 h 1907000"/>
            </a:gdLst>
            <a:ahLst/>
            <a:cxnLst/>
            <a:rect l="l" t="t" r="r" b="b"/>
            <a:pathLst>
              <a:path w="3987939" h="1907000">
                <a:moveTo>
                  <a:pt x="3987939" y="534734"/>
                </a:moveTo>
                <a:cubicBezTo>
                  <a:pt x="3828224" y="207475"/>
                  <a:pt x="3495887" y="-79"/>
                  <a:pt x="3131737" y="0"/>
                </a:cubicBezTo>
                <a:cubicBezTo>
                  <a:pt x="2704350" y="0"/>
                  <a:pt x="2350687" y="276225"/>
                  <a:pt x="2164949" y="669227"/>
                </a:cubicBezTo>
                <a:cubicBezTo>
                  <a:pt x="2104656" y="796671"/>
                  <a:pt x="1988737" y="1104900"/>
                  <a:pt x="1912537" y="1259777"/>
                </a:cubicBezTo>
                <a:cubicBezTo>
                  <a:pt x="1736896" y="1617917"/>
                  <a:pt x="1372184" y="1907000"/>
                  <a:pt x="952893" y="1907000"/>
                </a:cubicBezTo>
                <a:cubicBezTo>
                  <a:pt x="426842" y="1907219"/>
                  <a:pt x="217" y="1480947"/>
                  <a:pt x="0" y="954891"/>
                </a:cubicBezTo>
                <a:cubicBezTo>
                  <a:pt x="-217" y="428842"/>
                  <a:pt x="426056" y="2218"/>
                  <a:pt x="952102" y="2000"/>
                </a:cubicBezTo>
                <a:cubicBezTo>
                  <a:pt x="1193771" y="1901"/>
                  <a:pt x="1426438" y="93663"/>
                  <a:pt x="1602974" y="258699"/>
                </a:cubicBezTo>
              </a:path>
            </a:pathLst>
          </a:custGeom>
          <a:noFill/>
          <a:ln w="50800" cap="flat"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800000" scaled="0"/>
            </a:gradFill>
            <a:miter/>
            <a:headEnd type="oval"/>
            <a:tailEnd type="oval"/>
          </a:ln>
          <a:effectLst>
            <a:outerShdw blurRad="190500" dist="127000" dir="5400000" algn="t" rotWithShape="0">
              <a:schemeClr val="accent1">
                <a:alpha val="2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l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290090" y="2674734"/>
            <a:ext cx="2232000" cy="108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144" b="1" dirty="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Base de </a:t>
            </a:r>
            <a:r>
              <a:rPr kumimoji="1" lang="en-US" altLang="zh-CN" sz="1144" b="1" dirty="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datos</a:t>
            </a:r>
            <a:r>
              <a:rPr kumimoji="1" lang="en-US" altLang="zh-CN" sz="1144" b="1" dirty="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144" b="1" dirty="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centralizada</a:t>
            </a:r>
            <a:endParaRPr kumimoji="1" lang="en-US" altLang="zh-CN" sz="1144" b="1" dirty="0">
              <a:ln w="12700">
                <a:noFill/>
              </a:ln>
              <a:solidFill>
                <a:srgbClr val="595959">
                  <a:alpha val="100000"/>
                </a:srgbClr>
              </a:solidFill>
              <a:latin typeface="Poppins"/>
              <a:ea typeface="Poppins"/>
              <a:cs typeface="Poppins"/>
            </a:endParaRPr>
          </a:p>
          <a:p>
            <a:pPr algn="ctr"/>
            <a:r>
              <a:rPr kumimoji="1" lang="en-US" altLang="zh-CN" sz="1144" dirty="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Implementada</a:t>
            </a:r>
            <a:r>
              <a:rPr kumimoji="1" lang="en-US" altLang="zh-CN" sz="1144" dirty="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144" dirty="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en</a:t>
            </a:r>
            <a:r>
              <a:rPr kumimoji="1" lang="en-US" altLang="zh-CN" sz="1144" dirty="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MySQL, PostgreSQL o software de </a:t>
            </a:r>
            <a:r>
              <a:rPr kumimoji="1" lang="en-US" altLang="zh-CN" sz="1144" dirty="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gestión</a:t>
            </a:r>
            <a:r>
              <a:rPr kumimoji="1" lang="en-US" altLang="zh-CN" sz="1144" dirty="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(GLPI).</a:t>
            </a:r>
            <a:endParaRPr kumimoji="1" lang="zh-CN" altLang="en-US" dirty="0"/>
          </a:p>
        </p:txBody>
      </p:sp>
      <p:sp>
        <p:nvSpPr>
          <p:cNvPr id="5" name="标题 1"/>
          <p:cNvSpPr txBox="1"/>
          <p:nvPr/>
        </p:nvSpPr>
        <p:spPr>
          <a:xfrm>
            <a:off x="4973650" y="2674734"/>
            <a:ext cx="2232000" cy="108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144" b="1" dirty="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Paneles</a:t>
            </a:r>
            <a:r>
              <a:rPr kumimoji="1" lang="en-US" altLang="zh-CN" sz="1144" b="1" dirty="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 control</a:t>
            </a:r>
          </a:p>
          <a:p>
            <a:pPr algn="ctr"/>
            <a:r>
              <a:rPr kumimoji="1" lang="en-US" altLang="zh-CN" sz="1144" dirty="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Dashboards </a:t>
            </a:r>
            <a:r>
              <a:rPr kumimoji="1" lang="en-US" altLang="zh-CN" sz="1144" dirty="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en</a:t>
            </a:r>
            <a:r>
              <a:rPr kumimoji="1" lang="en-US" altLang="zh-CN" sz="1144" dirty="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Zabbix o Grafana para </a:t>
            </a:r>
            <a:r>
              <a:rPr kumimoji="1" lang="en-US" altLang="zh-CN" sz="1144" dirty="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visualizar</a:t>
            </a:r>
            <a:r>
              <a:rPr kumimoji="1" lang="en-US" altLang="zh-CN" sz="1144" dirty="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</a:t>
            </a:r>
            <a:r>
              <a:rPr kumimoji="1" lang="en-US" altLang="zh-CN" sz="1144" dirty="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estado</a:t>
            </a:r>
            <a:r>
              <a:rPr kumimoji="1" lang="en-US" altLang="zh-CN" sz="1144" dirty="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 </a:t>
            </a:r>
            <a:r>
              <a:rPr kumimoji="1" lang="en-US" altLang="zh-CN" sz="1144" dirty="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equipos</a:t>
            </a:r>
            <a:r>
              <a:rPr kumimoji="1" lang="en-US" altLang="zh-CN" sz="1144" dirty="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.</a:t>
            </a: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8657210" y="2674734"/>
            <a:ext cx="2232000" cy="108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ctr"/>
            <a:r>
              <a:rPr kumimoji="1" lang="en-US" altLang="zh-CN" sz="1400" b="1" dirty="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Documentación</a:t>
            </a:r>
            <a:r>
              <a:rPr kumimoji="1" lang="en-US" altLang="zh-CN" sz="1400" b="1" dirty="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digital</a:t>
            </a:r>
          </a:p>
          <a:p>
            <a:pPr algn="ctr"/>
            <a:r>
              <a:rPr kumimoji="1" lang="en-US" altLang="zh-CN" sz="1400" dirty="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Registro</a:t>
            </a:r>
            <a:r>
              <a:rPr kumimoji="1" lang="en-US" altLang="zh-CN" sz="1400" dirty="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fichas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técnicas y </a:t>
            </a:r>
            <a:r>
              <a:rPr kumimoji="1" lang="en-US" altLang="zh-CN" sz="1400" dirty="0" err="1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reportes</a:t>
            </a:r>
            <a:r>
              <a:rPr kumimoji="1" lang="en-US" altLang="zh-CN" sz="1400" dirty="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 de mantenimiento.</a:t>
            </a:r>
            <a:endParaRPr kumimoji="1" lang="zh-CN" altLang="en-US" dirty="0"/>
          </a:p>
        </p:txBody>
      </p:sp>
      <p:sp>
        <p:nvSpPr>
          <p:cNvPr id="8" name="标题 1"/>
          <p:cNvSpPr txBox="1"/>
          <p:nvPr/>
        </p:nvSpPr>
        <p:spPr>
          <a:xfrm>
            <a:off x="-1" y="218915"/>
            <a:ext cx="621792" cy="326730"/>
          </a:xfrm>
          <a:custGeom>
            <a:avLst/>
            <a:gdLst>
              <a:gd name="connsiteX0" fmla="*/ 0 w 621792"/>
              <a:gd name="connsiteY0" fmla="*/ 0 h 326730"/>
              <a:gd name="connsiteX1" fmla="*/ 146813 w 621792"/>
              <a:gd name="connsiteY1" fmla="*/ 0 h 326730"/>
              <a:gd name="connsiteX2" fmla="*/ 474979 w 621792"/>
              <a:gd name="connsiteY2" fmla="*/ 0 h 326730"/>
              <a:gd name="connsiteX3" fmla="*/ 621792 w 621792"/>
              <a:gd name="connsiteY3" fmla="*/ 0 h 326730"/>
              <a:gd name="connsiteX4" fmla="*/ 412064 w 621792"/>
              <a:gd name="connsiteY4" fmla="*/ 326730 h 326730"/>
              <a:gd name="connsiteX5" fmla="*/ 265251 w 621792"/>
              <a:gd name="connsiteY5" fmla="*/ 326730 h 326730"/>
              <a:gd name="connsiteX6" fmla="*/ 146813 w 621792"/>
              <a:gd name="connsiteY6" fmla="*/ 326730 h 326730"/>
              <a:gd name="connsiteX7" fmla="*/ 0 w 621792"/>
              <a:gd name="connsiteY7" fmla="*/ 326730 h 326730"/>
            </a:gdLst>
            <a:ahLst/>
            <a:cxnLst/>
            <a:rect l="l" t="t" r="r" b="b"/>
            <a:pathLst>
              <a:path w="621792" h="326730">
                <a:moveTo>
                  <a:pt x="0" y="0"/>
                </a:moveTo>
                <a:lnTo>
                  <a:pt x="146813" y="0"/>
                </a:lnTo>
                <a:lnTo>
                  <a:pt x="474979" y="0"/>
                </a:lnTo>
                <a:lnTo>
                  <a:pt x="621792" y="0"/>
                </a:lnTo>
                <a:lnTo>
                  <a:pt x="412064" y="326730"/>
                </a:lnTo>
                <a:lnTo>
                  <a:pt x="265251" y="326730"/>
                </a:lnTo>
                <a:lnTo>
                  <a:pt x="146813" y="326730"/>
                </a:lnTo>
                <a:lnTo>
                  <a:pt x="0" y="32673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21792" y="163502"/>
            <a:ext cx="10706100" cy="4216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Sistemas de control</a:t>
            </a:r>
            <a:endParaRPr kumimoji="1" lang="zh-CN" altLang="en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217B490-5685-5454-39BB-EE0EE64EE6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/>
          <p:nvPr/>
        </p:nvSpPr>
        <p:spPr>
          <a:xfrm>
            <a:off x="660399" y="1334422"/>
            <a:ext cx="7740651" cy="1535552"/>
          </a:xfrm>
          <a:prstGeom prst="roundRect">
            <a:avLst>
              <a:gd name="adj" fmla="val 6270"/>
            </a:avLst>
          </a:prstGeom>
          <a:gradFill>
            <a:gsLst>
              <a:gs pos="4000">
                <a:schemeClr val="accent1">
                  <a:lumMod val="88000"/>
                  <a:lumOff val="12000"/>
                </a:schemeClr>
              </a:gs>
              <a:gs pos="95000">
                <a:schemeClr val="accent1">
                  <a:lumMod val="86000"/>
                </a:schemeClr>
              </a:gs>
            </a:gsLst>
            <a:lin ang="4200000" scaled="0"/>
          </a:gradFill>
          <a:ln w="12700" cap="flat">
            <a:noFill/>
            <a:miter/>
          </a:ln>
          <a:effectLst>
            <a:outerShdw blurRad="431800" dist="266700" dir="2520000" sx="97000" sy="97000" algn="l" rotWithShape="0">
              <a:schemeClr val="accent1">
                <a:lumMod val="50000"/>
                <a:alpha val="22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070940" y="1492622"/>
            <a:ext cx="6919569" cy="121915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Beneficios en la administración</a:t>
            </a: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660400" y="3045373"/>
            <a:ext cx="3338394" cy="1351351"/>
          </a:xfrm>
          <a:prstGeom prst="roundRect">
            <a:avLst>
              <a:gd name="adj" fmla="val 6270"/>
            </a:avLst>
          </a:prstGeom>
          <a:solidFill>
            <a:schemeClr val="bg1"/>
          </a:solidFill>
          <a:ln w="38100" cap="sq">
            <a:noFill/>
            <a:miter/>
            <a:headEnd/>
            <a:tailEnd/>
          </a:ln>
          <a:effectLst>
            <a:outerShdw blurRad="381000" dist="127000" dir="2700000" algn="tl" rotWithShape="0">
              <a:schemeClr val="tx1">
                <a:lumMod val="85000"/>
                <a:lumOff val="15000"/>
                <a:alpha val="15000"/>
              </a:schemeClr>
            </a:outerShdw>
          </a:effectLst>
        </p:spPr>
        <p:txBody>
          <a:bodyPr vert="horz" wrap="square" lIns="38102" tIns="38102" rIns="38102" bIns="38102"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660398" y="1334422"/>
            <a:ext cx="59269" cy="15355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sq">
            <a:noFill/>
            <a:miter/>
          </a:ln>
          <a:effectLst>
            <a:outerShdw blurRad="139700" dist="50800" algn="l" rotWithShape="0">
              <a:schemeClr val="accent2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60398" y="3045373"/>
            <a:ext cx="59269" cy="135135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139700" dist="50800" algn="l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60395" y="4612721"/>
            <a:ext cx="3338394" cy="1351351"/>
          </a:xfrm>
          <a:prstGeom prst="roundRect">
            <a:avLst>
              <a:gd name="adj" fmla="val 6270"/>
            </a:avLst>
          </a:prstGeom>
          <a:solidFill>
            <a:schemeClr val="bg1"/>
          </a:solidFill>
          <a:ln w="38100" cap="sq">
            <a:noFill/>
            <a:miter/>
            <a:headEnd/>
            <a:tailEnd/>
          </a:ln>
          <a:effectLst>
            <a:outerShdw blurRad="381000" dist="127000" dir="2700000" algn="tl" rotWithShape="0">
              <a:schemeClr val="tx1">
                <a:lumMod val="85000"/>
                <a:lumOff val="15000"/>
                <a:alpha val="15000"/>
              </a:schemeClr>
            </a:outerShdw>
          </a:effectLst>
        </p:spPr>
        <p:txBody>
          <a:bodyPr vert="horz" wrap="square" lIns="38102" tIns="38102" rIns="38102" bIns="38102"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60393" y="4612721"/>
            <a:ext cx="59269" cy="135135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139700" dist="50800" algn="l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4317662" y="3045371"/>
            <a:ext cx="3338394" cy="1351351"/>
          </a:xfrm>
          <a:prstGeom prst="roundRect">
            <a:avLst>
              <a:gd name="adj" fmla="val 6270"/>
            </a:avLst>
          </a:prstGeom>
          <a:solidFill>
            <a:schemeClr val="bg1"/>
          </a:solidFill>
          <a:ln w="38100" cap="sq">
            <a:noFill/>
            <a:miter/>
            <a:headEnd/>
            <a:tailEnd/>
          </a:ln>
          <a:effectLst>
            <a:outerShdw blurRad="381000" dist="127000" dir="2700000" algn="tl" rotWithShape="0">
              <a:schemeClr val="tx1">
                <a:lumMod val="85000"/>
                <a:lumOff val="15000"/>
                <a:alpha val="15000"/>
              </a:schemeClr>
            </a:outerShdw>
          </a:effectLst>
        </p:spPr>
        <p:txBody>
          <a:bodyPr vert="horz" wrap="square" lIns="38102" tIns="38102" rIns="38102" bIns="38102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4317660" y="3045371"/>
            <a:ext cx="59269" cy="135135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139700" dist="50800" algn="l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4317660" y="4612723"/>
            <a:ext cx="3338394" cy="1351351"/>
          </a:xfrm>
          <a:prstGeom prst="roundRect">
            <a:avLst>
              <a:gd name="adj" fmla="val 6270"/>
            </a:avLst>
          </a:prstGeom>
          <a:solidFill>
            <a:schemeClr val="bg1"/>
          </a:solidFill>
          <a:ln w="38100" cap="sq">
            <a:noFill/>
            <a:miter/>
            <a:headEnd/>
            <a:tailEnd/>
          </a:ln>
          <a:effectLst>
            <a:outerShdw blurRad="381000" dist="127000" dir="2700000" algn="tl" rotWithShape="0">
              <a:schemeClr val="tx1">
                <a:lumMod val="85000"/>
                <a:lumOff val="15000"/>
                <a:alpha val="15000"/>
              </a:schemeClr>
            </a:outerShdw>
          </a:effectLst>
        </p:spPr>
        <p:txBody>
          <a:bodyPr vert="horz" wrap="square" lIns="38102" tIns="38102" rIns="38102" bIns="38102"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4317658" y="4612723"/>
            <a:ext cx="59269" cy="135135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  <a:effectLst>
            <a:outerShdw blurRad="139700" dist="50800" algn="l" rotWithShape="0">
              <a:schemeClr val="accent1">
                <a:alpha val="1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855040" y="3105522"/>
            <a:ext cx="3058769" cy="121915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3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Mejora la toma de decisiones en presupuestos y renovaciones.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4525340" y="3105522"/>
            <a:ext cx="3058769" cy="121915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3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Permite una auditoría transparente ante entes de control.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4525340" y="4667622"/>
            <a:ext cx="3058769" cy="121915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3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Facilita la planificación del mantenimiento y el control de inventario por áreas.</a:t>
            </a: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855040" y="4667622"/>
            <a:ext cx="3058769" cy="121915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13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Evita pérdida o uso indebido de equipos.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-1" y="218915"/>
            <a:ext cx="621792" cy="326730"/>
          </a:xfrm>
          <a:custGeom>
            <a:avLst/>
            <a:gdLst>
              <a:gd name="connsiteX0" fmla="*/ 0 w 621792"/>
              <a:gd name="connsiteY0" fmla="*/ 0 h 326730"/>
              <a:gd name="connsiteX1" fmla="*/ 146813 w 621792"/>
              <a:gd name="connsiteY1" fmla="*/ 0 h 326730"/>
              <a:gd name="connsiteX2" fmla="*/ 474979 w 621792"/>
              <a:gd name="connsiteY2" fmla="*/ 0 h 326730"/>
              <a:gd name="connsiteX3" fmla="*/ 621792 w 621792"/>
              <a:gd name="connsiteY3" fmla="*/ 0 h 326730"/>
              <a:gd name="connsiteX4" fmla="*/ 412064 w 621792"/>
              <a:gd name="connsiteY4" fmla="*/ 326730 h 326730"/>
              <a:gd name="connsiteX5" fmla="*/ 265251 w 621792"/>
              <a:gd name="connsiteY5" fmla="*/ 326730 h 326730"/>
              <a:gd name="connsiteX6" fmla="*/ 146813 w 621792"/>
              <a:gd name="connsiteY6" fmla="*/ 326730 h 326730"/>
              <a:gd name="connsiteX7" fmla="*/ 0 w 621792"/>
              <a:gd name="connsiteY7" fmla="*/ 326730 h 326730"/>
            </a:gdLst>
            <a:ahLst/>
            <a:cxnLst/>
            <a:rect l="l" t="t" r="r" b="b"/>
            <a:pathLst>
              <a:path w="621792" h="326730">
                <a:moveTo>
                  <a:pt x="0" y="0"/>
                </a:moveTo>
                <a:lnTo>
                  <a:pt x="146813" y="0"/>
                </a:lnTo>
                <a:lnTo>
                  <a:pt x="474979" y="0"/>
                </a:lnTo>
                <a:lnTo>
                  <a:pt x="621792" y="0"/>
                </a:lnTo>
                <a:lnTo>
                  <a:pt x="412064" y="326730"/>
                </a:lnTo>
                <a:lnTo>
                  <a:pt x="265251" y="326730"/>
                </a:lnTo>
                <a:lnTo>
                  <a:pt x="146813" y="326730"/>
                </a:lnTo>
                <a:lnTo>
                  <a:pt x="0" y="32673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621792" y="163502"/>
            <a:ext cx="10706100" cy="4216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Beneficios en la administración</a:t>
            </a:r>
            <a:endParaRPr kumimoji="1" lang="zh-CN" altLang="en-US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49B38DB5-E299-7413-1F32-EFF40FCF93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885080" y="1499789"/>
            <a:ext cx="1755485" cy="111711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8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05</a:t>
            </a:r>
            <a:endParaRPr kumimoji="1" lang="zh-CN" altLang="en-US" dirty="0"/>
          </a:p>
        </p:txBody>
      </p:sp>
      <p:sp>
        <p:nvSpPr>
          <p:cNvPr id="7" name="标题 1"/>
          <p:cNvSpPr txBox="1"/>
          <p:nvPr/>
        </p:nvSpPr>
        <p:spPr>
          <a:xfrm>
            <a:off x="1762822" y="2749205"/>
            <a:ext cx="5911783" cy="67979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Buenas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Prácticas</a:t>
            </a:r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</a:t>
            </a:r>
            <a:r>
              <a:rPr kumimoji="1" lang="en-US" altLang="zh-CN" sz="240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Administrativas</a:t>
            </a:r>
            <a:endParaRPr kumimoji="1" lang="zh-CN" altLang="en-U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9F7DC11-C318-4910-7B77-E65244429D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1898630" y="3751152"/>
            <a:ext cx="477938" cy="955876"/>
          </a:xfrm>
          <a:prstGeom prst="roundRect">
            <a:avLst>
              <a:gd name="adj" fmla="val 50000"/>
            </a:avLst>
          </a:prstGeom>
          <a:solidFill>
            <a:schemeClr val="tx2">
              <a:alpha val="20000"/>
            </a:schemeClr>
          </a:solidFill>
          <a:ln>
            <a:noFill/>
          </a:ln>
        </p:spPr>
        <p:txBody>
          <a:bodyPr vert="horz" wrap="none" lIns="108000" tIns="108000" rIns="108000" bIns="108000"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898630" y="3751152"/>
            <a:ext cx="477938" cy="47793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vert="horz" wrap="none" lIns="108000" tIns="108000" rIns="108000" bIns="108000" rtlCol="0" anchor="ctr"/>
          <a:lstStyle/>
          <a:p>
            <a:pPr algn="ctr"/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03</a:t>
            </a: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2472942" y="3961172"/>
            <a:ext cx="3343601" cy="108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108000" tIns="108000" rIns="108000" bIns="108000" rtlCol="0" anchor="t"/>
          <a:lstStyle/>
          <a:p>
            <a:pPr algn="l"/>
            <a:r>
              <a:rPr kumimoji="1" lang="en-US" altLang="zh-CN" sz="1096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Capacitar al personal técnico en procedimientos de mantenimiento y seguridad eléctrica.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6375458" y="2534100"/>
            <a:ext cx="477938" cy="955876"/>
          </a:xfrm>
          <a:prstGeom prst="roundRect">
            <a:avLst>
              <a:gd name="adj" fmla="val 50000"/>
            </a:avLst>
          </a:prstGeom>
          <a:solidFill>
            <a:schemeClr val="tx2">
              <a:alpha val="20000"/>
            </a:schemeClr>
          </a:solidFill>
          <a:ln>
            <a:noFill/>
          </a:ln>
        </p:spPr>
        <p:txBody>
          <a:bodyPr vert="horz" wrap="none" lIns="108000" tIns="108000" rIns="108000" bIns="108000"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6375458" y="2534100"/>
            <a:ext cx="477938" cy="47793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vert="horz" wrap="none" lIns="108000" tIns="108000" rIns="108000" bIns="108000" rtlCol="0" anchor="ctr"/>
          <a:lstStyle/>
          <a:p>
            <a:pPr algn="ctr"/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02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949770" y="2744120"/>
            <a:ext cx="3343601" cy="108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108000" tIns="108000" rIns="108000" bIns="10800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Aplicar políticas de rotación o reasignación de equipos con actas formales.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1898630" y="2534100"/>
            <a:ext cx="477938" cy="955876"/>
          </a:xfrm>
          <a:prstGeom prst="roundRect">
            <a:avLst>
              <a:gd name="adj" fmla="val 50000"/>
            </a:avLst>
          </a:prstGeom>
          <a:solidFill>
            <a:schemeClr val="tx2">
              <a:alpha val="20000"/>
            </a:schemeClr>
          </a:solidFill>
          <a:ln>
            <a:noFill/>
          </a:ln>
        </p:spPr>
        <p:txBody>
          <a:bodyPr vert="horz" wrap="none" lIns="108000" tIns="108000" rIns="108000" bIns="10800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898630" y="2534100"/>
            <a:ext cx="477938" cy="47793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vert="horz" wrap="none" lIns="108000" tIns="108000" rIns="108000" bIns="108000" rtlCol="0" anchor="ctr"/>
          <a:lstStyle/>
          <a:p>
            <a:pPr algn="ctr"/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01</a:t>
            </a: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2472942" y="2744122"/>
            <a:ext cx="3343601" cy="108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108000" tIns="108000" rIns="108000" bIns="108000" rtlCol="0" anchor="t"/>
          <a:lstStyle/>
          <a:p>
            <a:pPr algn="l"/>
            <a:r>
              <a:rPr kumimoji="1" lang="en-US" altLang="zh-CN" sz="1096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Mantener inventarios digitales sincronizados con las adquisiciones del área de compras.</a:t>
            </a: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6375458" y="3751150"/>
            <a:ext cx="477938" cy="955876"/>
          </a:xfrm>
          <a:prstGeom prst="roundRect">
            <a:avLst>
              <a:gd name="adj" fmla="val 50000"/>
            </a:avLst>
          </a:prstGeom>
          <a:solidFill>
            <a:schemeClr val="tx2">
              <a:alpha val="20000"/>
            </a:schemeClr>
          </a:solidFill>
          <a:ln>
            <a:noFill/>
          </a:ln>
        </p:spPr>
        <p:txBody>
          <a:bodyPr vert="horz" wrap="none" lIns="108000" tIns="108000" rIns="108000" bIns="108000"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6375458" y="3751150"/>
            <a:ext cx="477938" cy="47793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vert="horz" wrap="none" lIns="108000" tIns="108000" rIns="108000" bIns="108000" rtlCol="0" anchor="ctr"/>
          <a:lstStyle/>
          <a:p>
            <a:pPr algn="ctr"/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04</a:t>
            </a:r>
            <a:endParaRPr kumimoji="1" lang="zh-CN" altLang="en-US"/>
          </a:p>
        </p:txBody>
      </p:sp>
      <p:sp>
        <p:nvSpPr>
          <p:cNvPr id="15" name="标题 1"/>
          <p:cNvSpPr txBox="1"/>
          <p:nvPr/>
        </p:nvSpPr>
        <p:spPr>
          <a:xfrm>
            <a:off x="6949770" y="3961171"/>
            <a:ext cx="3343601" cy="108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108000" tIns="108000" rIns="108000" bIns="10800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Generar informes mensuales de estado de infraestructura tecnológica.</a:t>
            </a: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1898630" y="4968202"/>
            <a:ext cx="477938" cy="955876"/>
          </a:xfrm>
          <a:prstGeom prst="roundRect">
            <a:avLst>
              <a:gd name="adj" fmla="val 50000"/>
            </a:avLst>
          </a:prstGeom>
          <a:solidFill>
            <a:schemeClr val="tx2">
              <a:alpha val="20000"/>
            </a:schemeClr>
          </a:solidFill>
          <a:ln>
            <a:noFill/>
          </a:ln>
        </p:spPr>
        <p:txBody>
          <a:bodyPr vert="horz" wrap="none" lIns="108000" tIns="108000" rIns="108000" bIns="108000"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1898630" y="4968202"/>
            <a:ext cx="477938" cy="47793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vert="horz" wrap="none" lIns="108000" tIns="108000" rIns="108000" bIns="108000" rtlCol="0" anchor="ctr"/>
          <a:lstStyle/>
          <a:p>
            <a:pPr algn="ctr"/>
            <a:r>
              <a:rPr kumimoji="1" lang="en-US" altLang="zh-CN" sz="20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05</a:t>
            </a:r>
            <a:endParaRPr kumimoji="1" lang="zh-CN" altLang="en-US"/>
          </a:p>
        </p:txBody>
      </p:sp>
      <p:sp>
        <p:nvSpPr>
          <p:cNvPr id="18" name="标题 1"/>
          <p:cNvSpPr txBox="1"/>
          <p:nvPr/>
        </p:nvSpPr>
        <p:spPr>
          <a:xfrm>
            <a:off x="2472942" y="5178224"/>
            <a:ext cx="3343601" cy="1080000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108000" tIns="108000" rIns="108000" bIns="10800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404040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Integrar el inventario del centro de cómputo con el sistema contable o de activos fijos institucional.</a:t>
            </a: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-1" y="218915"/>
            <a:ext cx="621792" cy="326730"/>
          </a:xfrm>
          <a:custGeom>
            <a:avLst/>
            <a:gdLst>
              <a:gd name="connsiteX0" fmla="*/ 0 w 621792"/>
              <a:gd name="connsiteY0" fmla="*/ 0 h 326730"/>
              <a:gd name="connsiteX1" fmla="*/ 146813 w 621792"/>
              <a:gd name="connsiteY1" fmla="*/ 0 h 326730"/>
              <a:gd name="connsiteX2" fmla="*/ 474979 w 621792"/>
              <a:gd name="connsiteY2" fmla="*/ 0 h 326730"/>
              <a:gd name="connsiteX3" fmla="*/ 621792 w 621792"/>
              <a:gd name="connsiteY3" fmla="*/ 0 h 326730"/>
              <a:gd name="connsiteX4" fmla="*/ 412064 w 621792"/>
              <a:gd name="connsiteY4" fmla="*/ 326730 h 326730"/>
              <a:gd name="connsiteX5" fmla="*/ 265251 w 621792"/>
              <a:gd name="connsiteY5" fmla="*/ 326730 h 326730"/>
              <a:gd name="connsiteX6" fmla="*/ 146813 w 621792"/>
              <a:gd name="connsiteY6" fmla="*/ 326730 h 326730"/>
              <a:gd name="connsiteX7" fmla="*/ 0 w 621792"/>
              <a:gd name="connsiteY7" fmla="*/ 326730 h 326730"/>
            </a:gdLst>
            <a:ahLst/>
            <a:cxnLst/>
            <a:rect l="l" t="t" r="r" b="b"/>
            <a:pathLst>
              <a:path w="621792" h="326730">
                <a:moveTo>
                  <a:pt x="0" y="0"/>
                </a:moveTo>
                <a:lnTo>
                  <a:pt x="146813" y="0"/>
                </a:lnTo>
                <a:lnTo>
                  <a:pt x="474979" y="0"/>
                </a:lnTo>
                <a:lnTo>
                  <a:pt x="621792" y="0"/>
                </a:lnTo>
                <a:lnTo>
                  <a:pt x="412064" y="326730"/>
                </a:lnTo>
                <a:lnTo>
                  <a:pt x="265251" y="326730"/>
                </a:lnTo>
                <a:lnTo>
                  <a:pt x="146813" y="326730"/>
                </a:lnTo>
                <a:lnTo>
                  <a:pt x="0" y="32673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621792" y="163502"/>
            <a:ext cx="10706100" cy="4216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Buenas Prácticas Administrativas</a:t>
            </a:r>
            <a:endParaRPr kumimoji="1" lang="zh-CN" altLang="en-US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6C4451D6-31CF-B519-B118-FF54D1EA86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667910" y="1534079"/>
            <a:ext cx="1755485" cy="1117115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/>
            <a:r>
              <a:rPr kumimoji="1" lang="en-US" altLang="zh-CN" sz="80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 06</a:t>
            </a:r>
            <a:endParaRPr kumimoji="1" lang="zh-CN" altLang="en-US" dirty="0"/>
          </a:p>
        </p:txBody>
      </p:sp>
      <p:sp>
        <p:nvSpPr>
          <p:cNvPr id="7" name="标题 1"/>
          <p:cNvSpPr txBox="1"/>
          <p:nvPr/>
        </p:nvSpPr>
        <p:spPr>
          <a:xfrm>
            <a:off x="1628030" y="2909225"/>
            <a:ext cx="5911783" cy="2020369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24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Conclusión</a:t>
            </a:r>
            <a:endParaRPr kumimoji="1" lang="zh-CN" altLang="en-US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2E4219E-F24E-5034-AECF-BCC9E0351C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4464148" y="2406125"/>
            <a:ext cx="3238305" cy="3956575"/>
          </a:xfrm>
          <a:prstGeom prst="rect">
            <a:avLst/>
          </a:prstGeom>
        </p:spPr>
      </p:pic>
      <p:sp>
        <p:nvSpPr>
          <p:cNvPr id="3" name="标题 1"/>
          <p:cNvSpPr txBox="1"/>
          <p:nvPr/>
        </p:nvSpPr>
        <p:spPr>
          <a:xfrm>
            <a:off x="673101" y="1047368"/>
            <a:ext cx="10845798" cy="864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b"/>
          <a:lstStyle/>
          <a:p>
            <a:pPr algn="ctr"/>
            <a:r>
              <a:rPr kumimoji="1" lang="en-US" altLang="zh-CN" sz="16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Conclusión</a:t>
            </a: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469649" y="4198932"/>
            <a:ext cx="3240000" cy="2160000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6000000" scaled="0"/>
          </a:gradFill>
          <a:ln w="12700" cap="sq">
            <a:noFill/>
            <a:miter/>
          </a:ln>
          <a:effectLst/>
        </p:spPr>
        <p:txBody>
          <a:bodyPr vert="horz" wrap="square" lIns="274320" tIns="0" rIns="182880" bIns="274320" rtlCol="0" anchor="b"/>
          <a:lstStyle/>
          <a:p>
            <a:pPr algn="l"/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4469649" y="2186606"/>
            <a:ext cx="3240000" cy="108000"/>
          </a:xfrm>
          <a:prstGeom prst="rect">
            <a:avLst/>
          </a:prstGeom>
          <a:solidFill>
            <a:schemeClr val="accent1"/>
          </a:solidFill>
          <a:ln w="12700" cap="sq">
            <a:noFill/>
            <a:miter/>
          </a:ln>
          <a:effectLst/>
        </p:spPr>
        <p:txBody>
          <a:bodyPr vert="horz" wrap="square" lIns="274320" tIns="0" rIns="182880" bIns="274320" rtlCol="0" anchor="b"/>
          <a:lstStyle/>
          <a:p>
            <a:pPr algn="l"/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8017016" y="2448840"/>
            <a:ext cx="372117" cy="372117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79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307952 w 720001"/>
              <a:gd name="connsiteY7" fmla="*/ 56386 h 720001"/>
              <a:gd name="connsiteX8" fmla="*/ 240115 w 720001"/>
              <a:gd name="connsiteY8" fmla="*/ 76251 h 720001"/>
              <a:gd name="connsiteX9" fmla="*/ 142092 w 720001"/>
              <a:gd name="connsiteY9" fmla="*/ 142179 h 720001"/>
              <a:gd name="connsiteX10" fmla="*/ 76077 w 720001"/>
              <a:gd name="connsiteY10" fmla="*/ 240116 h 720001"/>
              <a:gd name="connsiteX11" fmla="*/ 51874 w 720001"/>
              <a:gd name="connsiteY11" fmla="*/ 360000 h 720001"/>
              <a:gd name="connsiteX12" fmla="*/ 76077 w 720001"/>
              <a:gd name="connsiteY12" fmla="*/ 479885 h 720001"/>
              <a:gd name="connsiteX13" fmla="*/ 142092 w 720001"/>
              <a:gd name="connsiteY13" fmla="*/ 577822 h 720001"/>
              <a:gd name="connsiteX14" fmla="*/ 240029 w 720001"/>
              <a:gd name="connsiteY14" fmla="*/ 643837 h 720001"/>
              <a:gd name="connsiteX15" fmla="*/ 359913 w 720001"/>
              <a:gd name="connsiteY15" fmla="*/ 668039 h 720001"/>
              <a:gd name="connsiteX16" fmla="*/ 479798 w 720001"/>
              <a:gd name="connsiteY16" fmla="*/ 643837 h 720001"/>
              <a:gd name="connsiteX17" fmla="*/ 577735 w 720001"/>
              <a:gd name="connsiteY17" fmla="*/ 577822 h 720001"/>
              <a:gd name="connsiteX18" fmla="*/ 643750 w 720001"/>
              <a:gd name="connsiteY18" fmla="*/ 479885 h 720001"/>
              <a:gd name="connsiteX19" fmla="*/ 663615 w 720001"/>
              <a:gd name="connsiteY19" fmla="*/ 412049 h 720001"/>
              <a:gd name="connsiteX20" fmla="*/ 360000 w 720001"/>
              <a:gd name="connsiteY20" fmla="*/ 412049 h 720001"/>
              <a:gd name="connsiteX21" fmla="*/ 307952 w 720001"/>
              <a:gd name="connsiteY21" fmla="*/ 360000 h 720001"/>
              <a:gd name="connsiteX22" fmla="*/ 405022 w 720001"/>
              <a:gd name="connsiteY22" fmla="*/ 0 h 720001"/>
              <a:gd name="connsiteX23" fmla="*/ 720001 w 720001"/>
              <a:gd name="connsiteY23" fmla="*/ 314979 h 720001"/>
              <a:gd name="connsiteX24" fmla="*/ 405022 w 720001"/>
              <a:gd name="connsiteY24" fmla="*/ 314979 h 720001"/>
              <a:gd name="connsiteX25" fmla="*/ 360000 w 720001"/>
              <a:gd name="connsiteY25" fmla="*/ 0 h 720001"/>
              <a:gd name="connsiteX26" fmla="*/ 360000 w 720001"/>
              <a:gd name="connsiteY26" fmla="*/ 360000 h 720001"/>
              <a:gd name="connsiteX27" fmla="*/ 720001 w 720001"/>
              <a:gd name="connsiteY27" fmla="*/ 360000 h 720001"/>
              <a:gd name="connsiteX28" fmla="*/ 360000 w 720001"/>
              <a:gd name="connsiteY28" fmla="*/ 720001 h 720001"/>
              <a:gd name="connsiteX29" fmla="*/ 0 w 720001"/>
              <a:gd name="connsiteY29" fmla="*/ 360000 h 720001"/>
              <a:gd name="connsiteX30" fmla="*/ 360000 w 720001"/>
              <a:gd name="connsiteY30" fmla="*/ 0 h 720001"/>
            </a:gdLst>
            <a:ahLst/>
            <a:cxnLst/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79"/>
                </a:cubicBezTo>
                <a:cubicBezTo>
                  <a:pt x="566806" y="104877"/>
                  <a:pt x="538699" y="85966"/>
                  <a:pt x="507383" y="72694"/>
                </a:cubicBezTo>
                <a:cubicBezTo>
                  <a:pt x="491075" y="65755"/>
                  <a:pt x="474246" y="60636"/>
                  <a:pt x="457070" y="57166"/>
                </a:cubicBezTo>
                <a:close/>
                <a:moveTo>
                  <a:pt x="307952" y="56386"/>
                </a:moveTo>
                <a:cubicBezTo>
                  <a:pt x="284703" y="60376"/>
                  <a:pt x="262062" y="66969"/>
                  <a:pt x="240115" y="76251"/>
                </a:cubicBezTo>
                <a:cubicBezTo>
                  <a:pt x="203508" y="91778"/>
                  <a:pt x="170544" y="113986"/>
                  <a:pt x="142092" y="142179"/>
                </a:cubicBezTo>
                <a:cubicBezTo>
                  <a:pt x="113812" y="170545"/>
                  <a:pt x="91605" y="203422"/>
                  <a:pt x="76077" y="240116"/>
                </a:cubicBezTo>
                <a:cubicBezTo>
                  <a:pt x="60029" y="278111"/>
                  <a:pt x="51874" y="318362"/>
                  <a:pt x="51874" y="360000"/>
                </a:cubicBezTo>
                <a:cubicBezTo>
                  <a:pt x="51874" y="401639"/>
                  <a:pt x="60029" y="441976"/>
                  <a:pt x="76077" y="479885"/>
                </a:cubicBezTo>
                <a:cubicBezTo>
                  <a:pt x="91605" y="516579"/>
                  <a:pt x="113812" y="549543"/>
                  <a:pt x="142092" y="577822"/>
                </a:cubicBezTo>
                <a:cubicBezTo>
                  <a:pt x="170458" y="606102"/>
                  <a:pt x="203335" y="628309"/>
                  <a:pt x="240029" y="643837"/>
                </a:cubicBezTo>
                <a:cubicBezTo>
                  <a:pt x="278024" y="659885"/>
                  <a:pt x="318275" y="668039"/>
                  <a:pt x="359913" y="668039"/>
                </a:cubicBezTo>
                <a:cubicBezTo>
                  <a:pt x="401552" y="668039"/>
                  <a:pt x="441890" y="659885"/>
                  <a:pt x="479798" y="643837"/>
                </a:cubicBezTo>
                <a:cubicBezTo>
                  <a:pt x="516492" y="628309"/>
                  <a:pt x="549456" y="606102"/>
                  <a:pt x="577735" y="577822"/>
                </a:cubicBezTo>
                <a:cubicBezTo>
                  <a:pt x="606015" y="549456"/>
                  <a:pt x="628222" y="516579"/>
                  <a:pt x="643750" y="479885"/>
                </a:cubicBezTo>
                <a:cubicBezTo>
                  <a:pt x="653032" y="457938"/>
                  <a:pt x="659625" y="435297"/>
                  <a:pt x="663615" y="412049"/>
                </a:cubicBezTo>
                <a:lnTo>
                  <a:pt x="360000" y="412049"/>
                </a:lnTo>
                <a:cubicBezTo>
                  <a:pt x="331287" y="412049"/>
                  <a:pt x="307952" y="388714"/>
                  <a:pt x="307952" y="360000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1" y="360000"/>
                </a:lnTo>
                <a:cubicBezTo>
                  <a:pt x="720001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accent1"/>
          </a:solidFill>
          <a:ln w="22225" cap="rnd">
            <a:noFill/>
            <a:round/>
            <a:headEnd/>
            <a:tailEnd/>
          </a:ln>
        </p:spPr>
        <p:txBody>
          <a:bodyPr vert="horz" wrap="square" lIns="121920" tIns="60960" rIns="121920" bIns="60960" rtlCol="0" anchor="t"/>
          <a:lstStyle/>
          <a:p>
            <a:pPr algn="l"/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3808195" y="2448840"/>
            <a:ext cx="332751" cy="332800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accent1"/>
          </a:solidFill>
          <a:ln w="22225" cap="flat">
            <a:noFill/>
            <a:miter/>
            <a:headEnd/>
            <a:tailEnd/>
          </a:ln>
        </p:spPr>
        <p:txBody>
          <a:bodyPr vert="horz" wrap="square" lIns="121920" tIns="60960" rIns="121920" bIns="60960" rtlCol="0" anchor="t"/>
          <a:lstStyle/>
          <a:p>
            <a:pPr algn="l"/>
            <a:endParaRPr kumimoji="1" lang="zh-CN" altLang="en-US"/>
          </a:p>
        </p:txBody>
      </p:sp>
      <p:sp>
        <p:nvSpPr>
          <p:cNvPr id="8" name="标题 1"/>
          <p:cNvSpPr txBox="1"/>
          <p:nvPr/>
        </p:nvSpPr>
        <p:spPr>
          <a:xfrm>
            <a:off x="8017016" y="2913492"/>
            <a:ext cx="3508233" cy="343121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l"/>
            <a:r>
              <a:rPr kumimoji="1" lang="en-US" altLang="zh-CN" sz="14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Implementar procedimientos estandarizados, herramientas adecuadas y una cultura de mantenimiento preventivo asegura la disponibilidad, seguridad y sostenibilidad de la infraestructura tecnológica que respalda las operaciones académicas y administrativas de la institución.</a:t>
            </a: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663716" y="2786492"/>
            <a:ext cx="3508233" cy="354551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/>
          <a:lstStyle/>
          <a:p>
            <a:pPr algn="r"/>
            <a:r>
              <a:rPr kumimoji="1" lang="en-US" altLang="zh-CN" sz="1400">
                <a:ln w="12700">
                  <a:noFill/>
                </a:ln>
                <a:solidFill>
                  <a:srgbClr val="595959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En la Administración de Centros de Cómputo, el control del inventario, el mantenimiento y la trazabilidad de los activos tecnológicos son pilares para una gestión eficiente.</a:t>
            </a: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-1" y="218915"/>
            <a:ext cx="621792" cy="326730"/>
          </a:xfrm>
          <a:custGeom>
            <a:avLst/>
            <a:gdLst>
              <a:gd name="connsiteX0" fmla="*/ 0 w 621792"/>
              <a:gd name="connsiteY0" fmla="*/ 0 h 326730"/>
              <a:gd name="connsiteX1" fmla="*/ 146813 w 621792"/>
              <a:gd name="connsiteY1" fmla="*/ 0 h 326730"/>
              <a:gd name="connsiteX2" fmla="*/ 474979 w 621792"/>
              <a:gd name="connsiteY2" fmla="*/ 0 h 326730"/>
              <a:gd name="connsiteX3" fmla="*/ 621792 w 621792"/>
              <a:gd name="connsiteY3" fmla="*/ 0 h 326730"/>
              <a:gd name="connsiteX4" fmla="*/ 412064 w 621792"/>
              <a:gd name="connsiteY4" fmla="*/ 326730 h 326730"/>
              <a:gd name="connsiteX5" fmla="*/ 265251 w 621792"/>
              <a:gd name="connsiteY5" fmla="*/ 326730 h 326730"/>
              <a:gd name="connsiteX6" fmla="*/ 146813 w 621792"/>
              <a:gd name="connsiteY6" fmla="*/ 326730 h 326730"/>
              <a:gd name="connsiteX7" fmla="*/ 0 w 621792"/>
              <a:gd name="connsiteY7" fmla="*/ 326730 h 326730"/>
            </a:gdLst>
            <a:ahLst/>
            <a:cxnLst/>
            <a:rect l="l" t="t" r="r" b="b"/>
            <a:pathLst>
              <a:path w="621792" h="326730">
                <a:moveTo>
                  <a:pt x="0" y="0"/>
                </a:moveTo>
                <a:lnTo>
                  <a:pt x="146813" y="0"/>
                </a:lnTo>
                <a:lnTo>
                  <a:pt x="474979" y="0"/>
                </a:lnTo>
                <a:lnTo>
                  <a:pt x="621792" y="0"/>
                </a:lnTo>
                <a:lnTo>
                  <a:pt x="412064" y="326730"/>
                </a:lnTo>
                <a:lnTo>
                  <a:pt x="265251" y="326730"/>
                </a:lnTo>
                <a:lnTo>
                  <a:pt x="146813" y="326730"/>
                </a:lnTo>
                <a:lnTo>
                  <a:pt x="0" y="32673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621792" y="163502"/>
            <a:ext cx="10706100" cy="4216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algn="l"/>
            <a:r>
              <a:rPr kumimoji="1" lang="en-US" altLang="zh-CN" sz="24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Conclusión</a:t>
            </a:r>
            <a:endParaRPr kumimoji="1" lang="zh-CN" altLang="en-U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08146587-DB83-34F0-5BBE-C35AD5EEB8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914399" y="1200625"/>
            <a:ext cx="8748461" cy="2881022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b"/>
          <a:lstStyle/>
          <a:p>
            <a:pPr algn="l"/>
            <a:r>
              <a:rPr kumimoji="1" lang="en-US" altLang="zh-CN" sz="43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-bold"/>
                <a:ea typeface="poppins-bold"/>
                <a:cs typeface="poppins-bold"/>
              </a:rPr>
              <a:t>Thanks</a:t>
            </a: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365761" y="4081647"/>
            <a:ext cx="6972300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t">
            <a:spAutoFit/>
          </a:bodyPr>
          <a:lstStyle/>
          <a:p>
            <a:pPr algn="l"/>
            <a:r>
              <a:rPr kumimoji="1" lang="en-US" altLang="zh-CN" sz="1800" dirty="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latin typeface="Poppins"/>
                <a:ea typeface="Poppins"/>
                <a:cs typeface="Poppins"/>
              </a:rPr>
              <a:t>	MGS. JOSE FRANCO LAMILLA</a:t>
            </a:r>
            <a:endParaRPr kumimoji="1" lang="zh-CN" altLang="en-US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90F53F40-046A-7F6E-B55D-C1E72234FF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C53645"/>
      </a:accent1>
      <a:accent2>
        <a:srgbClr val="30556B"/>
      </a:accent2>
      <a:accent3>
        <a:srgbClr val="095CB6"/>
      </a:accent3>
      <a:accent4>
        <a:srgbClr val="487ED7"/>
      </a:accent4>
      <a:accent5>
        <a:srgbClr val="909090"/>
      </a:accent5>
      <a:accent6>
        <a:srgbClr val="BEBEBE"/>
      </a:accent6>
      <a:hlink>
        <a:srgbClr val="000000"/>
      </a:hlink>
      <a:folHlink>
        <a:srgbClr val="00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858</Words>
  <Application>Microsoft Office PowerPoint</Application>
  <PresentationFormat>Panorámica</PresentationFormat>
  <Paragraphs>111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poppins-bold</vt:lpstr>
      <vt:lpstr>Poppins</vt:lpstr>
      <vt:lpstr>Arial</vt:lpstr>
      <vt:lpstr>Office 主题​​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TICS</cp:lastModifiedBy>
  <cp:revision>1</cp:revision>
  <dcterms:modified xsi:type="dcterms:W3CDTF">2025-10-23T18:14:49Z</dcterms:modified>
</cp:coreProperties>
</file>